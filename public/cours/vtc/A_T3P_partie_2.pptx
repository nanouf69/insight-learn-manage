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306" r:id="rId2"/>
    <p:sldId id="307" r:id="rId3"/>
    <p:sldId id="308" r:id="rId4"/>
    <p:sldId id="345" r:id="rId5"/>
    <p:sldId id="346" r:id="rId6"/>
    <p:sldId id="347" r:id="rId7"/>
    <p:sldId id="309" r:id="rId8"/>
    <p:sldId id="310" r:id="rId9"/>
    <p:sldId id="311" r:id="rId10"/>
    <p:sldId id="312" r:id="rId11"/>
    <p:sldId id="313" r:id="rId12"/>
    <p:sldId id="314" r:id="rId13"/>
    <p:sldId id="315" r:id="rId14"/>
    <p:sldId id="316" r:id="rId15"/>
    <p:sldId id="317" r:id="rId16"/>
    <p:sldId id="348"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3" r:id="rId33"/>
    <p:sldId id="334" r:id="rId34"/>
    <p:sldId id="335" r:id="rId35"/>
    <p:sldId id="336" r:id="rId36"/>
    <p:sldId id="337" r:id="rId37"/>
    <p:sldId id="338" r:id="rId38"/>
    <p:sldId id="339" r:id="rId39"/>
    <p:sldId id="340" r:id="rId40"/>
    <p:sldId id="341" r:id="rId41"/>
    <p:sldId id="342" r:id="rId42"/>
    <p:sldId id="343" r:id="rId43"/>
    <p:sldId id="344"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oufal guenichi" userId="858fd4b3-0f44-4d07-ab42-9c2b2bf873b3" providerId="ADAL" clId="{5ADB1776-59AF-4A69-8422-CB66C8AF09C6}"/>
    <pc:docChg chg="modSld">
      <pc:chgData name="naoufal guenichi" userId="858fd4b3-0f44-4d07-ab42-9c2b2bf873b3" providerId="ADAL" clId="{5ADB1776-59AF-4A69-8422-CB66C8AF09C6}" dt="2026-03-10T18:41:48.800" v="0" actId="14100"/>
      <pc:docMkLst>
        <pc:docMk/>
      </pc:docMkLst>
      <pc:sldChg chg="modSp mod">
        <pc:chgData name="naoufal guenichi" userId="858fd4b3-0f44-4d07-ab42-9c2b2bf873b3" providerId="ADAL" clId="{5ADB1776-59AF-4A69-8422-CB66C8AF09C6}" dt="2026-03-10T18:41:48.800" v="0" actId="14100"/>
        <pc:sldMkLst>
          <pc:docMk/>
          <pc:sldMk cId="0" sldId="333"/>
        </pc:sldMkLst>
        <pc:spChg chg="mod">
          <ac:chgData name="naoufal guenichi" userId="858fd4b3-0f44-4d07-ab42-9c2b2bf873b3" providerId="ADAL" clId="{5ADB1776-59AF-4A69-8422-CB66C8AF09C6}" dt="2026-03-10T18:41:48.800" v="0" actId="14100"/>
          <ac:spMkLst>
            <pc:docMk/>
            <pc:sldMk cId="0" sldId="33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773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A1A2E"/>
          </a:solidFill>
          <a:ln w="12700">
            <a:solidFill>
              <a:srgbClr val="0A1A2E"/>
            </a:solidFill>
            <a:prstDash val="solid"/>
          </a:ln>
        </p:spPr>
        <p:txBody>
          <a:bodyPr/>
          <a:lstStyle/>
          <a:p>
            <a:endParaRPr lang="fr-FR"/>
          </a:p>
        </p:txBody>
      </p:sp>
      <p:sp>
        <p:nvSpPr>
          <p:cNvPr id="3" name="Shape 1"/>
          <p:cNvSpPr/>
          <p:nvPr/>
        </p:nvSpPr>
        <p:spPr>
          <a:xfrm>
            <a:off x="0" y="1920240"/>
            <a:ext cx="9144000" cy="1298448"/>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0" y="1325880"/>
            <a:ext cx="9144000" cy="658368"/>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PARTIE 2</a:t>
            </a:r>
            <a:endParaRPr lang="en-US" sz="4800" dirty="0"/>
          </a:p>
        </p:txBody>
      </p:sp>
      <p:sp>
        <p:nvSpPr>
          <p:cNvPr id="5" name="Text 3"/>
          <p:cNvSpPr/>
          <p:nvPr/>
        </p:nvSpPr>
        <p:spPr>
          <a:xfrm>
            <a:off x="457200" y="1965960"/>
            <a:ext cx="822960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Réglementation du Transport Public Particulier de Personnes</a:t>
            </a:r>
            <a:endParaRPr lang="en-US" sz="2200" dirty="0"/>
          </a:p>
        </p:txBody>
      </p:sp>
      <p:sp>
        <p:nvSpPr>
          <p:cNvPr id="6" name="Text 4"/>
          <p:cNvSpPr/>
          <p:nvPr/>
        </p:nvSpPr>
        <p:spPr>
          <a:xfrm>
            <a:off x="457200" y="2697480"/>
            <a:ext cx="8229600" cy="384048"/>
          </a:xfrm>
          <a:prstGeom prst="rect">
            <a:avLst/>
          </a:prstGeom>
          <a:noFill/>
          <a:ln/>
        </p:spPr>
        <p:txBody>
          <a:bodyPr wrap="square" rtlCol="0" anchor="ctr"/>
          <a:lstStyle/>
          <a:p>
            <a:pPr marL="0" indent="0" algn="ctr">
              <a:buNone/>
            </a:pPr>
            <a:r>
              <a:rPr lang="en-US" sz="1300" i="1" dirty="0">
                <a:solidFill>
                  <a:srgbClr val="CADCFC"/>
                </a:solidFill>
                <a:latin typeface="Calibri" pitchFamily="34" charset="0"/>
                <a:ea typeface="Calibri" pitchFamily="34" charset="-122"/>
                <a:cs typeface="Calibri" pitchFamily="34" charset="-120"/>
              </a:rPr>
              <a:t>Juridictions · Sanctions · TPMR · Covoiturage · Intermédiaires · VSS &amp; Discriminations</a:t>
            </a:r>
            <a:endParaRPr lang="en-US" sz="1300" dirty="0"/>
          </a:p>
        </p:txBody>
      </p:sp>
      <p:sp>
        <p:nvSpPr>
          <p:cNvPr id="7" name="Shape 5"/>
          <p:cNvSpPr/>
          <p:nvPr/>
        </p:nvSpPr>
        <p:spPr>
          <a:xfrm>
            <a:off x="3200400" y="3218688"/>
            <a:ext cx="2743200" cy="36576"/>
          </a:xfrm>
          <a:prstGeom prst="rect">
            <a:avLst/>
          </a:prstGeom>
          <a:solidFill>
            <a:srgbClr val="F4A227"/>
          </a:solidFill>
          <a:ln w="12700">
            <a:solidFill>
              <a:srgbClr val="F4A227"/>
            </a:solidFill>
            <a:prstDash val="solid"/>
          </a:ln>
        </p:spPr>
        <p:txBody>
          <a:bodyPr/>
          <a:lstStyle/>
          <a:p>
            <a:endParaRPr lang="fr-FR"/>
          </a:p>
        </p:txBody>
      </p:sp>
      <p:sp>
        <p:nvSpPr>
          <p:cNvPr id="8" name="Text 6"/>
          <p:cNvSpPr/>
          <p:nvPr/>
        </p:nvSpPr>
        <p:spPr>
          <a:xfrm>
            <a:off x="274320" y="4526280"/>
            <a:ext cx="8595360" cy="274320"/>
          </a:xfrm>
          <a:prstGeom prst="rect">
            <a:avLst/>
          </a:prstGeom>
          <a:noFill/>
          <a:ln/>
        </p:spPr>
        <p:txBody>
          <a:bodyPr wrap="square" rtlCol="0" anchor="ctr"/>
          <a:lstStyle/>
          <a:p>
            <a:pPr marL="0" indent="0" algn="ctr">
              <a:buNone/>
            </a:pPr>
            <a:r>
              <a:rPr lang="en-US" sz="900" dirty="0">
                <a:solidFill>
                  <a:srgbClr val="6A7A8A"/>
                </a:solidFill>
                <a:latin typeface="Calibri" pitchFamily="34" charset="0"/>
                <a:ea typeface="Calibri" pitchFamily="34" charset="-122"/>
                <a:cs typeface="Calibri" pitchFamily="34" charset="-120"/>
              </a:rPr>
              <a:t>FTRANSPORT - SERVICES PRO  •  Formation certifiée Qualiopi  •  Éligible CPF  •  Lyon</a:t>
            </a:r>
            <a:endParaRPr lang="en-US" sz="9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2.jpg"/>
          <p:cNvPicPr>
            <a:picLocks noChangeAspect="1"/>
          </p:cNvPicPr>
          <p:nvPr/>
        </p:nvPicPr>
        <p:blipFill>
          <a:blip r:embed="rId3"/>
          <a:stretch>
            <a:fillRect/>
          </a:stretch>
        </p:blipFill>
        <p:spPr>
          <a:xfrm>
            <a:off x="3872055" y="3364992"/>
            <a:ext cx="1399889" cy="1051560"/>
          </a:xfrm>
          <a:prstGeom prst="rect">
            <a:avLst/>
          </a:prstGeom>
          <a:ln w="9525">
            <a:solidFill>
              <a:srgbClr val="00B4D8"/>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SOMMAIRE — PARTIE 2</a:t>
            </a:r>
            <a:endParaRPr lang="en-US" sz="2000" dirty="0"/>
          </a:p>
        </p:txBody>
      </p:sp>
      <p:sp>
        <p:nvSpPr>
          <p:cNvPr id="4" name="Shape 2"/>
          <p:cNvSpPr/>
          <p:nvPr/>
        </p:nvSpPr>
        <p:spPr>
          <a:xfrm>
            <a:off x="0" y="822960"/>
            <a:ext cx="9144000" cy="36576"/>
          </a:xfrm>
          <a:prstGeom prst="rect">
            <a:avLst/>
          </a:prstGeom>
          <a:solidFill>
            <a:srgbClr val="F4A227"/>
          </a:solidFill>
          <a:ln w="12700">
            <a:solidFill>
              <a:srgbClr val="F4A227"/>
            </a:solidFill>
            <a:prstDash val="solid"/>
          </a:ln>
        </p:spPr>
        <p:txBody>
          <a:bodyPr/>
          <a:lstStyle/>
          <a:p>
            <a:endParaRPr lang="fr-FR"/>
          </a:p>
        </p:txBody>
      </p:sp>
      <p:sp>
        <p:nvSpPr>
          <p:cNvPr id="5" name="Shape 3"/>
          <p:cNvSpPr/>
          <p:nvPr/>
        </p:nvSpPr>
        <p:spPr>
          <a:xfrm>
            <a:off x="274320" y="969264"/>
            <a:ext cx="548640" cy="566928"/>
          </a:xfrm>
          <a:prstGeom prst="rect">
            <a:avLst/>
          </a:prstGeom>
          <a:solidFill>
            <a:srgbClr val="2860A8"/>
          </a:solidFill>
          <a:ln w="12700">
            <a:solidFill>
              <a:srgbClr val="2860A8"/>
            </a:solidFill>
            <a:prstDash val="solid"/>
          </a:ln>
        </p:spPr>
        <p:txBody>
          <a:bodyPr/>
          <a:lstStyle/>
          <a:p>
            <a:endParaRPr lang="fr-FR"/>
          </a:p>
        </p:txBody>
      </p:sp>
      <p:sp>
        <p:nvSpPr>
          <p:cNvPr id="6" name="Text 4"/>
          <p:cNvSpPr/>
          <p:nvPr/>
        </p:nvSpPr>
        <p:spPr>
          <a:xfrm>
            <a:off x="274320" y="969264"/>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8b</a:t>
            </a:r>
            <a:endParaRPr lang="en-US" sz="1800" dirty="0"/>
          </a:p>
        </p:txBody>
      </p:sp>
      <p:sp>
        <p:nvSpPr>
          <p:cNvPr id="7" name="Shape 5"/>
          <p:cNvSpPr/>
          <p:nvPr/>
        </p:nvSpPr>
        <p:spPr>
          <a:xfrm>
            <a:off x="859536" y="969264"/>
            <a:ext cx="8010144" cy="566928"/>
          </a:xfrm>
          <a:prstGeom prst="rect">
            <a:avLst/>
          </a:prstGeom>
          <a:solidFill>
            <a:srgbClr val="E8F1FA"/>
          </a:solidFill>
          <a:ln w="6350">
            <a:solidFill>
              <a:srgbClr val="D0DCE8"/>
            </a:solidFill>
            <a:prstDash val="solid"/>
          </a:ln>
        </p:spPr>
        <p:txBody>
          <a:bodyPr/>
          <a:lstStyle/>
          <a:p>
            <a:endParaRPr lang="fr-FR"/>
          </a:p>
        </p:txBody>
      </p:sp>
      <p:sp>
        <p:nvSpPr>
          <p:cNvPr id="8" name="Shape 6"/>
          <p:cNvSpPr/>
          <p:nvPr/>
        </p:nvSpPr>
        <p:spPr>
          <a:xfrm>
            <a:off x="859536" y="969264"/>
            <a:ext cx="45720" cy="566928"/>
          </a:xfrm>
          <a:prstGeom prst="rect">
            <a:avLst/>
          </a:prstGeom>
          <a:solidFill>
            <a:srgbClr val="2860A8"/>
          </a:solidFill>
          <a:ln w="12700">
            <a:solidFill>
              <a:srgbClr val="2860A8"/>
            </a:solidFill>
            <a:prstDash val="solid"/>
          </a:ln>
        </p:spPr>
        <p:txBody>
          <a:bodyPr/>
          <a:lstStyle/>
          <a:p>
            <a:endParaRPr lang="fr-FR"/>
          </a:p>
        </p:txBody>
      </p:sp>
      <p:sp>
        <p:nvSpPr>
          <p:cNvPr id="9" name="Text 7"/>
          <p:cNvSpPr/>
          <p:nvPr/>
        </p:nvSpPr>
        <p:spPr>
          <a:xfrm>
            <a:off x="969264" y="1005840"/>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Agents de contrôle et documents T3P</a:t>
            </a:r>
            <a:endParaRPr lang="en-US" sz="1100" dirty="0"/>
          </a:p>
        </p:txBody>
      </p:sp>
      <p:sp>
        <p:nvSpPr>
          <p:cNvPr id="10" name="Text 8"/>
          <p:cNvSpPr/>
          <p:nvPr/>
        </p:nvSpPr>
        <p:spPr>
          <a:xfrm>
            <a:off x="969264" y="1261872"/>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Agents habilités — Prérogatives — Documents conducteur et véhicule</a:t>
            </a:r>
            <a:endParaRPr lang="en-US" sz="900" dirty="0"/>
          </a:p>
        </p:txBody>
      </p:sp>
      <p:sp>
        <p:nvSpPr>
          <p:cNvPr id="11" name="Text 9"/>
          <p:cNvSpPr/>
          <p:nvPr/>
        </p:nvSpPr>
        <p:spPr>
          <a:xfrm>
            <a:off x="8595360" y="1133856"/>
            <a:ext cx="237744" cy="237744"/>
          </a:xfrm>
          <a:prstGeom prst="rect">
            <a:avLst/>
          </a:prstGeom>
          <a:noFill/>
          <a:ln/>
        </p:spPr>
        <p:txBody>
          <a:bodyPr wrap="square" rtlCol="0" anchor="ctr"/>
          <a:lstStyle/>
          <a:p>
            <a:pPr marL="0" indent="0" algn="ctr">
              <a:buNone/>
            </a:pPr>
            <a:r>
              <a:rPr lang="en-US" sz="1200" b="1" dirty="0">
                <a:solidFill>
                  <a:srgbClr val="2860A8"/>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74320" y="1636776"/>
            <a:ext cx="548640" cy="566928"/>
          </a:xfrm>
          <a:prstGeom prst="rect">
            <a:avLst/>
          </a:prstGeom>
          <a:solidFill>
            <a:srgbClr val="1A3A5C"/>
          </a:solidFill>
          <a:ln w="12700">
            <a:solidFill>
              <a:srgbClr val="1A3A5C"/>
            </a:solidFill>
            <a:prstDash val="solid"/>
          </a:ln>
        </p:spPr>
        <p:txBody>
          <a:bodyPr/>
          <a:lstStyle/>
          <a:p>
            <a:endParaRPr lang="fr-FR"/>
          </a:p>
        </p:txBody>
      </p:sp>
      <p:sp>
        <p:nvSpPr>
          <p:cNvPr id="13" name="Text 11"/>
          <p:cNvSpPr/>
          <p:nvPr/>
        </p:nvSpPr>
        <p:spPr>
          <a:xfrm>
            <a:off x="274320" y="1636776"/>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4" name="Shape 12"/>
          <p:cNvSpPr/>
          <p:nvPr/>
        </p:nvSpPr>
        <p:spPr>
          <a:xfrm>
            <a:off x="859536" y="1636776"/>
            <a:ext cx="8010144" cy="566928"/>
          </a:xfrm>
          <a:prstGeom prst="rect">
            <a:avLst/>
          </a:prstGeom>
          <a:solidFill>
            <a:srgbClr val="EEF3F8"/>
          </a:solidFill>
          <a:ln w="6350">
            <a:solidFill>
              <a:srgbClr val="D0DCE8"/>
            </a:solidFill>
            <a:prstDash val="solid"/>
          </a:ln>
        </p:spPr>
        <p:txBody>
          <a:bodyPr/>
          <a:lstStyle/>
          <a:p>
            <a:endParaRPr lang="fr-FR"/>
          </a:p>
        </p:txBody>
      </p:sp>
      <p:sp>
        <p:nvSpPr>
          <p:cNvPr id="15" name="Shape 13"/>
          <p:cNvSpPr/>
          <p:nvPr/>
        </p:nvSpPr>
        <p:spPr>
          <a:xfrm>
            <a:off x="859536" y="1636776"/>
            <a:ext cx="45720" cy="566928"/>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969264" y="1673352"/>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Les juridictions compétentes</a:t>
            </a:r>
            <a:endParaRPr lang="en-US" sz="1100" dirty="0"/>
          </a:p>
        </p:txBody>
      </p:sp>
      <p:sp>
        <p:nvSpPr>
          <p:cNvPr id="17" name="Text 15"/>
          <p:cNvSpPr/>
          <p:nvPr/>
        </p:nvSpPr>
        <p:spPr>
          <a:xfrm>
            <a:off x="969264" y="1929384"/>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Organisation juridictionnelle nationale française — Ordre judiciaire et administratif</a:t>
            </a:r>
            <a:endParaRPr lang="en-US" sz="900" dirty="0"/>
          </a:p>
        </p:txBody>
      </p:sp>
      <p:sp>
        <p:nvSpPr>
          <p:cNvPr id="18" name="Text 16"/>
          <p:cNvSpPr/>
          <p:nvPr/>
        </p:nvSpPr>
        <p:spPr>
          <a:xfrm>
            <a:off x="8595360" y="1801368"/>
            <a:ext cx="237744" cy="237744"/>
          </a:xfrm>
          <a:prstGeom prst="rect">
            <a:avLst/>
          </a:prstGeom>
          <a:noFill/>
          <a:ln/>
        </p:spPr>
        <p:txBody>
          <a:bodyPr wrap="square"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274320" y="2304288"/>
            <a:ext cx="548640" cy="566928"/>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274320" y="2304288"/>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11</a:t>
            </a:r>
            <a:endParaRPr lang="en-US" sz="1800" dirty="0"/>
          </a:p>
        </p:txBody>
      </p:sp>
      <p:sp>
        <p:nvSpPr>
          <p:cNvPr id="21" name="Shape 19"/>
          <p:cNvSpPr/>
          <p:nvPr/>
        </p:nvSpPr>
        <p:spPr>
          <a:xfrm>
            <a:off x="859536" y="2304288"/>
            <a:ext cx="8010144" cy="566928"/>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859536" y="2304288"/>
            <a:ext cx="45720" cy="566928"/>
          </a:xfrm>
          <a:prstGeom prst="rect">
            <a:avLst/>
          </a:prstGeom>
          <a:solidFill>
            <a:srgbClr val="C0392B"/>
          </a:solidFill>
          <a:ln w="12700">
            <a:solidFill>
              <a:srgbClr val="C0392B"/>
            </a:solidFill>
            <a:prstDash val="solid"/>
          </a:ln>
        </p:spPr>
        <p:txBody>
          <a:bodyPr/>
          <a:lstStyle/>
          <a:p>
            <a:endParaRPr lang="fr-FR"/>
          </a:p>
        </p:txBody>
      </p:sp>
      <p:sp>
        <p:nvSpPr>
          <p:cNvPr id="23" name="Text 21"/>
          <p:cNvSpPr/>
          <p:nvPr/>
        </p:nvSpPr>
        <p:spPr>
          <a:xfrm>
            <a:off x="969264" y="2340864"/>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Sanctions et voies de recours</a:t>
            </a:r>
            <a:endParaRPr lang="en-US" sz="1100" dirty="0"/>
          </a:p>
        </p:txBody>
      </p:sp>
      <p:sp>
        <p:nvSpPr>
          <p:cNvPr id="24" name="Text 22"/>
          <p:cNvSpPr/>
          <p:nvPr/>
        </p:nvSpPr>
        <p:spPr>
          <a:xfrm>
            <a:off x="969264" y="2596896"/>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Classes d'amendes 1 à 5 — Infractions T3P — Délits — Voies de recours</a:t>
            </a:r>
            <a:endParaRPr lang="en-US" sz="900" dirty="0"/>
          </a:p>
        </p:txBody>
      </p:sp>
      <p:sp>
        <p:nvSpPr>
          <p:cNvPr id="25" name="Text 23"/>
          <p:cNvSpPr/>
          <p:nvPr/>
        </p:nvSpPr>
        <p:spPr>
          <a:xfrm>
            <a:off x="8595360" y="2468880"/>
            <a:ext cx="237744" cy="237744"/>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274320" y="2971800"/>
            <a:ext cx="548640" cy="566928"/>
          </a:xfrm>
          <a:prstGeom prst="rect">
            <a:avLst/>
          </a:prstGeom>
          <a:solidFill>
            <a:srgbClr val="6B7A8D"/>
          </a:solidFill>
          <a:ln w="12700">
            <a:solidFill>
              <a:srgbClr val="6B7A8D"/>
            </a:solidFill>
            <a:prstDash val="solid"/>
          </a:ln>
        </p:spPr>
        <p:txBody>
          <a:bodyPr/>
          <a:lstStyle/>
          <a:p>
            <a:endParaRPr lang="fr-FR"/>
          </a:p>
        </p:txBody>
      </p:sp>
      <p:sp>
        <p:nvSpPr>
          <p:cNvPr id="27" name="Text 25"/>
          <p:cNvSpPr/>
          <p:nvPr/>
        </p:nvSpPr>
        <p:spPr>
          <a:xfrm>
            <a:off x="274320" y="2971800"/>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12</a:t>
            </a:r>
            <a:endParaRPr lang="en-US" sz="1800" dirty="0"/>
          </a:p>
        </p:txBody>
      </p:sp>
      <p:sp>
        <p:nvSpPr>
          <p:cNvPr id="28" name="Shape 26"/>
          <p:cNvSpPr/>
          <p:nvPr/>
        </p:nvSpPr>
        <p:spPr>
          <a:xfrm>
            <a:off x="859536" y="2971800"/>
            <a:ext cx="8010144" cy="566928"/>
          </a:xfrm>
          <a:prstGeom prst="rect">
            <a:avLst/>
          </a:prstGeom>
          <a:solidFill>
            <a:srgbClr val="EEF3F8"/>
          </a:solidFill>
          <a:ln w="6350">
            <a:solidFill>
              <a:srgbClr val="D0DCE8"/>
            </a:solidFill>
            <a:prstDash val="solid"/>
          </a:ln>
        </p:spPr>
        <p:txBody>
          <a:bodyPr/>
          <a:lstStyle/>
          <a:p>
            <a:endParaRPr lang="fr-FR"/>
          </a:p>
        </p:txBody>
      </p:sp>
      <p:sp>
        <p:nvSpPr>
          <p:cNvPr id="29" name="Shape 27"/>
          <p:cNvSpPr/>
          <p:nvPr/>
        </p:nvSpPr>
        <p:spPr>
          <a:xfrm>
            <a:off x="859536" y="2971800"/>
            <a:ext cx="45720" cy="566928"/>
          </a:xfrm>
          <a:prstGeom prst="rect">
            <a:avLst/>
          </a:prstGeom>
          <a:solidFill>
            <a:srgbClr val="6B7A8D"/>
          </a:solidFill>
          <a:ln w="12700">
            <a:solidFill>
              <a:srgbClr val="6B7A8D"/>
            </a:solidFill>
            <a:prstDash val="solid"/>
          </a:ln>
        </p:spPr>
        <p:txBody>
          <a:bodyPr/>
          <a:lstStyle/>
          <a:p>
            <a:endParaRPr lang="fr-FR"/>
          </a:p>
        </p:txBody>
      </p:sp>
      <p:sp>
        <p:nvSpPr>
          <p:cNvPr id="30" name="Text 28"/>
          <p:cNvSpPr/>
          <p:nvPr/>
        </p:nvSpPr>
        <p:spPr>
          <a:xfrm>
            <a:off x="969264" y="3008376"/>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Transport de Personnes à Mobilité Réduite</a:t>
            </a:r>
            <a:endParaRPr lang="en-US" sz="1100" dirty="0"/>
          </a:p>
        </p:txBody>
      </p:sp>
      <p:sp>
        <p:nvSpPr>
          <p:cNvPr id="31" name="Text 29"/>
          <p:cNvSpPr/>
          <p:nvPr/>
        </p:nvSpPr>
        <p:spPr>
          <a:xfrm>
            <a:off x="969264" y="3264408"/>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Formation TPMR obligatoire — Véhicules adaptés — 5 critères</a:t>
            </a:r>
            <a:endParaRPr lang="en-US" sz="900" dirty="0"/>
          </a:p>
        </p:txBody>
      </p:sp>
      <p:sp>
        <p:nvSpPr>
          <p:cNvPr id="32" name="Text 30"/>
          <p:cNvSpPr/>
          <p:nvPr/>
        </p:nvSpPr>
        <p:spPr>
          <a:xfrm>
            <a:off x="8595360" y="3136392"/>
            <a:ext cx="237744" cy="237744"/>
          </a:xfrm>
          <a:prstGeom prst="rect">
            <a:avLst/>
          </a:prstGeom>
          <a:noFill/>
          <a:ln/>
        </p:spPr>
        <p:txBody>
          <a:bodyPr wrap="square" rtlCol="0" anchor="ctr"/>
          <a:lstStyle/>
          <a:p>
            <a:pPr marL="0" indent="0" algn="ctr">
              <a:buNone/>
            </a:pPr>
            <a:r>
              <a:rPr lang="en-US" sz="1200" b="1" dirty="0">
                <a:solidFill>
                  <a:srgbClr val="6B7A8D"/>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274320" y="3639312"/>
            <a:ext cx="548640" cy="566928"/>
          </a:xfrm>
          <a:prstGeom prst="rect">
            <a:avLst/>
          </a:prstGeom>
          <a:solidFill>
            <a:srgbClr val="F4A227"/>
          </a:solidFill>
          <a:ln w="12700">
            <a:solidFill>
              <a:srgbClr val="F4A227"/>
            </a:solidFill>
            <a:prstDash val="solid"/>
          </a:ln>
        </p:spPr>
        <p:txBody>
          <a:bodyPr/>
          <a:lstStyle/>
          <a:p>
            <a:endParaRPr lang="fr-FR"/>
          </a:p>
        </p:txBody>
      </p:sp>
      <p:sp>
        <p:nvSpPr>
          <p:cNvPr id="34" name="Text 32"/>
          <p:cNvSpPr/>
          <p:nvPr/>
        </p:nvSpPr>
        <p:spPr>
          <a:xfrm>
            <a:off x="274320" y="3639312"/>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13</a:t>
            </a:r>
            <a:endParaRPr lang="en-US" sz="1800" dirty="0"/>
          </a:p>
        </p:txBody>
      </p:sp>
      <p:sp>
        <p:nvSpPr>
          <p:cNvPr id="35" name="Shape 33"/>
          <p:cNvSpPr/>
          <p:nvPr/>
        </p:nvSpPr>
        <p:spPr>
          <a:xfrm>
            <a:off x="859536" y="3639312"/>
            <a:ext cx="8010144" cy="566928"/>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859536" y="3639312"/>
            <a:ext cx="45720" cy="566928"/>
          </a:xfrm>
          <a:prstGeom prst="rect">
            <a:avLst/>
          </a:prstGeom>
          <a:solidFill>
            <a:srgbClr val="F4A227"/>
          </a:solidFill>
          <a:ln w="12700">
            <a:solidFill>
              <a:srgbClr val="F4A227"/>
            </a:solidFill>
            <a:prstDash val="solid"/>
          </a:ln>
        </p:spPr>
        <p:txBody>
          <a:bodyPr/>
          <a:lstStyle/>
          <a:p>
            <a:endParaRPr lang="fr-FR"/>
          </a:p>
        </p:txBody>
      </p:sp>
      <p:sp>
        <p:nvSpPr>
          <p:cNvPr id="37" name="Text 35"/>
          <p:cNvSpPr/>
          <p:nvPr/>
        </p:nvSpPr>
        <p:spPr>
          <a:xfrm>
            <a:off x="969264" y="3675888"/>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Covoiturage et transport privé</a:t>
            </a:r>
            <a:endParaRPr lang="en-US" sz="1100" dirty="0"/>
          </a:p>
        </p:txBody>
      </p:sp>
      <p:sp>
        <p:nvSpPr>
          <p:cNvPr id="38" name="Text 36"/>
          <p:cNvSpPr/>
          <p:nvPr/>
        </p:nvSpPr>
        <p:spPr>
          <a:xfrm>
            <a:off x="969264" y="3931920"/>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Définition légale du covoiturage — Différences avec le T3P</a:t>
            </a:r>
            <a:endParaRPr lang="en-US" sz="900" dirty="0"/>
          </a:p>
        </p:txBody>
      </p:sp>
      <p:sp>
        <p:nvSpPr>
          <p:cNvPr id="39" name="Text 37"/>
          <p:cNvSpPr/>
          <p:nvPr/>
        </p:nvSpPr>
        <p:spPr>
          <a:xfrm>
            <a:off x="8595360" y="3803904"/>
            <a:ext cx="237744" cy="237744"/>
          </a:xfrm>
          <a:prstGeom prst="rect">
            <a:avLst/>
          </a:prstGeom>
          <a:noFill/>
          <a:ln/>
        </p:spPr>
        <p:txBody>
          <a:bodyPr wrap="square" rtlCol="0" anchor="ctr"/>
          <a:lstStyle/>
          <a:p>
            <a:pPr marL="0" indent="0" algn="ctr">
              <a:buNone/>
            </a:pPr>
            <a:r>
              <a:rPr lang="en-US" sz="1200" b="1" dirty="0">
                <a:solidFill>
                  <a:srgbClr val="F4A22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274320" y="4306824"/>
            <a:ext cx="548640" cy="566928"/>
          </a:xfrm>
          <a:prstGeom prst="rect">
            <a:avLst/>
          </a:prstGeom>
          <a:solidFill>
            <a:srgbClr val="1A3A5C"/>
          </a:solidFill>
          <a:ln w="12700">
            <a:solidFill>
              <a:srgbClr val="1A3A5C"/>
            </a:solidFill>
            <a:prstDash val="solid"/>
          </a:ln>
        </p:spPr>
        <p:txBody>
          <a:bodyPr/>
          <a:lstStyle/>
          <a:p>
            <a:endParaRPr lang="fr-FR"/>
          </a:p>
        </p:txBody>
      </p:sp>
      <p:sp>
        <p:nvSpPr>
          <p:cNvPr id="41" name="Text 39"/>
          <p:cNvSpPr/>
          <p:nvPr/>
        </p:nvSpPr>
        <p:spPr>
          <a:xfrm>
            <a:off x="274320" y="4306824"/>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14</a:t>
            </a:r>
            <a:endParaRPr lang="en-US" sz="1800" dirty="0"/>
          </a:p>
        </p:txBody>
      </p:sp>
      <p:sp>
        <p:nvSpPr>
          <p:cNvPr id="42" name="Shape 40"/>
          <p:cNvSpPr/>
          <p:nvPr/>
        </p:nvSpPr>
        <p:spPr>
          <a:xfrm>
            <a:off x="859536" y="4306824"/>
            <a:ext cx="8010144" cy="566928"/>
          </a:xfrm>
          <a:prstGeom prst="rect">
            <a:avLst/>
          </a:prstGeom>
          <a:solidFill>
            <a:srgbClr val="EEF3F8"/>
          </a:solidFill>
          <a:ln w="6350">
            <a:solidFill>
              <a:srgbClr val="D0DCE8"/>
            </a:solidFill>
            <a:prstDash val="solid"/>
          </a:ln>
        </p:spPr>
        <p:txBody>
          <a:bodyPr/>
          <a:lstStyle/>
          <a:p>
            <a:endParaRPr lang="fr-FR"/>
          </a:p>
        </p:txBody>
      </p:sp>
      <p:sp>
        <p:nvSpPr>
          <p:cNvPr id="43" name="Shape 41"/>
          <p:cNvSpPr/>
          <p:nvPr/>
        </p:nvSpPr>
        <p:spPr>
          <a:xfrm>
            <a:off x="859536" y="4306824"/>
            <a:ext cx="45720" cy="566928"/>
          </a:xfrm>
          <a:prstGeom prst="rect">
            <a:avLst/>
          </a:prstGeom>
          <a:solidFill>
            <a:srgbClr val="1A3A5C"/>
          </a:solidFill>
          <a:ln w="12700">
            <a:solidFill>
              <a:srgbClr val="1A3A5C"/>
            </a:solidFill>
            <a:prstDash val="solid"/>
          </a:ln>
        </p:spPr>
        <p:txBody>
          <a:bodyPr/>
          <a:lstStyle/>
          <a:p>
            <a:endParaRPr lang="fr-FR"/>
          </a:p>
        </p:txBody>
      </p:sp>
      <p:sp>
        <p:nvSpPr>
          <p:cNvPr id="44" name="Text 42"/>
          <p:cNvSpPr/>
          <p:nvPr/>
        </p:nvSpPr>
        <p:spPr>
          <a:xfrm>
            <a:off x="969264" y="4343400"/>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Les intermédiaires de la mise en relation</a:t>
            </a:r>
            <a:endParaRPr lang="en-US" sz="1100" dirty="0"/>
          </a:p>
        </p:txBody>
      </p:sp>
      <p:sp>
        <p:nvSpPr>
          <p:cNvPr id="45" name="Text 43"/>
          <p:cNvSpPr/>
          <p:nvPr/>
        </p:nvSpPr>
        <p:spPr>
          <a:xfrm>
            <a:off x="969264" y="4599432"/>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Obligations des plateformes — Droits du conducteur T3P</a:t>
            </a:r>
            <a:endParaRPr lang="en-US" sz="900" dirty="0"/>
          </a:p>
        </p:txBody>
      </p:sp>
      <p:sp>
        <p:nvSpPr>
          <p:cNvPr id="46" name="Text 44"/>
          <p:cNvSpPr/>
          <p:nvPr/>
        </p:nvSpPr>
        <p:spPr>
          <a:xfrm>
            <a:off x="8595360" y="4471416"/>
            <a:ext cx="237744" cy="237744"/>
          </a:xfrm>
          <a:prstGeom prst="rect">
            <a:avLst/>
          </a:prstGeom>
          <a:noFill/>
          <a:ln/>
        </p:spPr>
        <p:txBody>
          <a:bodyPr wrap="square"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a:t>
            </a:r>
            <a:endParaRPr lang="en-US" sz="1200" dirty="0"/>
          </a:p>
        </p:txBody>
      </p:sp>
      <p:sp>
        <p:nvSpPr>
          <p:cNvPr id="47" name="Shape 45"/>
          <p:cNvSpPr/>
          <p:nvPr/>
        </p:nvSpPr>
        <p:spPr>
          <a:xfrm>
            <a:off x="274320" y="4974336"/>
            <a:ext cx="548640" cy="566928"/>
          </a:xfrm>
          <a:prstGeom prst="rect">
            <a:avLst/>
          </a:prstGeom>
          <a:solidFill>
            <a:srgbClr val="A0305A"/>
          </a:solidFill>
          <a:ln w="12700">
            <a:solidFill>
              <a:srgbClr val="A0305A"/>
            </a:solidFill>
            <a:prstDash val="solid"/>
          </a:ln>
        </p:spPr>
        <p:txBody>
          <a:bodyPr/>
          <a:lstStyle/>
          <a:p>
            <a:endParaRPr lang="fr-FR"/>
          </a:p>
        </p:txBody>
      </p:sp>
      <p:sp>
        <p:nvSpPr>
          <p:cNvPr id="48" name="Text 46"/>
          <p:cNvSpPr/>
          <p:nvPr/>
        </p:nvSpPr>
        <p:spPr>
          <a:xfrm>
            <a:off x="274320" y="4974336"/>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15</a:t>
            </a:r>
            <a:endParaRPr lang="en-US" sz="1800" dirty="0"/>
          </a:p>
        </p:txBody>
      </p:sp>
      <p:sp>
        <p:nvSpPr>
          <p:cNvPr id="49" name="Shape 47"/>
          <p:cNvSpPr/>
          <p:nvPr/>
        </p:nvSpPr>
        <p:spPr>
          <a:xfrm>
            <a:off x="859536" y="4974336"/>
            <a:ext cx="8010144" cy="566928"/>
          </a:xfrm>
          <a:prstGeom prst="rect">
            <a:avLst/>
          </a:prstGeom>
          <a:solidFill>
            <a:srgbClr val="E8F1FA"/>
          </a:solidFill>
          <a:ln w="6350">
            <a:solidFill>
              <a:srgbClr val="D0DCE8"/>
            </a:solidFill>
            <a:prstDash val="solid"/>
          </a:ln>
        </p:spPr>
        <p:txBody>
          <a:bodyPr/>
          <a:lstStyle/>
          <a:p>
            <a:endParaRPr lang="fr-FR"/>
          </a:p>
        </p:txBody>
      </p:sp>
      <p:sp>
        <p:nvSpPr>
          <p:cNvPr id="50" name="Shape 48"/>
          <p:cNvSpPr/>
          <p:nvPr/>
        </p:nvSpPr>
        <p:spPr>
          <a:xfrm>
            <a:off x="859536" y="4974336"/>
            <a:ext cx="45720" cy="566928"/>
          </a:xfrm>
          <a:prstGeom prst="rect">
            <a:avLst/>
          </a:prstGeom>
          <a:solidFill>
            <a:srgbClr val="A0305A"/>
          </a:solidFill>
          <a:ln w="12700">
            <a:solidFill>
              <a:srgbClr val="A0305A"/>
            </a:solidFill>
            <a:prstDash val="solid"/>
          </a:ln>
        </p:spPr>
        <p:txBody>
          <a:bodyPr/>
          <a:lstStyle/>
          <a:p>
            <a:endParaRPr lang="fr-FR"/>
          </a:p>
        </p:txBody>
      </p:sp>
      <p:sp>
        <p:nvSpPr>
          <p:cNvPr id="51" name="Text 49"/>
          <p:cNvSpPr/>
          <p:nvPr/>
        </p:nvSpPr>
        <p:spPr>
          <a:xfrm>
            <a:off x="969264" y="5010912"/>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Violences sexuelles, sexistes et discriminations</a:t>
            </a:r>
            <a:endParaRPr lang="en-US" sz="1100" dirty="0"/>
          </a:p>
        </p:txBody>
      </p:sp>
      <p:sp>
        <p:nvSpPr>
          <p:cNvPr id="52" name="Text 50"/>
          <p:cNvSpPr/>
          <p:nvPr/>
        </p:nvSpPr>
        <p:spPr>
          <a:xfrm>
            <a:off x="969264" y="5266944"/>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4 infractions — Peines encourues — Acteurs de prévention — Art. 225-1</a:t>
            </a:r>
            <a:endParaRPr lang="en-US" sz="900" dirty="0"/>
          </a:p>
        </p:txBody>
      </p:sp>
      <p:sp>
        <p:nvSpPr>
          <p:cNvPr id="53" name="Text 51"/>
          <p:cNvSpPr/>
          <p:nvPr/>
        </p:nvSpPr>
        <p:spPr>
          <a:xfrm>
            <a:off x="8595360" y="5138928"/>
            <a:ext cx="237744" cy="237744"/>
          </a:xfrm>
          <a:prstGeom prst="rect">
            <a:avLst/>
          </a:prstGeom>
          <a:noFill/>
          <a:ln/>
        </p:spPr>
        <p:txBody>
          <a:bodyPr wrap="square" rtlCol="0" anchor="ctr"/>
          <a:lstStyle/>
          <a:p>
            <a:pPr marL="0" indent="0" algn="ctr">
              <a:buNone/>
            </a:pPr>
            <a:r>
              <a:rPr lang="en-US" sz="1200" b="1" dirty="0">
                <a:solidFill>
                  <a:srgbClr val="A0305A"/>
                </a:solidFill>
                <a:latin typeface="Calibri" pitchFamily="34" charset="0"/>
                <a:ea typeface="Calibri" pitchFamily="34" charset="-122"/>
                <a:cs typeface="Calibri" pitchFamily="34" charset="-120"/>
              </a:rPr>
              <a:t>→</a:t>
            </a:r>
            <a:endParaRPr lang="en-US" sz="1200" dirty="0"/>
          </a:p>
        </p:txBody>
      </p:sp>
      <p:sp>
        <p:nvSpPr>
          <p:cNvPr id="54" name="Shape 52"/>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55" name="Text 53"/>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56" name="Text 54"/>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57" name="Rectangle 5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58" name="Rectangle 5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Agents de contrôle et documents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Qui peut contrôler un conducteur T3P ? — Documents à présenter</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34/88</a:t>
            </a:r>
            <a:endParaRPr lang="en-US" sz="800" dirty="0"/>
          </a:p>
        </p:txBody>
      </p:sp>
      <p:sp>
        <p:nvSpPr>
          <p:cNvPr id="9" name="Text 7"/>
          <p:cNvSpPr/>
          <p:nvPr/>
        </p:nvSpPr>
        <p:spPr>
          <a:xfrm>
            <a:off x="274320" y="1078992"/>
            <a:ext cx="8595360" cy="41148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Un conducteur T3P peut être contrôlé par plusieurs types d'agents, chacun ayant des compétences différentes. Voici les agents habilités et les documents à avoir en permanence.</a:t>
            </a:r>
            <a:endParaRPr lang="en-US" sz="1200" dirty="0"/>
          </a:p>
        </p:txBody>
      </p:sp>
      <p:sp>
        <p:nvSpPr>
          <p:cNvPr id="10" name="Shape 8"/>
          <p:cNvSpPr/>
          <p:nvPr/>
        </p:nvSpPr>
        <p:spPr>
          <a:xfrm>
            <a:off x="274320" y="1554480"/>
            <a:ext cx="8595360" cy="18288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554480"/>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554480"/>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LES AGENTS HABILITÉS À CONTRÔLER</a:t>
            </a:r>
            <a:endParaRPr lang="en-US" sz="1050" dirty="0"/>
          </a:p>
        </p:txBody>
      </p:sp>
      <p:sp>
        <p:nvSpPr>
          <p:cNvPr id="13" name="Text 11"/>
          <p:cNvSpPr/>
          <p:nvPr/>
        </p:nvSpPr>
        <p:spPr>
          <a:xfrm>
            <a:off x="384048" y="1901952"/>
            <a:ext cx="8412480" cy="143560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Police nationale et Gendarmerie : infractions pénales, verbalisation, garde à vue.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Agents DRIEAT/DREAL : registre VTC, documents professionnels, conditions d'exercice.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URSSAF : cotisations sociales — SANS PRÉAVIS en cas de travail dissimulé.</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DGFIP : contrôle fiscal — avis préalable d'environ 15 jours.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DGCCRF : pratiques commerciales, tarifs, concurrence.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Douanes : contrôle des personnes et marchandises (frontières et sur route).</a:t>
            </a:r>
            <a:endParaRPr lang="en-US" sz="1000" dirty="0"/>
          </a:p>
        </p:txBody>
      </p:sp>
      <p:sp>
        <p:nvSpPr>
          <p:cNvPr id="14" name="Shape 12"/>
          <p:cNvSpPr/>
          <p:nvPr/>
        </p:nvSpPr>
        <p:spPr>
          <a:xfrm>
            <a:off x="274320" y="3456432"/>
            <a:ext cx="8595360" cy="12618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3456432"/>
            <a:ext cx="8595360" cy="301752"/>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365760" y="34564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DOCUMENTS À PRÉSENTER LORS D'UN CONTRÔLE</a:t>
            </a:r>
            <a:endParaRPr lang="en-US" sz="1050" dirty="0"/>
          </a:p>
        </p:txBody>
      </p:sp>
      <p:sp>
        <p:nvSpPr>
          <p:cNvPr id="17" name="Text 15"/>
          <p:cNvSpPr/>
          <p:nvPr/>
        </p:nvSpPr>
        <p:spPr>
          <a:xfrm>
            <a:off x="384048" y="3803904"/>
            <a:ext cx="8412480" cy="8686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Documents VÉHICULE : carte grise, attestation assurance RC Circulation + RC Pro, contrôle technique, permis de conduire.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Documents PROFESSION : carte professionnelle T3P (apposée sur le pare-brise), attestation médicale valide, billet individuel ou collectif (sauf taxi).</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Pour les taxis : carnet métrologique du taximètre à jour. Pour les salariés : contrat de travail + DPAE.</a:t>
            </a:r>
            <a:endParaRPr lang="en-US" sz="1000" dirty="0"/>
          </a:p>
        </p:txBody>
      </p:sp>
      <p:sp>
        <p:nvSpPr>
          <p:cNvPr id="18" name="Rectangle 1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9" name="Rectangle 1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4">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9b. La Responsabilité Civile et les Assurances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Loi Badinter — FGAO — Sanctions du défaut d'assurance</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42/88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12.jpg"/>
          <p:cNvPicPr>
            <a:picLocks noChangeAspect="1"/>
          </p:cNvPicPr>
          <p:nvPr/>
        </p:nvPicPr>
        <p:blipFill>
          <a:blip r:embed="rId2"/>
          <a:stretch>
            <a:fillRect/>
          </a:stretch>
        </p:blipFill>
        <p:spPr>
          <a:xfrm>
            <a:off x="2559558" y="2820924"/>
            <a:ext cx="4024884" cy="1737360"/>
          </a:xfrm>
          <a:prstGeom prst="rect">
            <a:avLst/>
          </a:prstGeom>
          <a:ln w="9525">
            <a:solidFill>
              <a:srgbClr val="00B4D8"/>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loi Badinter et le FGAO</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Indemnisation des victimes d'accidents de la circulation</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42/88</a:t>
            </a:r>
            <a:endParaRPr lang="en-US" sz="800" dirty="0"/>
          </a:p>
        </p:txBody>
      </p:sp>
      <p:sp>
        <p:nvSpPr>
          <p:cNvPr id="9" name="Text 7"/>
          <p:cNvSpPr/>
          <p:nvPr/>
        </p:nvSpPr>
        <p:spPr>
          <a:xfrm>
            <a:off x="274320" y="1078992"/>
            <a:ext cx="8595360" cy="41148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La loi Badinter protège les victimes d'accidents de la route. Le FGAO prend le relais lorsque le responsable n'est pas assuré ou n'est pas identifié.</a:t>
            </a:r>
            <a:endParaRPr lang="en-US" sz="1200" dirty="0"/>
          </a:p>
        </p:txBody>
      </p:sp>
      <p:sp>
        <p:nvSpPr>
          <p:cNvPr id="10" name="Shape 8"/>
          <p:cNvSpPr/>
          <p:nvPr/>
        </p:nvSpPr>
        <p:spPr>
          <a:xfrm>
            <a:off x="274320" y="1554480"/>
            <a:ext cx="8595360" cy="18288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554480"/>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554480"/>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LA LOI BADINTER — 5 juillet 1985</a:t>
            </a:r>
            <a:endParaRPr lang="en-US" sz="1050" dirty="0"/>
          </a:p>
        </p:txBody>
      </p:sp>
      <p:sp>
        <p:nvSpPr>
          <p:cNvPr id="13" name="Text 11"/>
          <p:cNvSpPr/>
          <p:nvPr/>
        </p:nvSpPr>
        <p:spPr>
          <a:xfrm>
            <a:off x="384048" y="1901952"/>
            <a:ext cx="8412480" cy="143560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Prévoit un droit d'indemnisation de tous les dommages causés par un accident de la circulation.</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Toutes les victimes sont indemnisées, SAUF le conducteur du véhicule motorisé responsable de l'accident.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S'applique aux passagers, piétons, cyclistes — y compris pour les frais de traitement médical et de rééducation.</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Indemnisation quasi automatique des victimes non conductrices — facilite fortement les procédures d'indemnisation.</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Exception : le conducteur responsable du véhicule motorisé impliqué n'est jamais indemnisé par cette loi.</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Objectif : garantir une réparation rapide et effective, sans devoir prouver la faute du conducteur.</a:t>
            </a:r>
            <a:endParaRPr lang="en-US" sz="1000" dirty="0"/>
          </a:p>
        </p:txBody>
      </p:sp>
      <p:sp>
        <p:nvSpPr>
          <p:cNvPr id="14" name="Shape 12"/>
          <p:cNvSpPr/>
          <p:nvPr/>
        </p:nvSpPr>
        <p:spPr>
          <a:xfrm>
            <a:off x="274320" y="3456432"/>
            <a:ext cx="8595360" cy="12618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3456432"/>
            <a:ext cx="8595360" cy="301752"/>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365760" y="34564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 FGAO — Fonds de Garantie des Assurances Obligatoires</a:t>
            </a:r>
            <a:endParaRPr lang="en-US" sz="1050" dirty="0"/>
          </a:p>
        </p:txBody>
      </p:sp>
      <p:sp>
        <p:nvSpPr>
          <p:cNvPr id="17" name="Text 15"/>
          <p:cNvSpPr/>
          <p:nvPr/>
        </p:nvSpPr>
        <p:spPr>
          <a:xfrm>
            <a:off x="384048" y="3803904"/>
            <a:ext cx="8412480" cy="8686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Indemnise la VICTIME d'un conducteur non assuré ou non identifié, puis se retourne contre le responsable pour se faire rembourser.</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Pour le conducteur NON ASSURÉ et responsable : aucune indemnité pour ses propres dommages, et remboursement intégral exigé par le FGAO.</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Voiture prêtée non assurée : le conducteur occasionnel responsable doit aussi rembourser le FGAO — le propriétaire du véhicule risque les mêmes sanctions.</a:t>
            </a:r>
            <a:endParaRPr lang="en-US" sz="1000" dirty="0"/>
          </a:p>
        </p:txBody>
      </p:sp>
      <p:sp>
        <p:nvSpPr>
          <p:cNvPr id="18" name="Rectangle 1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9" name="Rectangle 1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Défaut d'assurance : sanctions et exclusions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Ce que risque un conducteur non assuré — et ce que l'assureur peut refuser de couvrir</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43/88</a:t>
            </a:r>
            <a:endParaRPr lang="en-US" sz="800" dirty="0"/>
          </a:p>
        </p:txBody>
      </p:sp>
      <p:sp>
        <p:nvSpPr>
          <p:cNvPr id="9" name="Text 7"/>
          <p:cNvSpPr/>
          <p:nvPr/>
        </p:nvSpPr>
        <p:spPr>
          <a:xfrm>
            <a:off x="274320" y="1078992"/>
            <a:ext cx="8595360" cy="41148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Rouler sans assurance expose à de lourdes sanctions. Par ailleurs, chaque assureur peut librement exclure certaines situations de son contrat.</a:t>
            </a:r>
            <a:endParaRPr lang="en-US" sz="1200" dirty="0"/>
          </a:p>
        </p:txBody>
      </p:sp>
      <p:sp>
        <p:nvSpPr>
          <p:cNvPr id="10" name="Shape 8"/>
          <p:cNvSpPr/>
          <p:nvPr/>
        </p:nvSpPr>
        <p:spPr>
          <a:xfrm>
            <a:off x="274320" y="1554480"/>
            <a:ext cx="8595360" cy="18288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554480"/>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554480"/>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SANCTIONS POUR CONDUCTEUR NON ASSURÉ</a:t>
            </a:r>
            <a:endParaRPr lang="en-US" sz="1050" dirty="0"/>
          </a:p>
        </p:txBody>
      </p:sp>
      <p:sp>
        <p:nvSpPr>
          <p:cNvPr id="13" name="Text 11"/>
          <p:cNvSpPr/>
          <p:nvPr/>
        </p:nvSpPr>
        <p:spPr>
          <a:xfrm>
            <a:off x="384048" y="1901952"/>
            <a:ext cx="8412480" cy="143560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Défaut RÉEL d'assurance (aucun contrat) : délit, amende pouvant aller jusqu'à 3 750 € (art. L324-2 du Code de la route).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Non-présentation immédiate du justificatif (vous ÊTES assuré mais ne pouvez pas le prouver sur le moment) : contravention, avec délai pour le produire — au-delà, amende majorée jusqu'à 1 500 €.</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Suspension ou annulation du permis de conduire pour une durée de 3 ans maximum.</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Confiscation ou immobilisation possible du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Aucune indemnité pour les dommages du conducteur responsable lui-même.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Remboursement intégral exigé par le FGAO des sommes versées aux victimes.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Même sanction pour le propriétaire qui prête sciemment un véhicule non assuré.</a:t>
            </a:r>
            <a:endParaRPr lang="en-US" sz="1000" dirty="0"/>
          </a:p>
        </p:txBody>
      </p:sp>
      <p:sp>
        <p:nvSpPr>
          <p:cNvPr id="14" name="Shape 12"/>
          <p:cNvSpPr/>
          <p:nvPr/>
        </p:nvSpPr>
        <p:spPr>
          <a:xfrm>
            <a:off x="274320" y="3456432"/>
            <a:ext cx="8595360" cy="12618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3456432"/>
            <a:ext cx="8595360" cy="301752"/>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365760" y="34564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CAS D'EXCLUSION DE GARANTIE (au choix de l'assureur)</a:t>
            </a:r>
            <a:endParaRPr lang="en-US" sz="1050" dirty="0"/>
          </a:p>
        </p:txBody>
      </p:sp>
      <p:sp>
        <p:nvSpPr>
          <p:cNvPr id="17" name="Text 15"/>
          <p:cNvSpPr/>
          <p:nvPr/>
        </p:nvSpPr>
        <p:spPr>
          <a:xfrm>
            <a:off x="384048" y="3803904"/>
            <a:ext cx="8412480" cy="8686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Conduite sous l'emprise de l'alcool ou de stupéfiants — sauf si l'assuré n'est pas responsable (rare).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Refus d'obtempérer, délit de fuite, excès de vitesse important.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Prêt du véhicule à un tiers non autorisé, vol sans effraction, usage détourné (caravane, course).</a:t>
            </a:r>
            <a:endParaRPr lang="en-US" sz="1000" dirty="0"/>
          </a:p>
        </p:txBody>
      </p:sp>
      <p:sp>
        <p:nvSpPr>
          <p:cNvPr id="18" name="Rectangle 1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9" name="Rectangle 1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4">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10. Les juridictions compétentes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Organisation juridictionnelle nationale française — T3P</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43/88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7.jpg"/>
          <p:cNvPicPr>
            <a:picLocks noChangeAspect="1"/>
          </p:cNvPicPr>
          <p:nvPr/>
        </p:nvPicPr>
        <p:blipFill>
          <a:blip r:embed="rId3"/>
          <a:stretch>
            <a:fillRect/>
          </a:stretch>
        </p:blipFill>
        <p:spPr>
          <a:xfrm>
            <a:off x="3373985" y="2820924"/>
            <a:ext cx="2396029" cy="1737360"/>
          </a:xfrm>
          <a:prstGeom prst="rect">
            <a:avLst/>
          </a:prstGeom>
          <a:ln w="9525">
            <a:solidFill>
              <a:srgbClr val="00B4D8"/>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L'organisation juridictionnelle nationale française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Schéma officiel — Ordre judiciaire et ordre administratif</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44/88</a:t>
            </a:r>
            <a:endParaRPr lang="en-US" sz="800" dirty="0"/>
          </a:p>
        </p:txBody>
      </p:sp>
      <p:sp>
        <p:nvSpPr>
          <p:cNvPr id="9" name="Shape 7"/>
          <p:cNvSpPr/>
          <p:nvPr/>
        </p:nvSpPr>
        <p:spPr>
          <a:xfrm>
            <a:off x="228600" y="932688"/>
            <a:ext cx="6583680" cy="256032"/>
          </a:xfrm>
          <a:prstGeom prst="rect">
            <a:avLst/>
          </a:prstGeom>
          <a:solidFill>
            <a:srgbClr val="FFFFFF"/>
          </a:solidFill>
          <a:ln w="10160">
            <a:solidFill>
              <a:srgbClr val="3A3A3A"/>
            </a:solidFill>
            <a:prstDash val="solid"/>
          </a:ln>
        </p:spPr>
        <p:txBody>
          <a:bodyPr/>
          <a:lstStyle/>
          <a:p>
            <a:endParaRPr lang="fr-FR"/>
          </a:p>
        </p:txBody>
      </p:sp>
      <p:sp>
        <p:nvSpPr>
          <p:cNvPr id="10" name="Text 8"/>
          <p:cNvSpPr/>
          <p:nvPr/>
        </p:nvSpPr>
        <p:spPr>
          <a:xfrm>
            <a:off x="228600" y="932688"/>
            <a:ext cx="6583680" cy="256032"/>
          </a:xfrm>
          <a:prstGeom prst="rect">
            <a:avLst/>
          </a:prstGeom>
          <a:noFill/>
          <a:ln/>
        </p:spPr>
        <p:txBody>
          <a:bodyPr wrap="square" rtlCol="0" anchor="ctr"/>
          <a:lstStyle/>
          <a:p>
            <a:pPr marL="0" indent="0" algn="ctr">
              <a:buNone/>
            </a:pPr>
            <a:r>
              <a:rPr lang="en-US" sz="900" b="1" dirty="0">
                <a:solidFill>
                  <a:srgbClr val="3A3A3A"/>
                </a:solidFill>
                <a:latin typeface="Calibri" pitchFamily="34" charset="0"/>
                <a:ea typeface="Calibri" pitchFamily="34" charset="-122"/>
                <a:cs typeface="Calibri" pitchFamily="34" charset="-120"/>
              </a:rPr>
              <a:t>ORGANISATION JURIDICTIONNELLE NATIONALE FRANÇAISE</a:t>
            </a:r>
            <a:endParaRPr lang="en-US" sz="900" dirty="0"/>
          </a:p>
        </p:txBody>
      </p:sp>
      <p:sp>
        <p:nvSpPr>
          <p:cNvPr id="11" name="Shape 9"/>
          <p:cNvSpPr/>
          <p:nvPr/>
        </p:nvSpPr>
        <p:spPr>
          <a:xfrm>
            <a:off x="6858000" y="932688"/>
            <a:ext cx="2011680" cy="256032"/>
          </a:xfrm>
          <a:prstGeom prst="rect">
            <a:avLst/>
          </a:prstGeom>
          <a:solidFill>
            <a:srgbClr val="FFFFFF"/>
          </a:solidFill>
          <a:ln w="10160">
            <a:solidFill>
              <a:srgbClr val="3A3A3A"/>
            </a:solidFill>
            <a:prstDash val="solid"/>
          </a:ln>
        </p:spPr>
        <p:txBody>
          <a:bodyPr/>
          <a:lstStyle/>
          <a:p>
            <a:endParaRPr lang="fr-FR"/>
          </a:p>
        </p:txBody>
      </p:sp>
      <p:sp>
        <p:nvSpPr>
          <p:cNvPr id="12" name="Text 10"/>
          <p:cNvSpPr/>
          <p:nvPr/>
        </p:nvSpPr>
        <p:spPr>
          <a:xfrm>
            <a:off x="6858000" y="932688"/>
            <a:ext cx="2011680" cy="256032"/>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ORDRE ADMINISTRATIF</a:t>
            </a:r>
            <a:endParaRPr lang="en-US" sz="850" dirty="0"/>
          </a:p>
        </p:txBody>
      </p:sp>
      <p:sp>
        <p:nvSpPr>
          <p:cNvPr id="13" name="Shape 11"/>
          <p:cNvSpPr/>
          <p:nvPr/>
        </p:nvSpPr>
        <p:spPr>
          <a:xfrm>
            <a:off x="228600" y="1207008"/>
            <a:ext cx="3246120" cy="219456"/>
          </a:xfrm>
          <a:prstGeom prst="rect">
            <a:avLst/>
          </a:prstGeom>
          <a:solidFill>
            <a:srgbClr val="FFFFFF"/>
          </a:solidFill>
          <a:ln w="10160">
            <a:solidFill>
              <a:srgbClr val="3A3A3A"/>
            </a:solidFill>
            <a:prstDash val="solid"/>
          </a:ln>
        </p:spPr>
        <p:txBody>
          <a:bodyPr/>
          <a:lstStyle/>
          <a:p>
            <a:endParaRPr lang="fr-FR"/>
          </a:p>
        </p:txBody>
      </p:sp>
      <p:sp>
        <p:nvSpPr>
          <p:cNvPr id="14" name="Text 12"/>
          <p:cNvSpPr/>
          <p:nvPr/>
        </p:nvSpPr>
        <p:spPr>
          <a:xfrm>
            <a:off x="228600" y="1207008"/>
            <a:ext cx="3246120" cy="219456"/>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MATIÈRE CIVILE</a:t>
            </a:r>
            <a:endParaRPr lang="en-US" sz="850" dirty="0"/>
          </a:p>
        </p:txBody>
      </p:sp>
      <p:sp>
        <p:nvSpPr>
          <p:cNvPr id="15" name="Shape 13"/>
          <p:cNvSpPr/>
          <p:nvPr/>
        </p:nvSpPr>
        <p:spPr>
          <a:xfrm>
            <a:off x="3493008" y="1207008"/>
            <a:ext cx="3310128" cy="219456"/>
          </a:xfrm>
          <a:prstGeom prst="rect">
            <a:avLst/>
          </a:prstGeom>
          <a:solidFill>
            <a:srgbClr val="FFFFFF"/>
          </a:solidFill>
          <a:ln w="10160">
            <a:solidFill>
              <a:srgbClr val="3A3A3A"/>
            </a:solidFill>
            <a:prstDash val="solid"/>
          </a:ln>
        </p:spPr>
        <p:txBody>
          <a:bodyPr/>
          <a:lstStyle/>
          <a:p>
            <a:endParaRPr lang="fr-FR"/>
          </a:p>
        </p:txBody>
      </p:sp>
      <p:sp>
        <p:nvSpPr>
          <p:cNvPr id="16" name="Text 14"/>
          <p:cNvSpPr/>
          <p:nvPr/>
        </p:nvSpPr>
        <p:spPr>
          <a:xfrm>
            <a:off x="3493008" y="1207008"/>
            <a:ext cx="3310128" cy="219456"/>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MATIÈRE PÉNALE</a:t>
            </a:r>
            <a:endParaRPr lang="en-US" sz="850" dirty="0"/>
          </a:p>
        </p:txBody>
      </p:sp>
      <p:sp>
        <p:nvSpPr>
          <p:cNvPr id="17" name="Shape 15"/>
          <p:cNvSpPr/>
          <p:nvPr/>
        </p:nvSpPr>
        <p:spPr>
          <a:xfrm>
            <a:off x="0" y="1499616"/>
            <a:ext cx="749808" cy="749808"/>
          </a:xfrm>
          <a:prstGeom prst="rect">
            <a:avLst/>
          </a:prstGeom>
          <a:solidFill>
            <a:srgbClr val="FFFFFF"/>
          </a:solidFill>
          <a:ln w="10160">
            <a:solidFill>
              <a:srgbClr val="3A3A3A"/>
            </a:solidFill>
            <a:prstDash val="solid"/>
          </a:ln>
        </p:spPr>
        <p:txBody>
          <a:bodyPr/>
          <a:lstStyle/>
          <a:p>
            <a:endParaRPr lang="fr-FR"/>
          </a:p>
        </p:txBody>
      </p:sp>
      <p:sp>
        <p:nvSpPr>
          <p:cNvPr id="18" name="Text 16"/>
          <p:cNvSpPr/>
          <p:nvPr/>
        </p:nvSpPr>
        <p:spPr>
          <a:xfrm>
            <a:off x="0" y="1499616"/>
            <a:ext cx="749808" cy="749808"/>
          </a:xfrm>
          <a:prstGeom prst="rect">
            <a:avLst/>
          </a:prstGeom>
          <a:noFill/>
          <a:ln/>
        </p:spPr>
        <p:txBody>
          <a:bodyPr wrap="square"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HAUTES</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JURIDICTIONS</a:t>
            </a:r>
            <a:endParaRPr lang="en-US" sz="750" dirty="0"/>
          </a:p>
        </p:txBody>
      </p:sp>
      <p:sp>
        <p:nvSpPr>
          <p:cNvPr id="19" name="Shape 17"/>
          <p:cNvSpPr/>
          <p:nvPr/>
        </p:nvSpPr>
        <p:spPr>
          <a:xfrm>
            <a:off x="0" y="2322576"/>
            <a:ext cx="749808" cy="749808"/>
          </a:xfrm>
          <a:prstGeom prst="rect">
            <a:avLst/>
          </a:prstGeom>
          <a:solidFill>
            <a:srgbClr val="FFFFFF"/>
          </a:solidFill>
          <a:ln w="10160">
            <a:solidFill>
              <a:srgbClr val="3A3A3A"/>
            </a:solidFill>
            <a:prstDash val="solid"/>
          </a:ln>
        </p:spPr>
        <p:txBody>
          <a:bodyPr/>
          <a:lstStyle/>
          <a:p>
            <a:endParaRPr lang="fr-FR"/>
          </a:p>
        </p:txBody>
      </p:sp>
      <p:sp>
        <p:nvSpPr>
          <p:cNvPr id="20" name="Text 18"/>
          <p:cNvSpPr/>
          <p:nvPr/>
        </p:nvSpPr>
        <p:spPr>
          <a:xfrm>
            <a:off x="0" y="2322576"/>
            <a:ext cx="749808" cy="749808"/>
          </a:xfrm>
          <a:prstGeom prst="rect">
            <a:avLst/>
          </a:prstGeom>
          <a:noFill/>
          <a:ln/>
        </p:spPr>
        <p:txBody>
          <a:bodyPr wrap="square"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2ÈME</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DEGRÉ</a:t>
            </a:r>
            <a:endParaRPr lang="en-US" sz="750" dirty="0"/>
          </a:p>
        </p:txBody>
      </p:sp>
      <p:sp>
        <p:nvSpPr>
          <p:cNvPr id="21" name="Shape 19"/>
          <p:cNvSpPr/>
          <p:nvPr/>
        </p:nvSpPr>
        <p:spPr>
          <a:xfrm>
            <a:off x="0" y="3145536"/>
            <a:ext cx="749808" cy="749808"/>
          </a:xfrm>
          <a:prstGeom prst="rect">
            <a:avLst/>
          </a:prstGeom>
          <a:solidFill>
            <a:srgbClr val="FFFFFF"/>
          </a:solidFill>
          <a:ln w="10160">
            <a:solidFill>
              <a:srgbClr val="3A3A3A"/>
            </a:solidFill>
            <a:prstDash val="solid"/>
          </a:ln>
        </p:spPr>
        <p:txBody>
          <a:bodyPr/>
          <a:lstStyle/>
          <a:p>
            <a:endParaRPr lang="fr-FR"/>
          </a:p>
        </p:txBody>
      </p:sp>
      <p:sp>
        <p:nvSpPr>
          <p:cNvPr id="22" name="Text 20"/>
          <p:cNvSpPr/>
          <p:nvPr/>
        </p:nvSpPr>
        <p:spPr>
          <a:xfrm>
            <a:off x="0" y="3145536"/>
            <a:ext cx="749808" cy="749808"/>
          </a:xfrm>
          <a:prstGeom prst="rect">
            <a:avLst/>
          </a:prstGeom>
          <a:noFill/>
          <a:ln/>
        </p:spPr>
        <p:txBody>
          <a:bodyPr wrap="square"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1ER</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DEGRÉ</a:t>
            </a:r>
            <a:endParaRPr lang="en-US" sz="750" dirty="0"/>
          </a:p>
        </p:txBody>
      </p:sp>
      <p:sp>
        <p:nvSpPr>
          <p:cNvPr id="23" name="Shape 21"/>
          <p:cNvSpPr/>
          <p:nvPr/>
        </p:nvSpPr>
        <p:spPr>
          <a:xfrm>
            <a:off x="804672" y="1499616"/>
            <a:ext cx="5989320" cy="274320"/>
          </a:xfrm>
          <a:prstGeom prst="rect">
            <a:avLst/>
          </a:prstGeom>
          <a:solidFill>
            <a:srgbClr val="CC0000"/>
          </a:solidFill>
          <a:ln w="12700">
            <a:solidFill>
              <a:srgbClr val="CC0000"/>
            </a:solidFill>
            <a:prstDash val="solid"/>
          </a:ln>
        </p:spPr>
        <p:txBody>
          <a:bodyPr/>
          <a:lstStyle/>
          <a:p>
            <a:endParaRPr lang="fr-FR"/>
          </a:p>
        </p:txBody>
      </p:sp>
      <p:sp>
        <p:nvSpPr>
          <p:cNvPr id="24" name="Text 22"/>
          <p:cNvSpPr/>
          <p:nvPr/>
        </p:nvSpPr>
        <p:spPr>
          <a:xfrm>
            <a:off x="804672" y="1499616"/>
            <a:ext cx="598932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Cour de cassation : chambres</a:t>
            </a:r>
            <a:endParaRPr lang="en-US" sz="950" dirty="0"/>
          </a:p>
        </p:txBody>
      </p:sp>
      <p:sp>
        <p:nvSpPr>
          <p:cNvPr id="25" name="Shape 23"/>
          <p:cNvSpPr/>
          <p:nvPr/>
        </p:nvSpPr>
        <p:spPr>
          <a:xfrm>
            <a:off x="822960" y="1792224"/>
            <a:ext cx="1380744" cy="365760"/>
          </a:xfrm>
          <a:prstGeom prst="rect">
            <a:avLst/>
          </a:prstGeom>
          <a:solidFill>
            <a:srgbClr val="FFFFFF"/>
          </a:solidFill>
          <a:ln w="6350">
            <a:solidFill>
              <a:srgbClr val="3A3A3A"/>
            </a:solidFill>
            <a:prstDash val="solid"/>
          </a:ln>
        </p:spPr>
        <p:txBody>
          <a:bodyPr/>
          <a:lstStyle/>
          <a:p>
            <a:endParaRPr lang="fr-FR"/>
          </a:p>
        </p:txBody>
      </p:sp>
      <p:sp>
        <p:nvSpPr>
          <p:cNvPr id="26" name="Text 24"/>
          <p:cNvSpPr/>
          <p:nvPr/>
        </p:nvSpPr>
        <p:spPr>
          <a:xfrm>
            <a:off x="822960" y="1792224"/>
            <a:ext cx="138074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Sociale</a:t>
            </a:r>
            <a:endParaRPr lang="en-US" sz="800" dirty="0"/>
          </a:p>
        </p:txBody>
      </p:sp>
      <p:sp>
        <p:nvSpPr>
          <p:cNvPr id="27" name="Shape 25"/>
          <p:cNvSpPr/>
          <p:nvPr/>
        </p:nvSpPr>
        <p:spPr>
          <a:xfrm>
            <a:off x="2240280" y="1792224"/>
            <a:ext cx="1380744" cy="365760"/>
          </a:xfrm>
          <a:prstGeom prst="rect">
            <a:avLst/>
          </a:prstGeom>
          <a:solidFill>
            <a:srgbClr val="FFFFFF"/>
          </a:solidFill>
          <a:ln w="6350">
            <a:solidFill>
              <a:srgbClr val="3A3A3A"/>
            </a:solidFill>
            <a:prstDash val="solid"/>
          </a:ln>
        </p:spPr>
        <p:txBody>
          <a:bodyPr/>
          <a:lstStyle/>
          <a:p>
            <a:endParaRPr lang="fr-FR"/>
          </a:p>
        </p:txBody>
      </p:sp>
      <p:sp>
        <p:nvSpPr>
          <p:cNvPr id="28" name="Text 26"/>
          <p:cNvSpPr/>
          <p:nvPr/>
        </p:nvSpPr>
        <p:spPr>
          <a:xfrm>
            <a:off x="2240280" y="1792224"/>
            <a:ext cx="138074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Commerciale</a:t>
            </a:r>
            <a:endParaRPr lang="en-US" sz="800" dirty="0"/>
          </a:p>
        </p:txBody>
      </p:sp>
      <p:sp>
        <p:nvSpPr>
          <p:cNvPr id="29" name="Shape 27"/>
          <p:cNvSpPr/>
          <p:nvPr/>
        </p:nvSpPr>
        <p:spPr>
          <a:xfrm>
            <a:off x="3657600" y="1792224"/>
            <a:ext cx="1563624" cy="365760"/>
          </a:xfrm>
          <a:prstGeom prst="rect">
            <a:avLst/>
          </a:prstGeom>
          <a:solidFill>
            <a:srgbClr val="FFFFFF"/>
          </a:solidFill>
          <a:ln w="6350">
            <a:solidFill>
              <a:srgbClr val="3A3A3A"/>
            </a:solidFill>
            <a:prstDash val="solid"/>
          </a:ln>
        </p:spPr>
        <p:txBody>
          <a:bodyPr/>
          <a:lstStyle/>
          <a:p>
            <a:endParaRPr lang="fr-FR"/>
          </a:p>
        </p:txBody>
      </p:sp>
      <p:sp>
        <p:nvSpPr>
          <p:cNvPr id="30" name="Text 28"/>
          <p:cNvSpPr/>
          <p:nvPr/>
        </p:nvSpPr>
        <p:spPr>
          <a:xfrm>
            <a:off x="3657600" y="1792224"/>
            <a:ext cx="156362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3 chambres</a:t>
            </a:r>
            <a:endParaRPr lang="en-US" sz="800" dirty="0"/>
          </a:p>
          <a:p>
            <a:pPr marL="0" indent="0" algn="ctr">
              <a:buNone/>
            </a:pPr>
            <a:r>
              <a:rPr lang="en-US" sz="800" dirty="0">
                <a:solidFill>
                  <a:srgbClr val="3A3A3A"/>
                </a:solidFill>
                <a:latin typeface="Calibri" pitchFamily="34" charset="0"/>
                <a:ea typeface="Calibri" pitchFamily="34" charset="-122"/>
                <a:cs typeface="Calibri" pitchFamily="34" charset="-120"/>
              </a:rPr>
              <a:t>civiles</a:t>
            </a:r>
            <a:endParaRPr lang="en-US" sz="800" dirty="0"/>
          </a:p>
        </p:txBody>
      </p:sp>
      <p:sp>
        <p:nvSpPr>
          <p:cNvPr id="31" name="Shape 29"/>
          <p:cNvSpPr/>
          <p:nvPr/>
        </p:nvSpPr>
        <p:spPr>
          <a:xfrm>
            <a:off x="5257800" y="1792224"/>
            <a:ext cx="1472184" cy="365760"/>
          </a:xfrm>
          <a:prstGeom prst="rect">
            <a:avLst/>
          </a:prstGeom>
          <a:solidFill>
            <a:srgbClr val="FFFFFF"/>
          </a:solidFill>
          <a:ln w="6350">
            <a:solidFill>
              <a:srgbClr val="3A3A3A"/>
            </a:solidFill>
            <a:prstDash val="solid"/>
          </a:ln>
        </p:spPr>
        <p:txBody>
          <a:bodyPr/>
          <a:lstStyle/>
          <a:p>
            <a:endParaRPr lang="fr-FR"/>
          </a:p>
        </p:txBody>
      </p:sp>
      <p:sp>
        <p:nvSpPr>
          <p:cNvPr id="32" name="Text 30"/>
          <p:cNvSpPr/>
          <p:nvPr/>
        </p:nvSpPr>
        <p:spPr>
          <a:xfrm>
            <a:off x="5257800" y="1792224"/>
            <a:ext cx="147218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Criminelle</a:t>
            </a:r>
            <a:endParaRPr lang="en-US" sz="800" dirty="0"/>
          </a:p>
        </p:txBody>
      </p:sp>
      <p:sp>
        <p:nvSpPr>
          <p:cNvPr id="33" name="Shape 31"/>
          <p:cNvSpPr/>
          <p:nvPr/>
        </p:nvSpPr>
        <p:spPr>
          <a:xfrm>
            <a:off x="1005840" y="1773936"/>
            <a:ext cx="0" cy="18288"/>
          </a:xfrm>
          <a:prstGeom prst="line">
            <a:avLst/>
          </a:prstGeom>
          <a:noFill/>
          <a:ln w="12700">
            <a:solidFill>
              <a:srgbClr val="3A3A3A"/>
            </a:solidFill>
            <a:prstDash val="solid"/>
          </a:ln>
        </p:spPr>
        <p:txBody>
          <a:bodyPr/>
          <a:lstStyle/>
          <a:p>
            <a:endParaRPr lang="fr-FR"/>
          </a:p>
        </p:txBody>
      </p:sp>
      <p:sp>
        <p:nvSpPr>
          <p:cNvPr id="34" name="Text 32"/>
          <p:cNvSpPr/>
          <p:nvPr/>
        </p:nvSpPr>
        <p:spPr>
          <a:xfrm>
            <a:off x="93268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35" name="Shape 33"/>
          <p:cNvSpPr/>
          <p:nvPr/>
        </p:nvSpPr>
        <p:spPr>
          <a:xfrm>
            <a:off x="1005840" y="1792224"/>
            <a:ext cx="914" cy="0"/>
          </a:xfrm>
          <a:prstGeom prst="line">
            <a:avLst/>
          </a:prstGeom>
          <a:noFill/>
          <a:ln w="10160">
            <a:solidFill>
              <a:srgbClr val="3A3A3A"/>
            </a:solidFill>
            <a:prstDash val="solid"/>
          </a:ln>
        </p:spPr>
        <p:txBody>
          <a:bodyPr/>
          <a:lstStyle/>
          <a:p>
            <a:endParaRPr lang="fr-FR"/>
          </a:p>
        </p:txBody>
      </p:sp>
      <p:sp>
        <p:nvSpPr>
          <p:cNvPr id="36" name="Shape 34"/>
          <p:cNvSpPr/>
          <p:nvPr/>
        </p:nvSpPr>
        <p:spPr>
          <a:xfrm>
            <a:off x="1737360" y="1773936"/>
            <a:ext cx="0" cy="18288"/>
          </a:xfrm>
          <a:prstGeom prst="line">
            <a:avLst/>
          </a:prstGeom>
          <a:noFill/>
          <a:ln w="12700">
            <a:solidFill>
              <a:srgbClr val="3A3A3A"/>
            </a:solidFill>
            <a:prstDash val="solid"/>
          </a:ln>
        </p:spPr>
        <p:txBody>
          <a:bodyPr/>
          <a:lstStyle/>
          <a:p>
            <a:endParaRPr lang="fr-FR"/>
          </a:p>
        </p:txBody>
      </p:sp>
      <p:sp>
        <p:nvSpPr>
          <p:cNvPr id="37" name="Text 35"/>
          <p:cNvSpPr/>
          <p:nvPr/>
        </p:nvSpPr>
        <p:spPr>
          <a:xfrm>
            <a:off x="166420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38" name="Shape 36"/>
          <p:cNvSpPr/>
          <p:nvPr/>
        </p:nvSpPr>
        <p:spPr>
          <a:xfrm>
            <a:off x="1737360" y="1792224"/>
            <a:ext cx="914" cy="0"/>
          </a:xfrm>
          <a:prstGeom prst="line">
            <a:avLst/>
          </a:prstGeom>
          <a:noFill/>
          <a:ln w="10160">
            <a:solidFill>
              <a:srgbClr val="3A3A3A"/>
            </a:solidFill>
            <a:prstDash val="solid"/>
          </a:ln>
        </p:spPr>
        <p:txBody>
          <a:bodyPr/>
          <a:lstStyle/>
          <a:p>
            <a:endParaRPr lang="fr-FR"/>
          </a:p>
        </p:txBody>
      </p:sp>
      <p:sp>
        <p:nvSpPr>
          <p:cNvPr id="39" name="Shape 37"/>
          <p:cNvSpPr/>
          <p:nvPr/>
        </p:nvSpPr>
        <p:spPr>
          <a:xfrm>
            <a:off x="2514600" y="1773936"/>
            <a:ext cx="0" cy="18288"/>
          </a:xfrm>
          <a:prstGeom prst="line">
            <a:avLst/>
          </a:prstGeom>
          <a:noFill/>
          <a:ln w="12700">
            <a:solidFill>
              <a:srgbClr val="3A3A3A"/>
            </a:solidFill>
            <a:prstDash val="solid"/>
          </a:ln>
        </p:spPr>
        <p:txBody>
          <a:bodyPr/>
          <a:lstStyle/>
          <a:p>
            <a:endParaRPr lang="fr-FR"/>
          </a:p>
        </p:txBody>
      </p:sp>
      <p:sp>
        <p:nvSpPr>
          <p:cNvPr id="40" name="Text 38"/>
          <p:cNvSpPr/>
          <p:nvPr/>
        </p:nvSpPr>
        <p:spPr>
          <a:xfrm>
            <a:off x="244144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41" name="Shape 39"/>
          <p:cNvSpPr/>
          <p:nvPr/>
        </p:nvSpPr>
        <p:spPr>
          <a:xfrm>
            <a:off x="2514600" y="1792224"/>
            <a:ext cx="914" cy="0"/>
          </a:xfrm>
          <a:prstGeom prst="line">
            <a:avLst/>
          </a:prstGeom>
          <a:noFill/>
          <a:ln w="10160">
            <a:solidFill>
              <a:srgbClr val="3A3A3A"/>
            </a:solidFill>
            <a:prstDash val="solid"/>
          </a:ln>
        </p:spPr>
        <p:txBody>
          <a:bodyPr/>
          <a:lstStyle/>
          <a:p>
            <a:endParaRPr lang="fr-FR"/>
          </a:p>
        </p:txBody>
      </p:sp>
      <p:sp>
        <p:nvSpPr>
          <p:cNvPr id="42" name="Shape 40"/>
          <p:cNvSpPr/>
          <p:nvPr/>
        </p:nvSpPr>
        <p:spPr>
          <a:xfrm>
            <a:off x="3474720" y="1773936"/>
            <a:ext cx="0" cy="18288"/>
          </a:xfrm>
          <a:prstGeom prst="line">
            <a:avLst/>
          </a:prstGeom>
          <a:noFill/>
          <a:ln w="12700">
            <a:solidFill>
              <a:srgbClr val="3A3A3A"/>
            </a:solidFill>
            <a:prstDash val="solid"/>
          </a:ln>
        </p:spPr>
        <p:txBody>
          <a:bodyPr/>
          <a:lstStyle/>
          <a:p>
            <a:endParaRPr lang="fr-FR"/>
          </a:p>
        </p:txBody>
      </p:sp>
      <p:sp>
        <p:nvSpPr>
          <p:cNvPr id="43" name="Text 41"/>
          <p:cNvSpPr/>
          <p:nvPr/>
        </p:nvSpPr>
        <p:spPr>
          <a:xfrm>
            <a:off x="340156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44" name="Shape 42"/>
          <p:cNvSpPr/>
          <p:nvPr/>
        </p:nvSpPr>
        <p:spPr>
          <a:xfrm>
            <a:off x="3474720" y="1792224"/>
            <a:ext cx="914" cy="0"/>
          </a:xfrm>
          <a:prstGeom prst="line">
            <a:avLst/>
          </a:prstGeom>
          <a:noFill/>
          <a:ln w="10160">
            <a:solidFill>
              <a:srgbClr val="3A3A3A"/>
            </a:solidFill>
            <a:prstDash val="solid"/>
          </a:ln>
        </p:spPr>
        <p:txBody>
          <a:bodyPr/>
          <a:lstStyle/>
          <a:p>
            <a:endParaRPr lang="fr-FR"/>
          </a:p>
        </p:txBody>
      </p:sp>
      <p:sp>
        <p:nvSpPr>
          <p:cNvPr id="45" name="Shape 43"/>
          <p:cNvSpPr/>
          <p:nvPr/>
        </p:nvSpPr>
        <p:spPr>
          <a:xfrm>
            <a:off x="804672" y="2322576"/>
            <a:ext cx="5577840" cy="256032"/>
          </a:xfrm>
          <a:prstGeom prst="rect">
            <a:avLst/>
          </a:prstGeom>
          <a:solidFill>
            <a:srgbClr val="E07020"/>
          </a:solidFill>
          <a:ln w="12700">
            <a:solidFill>
              <a:srgbClr val="E07020"/>
            </a:solidFill>
            <a:prstDash val="solid"/>
          </a:ln>
        </p:spPr>
        <p:txBody>
          <a:bodyPr/>
          <a:lstStyle/>
          <a:p>
            <a:endParaRPr lang="fr-FR"/>
          </a:p>
        </p:txBody>
      </p:sp>
      <p:sp>
        <p:nvSpPr>
          <p:cNvPr id="46" name="Text 44"/>
          <p:cNvSpPr/>
          <p:nvPr/>
        </p:nvSpPr>
        <p:spPr>
          <a:xfrm>
            <a:off x="804672" y="2322576"/>
            <a:ext cx="557784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Cour d'appel : chambres</a:t>
            </a:r>
            <a:endParaRPr lang="en-US" sz="950" dirty="0"/>
          </a:p>
        </p:txBody>
      </p:sp>
      <p:sp>
        <p:nvSpPr>
          <p:cNvPr id="47" name="Shape 45"/>
          <p:cNvSpPr/>
          <p:nvPr/>
        </p:nvSpPr>
        <p:spPr>
          <a:xfrm>
            <a:off x="822960" y="2596896"/>
            <a:ext cx="1289304" cy="347472"/>
          </a:xfrm>
          <a:prstGeom prst="rect">
            <a:avLst/>
          </a:prstGeom>
          <a:solidFill>
            <a:srgbClr val="FFFFFF"/>
          </a:solidFill>
          <a:ln w="6350">
            <a:solidFill>
              <a:srgbClr val="3A3A3A"/>
            </a:solidFill>
            <a:prstDash val="solid"/>
          </a:ln>
        </p:spPr>
        <p:txBody>
          <a:bodyPr/>
          <a:lstStyle/>
          <a:p>
            <a:endParaRPr lang="fr-FR"/>
          </a:p>
        </p:txBody>
      </p:sp>
      <p:sp>
        <p:nvSpPr>
          <p:cNvPr id="48" name="Text 46"/>
          <p:cNvSpPr/>
          <p:nvPr/>
        </p:nvSpPr>
        <p:spPr>
          <a:xfrm>
            <a:off x="822960" y="2596896"/>
            <a:ext cx="128930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Sociale</a:t>
            </a:r>
            <a:endParaRPr lang="en-US" sz="800" dirty="0"/>
          </a:p>
        </p:txBody>
      </p:sp>
      <p:sp>
        <p:nvSpPr>
          <p:cNvPr id="49" name="Shape 47"/>
          <p:cNvSpPr/>
          <p:nvPr/>
        </p:nvSpPr>
        <p:spPr>
          <a:xfrm>
            <a:off x="2148840" y="2596896"/>
            <a:ext cx="1380744" cy="347472"/>
          </a:xfrm>
          <a:prstGeom prst="rect">
            <a:avLst/>
          </a:prstGeom>
          <a:solidFill>
            <a:srgbClr val="FFFFFF"/>
          </a:solidFill>
          <a:ln w="6350">
            <a:solidFill>
              <a:srgbClr val="3A3A3A"/>
            </a:solidFill>
            <a:prstDash val="solid"/>
          </a:ln>
        </p:spPr>
        <p:txBody>
          <a:bodyPr/>
          <a:lstStyle/>
          <a:p>
            <a:endParaRPr lang="fr-FR"/>
          </a:p>
        </p:txBody>
      </p:sp>
      <p:sp>
        <p:nvSpPr>
          <p:cNvPr id="50" name="Text 48"/>
          <p:cNvSpPr/>
          <p:nvPr/>
        </p:nvSpPr>
        <p:spPr>
          <a:xfrm>
            <a:off x="2148840" y="2596896"/>
            <a:ext cx="138074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Commerciale</a:t>
            </a:r>
            <a:endParaRPr lang="en-US" sz="800" dirty="0"/>
          </a:p>
        </p:txBody>
      </p:sp>
      <p:sp>
        <p:nvSpPr>
          <p:cNvPr id="51" name="Shape 49"/>
          <p:cNvSpPr/>
          <p:nvPr/>
        </p:nvSpPr>
        <p:spPr>
          <a:xfrm>
            <a:off x="3566160" y="2596896"/>
            <a:ext cx="1380744" cy="347472"/>
          </a:xfrm>
          <a:prstGeom prst="rect">
            <a:avLst/>
          </a:prstGeom>
          <a:solidFill>
            <a:srgbClr val="FFFFFF"/>
          </a:solidFill>
          <a:ln w="6350">
            <a:solidFill>
              <a:srgbClr val="3A3A3A"/>
            </a:solidFill>
            <a:prstDash val="solid"/>
          </a:ln>
        </p:spPr>
        <p:txBody>
          <a:bodyPr/>
          <a:lstStyle/>
          <a:p>
            <a:endParaRPr lang="fr-FR"/>
          </a:p>
        </p:txBody>
      </p:sp>
      <p:sp>
        <p:nvSpPr>
          <p:cNvPr id="52" name="Text 50"/>
          <p:cNvSpPr/>
          <p:nvPr/>
        </p:nvSpPr>
        <p:spPr>
          <a:xfrm>
            <a:off x="3566160" y="2596896"/>
            <a:ext cx="138074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Civile</a:t>
            </a:r>
            <a:endParaRPr lang="en-US" sz="800" dirty="0"/>
          </a:p>
        </p:txBody>
      </p:sp>
      <p:sp>
        <p:nvSpPr>
          <p:cNvPr id="53" name="Shape 51"/>
          <p:cNvSpPr/>
          <p:nvPr/>
        </p:nvSpPr>
        <p:spPr>
          <a:xfrm>
            <a:off x="4983480" y="2596896"/>
            <a:ext cx="1335024" cy="347472"/>
          </a:xfrm>
          <a:prstGeom prst="rect">
            <a:avLst/>
          </a:prstGeom>
          <a:solidFill>
            <a:srgbClr val="FFFFFF"/>
          </a:solidFill>
          <a:ln w="6350">
            <a:solidFill>
              <a:srgbClr val="3A3A3A"/>
            </a:solidFill>
            <a:prstDash val="solid"/>
          </a:ln>
        </p:spPr>
        <p:txBody>
          <a:bodyPr/>
          <a:lstStyle/>
          <a:p>
            <a:endParaRPr lang="fr-FR"/>
          </a:p>
        </p:txBody>
      </p:sp>
      <p:sp>
        <p:nvSpPr>
          <p:cNvPr id="54" name="Text 52"/>
          <p:cNvSpPr/>
          <p:nvPr/>
        </p:nvSpPr>
        <p:spPr>
          <a:xfrm>
            <a:off x="4983480" y="2596896"/>
            <a:ext cx="133502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Correctionnelle</a:t>
            </a:r>
            <a:endParaRPr lang="en-US" sz="800" dirty="0"/>
          </a:p>
        </p:txBody>
      </p:sp>
      <p:sp>
        <p:nvSpPr>
          <p:cNvPr id="55" name="Shape 53"/>
          <p:cNvSpPr/>
          <p:nvPr/>
        </p:nvSpPr>
        <p:spPr>
          <a:xfrm>
            <a:off x="6428232" y="2322576"/>
            <a:ext cx="868680" cy="621792"/>
          </a:xfrm>
          <a:prstGeom prst="rect">
            <a:avLst/>
          </a:prstGeom>
          <a:solidFill>
            <a:srgbClr val="FFB300"/>
          </a:solidFill>
          <a:ln w="12700">
            <a:solidFill>
              <a:srgbClr val="FFB300"/>
            </a:solidFill>
            <a:prstDash val="solid"/>
          </a:ln>
        </p:spPr>
        <p:txBody>
          <a:bodyPr/>
          <a:lstStyle/>
          <a:p>
            <a:endParaRPr lang="fr-FR"/>
          </a:p>
        </p:txBody>
      </p:sp>
      <p:sp>
        <p:nvSpPr>
          <p:cNvPr id="56" name="Text 54"/>
          <p:cNvSpPr/>
          <p:nvPr/>
        </p:nvSpPr>
        <p:spPr>
          <a:xfrm>
            <a:off x="6428232" y="2322576"/>
            <a:ext cx="868680" cy="62179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Cour</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d'assises</a:t>
            </a:r>
            <a:endParaRPr lang="en-US" sz="850" dirty="0"/>
          </a:p>
        </p:txBody>
      </p:sp>
      <p:sp>
        <p:nvSpPr>
          <p:cNvPr id="57" name="Text 55"/>
          <p:cNvSpPr/>
          <p:nvPr/>
        </p:nvSpPr>
        <p:spPr>
          <a:xfrm>
            <a:off x="93268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58" name="Text 56"/>
          <p:cNvSpPr/>
          <p:nvPr/>
        </p:nvSpPr>
        <p:spPr>
          <a:xfrm>
            <a:off x="175564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59" name="Text 57"/>
          <p:cNvSpPr/>
          <p:nvPr/>
        </p:nvSpPr>
        <p:spPr>
          <a:xfrm>
            <a:off x="248716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60" name="Text 58"/>
          <p:cNvSpPr/>
          <p:nvPr/>
        </p:nvSpPr>
        <p:spPr>
          <a:xfrm>
            <a:off x="358444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61" name="Shape 59"/>
          <p:cNvSpPr/>
          <p:nvPr/>
        </p:nvSpPr>
        <p:spPr>
          <a:xfrm>
            <a:off x="804672" y="3218688"/>
            <a:ext cx="1353312" cy="658368"/>
          </a:xfrm>
          <a:prstGeom prst="rect">
            <a:avLst/>
          </a:prstGeom>
          <a:solidFill>
            <a:srgbClr val="FFB300"/>
          </a:solidFill>
          <a:ln w="12700">
            <a:solidFill>
              <a:srgbClr val="E09000"/>
            </a:solidFill>
            <a:prstDash val="solid"/>
          </a:ln>
        </p:spPr>
        <p:txBody>
          <a:bodyPr/>
          <a:lstStyle/>
          <a:p>
            <a:endParaRPr lang="fr-FR"/>
          </a:p>
        </p:txBody>
      </p:sp>
      <p:sp>
        <p:nvSpPr>
          <p:cNvPr id="62" name="Text 60"/>
          <p:cNvSpPr/>
          <p:nvPr/>
        </p:nvSpPr>
        <p:spPr>
          <a:xfrm>
            <a:off x="804672" y="3218688"/>
            <a:ext cx="1353312" cy="65836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Conseil 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Prud'hommes</a:t>
            </a:r>
            <a:endParaRPr lang="en-US" sz="850" dirty="0"/>
          </a:p>
        </p:txBody>
      </p:sp>
      <p:sp>
        <p:nvSpPr>
          <p:cNvPr id="63" name="Shape 61"/>
          <p:cNvSpPr/>
          <p:nvPr/>
        </p:nvSpPr>
        <p:spPr>
          <a:xfrm>
            <a:off x="2194560" y="3218688"/>
            <a:ext cx="1170432" cy="658368"/>
          </a:xfrm>
          <a:prstGeom prst="rect">
            <a:avLst/>
          </a:prstGeom>
          <a:solidFill>
            <a:srgbClr val="FFB300"/>
          </a:solidFill>
          <a:ln w="12700">
            <a:solidFill>
              <a:srgbClr val="E09000"/>
            </a:solidFill>
            <a:prstDash val="solid"/>
          </a:ln>
        </p:spPr>
        <p:txBody>
          <a:bodyPr/>
          <a:lstStyle/>
          <a:p>
            <a:endParaRPr lang="fr-FR"/>
          </a:p>
        </p:txBody>
      </p:sp>
      <p:sp>
        <p:nvSpPr>
          <p:cNvPr id="64" name="Text 62"/>
          <p:cNvSpPr/>
          <p:nvPr/>
        </p:nvSpPr>
        <p:spPr>
          <a:xfrm>
            <a:off x="2194560" y="3218688"/>
            <a:ext cx="1170432" cy="65836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Tribunal 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commerce</a:t>
            </a:r>
            <a:endParaRPr lang="en-US" sz="850" dirty="0"/>
          </a:p>
        </p:txBody>
      </p:sp>
      <p:sp>
        <p:nvSpPr>
          <p:cNvPr id="65" name="Shape 63"/>
          <p:cNvSpPr/>
          <p:nvPr/>
        </p:nvSpPr>
        <p:spPr>
          <a:xfrm>
            <a:off x="3401568" y="3090672"/>
            <a:ext cx="1170432" cy="786384"/>
          </a:xfrm>
          <a:prstGeom prst="rect">
            <a:avLst/>
          </a:prstGeom>
          <a:solidFill>
            <a:srgbClr val="FFFFFF"/>
          </a:solidFill>
          <a:ln w="10160">
            <a:solidFill>
              <a:srgbClr val="3A3A3A"/>
            </a:solidFill>
            <a:prstDash val="solid"/>
          </a:ln>
        </p:spPr>
        <p:txBody>
          <a:bodyPr/>
          <a:lstStyle/>
          <a:p>
            <a:endParaRPr lang="fr-FR"/>
          </a:p>
        </p:txBody>
      </p:sp>
      <p:sp>
        <p:nvSpPr>
          <p:cNvPr id="66" name="Text 64"/>
          <p:cNvSpPr/>
          <p:nvPr/>
        </p:nvSpPr>
        <p:spPr>
          <a:xfrm>
            <a:off x="3401568" y="3090672"/>
            <a:ext cx="1170432" cy="786384"/>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Tribunal</a:t>
            </a:r>
            <a:endParaRPr lang="en-US" sz="850" dirty="0"/>
          </a:p>
          <a:p>
            <a:pPr marL="0" indent="0" algn="ctr">
              <a:buNone/>
            </a:pPr>
            <a:r>
              <a:rPr lang="en-US" sz="850" b="1" dirty="0">
                <a:solidFill>
                  <a:srgbClr val="3A3A3A"/>
                </a:solidFill>
                <a:latin typeface="Calibri" pitchFamily="34" charset="0"/>
                <a:ea typeface="Calibri" pitchFamily="34" charset="-122"/>
                <a:cs typeface="Calibri" pitchFamily="34" charset="-120"/>
              </a:rPr>
              <a:t>judiciaire</a:t>
            </a:r>
            <a:endParaRPr lang="en-US" sz="850" dirty="0"/>
          </a:p>
        </p:txBody>
      </p:sp>
      <p:sp>
        <p:nvSpPr>
          <p:cNvPr id="67" name="Shape 65"/>
          <p:cNvSpPr/>
          <p:nvPr/>
        </p:nvSpPr>
        <p:spPr>
          <a:xfrm>
            <a:off x="4608576" y="3090672"/>
            <a:ext cx="1170432" cy="384048"/>
          </a:xfrm>
          <a:prstGeom prst="rect">
            <a:avLst/>
          </a:prstGeom>
          <a:solidFill>
            <a:srgbClr val="FFB300"/>
          </a:solidFill>
          <a:ln w="12700">
            <a:solidFill>
              <a:srgbClr val="E09000"/>
            </a:solidFill>
            <a:prstDash val="solid"/>
          </a:ln>
        </p:spPr>
        <p:txBody>
          <a:bodyPr/>
          <a:lstStyle/>
          <a:p>
            <a:endParaRPr lang="fr-FR"/>
          </a:p>
        </p:txBody>
      </p:sp>
      <p:sp>
        <p:nvSpPr>
          <p:cNvPr id="68" name="Text 66"/>
          <p:cNvSpPr/>
          <p:nvPr/>
        </p:nvSpPr>
        <p:spPr>
          <a:xfrm>
            <a:off x="4608576" y="3090672"/>
            <a:ext cx="1170432" cy="38404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Tribunal correctionnel</a:t>
            </a:r>
            <a:endParaRPr lang="en-US" sz="800" dirty="0"/>
          </a:p>
        </p:txBody>
      </p:sp>
      <p:sp>
        <p:nvSpPr>
          <p:cNvPr id="69" name="Shape 67"/>
          <p:cNvSpPr/>
          <p:nvPr/>
        </p:nvSpPr>
        <p:spPr>
          <a:xfrm>
            <a:off x="4608576" y="3511296"/>
            <a:ext cx="1170432" cy="365760"/>
          </a:xfrm>
          <a:prstGeom prst="rect">
            <a:avLst/>
          </a:prstGeom>
          <a:solidFill>
            <a:srgbClr val="FFB300"/>
          </a:solidFill>
          <a:ln w="12700">
            <a:solidFill>
              <a:srgbClr val="E09000"/>
            </a:solidFill>
            <a:prstDash val="solid"/>
          </a:ln>
        </p:spPr>
        <p:txBody>
          <a:bodyPr/>
          <a:lstStyle/>
          <a:p>
            <a:endParaRPr lang="fr-FR"/>
          </a:p>
        </p:txBody>
      </p:sp>
      <p:sp>
        <p:nvSpPr>
          <p:cNvPr id="70" name="Text 68"/>
          <p:cNvSpPr/>
          <p:nvPr/>
        </p:nvSpPr>
        <p:spPr>
          <a:xfrm>
            <a:off x="4608576" y="3511296"/>
            <a:ext cx="1170432"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Tribunal de Police</a:t>
            </a:r>
            <a:endParaRPr lang="en-US" sz="800" dirty="0"/>
          </a:p>
        </p:txBody>
      </p:sp>
      <p:sp>
        <p:nvSpPr>
          <p:cNvPr id="71" name="Shape 69"/>
          <p:cNvSpPr/>
          <p:nvPr/>
        </p:nvSpPr>
        <p:spPr>
          <a:xfrm>
            <a:off x="5806440" y="3090672"/>
            <a:ext cx="576072" cy="786384"/>
          </a:xfrm>
          <a:prstGeom prst="rect">
            <a:avLst/>
          </a:prstGeom>
          <a:solidFill>
            <a:srgbClr val="FFB300"/>
          </a:solidFill>
          <a:ln w="12700">
            <a:solidFill>
              <a:srgbClr val="E09000"/>
            </a:solidFill>
            <a:prstDash val="solid"/>
          </a:ln>
        </p:spPr>
        <p:txBody>
          <a:bodyPr/>
          <a:lstStyle/>
          <a:p>
            <a:endParaRPr lang="fr-FR"/>
          </a:p>
        </p:txBody>
      </p:sp>
      <p:sp>
        <p:nvSpPr>
          <p:cNvPr id="72" name="Text 70"/>
          <p:cNvSpPr/>
          <p:nvPr/>
        </p:nvSpPr>
        <p:spPr>
          <a:xfrm>
            <a:off x="5806440" y="3090672"/>
            <a:ext cx="576072" cy="786384"/>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Cour</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d'assises</a:t>
            </a:r>
            <a:endParaRPr lang="en-US" sz="750" dirty="0"/>
          </a:p>
        </p:txBody>
      </p:sp>
      <p:sp>
        <p:nvSpPr>
          <p:cNvPr id="73" name="Text 71"/>
          <p:cNvSpPr/>
          <p:nvPr/>
        </p:nvSpPr>
        <p:spPr>
          <a:xfrm>
            <a:off x="950976"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4" name="Text 72"/>
          <p:cNvSpPr/>
          <p:nvPr/>
        </p:nvSpPr>
        <p:spPr>
          <a:xfrm>
            <a:off x="2258568"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5" name="Text 73"/>
          <p:cNvSpPr/>
          <p:nvPr/>
        </p:nvSpPr>
        <p:spPr>
          <a:xfrm>
            <a:off x="3328416"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6" name="Text 74"/>
          <p:cNvSpPr/>
          <p:nvPr/>
        </p:nvSpPr>
        <p:spPr>
          <a:xfrm>
            <a:off x="5074920"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7" name="Shape 75"/>
          <p:cNvSpPr/>
          <p:nvPr/>
        </p:nvSpPr>
        <p:spPr>
          <a:xfrm>
            <a:off x="6858000" y="1499616"/>
            <a:ext cx="2011680" cy="320040"/>
          </a:xfrm>
          <a:prstGeom prst="rect">
            <a:avLst/>
          </a:prstGeom>
          <a:solidFill>
            <a:srgbClr val="1F3D6B"/>
          </a:solidFill>
          <a:ln w="12700">
            <a:solidFill>
              <a:srgbClr val="1F3D6B"/>
            </a:solidFill>
            <a:prstDash val="solid"/>
          </a:ln>
        </p:spPr>
        <p:txBody>
          <a:bodyPr/>
          <a:lstStyle/>
          <a:p>
            <a:endParaRPr lang="fr-FR"/>
          </a:p>
        </p:txBody>
      </p:sp>
      <p:sp>
        <p:nvSpPr>
          <p:cNvPr id="78" name="Text 76"/>
          <p:cNvSpPr/>
          <p:nvPr/>
        </p:nvSpPr>
        <p:spPr>
          <a:xfrm>
            <a:off x="6858000" y="1499616"/>
            <a:ext cx="201168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Conseil d'État</a:t>
            </a:r>
            <a:endParaRPr lang="en-US" sz="950" dirty="0"/>
          </a:p>
        </p:txBody>
      </p:sp>
      <p:sp>
        <p:nvSpPr>
          <p:cNvPr id="79" name="Shape 77"/>
          <p:cNvSpPr/>
          <p:nvPr/>
        </p:nvSpPr>
        <p:spPr>
          <a:xfrm>
            <a:off x="6858000" y="1837944"/>
            <a:ext cx="2011680" cy="292608"/>
          </a:xfrm>
          <a:prstGeom prst="rect">
            <a:avLst/>
          </a:prstGeom>
          <a:solidFill>
            <a:srgbClr val="DCCBA8"/>
          </a:solidFill>
          <a:ln w="6350">
            <a:solidFill>
              <a:srgbClr val="3A3A3A"/>
            </a:solidFill>
            <a:prstDash val="solid"/>
          </a:ln>
        </p:spPr>
        <p:txBody>
          <a:bodyPr/>
          <a:lstStyle/>
          <a:p>
            <a:endParaRPr lang="fr-FR"/>
          </a:p>
        </p:txBody>
      </p:sp>
      <p:sp>
        <p:nvSpPr>
          <p:cNvPr id="80" name="Text 78"/>
          <p:cNvSpPr/>
          <p:nvPr/>
        </p:nvSpPr>
        <p:spPr>
          <a:xfrm>
            <a:off x="6858000" y="1837944"/>
            <a:ext cx="2011680" cy="292608"/>
          </a:xfrm>
          <a:prstGeom prst="rect">
            <a:avLst/>
          </a:prstGeom>
          <a:noFill/>
          <a:ln/>
        </p:spPr>
        <p:txBody>
          <a:bodyPr wrap="square" rtlCol="0" anchor="ctr"/>
          <a:lstStyle/>
          <a:p>
            <a:pPr marL="0" indent="0" algn="ctr">
              <a:buNone/>
            </a:pPr>
            <a:r>
              <a:rPr lang="en-US" sz="850" dirty="0">
                <a:solidFill>
                  <a:srgbClr val="3A3A3A"/>
                </a:solidFill>
                <a:latin typeface="Calibri" pitchFamily="34" charset="0"/>
                <a:ea typeface="Calibri" pitchFamily="34" charset="-122"/>
                <a:cs typeface="Calibri" pitchFamily="34" charset="-120"/>
              </a:rPr>
              <a:t>Section de contentieux</a:t>
            </a:r>
            <a:endParaRPr lang="en-US" sz="850" dirty="0"/>
          </a:p>
        </p:txBody>
      </p:sp>
      <p:sp>
        <p:nvSpPr>
          <p:cNvPr id="81" name="Text 79"/>
          <p:cNvSpPr/>
          <p:nvPr/>
        </p:nvSpPr>
        <p:spPr>
          <a:xfrm>
            <a:off x="7772400" y="219456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82" name="Shape 80"/>
          <p:cNvSpPr/>
          <p:nvPr/>
        </p:nvSpPr>
        <p:spPr>
          <a:xfrm>
            <a:off x="6858000" y="2359152"/>
            <a:ext cx="2011680" cy="594360"/>
          </a:xfrm>
          <a:prstGeom prst="rect">
            <a:avLst/>
          </a:prstGeom>
          <a:solidFill>
            <a:srgbClr val="5B8DB8"/>
          </a:solidFill>
          <a:ln w="12700">
            <a:solidFill>
              <a:srgbClr val="5B8DB8"/>
            </a:solidFill>
            <a:prstDash val="solid"/>
          </a:ln>
        </p:spPr>
        <p:txBody>
          <a:bodyPr/>
          <a:lstStyle/>
          <a:p>
            <a:endParaRPr lang="fr-FR"/>
          </a:p>
        </p:txBody>
      </p:sp>
      <p:sp>
        <p:nvSpPr>
          <p:cNvPr id="83" name="Text 81"/>
          <p:cNvSpPr/>
          <p:nvPr/>
        </p:nvSpPr>
        <p:spPr>
          <a:xfrm>
            <a:off x="6858000" y="2359152"/>
            <a:ext cx="2011680" cy="59436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Cour administrative</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d'appel</a:t>
            </a:r>
            <a:endParaRPr lang="en-US" sz="900" dirty="0"/>
          </a:p>
        </p:txBody>
      </p:sp>
      <p:sp>
        <p:nvSpPr>
          <p:cNvPr id="84" name="Text 82"/>
          <p:cNvSpPr/>
          <p:nvPr/>
        </p:nvSpPr>
        <p:spPr>
          <a:xfrm>
            <a:off x="7772400" y="301752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85" name="Shape 83"/>
          <p:cNvSpPr/>
          <p:nvPr/>
        </p:nvSpPr>
        <p:spPr>
          <a:xfrm>
            <a:off x="6858000" y="3182112"/>
            <a:ext cx="2011680" cy="594360"/>
          </a:xfrm>
          <a:prstGeom prst="rect">
            <a:avLst/>
          </a:prstGeom>
          <a:solidFill>
            <a:srgbClr val="90B8D8"/>
          </a:solidFill>
          <a:ln w="12700">
            <a:solidFill>
              <a:srgbClr val="90B8D8"/>
            </a:solidFill>
            <a:prstDash val="solid"/>
          </a:ln>
        </p:spPr>
        <p:txBody>
          <a:bodyPr/>
          <a:lstStyle/>
          <a:p>
            <a:endParaRPr lang="fr-FR"/>
          </a:p>
        </p:txBody>
      </p:sp>
      <p:sp>
        <p:nvSpPr>
          <p:cNvPr id="86" name="Text 84"/>
          <p:cNvSpPr/>
          <p:nvPr/>
        </p:nvSpPr>
        <p:spPr>
          <a:xfrm>
            <a:off x="6858000" y="3182112"/>
            <a:ext cx="2011680" cy="59436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Tribunal administratif</a:t>
            </a:r>
            <a:endParaRPr lang="en-US" sz="900" dirty="0"/>
          </a:p>
        </p:txBody>
      </p:sp>
      <p:sp>
        <p:nvSpPr>
          <p:cNvPr id="87" name="Shape 85"/>
          <p:cNvSpPr/>
          <p:nvPr/>
        </p:nvSpPr>
        <p:spPr>
          <a:xfrm>
            <a:off x="0" y="4005072"/>
            <a:ext cx="8869680" cy="411480"/>
          </a:xfrm>
          <a:prstGeom prst="rect">
            <a:avLst/>
          </a:prstGeom>
          <a:solidFill>
            <a:srgbClr val="FFFBEB"/>
          </a:solidFill>
          <a:ln w="19050">
            <a:solidFill>
              <a:srgbClr val="F4A227"/>
            </a:solidFill>
            <a:prstDash val="solid"/>
          </a:ln>
        </p:spPr>
        <p:txBody>
          <a:bodyPr/>
          <a:lstStyle/>
          <a:p>
            <a:endParaRPr lang="fr-FR"/>
          </a:p>
        </p:txBody>
      </p:sp>
      <p:sp>
        <p:nvSpPr>
          <p:cNvPr id="88" name="Shape 86"/>
          <p:cNvSpPr/>
          <p:nvPr/>
        </p:nvSpPr>
        <p:spPr>
          <a:xfrm>
            <a:off x="0" y="4005072"/>
            <a:ext cx="54864" cy="411480"/>
          </a:xfrm>
          <a:prstGeom prst="rect">
            <a:avLst/>
          </a:prstGeom>
          <a:solidFill>
            <a:srgbClr val="F4A227"/>
          </a:solidFill>
          <a:ln w="12700">
            <a:solidFill>
              <a:srgbClr val="F4A227"/>
            </a:solidFill>
            <a:prstDash val="solid"/>
          </a:ln>
        </p:spPr>
        <p:txBody>
          <a:bodyPr/>
          <a:lstStyle/>
          <a:p>
            <a:endParaRPr lang="fr-FR"/>
          </a:p>
        </p:txBody>
      </p:sp>
      <p:sp>
        <p:nvSpPr>
          <p:cNvPr id="89" name="Text 87"/>
          <p:cNvSpPr/>
          <p:nvPr/>
        </p:nvSpPr>
        <p:spPr>
          <a:xfrm>
            <a:off x="109728" y="4005072"/>
            <a:ext cx="8741664" cy="41148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En T3P → Contestation retrait carte pro : Tribunal administratif (ordre administratif). Infraction pénale (maraude illégale) : Tribunal correctionnel. Litige salarié/employeur : Conseil de Prud'hommes.</a:t>
            </a:r>
            <a:endParaRPr lang="en-US" sz="1000" dirty="0"/>
          </a:p>
        </p:txBody>
      </p:sp>
      <p:sp>
        <p:nvSpPr>
          <p:cNvPr id="90" name="Rectangle 8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91" name="Rectangle 9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juridictions civiles et pénales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Compétences et rôles — Pertinence pour les conducteurs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45/88</a:t>
            </a:r>
            <a:endParaRPr lang="en-US" sz="800" dirty="0"/>
          </a:p>
        </p:txBody>
      </p:sp>
      <p:sp>
        <p:nvSpPr>
          <p:cNvPr id="9" name="Shape 7"/>
          <p:cNvSpPr/>
          <p:nvPr/>
        </p:nvSpPr>
        <p:spPr>
          <a:xfrm>
            <a:off x="274320" y="960120"/>
            <a:ext cx="4160520" cy="347472"/>
          </a:xfrm>
          <a:prstGeom prst="rect">
            <a:avLst/>
          </a:prstGeom>
          <a:solidFill>
            <a:srgbClr val="2860A8"/>
          </a:solidFill>
          <a:ln w="12700">
            <a:solidFill>
              <a:srgbClr val="2860A8"/>
            </a:solidFill>
            <a:prstDash val="solid"/>
          </a:ln>
        </p:spPr>
        <p:txBody>
          <a:bodyPr/>
          <a:lstStyle/>
          <a:p>
            <a:endParaRPr lang="fr-FR"/>
          </a:p>
        </p:txBody>
      </p:sp>
      <p:sp>
        <p:nvSpPr>
          <p:cNvPr id="10" name="Text 8"/>
          <p:cNvSpPr/>
          <p:nvPr/>
        </p:nvSpPr>
        <p:spPr>
          <a:xfrm>
            <a:off x="274320" y="960120"/>
            <a:ext cx="41605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JURIDICTIONS CIVILES</a:t>
            </a:r>
            <a:endParaRPr lang="en-US" sz="1100" dirty="0"/>
          </a:p>
        </p:txBody>
      </p:sp>
      <p:sp>
        <p:nvSpPr>
          <p:cNvPr id="11" name="Shape 9"/>
          <p:cNvSpPr/>
          <p:nvPr/>
        </p:nvSpPr>
        <p:spPr>
          <a:xfrm>
            <a:off x="274320" y="1389888"/>
            <a:ext cx="4160520" cy="82296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256032"/>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347472" y="1389888"/>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JUDICIAIRE</a:t>
            </a:r>
            <a:endParaRPr lang="en-US" sz="950" dirty="0"/>
          </a:p>
        </p:txBody>
      </p:sp>
      <p:sp>
        <p:nvSpPr>
          <p:cNvPr id="14" name="Text 12"/>
          <p:cNvSpPr/>
          <p:nvPr/>
        </p:nvSpPr>
        <p:spPr>
          <a:xfrm>
            <a:off x="365760" y="1664208"/>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Issu de la fusion TI + TGI. Compétent pour tous litiges non confiés à un autre tribunal (loyer, divorce, consommation...). N'inflige pas de peines pénales.</a:t>
            </a:r>
            <a:endParaRPr lang="en-US" sz="880" dirty="0"/>
          </a:p>
        </p:txBody>
      </p:sp>
      <p:sp>
        <p:nvSpPr>
          <p:cNvPr id="15" name="Shape 13"/>
          <p:cNvSpPr/>
          <p:nvPr/>
        </p:nvSpPr>
        <p:spPr>
          <a:xfrm>
            <a:off x="274320" y="2286000"/>
            <a:ext cx="4160520" cy="822960"/>
          </a:xfrm>
          <a:prstGeom prst="rect">
            <a:avLst/>
          </a:prstGeom>
          <a:solidFill>
            <a:srgbClr val="E8F1FA"/>
          </a:solidFill>
          <a:ln w="6350">
            <a:solidFill>
              <a:srgbClr val="D0DCE8"/>
            </a:solidFill>
            <a:prstDash val="solid"/>
          </a:ln>
        </p:spPr>
        <p:txBody>
          <a:bodyPr/>
          <a:lstStyle/>
          <a:p>
            <a:endParaRPr lang="fr-FR"/>
          </a:p>
        </p:txBody>
      </p:sp>
      <p:sp>
        <p:nvSpPr>
          <p:cNvPr id="16" name="Shape 14"/>
          <p:cNvSpPr/>
          <p:nvPr/>
        </p:nvSpPr>
        <p:spPr>
          <a:xfrm>
            <a:off x="274320" y="2286000"/>
            <a:ext cx="4160520" cy="256032"/>
          </a:xfrm>
          <a:prstGeom prst="rect">
            <a:avLst/>
          </a:prstGeom>
          <a:solidFill>
            <a:srgbClr val="1A3A5C"/>
          </a:solidFill>
          <a:ln w="12700">
            <a:solidFill>
              <a:srgbClr val="1A3A5C"/>
            </a:solidFill>
            <a:prstDash val="solid"/>
          </a:ln>
        </p:spPr>
        <p:txBody>
          <a:bodyPr/>
          <a:lstStyle/>
          <a:p>
            <a:endParaRPr lang="fr-FR"/>
          </a:p>
        </p:txBody>
      </p:sp>
      <p:sp>
        <p:nvSpPr>
          <p:cNvPr id="17" name="Text 15"/>
          <p:cNvSpPr/>
          <p:nvPr/>
        </p:nvSpPr>
        <p:spPr>
          <a:xfrm>
            <a:off x="347472" y="2286000"/>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DE COMMERCE</a:t>
            </a:r>
            <a:endParaRPr lang="en-US" sz="950" dirty="0"/>
          </a:p>
        </p:txBody>
      </p:sp>
      <p:sp>
        <p:nvSpPr>
          <p:cNvPr id="18" name="Text 16"/>
          <p:cNvSpPr/>
          <p:nvPr/>
        </p:nvSpPr>
        <p:spPr>
          <a:xfrm>
            <a:off x="365760" y="2560320"/>
            <a:ext cx="3913632" cy="7500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Litiges entre COMMERÇANTS (compétence principale). Un litige particulier-commerçant relève en principe du tribunal judiciaire, sauf si le particulier choisit ce tribunal. Accompagne les entreprises en difficulté.</a:t>
            </a:r>
            <a:endParaRPr lang="en-US" sz="880" dirty="0"/>
          </a:p>
        </p:txBody>
      </p:sp>
      <p:sp>
        <p:nvSpPr>
          <p:cNvPr id="19" name="Shape 17"/>
          <p:cNvSpPr/>
          <p:nvPr/>
        </p:nvSpPr>
        <p:spPr>
          <a:xfrm>
            <a:off x="274320" y="3182112"/>
            <a:ext cx="4160520" cy="822960"/>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274320" y="3182112"/>
            <a:ext cx="4160520" cy="256032"/>
          </a:xfrm>
          <a:prstGeom prst="rect">
            <a:avLst/>
          </a:prstGeom>
          <a:solidFill>
            <a:srgbClr val="5A6E8A"/>
          </a:solidFill>
          <a:ln w="12700">
            <a:solidFill>
              <a:srgbClr val="5A6E8A"/>
            </a:solidFill>
            <a:prstDash val="solid"/>
          </a:ln>
        </p:spPr>
        <p:txBody>
          <a:bodyPr/>
          <a:lstStyle/>
          <a:p>
            <a:endParaRPr lang="fr-FR"/>
          </a:p>
        </p:txBody>
      </p:sp>
      <p:sp>
        <p:nvSpPr>
          <p:cNvPr id="21" name="Text 19"/>
          <p:cNvSpPr/>
          <p:nvPr/>
        </p:nvSpPr>
        <p:spPr>
          <a:xfrm>
            <a:off x="347472" y="3182112"/>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CONSEIL DES PRUD'HOMMES</a:t>
            </a:r>
            <a:endParaRPr lang="en-US" sz="950" dirty="0"/>
          </a:p>
        </p:txBody>
      </p:sp>
      <p:sp>
        <p:nvSpPr>
          <p:cNvPr id="22" name="Text 20"/>
          <p:cNvSpPr/>
          <p:nvPr/>
        </p:nvSpPr>
        <p:spPr>
          <a:xfrm>
            <a:off x="365760" y="3456432"/>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Litiges entre salariés (ou apprentis) et employeurs portant sur le contrat de travail ou d'apprentissage.</a:t>
            </a:r>
            <a:endParaRPr lang="en-US" sz="880" dirty="0"/>
          </a:p>
        </p:txBody>
      </p:sp>
      <p:sp>
        <p:nvSpPr>
          <p:cNvPr id="23" name="Shape 21"/>
          <p:cNvSpPr/>
          <p:nvPr/>
        </p:nvSpPr>
        <p:spPr>
          <a:xfrm>
            <a:off x="274320" y="4078224"/>
            <a:ext cx="4160520" cy="822960"/>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4078224"/>
            <a:ext cx="4160520" cy="256032"/>
          </a:xfrm>
          <a:prstGeom prst="rect">
            <a:avLst/>
          </a:prstGeom>
          <a:solidFill>
            <a:srgbClr val="F4A227"/>
          </a:solidFill>
          <a:ln w="12700">
            <a:solidFill>
              <a:srgbClr val="F4A227"/>
            </a:solidFill>
            <a:prstDash val="solid"/>
          </a:ln>
        </p:spPr>
        <p:txBody>
          <a:bodyPr/>
          <a:lstStyle/>
          <a:p>
            <a:endParaRPr lang="fr-FR"/>
          </a:p>
        </p:txBody>
      </p:sp>
      <p:sp>
        <p:nvSpPr>
          <p:cNvPr id="25" name="Text 23"/>
          <p:cNvSpPr/>
          <p:nvPr/>
        </p:nvSpPr>
        <p:spPr>
          <a:xfrm>
            <a:off x="347472" y="4078224"/>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COUR D'APPEL</a:t>
            </a:r>
            <a:endParaRPr lang="en-US" sz="950" dirty="0"/>
          </a:p>
        </p:txBody>
      </p:sp>
      <p:sp>
        <p:nvSpPr>
          <p:cNvPr id="26" name="Text 24"/>
          <p:cNvSpPr/>
          <p:nvPr/>
        </p:nvSpPr>
        <p:spPr>
          <a:xfrm>
            <a:off x="365760" y="4352544"/>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Réexamine l'affaire si une partie est insatisfaite du 1er jugement. Délai : 1 mois en civil.</a:t>
            </a:r>
            <a:endParaRPr lang="en-US" sz="880" dirty="0"/>
          </a:p>
        </p:txBody>
      </p:sp>
      <p:sp>
        <p:nvSpPr>
          <p:cNvPr id="27" name="Shape 25"/>
          <p:cNvSpPr/>
          <p:nvPr/>
        </p:nvSpPr>
        <p:spPr>
          <a:xfrm>
            <a:off x="4709160" y="960120"/>
            <a:ext cx="4160520" cy="347472"/>
          </a:xfrm>
          <a:prstGeom prst="rect">
            <a:avLst/>
          </a:prstGeom>
          <a:solidFill>
            <a:srgbClr val="C0392B"/>
          </a:solidFill>
          <a:ln w="12700">
            <a:solidFill>
              <a:srgbClr val="C0392B"/>
            </a:solidFill>
            <a:prstDash val="solid"/>
          </a:ln>
        </p:spPr>
        <p:txBody>
          <a:bodyPr/>
          <a:lstStyle/>
          <a:p>
            <a:endParaRPr lang="fr-FR"/>
          </a:p>
        </p:txBody>
      </p:sp>
      <p:sp>
        <p:nvSpPr>
          <p:cNvPr id="28" name="Text 26"/>
          <p:cNvSpPr/>
          <p:nvPr/>
        </p:nvSpPr>
        <p:spPr>
          <a:xfrm>
            <a:off x="4709160" y="960120"/>
            <a:ext cx="41605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JURIDICTIONS PÉNALES</a:t>
            </a:r>
            <a:endParaRPr lang="en-US" sz="1100" dirty="0"/>
          </a:p>
        </p:txBody>
      </p:sp>
      <p:sp>
        <p:nvSpPr>
          <p:cNvPr id="29" name="Shape 27"/>
          <p:cNvSpPr/>
          <p:nvPr/>
        </p:nvSpPr>
        <p:spPr>
          <a:xfrm>
            <a:off x="4709160" y="1389888"/>
            <a:ext cx="4160520" cy="82296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1389888"/>
            <a:ext cx="4160520" cy="256032"/>
          </a:xfrm>
          <a:prstGeom prst="rect">
            <a:avLst/>
          </a:prstGeom>
          <a:solidFill>
            <a:srgbClr val="D4530A"/>
          </a:solidFill>
          <a:ln w="12700">
            <a:solidFill>
              <a:srgbClr val="D4530A"/>
            </a:solidFill>
            <a:prstDash val="solid"/>
          </a:ln>
        </p:spPr>
        <p:txBody>
          <a:bodyPr/>
          <a:lstStyle/>
          <a:p>
            <a:endParaRPr lang="fr-FR"/>
          </a:p>
        </p:txBody>
      </p:sp>
      <p:sp>
        <p:nvSpPr>
          <p:cNvPr id="31" name="Text 29"/>
          <p:cNvSpPr/>
          <p:nvPr/>
        </p:nvSpPr>
        <p:spPr>
          <a:xfrm>
            <a:off x="4782312" y="1389888"/>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DE POLICE</a:t>
            </a:r>
            <a:endParaRPr lang="en-US" sz="950" dirty="0"/>
          </a:p>
        </p:txBody>
      </p:sp>
      <p:sp>
        <p:nvSpPr>
          <p:cNvPr id="32" name="Text 30"/>
          <p:cNvSpPr/>
          <p:nvPr/>
        </p:nvSpPr>
        <p:spPr>
          <a:xfrm>
            <a:off x="4800600" y="1664208"/>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Contraventions de 5ème classe passibles d'amende. Siège au tribunal d'instance. 1 juge unique.</a:t>
            </a:r>
            <a:endParaRPr lang="en-US" sz="880" dirty="0"/>
          </a:p>
        </p:txBody>
      </p:sp>
      <p:sp>
        <p:nvSpPr>
          <p:cNvPr id="33" name="Shape 31"/>
          <p:cNvSpPr/>
          <p:nvPr/>
        </p:nvSpPr>
        <p:spPr>
          <a:xfrm>
            <a:off x="4709160" y="2286000"/>
            <a:ext cx="4160520" cy="822960"/>
          </a:xfrm>
          <a:prstGeom prst="rect">
            <a:avLst/>
          </a:prstGeom>
          <a:solidFill>
            <a:srgbClr val="E8F1FA"/>
          </a:solidFill>
          <a:ln w="6350">
            <a:solidFill>
              <a:srgbClr val="D0DCE8"/>
            </a:solidFill>
            <a:prstDash val="solid"/>
          </a:ln>
        </p:spPr>
        <p:txBody>
          <a:bodyPr/>
          <a:lstStyle/>
          <a:p>
            <a:endParaRPr lang="fr-FR"/>
          </a:p>
        </p:txBody>
      </p:sp>
      <p:sp>
        <p:nvSpPr>
          <p:cNvPr id="34" name="Shape 32"/>
          <p:cNvSpPr/>
          <p:nvPr/>
        </p:nvSpPr>
        <p:spPr>
          <a:xfrm>
            <a:off x="4709160" y="2286000"/>
            <a:ext cx="4160520" cy="256032"/>
          </a:xfrm>
          <a:prstGeom prst="rect">
            <a:avLst/>
          </a:prstGeom>
          <a:solidFill>
            <a:srgbClr val="C0392B"/>
          </a:solidFill>
          <a:ln w="12700">
            <a:solidFill>
              <a:srgbClr val="C0392B"/>
            </a:solidFill>
            <a:prstDash val="solid"/>
          </a:ln>
        </p:spPr>
        <p:txBody>
          <a:bodyPr/>
          <a:lstStyle/>
          <a:p>
            <a:endParaRPr lang="fr-FR"/>
          </a:p>
        </p:txBody>
      </p:sp>
      <p:sp>
        <p:nvSpPr>
          <p:cNvPr id="35" name="Text 33"/>
          <p:cNvSpPr/>
          <p:nvPr/>
        </p:nvSpPr>
        <p:spPr>
          <a:xfrm>
            <a:off x="4782312" y="2286000"/>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CORRECTIONNEL</a:t>
            </a:r>
            <a:endParaRPr lang="en-US" sz="950" dirty="0"/>
          </a:p>
        </p:txBody>
      </p:sp>
      <p:sp>
        <p:nvSpPr>
          <p:cNvPr id="36" name="Text 34"/>
          <p:cNvSpPr/>
          <p:nvPr/>
        </p:nvSpPr>
        <p:spPr>
          <a:xfrm>
            <a:off x="4800600" y="2560320"/>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Délits passibles d'emprisonnement jusqu'à 10 ans + amendes + peines complémentaires. Compétent pour les délits T3P.</a:t>
            </a:r>
            <a:endParaRPr lang="en-US" sz="880" dirty="0"/>
          </a:p>
        </p:txBody>
      </p:sp>
      <p:sp>
        <p:nvSpPr>
          <p:cNvPr id="37" name="Shape 35"/>
          <p:cNvSpPr/>
          <p:nvPr/>
        </p:nvSpPr>
        <p:spPr>
          <a:xfrm>
            <a:off x="4709160" y="3182112"/>
            <a:ext cx="4160520" cy="822960"/>
          </a:xfrm>
          <a:prstGeom prst="rect">
            <a:avLst/>
          </a:prstGeom>
          <a:solidFill>
            <a:srgbClr val="E8F1FA"/>
          </a:solidFill>
          <a:ln w="6350">
            <a:solidFill>
              <a:srgbClr val="D0DCE8"/>
            </a:solidFill>
            <a:prstDash val="solid"/>
          </a:ln>
        </p:spPr>
        <p:txBody>
          <a:bodyPr/>
          <a:lstStyle/>
          <a:p>
            <a:endParaRPr lang="fr-FR"/>
          </a:p>
        </p:txBody>
      </p:sp>
      <p:sp>
        <p:nvSpPr>
          <p:cNvPr id="38" name="Shape 36"/>
          <p:cNvSpPr/>
          <p:nvPr/>
        </p:nvSpPr>
        <p:spPr>
          <a:xfrm>
            <a:off x="4709160" y="3182112"/>
            <a:ext cx="4160520" cy="256032"/>
          </a:xfrm>
          <a:prstGeom prst="rect">
            <a:avLst/>
          </a:prstGeom>
          <a:solidFill>
            <a:srgbClr val="8B0000"/>
          </a:solidFill>
          <a:ln w="12700">
            <a:solidFill>
              <a:srgbClr val="8B0000"/>
            </a:solidFill>
            <a:prstDash val="solid"/>
          </a:ln>
        </p:spPr>
        <p:txBody>
          <a:bodyPr/>
          <a:lstStyle/>
          <a:p>
            <a:endParaRPr lang="fr-FR"/>
          </a:p>
        </p:txBody>
      </p:sp>
      <p:sp>
        <p:nvSpPr>
          <p:cNvPr id="39" name="Text 37"/>
          <p:cNvSpPr/>
          <p:nvPr/>
        </p:nvSpPr>
        <p:spPr>
          <a:xfrm>
            <a:off x="4782312" y="3182112"/>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COUR D'ASSISES</a:t>
            </a:r>
            <a:endParaRPr lang="en-US" sz="950" dirty="0"/>
          </a:p>
        </p:txBody>
      </p:sp>
      <p:sp>
        <p:nvSpPr>
          <p:cNvPr id="40" name="Text 38"/>
          <p:cNvSpPr/>
          <p:nvPr/>
        </p:nvSpPr>
        <p:spPr>
          <a:xfrm>
            <a:off x="4800600" y="3456432"/>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Crimes (infractions les plus graves) : réclusion jusqu'à la perpétuité (meurtre, viol, vol à main armée...).</a:t>
            </a:r>
            <a:endParaRPr lang="en-US" sz="880" dirty="0"/>
          </a:p>
        </p:txBody>
      </p:sp>
      <p:sp>
        <p:nvSpPr>
          <p:cNvPr id="41" name="Shape 39"/>
          <p:cNvSpPr/>
          <p:nvPr/>
        </p:nvSpPr>
        <p:spPr>
          <a:xfrm>
            <a:off x="4709160" y="4078224"/>
            <a:ext cx="4160520" cy="822960"/>
          </a:xfrm>
          <a:prstGeom prst="rect">
            <a:avLst/>
          </a:prstGeom>
          <a:solidFill>
            <a:srgbClr val="E8F1FA"/>
          </a:solidFill>
          <a:ln w="6350">
            <a:solidFill>
              <a:srgbClr val="D0DCE8"/>
            </a:solidFill>
            <a:prstDash val="solid"/>
          </a:ln>
        </p:spPr>
        <p:txBody>
          <a:bodyPr/>
          <a:lstStyle/>
          <a:p>
            <a:endParaRPr lang="fr-FR"/>
          </a:p>
        </p:txBody>
      </p:sp>
      <p:sp>
        <p:nvSpPr>
          <p:cNvPr id="42" name="Shape 40"/>
          <p:cNvSpPr/>
          <p:nvPr/>
        </p:nvSpPr>
        <p:spPr>
          <a:xfrm>
            <a:off x="4709160" y="4078224"/>
            <a:ext cx="4160520" cy="256032"/>
          </a:xfrm>
          <a:prstGeom prst="rect">
            <a:avLst/>
          </a:prstGeom>
          <a:solidFill>
            <a:srgbClr val="6B7A8D"/>
          </a:solidFill>
          <a:ln w="12700">
            <a:solidFill>
              <a:srgbClr val="6B7A8D"/>
            </a:solidFill>
            <a:prstDash val="solid"/>
          </a:ln>
        </p:spPr>
        <p:txBody>
          <a:bodyPr/>
          <a:lstStyle/>
          <a:p>
            <a:endParaRPr lang="fr-FR"/>
          </a:p>
        </p:txBody>
      </p:sp>
      <p:sp>
        <p:nvSpPr>
          <p:cNvPr id="43" name="Text 41"/>
          <p:cNvSpPr/>
          <p:nvPr/>
        </p:nvSpPr>
        <p:spPr>
          <a:xfrm>
            <a:off x="4782312" y="4078224"/>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COUR DE CASSATION</a:t>
            </a:r>
            <a:endParaRPr lang="en-US" sz="950" dirty="0"/>
          </a:p>
        </p:txBody>
      </p:sp>
      <p:sp>
        <p:nvSpPr>
          <p:cNvPr id="44" name="Text 42"/>
          <p:cNvSpPr/>
          <p:nvPr/>
        </p:nvSpPr>
        <p:spPr>
          <a:xfrm>
            <a:off x="4800600" y="4352544"/>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Ne rejuge PAS l'affaire. Vérifie que la loi a été correctement appliquée. Délai : 10 jours à 2 mois.</a:t>
            </a:r>
            <a:endParaRPr lang="en-US" sz="880" dirty="0"/>
          </a:p>
        </p:txBody>
      </p:sp>
      <p:sp>
        <p:nvSpPr>
          <p:cNvPr id="45" name="Rectangle 4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6" name="Rectangle 4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7">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11. Sanctions et voies de recours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Amendes par classe, délits T3P, délais pour contester</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46/88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21.jpg"/>
          <p:cNvPicPr>
            <a:picLocks noChangeAspect="1"/>
          </p:cNvPicPr>
          <p:nvPr/>
        </p:nvPicPr>
        <p:blipFill>
          <a:blip r:embed="rId3"/>
          <a:stretch>
            <a:fillRect/>
          </a:stretch>
        </p:blipFill>
        <p:spPr>
          <a:xfrm>
            <a:off x="3011593" y="2820924"/>
            <a:ext cx="3120813" cy="1737360"/>
          </a:xfrm>
          <a:prstGeom prst="rect">
            <a:avLst/>
          </a:prstGeom>
          <a:ln w="9525">
            <a:solidFill>
              <a:srgbClr val="00B4D8"/>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classes d'amendes — Barème complet</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Infractions T3P : contraventions de classe 1 à 5</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47/88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BARÈME DES AMENDES CONTRAVENTIONNELLES</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274320" y="1389888"/>
          <a:ext cx="8595360" cy="2176272"/>
        </p:xfrm>
        <a:graphic>
          <a:graphicData uri="http://schemas.openxmlformats.org/drawingml/2006/table">
            <a:tbl>
              <a:tblPr/>
              <a:tblGrid>
                <a:gridCol w="1371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6271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Classe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Amende minorée</a:t>
                      </a:r>
                      <a:endParaRPr lang="en-US" sz="950" dirty="0">
                        <a:latin typeface="Calibri" charset="0"/>
                        <a:ea typeface="Calibri" charset="0"/>
                        <a:cs typeface="Calibri" charset="0"/>
                      </a:endParaRPr>
                    </a:p>
                    <a:p>
                      <a:pPr marL="0" indent="0">
                        <a:buNone/>
                      </a:pPr>
                      <a:r>
                        <a:rPr lang="en-US" sz="950" b="1" dirty="0">
                          <a:solidFill>
                            <a:srgbClr val="FFFFFF"/>
                          </a:solidFill>
                          <a:latin typeface="Calibri" pitchFamily="34" charset="0"/>
                          <a:ea typeface="Calibri" pitchFamily="34" charset="-122"/>
                          <a:cs typeface="Calibri" pitchFamily="34" charset="-120"/>
                        </a:rPr>
                        <a:t>(sous 15 jours)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Amende forfaitaire</a:t>
                      </a:r>
                      <a:endParaRPr lang="en-US" sz="950" dirty="0">
                        <a:latin typeface="Calibri" charset="0"/>
                        <a:ea typeface="Calibri" charset="0"/>
                        <a:cs typeface="Calibri" charset="0"/>
                      </a:endParaRPr>
                    </a:p>
                    <a:p>
                      <a:pPr marL="0" indent="0">
                        <a:buNone/>
                      </a:pPr>
                      <a:r>
                        <a:rPr lang="en-US" sz="950" b="1" dirty="0">
                          <a:solidFill>
                            <a:srgbClr val="FFFFFF"/>
                          </a:solidFill>
                          <a:latin typeface="Calibri" pitchFamily="34" charset="0"/>
                          <a:ea typeface="Calibri" pitchFamily="34" charset="-122"/>
                          <a:cs typeface="Calibri" pitchFamily="34" charset="-120"/>
                        </a:rPr>
                        <a:t>(sous 45 jours)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Amende forfaitaire majorée</a:t>
                      </a:r>
                      <a:endParaRPr lang="en-US" sz="950" dirty="0">
                        <a:latin typeface="Calibri" charset="0"/>
                        <a:ea typeface="Calibri" charset="0"/>
                        <a:cs typeface="Calibri" charset="0"/>
                      </a:endParaRPr>
                    </a:p>
                    <a:p>
                      <a:pPr marL="0" indent="0">
                        <a:buNone/>
                      </a:pPr>
                      <a:r>
                        <a:rPr lang="en-US" sz="950" b="1" dirty="0">
                          <a:solidFill>
                            <a:srgbClr val="FFFFFF"/>
                          </a:solidFill>
                          <a:latin typeface="Calibri" pitchFamily="34" charset="0"/>
                          <a:ea typeface="Calibri" pitchFamily="34" charset="-122"/>
                          <a:cs typeface="Calibri" pitchFamily="34" charset="-120"/>
                        </a:rPr>
                        <a:t>(après 45 jours)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Montant max</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1</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Indisponible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11 €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33 €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38 €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2</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22 €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75 €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150 €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3</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45 €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68 €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180 €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450 €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4</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90 €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135 €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375 €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750 €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362712">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Classe 5</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1 500 € (3 000 € récidive)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5"/>
                  </a:ext>
                </a:extLst>
              </a:tr>
            </a:tbl>
          </a:graphicData>
        </a:graphic>
      </p:graphicFrame>
      <p:sp>
        <p:nvSpPr>
          <p:cNvPr id="12" name="Shape 9"/>
          <p:cNvSpPr/>
          <p:nvPr/>
        </p:nvSpPr>
        <p:spPr>
          <a:xfrm>
            <a:off x="274320" y="3639312"/>
            <a:ext cx="8595360" cy="292608"/>
          </a:xfrm>
          <a:prstGeom prst="rect">
            <a:avLst/>
          </a:prstGeom>
          <a:solidFill>
            <a:srgbClr val="1A3A5C"/>
          </a:solidFill>
          <a:ln w="12700">
            <a:solidFill>
              <a:srgbClr val="1A3A5C"/>
            </a:solidFill>
            <a:prstDash val="solid"/>
          </a:ln>
        </p:spPr>
        <p:txBody>
          <a:bodyPr/>
          <a:lstStyle/>
          <a:p>
            <a:endParaRPr lang="fr-FR"/>
          </a:p>
        </p:txBody>
      </p:sp>
      <p:sp>
        <p:nvSpPr>
          <p:cNvPr id="13" name="Text 10"/>
          <p:cNvSpPr/>
          <p:nvPr/>
        </p:nvSpPr>
        <p:spPr>
          <a:xfrm>
            <a:off x="274320" y="3639312"/>
            <a:ext cx="859536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DÉLAIS DE PAIEMENT — PV envoyé par courrier ou mail</a:t>
            </a:r>
            <a:endParaRPr lang="en-US" sz="1000" dirty="0"/>
          </a:p>
        </p:txBody>
      </p:sp>
      <p:sp>
        <p:nvSpPr>
          <p:cNvPr id="14" name="Shape 11"/>
          <p:cNvSpPr/>
          <p:nvPr/>
        </p:nvSpPr>
        <p:spPr>
          <a:xfrm>
            <a:off x="274320" y="4005072"/>
            <a:ext cx="2743200" cy="1005840"/>
          </a:xfrm>
          <a:prstGeom prst="rect">
            <a:avLst/>
          </a:prstGeom>
          <a:solidFill>
            <a:srgbClr val="E8F1FA"/>
          </a:solidFill>
          <a:ln w="6350">
            <a:solidFill>
              <a:srgbClr val="D0DCE8"/>
            </a:solidFill>
            <a:prstDash val="solid"/>
          </a:ln>
        </p:spPr>
        <p:txBody>
          <a:bodyPr/>
          <a:lstStyle/>
          <a:p>
            <a:endParaRPr lang="fr-FR"/>
          </a:p>
        </p:txBody>
      </p:sp>
      <p:sp>
        <p:nvSpPr>
          <p:cNvPr id="15" name="Shape 12"/>
          <p:cNvSpPr/>
          <p:nvPr/>
        </p:nvSpPr>
        <p:spPr>
          <a:xfrm>
            <a:off x="274320" y="4005072"/>
            <a:ext cx="2743200" cy="292608"/>
          </a:xfrm>
          <a:prstGeom prst="rect">
            <a:avLst/>
          </a:prstGeom>
          <a:solidFill>
            <a:srgbClr val="2860A8"/>
          </a:solidFill>
          <a:ln w="12700">
            <a:solidFill>
              <a:srgbClr val="2860A8"/>
            </a:solidFill>
            <a:prstDash val="solid"/>
          </a:ln>
        </p:spPr>
        <p:txBody>
          <a:bodyPr/>
          <a:lstStyle/>
          <a:p>
            <a:endParaRPr lang="fr-FR"/>
          </a:p>
        </p:txBody>
      </p:sp>
      <p:sp>
        <p:nvSpPr>
          <p:cNvPr id="16" name="Text 13"/>
          <p:cNvSpPr/>
          <p:nvPr/>
        </p:nvSpPr>
        <p:spPr>
          <a:xfrm>
            <a:off x="347472" y="4005072"/>
            <a:ext cx="2633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SOUS 15 JOURS</a:t>
            </a:r>
            <a:endParaRPr lang="en-US" sz="1000" dirty="0"/>
          </a:p>
        </p:txBody>
      </p:sp>
      <p:sp>
        <p:nvSpPr>
          <p:cNvPr id="17" name="Text 14"/>
          <p:cNvSpPr/>
          <p:nvPr/>
        </p:nvSpPr>
        <p:spPr>
          <a:xfrm>
            <a:off x="365760" y="4315968"/>
            <a:ext cx="2606040" cy="384048"/>
          </a:xfrm>
          <a:prstGeom prst="rect">
            <a:avLst/>
          </a:prstGeom>
          <a:noFill/>
          <a:ln/>
        </p:spPr>
        <p:txBody>
          <a:bodyPr wrap="square" rtlCol="0" anchor="ctr"/>
          <a:lstStyle/>
          <a:p>
            <a:pPr marL="0" indent="0" algn="ctr">
              <a:buNone/>
            </a:pPr>
            <a:r>
              <a:rPr lang="en-US" sz="1200" b="1" dirty="0">
                <a:solidFill>
                  <a:srgbClr val="2860A8"/>
                </a:solidFill>
                <a:latin typeface="Calibri" pitchFamily="34" charset="0"/>
                <a:ea typeface="Calibri" pitchFamily="34" charset="-122"/>
                <a:cs typeface="Calibri" pitchFamily="34" charset="-120"/>
              </a:rPr>
              <a:t>Amende minorée</a:t>
            </a:r>
            <a:endParaRPr lang="en-US" sz="1200" dirty="0"/>
          </a:p>
          <a:p>
            <a:pPr marL="0" indent="0" algn="ctr">
              <a:buNone/>
            </a:pPr>
            <a:r>
              <a:rPr lang="en-US" sz="1200" b="1" dirty="0">
                <a:solidFill>
                  <a:srgbClr val="2860A8"/>
                </a:solidFill>
                <a:latin typeface="Calibri" pitchFamily="34" charset="0"/>
                <a:ea typeface="Calibri" pitchFamily="34" charset="-122"/>
                <a:cs typeface="Calibri" pitchFamily="34" charset="-120"/>
              </a:rPr>
              <a:t>(réduction)</a:t>
            </a:r>
            <a:endParaRPr lang="en-US" sz="1200" dirty="0"/>
          </a:p>
        </p:txBody>
      </p:sp>
      <p:sp>
        <p:nvSpPr>
          <p:cNvPr id="18" name="Text 15"/>
          <p:cNvSpPr/>
          <p:nvPr/>
        </p:nvSpPr>
        <p:spPr>
          <a:xfrm>
            <a:off x="365760" y="4700016"/>
            <a:ext cx="2606040" cy="256032"/>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Payer rapidement = réduction maximale</a:t>
            </a:r>
            <a:endParaRPr lang="en-US" sz="900" dirty="0"/>
          </a:p>
        </p:txBody>
      </p:sp>
      <p:sp>
        <p:nvSpPr>
          <p:cNvPr id="19" name="Shape 16"/>
          <p:cNvSpPr/>
          <p:nvPr/>
        </p:nvSpPr>
        <p:spPr>
          <a:xfrm>
            <a:off x="3154680" y="4005072"/>
            <a:ext cx="2743200" cy="1005840"/>
          </a:xfrm>
          <a:prstGeom prst="rect">
            <a:avLst/>
          </a:prstGeom>
          <a:solidFill>
            <a:srgbClr val="E8F1FA"/>
          </a:solidFill>
          <a:ln w="6350">
            <a:solidFill>
              <a:srgbClr val="D0DCE8"/>
            </a:solidFill>
            <a:prstDash val="solid"/>
          </a:ln>
        </p:spPr>
        <p:txBody>
          <a:bodyPr/>
          <a:lstStyle/>
          <a:p>
            <a:endParaRPr lang="fr-FR"/>
          </a:p>
        </p:txBody>
      </p:sp>
      <p:sp>
        <p:nvSpPr>
          <p:cNvPr id="20" name="Shape 17"/>
          <p:cNvSpPr/>
          <p:nvPr/>
        </p:nvSpPr>
        <p:spPr>
          <a:xfrm>
            <a:off x="3154680" y="4005072"/>
            <a:ext cx="2743200" cy="292608"/>
          </a:xfrm>
          <a:prstGeom prst="rect">
            <a:avLst/>
          </a:prstGeom>
          <a:solidFill>
            <a:srgbClr val="1A3A5C"/>
          </a:solidFill>
          <a:ln w="12700">
            <a:solidFill>
              <a:srgbClr val="1A3A5C"/>
            </a:solidFill>
            <a:prstDash val="solid"/>
          </a:ln>
        </p:spPr>
        <p:txBody>
          <a:bodyPr/>
          <a:lstStyle/>
          <a:p>
            <a:endParaRPr lang="fr-FR"/>
          </a:p>
        </p:txBody>
      </p:sp>
      <p:sp>
        <p:nvSpPr>
          <p:cNvPr id="21" name="Text 18"/>
          <p:cNvSpPr/>
          <p:nvPr/>
        </p:nvSpPr>
        <p:spPr>
          <a:xfrm>
            <a:off x="3227832" y="4005072"/>
            <a:ext cx="2633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SOUS 45 JOURS</a:t>
            </a:r>
            <a:endParaRPr lang="en-US" sz="1000" dirty="0"/>
          </a:p>
        </p:txBody>
      </p:sp>
      <p:sp>
        <p:nvSpPr>
          <p:cNvPr id="22" name="Text 19"/>
          <p:cNvSpPr/>
          <p:nvPr/>
        </p:nvSpPr>
        <p:spPr>
          <a:xfrm>
            <a:off x="3246120" y="4315968"/>
            <a:ext cx="2606040" cy="384048"/>
          </a:xfrm>
          <a:prstGeom prst="rect">
            <a:avLst/>
          </a:prstGeom>
          <a:noFill/>
          <a:ln/>
        </p:spPr>
        <p:txBody>
          <a:bodyPr wrap="square"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Amende forfaitaire</a:t>
            </a:r>
            <a:endParaRPr lang="en-US" sz="1200" dirty="0"/>
          </a:p>
          <a:p>
            <a:pPr marL="0" indent="0" algn="ctr">
              <a:buNone/>
            </a:pPr>
            <a:r>
              <a:rPr lang="en-US" sz="1200" b="1" dirty="0">
                <a:solidFill>
                  <a:srgbClr val="1A3A5C"/>
                </a:solidFill>
                <a:latin typeface="Calibri" pitchFamily="34" charset="0"/>
                <a:ea typeface="Calibri" pitchFamily="34" charset="-122"/>
                <a:cs typeface="Calibri" pitchFamily="34" charset="-120"/>
              </a:rPr>
              <a:t>(tarif normal)</a:t>
            </a:r>
            <a:endParaRPr lang="en-US" sz="1200" dirty="0"/>
          </a:p>
        </p:txBody>
      </p:sp>
      <p:sp>
        <p:nvSpPr>
          <p:cNvPr id="23" name="Text 20"/>
          <p:cNvSpPr/>
          <p:nvPr/>
        </p:nvSpPr>
        <p:spPr>
          <a:xfrm>
            <a:off x="3246120" y="4700016"/>
            <a:ext cx="2606040" cy="256032"/>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Par chèque ou guichet</a:t>
            </a:r>
            <a:endParaRPr lang="en-US" sz="900" dirty="0"/>
          </a:p>
        </p:txBody>
      </p:sp>
      <p:sp>
        <p:nvSpPr>
          <p:cNvPr id="24" name="Shape 21"/>
          <p:cNvSpPr/>
          <p:nvPr/>
        </p:nvSpPr>
        <p:spPr>
          <a:xfrm>
            <a:off x="6035040" y="4005072"/>
            <a:ext cx="2743200" cy="1005840"/>
          </a:xfrm>
          <a:prstGeom prst="rect">
            <a:avLst/>
          </a:prstGeom>
          <a:solidFill>
            <a:srgbClr val="E8F1FA"/>
          </a:solidFill>
          <a:ln w="6350">
            <a:solidFill>
              <a:srgbClr val="D0DCE8"/>
            </a:solidFill>
            <a:prstDash val="solid"/>
          </a:ln>
        </p:spPr>
        <p:txBody>
          <a:bodyPr/>
          <a:lstStyle/>
          <a:p>
            <a:endParaRPr lang="fr-FR"/>
          </a:p>
        </p:txBody>
      </p:sp>
      <p:sp>
        <p:nvSpPr>
          <p:cNvPr id="25" name="Shape 22"/>
          <p:cNvSpPr/>
          <p:nvPr/>
        </p:nvSpPr>
        <p:spPr>
          <a:xfrm>
            <a:off x="6035040" y="4005072"/>
            <a:ext cx="2743200" cy="292608"/>
          </a:xfrm>
          <a:prstGeom prst="rect">
            <a:avLst/>
          </a:prstGeom>
          <a:solidFill>
            <a:srgbClr val="C0392B"/>
          </a:solidFill>
          <a:ln w="12700">
            <a:solidFill>
              <a:srgbClr val="C0392B"/>
            </a:solidFill>
            <a:prstDash val="solid"/>
          </a:ln>
        </p:spPr>
        <p:txBody>
          <a:bodyPr/>
          <a:lstStyle/>
          <a:p>
            <a:endParaRPr lang="fr-FR"/>
          </a:p>
        </p:txBody>
      </p:sp>
      <p:sp>
        <p:nvSpPr>
          <p:cNvPr id="26" name="Text 23"/>
          <p:cNvSpPr/>
          <p:nvPr/>
        </p:nvSpPr>
        <p:spPr>
          <a:xfrm>
            <a:off x="6108192" y="4005072"/>
            <a:ext cx="2633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APRÈS 45 JOURS</a:t>
            </a:r>
            <a:endParaRPr lang="en-US" sz="1000" dirty="0"/>
          </a:p>
        </p:txBody>
      </p:sp>
      <p:sp>
        <p:nvSpPr>
          <p:cNvPr id="27" name="Text 24"/>
          <p:cNvSpPr/>
          <p:nvPr/>
        </p:nvSpPr>
        <p:spPr>
          <a:xfrm>
            <a:off x="6126480" y="4315968"/>
            <a:ext cx="2606040" cy="384048"/>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Amende majorée</a:t>
            </a:r>
            <a:endParaRPr lang="en-US" sz="1200" dirty="0"/>
          </a:p>
          <a:p>
            <a:pPr marL="0" indent="0" algn="ctr">
              <a:buNone/>
            </a:pPr>
            <a:r>
              <a:rPr lang="en-US" sz="1200" b="1" dirty="0">
                <a:solidFill>
                  <a:srgbClr val="C0392B"/>
                </a:solidFill>
                <a:latin typeface="Calibri" pitchFamily="34" charset="0"/>
                <a:ea typeface="Calibri" pitchFamily="34" charset="-122"/>
                <a:cs typeface="Calibri" pitchFamily="34" charset="-120"/>
              </a:rPr>
              <a:t>(surcoût)</a:t>
            </a:r>
            <a:endParaRPr lang="en-US" sz="1200" dirty="0"/>
          </a:p>
        </p:txBody>
      </p:sp>
      <p:sp>
        <p:nvSpPr>
          <p:cNvPr id="28" name="Text 25"/>
          <p:cNvSpPr/>
          <p:nvPr/>
        </p:nvSpPr>
        <p:spPr>
          <a:xfrm>
            <a:off x="6126480" y="4700016"/>
            <a:ext cx="2606040" cy="256032"/>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Majoration automatique sans délai</a:t>
            </a:r>
            <a:endParaRPr lang="en-US" sz="900" dirty="0"/>
          </a:p>
        </p:txBody>
      </p:sp>
      <p:sp>
        <p:nvSpPr>
          <p:cNvPr id="29" name="Shape 26"/>
          <p:cNvSpPr/>
          <p:nvPr/>
        </p:nvSpPr>
        <p:spPr>
          <a:xfrm>
            <a:off x="274320" y="5010912"/>
            <a:ext cx="8595360" cy="347472"/>
          </a:xfrm>
          <a:prstGeom prst="rect">
            <a:avLst/>
          </a:prstGeom>
          <a:solidFill>
            <a:srgbClr val="FEF0EE"/>
          </a:solidFill>
          <a:ln w="19050">
            <a:solidFill>
              <a:srgbClr val="C0392B"/>
            </a:solidFill>
            <a:prstDash val="solid"/>
          </a:ln>
        </p:spPr>
        <p:txBody>
          <a:bodyPr/>
          <a:lstStyle/>
          <a:p>
            <a:endParaRPr lang="fr-FR"/>
          </a:p>
        </p:txBody>
      </p:sp>
      <p:sp>
        <p:nvSpPr>
          <p:cNvPr id="30" name="Shape 27"/>
          <p:cNvSpPr/>
          <p:nvPr/>
        </p:nvSpPr>
        <p:spPr>
          <a:xfrm>
            <a:off x="274320" y="5010912"/>
            <a:ext cx="54864" cy="347472"/>
          </a:xfrm>
          <a:prstGeom prst="rect">
            <a:avLst/>
          </a:prstGeom>
          <a:solidFill>
            <a:srgbClr val="C0392B"/>
          </a:solidFill>
          <a:ln w="12700">
            <a:solidFill>
              <a:srgbClr val="C0392B"/>
            </a:solidFill>
            <a:prstDash val="solid"/>
          </a:ln>
        </p:spPr>
        <p:txBody>
          <a:bodyPr/>
          <a:lstStyle/>
          <a:p>
            <a:endParaRPr lang="fr-FR"/>
          </a:p>
        </p:txBody>
      </p:sp>
      <p:sp>
        <p:nvSpPr>
          <p:cNvPr id="31" name="Text 28"/>
          <p:cNvSpPr/>
          <p:nvPr/>
        </p:nvSpPr>
        <p:spPr>
          <a:xfrm>
            <a:off x="384048" y="5010912"/>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Classe 5 : amende PÉNALE (pas contraventionnelle) — c'est le juge qui fixe le montant, jusqu'à 1 500 € (3 000 € en récidive).</a:t>
            </a:r>
            <a:endParaRPr lang="en-US" sz="1000" dirty="0"/>
          </a:p>
        </p:txBody>
      </p:sp>
      <p:sp>
        <p:nvSpPr>
          <p:cNvPr id="60" name="Rectangle 5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61" name="Rectangle 6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Infractions spécifiques au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Contraventions et délits — Sanctions applicables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48/88</a:t>
            </a:r>
            <a:endParaRPr lang="en-US" sz="800" dirty="0"/>
          </a:p>
        </p:txBody>
      </p:sp>
      <p:sp>
        <p:nvSpPr>
          <p:cNvPr id="9" name="Shape 7"/>
          <p:cNvSpPr/>
          <p:nvPr/>
        </p:nvSpPr>
        <p:spPr>
          <a:xfrm>
            <a:off x="274320" y="960120"/>
            <a:ext cx="8595360" cy="292608"/>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INFRACTIONS CONTRAVENTIONNELLES — Classes 1 à 5</a:t>
            </a:r>
            <a:endParaRPr lang="en-US" sz="105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8595360" cy="2487168"/>
        </p:xfrm>
        <a:graphic>
          <a:graphicData uri="http://schemas.openxmlformats.org/drawingml/2006/table">
            <a:tbl>
              <a:tblPr/>
              <a:tblGrid>
                <a:gridCol w="47548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48717">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Infraction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Classe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Concerne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apposition de la carte pro sur le véhicule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1</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présentation de la carte professionnelle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2</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justification de la carte pro dans les 5 jours</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4</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Conduite sans attestation préfectorale de visite médicale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4</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justification de l'assurance professionnelle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Exercice sans carte professionnelle valide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Emploi d'un conducteur sans carte pro valide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 (employeur)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Circulation en quête de clients sur voie publique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(hors zone),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8"/>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Stationnement en gare/aéroport &gt; 1h avant prise en charge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(hors zone),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2" name="Shape 9"/>
          <p:cNvSpPr/>
          <p:nvPr/>
        </p:nvSpPr>
        <p:spPr>
          <a:xfrm>
            <a:off x="274320" y="3886200"/>
            <a:ext cx="8595360" cy="292608"/>
          </a:xfrm>
          <a:prstGeom prst="rect">
            <a:avLst/>
          </a:prstGeom>
          <a:solidFill>
            <a:srgbClr val="C0392B"/>
          </a:solidFill>
          <a:ln w="12700">
            <a:solidFill>
              <a:srgbClr val="C0392B"/>
            </a:solidFill>
            <a:prstDash val="solid"/>
          </a:ln>
        </p:spPr>
        <p:txBody>
          <a:bodyPr/>
          <a:lstStyle/>
          <a:p>
            <a:endParaRPr lang="fr-FR"/>
          </a:p>
        </p:txBody>
      </p:sp>
      <p:sp>
        <p:nvSpPr>
          <p:cNvPr id="13" name="Text 10"/>
          <p:cNvSpPr/>
          <p:nvPr/>
        </p:nvSpPr>
        <p:spPr>
          <a:xfrm>
            <a:off x="274320" y="3886200"/>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DÉLITS — 1 AN DE PRISON ET 15 000 €</a:t>
            </a:r>
            <a:endParaRPr lang="en-US" sz="1050" dirty="0"/>
          </a:p>
        </p:txBody>
      </p:sp>
      <p:graphicFrame>
        <p:nvGraphicFramePr>
          <p:cNvPr id="119" name="Table 1"/>
          <p:cNvGraphicFramePr>
            <a:graphicFrameLocks noGrp="1"/>
          </p:cNvGraphicFramePr>
          <p:nvPr>
            <p:extLst>
              <p:ext uri="{D42A27DB-BD31-4B8C-83A1-F6EECF244321}">
                <p14:modId xmlns:p14="http://schemas.microsoft.com/office/powerpoint/2010/main" val="1579011935"/>
              </p:ext>
            </p:extLst>
          </p:nvPr>
        </p:nvGraphicFramePr>
        <p:xfrm>
          <a:off x="274320" y="4251960"/>
          <a:ext cx="8595360" cy="1115568"/>
        </p:xfrm>
        <a:graphic>
          <a:graphicData uri="http://schemas.openxmlformats.org/drawingml/2006/table">
            <a:tbl>
              <a:tblPr/>
              <a:tblGrid>
                <a:gridCol w="47548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18592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Délit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Sanction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Concerne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Prise en charge sans réservation préalable (maraude illégale)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1 an + 15 000 €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 hors zone, VTC, VMDTR,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Exercice illégal : absence d'autorisation de stationnement</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1 an + 15 000 €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2"/>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Exercice illégal : absence d'inscription au registre national (3 ans + 45 000 € depuis le 25/06/2026)</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3 ans + 45 000 €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VTC,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Location à la place (sous-location)</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1 an + 15 000 €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4"/>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Circulation sans assurance RC Circulation</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3 750 €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 VTC, VMDTR,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0" name="Rectangle 11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21" name="Rectangle 12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Sanctions complémentaires et voies de recours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Que faire après une sanction ? Délais à respecter</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49/88</a:t>
            </a:r>
            <a:endParaRPr lang="en-US" sz="800" dirty="0"/>
          </a:p>
        </p:txBody>
      </p:sp>
      <p:sp>
        <p:nvSpPr>
          <p:cNvPr id="9" name="Shape 7"/>
          <p:cNvSpPr/>
          <p:nvPr/>
        </p:nvSpPr>
        <p:spPr>
          <a:xfrm>
            <a:off x="274320" y="960120"/>
            <a:ext cx="4160520" cy="347472"/>
          </a:xfrm>
          <a:prstGeom prst="rect">
            <a:avLst/>
          </a:prstGeom>
          <a:solidFill>
            <a:srgbClr val="C0392B"/>
          </a:solidFill>
          <a:ln w="12700">
            <a:solidFill>
              <a:srgbClr val="C0392B"/>
            </a:solidFill>
            <a:prstDash val="solid"/>
          </a:ln>
        </p:spPr>
        <p:txBody>
          <a:bodyPr/>
          <a:lstStyle/>
          <a:p>
            <a:endParaRPr lang="fr-FR"/>
          </a:p>
        </p:txBody>
      </p:sp>
      <p:sp>
        <p:nvSpPr>
          <p:cNvPr id="10" name="Text 8"/>
          <p:cNvSpPr/>
          <p:nvPr/>
        </p:nvSpPr>
        <p:spPr>
          <a:xfrm>
            <a:off x="274320" y="960120"/>
            <a:ext cx="41605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SANCTIONS COMPLÉMENTAIRES (délits 1 an + 15k€)</a:t>
            </a:r>
            <a:endParaRPr lang="en-US" sz="950" dirty="0"/>
          </a:p>
        </p:txBody>
      </p:sp>
      <p:sp>
        <p:nvSpPr>
          <p:cNvPr id="11" name="Shape 9"/>
          <p:cNvSpPr/>
          <p:nvPr/>
        </p:nvSpPr>
        <p:spPr>
          <a:xfrm>
            <a:off x="274320" y="1389888"/>
            <a:ext cx="4160520" cy="86868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75488" cy="868680"/>
          </a:xfrm>
          <a:prstGeom prst="rect">
            <a:avLst/>
          </a:prstGeom>
          <a:solidFill>
            <a:srgbClr val="C0392B"/>
          </a:solidFill>
          <a:ln w="12700">
            <a:solidFill>
              <a:srgbClr val="C0392B"/>
            </a:solidFill>
            <a:prstDash val="solid"/>
          </a:ln>
        </p:spPr>
        <p:txBody>
          <a:bodyPr/>
          <a:lstStyle/>
          <a:p>
            <a:endParaRPr lang="fr-FR"/>
          </a:p>
        </p:txBody>
      </p:sp>
      <p:sp>
        <p:nvSpPr>
          <p:cNvPr id="13" name="Text 11"/>
          <p:cNvSpPr/>
          <p:nvPr/>
        </p:nvSpPr>
        <p:spPr>
          <a:xfrm>
            <a:off x="274320" y="1389888"/>
            <a:ext cx="475488"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4" name="Text 12"/>
          <p:cNvSpPr/>
          <p:nvPr/>
        </p:nvSpPr>
        <p:spPr>
          <a:xfrm>
            <a:off x="822960" y="1417320"/>
            <a:ext cx="3493008" cy="32004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Suspension du permis</a:t>
            </a:r>
            <a:endParaRPr lang="en-US" sz="1100" dirty="0"/>
          </a:p>
        </p:txBody>
      </p:sp>
      <p:sp>
        <p:nvSpPr>
          <p:cNvPr id="15" name="Text 13"/>
          <p:cNvSpPr/>
          <p:nvPr/>
        </p:nvSpPr>
        <p:spPr>
          <a:xfrm>
            <a:off x="822960" y="1764792"/>
            <a:ext cx="3493008" cy="45720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pour une durée de 5 ans au plus</a:t>
            </a:r>
            <a:endParaRPr lang="en-US" sz="950" dirty="0"/>
          </a:p>
        </p:txBody>
      </p:sp>
      <p:sp>
        <p:nvSpPr>
          <p:cNvPr id="16" name="Shape 14"/>
          <p:cNvSpPr/>
          <p:nvPr/>
        </p:nvSpPr>
        <p:spPr>
          <a:xfrm>
            <a:off x="274320" y="2350008"/>
            <a:ext cx="4160520" cy="868680"/>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350008"/>
            <a:ext cx="475488" cy="868680"/>
          </a:xfrm>
          <a:prstGeom prst="rect">
            <a:avLst/>
          </a:prstGeom>
          <a:solidFill>
            <a:srgbClr val="C0392B"/>
          </a:solidFill>
          <a:ln w="12700">
            <a:solidFill>
              <a:srgbClr val="C0392B"/>
            </a:solidFill>
            <a:prstDash val="solid"/>
          </a:ln>
        </p:spPr>
        <p:txBody>
          <a:bodyPr/>
          <a:lstStyle/>
          <a:p>
            <a:endParaRPr lang="fr-FR"/>
          </a:p>
        </p:txBody>
      </p:sp>
      <p:sp>
        <p:nvSpPr>
          <p:cNvPr id="18" name="Text 16"/>
          <p:cNvSpPr/>
          <p:nvPr/>
        </p:nvSpPr>
        <p:spPr>
          <a:xfrm>
            <a:off x="274320" y="2350008"/>
            <a:ext cx="475488"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822960" y="2377440"/>
            <a:ext cx="3493008" cy="32004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Immobilisation du véhicule</a:t>
            </a:r>
            <a:endParaRPr lang="en-US" sz="1100" dirty="0"/>
          </a:p>
        </p:txBody>
      </p:sp>
      <p:sp>
        <p:nvSpPr>
          <p:cNvPr id="20" name="Text 18"/>
          <p:cNvSpPr/>
          <p:nvPr/>
        </p:nvSpPr>
        <p:spPr>
          <a:xfrm>
            <a:off x="822960" y="2724912"/>
            <a:ext cx="3493008" cy="45720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pour une durée d'1 an maximum</a:t>
            </a:r>
            <a:endParaRPr lang="en-US" sz="950" dirty="0"/>
          </a:p>
        </p:txBody>
      </p:sp>
      <p:sp>
        <p:nvSpPr>
          <p:cNvPr id="21" name="Shape 19"/>
          <p:cNvSpPr/>
          <p:nvPr/>
        </p:nvSpPr>
        <p:spPr>
          <a:xfrm>
            <a:off x="274320" y="3310128"/>
            <a:ext cx="4160520" cy="868680"/>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274320" y="3310128"/>
            <a:ext cx="475488" cy="868680"/>
          </a:xfrm>
          <a:prstGeom prst="rect">
            <a:avLst/>
          </a:prstGeom>
          <a:solidFill>
            <a:srgbClr val="C0392B"/>
          </a:solidFill>
          <a:ln w="12700">
            <a:solidFill>
              <a:srgbClr val="C0392B"/>
            </a:solidFill>
            <a:prstDash val="solid"/>
          </a:ln>
        </p:spPr>
        <p:txBody>
          <a:bodyPr/>
          <a:lstStyle/>
          <a:p>
            <a:endParaRPr lang="fr-FR"/>
          </a:p>
        </p:txBody>
      </p:sp>
      <p:sp>
        <p:nvSpPr>
          <p:cNvPr id="23" name="Text 21"/>
          <p:cNvSpPr/>
          <p:nvPr/>
        </p:nvSpPr>
        <p:spPr>
          <a:xfrm>
            <a:off x="274320" y="3310128"/>
            <a:ext cx="475488"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4" name="Text 22"/>
          <p:cNvSpPr/>
          <p:nvPr/>
        </p:nvSpPr>
        <p:spPr>
          <a:xfrm>
            <a:off x="822960" y="3337560"/>
            <a:ext cx="3493008" cy="32004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Confiscation du véhicule</a:t>
            </a:r>
            <a:endParaRPr lang="en-US" sz="1100" dirty="0"/>
          </a:p>
        </p:txBody>
      </p:sp>
      <p:sp>
        <p:nvSpPr>
          <p:cNvPr id="25" name="Text 23"/>
          <p:cNvSpPr/>
          <p:nvPr/>
        </p:nvSpPr>
        <p:spPr>
          <a:xfrm>
            <a:off x="822960" y="3685032"/>
            <a:ext cx="3493008" cy="45720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décision du juge — véhicule perdu définitivement</a:t>
            </a:r>
            <a:endParaRPr lang="en-US" sz="950" dirty="0"/>
          </a:p>
        </p:txBody>
      </p:sp>
      <p:sp>
        <p:nvSpPr>
          <p:cNvPr id="26" name="Shape 24"/>
          <p:cNvSpPr/>
          <p:nvPr/>
        </p:nvSpPr>
        <p:spPr>
          <a:xfrm>
            <a:off x="4709160" y="960120"/>
            <a:ext cx="4160520" cy="347472"/>
          </a:xfrm>
          <a:prstGeom prst="rect">
            <a:avLst/>
          </a:prstGeom>
          <a:solidFill>
            <a:srgbClr val="1A3A5C"/>
          </a:solidFill>
          <a:ln w="12700">
            <a:solidFill>
              <a:srgbClr val="1A3A5C"/>
            </a:solidFill>
            <a:prstDash val="solid"/>
          </a:ln>
        </p:spPr>
        <p:txBody>
          <a:bodyPr/>
          <a:lstStyle/>
          <a:p>
            <a:endParaRPr lang="fr-FR"/>
          </a:p>
        </p:txBody>
      </p:sp>
      <p:sp>
        <p:nvSpPr>
          <p:cNvPr id="27" name="Text 25"/>
          <p:cNvSpPr/>
          <p:nvPr/>
        </p:nvSpPr>
        <p:spPr>
          <a:xfrm>
            <a:off x="4709160" y="960120"/>
            <a:ext cx="41605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VOIES DE RECOURS — Comment contester ?</a:t>
            </a:r>
            <a:endParaRPr lang="en-US" sz="950" dirty="0"/>
          </a:p>
        </p:txBody>
      </p:sp>
      <p:sp>
        <p:nvSpPr>
          <p:cNvPr id="28" name="Shape 26"/>
          <p:cNvSpPr/>
          <p:nvPr/>
        </p:nvSpPr>
        <p:spPr>
          <a:xfrm>
            <a:off x="4709160" y="1389888"/>
            <a:ext cx="4160520" cy="256032"/>
          </a:xfrm>
          <a:prstGeom prst="rect">
            <a:avLst/>
          </a:prstGeom>
          <a:solidFill>
            <a:srgbClr val="D4530A"/>
          </a:solidFill>
          <a:ln w="12700">
            <a:solidFill>
              <a:srgbClr val="D4530A"/>
            </a:solidFill>
            <a:prstDash val="solid"/>
          </a:ln>
        </p:spPr>
        <p:txBody>
          <a:bodyPr/>
          <a:lstStyle/>
          <a:p>
            <a:endParaRPr lang="fr-FR"/>
          </a:p>
        </p:txBody>
      </p:sp>
      <p:sp>
        <p:nvSpPr>
          <p:cNvPr id="29" name="Text 27"/>
          <p:cNvSpPr/>
          <p:nvPr/>
        </p:nvSpPr>
        <p:spPr>
          <a:xfrm>
            <a:off x="4782312" y="1389888"/>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CONTRAVENTION — Contestation PV</a:t>
            </a:r>
            <a:endParaRPr lang="en-US" sz="900" dirty="0"/>
          </a:p>
        </p:txBody>
      </p:sp>
      <p:sp>
        <p:nvSpPr>
          <p:cNvPr id="30" name="Shape 28"/>
          <p:cNvSpPr/>
          <p:nvPr/>
        </p:nvSpPr>
        <p:spPr>
          <a:xfrm>
            <a:off x="4709160" y="1691640"/>
            <a:ext cx="4160520" cy="1051560"/>
          </a:xfrm>
          <a:prstGeom prst="rect">
            <a:avLst/>
          </a:prstGeom>
          <a:solidFill>
            <a:srgbClr val="E8F1FA"/>
          </a:solidFill>
          <a:ln w="6350">
            <a:solidFill>
              <a:srgbClr val="D0DCE8"/>
            </a:solidFill>
            <a:prstDash val="solid"/>
          </a:ln>
        </p:spPr>
        <p:txBody>
          <a:bodyPr/>
          <a:lstStyle/>
          <a:p>
            <a:endParaRPr lang="fr-FR"/>
          </a:p>
        </p:txBody>
      </p:sp>
      <p:sp>
        <p:nvSpPr>
          <p:cNvPr id="31" name="Text 29"/>
          <p:cNvSpPr/>
          <p:nvPr/>
        </p:nvSpPr>
        <p:spPr>
          <a:xfrm>
            <a:off x="4800600" y="1709928"/>
            <a:ext cx="3977640" cy="100584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1. Écrire une lettre de contestation avec le numéro de PV</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2. Cocher/remplir le motif de contestation sur l'avis</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3. Envoyer à l'adresse indiquée avec l'original de l'avis de contravention</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4. Dater et signer</a:t>
            </a:r>
            <a:endParaRPr lang="en-US" sz="900" dirty="0"/>
          </a:p>
          <a:p>
            <a:pPr marL="0" indent="0">
              <a:buNone/>
            </a:pP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Délai : avant le paiement</a:t>
            </a:r>
            <a:endParaRPr lang="en-US" sz="900" dirty="0"/>
          </a:p>
        </p:txBody>
      </p:sp>
      <p:sp>
        <p:nvSpPr>
          <p:cNvPr id="32" name="Shape 30"/>
          <p:cNvSpPr/>
          <p:nvPr/>
        </p:nvSpPr>
        <p:spPr>
          <a:xfrm>
            <a:off x="4709160" y="2834640"/>
            <a:ext cx="4160520" cy="256032"/>
          </a:xfrm>
          <a:prstGeom prst="rect">
            <a:avLst/>
          </a:prstGeom>
          <a:solidFill>
            <a:srgbClr val="C0392B"/>
          </a:solidFill>
          <a:ln w="12700">
            <a:solidFill>
              <a:srgbClr val="C0392B"/>
            </a:solidFill>
            <a:prstDash val="solid"/>
          </a:ln>
        </p:spPr>
        <p:txBody>
          <a:bodyPr/>
          <a:lstStyle/>
          <a:p>
            <a:endParaRPr lang="fr-FR"/>
          </a:p>
        </p:txBody>
      </p:sp>
      <p:sp>
        <p:nvSpPr>
          <p:cNvPr id="33" name="Text 31"/>
          <p:cNvSpPr/>
          <p:nvPr/>
        </p:nvSpPr>
        <p:spPr>
          <a:xfrm>
            <a:off x="4782312" y="2834640"/>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DÉLIT — Faire appel du jugement</a:t>
            </a:r>
            <a:endParaRPr lang="en-US" sz="900" dirty="0"/>
          </a:p>
        </p:txBody>
      </p:sp>
      <p:sp>
        <p:nvSpPr>
          <p:cNvPr id="34" name="Shape 32"/>
          <p:cNvSpPr/>
          <p:nvPr/>
        </p:nvSpPr>
        <p:spPr>
          <a:xfrm>
            <a:off x="4709160" y="3127248"/>
            <a:ext cx="4160520" cy="960120"/>
          </a:xfrm>
          <a:prstGeom prst="rect">
            <a:avLst/>
          </a:prstGeom>
          <a:solidFill>
            <a:srgbClr val="E8F1FA"/>
          </a:solidFill>
          <a:ln w="6350">
            <a:solidFill>
              <a:srgbClr val="D0DCE8"/>
            </a:solidFill>
            <a:prstDash val="solid"/>
          </a:ln>
        </p:spPr>
        <p:txBody>
          <a:bodyPr/>
          <a:lstStyle/>
          <a:p>
            <a:endParaRPr lang="fr-FR"/>
          </a:p>
        </p:txBody>
      </p:sp>
      <p:sp>
        <p:nvSpPr>
          <p:cNvPr id="35" name="Text 33"/>
          <p:cNvSpPr/>
          <p:nvPr/>
        </p:nvSpPr>
        <p:spPr>
          <a:xfrm>
            <a:off x="4800600" y="3145536"/>
            <a:ext cx="3977640" cy="91440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 Faire appel = saisir la Cour d'appel</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Déclaration au greffe du tribunal dont le jugement est contesté :</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Greffe du Tribunal de police (contraventions 5ème classe)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Greffe du Tribunal correctionnel (délits)</a:t>
            </a:r>
            <a:endParaRPr lang="en-US" sz="900" dirty="0"/>
          </a:p>
          <a:p>
            <a:pPr marL="0" indent="0">
              <a:buNone/>
            </a:pP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Délai PÉNAL : 10 jours après notification du jugement</a:t>
            </a:r>
            <a:endParaRPr lang="en-US" sz="900" dirty="0"/>
          </a:p>
        </p:txBody>
      </p:sp>
      <p:sp>
        <p:nvSpPr>
          <p:cNvPr id="36" name="Shape 34"/>
          <p:cNvSpPr/>
          <p:nvPr/>
        </p:nvSpPr>
        <p:spPr>
          <a:xfrm>
            <a:off x="4709160" y="4160520"/>
            <a:ext cx="4160520" cy="256032"/>
          </a:xfrm>
          <a:prstGeom prst="rect">
            <a:avLst/>
          </a:prstGeom>
          <a:solidFill>
            <a:srgbClr val="6B7A8D"/>
          </a:solidFill>
          <a:ln w="12700">
            <a:solidFill>
              <a:srgbClr val="6B7A8D"/>
            </a:solidFill>
            <a:prstDash val="solid"/>
          </a:ln>
        </p:spPr>
        <p:txBody>
          <a:bodyPr/>
          <a:lstStyle/>
          <a:p>
            <a:endParaRPr lang="fr-FR"/>
          </a:p>
        </p:txBody>
      </p:sp>
      <p:sp>
        <p:nvSpPr>
          <p:cNvPr id="37" name="Text 35"/>
          <p:cNvSpPr/>
          <p:nvPr/>
        </p:nvSpPr>
        <p:spPr>
          <a:xfrm>
            <a:off x="4782312" y="4160520"/>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COUR DE CASSATION — Dernier recours</a:t>
            </a:r>
            <a:endParaRPr lang="en-US" sz="900" dirty="0"/>
          </a:p>
        </p:txBody>
      </p:sp>
      <p:sp>
        <p:nvSpPr>
          <p:cNvPr id="38" name="Shape 36"/>
          <p:cNvSpPr/>
          <p:nvPr/>
        </p:nvSpPr>
        <p:spPr>
          <a:xfrm>
            <a:off x="4709160" y="4453128"/>
            <a:ext cx="4160520" cy="658368"/>
          </a:xfrm>
          <a:prstGeom prst="rect">
            <a:avLst/>
          </a:prstGeom>
          <a:solidFill>
            <a:srgbClr val="E8F1FA"/>
          </a:solidFill>
          <a:ln w="6350">
            <a:solidFill>
              <a:srgbClr val="D0DCE8"/>
            </a:solidFill>
            <a:prstDash val="solid"/>
          </a:ln>
        </p:spPr>
        <p:txBody>
          <a:bodyPr/>
          <a:lstStyle/>
          <a:p>
            <a:endParaRPr lang="fr-FR"/>
          </a:p>
        </p:txBody>
      </p:sp>
      <p:sp>
        <p:nvSpPr>
          <p:cNvPr id="39" name="Text 37"/>
          <p:cNvSpPr/>
          <p:nvPr/>
        </p:nvSpPr>
        <p:spPr>
          <a:xfrm>
            <a:off x="4800600" y="4471416"/>
            <a:ext cx="3977640" cy="62179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Déclaration au greffe de la Cour d'appel</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Ne rejuge pas l'affaire — vérifie seulement la bonne application de la loi</a:t>
            </a:r>
            <a:endParaRPr lang="en-US" sz="900" dirty="0"/>
          </a:p>
          <a:p>
            <a:pPr marL="0" indent="0">
              <a:buNone/>
            </a:pP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Délai : 10 jours à 2 mois après le prononcé du jugement pénal</a:t>
            </a:r>
            <a:endParaRPr lang="en-US" sz="900" dirty="0"/>
          </a:p>
        </p:txBody>
      </p:sp>
      <p:sp>
        <p:nvSpPr>
          <p:cNvPr id="40" name="Shape 38"/>
          <p:cNvSpPr/>
          <p:nvPr/>
        </p:nvSpPr>
        <p:spPr>
          <a:xfrm>
            <a:off x="4709160" y="5166360"/>
            <a:ext cx="4160520" cy="256032"/>
          </a:xfrm>
          <a:prstGeom prst="rect">
            <a:avLst/>
          </a:prstGeom>
          <a:solidFill>
            <a:srgbClr val="1A3A5C"/>
          </a:solidFill>
          <a:ln w="12700">
            <a:solidFill>
              <a:srgbClr val="1A3A5C"/>
            </a:solidFill>
            <a:prstDash val="solid"/>
          </a:ln>
        </p:spPr>
        <p:txBody>
          <a:bodyPr/>
          <a:lstStyle/>
          <a:p>
            <a:endParaRPr lang="fr-FR"/>
          </a:p>
        </p:txBody>
      </p:sp>
      <p:sp>
        <p:nvSpPr>
          <p:cNvPr id="41" name="Text 39"/>
          <p:cNvSpPr/>
          <p:nvPr/>
        </p:nvSpPr>
        <p:spPr>
          <a:xfrm>
            <a:off x="4782312" y="5166360"/>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CONSEIL D'ÉTAT — Recours administratif</a:t>
            </a:r>
            <a:endParaRPr lang="en-US" sz="900" dirty="0"/>
          </a:p>
        </p:txBody>
      </p:sp>
      <p:sp>
        <p:nvSpPr>
          <p:cNvPr id="42" name="Rectangle 4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3" name="Rectangle 4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1">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12. Transport de Personnes à Mobilité Réduite</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Formation TPMR — Obligations et véhicules adaptés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50/88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2.jpeg"/>
          <p:cNvPicPr>
            <a:picLocks noChangeAspect="1"/>
          </p:cNvPicPr>
          <p:nvPr/>
        </p:nvPicPr>
        <p:blipFill>
          <a:blip r:embed="rId3"/>
          <a:stretch>
            <a:fillRect/>
          </a:stretch>
        </p:blipFill>
        <p:spPr>
          <a:xfrm>
            <a:off x="3662727" y="2820924"/>
            <a:ext cx="1818545" cy="1737360"/>
          </a:xfrm>
          <a:prstGeom prst="rect">
            <a:avLst/>
          </a:prstGeom>
          <a:ln w="9525">
            <a:solidFill>
              <a:srgbClr val="00B4D8"/>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formation TPMR</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Transport de Personnes à Mobilité Réduite — Obligations légales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51/88</a:t>
            </a:r>
            <a:endParaRPr lang="en-US" sz="800" dirty="0"/>
          </a:p>
        </p:txBody>
      </p:sp>
      <p:sp>
        <p:nvSpPr>
          <p:cNvPr id="9" name="Shape 7"/>
          <p:cNvSpPr/>
          <p:nvPr/>
        </p:nvSpPr>
        <p:spPr>
          <a:xfrm>
            <a:off x="274320" y="960120"/>
            <a:ext cx="8595360" cy="384048"/>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TPMR = TRANSPORT DE PERSONNES À MOBILITÉ RÉDUITE</a:t>
            </a:r>
            <a:endParaRPr lang="en-US" sz="1300" dirty="0"/>
          </a:p>
        </p:txBody>
      </p:sp>
      <p:sp>
        <p:nvSpPr>
          <p:cNvPr id="11" name="Shape 9"/>
          <p:cNvSpPr/>
          <p:nvPr/>
        </p:nvSpPr>
        <p:spPr>
          <a:xfrm>
            <a:off x="274320" y="1417320"/>
            <a:ext cx="5303520" cy="1078992"/>
          </a:xfrm>
          <a:prstGeom prst="rect">
            <a:avLst/>
          </a:prstGeom>
          <a:solidFill>
            <a:srgbClr val="E8F1FA"/>
          </a:solidFill>
          <a:ln w="19050">
            <a:solidFill>
              <a:srgbClr val="2860A8"/>
            </a:solidFill>
            <a:prstDash val="solid"/>
          </a:ln>
        </p:spPr>
        <p:txBody>
          <a:bodyPr/>
          <a:lstStyle/>
          <a:p>
            <a:endParaRPr lang="fr-FR"/>
          </a:p>
        </p:txBody>
      </p:sp>
      <p:sp>
        <p:nvSpPr>
          <p:cNvPr id="12" name="Shape 10"/>
          <p:cNvSpPr/>
          <p:nvPr/>
        </p:nvSpPr>
        <p:spPr>
          <a:xfrm>
            <a:off x="274320" y="1417320"/>
            <a:ext cx="54864" cy="1078992"/>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417320"/>
            <a:ext cx="5074920" cy="274320"/>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DÉFINITION — Qui est concerné ?</a:t>
            </a:r>
            <a:endParaRPr lang="en-US" sz="1000" dirty="0"/>
          </a:p>
        </p:txBody>
      </p:sp>
      <p:sp>
        <p:nvSpPr>
          <p:cNvPr id="14" name="Text 12"/>
          <p:cNvSpPr/>
          <p:nvPr/>
        </p:nvSpPr>
        <p:spPr>
          <a:xfrm>
            <a:off x="457200" y="1691640"/>
            <a:ext cx="5074920" cy="77724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La formation TPMR est obligatoire pour toute personne souhaitant intervenir, à titre permanent ou occasionnel, dans le secteur du transport des personnes à mobilité réduite : personnes handicapées, personnes âgées dépendantes, personnes nécessitant une assistance particulière lors du transport.</a:t>
            </a:r>
            <a:endParaRPr lang="en-US" sz="950" dirty="0"/>
          </a:p>
        </p:txBody>
      </p:sp>
      <p:sp>
        <p:nvSpPr>
          <p:cNvPr id="15" name="Shape 13"/>
          <p:cNvSpPr/>
          <p:nvPr/>
        </p:nvSpPr>
        <p:spPr>
          <a:xfrm>
            <a:off x="5760720" y="1417320"/>
            <a:ext cx="3108960" cy="1078992"/>
          </a:xfrm>
          <a:prstGeom prst="rect">
            <a:avLst/>
          </a:prstGeom>
          <a:solidFill>
            <a:srgbClr val="E8F1FA"/>
          </a:solidFill>
          <a:ln w="19050">
            <a:solidFill>
              <a:srgbClr val="2860A8"/>
            </a:solidFill>
            <a:prstDash val="solid"/>
          </a:ln>
        </p:spPr>
        <p:txBody>
          <a:bodyPr/>
          <a:lstStyle/>
          <a:p>
            <a:endParaRPr lang="fr-FR"/>
          </a:p>
        </p:txBody>
      </p:sp>
      <p:sp>
        <p:nvSpPr>
          <p:cNvPr id="16" name="Shape 14"/>
          <p:cNvSpPr/>
          <p:nvPr/>
        </p:nvSpPr>
        <p:spPr>
          <a:xfrm>
            <a:off x="5760720" y="1417320"/>
            <a:ext cx="3108960" cy="292608"/>
          </a:xfrm>
          <a:prstGeom prst="rect">
            <a:avLst/>
          </a:prstGeom>
          <a:solidFill>
            <a:srgbClr val="1A3A5C"/>
          </a:solidFill>
          <a:ln w="12700">
            <a:solidFill>
              <a:srgbClr val="1A3A5C"/>
            </a:solidFill>
            <a:prstDash val="solid"/>
          </a:ln>
        </p:spPr>
        <p:txBody>
          <a:bodyPr/>
          <a:lstStyle/>
          <a:p>
            <a:endParaRPr lang="fr-FR"/>
          </a:p>
        </p:txBody>
      </p:sp>
      <p:sp>
        <p:nvSpPr>
          <p:cNvPr id="17" name="Text 15"/>
          <p:cNvSpPr/>
          <p:nvPr/>
        </p:nvSpPr>
        <p:spPr>
          <a:xfrm>
            <a:off x="5833872" y="1417320"/>
            <a:ext cx="2962656"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DURÉE FORMATION</a:t>
            </a:r>
            <a:endParaRPr lang="en-US" sz="1000" dirty="0"/>
          </a:p>
        </p:txBody>
      </p:sp>
      <p:sp>
        <p:nvSpPr>
          <p:cNvPr id="18" name="Shape 16"/>
          <p:cNvSpPr/>
          <p:nvPr/>
        </p:nvSpPr>
        <p:spPr>
          <a:xfrm>
            <a:off x="5989320" y="1801368"/>
            <a:ext cx="1417320" cy="594360"/>
          </a:xfrm>
          <a:prstGeom prst="rect">
            <a:avLst/>
          </a:prstGeom>
          <a:solidFill>
            <a:srgbClr val="2860A8"/>
          </a:solidFill>
          <a:ln w="12700">
            <a:solidFill>
              <a:srgbClr val="2860A8"/>
            </a:solidFill>
            <a:prstDash val="solid"/>
          </a:ln>
        </p:spPr>
        <p:txBody>
          <a:bodyPr/>
          <a:lstStyle/>
          <a:p>
            <a:endParaRPr lang="fr-FR"/>
          </a:p>
        </p:txBody>
      </p:sp>
      <p:sp>
        <p:nvSpPr>
          <p:cNvPr id="19" name="Text 17"/>
          <p:cNvSpPr/>
          <p:nvPr/>
        </p:nvSpPr>
        <p:spPr>
          <a:xfrm>
            <a:off x="5989320" y="1801368"/>
            <a:ext cx="1417320" cy="5943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21h</a:t>
            </a:r>
            <a:endParaRPr lang="en-US" sz="2600" dirty="0"/>
          </a:p>
        </p:txBody>
      </p:sp>
      <p:sp>
        <p:nvSpPr>
          <p:cNvPr id="20" name="Text 18"/>
          <p:cNvSpPr/>
          <p:nvPr/>
        </p:nvSpPr>
        <p:spPr>
          <a:xfrm>
            <a:off x="7424928" y="1801368"/>
            <a:ext cx="1353312" cy="59436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à 400h</a:t>
            </a:r>
            <a:endParaRPr lang="en-US" sz="1100" dirty="0"/>
          </a:p>
          <a:p>
            <a:pPr marL="0" indent="0" algn="ctr">
              <a:buNone/>
            </a:pPr>
            <a:r>
              <a:rPr lang="en-US" sz="1100" b="1" dirty="0">
                <a:solidFill>
                  <a:srgbClr val="1A3A5C"/>
                </a:solidFill>
                <a:latin typeface="Calibri" pitchFamily="34" charset="0"/>
                <a:ea typeface="Calibri" pitchFamily="34" charset="-122"/>
                <a:cs typeface="Calibri" pitchFamily="34" charset="-120"/>
              </a:rPr>
              <a:t>(alternance)</a:t>
            </a:r>
            <a:endParaRPr lang="en-US" sz="1100" dirty="0"/>
          </a:p>
        </p:txBody>
      </p:sp>
      <p:sp>
        <p:nvSpPr>
          <p:cNvPr id="21" name="Shape 19"/>
          <p:cNvSpPr/>
          <p:nvPr/>
        </p:nvSpPr>
        <p:spPr>
          <a:xfrm>
            <a:off x="274320" y="2578608"/>
            <a:ext cx="8595360" cy="292608"/>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274320" y="2578608"/>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CRITÈRES OBLIGATOIRES POUR LES VÉHICULES TPMR</a:t>
            </a:r>
            <a:endParaRPr lang="en-US" sz="1050" dirty="0"/>
          </a:p>
        </p:txBody>
      </p:sp>
      <p:sp>
        <p:nvSpPr>
          <p:cNvPr id="23" name="Shape 21"/>
          <p:cNvSpPr/>
          <p:nvPr/>
        </p:nvSpPr>
        <p:spPr>
          <a:xfrm>
            <a:off x="274320" y="2944368"/>
            <a:ext cx="2633472" cy="1024128"/>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2944368"/>
            <a:ext cx="2633472" cy="292608"/>
          </a:xfrm>
          <a:prstGeom prst="rect">
            <a:avLst/>
          </a:prstGeom>
          <a:solidFill>
            <a:srgbClr val="2860A8"/>
          </a:solidFill>
          <a:ln w="12700">
            <a:solidFill>
              <a:srgbClr val="2860A8"/>
            </a:solidFill>
            <a:prstDash val="solid"/>
          </a:ln>
        </p:spPr>
        <p:txBody>
          <a:bodyPr/>
          <a:lstStyle/>
          <a:p>
            <a:endParaRPr lang="fr-FR"/>
          </a:p>
        </p:txBody>
      </p:sp>
      <p:sp>
        <p:nvSpPr>
          <p:cNvPr id="25" name="Text 23"/>
          <p:cNvSpPr/>
          <p:nvPr/>
        </p:nvSpPr>
        <p:spPr>
          <a:xfrm>
            <a:off x="347472" y="2944368"/>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Homologation spécifique</a:t>
            </a:r>
            <a:endParaRPr lang="en-US" sz="950" dirty="0"/>
          </a:p>
        </p:txBody>
      </p:sp>
      <p:sp>
        <p:nvSpPr>
          <p:cNvPr id="26" name="Text 24"/>
          <p:cNvSpPr/>
          <p:nvPr/>
        </p:nvSpPr>
        <p:spPr>
          <a:xfrm>
            <a:off x="365760" y="3264408"/>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Pour véhicules à usage professionnel assurant un transport TPMR à titre onéreux</a:t>
            </a:r>
            <a:endParaRPr lang="en-US" sz="880" dirty="0"/>
          </a:p>
        </p:txBody>
      </p:sp>
      <p:sp>
        <p:nvSpPr>
          <p:cNvPr id="27" name="Shape 25"/>
          <p:cNvSpPr/>
          <p:nvPr/>
        </p:nvSpPr>
        <p:spPr>
          <a:xfrm>
            <a:off x="3154680" y="2944368"/>
            <a:ext cx="2633472" cy="1024128"/>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3154680" y="2944368"/>
            <a:ext cx="2633472" cy="292608"/>
          </a:xfrm>
          <a:prstGeom prst="rect">
            <a:avLst/>
          </a:prstGeom>
          <a:solidFill>
            <a:srgbClr val="2860A8"/>
          </a:solidFill>
          <a:ln w="12700">
            <a:solidFill>
              <a:srgbClr val="2860A8"/>
            </a:solidFill>
            <a:prstDash val="solid"/>
          </a:ln>
        </p:spPr>
        <p:txBody>
          <a:bodyPr/>
          <a:lstStyle/>
          <a:p>
            <a:endParaRPr lang="fr-FR"/>
          </a:p>
        </p:txBody>
      </p:sp>
      <p:sp>
        <p:nvSpPr>
          <p:cNvPr id="29" name="Text 27"/>
          <p:cNvSpPr/>
          <p:nvPr/>
        </p:nvSpPr>
        <p:spPr>
          <a:xfrm>
            <a:off x="3227832" y="2944368"/>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Place réservée</a:t>
            </a:r>
            <a:endParaRPr lang="en-US" sz="950" dirty="0"/>
          </a:p>
        </p:txBody>
      </p:sp>
      <p:sp>
        <p:nvSpPr>
          <p:cNvPr id="30" name="Text 28"/>
          <p:cNvSpPr/>
          <p:nvPr/>
        </p:nvSpPr>
        <p:spPr>
          <a:xfrm>
            <a:off x="3246120" y="3264408"/>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Une place réservée pour une personne à mobilité réduite non en fauteuil roulant</a:t>
            </a:r>
            <a:endParaRPr lang="en-US" sz="880" dirty="0"/>
          </a:p>
        </p:txBody>
      </p:sp>
      <p:sp>
        <p:nvSpPr>
          <p:cNvPr id="31" name="Shape 29"/>
          <p:cNvSpPr/>
          <p:nvPr/>
        </p:nvSpPr>
        <p:spPr>
          <a:xfrm>
            <a:off x="6035040" y="2944368"/>
            <a:ext cx="2633472" cy="1024128"/>
          </a:xfrm>
          <a:prstGeom prst="rect">
            <a:avLst/>
          </a:prstGeom>
          <a:solidFill>
            <a:srgbClr val="E8F1FA"/>
          </a:solidFill>
          <a:ln w="6350">
            <a:solidFill>
              <a:srgbClr val="D0DCE8"/>
            </a:solidFill>
            <a:prstDash val="solid"/>
          </a:ln>
        </p:spPr>
        <p:txBody>
          <a:bodyPr/>
          <a:lstStyle/>
          <a:p>
            <a:endParaRPr lang="fr-FR"/>
          </a:p>
        </p:txBody>
      </p:sp>
      <p:sp>
        <p:nvSpPr>
          <p:cNvPr id="32" name="Shape 30"/>
          <p:cNvSpPr/>
          <p:nvPr/>
        </p:nvSpPr>
        <p:spPr>
          <a:xfrm>
            <a:off x="6035040" y="2944368"/>
            <a:ext cx="2633472" cy="292608"/>
          </a:xfrm>
          <a:prstGeom prst="rect">
            <a:avLst/>
          </a:prstGeom>
          <a:solidFill>
            <a:srgbClr val="2860A8"/>
          </a:solidFill>
          <a:ln w="12700">
            <a:solidFill>
              <a:srgbClr val="2860A8"/>
            </a:solidFill>
            <a:prstDash val="solid"/>
          </a:ln>
        </p:spPr>
        <p:txBody>
          <a:bodyPr/>
          <a:lstStyle/>
          <a:p>
            <a:endParaRPr lang="fr-FR"/>
          </a:p>
        </p:txBody>
      </p:sp>
      <p:sp>
        <p:nvSpPr>
          <p:cNvPr id="33" name="Text 31"/>
          <p:cNvSpPr/>
          <p:nvPr/>
        </p:nvSpPr>
        <p:spPr>
          <a:xfrm>
            <a:off x="6108192" y="2944368"/>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Dimensions intérieures</a:t>
            </a:r>
            <a:endParaRPr lang="en-US" sz="950" dirty="0"/>
          </a:p>
        </p:txBody>
      </p:sp>
      <p:sp>
        <p:nvSpPr>
          <p:cNvPr id="34" name="Text 32"/>
          <p:cNvSpPr/>
          <p:nvPr/>
        </p:nvSpPr>
        <p:spPr>
          <a:xfrm>
            <a:off x="6126480" y="3264408"/>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Dimensions intérieures utiles minimums imposés par la réglementation</a:t>
            </a:r>
            <a:endParaRPr lang="en-US" sz="880" dirty="0"/>
          </a:p>
        </p:txBody>
      </p:sp>
      <p:sp>
        <p:nvSpPr>
          <p:cNvPr id="35" name="Shape 33"/>
          <p:cNvSpPr/>
          <p:nvPr/>
        </p:nvSpPr>
        <p:spPr>
          <a:xfrm>
            <a:off x="274320" y="4059936"/>
            <a:ext cx="2633472" cy="1024128"/>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274320" y="4059936"/>
            <a:ext cx="2633472" cy="292608"/>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347472" y="4059936"/>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Sécurité renforcée</a:t>
            </a:r>
            <a:endParaRPr lang="en-US" sz="950" dirty="0"/>
          </a:p>
        </p:txBody>
      </p:sp>
      <p:sp>
        <p:nvSpPr>
          <p:cNvPr id="38" name="Text 36"/>
          <p:cNvSpPr/>
          <p:nvPr/>
        </p:nvSpPr>
        <p:spPr>
          <a:xfrm>
            <a:off x="365760" y="4379976"/>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Ceintures de sécurité à 3 points d'ancrage pour tous les passagers</a:t>
            </a:r>
            <a:endParaRPr lang="en-US" sz="880" dirty="0"/>
          </a:p>
        </p:txBody>
      </p:sp>
      <p:sp>
        <p:nvSpPr>
          <p:cNvPr id="39" name="Shape 37"/>
          <p:cNvSpPr/>
          <p:nvPr/>
        </p:nvSpPr>
        <p:spPr>
          <a:xfrm>
            <a:off x="3154680" y="4059936"/>
            <a:ext cx="2633472" cy="1024128"/>
          </a:xfrm>
          <a:prstGeom prst="rect">
            <a:avLst/>
          </a:prstGeom>
          <a:solidFill>
            <a:srgbClr val="E8F1FA"/>
          </a:solidFill>
          <a:ln w="6350">
            <a:solidFill>
              <a:srgbClr val="D0DCE8"/>
            </a:solidFill>
            <a:prstDash val="solid"/>
          </a:ln>
        </p:spPr>
        <p:txBody>
          <a:bodyPr/>
          <a:lstStyle/>
          <a:p>
            <a:endParaRPr lang="fr-FR"/>
          </a:p>
        </p:txBody>
      </p:sp>
      <p:sp>
        <p:nvSpPr>
          <p:cNvPr id="40" name="Shape 38"/>
          <p:cNvSpPr/>
          <p:nvPr/>
        </p:nvSpPr>
        <p:spPr>
          <a:xfrm>
            <a:off x="3154680" y="4059936"/>
            <a:ext cx="2633472" cy="292608"/>
          </a:xfrm>
          <a:prstGeom prst="rect">
            <a:avLst/>
          </a:prstGeom>
          <a:solidFill>
            <a:srgbClr val="2860A8"/>
          </a:solidFill>
          <a:ln w="12700">
            <a:solidFill>
              <a:srgbClr val="2860A8"/>
            </a:solidFill>
            <a:prstDash val="solid"/>
          </a:ln>
        </p:spPr>
        <p:txBody>
          <a:bodyPr/>
          <a:lstStyle/>
          <a:p>
            <a:endParaRPr lang="fr-FR"/>
          </a:p>
        </p:txBody>
      </p:sp>
      <p:sp>
        <p:nvSpPr>
          <p:cNvPr id="41" name="Text 39"/>
          <p:cNvSpPr/>
          <p:nvPr/>
        </p:nvSpPr>
        <p:spPr>
          <a:xfrm>
            <a:off x="3227832" y="4059936"/>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Signalétique</a:t>
            </a:r>
            <a:endParaRPr lang="en-US" sz="950" dirty="0"/>
          </a:p>
        </p:txBody>
      </p:sp>
      <p:sp>
        <p:nvSpPr>
          <p:cNvPr id="42" name="Text 40"/>
          <p:cNvSpPr/>
          <p:nvPr/>
        </p:nvSpPr>
        <p:spPr>
          <a:xfrm>
            <a:off x="3246120" y="4379976"/>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Signalétique spécifique et notices d'utilisation obligatoires à bord</a:t>
            </a:r>
            <a:endParaRPr lang="en-US" sz="880" dirty="0"/>
          </a:p>
        </p:txBody>
      </p:sp>
      <p:sp>
        <p:nvSpPr>
          <p:cNvPr id="43" name="Shape 41"/>
          <p:cNvSpPr/>
          <p:nvPr/>
        </p:nvSpPr>
        <p:spPr>
          <a:xfrm>
            <a:off x="274320" y="5029200"/>
            <a:ext cx="8595360" cy="347472"/>
          </a:xfrm>
          <a:prstGeom prst="rect">
            <a:avLst/>
          </a:prstGeom>
          <a:solidFill>
            <a:srgbClr val="FFFBEB"/>
          </a:solidFill>
          <a:ln w="19050">
            <a:solidFill>
              <a:srgbClr val="F4A227"/>
            </a:solidFill>
            <a:prstDash val="solid"/>
          </a:ln>
        </p:spPr>
        <p:txBody>
          <a:bodyPr/>
          <a:lstStyle/>
          <a:p>
            <a:endParaRPr lang="fr-FR"/>
          </a:p>
        </p:txBody>
      </p:sp>
      <p:sp>
        <p:nvSpPr>
          <p:cNvPr id="44" name="Shape 42"/>
          <p:cNvSpPr/>
          <p:nvPr/>
        </p:nvSpPr>
        <p:spPr>
          <a:xfrm>
            <a:off x="274320" y="5029200"/>
            <a:ext cx="54864" cy="347472"/>
          </a:xfrm>
          <a:prstGeom prst="rect">
            <a:avLst/>
          </a:prstGeom>
          <a:solidFill>
            <a:srgbClr val="F4A227"/>
          </a:solidFill>
          <a:ln w="12700">
            <a:solidFill>
              <a:srgbClr val="F4A227"/>
            </a:solidFill>
            <a:prstDash val="solid"/>
          </a:ln>
        </p:spPr>
        <p:txBody>
          <a:bodyPr/>
          <a:lstStyle/>
          <a:p>
            <a:endParaRPr lang="fr-FR"/>
          </a:p>
        </p:txBody>
      </p:sp>
      <p:sp>
        <p:nvSpPr>
          <p:cNvPr id="45" name="Text 43"/>
          <p:cNvSpPr/>
          <p:nvPr/>
        </p:nvSpPr>
        <p:spPr>
          <a:xfrm>
            <a:off x="384048" y="5029200"/>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Le TPMR dépasse l'utilisation simple des équipements du véhicule (élévateur, palette...) — il inclut la connaissance des publics, la communication et les gestes techniques adaptés.</a:t>
            </a:r>
            <a:endParaRPr lang="en-US" sz="1000" dirty="0"/>
          </a:p>
        </p:txBody>
      </p:sp>
      <p:sp>
        <p:nvSpPr>
          <p:cNvPr id="46" name="Rectangle 4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7" name="Rectangle 4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Transporter une personne en fauteuil roulant sans formation TPMR</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Ce qu'un chauffeur T3P standard peut faire — et où s'arrête la limite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51b/88</a:t>
            </a:r>
            <a:endParaRPr lang="en-US" sz="800" dirty="0"/>
          </a:p>
        </p:txBody>
      </p:sp>
      <p:sp>
        <p:nvSpPr>
          <p:cNvPr id="9" name="Text 7"/>
          <p:cNvSpPr/>
          <p:nvPr/>
        </p:nvSpPr>
        <p:spPr>
          <a:xfrm>
            <a:off x="274320" y="1078992"/>
            <a:ext cx="8595360" cy="41148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Un chauffeur T3P non certifié TPMR peut, dans certains cas précis, transporter un client en fauteuil roulant sans formation spécifique.</a:t>
            </a:r>
            <a:endParaRPr lang="en-US" sz="1200" dirty="0"/>
          </a:p>
        </p:txBody>
      </p:sp>
      <p:sp>
        <p:nvSpPr>
          <p:cNvPr id="10" name="Shape 8"/>
          <p:cNvSpPr/>
          <p:nvPr/>
        </p:nvSpPr>
        <p:spPr>
          <a:xfrm>
            <a:off x="274320" y="1554480"/>
            <a:ext cx="8595360" cy="18288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554480"/>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554480"/>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CE QUI EST AUTORISÉ SANS FORMATION TPMR</a:t>
            </a:r>
            <a:endParaRPr lang="en-US" sz="1050" dirty="0"/>
          </a:p>
        </p:txBody>
      </p:sp>
      <p:sp>
        <p:nvSpPr>
          <p:cNvPr id="13" name="Text 11"/>
          <p:cNvSpPr/>
          <p:nvPr/>
        </p:nvSpPr>
        <p:spPr>
          <a:xfrm>
            <a:off x="384048" y="1901952"/>
            <a:ext cx="8412480" cy="143560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Le fauteuil roulant est PLIABLE et rentre dans le coffre du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Condition essentielle : le client effectue LUI-MÊME le transfert de son fauteuil au siège du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Le chauffeur peut aider à plier/ranger le fauteuil, mais ne doit JAMAIS porter, soulever ou manipuler physiquement la personne.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Fauteuil non pliable, électrique, ou personne ne pouvant pas se transférer seule : la formation TPMR et un véhicule adapté deviennent obligatoires.</a:t>
            </a:r>
            <a:endParaRPr lang="en-US" sz="1000" dirty="0"/>
          </a:p>
        </p:txBody>
      </p:sp>
      <p:sp>
        <p:nvSpPr>
          <p:cNvPr id="14" name="Shape 12"/>
          <p:cNvSpPr/>
          <p:nvPr/>
        </p:nvSpPr>
        <p:spPr>
          <a:xfrm>
            <a:off x="274320" y="3456432"/>
            <a:ext cx="8595360" cy="12618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3456432"/>
            <a:ext cx="8595360" cy="301752"/>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365760" y="34564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POURQUOI CETTE LIMITE EXISTE</a:t>
            </a:r>
            <a:endParaRPr lang="en-US" sz="1050" dirty="0"/>
          </a:p>
        </p:txBody>
      </p:sp>
      <p:sp>
        <p:nvSpPr>
          <p:cNvPr id="17" name="Text 15"/>
          <p:cNvSpPr/>
          <p:nvPr/>
        </p:nvSpPr>
        <p:spPr>
          <a:xfrm>
            <a:off x="384048" y="3803904"/>
            <a:ext cx="8412480" cy="8686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Manipuler physiquement une personne à mobilité réduite exige des gestes techniques spécifiques (formation TPMR) pour éviter tout risque de chute ou de blessure.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Sans formation, le chauffeur n'est pas couvert pour ce type d'assistance et engage sa responsabilité en cas d'incident.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Un véhicule standard n'a pas les équipements de sécurité requis (ceintures renforcées, arrimage, rampe).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En cas de doute sur l'autonomie du client, orientez-le vers un service TPMR dédié.</a:t>
            </a:r>
            <a:endParaRPr lang="en-US" sz="1000" dirty="0"/>
          </a:p>
        </p:txBody>
      </p:sp>
      <p:sp>
        <p:nvSpPr>
          <p:cNvPr id="18" name="Rectangle 1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9" name="Rectangle 1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3">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13. Covoiturage et transport privé</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Pratiques hors T3P — Différences légales essentielles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52/88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5.jpeg"/>
          <p:cNvPicPr>
            <a:picLocks noChangeAspect="1"/>
          </p:cNvPicPr>
          <p:nvPr/>
        </p:nvPicPr>
        <p:blipFill>
          <a:blip r:embed="rId3"/>
          <a:stretch>
            <a:fillRect/>
          </a:stretch>
        </p:blipFill>
        <p:spPr>
          <a:xfrm>
            <a:off x="3703320" y="2820924"/>
            <a:ext cx="1737360" cy="1737360"/>
          </a:xfrm>
          <a:prstGeom prst="rect">
            <a:avLst/>
          </a:prstGeom>
          <a:ln w="9525">
            <a:solidFill>
              <a:srgbClr val="00B4D8"/>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 covoiturage entre particuliers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Définition légale et différences avec le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53/88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DÉFINITION LÉGALE DU COVOITURAGE</a:t>
            </a:r>
            <a:endParaRPr lang="en-US" sz="1200" dirty="0"/>
          </a:p>
        </p:txBody>
      </p:sp>
      <p:sp>
        <p:nvSpPr>
          <p:cNvPr id="11" name="Shape 9"/>
          <p:cNvSpPr/>
          <p:nvPr/>
        </p:nvSpPr>
        <p:spPr>
          <a:xfrm>
            <a:off x="274320" y="1389888"/>
            <a:ext cx="8595360" cy="841248"/>
          </a:xfrm>
          <a:prstGeom prst="rect">
            <a:avLst/>
          </a:prstGeom>
          <a:solidFill>
            <a:srgbClr val="EBF3FC"/>
          </a:solidFill>
          <a:ln w="19050">
            <a:solidFill>
              <a:srgbClr val="2860A8"/>
            </a:solidFill>
            <a:prstDash val="solid"/>
          </a:ln>
        </p:spPr>
        <p:txBody>
          <a:bodyPr/>
          <a:lstStyle/>
          <a:p>
            <a:endParaRPr lang="fr-FR"/>
          </a:p>
        </p:txBody>
      </p:sp>
      <p:sp>
        <p:nvSpPr>
          <p:cNvPr id="12" name="Shape 10"/>
          <p:cNvSpPr/>
          <p:nvPr/>
        </p:nvSpPr>
        <p:spPr>
          <a:xfrm>
            <a:off x="274320" y="1389888"/>
            <a:ext cx="54864" cy="84124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389888"/>
            <a:ext cx="8229600" cy="841248"/>
          </a:xfrm>
          <a:prstGeom prst="rect">
            <a:avLst/>
          </a:prstGeom>
          <a:noFill/>
          <a:ln/>
        </p:spPr>
        <p:txBody>
          <a:bodyPr wrap="square" rtlCol="0" anchor="ctr"/>
          <a:lstStyle/>
          <a:p>
            <a:pPr marL="0" indent="0">
              <a:buNone/>
            </a:pPr>
            <a:r>
              <a:rPr lang="en-US" sz="1000" i="1" dirty="0">
                <a:solidFill>
                  <a:srgbClr val="3A3A3A"/>
                </a:solidFill>
                <a:latin typeface="Calibri" pitchFamily="34" charset="0"/>
                <a:ea typeface="Calibri" pitchFamily="34" charset="-122"/>
                <a:cs typeface="Calibri" pitchFamily="34" charset="-120"/>
              </a:rPr>
              <a:t>Le covoiturage se définit comme l'utilisation en commun d'un véhicule terrestre à moteur par un conducteur et un ou plusieurs passagers, effectuée à titre NON ONÉREUX. Le prix du covoiturage ne correspond pas à une rémunération, mais à un partage des frais sans recherche de bénéfices. C'est donc une activité non commerciale à but non lucratif, exercée par un conducteur qui n'est PAS un chauffeur professionnel. La notion a été officiellement employée dans un arrêté du ministre des Transports du 18 juillet 1989.</a:t>
            </a:r>
            <a:endParaRPr lang="en-US" sz="1000" dirty="0"/>
          </a:p>
        </p:txBody>
      </p:sp>
      <p:sp>
        <p:nvSpPr>
          <p:cNvPr id="14" name="Shape 12"/>
          <p:cNvSpPr/>
          <p:nvPr/>
        </p:nvSpPr>
        <p:spPr>
          <a:xfrm>
            <a:off x="274320" y="2304288"/>
            <a:ext cx="8595360" cy="292608"/>
          </a:xfrm>
          <a:prstGeom prst="rect">
            <a:avLst/>
          </a:prstGeom>
          <a:solidFill>
            <a:srgbClr val="1A3A5C"/>
          </a:solidFill>
          <a:ln w="12700">
            <a:solidFill>
              <a:srgbClr val="1A3A5C"/>
            </a:solidFill>
            <a:prstDash val="solid"/>
          </a:ln>
        </p:spPr>
        <p:txBody>
          <a:bodyPr/>
          <a:lstStyle/>
          <a:p>
            <a:endParaRPr lang="fr-FR"/>
          </a:p>
        </p:txBody>
      </p:sp>
      <p:sp>
        <p:nvSpPr>
          <p:cNvPr id="15" name="Text 13"/>
          <p:cNvSpPr/>
          <p:nvPr/>
        </p:nvSpPr>
        <p:spPr>
          <a:xfrm>
            <a:off x="274320" y="2304288"/>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COVOITURAGE vs T3P — Tableau comparatif</a:t>
            </a:r>
            <a:endParaRPr lang="en-US" sz="105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274320" y="2651760"/>
          <a:ext cx="8595360" cy="2331720"/>
        </p:xfrm>
        <a:graphic>
          <a:graphicData uri="http://schemas.openxmlformats.org/drawingml/2006/table">
            <a:tbl>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91465">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Critère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COVOITURAGE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E7D32"/>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T3P (Taxi/VTC/VMDTR)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Nature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Activité privée, économie collaborative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Activité professionnelle réglementée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Rémunération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 partage de frais uniquement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Oui — titre onéreux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Carte professionnelle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requise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Obligatoire (T3P)</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Assurance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Assurance personnelle suffit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RC Circulation + RC Pro T3P</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Régime fiscal</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Exonération si partage de frais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Déclaration revenus professionnels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Réservation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Libre (plateformes BlaBlaCar...)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Préalable obligatoire (VTC, VMDTR)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Droit de maraudage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Pas concerné</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Taxi seul (dans zone)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7" name="Shape 14"/>
          <p:cNvSpPr/>
          <p:nvPr/>
        </p:nvSpPr>
        <p:spPr>
          <a:xfrm>
            <a:off x="274320" y="5029200"/>
            <a:ext cx="8595360" cy="347472"/>
          </a:xfrm>
          <a:prstGeom prst="rect">
            <a:avLst/>
          </a:prstGeom>
          <a:solidFill>
            <a:srgbClr val="FFFBEB"/>
          </a:solidFill>
          <a:ln w="19050">
            <a:solidFill>
              <a:srgbClr val="F4A227"/>
            </a:solidFill>
            <a:prstDash val="solid"/>
          </a:ln>
        </p:spPr>
        <p:txBody>
          <a:bodyPr/>
          <a:lstStyle/>
          <a:p>
            <a:endParaRPr lang="fr-FR"/>
          </a:p>
        </p:txBody>
      </p:sp>
      <p:sp>
        <p:nvSpPr>
          <p:cNvPr id="18" name="Shape 15"/>
          <p:cNvSpPr/>
          <p:nvPr/>
        </p:nvSpPr>
        <p:spPr>
          <a:xfrm>
            <a:off x="274320" y="5029200"/>
            <a:ext cx="54864" cy="347472"/>
          </a:xfrm>
          <a:prstGeom prst="rect">
            <a:avLst/>
          </a:prstGeom>
          <a:solidFill>
            <a:srgbClr val="F4A227"/>
          </a:solidFill>
          <a:ln w="12700">
            <a:solidFill>
              <a:srgbClr val="F4A227"/>
            </a:solidFill>
            <a:prstDash val="solid"/>
          </a:ln>
        </p:spPr>
        <p:txBody>
          <a:bodyPr/>
          <a:lstStyle/>
          <a:p>
            <a:endParaRPr lang="fr-FR"/>
          </a:p>
        </p:txBody>
      </p:sp>
      <p:sp>
        <p:nvSpPr>
          <p:cNvPr id="19" name="Text 16"/>
          <p:cNvSpPr/>
          <p:nvPr/>
        </p:nvSpPr>
        <p:spPr>
          <a:xfrm>
            <a:off x="384048" y="5029200"/>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Un conducteur T3P qui fait du covoiturage pour ses propres trajets reste dans la légalité — à condition de ne pas exercer son activité professionnelle simultanément.</a:t>
            </a:r>
            <a:endParaRPr lang="en-US" sz="1000" dirty="0"/>
          </a:p>
        </p:txBody>
      </p:sp>
      <p:sp>
        <p:nvSpPr>
          <p:cNvPr id="66" name="Rectangle 6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67" name="Rectangle 6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5">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14. Les intermédiaires de la mise en relation</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Plateformes numériques et obligations légales envers les conducteurs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55/88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intermédiaires — Plateformes et applications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Obligations légales des plateformes envers les conducteurs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56/88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DÉFINITION — Qu'est-ce qu'un intermédiaire T3P ?</a:t>
            </a:r>
            <a:endParaRPr lang="en-US" sz="1200" dirty="0"/>
          </a:p>
        </p:txBody>
      </p:sp>
      <p:sp>
        <p:nvSpPr>
          <p:cNvPr id="11" name="Shape 9"/>
          <p:cNvSpPr/>
          <p:nvPr/>
        </p:nvSpPr>
        <p:spPr>
          <a:xfrm>
            <a:off x="274320" y="1389888"/>
            <a:ext cx="8595360" cy="658368"/>
          </a:xfrm>
          <a:prstGeom prst="rect">
            <a:avLst/>
          </a:prstGeom>
          <a:solidFill>
            <a:srgbClr val="EBF3FC"/>
          </a:solidFill>
          <a:ln w="19050">
            <a:solidFill>
              <a:srgbClr val="2860A8"/>
            </a:solidFill>
            <a:prstDash val="solid"/>
          </a:ln>
        </p:spPr>
        <p:txBody>
          <a:bodyPr/>
          <a:lstStyle/>
          <a:p>
            <a:endParaRPr lang="fr-FR"/>
          </a:p>
        </p:txBody>
      </p:sp>
      <p:sp>
        <p:nvSpPr>
          <p:cNvPr id="12" name="Shape 10"/>
          <p:cNvSpPr/>
          <p:nvPr/>
        </p:nvSpPr>
        <p:spPr>
          <a:xfrm>
            <a:off x="274320" y="1389888"/>
            <a:ext cx="54864" cy="65836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389888"/>
            <a:ext cx="8229600" cy="65836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Un intermédiaire est toute personne physique ou morale qui met en relation des clients avec des conducteurs T3P, à titre habituel et contre rémunération, au moyen d'une plateforme ou application numérique. Exemples : Uber, Bolt, Heetch, Snapcar, G7, Chauffeur Privé...</a:t>
            </a:r>
            <a:endParaRPr lang="en-US" sz="1000" dirty="0"/>
          </a:p>
        </p:txBody>
      </p:sp>
      <p:sp>
        <p:nvSpPr>
          <p:cNvPr id="14" name="Shape 12"/>
          <p:cNvSpPr/>
          <p:nvPr/>
        </p:nvSpPr>
        <p:spPr>
          <a:xfrm>
            <a:off x="274320" y="2121408"/>
            <a:ext cx="4160520" cy="320040"/>
          </a:xfrm>
          <a:prstGeom prst="rect">
            <a:avLst/>
          </a:prstGeom>
          <a:solidFill>
            <a:srgbClr val="2860A8"/>
          </a:solidFill>
          <a:ln w="12700">
            <a:solidFill>
              <a:srgbClr val="2860A8"/>
            </a:solidFill>
            <a:prstDash val="solid"/>
          </a:ln>
        </p:spPr>
        <p:txBody>
          <a:bodyPr/>
          <a:lstStyle/>
          <a:p>
            <a:endParaRPr lang="fr-FR"/>
          </a:p>
        </p:txBody>
      </p:sp>
      <p:sp>
        <p:nvSpPr>
          <p:cNvPr id="15" name="Text 13"/>
          <p:cNvSpPr/>
          <p:nvPr/>
        </p:nvSpPr>
        <p:spPr>
          <a:xfrm>
            <a:off x="274320" y="212140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OBLIGATIONS DE L'INTERMÉDIAIRE</a:t>
            </a:r>
            <a:endParaRPr lang="en-US" sz="1000" dirty="0"/>
          </a:p>
        </p:txBody>
      </p:sp>
      <p:sp>
        <p:nvSpPr>
          <p:cNvPr id="16" name="Shape 14"/>
          <p:cNvSpPr/>
          <p:nvPr/>
        </p:nvSpPr>
        <p:spPr>
          <a:xfrm>
            <a:off x="274320" y="2487168"/>
            <a:ext cx="4160520" cy="347472"/>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487168"/>
            <a:ext cx="256032" cy="347472"/>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487168"/>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9" name="Text 17"/>
          <p:cNvSpPr/>
          <p:nvPr/>
        </p:nvSpPr>
        <p:spPr>
          <a:xfrm>
            <a:off x="594360" y="2505456"/>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Vérifier que le conducteur possède une carte pro T3P valide avant toute mise en relation</a:t>
            </a:r>
            <a:endParaRPr lang="en-US" sz="900" dirty="0"/>
          </a:p>
        </p:txBody>
      </p:sp>
      <p:sp>
        <p:nvSpPr>
          <p:cNvPr id="20" name="Shape 18"/>
          <p:cNvSpPr/>
          <p:nvPr/>
        </p:nvSpPr>
        <p:spPr>
          <a:xfrm>
            <a:off x="274320" y="2871216"/>
            <a:ext cx="4160520" cy="347472"/>
          </a:xfrm>
          <a:prstGeom prst="rect">
            <a:avLst/>
          </a:prstGeom>
          <a:solidFill>
            <a:srgbClr val="FFFFFF"/>
          </a:solidFill>
          <a:ln w="6350">
            <a:solidFill>
              <a:srgbClr val="D0DCE8"/>
            </a:solidFill>
            <a:prstDash val="solid"/>
          </a:ln>
        </p:spPr>
        <p:txBody>
          <a:bodyPr/>
          <a:lstStyle/>
          <a:p>
            <a:endParaRPr lang="fr-FR"/>
          </a:p>
        </p:txBody>
      </p:sp>
      <p:sp>
        <p:nvSpPr>
          <p:cNvPr id="21" name="Shape 19"/>
          <p:cNvSpPr/>
          <p:nvPr/>
        </p:nvSpPr>
        <p:spPr>
          <a:xfrm>
            <a:off x="274320" y="2871216"/>
            <a:ext cx="256032" cy="347472"/>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274320" y="2871216"/>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3" name="Text 21"/>
          <p:cNvSpPr/>
          <p:nvPr/>
        </p:nvSpPr>
        <p:spPr>
          <a:xfrm>
            <a:off x="594360" y="2889504"/>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Vérifier l'inscription du VTC au registre national des VTC</a:t>
            </a:r>
            <a:endParaRPr lang="en-US" sz="900" dirty="0"/>
          </a:p>
        </p:txBody>
      </p:sp>
      <p:sp>
        <p:nvSpPr>
          <p:cNvPr id="24" name="Shape 22"/>
          <p:cNvSpPr/>
          <p:nvPr/>
        </p:nvSpPr>
        <p:spPr>
          <a:xfrm>
            <a:off x="274320" y="3255264"/>
            <a:ext cx="4160520" cy="347472"/>
          </a:xfrm>
          <a:prstGeom prst="rect">
            <a:avLst/>
          </a:prstGeom>
          <a:solidFill>
            <a:srgbClr val="E8F1FA"/>
          </a:solidFill>
          <a:ln w="6350">
            <a:solidFill>
              <a:srgbClr val="D0DCE8"/>
            </a:solidFill>
            <a:prstDash val="solid"/>
          </a:ln>
        </p:spPr>
        <p:txBody>
          <a:bodyPr/>
          <a:lstStyle/>
          <a:p>
            <a:endParaRPr lang="fr-FR"/>
          </a:p>
        </p:txBody>
      </p:sp>
      <p:sp>
        <p:nvSpPr>
          <p:cNvPr id="25" name="Shape 23"/>
          <p:cNvSpPr/>
          <p:nvPr/>
        </p:nvSpPr>
        <p:spPr>
          <a:xfrm>
            <a:off x="274320" y="3255264"/>
            <a:ext cx="256032" cy="347472"/>
          </a:xfrm>
          <a:prstGeom prst="rect">
            <a:avLst/>
          </a:prstGeom>
          <a:solidFill>
            <a:srgbClr val="2860A8"/>
          </a:solidFill>
          <a:ln w="12700">
            <a:solidFill>
              <a:srgbClr val="2860A8"/>
            </a:solidFill>
            <a:prstDash val="solid"/>
          </a:ln>
        </p:spPr>
        <p:txBody>
          <a:bodyPr/>
          <a:lstStyle/>
          <a:p>
            <a:endParaRPr lang="fr-FR"/>
          </a:p>
        </p:txBody>
      </p:sp>
      <p:sp>
        <p:nvSpPr>
          <p:cNvPr id="26" name="Text 24"/>
          <p:cNvSpPr/>
          <p:nvPr/>
        </p:nvSpPr>
        <p:spPr>
          <a:xfrm>
            <a:off x="274320" y="3255264"/>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7" name="Text 25"/>
          <p:cNvSpPr/>
          <p:nvPr/>
        </p:nvSpPr>
        <p:spPr>
          <a:xfrm>
            <a:off x="594360" y="3273552"/>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S'assurer que le conducteur est bien assuré (RC Circulation + RC Pro T3P)</a:t>
            </a:r>
            <a:endParaRPr lang="en-US" sz="900" dirty="0"/>
          </a:p>
        </p:txBody>
      </p:sp>
      <p:sp>
        <p:nvSpPr>
          <p:cNvPr id="28" name="Shape 26"/>
          <p:cNvSpPr/>
          <p:nvPr/>
        </p:nvSpPr>
        <p:spPr>
          <a:xfrm>
            <a:off x="274320" y="3639312"/>
            <a:ext cx="4160520" cy="347472"/>
          </a:xfrm>
          <a:prstGeom prst="rect">
            <a:avLst/>
          </a:prstGeom>
          <a:solidFill>
            <a:srgbClr val="FFFFFF"/>
          </a:solidFill>
          <a:ln w="6350">
            <a:solidFill>
              <a:srgbClr val="D0DCE8"/>
            </a:solidFill>
            <a:prstDash val="solid"/>
          </a:ln>
        </p:spPr>
        <p:txBody>
          <a:bodyPr/>
          <a:lstStyle/>
          <a:p>
            <a:endParaRPr lang="fr-FR"/>
          </a:p>
        </p:txBody>
      </p:sp>
      <p:sp>
        <p:nvSpPr>
          <p:cNvPr id="29" name="Shape 27"/>
          <p:cNvSpPr/>
          <p:nvPr/>
        </p:nvSpPr>
        <p:spPr>
          <a:xfrm>
            <a:off x="274320" y="3639312"/>
            <a:ext cx="256032" cy="347472"/>
          </a:xfrm>
          <a:prstGeom prst="rect">
            <a:avLst/>
          </a:prstGeom>
          <a:solidFill>
            <a:srgbClr val="2860A8"/>
          </a:solidFill>
          <a:ln w="12700">
            <a:solidFill>
              <a:srgbClr val="2860A8"/>
            </a:solidFill>
            <a:prstDash val="solid"/>
          </a:ln>
        </p:spPr>
        <p:txBody>
          <a:bodyPr/>
          <a:lstStyle/>
          <a:p>
            <a:endParaRPr lang="fr-FR"/>
          </a:p>
        </p:txBody>
      </p:sp>
      <p:sp>
        <p:nvSpPr>
          <p:cNvPr id="30" name="Text 28"/>
          <p:cNvSpPr/>
          <p:nvPr/>
        </p:nvSpPr>
        <p:spPr>
          <a:xfrm>
            <a:off x="274320" y="3639312"/>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1" name="Text 29"/>
          <p:cNvSpPr/>
          <p:nvPr/>
        </p:nvSpPr>
        <p:spPr>
          <a:xfrm>
            <a:off x="594360" y="3657600"/>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Transmettre les informations sur la course : tarif estimé, véhicule, conducteur</a:t>
            </a:r>
            <a:endParaRPr lang="en-US" sz="900" dirty="0"/>
          </a:p>
        </p:txBody>
      </p:sp>
      <p:sp>
        <p:nvSpPr>
          <p:cNvPr id="32" name="Shape 30"/>
          <p:cNvSpPr/>
          <p:nvPr/>
        </p:nvSpPr>
        <p:spPr>
          <a:xfrm>
            <a:off x="274320" y="4023360"/>
            <a:ext cx="4160520" cy="347472"/>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274320" y="4023360"/>
            <a:ext cx="256032" cy="347472"/>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274320" y="4023360"/>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5" name="Text 33"/>
          <p:cNvSpPr/>
          <p:nvPr/>
        </p:nvSpPr>
        <p:spPr>
          <a:xfrm>
            <a:off x="594360" y="4041648"/>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Ne pas informer de façon irrégulière sur la localisation et disponibilité des véhicules</a:t>
            </a:r>
            <a:endParaRPr lang="en-US" sz="900" dirty="0"/>
          </a:p>
        </p:txBody>
      </p:sp>
      <p:sp>
        <p:nvSpPr>
          <p:cNvPr id="36" name="Shape 34"/>
          <p:cNvSpPr/>
          <p:nvPr/>
        </p:nvSpPr>
        <p:spPr>
          <a:xfrm>
            <a:off x="274320" y="4407408"/>
            <a:ext cx="4160520" cy="347472"/>
          </a:xfrm>
          <a:prstGeom prst="rect">
            <a:avLst/>
          </a:prstGeom>
          <a:solidFill>
            <a:srgbClr val="FFFFFF"/>
          </a:solidFill>
          <a:ln w="6350">
            <a:solidFill>
              <a:srgbClr val="D0DCE8"/>
            </a:solidFill>
            <a:prstDash val="solid"/>
          </a:ln>
        </p:spPr>
        <p:txBody>
          <a:bodyPr/>
          <a:lstStyle/>
          <a:p>
            <a:endParaRPr lang="fr-FR"/>
          </a:p>
        </p:txBody>
      </p:sp>
      <p:sp>
        <p:nvSpPr>
          <p:cNvPr id="37" name="Shape 35"/>
          <p:cNvSpPr/>
          <p:nvPr/>
        </p:nvSpPr>
        <p:spPr>
          <a:xfrm>
            <a:off x="274320" y="4407408"/>
            <a:ext cx="256032" cy="347472"/>
          </a:xfrm>
          <a:prstGeom prst="rect">
            <a:avLst/>
          </a:prstGeom>
          <a:solidFill>
            <a:srgbClr val="2860A8"/>
          </a:solidFill>
          <a:ln w="12700">
            <a:solidFill>
              <a:srgbClr val="2860A8"/>
            </a:solidFill>
            <a:prstDash val="solid"/>
          </a:ln>
        </p:spPr>
        <p:txBody>
          <a:bodyPr/>
          <a:lstStyle/>
          <a:p>
            <a:endParaRPr lang="fr-FR"/>
          </a:p>
        </p:txBody>
      </p:sp>
      <p:sp>
        <p:nvSpPr>
          <p:cNvPr id="38" name="Text 36"/>
          <p:cNvSpPr/>
          <p:nvPr/>
        </p:nvSpPr>
        <p:spPr>
          <a:xfrm>
            <a:off x="274320" y="4407408"/>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9" name="Text 37"/>
          <p:cNvSpPr/>
          <p:nvPr/>
        </p:nvSpPr>
        <p:spPr>
          <a:xfrm>
            <a:off x="594360" y="4425696"/>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Toute information irrégulière sur disponibilité → Infraction Classe 5</a:t>
            </a:r>
            <a:endParaRPr lang="en-US" sz="900" dirty="0"/>
          </a:p>
        </p:txBody>
      </p:sp>
      <p:sp>
        <p:nvSpPr>
          <p:cNvPr id="40" name="Shape 38"/>
          <p:cNvSpPr/>
          <p:nvPr/>
        </p:nvSpPr>
        <p:spPr>
          <a:xfrm>
            <a:off x="4709160" y="2121408"/>
            <a:ext cx="4160520" cy="320040"/>
          </a:xfrm>
          <a:prstGeom prst="rect">
            <a:avLst/>
          </a:prstGeom>
          <a:solidFill>
            <a:srgbClr val="1A3A5C"/>
          </a:solidFill>
          <a:ln w="12700">
            <a:solidFill>
              <a:srgbClr val="1A3A5C"/>
            </a:solidFill>
            <a:prstDash val="solid"/>
          </a:ln>
        </p:spPr>
        <p:txBody>
          <a:bodyPr/>
          <a:lstStyle/>
          <a:p>
            <a:endParaRPr lang="fr-FR"/>
          </a:p>
        </p:txBody>
      </p:sp>
      <p:sp>
        <p:nvSpPr>
          <p:cNvPr id="41" name="Text 39"/>
          <p:cNvSpPr/>
          <p:nvPr/>
        </p:nvSpPr>
        <p:spPr>
          <a:xfrm>
            <a:off x="4709160" y="212140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DROITS DU CONDUCTEUR T3P</a:t>
            </a:r>
            <a:endParaRPr lang="en-US" sz="1000" dirty="0"/>
          </a:p>
        </p:txBody>
      </p:sp>
      <p:sp>
        <p:nvSpPr>
          <p:cNvPr id="42" name="Shape 40"/>
          <p:cNvSpPr/>
          <p:nvPr/>
        </p:nvSpPr>
        <p:spPr>
          <a:xfrm>
            <a:off x="4709160" y="2487168"/>
            <a:ext cx="4160520" cy="393192"/>
          </a:xfrm>
          <a:prstGeom prst="rect">
            <a:avLst/>
          </a:prstGeom>
          <a:solidFill>
            <a:srgbClr val="E8F1FA"/>
          </a:solidFill>
          <a:ln w="6350">
            <a:solidFill>
              <a:srgbClr val="D0DCE8"/>
            </a:solidFill>
            <a:prstDash val="solid"/>
          </a:ln>
        </p:spPr>
        <p:txBody>
          <a:bodyPr/>
          <a:lstStyle/>
          <a:p>
            <a:endParaRPr lang="fr-FR"/>
          </a:p>
        </p:txBody>
      </p:sp>
      <p:sp>
        <p:nvSpPr>
          <p:cNvPr id="43" name="Shape 41"/>
          <p:cNvSpPr/>
          <p:nvPr/>
        </p:nvSpPr>
        <p:spPr>
          <a:xfrm>
            <a:off x="4709160" y="2487168"/>
            <a:ext cx="320040" cy="393192"/>
          </a:xfrm>
          <a:prstGeom prst="rect">
            <a:avLst/>
          </a:prstGeom>
          <a:solidFill>
            <a:srgbClr val="2860A8"/>
          </a:solidFill>
          <a:ln w="12700">
            <a:solidFill>
              <a:srgbClr val="2860A8"/>
            </a:solidFill>
            <a:prstDash val="solid"/>
          </a:ln>
        </p:spPr>
        <p:txBody>
          <a:bodyPr/>
          <a:lstStyle/>
          <a:p>
            <a:endParaRPr lang="fr-FR"/>
          </a:p>
        </p:txBody>
      </p:sp>
      <p:sp>
        <p:nvSpPr>
          <p:cNvPr id="44" name="Text 42"/>
          <p:cNvSpPr/>
          <p:nvPr/>
        </p:nvSpPr>
        <p:spPr>
          <a:xfrm>
            <a:off x="4709160" y="2487168"/>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45" name="Text 43"/>
          <p:cNvSpPr/>
          <p:nvPr/>
        </p:nvSpPr>
        <p:spPr>
          <a:xfrm>
            <a:off x="5102352" y="2505456"/>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Transparence tarifaire : Connaître à l'avance les tarifs et commissions de la plateforme</a:t>
            </a:r>
            <a:endParaRPr lang="en-US" sz="900" dirty="0"/>
          </a:p>
        </p:txBody>
      </p:sp>
      <p:sp>
        <p:nvSpPr>
          <p:cNvPr id="46" name="Shape 44"/>
          <p:cNvSpPr/>
          <p:nvPr/>
        </p:nvSpPr>
        <p:spPr>
          <a:xfrm>
            <a:off x="4709160" y="2926080"/>
            <a:ext cx="4160520" cy="393192"/>
          </a:xfrm>
          <a:prstGeom prst="rect">
            <a:avLst/>
          </a:prstGeom>
          <a:solidFill>
            <a:srgbClr val="FFFFFF"/>
          </a:solidFill>
          <a:ln w="6350">
            <a:solidFill>
              <a:srgbClr val="D0DCE8"/>
            </a:solidFill>
            <a:prstDash val="solid"/>
          </a:ln>
        </p:spPr>
        <p:txBody>
          <a:bodyPr/>
          <a:lstStyle/>
          <a:p>
            <a:endParaRPr lang="fr-FR"/>
          </a:p>
        </p:txBody>
      </p:sp>
      <p:sp>
        <p:nvSpPr>
          <p:cNvPr id="47" name="Shape 45"/>
          <p:cNvSpPr/>
          <p:nvPr/>
        </p:nvSpPr>
        <p:spPr>
          <a:xfrm>
            <a:off x="4709160" y="2926080"/>
            <a:ext cx="320040" cy="393192"/>
          </a:xfrm>
          <a:prstGeom prst="rect">
            <a:avLst/>
          </a:prstGeom>
          <a:solidFill>
            <a:srgbClr val="1A3A5C"/>
          </a:solidFill>
          <a:ln w="12700">
            <a:solidFill>
              <a:srgbClr val="1A3A5C"/>
            </a:solidFill>
            <a:prstDash val="solid"/>
          </a:ln>
        </p:spPr>
        <p:txBody>
          <a:bodyPr/>
          <a:lstStyle/>
          <a:p>
            <a:endParaRPr lang="fr-FR"/>
          </a:p>
        </p:txBody>
      </p:sp>
      <p:sp>
        <p:nvSpPr>
          <p:cNvPr id="48" name="Text 46"/>
          <p:cNvSpPr/>
          <p:nvPr/>
        </p:nvSpPr>
        <p:spPr>
          <a:xfrm>
            <a:off x="4709160" y="2926080"/>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49" name="Text 47"/>
          <p:cNvSpPr/>
          <p:nvPr/>
        </p:nvSpPr>
        <p:spPr>
          <a:xfrm>
            <a:off x="5102352" y="2944368"/>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Conditions générales : Accès aux CGU en français, claires et compréhensibles</a:t>
            </a:r>
            <a:endParaRPr lang="en-US" sz="900" dirty="0"/>
          </a:p>
        </p:txBody>
      </p:sp>
      <p:sp>
        <p:nvSpPr>
          <p:cNvPr id="50" name="Shape 48"/>
          <p:cNvSpPr/>
          <p:nvPr/>
        </p:nvSpPr>
        <p:spPr>
          <a:xfrm>
            <a:off x="4709160" y="3364992"/>
            <a:ext cx="4160520" cy="393192"/>
          </a:xfrm>
          <a:prstGeom prst="rect">
            <a:avLst/>
          </a:prstGeom>
          <a:solidFill>
            <a:srgbClr val="E8F1FA"/>
          </a:solidFill>
          <a:ln w="6350">
            <a:solidFill>
              <a:srgbClr val="D0DCE8"/>
            </a:solidFill>
            <a:prstDash val="solid"/>
          </a:ln>
        </p:spPr>
        <p:txBody>
          <a:bodyPr/>
          <a:lstStyle/>
          <a:p>
            <a:endParaRPr lang="fr-FR"/>
          </a:p>
        </p:txBody>
      </p:sp>
      <p:sp>
        <p:nvSpPr>
          <p:cNvPr id="51" name="Shape 49"/>
          <p:cNvSpPr/>
          <p:nvPr/>
        </p:nvSpPr>
        <p:spPr>
          <a:xfrm>
            <a:off x="4709160" y="3364992"/>
            <a:ext cx="320040" cy="393192"/>
          </a:xfrm>
          <a:prstGeom prst="rect">
            <a:avLst/>
          </a:prstGeom>
          <a:solidFill>
            <a:srgbClr val="6B7A8D"/>
          </a:solidFill>
          <a:ln w="12700">
            <a:solidFill>
              <a:srgbClr val="6B7A8D"/>
            </a:solidFill>
            <a:prstDash val="solid"/>
          </a:ln>
        </p:spPr>
        <p:txBody>
          <a:bodyPr/>
          <a:lstStyle/>
          <a:p>
            <a:endParaRPr lang="fr-FR"/>
          </a:p>
        </p:txBody>
      </p:sp>
      <p:sp>
        <p:nvSpPr>
          <p:cNvPr id="52" name="Text 50"/>
          <p:cNvSpPr/>
          <p:nvPr/>
        </p:nvSpPr>
        <p:spPr>
          <a:xfrm>
            <a:off x="4709160" y="3364992"/>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53" name="Text 51"/>
          <p:cNvSpPr/>
          <p:nvPr/>
        </p:nvSpPr>
        <p:spPr>
          <a:xfrm>
            <a:off x="5102352" y="3383280"/>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Résiliation : Préavis raisonnable avant toute modification des conditions ou résiliation</a:t>
            </a:r>
            <a:endParaRPr lang="en-US" sz="900" dirty="0"/>
          </a:p>
        </p:txBody>
      </p:sp>
      <p:sp>
        <p:nvSpPr>
          <p:cNvPr id="54" name="Shape 52"/>
          <p:cNvSpPr/>
          <p:nvPr/>
        </p:nvSpPr>
        <p:spPr>
          <a:xfrm>
            <a:off x="4709160" y="3803904"/>
            <a:ext cx="4160520" cy="393192"/>
          </a:xfrm>
          <a:prstGeom prst="rect">
            <a:avLst/>
          </a:prstGeom>
          <a:solidFill>
            <a:srgbClr val="FFFFFF"/>
          </a:solidFill>
          <a:ln w="6350">
            <a:solidFill>
              <a:srgbClr val="D0DCE8"/>
            </a:solidFill>
            <a:prstDash val="solid"/>
          </a:ln>
        </p:spPr>
        <p:txBody>
          <a:bodyPr/>
          <a:lstStyle/>
          <a:p>
            <a:endParaRPr lang="fr-FR"/>
          </a:p>
        </p:txBody>
      </p:sp>
      <p:sp>
        <p:nvSpPr>
          <p:cNvPr id="55" name="Shape 53"/>
          <p:cNvSpPr/>
          <p:nvPr/>
        </p:nvSpPr>
        <p:spPr>
          <a:xfrm>
            <a:off x="4709160" y="3803904"/>
            <a:ext cx="320040" cy="393192"/>
          </a:xfrm>
          <a:prstGeom prst="rect">
            <a:avLst/>
          </a:prstGeom>
          <a:solidFill>
            <a:srgbClr val="F4A227"/>
          </a:solidFill>
          <a:ln w="12700">
            <a:solidFill>
              <a:srgbClr val="F4A227"/>
            </a:solidFill>
            <a:prstDash val="solid"/>
          </a:ln>
        </p:spPr>
        <p:txBody>
          <a:bodyPr/>
          <a:lstStyle/>
          <a:p>
            <a:endParaRPr lang="fr-FR"/>
          </a:p>
        </p:txBody>
      </p:sp>
      <p:sp>
        <p:nvSpPr>
          <p:cNvPr id="56" name="Text 54"/>
          <p:cNvSpPr/>
          <p:nvPr/>
        </p:nvSpPr>
        <p:spPr>
          <a:xfrm>
            <a:off x="4709160" y="3803904"/>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57" name="Text 55"/>
          <p:cNvSpPr/>
          <p:nvPr/>
        </p:nvSpPr>
        <p:spPr>
          <a:xfrm>
            <a:off x="5102352" y="3822192"/>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Non-discrimination : La plateforme ne peut pas discriminer sur des critères non professionnels</a:t>
            </a:r>
            <a:endParaRPr lang="en-US" sz="900" dirty="0"/>
          </a:p>
        </p:txBody>
      </p:sp>
      <p:sp>
        <p:nvSpPr>
          <p:cNvPr id="58" name="Shape 56"/>
          <p:cNvSpPr/>
          <p:nvPr/>
        </p:nvSpPr>
        <p:spPr>
          <a:xfrm>
            <a:off x="4709160" y="4242816"/>
            <a:ext cx="4160520" cy="393192"/>
          </a:xfrm>
          <a:prstGeom prst="rect">
            <a:avLst/>
          </a:prstGeom>
          <a:solidFill>
            <a:srgbClr val="E8F1FA"/>
          </a:solidFill>
          <a:ln w="6350">
            <a:solidFill>
              <a:srgbClr val="D0DCE8"/>
            </a:solidFill>
            <a:prstDash val="solid"/>
          </a:ln>
        </p:spPr>
        <p:txBody>
          <a:bodyPr/>
          <a:lstStyle/>
          <a:p>
            <a:endParaRPr lang="fr-FR"/>
          </a:p>
        </p:txBody>
      </p:sp>
      <p:sp>
        <p:nvSpPr>
          <p:cNvPr id="59" name="Shape 57"/>
          <p:cNvSpPr/>
          <p:nvPr/>
        </p:nvSpPr>
        <p:spPr>
          <a:xfrm>
            <a:off x="4709160" y="4242816"/>
            <a:ext cx="320040" cy="393192"/>
          </a:xfrm>
          <a:prstGeom prst="rect">
            <a:avLst/>
          </a:prstGeom>
          <a:solidFill>
            <a:srgbClr val="2860A8"/>
          </a:solidFill>
          <a:ln w="12700">
            <a:solidFill>
              <a:srgbClr val="2860A8"/>
            </a:solidFill>
            <a:prstDash val="solid"/>
          </a:ln>
        </p:spPr>
        <p:txBody>
          <a:bodyPr/>
          <a:lstStyle/>
          <a:p>
            <a:endParaRPr lang="fr-FR"/>
          </a:p>
        </p:txBody>
      </p:sp>
      <p:sp>
        <p:nvSpPr>
          <p:cNvPr id="60" name="Text 58"/>
          <p:cNvSpPr/>
          <p:nvPr/>
        </p:nvSpPr>
        <p:spPr>
          <a:xfrm>
            <a:off x="4709160" y="4242816"/>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61" name="Text 59"/>
          <p:cNvSpPr/>
          <p:nvPr/>
        </p:nvSpPr>
        <p:spPr>
          <a:xfrm>
            <a:off x="5102352" y="4261104"/>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Activité indépendante : Le conducteur VTC indépendant reste libre de refuser des courses</a:t>
            </a:r>
            <a:endParaRPr lang="en-US" sz="900" dirty="0"/>
          </a:p>
        </p:txBody>
      </p:sp>
      <p:sp>
        <p:nvSpPr>
          <p:cNvPr id="62" name="Shape 60"/>
          <p:cNvSpPr/>
          <p:nvPr/>
        </p:nvSpPr>
        <p:spPr>
          <a:xfrm>
            <a:off x="4709160" y="4681728"/>
            <a:ext cx="4160520" cy="393192"/>
          </a:xfrm>
          <a:prstGeom prst="rect">
            <a:avLst/>
          </a:prstGeom>
          <a:solidFill>
            <a:srgbClr val="FFFFFF"/>
          </a:solidFill>
          <a:ln w="6350">
            <a:solidFill>
              <a:srgbClr val="D0DCE8"/>
            </a:solidFill>
            <a:prstDash val="solid"/>
          </a:ln>
        </p:spPr>
        <p:txBody>
          <a:bodyPr/>
          <a:lstStyle/>
          <a:p>
            <a:endParaRPr lang="fr-FR"/>
          </a:p>
        </p:txBody>
      </p:sp>
      <p:sp>
        <p:nvSpPr>
          <p:cNvPr id="63" name="Shape 61"/>
          <p:cNvSpPr/>
          <p:nvPr/>
        </p:nvSpPr>
        <p:spPr>
          <a:xfrm>
            <a:off x="4709160" y="4681728"/>
            <a:ext cx="320040" cy="393192"/>
          </a:xfrm>
          <a:prstGeom prst="rect">
            <a:avLst/>
          </a:prstGeom>
          <a:solidFill>
            <a:srgbClr val="1A3A5C"/>
          </a:solidFill>
          <a:ln w="12700">
            <a:solidFill>
              <a:srgbClr val="1A3A5C"/>
            </a:solidFill>
            <a:prstDash val="solid"/>
          </a:ln>
        </p:spPr>
        <p:txBody>
          <a:bodyPr/>
          <a:lstStyle/>
          <a:p>
            <a:endParaRPr lang="fr-FR"/>
          </a:p>
        </p:txBody>
      </p:sp>
      <p:sp>
        <p:nvSpPr>
          <p:cNvPr id="64" name="Text 62"/>
          <p:cNvSpPr/>
          <p:nvPr/>
        </p:nvSpPr>
        <p:spPr>
          <a:xfrm>
            <a:off x="4709160" y="4681728"/>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65" name="Text 63"/>
          <p:cNvSpPr/>
          <p:nvPr/>
        </p:nvSpPr>
        <p:spPr>
          <a:xfrm>
            <a:off x="5102352" y="4700016"/>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Protection sociale : Si statut salarié via plateforme : couverture sociale et congés payés</a:t>
            </a:r>
            <a:endParaRPr lang="en-US" sz="900" dirty="0"/>
          </a:p>
        </p:txBody>
      </p:sp>
      <p:sp>
        <p:nvSpPr>
          <p:cNvPr id="66" name="Rectangle 6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67" name="Rectangle 6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7">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15. Violences sexuelles, sexistes et discriminations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Infractions, peines encourues et acteurs de prévention</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57/88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6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comportements à caractère sexuel et/ou sexiste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Définitions légales — 4 infractions à connaître (p.121 livre)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58/88</a:t>
            </a:r>
            <a:endParaRPr lang="en-US" sz="800" dirty="0"/>
          </a:p>
        </p:txBody>
      </p:sp>
      <p:sp>
        <p:nvSpPr>
          <p:cNvPr id="9" name="Shape 7"/>
          <p:cNvSpPr/>
          <p:nvPr/>
        </p:nvSpPr>
        <p:spPr>
          <a:xfrm>
            <a:off x="274320" y="960120"/>
            <a:ext cx="8595360" cy="347472"/>
          </a:xfrm>
          <a:prstGeom prst="rect">
            <a:avLst/>
          </a:prstGeom>
          <a:solidFill>
            <a:srgbClr val="8B0000"/>
          </a:solidFill>
          <a:ln w="12700">
            <a:solidFill>
              <a:srgbClr val="8B0000"/>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INFRACTIONS À CARACTÈRE SEXUEL OU SEXISTE</a:t>
            </a:r>
            <a:endParaRPr lang="en-US" sz="1200" dirty="0"/>
          </a:p>
        </p:txBody>
      </p:sp>
      <p:sp>
        <p:nvSpPr>
          <p:cNvPr id="11" name="Shape 9"/>
          <p:cNvSpPr/>
          <p:nvPr/>
        </p:nvSpPr>
        <p:spPr>
          <a:xfrm>
            <a:off x="274320" y="1389888"/>
            <a:ext cx="4160520" cy="169164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292608"/>
          </a:xfrm>
          <a:prstGeom prst="rect">
            <a:avLst/>
          </a:prstGeom>
          <a:solidFill>
            <a:srgbClr val="D4530A"/>
          </a:solidFill>
          <a:ln w="12700">
            <a:solidFill>
              <a:srgbClr val="D4530A"/>
            </a:solidFill>
            <a:prstDash val="solid"/>
          </a:ln>
        </p:spPr>
        <p:txBody>
          <a:bodyPr/>
          <a:lstStyle/>
          <a:p>
            <a:endParaRPr lang="fr-FR"/>
          </a:p>
        </p:txBody>
      </p:sp>
      <p:sp>
        <p:nvSpPr>
          <p:cNvPr id="13" name="Text 11"/>
          <p:cNvSpPr/>
          <p:nvPr/>
        </p:nvSpPr>
        <p:spPr>
          <a:xfrm>
            <a:off x="34747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OUTRAGE SEXISTE OU SEXUEL</a:t>
            </a:r>
            <a:endParaRPr lang="en-US" sz="950" dirty="0"/>
          </a:p>
        </p:txBody>
      </p:sp>
      <p:sp>
        <p:nvSpPr>
          <p:cNvPr id="14" name="Text 12"/>
          <p:cNvSpPr/>
          <p:nvPr/>
        </p:nvSpPr>
        <p:spPr>
          <a:xfrm>
            <a:off x="365760" y="170992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Tout propos ou comportement à connotation sexuelle ou sexiste à l'encontre d'une personne sans son consentement.</a:t>
            </a:r>
            <a:endParaRPr lang="en-US" sz="880" dirty="0"/>
          </a:p>
        </p:txBody>
      </p:sp>
      <p:sp>
        <p:nvSpPr>
          <p:cNvPr id="15" name="Shape 13"/>
          <p:cNvSpPr/>
          <p:nvPr/>
        </p:nvSpPr>
        <p:spPr>
          <a:xfrm>
            <a:off x="274320" y="2359152"/>
            <a:ext cx="4160520" cy="18288"/>
          </a:xfrm>
          <a:prstGeom prst="rect">
            <a:avLst/>
          </a:prstGeom>
          <a:solidFill>
            <a:srgbClr val="D0DCE8"/>
          </a:solidFill>
          <a:ln w="12700">
            <a:solidFill>
              <a:srgbClr val="D0DCE8"/>
            </a:solidFill>
            <a:prstDash val="solid"/>
          </a:ln>
        </p:spPr>
        <p:txBody>
          <a:bodyPr/>
          <a:lstStyle/>
          <a:p>
            <a:endParaRPr lang="fr-FR"/>
          </a:p>
        </p:txBody>
      </p:sp>
      <p:sp>
        <p:nvSpPr>
          <p:cNvPr id="16" name="Text 14"/>
          <p:cNvSpPr/>
          <p:nvPr/>
        </p:nvSpPr>
        <p:spPr>
          <a:xfrm>
            <a:off x="365760" y="241401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propos désobligeants sur le genre dans la rue ou dans les transports, propositions sexuelles à un(e) inconnu(e) (outrage sexuel aggravé)</a:t>
            </a:r>
            <a:endParaRPr lang="en-US" sz="820" dirty="0"/>
          </a:p>
        </p:txBody>
      </p:sp>
      <p:sp>
        <p:nvSpPr>
          <p:cNvPr id="17" name="Shape 15"/>
          <p:cNvSpPr/>
          <p:nvPr/>
        </p:nvSpPr>
        <p:spPr>
          <a:xfrm>
            <a:off x="274320" y="2852928"/>
            <a:ext cx="4160520" cy="228600"/>
          </a:xfrm>
          <a:prstGeom prst="rect">
            <a:avLst/>
          </a:prstGeom>
          <a:solidFill>
            <a:srgbClr val="D4530A"/>
          </a:solidFill>
          <a:ln w="12700">
            <a:solidFill>
              <a:srgbClr val="D4530A"/>
            </a:solidFill>
            <a:prstDash val="solid"/>
          </a:ln>
        </p:spPr>
        <p:txBody>
          <a:bodyPr/>
          <a:lstStyle/>
          <a:p>
            <a:endParaRPr lang="fr-FR"/>
          </a:p>
        </p:txBody>
      </p:sp>
      <p:sp>
        <p:nvSpPr>
          <p:cNvPr id="18" name="Text 16"/>
          <p:cNvSpPr/>
          <p:nvPr/>
        </p:nvSpPr>
        <p:spPr>
          <a:xfrm>
            <a:off x="347472" y="285292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amende 3 750 €, voire plus. Si aggravé = DÉLIT.</a:t>
            </a:r>
            <a:endParaRPr lang="en-US" sz="850" dirty="0"/>
          </a:p>
        </p:txBody>
      </p:sp>
      <p:sp>
        <p:nvSpPr>
          <p:cNvPr id="19" name="Shape 17"/>
          <p:cNvSpPr/>
          <p:nvPr/>
        </p:nvSpPr>
        <p:spPr>
          <a:xfrm>
            <a:off x="4709160" y="1389888"/>
            <a:ext cx="4160520" cy="1691640"/>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4709160" y="1389888"/>
            <a:ext cx="4160520" cy="292608"/>
          </a:xfrm>
          <a:prstGeom prst="rect">
            <a:avLst/>
          </a:prstGeom>
          <a:solidFill>
            <a:srgbClr val="C0392B"/>
          </a:solidFill>
          <a:ln w="12700">
            <a:solidFill>
              <a:srgbClr val="C0392B"/>
            </a:solidFill>
            <a:prstDash val="solid"/>
          </a:ln>
        </p:spPr>
        <p:txBody>
          <a:bodyPr/>
          <a:lstStyle/>
          <a:p>
            <a:endParaRPr lang="fr-FR"/>
          </a:p>
        </p:txBody>
      </p:sp>
      <p:sp>
        <p:nvSpPr>
          <p:cNvPr id="21" name="Text 19"/>
          <p:cNvSpPr/>
          <p:nvPr/>
        </p:nvSpPr>
        <p:spPr>
          <a:xfrm>
            <a:off x="478231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AGRESSION SEXUELLE</a:t>
            </a:r>
            <a:endParaRPr lang="en-US" sz="950" dirty="0"/>
          </a:p>
        </p:txBody>
      </p:sp>
      <p:sp>
        <p:nvSpPr>
          <p:cNvPr id="22" name="Text 20"/>
          <p:cNvSpPr/>
          <p:nvPr/>
        </p:nvSpPr>
        <p:spPr>
          <a:xfrm>
            <a:off x="4800600" y="170992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Atteinte sexuelle commise sur une personne avec violence, contrainte, menace ou surprise, SANS son consentement.</a:t>
            </a:r>
            <a:endParaRPr lang="en-US" sz="880" dirty="0"/>
          </a:p>
        </p:txBody>
      </p:sp>
      <p:sp>
        <p:nvSpPr>
          <p:cNvPr id="23" name="Shape 21"/>
          <p:cNvSpPr/>
          <p:nvPr/>
        </p:nvSpPr>
        <p:spPr>
          <a:xfrm>
            <a:off x="4709160" y="2359152"/>
            <a:ext cx="4160520" cy="18288"/>
          </a:xfrm>
          <a:prstGeom prst="rect">
            <a:avLst/>
          </a:prstGeom>
          <a:solidFill>
            <a:srgbClr val="D0DCE8"/>
          </a:solidFill>
          <a:ln w="12700">
            <a:solidFill>
              <a:srgbClr val="D0DCE8"/>
            </a:solidFill>
            <a:prstDash val="solid"/>
          </a:ln>
        </p:spPr>
        <p:txBody>
          <a:bodyPr/>
          <a:lstStyle/>
          <a:p>
            <a:endParaRPr lang="fr-FR"/>
          </a:p>
        </p:txBody>
      </p:sp>
      <p:sp>
        <p:nvSpPr>
          <p:cNvPr id="24" name="Text 22"/>
          <p:cNvSpPr/>
          <p:nvPr/>
        </p:nvSpPr>
        <p:spPr>
          <a:xfrm>
            <a:off x="4800600" y="241401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attouchements commis avec violence, attouchements imposés dans un lieu fermé sans être frappée, attouchements imposés par un supérieur à la suite d'un harcèlement</a:t>
            </a:r>
            <a:endParaRPr lang="en-US" sz="820" dirty="0"/>
          </a:p>
        </p:txBody>
      </p:sp>
      <p:sp>
        <p:nvSpPr>
          <p:cNvPr id="25" name="Shape 23"/>
          <p:cNvSpPr/>
          <p:nvPr/>
        </p:nvSpPr>
        <p:spPr>
          <a:xfrm>
            <a:off x="4709160" y="2852928"/>
            <a:ext cx="4160520" cy="228600"/>
          </a:xfrm>
          <a:prstGeom prst="rect">
            <a:avLst/>
          </a:prstGeom>
          <a:solidFill>
            <a:srgbClr val="C0392B"/>
          </a:solidFill>
          <a:ln w="12700">
            <a:solidFill>
              <a:srgbClr val="C0392B"/>
            </a:solidFill>
            <a:prstDash val="solid"/>
          </a:ln>
        </p:spPr>
        <p:txBody>
          <a:bodyPr/>
          <a:lstStyle/>
          <a:p>
            <a:endParaRPr lang="fr-FR"/>
          </a:p>
        </p:txBody>
      </p:sp>
      <p:sp>
        <p:nvSpPr>
          <p:cNvPr id="26" name="Text 24"/>
          <p:cNvSpPr/>
          <p:nvPr/>
        </p:nvSpPr>
        <p:spPr>
          <a:xfrm>
            <a:off x="4782312" y="285292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jusqu'à 5 ans d'emprisonnement et 75 000 €, voire plus.</a:t>
            </a:r>
            <a:endParaRPr lang="en-US" sz="850" dirty="0"/>
          </a:p>
        </p:txBody>
      </p:sp>
      <p:sp>
        <p:nvSpPr>
          <p:cNvPr id="27" name="Shape 25"/>
          <p:cNvSpPr/>
          <p:nvPr/>
        </p:nvSpPr>
        <p:spPr>
          <a:xfrm>
            <a:off x="274320" y="3172968"/>
            <a:ext cx="4160520" cy="1691640"/>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274320" y="3172968"/>
            <a:ext cx="4160520" cy="292608"/>
          </a:xfrm>
          <a:prstGeom prst="rect">
            <a:avLst/>
          </a:prstGeom>
          <a:solidFill>
            <a:srgbClr val="8B0000"/>
          </a:solidFill>
          <a:ln w="12700">
            <a:solidFill>
              <a:srgbClr val="8B0000"/>
            </a:solidFill>
            <a:prstDash val="solid"/>
          </a:ln>
        </p:spPr>
        <p:txBody>
          <a:bodyPr/>
          <a:lstStyle/>
          <a:p>
            <a:endParaRPr lang="fr-FR"/>
          </a:p>
        </p:txBody>
      </p:sp>
      <p:sp>
        <p:nvSpPr>
          <p:cNvPr id="29" name="Text 27"/>
          <p:cNvSpPr/>
          <p:nvPr/>
        </p:nvSpPr>
        <p:spPr>
          <a:xfrm>
            <a:off x="347472" y="31729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HARCÈLEMENT SEXUEL</a:t>
            </a:r>
            <a:endParaRPr lang="en-US" sz="950" dirty="0"/>
          </a:p>
        </p:txBody>
      </p:sp>
      <p:sp>
        <p:nvSpPr>
          <p:cNvPr id="30" name="Text 28"/>
          <p:cNvSpPr/>
          <p:nvPr/>
        </p:nvSpPr>
        <p:spPr>
          <a:xfrm>
            <a:off x="365760" y="349300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Le fait d'imposer à une personne, de façon RÉPÉTÉE, des propos ou comportements à connotation sexuelle ou sexiste sans son consentement.</a:t>
            </a:r>
            <a:endParaRPr lang="en-US" sz="880" dirty="0"/>
          </a:p>
        </p:txBody>
      </p:sp>
      <p:sp>
        <p:nvSpPr>
          <p:cNvPr id="31" name="Shape 29"/>
          <p:cNvSpPr/>
          <p:nvPr/>
        </p:nvSpPr>
        <p:spPr>
          <a:xfrm>
            <a:off x="274320" y="4142232"/>
            <a:ext cx="4160520" cy="18288"/>
          </a:xfrm>
          <a:prstGeom prst="rect">
            <a:avLst/>
          </a:prstGeom>
          <a:solidFill>
            <a:srgbClr val="D0DCE8"/>
          </a:solidFill>
          <a:ln w="12700">
            <a:solidFill>
              <a:srgbClr val="D0DCE8"/>
            </a:solidFill>
            <a:prstDash val="solid"/>
          </a:ln>
        </p:spPr>
        <p:txBody>
          <a:bodyPr/>
          <a:lstStyle/>
          <a:p>
            <a:endParaRPr lang="fr-FR"/>
          </a:p>
        </p:txBody>
      </p:sp>
      <p:sp>
        <p:nvSpPr>
          <p:cNvPr id="32" name="Text 30"/>
          <p:cNvSpPr/>
          <p:nvPr/>
        </p:nvSpPr>
        <p:spPr>
          <a:xfrm>
            <a:off x="365760" y="419709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réflexions répétées sur votre corps, sifflements, remarques dégradantes sur l'orientation sexuelle, blagues obscènes et vulgaires répétées</a:t>
            </a:r>
            <a:endParaRPr lang="en-US" sz="820" dirty="0"/>
          </a:p>
        </p:txBody>
      </p:sp>
      <p:sp>
        <p:nvSpPr>
          <p:cNvPr id="33" name="Shape 31"/>
          <p:cNvSpPr/>
          <p:nvPr/>
        </p:nvSpPr>
        <p:spPr>
          <a:xfrm>
            <a:off x="274320" y="4636008"/>
            <a:ext cx="4160520" cy="228600"/>
          </a:xfrm>
          <a:prstGeom prst="rect">
            <a:avLst/>
          </a:prstGeom>
          <a:solidFill>
            <a:srgbClr val="8B0000"/>
          </a:solidFill>
          <a:ln w="12700">
            <a:solidFill>
              <a:srgbClr val="8B0000"/>
            </a:solidFill>
            <a:prstDash val="solid"/>
          </a:ln>
        </p:spPr>
        <p:txBody>
          <a:bodyPr/>
          <a:lstStyle/>
          <a:p>
            <a:endParaRPr lang="fr-FR"/>
          </a:p>
        </p:txBody>
      </p:sp>
      <p:sp>
        <p:nvSpPr>
          <p:cNvPr id="34" name="Text 32"/>
          <p:cNvSpPr/>
          <p:nvPr/>
        </p:nvSpPr>
        <p:spPr>
          <a:xfrm>
            <a:off x="347472" y="463600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délit — 2 ans d'emprisonnement et 30 000 €, voire plus.</a:t>
            </a:r>
            <a:endParaRPr lang="en-US" sz="850" dirty="0"/>
          </a:p>
        </p:txBody>
      </p:sp>
      <p:sp>
        <p:nvSpPr>
          <p:cNvPr id="35" name="Shape 33"/>
          <p:cNvSpPr/>
          <p:nvPr/>
        </p:nvSpPr>
        <p:spPr>
          <a:xfrm>
            <a:off x="4709160" y="3172968"/>
            <a:ext cx="4160520" cy="1691640"/>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4709160" y="3172968"/>
            <a:ext cx="4160520" cy="292608"/>
          </a:xfrm>
          <a:prstGeom prst="rect">
            <a:avLst/>
          </a:prstGeom>
          <a:solidFill>
            <a:srgbClr val="1A3A5C"/>
          </a:solidFill>
          <a:ln w="12700">
            <a:solidFill>
              <a:srgbClr val="1A3A5C"/>
            </a:solidFill>
            <a:prstDash val="solid"/>
          </a:ln>
        </p:spPr>
        <p:txBody>
          <a:bodyPr/>
          <a:lstStyle/>
          <a:p>
            <a:endParaRPr lang="fr-FR"/>
          </a:p>
        </p:txBody>
      </p:sp>
      <p:sp>
        <p:nvSpPr>
          <p:cNvPr id="37" name="Text 35"/>
          <p:cNvSpPr/>
          <p:nvPr/>
        </p:nvSpPr>
        <p:spPr>
          <a:xfrm>
            <a:off x="4782312" y="31729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VIOL</a:t>
            </a:r>
            <a:endParaRPr lang="en-US" sz="950" dirty="0"/>
          </a:p>
        </p:txBody>
      </p:sp>
      <p:sp>
        <p:nvSpPr>
          <p:cNvPr id="38" name="Text 36"/>
          <p:cNvSpPr/>
          <p:nvPr/>
        </p:nvSpPr>
        <p:spPr>
          <a:xfrm>
            <a:off x="4800600" y="349300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Acte de pénétration sexuelle ou acte bucco-génital commis sur une personne avec violence, contrainte, menace ou surprise, SANS son consentement.</a:t>
            </a:r>
            <a:endParaRPr lang="en-US" sz="880" dirty="0"/>
          </a:p>
        </p:txBody>
      </p:sp>
      <p:sp>
        <p:nvSpPr>
          <p:cNvPr id="39" name="Shape 37"/>
          <p:cNvSpPr/>
          <p:nvPr/>
        </p:nvSpPr>
        <p:spPr>
          <a:xfrm>
            <a:off x="4709160" y="4142232"/>
            <a:ext cx="4160520" cy="18288"/>
          </a:xfrm>
          <a:prstGeom prst="rect">
            <a:avLst/>
          </a:prstGeom>
          <a:solidFill>
            <a:srgbClr val="D0DCE8"/>
          </a:solidFill>
          <a:ln w="12700">
            <a:solidFill>
              <a:srgbClr val="D0DCE8"/>
            </a:solidFill>
            <a:prstDash val="solid"/>
          </a:ln>
        </p:spPr>
        <p:txBody>
          <a:bodyPr/>
          <a:lstStyle/>
          <a:p>
            <a:endParaRPr lang="fr-FR"/>
          </a:p>
        </p:txBody>
      </p:sp>
      <p:sp>
        <p:nvSpPr>
          <p:cNvPr id="40" name="Text 38"/>
          <p:cNvSpPr/>
          <p:nvPr/>
        </p:nvSpPr>
        <p:spPr>
          <a:xfrm>
            <a:off x="4800600" y="419709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acte de pénétration imposé avec violence, avec contrainte physique (retenu de force), avec menace (agresseur armé)</a:t>
            </a:r>
            <a:endParaRPr lang="en-US" sz="820" dirty="0"/>
          </a:p>
        </p:txBody>
      </p:sp>
      <p:sp>
        <p:nvSpPr>
          <p:cNvPr id="41" name="Shape 39"/>
          <p:cNvSpPr/>
          <p:nvPr/>
        </p:nvSpPr>
        <p:spPr>
          <a:xfrm>
            <a:off x="4709160" y="4636008"/>
            <a:ext cx="4160520" cy="228600"/>
          </a:xfrm>
          <a:prstGeom prst="rect">
            <a:avLst/>
          </a:prstGeom>
          <a:solidFill>
            <a:srgbClr val="1A3A5C"/>
          </a:solidFill>
          <a:ln w="12700">
            <a:solidFill>
              <a:srgbClr val="1A3A5C"/>
            </a:solidFill>
            <a:prstDash val="solid"/>
          </a:ln>
        </p:spPr>
        <p:txBody>
          <a:bodyPr/>
          <a:lstStyle/>
          <a:p>
            <a:endParaRPr lang="fr-FR"/>
          </a:p>
        </p:txBody>
      </p:sp>
      <p:sp>
        <p:nvSpPr>
          <p:cNvPr id="42" name="Text 40"/>
          <p:cNvSpPr/>
          <p:nvPr/>
        </p:nvSpPr>
        <p:spPr>
          <a:xfrm>
            <a:off x="4782312" y="463600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CRIME — jusqu'à 15 ans de réclusion criminelle, voire plus.</a:t>
            </a:r>
            <a:endParaRPr lang="en-US" sz="850" dirty="0"/>
          </a:p>
        </p:txBody>
      </p:sp>
      <p:sp>
        <p:nvSpPr>
          <p:cNvPr id="43" name="Rectangle 4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4" name="Rectangle 4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discriminations — Article 225-1 du Code pénal</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Critères protégés, peines encourues et acteurs de prévention</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59/88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LES DISCRIMINATIONS — Article 225-1 du Code pénal</a:t>
            </a:r>
            <a:endParaRPr lang="en-US" sz="1200" dirty="0"/>
          </a:p>
        </p:txBody>
      </p:sp>
      <p:sp>
        <p:nvSpPr>
          <p:cNvPr id="11" name="Shape 9"/>
          <p:cNvSpPr/>
          <p:nvPr/>
        </p:nvSpPr>
        <p:spPr>
          <a:xfrm>
            <a:off x="274320" y="1389888"/>
            <a:ext cx="8595360" cy="566928"/>
          </a:xfrm>
          <a:prstGeom prst="rect">
            <a:avLst/>
          </a:prstGeom>
          <a:solidFill>
            <a:srgbClr val="EBF3FC"/>
          </a:solidFill>
          <a:ln w="19050">
            <a:solidFill>
              <a:srgbClr val="2860A8"/>
            </a:solidFill>
            <a:prstDash val="solid"/>
          </a:ln>
        </p:spPr>
        <p:txBody>
          <a:bodyPr/>
          <a:lstStyle/>
          <a:p>
            <a:endParaRPr lang="fr-FR"/>
          </a:p>
        </p:txBody>
      </p:sp>
      <p:sp>
        <p:nvSpPr>
          <p:cNvPr id="12" name="Shape 10"/>
          <p:cNvSpPr/>
          <p:nvPr/>
        </p:nvSpPr>
        <p:spPr>
          <a:xfrm>
            <a:off x="274320" y="1389888"/>
            <a:ext cx="54864" cy="56692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389888"/>
            <a:ext cx="8229600" cy="566928"/>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La discrimination est le fait de traiter une personne moins favorablement qu'une autre en raison de son appartenance ou non-appartenance à une catégorie protégée. En T3P, le refus de prise en charge d'un client pour l'un de ces motifs est une discrimination punissable.</a:t>
            </a:r>
            <a:endParaRPr lang="en-US" sz="950" dirty="0"/>
          </a:p>
        </p:txBody>
      </p:sp>
      <p:sp>
        <p:nvSpPr>
          <p:cNvPr id="14" name="Shape 12"/>
          <p:cNvSpPr/>
          <p:nvPr/>
        </p:nvSpPr>
        <p:spPr>
          <a:xfrm>
            <a:off x="274320" y="2029968"/>
            <a:ext cx="8595360" cy="292608"/>
          </a:xfrm>
          <a:prstGeom prst="rect">
            <a:avLst/>
          </a:prstGeom>
          <a:solidFill>
            <a:srgbClr val="1A3A5C"/>
          </a:solidFill>
          <a:ln w="12700">
            <a:solidFill>
              <a:srgbClr val="1A3A5C"/>
            </a:solidFill>
            <a:prstDash val="solid"/>
          </a:ln>
        </p:spPr>
        <p:txBody>
          <a:bodyPr/>
          <a:lstStyle/>
          <a:p>
            <a:endParaRPr lang="fr-FR"/>
          </a:p>
        </p:txBody>
      </p:sp>
      <p:sp>
        <p:nvSpPr>
          <p:cNvPr id="15" name="Text 13"/>
          <p:cNvSpPr/>
          <p:nvPr/>
        </p:nvSpPr>
        <p:spPr>
          <a:xfrm>
            <a:off x="274320" y="2029968"/>
            <a:ext cx="859536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CRITÈRES DISCRIMINATOIRES LISTÉS — Art. 225-1 Code pénal</a:t>
            </a:r>
            <a:endParaRPr lang="en-US" sz="1000" dirty="0"/>
          </a:p>
        </p:txBody>
      </p:sp>
      <p:sp>
        <p:nvSpPr>
          <p:cNvPr id="16" name="Shape 14"/>
          <p:cNvSpPr/>
          <p:nvPr/>
        </p:nvSpPr>
        <p:spPr>
          <a:xfrm>
            <a:off x="274320" y="2395728"/>
            <a:ext cx="2743200" cy="347472"/>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395728"/>
            <a:ext cx="228600" cy="347472"/>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395728"/>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p:cNvSpPr/>
          <p:nvPr/>
        </p:nvSpPr>
        <p:spPr>
          <a:xfrm>
            <a:off x="548640" y="2432304"/>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Origine</a:t>
            </a:r>
            <a:endParaRPr lang="en-US" sz="850" dirty="0"/>
          </a:p>
        </p:txBody>
      </p:sp>
      <p:sp>
        <p:nvSpPr>
          <p:cNvPr id="20" name="Shape 18"/>
          <p:cNvSpPr/>
          <p:nvPr/>
        </p:nvSpPr>
        <p:spPr>
          <a:xfrm>
            <a:off x="3154680" y="2395728"/>
            <a:ext cx="2743200" cy="347472"/>
          </a:xfrm>
          <a:prstGeom prst="rect">
            <a:avLst/>
          </a:prstGeom>
          <a:solidFill>
            <a:srgbClr val="FFFFFF"/>
          </a:solidFill>
          <a:ln w="6350">
            <a:solidFill>
              <a:srgbClr val="D0DCE8"/>
            </a:solidFill>
            <a:prstDash val="solid"/>
          </a:ln>
        </p:spPr>
        <p:txBody>
          <a:bodyPr/>
          <a:lstStyle/>
          <a:p>
            <a:endParaRPr lang="fr-FR"/>
          </a:p>
        </p:txBody>
      </p:sp>
      <p:sp>
        <p:nvSpPr>
          <p:cNvPr id="21" name="Shape 19"/>
          <p:cNvSpPr/>
          <p:nvPr/>
        </p:nvSpPr>
        <p:spPr>
          <a:xfrm>
            <a:off x="3154680" y="2395728"/>
            <a:ext cx="228600" cy="347472"/>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3154680" y="2395728"/>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3" name="Text 21"/>
          <p:cNvSpPr/>
          <p:nvPr/>
        </p:nvSpPr>
        <p:spPr>
          <a:xfrm>
            <a:off x="3429000" y="2432304"/>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Sexe</a:t>
            </a:r>
            <a:endParaRPr lang="en-US" sz="850" dirty="0"/>
          </a:p>
        </p:txBody>
      </p:sp>
      <p:sp>
        <p:nvSpPr>
          <p:cNvPr id="24" name="Shape 22"/>
          <p:cNvSpPr/>
          <p:nvPr/>
        </p:nvSpPr>
        <p:spPr>
          <a:xfrm>
            <a:off x="6035040" y="2395728"/>
            <a:ext cx="2743200" cy="347472"/>
          </a:xfrm>
          <a:prstGeom prst="rect">
            <a:avLst/>
          </a:prstGeom>
          <a:solidFill>
            <a:srgbClr val="E8F1FA"/>
          </a:solidFill>
          <a:ln w="6350">
            <a:solidFill>
              <a:srgbClr val="D0DCE8"/>
            </a:solidFill>
            <a:prstDash val="solid"/>
          </a:ln>
        </p:spPr>
        <p:txBody>
          <a:bodyPr/>
          <a:lstStyle/>
          <a:p>
            <a:endParaRPr lang="fr-FR"/>
          </a:p>
        </p:txBody>
      </p:sp>
      <p:sp>
        <p:nvSpPr>
          <p:cNvPr id="25" name="Shape 23"/>
          <p:cNvSpPr/>
          <p:nvPr/>
        </p:nvSpPr>
        <p:spPr>
          <a:xfrm>
            <a:off x="6035040" y="2395728"/>
            <a:ext cx="228600" cy="347472"/>
          </a:xfrm>
          <a:prstGeom prst="rect">
            <a:avLst/>
          </a:prstGeom>
          <a:solidFill>
            <a:srgbClr val="2860A8"/>
          </a:solidFill>
          <a:ln w="12700">
            <a:solidFill>
              <a:srgbClr val="2860A8"/>
            </a:solidFill>
            <a:prstDash val="solid"/>
          </a:ln>
        </p:spPr>
        <p:txBody>
          <a:bodyPr/>
          <a:lstStyle/>
          <a:p>
            <a:endParaRPr lang="fr-FR"/>
          </a:p>
        </p:txBody>
      </p:sp>
      <p:sp>
        <p:nvSpPr>
          <p:cNvPr id="26" name="Text 24"/>
          <p:cNvSpPr/>
          <p:nvPr/>
        </p:nvSpPr>
        <p:spPr>
          <a:xfrm>
            <a:off x="6035040" y="2395728"/>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5"/>
          <p:cNvSpPr/>
          <p:nvPr/>
        </p:nvSpPr>
        <p:spPr>
          <a:xfrm>
            <a:off x="6309360" y="2432304"/>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Situation de famille</a:t>
            </a:r>
            <a:endParaRPr lang="en-US" sz="850" dirty="0"/>
          </a:p>
        </p:txBody>
      </p:sp>
      <p:sp>
        <p:nvSpPr>
          <p:cNvPr id="28" name="Shape 26"/>
          <p:cNvSpPr/>
          <p:nvPr/>
        </p:nvSpPr>
        <p:spPr>
          <a:xfrm>
            <a:off x="274320" y="2779776"/>
            <a:ext cx="2743200" cy="347472"/>
          </a:xfrm>
          <a:prstGeom prst="rect">
            <a:avLst/>
          </a:prstGeom>
          <a:solidFill>
            <a:srgbClr val="FFFFFF"/>
          </a:solidFill>
          <a:ln w="6350">
            <a:solidFill>
              <a:srgbClr val="D0DCE8"/>
            </a:solidFill>
            <a:prstDash val="solid"/>
          </a:ln>
        </p:spPr>
        <p:txBody>
          <a:bodyPr/>
          <a:lstStyle/>
          <a:p>
            <a:endParaRPr lang="fr-FR"/>
          </a:p>
        </p:txBody>
      </p:sp>
      <p:sp>
        <p:nvSpPr>
          <p:cNvPr id="29" name="Shape 27"/>
          <p:cNvSpPr/>
          <p:nvPr/>
        </p:nvSpPr>
        <p:spPr>
          <a:xfrm>
            <a:off x="274320" y="2779776"/>
            <a:ext cx="228600" cy="347472"/>
          </a:xfrm>
          <a:prstGeom prst="rect">
            <a:avLst/>
          </a:prstGeom>
          <a:solidFill>
            <a:srgbClr val="2860A8"/>
          </a:solidFill>
          <a:ln w="12700">
            <a:solidFill>
              <a:srgbClr val="2860A8"/>
            </a:solidFill>
            <a:prstDash val="solid"/>
          </a:ln>
        </p:spPr>
        <p:txBody>
          <a:bodyPr/>
          <a:lstStyle/>
          <a:p>
            <a:endParaRPr lang="fr-FR"/>
          </a:p>
        </p:txBody>
      </p:sp>
      <p:sp>
        <p:nvSpPr>
          <p:cNvPr id="30" name="Text 28"/>
          <p:cNvSpPr/>
          <p:nvPr/>
        </p:nvSpPr>
        <p:spPr>
          <a:xfrm>
            <a:off x="274320" y="2779776"/>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1" name="Text 29"/>
          <p:cNvSpPr/>
          <p:nvPr/>
        </p:nvSpPr>
        <p:spPr>
          <a:xfrm>
            <a:off x="548640" y="2816352"/>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Grossesse</a:t>
            </a:r>
            <a:endParaRPr lang="en-US" sz="850" dirty="0"/>
          </a:p>
        </p:txBody>
      </p:sp>
      <p:sp>
        <p:nvSpPr>
          <p:cNvPr id="32" name="Shape 30"/>
          <p:cNvSpPr/>
          <p:nvPr/>
        </p:nvSpPr>
        <p:spPr>
          <a:xfrm>
            <a:off x="3154680" y="2779776"/>
            <a:ext cx="2743200" cy="347472"/>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3154680" y="2779776"/>
            <a:ext cx="228600" cy="347472"/>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3154680" y="2779776"/>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5" name="Text 33"/>
          <p:cNvSpPr/>
          <p:nvPr/>
        </p:nvSpPr>
        <p:spPr>
          <a:xfrm>
            <a:off x="3429000" y="2816352"/>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Apparence physique</a:t>
            </a:r>
            <a:endParaRPr lang="en-US" sz="850" dirty="0"/>
          </a:p>
        </p:txBody>
      </p:sp>
      <p:sp>
        <p:nvSpPr>
          <p:cNvPr id="36" name="Shape 34"/>
          <p:cNvSpPr/>
          <p:nvPr/>
        </p:nvSpPr>
        <p:spPr>
          <a:xfrm>
            <a:off x="6035040" y="2779776"/>
            <a:ext cx="2743200" cy="347472"/>
          </a:xfrm>
          <a:prstGeom prst="rect">
            <a:avLst/>
          </a:prstGeom>
          <a:solidFill>
            <a:srgbClr val="FFFFFF"/>
          </a:solidFill>
          <a:ln w="6350">
            <a:solidFill>
              <a:srgbClr val="D0DCE8"/>
            </a:solidFill>
            <a:prstDash val="solid"/>
          </a:ln>
        </p:spPr>
        <p:txBody>
          <a:bodyPr/>
          <a:lstStyle/>
          <a:p>
            <a:endParaRPr lang="fr-FR"/>
          </a:p>
        </p:txBody>
      </p:sp>
      <p:sp>
        <p:nvSpPr>
          <p:cNvPr id="37" name="Shape 35"/>
          <p:cNvSpPr/>
          <p:nvPr/>
        </p:nvSpPr>
        <p:spPr>
          <a:xfrm>
            <a:off x="6035040" y="2779776"/>
            <a:ext cx="228600" cy="347472"/>
          </a:xfrm>
          <a:prstGeom prst="rect">
            <a:avLst/>
          </a:prstGeom>
          <a:solidFill>
            <a:srgbClr val="2860A8"/>
          </a:solidFill>
          <a:ln w="12700">
            <a:solidFill>
              <a:srgbClr val="2860A8"/>
            </a:solidFill>
            <a:prstDash val="solid"/>
          </a:ln>
        </p:spPr>
        <p:txBody>
          <a:bodyPr/>
          <a:lstStyle/>
          <a:p>
            <a:endParaRPr lang="fr-FR"/>
          </a:p>
        </p:txBody>
      </p:sp>
      <p:sp>
        <p:nvSpPr>
          <p:cNvPr id="38" name="Text 36"/>
          <p:cNvSpPr/>
          <p:nvPr/>
        </p:nvSpPr>
        <p:spPr>
          <a:xfrm>
            <a:off x="6035040" y="2779776"/>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9" name="Text 37"/>
          <p:cNvSpPr/>
          <p:nvPr/>
        </p:nvSpPr>
        <p:spPr>
          <a:xfrm>
            <a:off x="6309360" y="2816352"/>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Particulière vulnérabilité résultant de la situation économique</a:t>
            </a:r>
            <a:endParaRPr lang="en-US" sz="850" dirty="0"/>
          </a:p>
        </p:txBody>
      </p:sp>
      <p:sp>
        <p:nvSpPr>
          <p:cNvPr id="40" name="Shape 38"/>
          <p:cNvSpPr/>
          <p:nvPr/>
        </p:nvSpPr>
        <p:spPr>
          <a:xfrm>
            <a:off x="274320" y="3163824"/>
            <a:ext cx="2743200" cy="347472"/>
          </a:xfrm>
          <a:prstGeom prst="rect">
            <a:avLst/>
          </a:prstGeom>
          <a:solidFill>
            <a:srgbClr val="E8F1FA"/>
          </a:solidFill>
          <a:ln w="6350">
            <a:solidFill>
              <a:srgbClr val="D0DCE8"/>
            </a:solidFill>
            <a:prstDash val="solid"/>
          </a:ln>
        </p:spPr>
        <p:txBody>
          <a:bodyPr/>
          <a:lstStyle/>
          <a:p>
            <a:endParaRPr lang="fr-FR"/>
          </a:p>
        </p:txBody>
      </p:sp>
      <p:sp>
        <p:nvSpPr>
          <p:cNvPr id="41" name="Shape 39"/>
          <p:cNvSpPr/>
          <p:nvPr/>
        </p:nvSpPr>
        <p:spPr>
          <a:xfrm>
            <a:off x="274320" y="3163824"/>
            <a:ext cx="228600" cy="347472"/>
          </a:xfrm>
          <a:prstGeom prst="rect">
            <a:avLst/>
          </a:prstGeom>
          <a:solidFill>
            <a:srgbClr val="2860A8"/>
          </a:solidFill>
          <a:ln w="12700">
            <a:solidFill>
              <a:srgbClr val="2860A8"/>
            </a:solidFill>
            <a:prstDash val="solid"/>
          </a:ln>
        </p:spPr>
        <p:txBody>
          <a:bodyPr/>
          <a:lstStyle/>
          <a:p>
            <a:endParaRPr lang="fr-FR"/>
          </a:p>
        </p:txBody>
      </p:sp>
      <p:sp>
        <p:nvSpPr>
          <p:cNvPr id="42" name="Text 40"/>
          <p:cNvSpPr/>
          <p:nvPr/>
        </p:nvSpPr>
        <p:spPr>
          <a:xfrm>
            <a:off x="274320" y="3163824"/>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3" name="Text 41"/>
          <p:cNvSpPr/>
          <p:nvPr/>
        </p:nvSpPr>
        <p:spPr>
          <a:xfrm>
            <a:off x="548640" y="3200400"/>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Patronyme (nom de famille)</a:t>
            </a:r>
            <a:endParaRPr lang="en-US" sz="850" dirty="0"/>
          </a:p>
        </p:txBody>
      </p:sp>
      <p:sp>
        <p:nvSpPr>
          <p:cNvPr id="44" name="Shape 42"/>
          <p:cNvSpPr/>
          <p:nvPr/>
        </p:nvSpPr>
        <p:spPr>
          <a:xfrm>
            <a:off x="3154680" y="3163824"/>
            <a:ext cx="2743200" cy="347472"/>
          </a:xfrm>
          <a:prstGeom prst="rect">
            <a:avLst/>
          </a:prstGeom>
          <a:solidFill>
            <a:srgbClr val="FFFFFF"/>
          </a:solidFill>
          <a:ln w="6350">
            <a:solidFill>
              <a:srgbClr val="D0DCE8"/>
            </a:solidFill>
            <a:prstDash val="solid"/>
          </a:ln>
        </p:spPr>
        <p:txBody>
          <a:bodyPr/>
          <a:lstStyle/>
          <a:p>
            <a:endParaRPr lang="fr-FR"/>
          </a:p>
        </p:txBody>
      </p:sp>
      <p:sp>
        <p:nvSpPr>
          <p:cNvPr id="45" name="Shape 43"/>
          <p:cNvSpPr/>
          <p:nvPr/>
        </p:nvSpPr>
        <p:spPr>
          <a:xfrm>
            <a:off x="3154680" y="3163824"/>
            <a:ext cx="228600" cy="347472"/>
          </a:xfrm>
          <a:prstGeom prst="rect">
            <a:avLst/>
          </a:prstGeom>
          <a:solidFill>
            <a:srgbClr val="2860A8"/>
          </a:solidFill>
          <a:ln w="12700">
            <a:solidFill>
              <a:srgbClr val="2860A8"/>
            </a:solidFill>
            <a:prstDash val="solid"/>
          </a:ln>
        </p:spPr>
        <p:txBody>
          <a:bodyPr/>
          <a:lstStyle/>
          <a:p>
            <a:endParaRPr lang="fr-FR"/>
          </a:p>
        </p:txBody>
      </p:sp>
      <p:sp>
        <p:nvSpPr>
          <p:cNvPr id="46" name="Text 44"/>
          <p:cNvSpPr/>
          <p:nvPr/>
        </p:nvSpPr>
        <p:spPr>
          <a:xfrm>
            <a:off x="3154680" y="3163824"/>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7" name="Text 45"/>
          <p:cNvSpPr/>
          <p:nvPr/>
        </p:nvSpPr>
        <p:spPr>
          <a:xfrm>
            <a:off x="3429000" y="3200400"/>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Lieu de résidence</a:t>
            </a:r>
            <a:endParaRPr lang="en-US" sz="850" dirty="0"/>
          </a:p>
        </p:txBody>
      </p:sp>
      <p:sp>
        <p:nvSpPr>
          <p:cNvPr id="48" name="Shape 46"/>
          <p:cNvSpPr/>
          <p:nvPr/>
        </p:nvSpPr>
        <p:spPr>
          <a:xfrm>
            <a:off x="6035040" y="3163824"/>
            <a:ext cx="2743200" cy="347472"/>
          </a:xfrm>
          <a:prstGeom prst="rect">
            <a:avLst/>
          </a:prstGeom>
          <a:solidFill>
            <a:srgbClr val="E8F1FA"/>
          </a:solidFill>
          <a:ln w="6350">
            <a:solidFill>
              <a:srgbClr val="D0DCE8"/>
            </a:solidFill>
            <a:prstDash val="solid"/>
          </a:ln>
        </p:spPr>
        <p:txBody>
          <a:bodyPr/>
          <a:lstStyle/>
          <a:p>
            <a:endParaRPr lang="fr-FR"/>
          </a:p>
        </p:txBody>
      </p:sp>
      <p:sp>
        <p:nvSpPr>
          <p:cNvPr id="49" name="Shape 47"/>
          <p:cNvSpPr/>
          <p:nvPr/>
        </p:nvSpPr>
        <p:spPr>
          <a:xfrm>
            <a:off x="6035040" y="3163824"/>
            <a:ext cx="228600" cy="347472"/>
          </a:xfrm>
          <a:prstGeom prst="rect">
            <a:avLst/>
          </a:prstGeom>
          <a:solidFill>
            <a:srgbClr val="2860A8"/>
          </a:solidFill>
          <a:ln w="12700">
            <a:solidFill>
              <a:srgbClr val="2860A8"/>
            </a:solidFill>
            <a:prstDash val="solid"/>
          </a:ln>
        </p:spPr>
        <p:txBody>
          <a:bodyPr/>
          <a:lstStyle/>
          <a:p>
            <a:endParaRPr lang="fr-FR"/>
          </a:p>
        </p:txBody>
      </p:sp>
      <p:sp>
        <p:nvSpPr>
          <p:cNvPr id="50" name="Text 48"/>
          <p:cNvSpPr/>
          <p:nvPr/>
        </p:nvSpPr>
        <p:spPr>
          <a:xfrm>
            <a:off x="6035040" y="3163824"/>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1" name="Text 49"/>
          <p:cNvSpPr/>
          <p:nvPr/>
        </p:nvSpPr>
        <p:spPr>
          <a:xfrm>
            <a:off x="6309360" y="3200400"/>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État de santé</a:t>
            </a:r>
            <a:endParaRPr lang="en-US" sz="850" dirty="0"/>
          </a:p>
        </p:txBody>
      </p:sp>
      <p:sp>
        <p:nvSpPr>
          <p:cNvPr id="52" name="Shape 50"/>
          <p:cNvSpPr/>
          <p:nvPr/>
        </p:nvSpPr>
        <p:spPr>
          <a:xfrm>
            <a:off x="274320" y="3547872"/>
            <a:ext cx="2743200" cy="347472"/>
          </a:xfrm>
          <a:prstGeom prst="rect">
            <a:avLst/>
          </a:prstGeom>
          <a:solidFill>
            <a:srgbClr val="FFFFFF"/>
          </a:solidFill>
          <a:ln w="6350">
            <a:solidFill>
              <a:srgbClr val="D0DCE8"/>
            </a:solidFill>
            <a:prstDash val="solid"/>
          </a:ln>
        </p:spPr>
        <p:txBody>
          <a:bodyPr/>
          <a:lstStyle/>
          <a:p>
            <a:endParaRPr lang="fr-FR"/>
          </a:p>
        </p:txBody>
      </p:sp>
      <p:sp>
        <p:nvSpPr>
          <p:cNvPr id="53" name="Shape 51"/>
          <p:cNvSpPr/>
          <p:nvPr/>
        </p:nvSpPr>
        <p:spPr>
          <a:xfrm>
            <a:off x="274320" y="3547872"/>
            <a:ext cx="228600" cy="347472"/>
          </a:xfrm>
          <a:prstGeom prst="rect">
            <a:avLst/>
          </a:prstGeom>
          <a:solidFill>
            <a:srgbClr val="2860A8"/>
          </a:solidFill>
          <a:ln w="12700">
            <a:solidFill>
              <a:srgbClr val="2860A8"/>
            </a:solidFill>
            <a:prstDash val="solid"/>
          </a:ln>
        </p:spPr>
        <p:txBody>
          <a:bodyPr/>
          <a:lstStyle/>
          <a:p>
            <a:endParaRPr lang="fr-FR"/>
          </a:p>
        </p:txBody>
      </p:sp>
      <p:sp>
        <p:nvSpPr>
          <p:cNvPr id="54" name="Text 52"/>
          <p:cNvSpPr/>
          <p:nvPr/>
        </p:nvSpPr>
        <p:spPr>
          <a:xfrm>
            <a:off x="274320" y="3547872"/>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5" name="Text 53"/>
          <p:cNvSpPr/>
          <p:nvPr/>
        </p:nvSpPr>
        <p:spPr>
          <a:xfrm>
            <a:off x="548640" y="3584448"/>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Perte d'autonomie</a:t>
            </a:r>
            <a:endParaRPr lang="en-US" sz="850" dirty="0"/>
          </a:p>
        </p:txBody>
      </p:sp>
      <p:sp>
        <p:nvSpPr>
          <p:cNvPr id="56" name="Shape 54"/>
          <p:cNvSpPr/>
          <p:nvPr/>
        </p:nvSpPr>
        <p:spPr>
          <a:xfrm>
            <a:off x="3154680" y="3547872"/>
            <a:ext cx="2743200" cy="347472"/>
          </a:xfrm>
          <a:prstGeom prst="rect">
            <a:avLst/>
          </a:prstGeom>
          <a:solidFill>
            <a:srgbClr val="E8F1FA"/>
          </a:solidFill>
          <a:ln w="6350">
            <a:solidFill>
              <a:srgbClr val="D0DCE8"/>
            </a:solidFill>
            <a:prstDash val="solid"/>
          </a:ln>
        </p:spPr>
        <p:txBody>
          <a:bodyPr/>
          <a:lstStyle/>
          <a:p>
            <a:endParaRPr lang="fr-FR"/>
          </a:p>
        </p:txBody>
      </p:sp>
      <p:sp>
        <p:nvSpPr>
          <p:cNvPr id="57" name="Shape 55"/>
          <p:cNvSpPr/>
          <p:nvPr/>
        </p:nvSpPr>
        <p:spPr>
          <a:xfrm>
            <a:off x="3154680" y="3547872"/>
            <a:ext cx="228600" cy="347472"/>
          </a:xfrm>
          <a:prstGeom prst="rect">
            <a:avLst/>
          </a:prstGeom>
          <a:solidFill>
            <a:srgbClr val="2860A8"/>
          </a:solidFill>
          <a:ln w="12700">
            <a:solidFill>
              <a:srgbClr val="2860A8"/>
            </a:solidFill>
            <a:prstDash val="solid"/>
          </a:ln>
        </p:spPr>
        <p:txBody>
          <a:bodyPr/>
          <a:lstStyle/>
          <a:p>
            <a:endParaRPr lang="fr-FR"/>
          </a:p>
        </p:txBody>
      </p:sp>
      <p:sp>
        <p:nvSpPr>
          <p:cNvPr id="58" name="Text 56"/>
          <p:cNvSpPr/>
          <p:nvPr/>
        </p:nvSpPr>
        <p:spPr>
          <a:xfrm>
            <a:off x="3154680" y="3547872"/>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9" name="Text 57"/>
          <p:cNvSpPr/>
          <p:nvPr/>
        </p:nvSpPr>
        <p:spPr>
          <a:xfrm>
            <a:off x="3429000" y="3584448"/>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Handicap</a:t>
            </a:r>
            <a:endParaRPr lang="en-US" sz="850" dirty="0"/>
          </a:p>
        </p:txBody>
      </p:sp>
      <p:sp>
        <p:nvSpPr>
          <p:cNvPr id="60" name="Shape 58"/>
          <p:cNvSpPr/>
          <p:nvPr/>
        </p:nvSpPr>
        <p:spPr>
          <a:xfrm>
            <a:off x="6035040" y="3547872"/>
            <a:ext cx="2743200" cy="347472"/>
          </a:xfrm>
          <a:prstGeom prst="rect">
            <a:avLst/>
          </a:prstGeom>
          <a:solidFill>
            <a:srgbClr val="FFFFFF"/>
          </a:solidFill>
          <a:ln w="6350">
            <a:solidFill>
              <a:srgbClr val="D0DCE8"/>
            </a:solidFill>
            <a:prstDash val="solid"/>
          </a:ln>
        </p:spPr>
        <p:txBody>
          <a:bodyPr/>
          <a:lstStyle/>
          <a:p>
            <a:endParaRPr lang="fr-FR"/>
          </a:p>
        </p:txBody>
      </p:sp>
      <p:sp>
        <p:nvSpPr>
          <p:cNvPr id="61" name="Shape 59"/>
          <p:cNvSpPr/>
          <p:nvPr/>
        </p:nvSpPr>
        <p:spPr>
          <a:xfrm>
            <a:off x="6035040" y="3547872"/>
            <a:ext cx="228600" cy="347472"/>
          </a:xfrm>
          <a:prstGeom prst="rect">
            <a:avLst/>
          </a:prstGeom>
          <a:solidFill>
            <a:srgbClr val="2860A8"/>
          </a:solidFill>
          <a:ln w="12700">
            <a:solidFill>
              <a:srgbClr val="2860A8"/>
            </a:solidFill>
            <a:prstDash val="solid"/>
          </a:ln>
        </p:spPr>
        <p:txBody>
          <a:bodyPr/>
          <a:lstStyle/>
          <a:p>
            <a:endParaRPr lang="fr-FR"/>
          </a:p>
        </p:txBody>
      </p:sp>
      <p:sp>
        <p:nvSpPr>
          <p:cNvPr id="62" name="Text 60"/>
          <p:cNvSpPr/>
          <p:nvPr/>
        </p:nvSpPr>
        <p:spPr>
          <a:xfrm>
            <a:off x="6035040" y="3547872"/>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3" name="Text 61"/>
          <p:cNvSpPr/>
          <p:nvPr/>
        </p:nvSpPr>
        <p:spPr>
          <a:xfrm>
            <a:off x="6309360" y="3584448"/>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Caractéristiques génétiques</a:t>
            </a:r>
            <a:endParaRPr lang="en-US" sz="850" dirty="0"/>
          </a:p>
        </p:txBody>
      </p:sp>
      <p:sp>
        <p:nvSpPr>
          <p:cNvPr id="64" name="Shape 62"/>
          <p:cNvSpPr/>
          <p:nvPr/>
        </p:nvSpPr>
        <p:spPr>
          <a:xfrm>
            <a:off x="274320" y="3931920"/>
            <a:ext cx="8595360" cy="320040"/>
          </a:xfrm>
          <a:prstGeom prst="rect">
            <a:avLst/>
          </a:prstGeom>
          <a:solidFill>
            <a:srgbClr val="E8F1FA"/>
          </a:solidFill>
          <a:ln w="6350">
            <a:solidFill>
              <a:srgbClr val="D0DCE8"/>
            </a:solidFill>
            <a:prstDash val="solid"/>
          </a:ln>
        </p:spPr>
        <p:txBody>
          <a:bodyPr/>
          <a:lstStyle/>
          <a:p>
            <a:endParaRPr lang="fr-FR"/>
          </a:p>
        </p:txBody>
      </p:sp>
      <p:sp>
        <p:nvSpPr>
          <p:cNvPr id="65" name="Shape 63"/>
          <p:cNvSpPr/>
          <p:nvPr/>
        </p:nvSpPr>
        <p:spPr>
          <a:xfrm>
            <a:off x="274320" y="3931920"/>
            <a:ext cx="228600" cy="320040"/>
          </a:xfrm>
          <a:prstGeom prst="rect">
            <a:avLst/>
          </a:prstGeom>
          <a:solidFill>
            <a:srgbClr val="2860A8"/>
          </a:solidFill>
          <a:ln w="12700">
            <a:solidFill>
              <a:srgbClr val="2860A8"/>
            </a:solidFill>
            <a:prstDash val="solid"/>
          </a:ln>
        </p:spPr>
        <p:txBody>
          <a:bodyPr/>
          <a:lstStyle/>
          <a:p>
            <a:endParaRPr lang="fr-FR"/>
          </a:p>
        </p:txBody>
      </p:sp>
      <p:sp>
        <p:nvSpPr>
          <p:cNvPr id="66" name="Text 64"/>
          <p:cNvSpPr/>
          <p:nvPr/>
        </p:nvSpPr>
        <p:spPr>
          <a:xfrm>
            <a:off x="274320" y="3931920"/>
            <a:ext cx="228600" cy="32004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7" name="Text 65"/>
          <p:cNvSpPr/>
          <p:nvPr/>
        </p:nvSpPr>
        <p:spPr>
          <a:xfrm>
            <a:off x="566928" y="3950208"/>
            <a:ext cx="8211312"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Appartenance ou non-appartenance, vraie ou supposée, à une ethnie, une nation, une prétendue race ou une religion déterminée</a:t>
            </a:r>
            <a:endParaRPr lang="en-US" sz="850" dirty="0"/>
          </a:p>
        </p:txBody>
      </p:sp>
      <p:sp>
        <p:nvSpPr>
          <p:cNvPr id="68" name="Shape 66"/>
          <p:cNvSpPr/>
          <p:nvPr/>
        </p:nvSpPr>
        <p:spPr>
          <a:xfrm>
            <a:off x="274320" y="4315968"/>
            <a:ext cx="4160520" cy="292608"/>
          </a:xfrm>
          <a:prstGeom prst="rect">
            <a:avLst/>
          </a:prstGeom>
          <a:solidFill>
            <a:srgbClr val="C0392B"/>
          </a:solidFill>
          <a:ln w="12700">
            <a:solidFill>
              <a:srgbClr val="C0392B"/>
            </a:solidFill>
            <a:prstDash val="solid"/>
          </a:ln>
        </p:spPr>
        <p:txBody>
          <a:bodyPr/>
          <a:lstStyle/>
          <a:p>
            <a:endParaRPr lang="fr-FR"/>
          </a:p>
        </p:txBody>
      </p:sp>
      <p:sp>
        <p:nvSpPr>
          <p:cNvPr id="69" name="Text 67"/>
          <p:cNvSpPr/>
          <p:nvPr/>
        </p:nvSpPr>
        <p:spPr>
          <a:xfrm>
            <a:off x="274320" y="4315968"/>
            <a:ext cx="41605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PEINES ENCOURUES</a:t>
            </a:r>
            <a:endParaRPr lang="en-US" sz="1000" dirty="0"/>
          </a:p>
        </p:txBody>
      </p:sp>
      <p:sp>
        <p:nvSpPr>
          <p:cNvPr id="70" name="Shape 68"/>
          <p:cNvSpPr/>
          <p:nvPr/>
        </p:nvSpPr>
        <p:spPr>
          <a:xfrm>
            <a:off x="274320" y="4645152"/>
            <a:ext cx="4160520" cy="438912"/>
          </a:xfrm>
          <a:prstGeom prst="rect">
            <a:avLst/>
          </a:prstGeom>
          <a:solidFill>
            <a:srgbClr val="E8F1FA"/>
          </a:solidFill>
          <a:ln w="6350">
            <a:solidFill>
              <a:srgbClr val="D0DCE8"/>
            </a:solidFill>
            <a:prstDash val="solid"/>
          </a:ln>
        </p:spPr>
        <p:txBody>
          <a:bodyPr/>
          <a:lstStyle/>
          <a:p>
            <a:endParaRPr lang="fr-FR"/>
          </a:p>
        </p:txBody>
      </p:sp>
      <p:sp>
        <p:nvSpPr>
          <p:cNvPr id="71" name="Text 69"/>
          <p:cNvSpPr/>
          <p:nvPr/>
        </p:nvSpPr>
        <p:spPr>
          <a:xfrm>
            <a:off x="365760" y="4663440"/>
            <a:ext cx="3977640" cy="402336"/>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3 ans d'emprisonnement et 45 000 € d'amende</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Aggravé si commis en bande organisée ou en lieu public</a:t>
            </a:r>
            <a:endParaRPr lang="en-US" sz="950" dirty="0"/>
          </a:p>
        </p:txBody>
      </p:sp>
      <p:sp>
        <p:nvSpPr>
          <p:cNvPr id="72" name="Shape 70"/>
          <p:cNvSpPr/>
          <p:nvPr/>
        </p:nvSpPr>
        <p:spPr>
          <a:xfrm>
            <a:off x="4709160" y="4315968"/>
            <a:ext cx="4160520" cy="292608"/>
          </a:xfrm>
          <a:prstGeom prst="rect">
            <a:avLst/>
          </a:prstGeom>
          <a:solidFill>
            <a:srgbClr val="2860A8"/>
          </a:solidFill>
          <a:ln w="12700">
            <a:solidFill>
              <a:srgbClr val="2860A8"/>
            </a:solidFill>
            <a:prstDash val="solid"/>
          </a:ln>
        </p:spPr>
        <p:txBody>
          <a:bodyPr/>
          <a:lstStyle/>
          <a:p>
            <a:endParaRPr lang="fr-FR"/>
          </a:p>
        </p:txBody>
      </p:sp>
      <p:sp>
        <p:nvSpPr>
          <p:cNvPr id="73" name="Text 71"/>
          <p:cNvSpPr/>
          <p:nvPr/>
        </p:nvSpPr>
        <p:spPr>
          <a:xfrm>
            <a:off x="4709160" y="4315968"/>
            <a:ext cx="41605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ACTEURS DE PRÉVENTION</a:t>
            </a:r>
            <a:endParaRPr lang="en-US" sz="1000" dirty="0"/>
          </a:p>
        </p:txBody>
      </p:sp>
      <p:sp>
        <p:nvSpPr>
          <p:cNvPr id="74" name="Shape 72"/>
          <p:cNvSpPr/>
          <p:nvPr/>
        </p:nvSpPr>
        <p:spPr>
          <a:xfrm>
            <a:off x="4709160" y="4645152"/>
            <a:ext cx="4160520" cy="182880"/>
          </a:xfrm>
          <a:prstGeom prst="rect">
            <a:avLst/>
          </a:prstGeom>
          <a:solidFill>
            <a:srgbClr val="E8F1FA"/>
          </a:solidFill>
          <a:ln w="6350">
            <a:solidFill>
              <a:srgbClr val="D0DCE8"/>
            </a:solidFill>
            <a:prstDash val="solid"/>
          </a:ln>
        </p:spPr>
        <p:txBody>
          <a:bodyPr/>
          <a:lstStyle/>
          <a:p>
            <a:endParaRPr lang="fr-FR"/>
          </a:p>
        </p:txBody>
      </p:sp>
      <p:sp>
        <p:nvSpPr>
          <p:cNvPr id="75" name="Text 73"/>
          <p:cNvSpPr/>
          <p:nvPr/>
        </p:nvSpPr>
        <p:spPr>
          <a:xfrm>
            <a:off x="4800600" y="4663440"/>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Défenseur des droits : Traite les réclamations de discriminations — saisine gratuite</a:t>
            </a:r>
            <a:endParaRPr lang="en-US" sz="800" dirty="0"/>
          </a:p>
        </p:txBody>
      </p:sp>
      <p:sp>
        <p:nvSpPr>
          <p:cNvPr id="76" name="Shape 74"/>
          <p:cNvSpPr/>
          <p:nvPr/>
        </p:nvSpPr>
        <p:spPr>
          <a:xfrm>
            <a:off x="4709160" y="4864608"/>
            <a:ext cx="4160520" cy="182880"/>
          </a:xfrm>
          <a:prstGeom prst="rect">
            <a:avLst/>
          </a:prstGeom>
          <a:solidFill>
            <a:srgbClr val="FFFFFF"/>
          </a:solidFill>
          <a:ln w="6350">
            <a:solidFill>
              <a:srgbClr val="D0DCE8"/>
            </a:solidFill>
            <a:prstDash val="solid"/>
          </a:ln>
        </p:spPr>
        <p:txBody>
          <a:bodyPr/>
          <a:lstStyle/>
          <a:p>
            <a:endParaRPr lang="fr-FR"/>
          </a:p>
        </p:txBody>
      </p:sp>
      <p:sp>
        <p:nvSpPr>
          <p:cNvPr id="77" name="Text 75"/>
          <p:cNvSpPr/>
          <p:nvPr/>
        </p:nvSpPr>
        <p:spPr>
          <a:xfrm>
            <a:off x="4800600" y="4882896"/>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SOS Racisme / LICRA : Associations de lutte contre les discriminations racistes</a:t>
            </a:r>
            <a:endParaRPr lang="en-US" sz="800" dirty="0"/>
          </a:p>
        </p:txBody>
      </p:sp>
      <p:sp>
        <p:nvSpPr>
          <p:cNvPr id="78" name="Shape 76"/>
          <p:cNvSpPr/>
          <p:nvPr/>
        </p:nvSpPr>
        <p:spPr>
          <a:xfrm>
            <a:off x="4709160" y="5084064"/>
            <a:ext cx="4160520" cy="182880"/>
          </a:xfrm>
          <a:prstGeom prst="rect">
            <a:avLst/>
          </a:prstGeom>
          <a:solidFill>
            <a:srgbClr val="E8F1FA"/>
          </a:solidFill>
          <a:ln w="6350">
            <a:solidFill>
              <a:srgbClr val="D0DCE8"/>
            </a:solidFill>
            <a:prstDash val="solid"/>
          </a:ln>
        </p:spPr>
        <p:txBody>
          <a:bodyPr/>
          <a:lstStyle/>
          <a:p>
            <a:endParaRPr lang="fr-FR"/>
          </a:p>
        </p:txBody>
      </p:sp>
      <p:sp>
        <p:nvSpPr>
          <p:cNvPr id="79" name="Text 77"/>
          <p:cNvSpPr/>
          <p:nvPr/>
        </p:nvSpPr>
        <p:spPr>
          <a:xfrm>
            <a:off x="4800600" y="5102352"/>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Planning Familial : Lutte contre les discriminations sexuelles et sexistes</a:t>
            </a:r>
            <a:endParaRPr lang="en-US" sz="800" dirty="0"/>
          </a:p>
        </p:txBody>
      </p:sp>
      <p:sp>
        <p:nvSpPr>
          <p:cNvPr id="80" name="Shape 78"/>
          <p:cNvSpPr/>
          <p:nvPr/>
        </p:nvSpPr>
        <p:spPr>
          <a:xfrm>
            <a:off x="4709160" y="5303520"/>
            <a:ext cx="4160520" cy="182880"/>
          </a:xfrm>
          <a:prstGeom prst="rect">
            <a:avLst/>
          </a:prstGeom>
          <a:solidFill>
            <a:srgbClr val="FFFFFF"/>
          </a:solidFill>
          <a:ln w="6350">
            <a:solidFill>
              <a:srgbClr val="D0DCE8"/>
            </a:solidFill>
            <a:prstDash val="solid"/>
          </a:ln>
        </p:spPr>
        <p:txBody>
          <a:bodyPr/>
          <a:lstStyle/>
          <a:p>
            <a:endParaRPr lang="fr-FR"/>
          </a:p>
        </p:txBody>
      </p:sp>
      <p:sp>
        <p:nvSpPr>
          <p:cNvPr id="81" name="Text 79"/>
          <p:cNvSpPr/>
          <p:nvPr/>
        </p:nvSpPr>
        <p:spPr>
          <a:xfrm>
            <a:off x="4800600" y="5321808"/>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Police / Gendarmerie : Plainte en cas de discrimination pénale — OPJ compétents</a:t>
            </a:r>
            <a:endParaRPr lang="en-US" sz="800" dirty="0"/>
          </a:p>
        </p:txBody>
      </p:sp>
      <p:sp>
        <p:nvSpPr>
          <p:cNvPr id="82" name="Rectangle 8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83" name="Rectangle 8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Acteurs de prévention VSS — Qui contacter ?</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Interlocuteurs mobilisables en cas de violences sexuelles et sexistes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60/88</a:t>
            </a:r>
            <a:endParaRPr lang="en-US" sz="800" dirty="0"/>
          </a:p>
        </p:txBody>
      </p:sp>
      <p:sp>
        <p:nvSpPr>
          <p:cNvPr id="9" name="Shape 7"/>
          <p:cNvSpPr/>
          <p:nvPr/>
        </p:nvSpPr>
        <p:spPr>
          <a:xfrm>
            <a:off x="274320" y="960120"/>
            <a:ext cx="8595360" cy="347472"/>
          </a:xfrm>
          <a:prstGeom prst="rect">
            <a:avLst/>
          </a:prstGeom>
          <a:solidFill>
            <a:srgbClr val="8B0000"/>
          </a:solidFill>
          <a:ln w="12700">
            <a:solidFill>
              <a:srgbClr val="8B0000"/>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ACTEURS DE PRÉVENTION ET DE LUTTE CONTRE LES VSS</a:t>
            </a:r>
            <a:endParaRPr lang="en-US" sz="1200" dirty="0"/>
          </a:p>
        </p:txBody>
      </p:sp>
      <p:sp>
        <p:nvSpPr>
          <p:cNvPr id="11" name="Shape 9"/>
          <p:cNvSpPr/>
          <p:nvPr/>
        </p:nvSpPr>
        <p:spPr>
          <a:xfrm>
            <a:off x="274320" y="1389888"/>
            <a:ext cx="4160520" cy="114300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292608"/>
          </a:xfrm>
          <a:prstGeom prst="rect">
            <a:avLst/>
          </a:prstGeom>
          <a:solidFill>
            <a:srgbClr val="D4530A"/>
          </a:solidFill>
          <a:ln w="12700">
            <a:solidFill>
              <a:srgbClr val="D4530A"/>
            </a:solidFill>
            <a:prstDash val="solid"/>
          </a:ln>
        </p:spPr>
        <p:txBody>
          <a:bodyPr/>
          <a:lstStyle/>
          <a:p>
            <a:endParaRPr lang="fr-FR"/>
          </a:p>
        </p:txBody>
      </p:sp>
      <p:sp>
        <p:nvSpPr>
          <p:cNvPr id="13" name="Text 11"/>
          <p:cNvSpPr/>
          <p:nvPr/>
        </p:nvSpPr>
        <p:spPr>
          <a:xfrm>
            <a:off x="34747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3919 — Violences Femmes Info</a:t>
            </a:r>
            <a:endParaRPr lang="en-US" sz="950" dirty="0"/>
          </a:p>
        </p:txBody>
      </p:sp>
      <p:sp>
        <p:nvSpPr>
          <p:cNvPr id="14" name="Text 12"/>
          <p:cNvSpPr/>
          <p:nvPr/>
        </p:nvSpPr>
        <p:spPr>
          <a:xfrm>
            <a:off x="365760" y="170992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Numéro national d'écoute. Gratuit, anonyme, 24h/24. Pour les victimes, témoins ou proches. Mis en place par le gouvernement.</a:t>
            </a:r>
            <a:endParaRPr lang="en-US" sz="880" dirty="0"/>
          </a:p>
        </p:txBody>
      </p:sp>
      <p:sp>
        <p:nvSpPr>
          <p:cNvPr id="15" name="Shape 13"/>
          <p:cNvSpPr/>
          <p:nvPr/>
        </p:nvSpPr>
        <p:spPr>
          <a:xfrm>
            <a:off x="274320" y="2286000"/>
            <a:ext cx="4160520" cy="246888"/>
          </a:xfrm>
          <a:prstGeom prst="rect">
            <a:avLst/>
          </a:prstGeom>
          <a:solidFill>
            <a:srgbClr val="D4530A"/>
          </a:solidFill>
          <a:ln w="12700">
            <a:solidFill>
              <a:srgbClr val="D4530A"/>
            </a:solidFill>
            <a:prstDash val="solid"/>
          </a:ln>
        </p:spPr>
        <p:txBody>
          <a:bodyPr/>
          <a:lstStyle/>
          <a:p>
            <a:endParaRPr lang="fr-FR"/>
          </a:p>
        </p:txBody>
      </p:sp>
      <p:sp>
        <p:nvSpPr>
          <p:cNvPr id="16" name="Text 14"/>
          <p:cNvSpPr/>
          <p:nvPr/>
        </p:nvSpPr>
        <p:spPr>
          <a:xfrm>
            <a:off x="347472" y="228600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Appeler le 3919</a:t>
            </a:r>
            <a:endParaRPr lang="en-US" sz="850" dirty="0"/>
          </a:p>
        </p:txBody>
      </p:sp>
      <p:sp>
        <p:nvSpPr>
          <p:cNvPr id="17" name="Shape 15"/>
          <p:cNvSpPr/>
          <p:nvPr/>
        </p:nvSpPr>
        <p:spPr>
          <a:xfrm>
            <a:off x="4709160" y="1389888"/>
            <a:ext cx="4160520" cy="1143000"/>
          </a:xfrm>
          <a:prstGeom prst="rect">
            <a:avLst/>
          </a:prstGeom>
          <a:solidFill>
            <a:srgbClr val="E8F1FA"/>
          </a:solidFill>
          <a:ln w="6350">
            <a:solidFill>
              <a:srgbClr val="D0DCE8"/>
            </a:solidFill>
            <a:prstDash val="solid"/>
          </a:ln>
        </p:spPr>
        <p:txBody>
          <a:bodyPr/>
          <a:lstStyle/>
          <a:p>
            <a:endParaRPr lang="fr-FR"/>
          </a:p>
        </p:txBody>
      </p:sp>
      <p:sp>
        <p:nvSpPr>
          <p:cNvPr id="18" name="Shape 16"/>
          <p:cNvSpPr/>
          <p:nvPr/>
        </p:nvSpPr>
        <p:spPr>
          <a:xfrm>
            <a:off x="4709160" y="1389888"/>
            <a:ext cx="4160520" cy="292608"/>
          </a:xfrm>
          <a:prstGeom prst="rect">
            <a:avLst/>
          </a:prstGeom>
          <a:solidFill>
            <a:srgbClr val="C0392B"/>
          </a:solidFill>
          <a:ln w="12700">
            <a:solidFill>
              <a:srgbClr val="C0392B"/>
            </a:solidFill>
            <a:prstDash val="solid"/>
          </a:ln>
        </p:spPr>
        <p:txBody>
          <a:bodyPr/>
          <a:lstStyle/>
          <a:p>
            <a:endParaRPr lang="fr-FR"/>
          </a:p>
        </p:txBody>
      </p:sp>
      <p:sp>
        <p:nvSpPr>
          <p:cNvPr id="19" name="Text 17"/>
          <p:cNvSpPr/>
          <p:nvPr/>
        </p:nvSpPr>
        <p:spPr>
          <a:xfrm>
            <a:off x="478231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Police / Gendarmerie</a:t>
            </a:r>
            <a:endParaRPr lang="en-US" sz="950" dirty="0"/>
          </a:p>
        </p:txBody>
      </p:sp>
      <p:sp>
        <p:nvSpPr>
          <p:cNvPr id="20" name="Text 18"/>
          <p:cNvSpPr/>
          <p:nvPr/>
        </p:nvSpPr>
        <p:spPr>
          <a:xfrm>
            <a:off x="4800600" y="170992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Dépôt de plainte en cas de crime ou délit. OPJ habilités à recevoir les plaintes VSS. Délai de prescription : 10 ans (agression sexuelle), 20 ans (viol).</a:t>
            </a:r>
            <a:endParaRPr lang="en-US" sz="880" dirty="0"/>
          </a:p>
        </p:txBody>
      </p:sp>
      <p:sp>
        <p:nvSpPr>
          <p:cNvPr id="21" name="Shape 19"/>
          <p:cNvSpPr/>
          <p:nvPr/>
        </p:nvSpPr>
        <p:spPr>
          <a:xfrm>
            <a:off x="4709160" y="2286000"/>
            <a:ext cx="4160520" cy="246888"/>
          </a:xfrm>
          <a:prstGeom prst="rect">
            <a:avLst/>
          </a:prstGeom>
          <a:solidFill>
            <a:srgbClr val="C0392B"/>
          </a:solidFill>
          <a:ln w="12700">
            <a:solidFill>
              <a:srgbClr val="C0392B"/>
            </a:solidFill>
            <a:prstDash val="solid"/>
          </a:ln>
        </p:spPr>
        <p:txBody>
          <a:bodyPr/>
          <a:lstStyle/>
          <a:p>
            <a:endParaRPr lang="fr-FR"/>
          </a:p>
        </p:txBody>
      </p:sp>
      <p:sp>
        <p:nvSpPr>
          <p:cNvPr id="22" name="Text 20"/>
          <p:cNvSpPr/>
          <p:nvPr/>
        </p:nvSpPr>
        <p:spPr>
          <a:xfrm>
            <a:off x="4782312" y="228600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17 ou se rendre au commissariat</a:t>
            </a:r>
            <a:endParaRPr lang="en-US" sz="850" dirty="0"/>
          </a:p>
        </p:txBody>
      </p:sp>
      <p:sp>
        <p:nvSpPr>
          <p:cNvPr id="23" name="Shape 21"/>
          <p:cNvSpPr/>
          <p:nvPr/>
        </p:nvSpPr>
        <p:spPr>
          <a:xfrm>
            <a:off x="274320" y="2624328"/>
            <a:ext cx="4160520" cy="1143000"/>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2624328"/>
            <a:ext cx="4160520" cy="292608"/>
          </a:xfrm>
          <a:prstGeom prst="rect">
            <a:avLst/>
          </a:prstGeom>
          <a:solidFill>
            <a:srgbClr val="1A3A5C"/>
          </a:solidFill>
          <a:ln w="12700">
            <a:solidFill>
              <a:srgbClr val="1A3A5C"/>
            </a:solidFill>
            <a:prstDash val="solid"/>
          </a:ln>
        </p:spPr>
        <p:txBody>
          <a:bodyPr/>
          <a:lstStyle/>
          <a:p>
            <a:endParaRPr lang="fr-FR"/>
          </a:p>
        </p:txBody>
      </p:sp>
      <p:sp>
        <p:nvSpPr>
          <p:cNvPr id="25" name="Text 23"/>
          <p:cNvSpPr/>
          <p:nvPr/>
        </p:nvSpPr>
        <p:spPr>
          <a:xfrm>
            <a:off x="347472" y="262432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Médecin / Urgences</a:t>
            </a:r>
            <a:endParaRPr lang="en-US" sz="950" dirty="0"/>
          </a:p>
        </p:txBody>
      </p:sp>
      <p:sp>
        <p:nvSpPr>
          <p:cNvPr id="26" name="Text 24"/>
          <p:cNvSpPr/>
          <p:nvPr/>
        </p:nvSpPr>
        <p:spPr>
          <a:xfrm>
            <a:off x="365760" y="294436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Constatation médicale des violences. Délivrance de certificat médical. Réquisition judiciaire possible pour examens.</a:t>
            </a:r>
            <a:endParaRPr lang="en-US" sz="880" dirty="0"/>
          </a:p>
        </p:txBody>
      </p:sp>
      <p:sp>
        <p:nvSpPr>
          <p:cNvPr id="27" name="Shape 25"/>
          <p:cNvSpPr/>
          <p:nvPr/>
        </p:nvSpPr>
        <p:spPr>
          <a:xfrm>
            <a:off x="274320" y="3520440"/>
            <a:ext cx="4160520" cy="246888"/>
          </a:xfrm>
          <a:prstGeom prst="rect">
            <a:avLst/>
          </a:prstGeom>
          <a:solidFill>
            <a:srgbClr val="1A3A5C"/>
          </a:solidFill>
          <a:ln w="12700">
            <a:solidFill>
              <a:srgbClr val="1A3A5C"/>
            </a:solidFill>
            <a:prstDash val="solid"/>
          </a:ln>
        </p:spPr>
        <p:txBody>
          <a:bodyPr/>
          <a:lstStyle/>
          <a:p>
            <a:endParaRPr lang="fr-FR"/>
          </a:p>
        </p:txBody>
      </p:sp>
      <p:sp>
        <p:nvSpPr>
          <p:cNvPr id="28" name="Text 26"/>
          <p:cNvSpPr/>
          <p:nvPr/>
        </p:nvSpPr>
        <p:spPr>
          <a:xfrm>
            <a:off x="347472" y="352044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15 (SAMU) ou urgences hôpital</a:t>
            </a:r>
            <a:endParaRPr lang="en-US" sz="850" dirty="0"/>
          </a:p>
        </p:txBody>
      </p:sp>
      <p:sp>
        <p:nvSpPr>
          <p:cNvPr id="29" name="Shape 27"/>
          <p:cNvSpPr/>
          <p:nvPr/>
        </p:nvSpPr>
        <p:spPr>
          <a:xfrm>
            <a:off x="4709160" y="2624328"/>
            <a:ext cx="4160520" cy="114300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2624328"/>
            <a:ext cx="4160520" cy="292608"/>
          </a:xfrm>
          <a:prstGeom prst="rect">
            <a:avLst/>
          </a:prstGeom>
          <a:solidFill>
            <a:srgbClr val="6B7A8D"/>
          </a:solidFill>
          <a:ln w="12700">
            <a:solidFill>
              <a:srgbClr val="6B7A8D"/>
            </a:solidFill>
            <a:prstDash val="solid"/>
          </a:ln>
        </p:spPr>
        <p:txBody>
          <a:bodyPr/>
          <a:lstStyle/>
          <a:p>
            <a:endParaRPr lang="fr-FR"/>
          </a:p>
        </p:txBody>
      </p:sp>
      <p:sp>
        <p:nvSpPr>
          <p:cNvPr id="31" name="Text 29"/>
          <p:cNvSpPr/>
          <p:nvPr/>
        </p:nvSpPr>
        <p:spPr>
          <a:xfrm>
            <a:off x="4782312" y="262432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Centre d'hébergement</a:t>
            </a:r>
            <a:endParaRPr lang="en-US" sz="950" dirty="0"/>
          </a:p>
        </p:txBody>
      </p:sp>
      <p:sp>
        <p:nvSpPr>
          <p:cNvPr id="32" name="Text 30"/>
          <p:cNvSpPr/>
          <p:nvPr/>
        </p:nvSpPr>
        <p:spPr>
          <a:xfrm>
            <a:off x="4800600" y="294436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CHRS (Centre d'Hébergement et de Réinsertion Sociale) pour mettre la victime en sécurité immédiate.</a:t>
            </a:r>
            <a:endParaRPr lang="en-US" sz="880" dirty="0"/>
          </a:p>
        </p:txBody>
      </p:sp>
      <p:sp>
        <p:nvSpPr>
          <p:cNvPr id="33" name="Shape 31"/>
          <p:cNvSpPr/>
          <p:nvPr/>
        </p:nvSpPr>
        <p:spPr>
          <a:xfrm>
            <a:off x="4709160" y="3520440"/>
            <a:ext cx="4160520" cy="246888"/>
          </a:xfrm>
          <a:prstGeom prst="rect">
            <a:avLst/>
          </a:prstGeom>
          <a:solidFill>
            <a:srgbClr val="6B7A8D"/>
          </a:solidFill>
          <a:ln w="12700">
            <a:solidFill>
              <a:srgbClr val="6B7A8D"/>
            </a:solidFill>
            <a:prstDash val="solid"/>
          </a:ln>
        </p:spPr>
        <p:txBody>
          <a:bodyPr/>
          <a:lstStyle/>
          <a:p>
            <a:endParaRPr lang="fr-FR"/>
          </a:p>
        </p:txBody>
      </p:sp>
      <p:sp>
        <p:nvSpPr>
          <p:cNvPr id="34" name="Text 32"/>
          <p:cNvSpPr/>
          <p:nvPr/>
        </p:nvSpPr>
        <p:spPr>
          <a:xfrm>
            <a:off x="4782312" y="352044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115 — Numéro national d'urgence sociale</a:t>
            </a:r>
            <a:endParaRPr lang="en-US" sz="850" dirty="0"/>
          </a:p>
        </p:txBody>
      </p:sp>
      <p:sp>
        <p:nvSpPr>
          <p:cNvPr id="35" name="Shape 33"/>
          <p:cNvSpPr/>
          <p:nvPr/>
        </p:nvSpPr>
        <p:spPr>
          <a:xfrm>
            <a:off x="274320" y="3858768"/>
            <a:ext cx="4160520" cy="1143000"/>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274320" y="3858768"/>
            <a:ext cx="4160520" cy="292608"/>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347472" y="38587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Associations</a:t>
            </a:r>
            <a:endParaRPr lang="en-US" sz="950" dirty="0"/>
          </a:p>
        </p:txBody>
      </p:sp>
      <p:sp>
        <p:nvSpPr>
          <p:cNvPr id="38" name="Text 36"/>
          <p:cNvSpPr/>
          <p:nvPr/>
        </p:nvSpPr>
        <p:spPr>
          <a:xfrm>
            <a:off x="365760" y="417880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France Victimes : aide aux victimes (114). CIDFF (Centre d'Information sur les Droits des Femmes). INAVEM : réseau d'aide aux victimes.</a:t>
            </a:r>
            <a:endParaRPr lang="en-US" sz="880" dirty="0"/>
          </a:p>
        </p:txBody>
      </p:sp>
      <p:sp>
        <p:nvSpPr>
          <p:cNvPr id="39" name="Shape 37"/>
          <p:cNvSpPr/>
          <p:nvPr/>
        </p:nvSpPr>
        <p:spPr>
          <a:xfrm>
            <a:off x="274320" y="4754880"/>
            <a:ext cx="4160520" cy="246888"/>
          </a:xfrm>
          <a:prstGeom prst="rect">
            <a:avLst/>
          </a:prstGeom>
          <a:solidFill>
            <a:srgbClr val="2860A8"/>
          </a:solidFill>
          <a:ln w="12700">
            <a:solidFill>
              <a:srgbClr val="2860A8"/>
            </a:solidFill>
            <a:prstDash val="solid"/>
          </a:ln>
        </p:spPr>
        <p:txBody>
          <a:bodyPr/>
          <a:lstStyle/>
          <a:p>
            <a:endParaRPr lang="fr-FR"/>
          </a:p>
        </p:txBody>
      </p:sp>
      <p:sp>
        <p:nvSpPr>
          <p:cNvPr id="40" name="Text 38"/>
          <p:cNvSpPr/>
          <p:nvPr/>
        </p:nvSpPr>
        <p:spPr>
          <a:xfrm>
            <a:off x="347472" y="475488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France Victimes : 116 006</a:t>
            </a:r>
            <a:endParaRPr lang="en-US" sz="850" dirty="0"/>
          </a:p>
        </p:txBody>
      </p:sp>
      <p:sp>
        <p:nvSpPr>
          <p:cNvPr id="41" name="Shape 39"/>
          <p:cNvSpPr/>
          <p:nvPr/>
        </p:nvSpPr>
        <p:spPr>
          <a:xfrm>
            <a:off x="4709160" y="3858768"/>
            <a:ext cx="4160520" cy="1143000"/>
          </a:xfrm>
          <a:prstGeom prst="rect">
            <a:avLst/>
          </a:prstGeom>
          <a:solidFill>
            <a:srgbClr val="E8F1FA"/>
          </a:solidFill>
          <a:ln w="6350">
            <a:solidFill>
              <a:srgbClr val="D0DCE8"/>
            </a:solidFill>
            <a:prstDash val="solid"/>
          </a:ln>
        </p:spPr>
        <p:txBody>
          <a:bodyPr/>
          <a:lstStyle/>
          <a:p>
            <a:endParaRPr lang="fr-FR"/>
          </a:p>
        </p:txBody>
      </p:sp>
      <p:sp>
        <p:nvSpPr>
          <p:cNvPr id="42" name="Shape 40"/>
          <p:cNvSpPr/>
          <p:nvPr/>
        </p:nvSpPr>
        <p:spPr>
          <a:xfrm>
            <a:off x="4709160" y="3858768"/>
            <a:ext cx="4160520" cy="292608"/>
          </a:xfrm>
          <a:prstGeom prst="rect">
            <a:avLst/>
          </a:prstGeom>
          <a:solidFill>
            <a:srgbClr val="F4A227"/>
          </a:solidFill>
          <a:ln w="12700">
            <a:solidFill>
              <a:srgbClr val="F4A227"/>
            </a:solidFill>
            <a:prstDash val="solid"/>
          </a:ln>
        </p:spPr>
        <p:txBody>
          <a:bodyPr/>
          <a:lstStyle/>
          <a:p>
            <a:endParaRPr lang="fr-FR"/>
          </a:p>
        </p:txBody>
      </p:sp>
      <p:sp>
        <p:nvSpPr>
          <p:cNvPr id="43" name="Text 41"/>
          <p:cNvSpPr/>
          <p:nvPr/>
        </p:nvSpPr>
        <p:spPr>
          <a:xfrm>
            <a:off x="4782312" y="38587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Bons réflexes T3P</a:t>
            </a:r>
            <a:endParaRPr lang="en-US" sz="950" dirty="0"/>
          </a:p>
        </p:txBody>
      </p:sp>
      <p:sp>
        <p:nvSpPr>
          <p:cNvPr id="44" name="Text 42"/>
          <p:cNvSpPr/>
          <p:nvPr/>
        </p:nvSpPr>
        <p:spPr>
          <a:xfrm>
            <a:off x="4800600" y="417880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En tant que conducteur : arrêter la course si comportement VSS, proposer d'appeler le 17, noter heure/lieu/description, ne pas minimiser la situation de la victime.</a:t>
            </a:r>
            <a:endParaRPr lang="en-US" sz="880" dirty="0"/>
          </a:p>
        </p:txBody>
      </p:sp>
      <p:sp>
        <p:nvSpPr>
          <p:cNvPr id="45" name="Shape 43"/>
          <p:cNvSpPr/>
          <p:nvPr/>
        </p:nvSpPr>
        <p:spPr>
          <a:xfrm>
            <a:off x="4709160" y="4754880"/>
            <a:ext cx="4160520" cy="246888"/>
          </a:xfrm>
          <a:prstGeom prst="rect">
            <a:avLst/>
          </a:prstGeom>
          <a:solidFill>
            <a:srgbClr val="F4A227"/>
          </a:solidFill>
          <a:ln w="12700">
            <a:solidFill>
              <a:srgbClr val="F4A227"/>
            </a:solidFill>
            <a:prstDash val="solid"/>
          </a:ln>
        </p:spPr>
        <p:txBody>
          <a:bodyPr/>
          <a:lstStyle/>
          <a:p>
            <a:endParaRPr lang="fr-FR"/>
          </a:p>
        </p:txBody>
      </p:sp>
      <p:sp>
        <p:nvSpPr>
          <p:cNvPr id="46" name="Text 44"/>
          <p:cNvSpPr/>
          <p:nvPr/>
        </p:nvSpPr>
        <p:spPr>
          <a:xfrm>
            <a:off x="4782312" y="475488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Sécurité passagère AVANT tout</a:t>
            </a:r>
            <a:endParaRPr lang="en-US" sz="850" dirty="0"/>
          </a:p>
        </p:txBody>
      </p:sp>
      <p:sp>
        <p:nvSpPr>
          <p:cNvPr id="47" name="Rectangle 4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8" name="Rectangle 4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7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L'Observatoire national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Rôle, missions et rapport annuel — Pages 117-118</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L'OBSERVATOIRE NATIONAL DES TRANSPORTS PUBLICS PARTICULIERS DE PERSONNES</a:t>
            </a:r>
            <a:endParaRPr lang="en-US" sz="1000" dirty="0"/>
          </a:p>
        </p:txBody>
      </p:sp>
      <p:sp>
        <p:nvSpPr>
          <p:cNvPr id="11" name="Shape 9"/>
          <p:cNvSpPr/>
          <p:nvPr/>
        </p:nvSpPr>
        <p:spPr>
          <a:xfrm>
            <a:off x="274320" y="1325880"/>
            <a:ext cx="2724912" cy="1298448"/>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25880"/>
            <a:ext cx="2724912" cy="256032"/>
          </a:xfrm>
          <a:prstGeom prst="rect">
            <a:avLst/>
          </a:prstGeom>
          <a:solidFill>
            <a:srgbClr val="1A3A5C"/>
          </a:solidFill>
          <a:ln w="12700">
            <a:solidFill>
              <a:srgbClr val="1A3A5C"/>
            </a:solidFill>
            <a:prstDash val="solid"/>
          </a:ln>
        </p:spPr>
        <p:txBody>
          <a:bodyPr/>
          <a:lstStyle/>
          <a:p>
            <a:endParaRPr lang="fr-FR"/>
          </a:p>
        </p:txBody>
      </p:sp>
      <p:sp>
        <p:nvSpPr>
          <p:cNvPr id="13" name="Text 11"/>
          <p:cNvSpPr/>
          <p:nvPr/>
        </p:nvSpPr>
        <p:spPr>
          <a:xfrm>
            <a:off x="347472" y="132588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RAPPORT ANNUEL</a:t>
            </a:r>
            <a:endParaRPr lang="en-US" sz="900" dirty="0"/>
          </a:p>
        </p:txBody>
      </p:sp>
      <p:sp>
        <p:nvSpPr>
          <p:cNvPr id="14" name="Text 12"/>
          <p:cNvSpPr/>
          <p:nvPr/>
        </p:nvSpPr>
        <p:spPr>
          <a:xfrm>
            <a:off x="365760" y="161848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Établit chaque année un rapport sur l'évolution des T3P, y compris l'accès des différentes professions de conducteur.</a:t>
            </a:r>
            <a:endParaRPr lang="en-US" sz="900" dirty="0"/>
          </a:p>
        </p:txBody>
      </p:sp>
      <p:sp>
        <p:nvSpPr>
          <p:cNvPr id="15" name="Shape 13"/>
          <p:cNvSpPr/>
          <p:nvPr/>
        </p:nvSpPr>
        <p:spPr>
          <a:xfrm>
            <a:off x="3154680" y="1325880"/>
            <a:ext cx="2724912" cy="1298448"/>
          </a:xfrm>
          <a:prstGeom prst="rect">
            <a:avLst/>
          </a:prstGeom>
          <a:solidFill>
            <a:srgbClr val="E8F1FA"/>
          </a:solidFill>
          <a:ln w="6350">
            <a:solidFill>
              <a:srgbClr val="D0DCE8"/>
            </a:solidFill>
            <a:prstDash val="solid"/>
          </a:ln>
        </p:spPr>
        <p:txBody>
          <a:bodyPr/>
          <a:lstStyle/>
          <a:p>
            <a:endParaRPr lang="fr-FR"/>
          </a:p>
        </p:txBody>
      </p:sp>
      <p:sp>
        <p:nvSpPr>
          <p:cNvPr id="16" name="Shape 14"/>
          <p:cNvSpPr/>
          <p:nvPr/>
        </p:nvSpPr>
        <p:spPr>
          <a:xfrm>
            <a:off x="3154680" y="1325880"/>
            <a:ext cx="2724912" cy="256032"/>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3227832" y="132588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ÉTUDES</a:t>
            </a:r>
            <a:endParaRPr lang="en-US" sz="900" dirty="0"/>
          </a:p>
        </p:txBody>
      </p:sp>
      <p:sp>
        <p:nvSpPr>
          <p:cNvPr id="18" name="Text 16"/>
          <p:cNvSpPr/>
          <p:nvPr/>
        </p:nvSpPr>
        <p:spPr>
          <a:xfrm>
            <a:off x="3246120" y="161848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Mène toute étude pour améliorer la connaissance des transports publics particuliers de personnes.</a:t>
            </a:r>
            <a:endParaRPr lang="en-US" sz="900" dirty="0"/>
          </a:p>
        </p:txBody>
      </p:sp>
      <p:sp>
        <p:nvSpPr>
          <p:cNvPr id="19" name="Shape 17"/>
          <p:cNvSpPr/>
          <p:nvPr/>
        </p:nvSpPr>
        <p:spPr>
          <a:xfrm>
            <a:off x="6035040" y="1325880"/>
            <a:ext cx="2724912" cy="1298448"/>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6035040" y="1325880"/>
            <a:ext cx="2724912" cy="256032"/>
          </a:xfrm>
          <a:prstGeom prst="rect">
            <a:avLst/>
          </a:prstGeom>
          <a:solidFill>
            <a:srgbClr val="F4A227"/>
          </a:solidFill>
          <a:ln w="12700">
            <a:solidFill>
              <a:srgbClr val="F4A227"/>
            </a:solidFill>
            <a:prstDash val="solid"/>
          </a:ln>
        </p:spPr>
        <p:txBody>
          <a:bodyPr/>
          <a:lstStyle/>
          <a:p>
            <a:endParaRPr lang="fr-FR"/>
          </a:p>
        </p:txBody>
      </p:sp>
      <p:sp>
        <p:nvSpPr>
          <p:cNvPr id="21" name="Text 19"/>
          <p:cNvSpPr/>
          <p:nvPr/>
        </p:nvSpPr>
        <p:spPr>
          <a:xfrm>
            <a:off x="6108192" y="132588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STATISTIQUES</a:t>
            </a:r>
            <a:endParaRPr lang="en-US" sz="900" dirty="0"/>
          </a:p>
        </p:txBody>
      </p:sp>
      <p:sp>
        <p:nvSpPr>
          <p:cNvPr id="22" name="Text 20"/>
          <p:cNvSpPr/>
          <p:nvPr/>
        </p:nvSpPr>
        <p:spPr>
          <a:xfrm>
            <a:off x="6126480" y="161848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Est assuré par le service de l'observation et des statistiques du commissariat général au développement durable.</a:t>
            </a:r>
            <a:endParaRPr lang="en-US" sz="900" dirty="0"/>
          </a:p>
        </p:txBody>
      </p:sp>
      <p:sp>
        <p:nvSpPr>
          <p:cNvPr id="23" name="Shape 21"/>
          <p:cNvSpPr/>
          <p:nvPr/>
        </p:nvSpPr>
        <p:spPr>
          <a:xfrm>
            <a:off x="274320" y="2743200"/>
            <a:ext cx="2724912" cy="1298448"/>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2743200"/>
            <a:ext cx="2724912" cy="256032"/>
          </a:xfrm>
          <a:prstGeom prst="rect">
            <a:avLst/>
          </a:prstGeom>
          <a:solidFill>
            <a:srgbClr val="6B7A8D"/>
          </a:solidFill>
          <a:ln w="12700">
            <a:solidFill>
              <a:srgbClr val="6B7A8D"/>
            </a:solidFill>
            <a:prstDash val="solid"/>
          </a:ln>
        </p:spPr>
        <p:txBody>
          <a:bodyPr/>
          <a:lstStyle/>
          <a:p>
            <a:endParaRPr lang="fr-FR"/>
          </a:p>
        </p:txBody>
      </p:sp>
      <p:sp>
        <p:nvSpPr>
          <p:cNvPr id="25" name="Text 23"/>
          <p:cNvSpPr/>
          <p:nvPr/>
        </p:nvSpPr>
        <p:spPr>
          <a:xfrm>
            <a:off x="347472" y="274320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DIFFUSION</a:t>
            </a:r>
            <a:endParaRPr lang="en-US" sz="900" dirty="0"/>
          </a:p>
        </p:txBody>
      </p:sp>
      <p:sp>
        <p:nvSpPr>
          <p:cNvPr id="26" name="Text 24"/>
          <p:cNvSpPr/>
          <p:nvPr/>
        </p:nvSpPr>
        <p:spPr>
          <a:xfrm>
            <a:off x="365760" y="303580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Diffuse régulièrement ses travaux, notamment auprès des professionnels et de leurs représentants.</a:t>
            </a:r>
            <a:endParaRPr lang="en-US" sz="900" dirty="0"/>
          </a:p>
        </p:txBody>
      </p:sp>
      <p:sp>
        <p:nvSpPr>
          <p:cNvPr id="27" name="Shape 25"/>
          <p:cNvSpPr/>
          <p:nvPr/>
        </p:nvSpPr>
        <p:spPr>
          <a:xfrm>
            <a:off x="274320" y="2743200"/>
            <a:ext cx="8595360" cy="1298448"/>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274320" y="2743200"/>
            <a:ext cx="8595360" cy="256032"/>
          </a:xfrm>
          <a:prstGeom prst="rect">
            <a:avLst/>
          </a:prstGeom>
          <a:solidFill>
            <a:srgbClr val="6B2D6B"/>
          </a:solidFill>
          <a:ln w="12700">
            <a:solidFill>
              <a:srgbClr val="6B2D6B"/>
            </a:solidFill>
            <a:prstDash val="solid"/>
          </a:ln>
        </p:spPr>
        <p:txBody>
          <a:bodyPr/>
          <a:lstStyle/>
          <a:p>
            <a:endParaRPr lang="fr-FR"/>
          </a:p>
        </p:txBody>
      </p:sp>
      <p:sp>
        <p:nvSpPr>
          <p:cNvPr id="29" name="Text 27"/>
          <p:cNvSpPr/>
          <p:nvPr/>
        </p:nvSpPr>
        <p:spPr>
          <a:xfrm>
            <a:off x="347472" y="2743200"/>
            <a:ext cx="848563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30" name="Text 28"/>
          <p:cNvSpPr/>
          <p:nvPr/>
        </p:nvSpPr>
        <p:spPr>
          <a:xfrm>
            <a:off x="365760" y="3035808"/>
            <a:ext cx="8430768"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Ce rapport est adressé au Comité national des transports publics particuliers de personnes.</a:t>
            </a:r>
            <a:endParaRPr lang="en-US" sz="900" dirty="0"/>
          </a:p>
        </p:txBody>
      </p:sp>
      <p:sp>
        <p:nvSpPr>
          <p:cNvPr id="31" name="Shape 29"/>
          <p:cNvSpPr/>
          <p:nvPr/>
        </p:nvSpPr>
        <p:spPr>
          <a:xfrm>
            <a:off x="274320" y="4462272"/>
            <a:ext cx="8595360" cy="347472"/>
          </a:xfrm>
          <a:prstGeom prst="rect">
            <a:avLst/>
          </a:prstGeom>
          <a:solidFill>
            <a:srgbClr val="FFFBEB"/>
          </a:solidFill>
          <a:ln w="19050">
            <a:solidFill>
              <a:srgbClr val="F4A227"/>
            </a:solidFill>
            <a:prstDash val="solid"/>
          </a:ln>
        </p:spPr>
        <p:txBody>
          <a:bodyPr/>
          <a:lstStyle/>
          <a:p>
            <a:endParaRPr lang="fr-FR"/>
          </a:p>
        </p:txBody>
      </p:sp>
      <p:sp>
        <p:nvSpPr>
          <p:cNvPr id="32" name="Shape 30"/>
          <p:cNvSpPr/>
          <p:nvPr/>
        </p:nvSpPr>
        <p:spPr>
          <a:xfrm>
            <a:off x="274320" y="4462272"/>
            <a:ext cx="54864" cy="347472"/>
          </a:xfrm>
          <a:prstGeom prst="rect">
            <a:avLst/>
          </a:prstGeom>
          <a:solidFill>
            <a:srgbClr val="F4A227"/>
          </a:solidFill>
          <a:ln w="12700">
            <a:solidFill>
              <a:srgbClr val="F4A227"/>
            </a:solidFill>
            <a:prstDash val="solid"/>
          </a:ln>
        </p:spPr>
        <p:txBody>
          <a:bodyPr/>
          <a:lstStyle/>
          <a:p>
            <a:endParaRPr lang="fr-FR"/>
          </a:p>
        </p:txBody>
      </p:sp>
      <p:sp>
        <p:nvSpPr>
          <p:cNvPr id="33" name="Text 31"/>
          <p:cNvSpPr/>
          <p:nvPr/>
        </p:nvSpPr>
        <p:spPr>
          <a:xfrm>
            <a:off x="384048" y="4462272"/>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À RETENIR : L'Observatoire publie le rapport annuel → le remet au Comité national → le Comité national informe les Commissions locales.</a:t>
            </a:r>
            <a:endParaRPr lang="en-US" sz="1000" dirty="0"/>
          </a:p>
        </p:txBody>
      </p:sp>
      <p:sp>
        <p:nvSpPr>
          <p:cNvPr id="34" name="Rectangle 3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35" name="Rectangle 3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7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 Comité national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Composition, rôle et fonctionnement — Page 118-119</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2860A8"/>
          </a:solidFill>
          <a:ln w="12700">
            <a:solidFill>
              <a:srgbClr val="2860A8"/>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COMITÉ NATIONAL DES TRANSPORTS PUBLICS PARTICULIERS DE PERSONNES</a:t>
            </a:r>
            <a:endParaRPr lang="en-US" sz="1000" dirty="0"/>
          </a:p>
        </p:txBody>
      </p:sp>
      <p:sp>
        <p:nvSpPr>
          <p:cNvPr id="11" name="Shape 9"/>
          <p:cNvSpPr/>
          <p:nvPr/>
        </p:nvSpPr>
        <p:spPr>
          <a:xfrm>
            <a:off x="274320" y="1325880"/>
            <a:ext cx="8595360" cy="86868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2" name="Shape 10"/>
          <p:cNvSpPr/>
          <p:nvPr/>
        </p:nvSpPr>
        <p:spPr>
          <a:xfrm>
            <a:off x="274320" y="1325880"/>
            <a:ext cx="8595360" cy="301752"/>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365760" y="1325880"/>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RÔLE</a:t>
            </a:r>
            <a:endParaRPr lang="en-US" sz="1050" dirty="0"/>
          </a:p>
        </p:txBody>
      </p:sp>
      <p:sp>
        <p:nvSpPr>
          <p:cNvPr id="14" name="Text 12"/>
          <p:cNvSpPr/>
          <p:nvPr/>
        </p:nvSpPr>
        <p:spPr>
          <a:xfrm>
            <a:off x="384048" y="1673352"/>
            <a:ext cx="8412480" cy="47548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Débat des grands enjeux des T3P et donne un avis sur le rapport annuel de l'Observatoire national.</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Peut être saisi pour avis par le ministre chargé des transports sur tout projet, programme ou étude intéressant le secteur.</a:t>
            </a:r>
            <a:endParaRPr lang="en-US" sz="1000" dirty="0"/>
          </a:p>
        </p:txBody>
      </p:sp>
      <p:sp>
        <p:nvSpPr>
          <p:cNvPr id="15" name="Shape 13"/>
          <p:cNvSpPr/>
          <p:nvPr/>
        </p:nvSpPr>
        <p:spPr>
          <a:xfrm>
            <a:off x="274320" y="2286000"/>
            <a:ext cx="1600200" cy="749808"/>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274320"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50</a:t>
            </a:r>
            <a:endParaRPr lang="en-US" sz="2200" dirty="0"/>
          </a:p>
        </p:txBody>
      </p:sp>
      <p:sp>
        <p:nvSpPr>
          <p:cNvPr id="17" name="Text 15"/>
          <p:cNvSpPr/>
          <p:nvPr/>
        </p:nvSpPr>
        <p:spPr>
          <a:xfrm>
            <a:off x="274320"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Membres au plus</a:t>
            </a:r>
            <a:endParaRPr lang="en-US" sz="800" dirty="0"/>
          </a:p>
        </p:txBody>
      </p:sp>
      <p:sp>
        <p:nvSpPr>
          <p:cNvPr id="18" name="Shape 16"/>
          <p:cNvSpPr/>
          <p:nvPr/>
        </p:nvSpPr>
        <p:spPr>
          <a:xfrm>
            <a:off x="1993392" y="2286000"/>
            <a:ext cx="1600200" cy="749808"/>
          </a:xfrm>
          <a:prstGeom prst="rect">
            <a:avLst/>
          </a:prstGeom>
          <a:solidFill>
            <a:srgbClr val="2860A8"/>
          </a:solidFill>
          <a:ln w="12700">
            <a:solidFill>
              <a:srgbClr val="2860A8"/>
            </a:solidFill>
            <a:prstDash val="solid"/>
          </a:ln>
        </p:spPr>
        <p:txBody>
          <a:bodyPr/>
          <a:lstStyle/>
          <a:p>
            <a:endParaRPr lang="fr-FR"/>
          </a:p>
        </p:txBody>
      </p:sp>
      <p:sp>
        <p:nvSpPr>
          <p:cNvPr id="19" name="Text 17"/>
          <p:cNvSpPr/>
          <p:nvPr/>
        </p:nvSpPr>
        <p:spPr>
          <a:xfrm>
            <a:off x="1993392"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20" name="Text 18"/>
          <p:cNvSpPr/>
          <p:nvPr/>
        </p:nvSpPr>
        <p:spPr>
          <a:xfrm>
            <a:off x="1993392"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Président (représentant l'État)</a:t>
            </a:r>
            <a:endParaRPr lang="en-US" sz="800" dirty="0"/>
          </a:p>
        </p:txBody>
      </p:sp>
      <p:sp>
        <p:nvSpPr>
          <p:cNvPr id="21" name="Shape 19"/>
          <p:cNvSpPr/>
          <p:nvPr/>
        </p:nvSpPr>
        <p:spPr>
          <a:xfrm>
            <a:off x="3712464" y="2286000"/>
            <a:ext cx="1600200" cy="749808"/>
          </a:xfrm>
          <a:prstGeom prst="rect">
            <a:avLst/>
          </a:prstGeom>
          <a:solidFill>
            <a:srgbClr val="F4A227"/>
          </a:solidFill>
          <a:ln w="12700">
            <a:solidFill>
              <a:srgbClr val="F4A227"/>
            </a:solidFill>
            <a:prstDash val="solid"/>
          </a:ln>
        </p:spPr>
        <p:txBody>
          <a:bodyPr/>
          <a:lstStyle/>
          <a:p>
            <a:endParaRPr lang="fr-FR"/>
          </a:p>
        </p:txBody>
      </p:sp>
      <p:sp>
        <p:nvSpPr>
          <p:cNvPr id="22" name="Text 20"/>
          <p:cNvSpPr/>
          <p:nvPr/>
        </p:nvSpPr>
        <p:spPr>
          <a:xfrm>
            <a:off x="3712464"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23" name="Text 21"/>
          <p:cNvSpPr/>
          <p:nvPr/>
        </p:nvSpPr>
        <p:spPr>
          <a:xfrm>
            <a:off x="3712464"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Vice-président (autres membres)</a:t>
            </a:r>
            <a:endParaRPr lang="en-US" sz="800" dirty="0"/>
          </a:p>
        </p:txBody>
      </p:sp>
      <p:sp>
        <p:nvSpPr>
          <p:cNvPr id="24" name="Shape 22"/>
          <p:cNvSpPr/>
          <p:nvPr/>
        </p:nvSpPr>
        <p:spPr>
          <a:xfrm>
            <a:off x="5431536" y="2286000"/>
            <a:ext cx="1600200" cy="749808"/>
          </a:xfrm>
          <a:prstGeom prst="rect">
            <a:avLst/>
          </a:prstGeom>
          <a:solidFill>
            <a:srgbClr val="6B7A8D"/>
          </a:solidFill>
          <a:ln w="12700">
            <a:solidFill>
              <a:srgbClr val="6B7A8D"/>
            </a:solidFill>
            <a:prstDash val="solid"/>
          </a:ln>
        </p:spPr>
        <p:txBody>
          <a:bodyPr/>
          <a:lstStyle/>
          <a:p>
            <a:endParaRPr lang="fr-FR"/>
          </a:p>
        </p:txBody>
      </p:sp>
      <p:sp>
        <p:nvSpPr>
          <p:cNvPr id="25" name="Text 23"/>
          <p:cNvSpPr/>
          <p:nvPr/>
        </p:nvSpPr>
        <p:spPr>
          <a:xfrm>
            <a:off x="5431536"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 ans</a:t>
            </a:r>
            <a:endParaRPr lang="en-US" sz="2200" dirty="0"/>
          </a:p>
        </p:txBody>
      </p:sp>
      <p:sp>
        <p:nvSpPr>
          <p:cNvPr id="26" name="Text 24"/>
          <p:cNvSpPr/>
          <p:nvPr/>
        </p:nvSpPr>
        <p:spPr>
          <a:xfrm>
            <a:off x="5431536"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Durée du mandat</a:t>
            </a:r>
            <a:endParaRPr lang="en-US" sz="800" dirty="0"/>
          </a:p>
        </p:txBody>
      </p:sp>
      <p:sp>
        <p:nvSpPr>
          <p:cNvPr id="27" name="Shape 25"/>
          <p:cNvSpPr/>
          <p:nvPr/>
        </p:nvSpPr>
        <p:spPr>
          <a:xfrm>
            <a:off x="7150608" y="2286000"/>
            <a:ext cx="1600200" cy="749808"/>
          </a:xfrm>
          <a:prstGeom prst="rect">
            <a:avLst/>
          </a:prstGeom>
          <a:solidFill>
            <a:srgbClr val="C0392B"/>
          </a:solidFill>
          <a:ln w="12700">
            <a:solidFill>
              <a:srgbClr val="C0392B"/>
            </a:solidFill>
            <a:prstDash val="solid"/>
          </a:ln>
        </p:spPr>
        <p:txBody>
          <a:bodyPr/>
          <a:lstStyle/>
          <a:p>
            <a:endParaRPr lang="fr-FR"/>
          </a:p>
        </p:txBody>
      </p:sp>
      <p:sp>
        <p:nvSpPr>
          <p:cNvPr id="28" name="Text 26"/>
          <p:cNvSpPr/>
          <p:nvPr/>
        </p:nvSpPr>
        <p:spPr>
          <a:xfrm>
            <a:off x="7150608"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gratuit</a:t>
            </a:r>
            <a:endParaRPr lang="en-US" sz="2200" dirty="0"/>
          </a:p>
        </p:txBody>
      </p:sp>
      <p:sp>
        <p:nvSpPr>
          <p:cNvPr id="29" name="Text 27"/>
          <p:cNvSpPr/>
          <p:nvPr/>
        </p:nvSpPr>
        <p:spPr>
          <a:xfrm>
            <a:off x="7150608"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Fonctions exercées à titre</a:t>
            </a:r>
            <a:endParaRPr lang="en-US" sz="800" dirty="0"/>
          </a:p>
        </p:txBody>
      </p:sp>
      <p:sp>
        <p:nvSpPr>
          <p:cNvPr id="30" name="Shape 28"/>
          <p:cNvSpPr/>
          <p:nvPr/>
        </p:nvSpPr>
        <p:spPr>
          <a:xfrm>
            <a:off x="274320" y="3182112"/>
            <a:ext cx="8595360" cy="256032"/>
          </a:xfrm>
          <a:prstGeom prst="rect">
            <a:avLst/>
          </a:prstGeom>
          <a:solidFill>
            <a:srgbClr val="1A3A5C"/>
          </a:solidFill>
          <a:ln w="12700">
            <a:solidFill>
              <a:srgbClr val="1A3A5C"/>
            </a:solidFill>
            <a:prstDash val="solid"/>
          </a:ln>
        </p:spPr>
        <p:txBody>
          <a:bodyPr/>
          <a:lstStyle/>
          <a:p>
            <a:endParaRPr lang="fr-FR"/>
          </a:p>
        </p:txBody>
      </p:sp>
      <p:sp>
        <p:nvSpPr>
          <p:cNvPr id="31" name="Text 29"/>
          <p:cNvSpPr/>
          <p:nvPr/>
        </p:nvSpPr>
        <p:spPr>
          <a:xfrm>
            <a:off x="274320" y="3182112"/>
            <a:ext cx="859536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COMPOSITION À PARTS ÉGALES — 4 COLLÈGES</a:t>
            </a:r>
            <a:endParaRPr lang="en-US" sz="950" dirty="0"/>
          </a:p>
        </p:txBody>
      </p:sp>
      <p:sp>
        <p:nvSpPr>
          <p:cNvPr id="32" name="Shape 30"/>
          <p:cNvSpPr/>
          <p:nvPr/>
        </p:nvSpPr>
        <p:spPr>
          <a:xfrm>
            <a:off x="274320" y="3520440"/>
            <a:ext cx="4206240" cy="685800"/>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274320" y="3520440"/>
            <a:ext cx="4206240" cy="237744"/>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347472" y="3520440"/>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Représentants des ministres</a:t>
            </a:r>
            <a:endParaRPr lang="en-US" sz="900" dirty="0"/>
          </a:p>
        </p:txBody>
      </p:sp>
      <p:sp>
        <p:nvSpPr>
          <p:cNvPr id="35" name="Text 33"/>
          <p:cNvSpPr/>
          <p:nvPr/>
        </p:nvSpPr>
        <p:spPr>
          <a:xfrm>
            <a:off x="365760" y="3776472"/>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Transports, Économie, Santé, Intérieur</a:t>
            </a:r>
            <a:endParaRPr lang="en-US" sz="880" dirty="0"/>
          </a:p>
        </p:txBody>
      </p:sp>
      <p:sp>
        <p:nvSpPr>
          <p:cNvPr id="36" name="Shape 34"/>
          <p:cNvSpPr/>
          <p:nvPr/>
        </p:nvSpPr>
        <p:spPr>
          <a:xfrm>
            <a:off x="4645152" y="3520440"/>
            <a:ext cx="4206240" cy="685800"/>
          </a:xfrm>
          <a:prstGeom prst="rect">
            <a:avLst/>
          </a:prstGeom>
          <a:solidFill>
            <a:srgbClr val="E8F1FA"/>
          </a:solidFill>
          <a:ln w="6350">
            <a:solidFill>
              <a:srgbClr val="D0DCE8"/>
            </a:solidFill>
            <a:prstDash val="solid"/>
          </a:ln>
        </p:spPr>
        <p:txBody>
          <a:bodyPr/>
          <a:lstStyle/>
          <a:p>
            <a:endParaRPr lang="fr-FR"/>
          </a:p>
        </p:txBody>
      </p:sp>
      <p:sp>
        <p:nvSpPr>
          <p:cNvPr id="37" name="Shape 35"/>
          <p:cNvSpPr/>
          <p:nvPr/>
        </p:nvSpPr>
        <p:spPr>
          <a:xfrm>
            <a:off x="4645152" y="3520440"/>
            <a:ext cx="4206240" cy="237744"/>
          </a:xfrm>
          <a:prstGeom prst="rect">
            <a:avLst/>
          </a:prstGeom>
          <a:solidFill>
            <a:srgbClr val="F4A227"/>
          </a:solidFill>
          <a:ln w="12700">
            <a:solidFill>
              <a:srgbClr val="F4A227"/>
            </a:solidFill>
            <a:prstDash val="solid"/>
          </a:ln>
        </p:spPr>
        <p:txBody>
          <a:bodyPr/>
          <a:lstStyle/>
          <a:p>
            <a:endParaRPr lang="fr-FR"/>
          </a:p>
        </p:txBody>
      </p:sp>
      <p:sp>
        <p:nvSpPr>
          <p:cNvPr id="38" name="Text 36"/>
          <p:cNvSpPr/>
          <p:nvPr/>
        </p:nvSpPr>
        <p:spPr>
          <a:xfrm>
            <a:off x="4718304" y="3520440"/>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Représentants des professionnels</a:t>
            </a:r>
            <a:endParaRPr lang="en-US" sz="900" dirty="0"/>
          </a:p>
        </p:txBody>
      </p:sp>
      <p:sp>
        <p:nvSpPr>
          <p:cNvPr id="39" name="Text 37"/>
          <p:cNvSpPr/>
          <p:nvPr/>
        </p:nvSpPr>
        <p:spPr>
          <a:xfrm>
            <a:off x="4736592" y="3776472"/>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Intervenant dans le secteur du T3P</a:t>
            </a:r>
            <a:endParaRPr lang="en-US" sz="880" dirty="0"/>
          </a:p>
        </p:txBody>
      </p:sp>
      <p:sp>
        <p:nvSpPr>
          <p:cNvPr id="40" name="Shape 38"/>
          <p:cNvSpPr/>
          <p:nvPr/>
        </p:nvSpPr>
        <p:spPr>
          <a:xfrm>
            <a:off x="274320" y="4270248"/>
            <a:ext cx="4206240" cy="685800"/>
          </a:xfrm>
          <a:prstGeom prst="rect">
            <a:avLst/>
          </a:prstGeom>
          <a:solidFill>
            <a:srgbClr val="E8F1FA"/>
          </a:solidFill>
          <a:ln w="6350">
            <a:solidFill>
              <a:srgbClr val="D0DCE8"/>
            </a:solidFill>
            <a:prstDash val="solid"/>
          </a:ln>
        </p:spPr>
        <p:txBody>
          <a:bodyPr/>
          <a:lstStyle/>
          <a:p>
            <a:endParaRPr lang="fr-FR"/>
          </a:p>
        </p:txBody>
      </p:sp>
      <p:sp>
        <p:nvSpPr>
          <p:cNvPr id="41" name="Shape 39"/>
          <p:cNvSpPr/>
          <p:nvPr/>
        </p:nvSpPr>
        <p:spPr>
          <a:xfrm>
            <a:off x="274320" y="4270248"/>
            <a:ext cx="4206240" cy="237744"/>
          </a:xfrm>
          <a:prstGeom prst="rect">
            <a:avLst/>
          </a:prstGeom>
          <a:solidFill>
            <a:srgbClr val="6B7A8D"/>
          </a:solidFill>
          <a:ln w="12700">
            <a:solidFill>
              <a:srgbClr val="6B7A8D"/>
            </a:solidFill>
            <a:prstDash val="solid"/>
          </a:ln>
        </p:spPr>
        <p:txBody>
          <a:bodyPr/>
          <a:lstStyle/>
          <a:p>
            <a:endParaRPr lang="fr-FR"/>
          </a:p>
        </p:txBody>
      </p:sp>
      <p:sp>
        <p:nvSpPr>
          <p:cNvPr id="42" name="Text 40"/>
          <p:cNvSpPr/>
          <p:nvPr/>
        </p:nvSpPr>
        <p:spPr>
          <a:xfrm>
            <a:off x="347472" y="4270248"/>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Représentants des collectivités territoriales</a:t>
            </a:r>
            <a:endParaRPr lang="en-US" sz="900" dirty="0"/>
          </a:p>
        </p:txBody>
      </p:sp>
      <p:sp>
        <p:nvSpPr>
          <p:cNvPr id="43" name="Text 41"/>
          <p:cNvSpPr/>
          <p:nvPr/>
        </p:nvSpPr>
        <p:spPr>
          <a:xfrm>
            <a:off x="365760" y="4526280"/>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Ou associations qui les représentent</a:t>
            </a:r>
            <a:endParaRPr lang="en-US" sz="880" dirty="0"/>
          </a:p>
        </p:txBody>
      </p:sp>
      <p:sp>
        <p:nvSpPr>
          <p:cNvPr id="44" name="Shape 42"/>
          <p:cNvSpPr/>
          <p:nvPr/>
        </p:nvSpPr>
        <p:spPr>
          <a:xfrm>
            <a:off x="4645152" y="4270248"/>
            <a:ext cx="4206240" cy="685800"/>
          </a:xfrm>
          <a:prstGeom prst="rect">
            <a:avLst/>
          </a:prstGeom>
          <a:solidFill>
            <a:srgbClr val="E8F1FA"/>
          </a:solidFill>
          <a:ln w="6350">
            <a:solidFill>
              <a:srgbClr val="D0DCE8"/>
            </a:solidFill>
            <a:prstDash val="solid"/>
          </a:ln>
        </p:spPr>
        <p:txBody>
          <a:bodyPr/>
          <a:lstStyle/>
          <a:p>
            <a:endParaRPr lang="fr-FR"/>
          </a:p>
        </p:txBody>
      </p:sp>
      <p:sp>
        <p:nvSpPr>
          <p:cNvPr id="45" name="Shape 43"/>
          <p:cNvSpPr/>
          <p:nvPr/>
        </p:nvSpPr>
        <p:spPr>
          <a:xfrm>
            <a:off x="4645152" y="4270248"/>
            <a:ext cx="4206240" cy="237744"/>
          </a:xfrm>
          <a:prstGeom prst="rect">
            <a:avLst/>
          </a:prstGeom>
          <a:solidFill>
            <a:srgbClr val="6B2D6B"/>
          </a:solidFill>
          <a:ln w="12700">
            <a:solidFill>
              <a:srgbClr val="6B2D6B"/>
            </a:solidFill>
            <a:prstDash val="solid"/>
          </a:ln>
        </p:spPr>
        <p:txBody>
          <a:bodyPr/>
          <a:lstStyle/>
          <a:p>
            <a:endParaRPr lang="fr-FR"/>
          </a:p>
        </p:txBody>
      </p:sp>
      <p:sp>
        <p:nvSpPr>
          <p:cNvPr id="46" name="Text 44"/>
          <p:cNvSpPr/>
          <p:nvPr/>
        </p:nvSpPr>
        <p:spPr>
          <a:xfrm>
            <a:off x="4718304" y="4270248"/>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Associations de défense</a:t>
            </a:r>
            <a:endParaRPr lang="en-US" sz="900" dirty="0"/>
          </a:p>
        </p:txBody>
      </p:sp>
      <p:sp>
        <p:nvSpPr>
          <p:cNvPr id="47" name="Text 45"/>
          <p:cNvSpPr/>
          <p:nvPr/>
        </p:nvSpPr>
        <p:spPr>
          <a:xfrm>
            <a:off x="4736592" y="4526280"/>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Consommateurs, PMR, usagers des transports, sécurité routière ou environnement</a:t>
            </a:r>
            <a:endParaRPr lang="en-US" sz="880" dirty="0"/>
          </a:p>
        </p:txBody>
      </p:sp>
      <p:sp>
        <p:nvSpPr>
          <p:cNvPr id="48" name="Shape 46"/>
          <p:cNvSpPr/>
          <p:nvPr/>
        </p:nvSpPr>
        <p:spPr>
          <a:xfrm>
            <a:off x="274320" y="5065776"/>
            <a:ext cx="8595360" cy="292608"/>
          </a:xfrm>
          <a:prstGeom prst="rect">
            <a:avLst/>
          </a:prstGeom>
          <a:solidFill>
            <a:srgbClr val="EDF7EE"/>
          </a:solidFill>
          <a:ln w="19050">
            <a:solidFill>
              <a:srgbClr val="2E7D32"/>
            </a:solidFill>
            <a:prstDash val="solid"/>
          </a:ln>
        </p:spPr>
        <p:txBody>
          <a:bodyPr/>
          <a:lstStyle/>
          <a:p>
            <a:endParaRPr lang="fr-FR"/>
          </a:p>
        </p:txBody>
      </p:sp>
      <p:sp>
        <p:nvSpPr>
          <p:cNvPr id="49" name="Shape 47"/>
          <p:cNvSpPr/>
          <p:nvPr/>
        </p:nvSpPr>
        <p:spPr>
          <a:xfrm>
            <a:off x="274320" y="5065776"/>
            <a:ext cx="54864" cy="292608"/>
          </a:xfrm>
          <a:prstGeom prst="rect">
            <a:avLst/>
          </a:prstGeom>
          <a:solidFill>
            <a:srgbClr val="2E7D32"/>
          </a:solidFill>
          <a:ln w="12700">
            <a:solidFill>
              <a:srgbClr val="2E7D32"/>
            </a:solidFill>
            <a:prstDash val="solid"/>
          </a:ln>
        </p:spPr>
        <p:txBody>
          <a:bodyPr/>
          <a:lstStyle/>
          <a:p>
            <a:endParaRPr lang="fr-FR"/>
          </a:p>
        </p:txBody>
      </p:sp>
      <p:sp>
        <p:nvSpPr>
          <p:cNvPr id="50" name="Text 48"/>
          <p:cNvSpPr/>
          <p:nvPr/>
        </p:nvSpPr>
        <p:spPr>
          <a:xfrm>
            <a:off x="384048" y="5065776"/>
            <a:ext cx="8467344"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Membres nommés par arrêté. Le Comité national est établi pour 5 ans. Les fonctions sont exercées à titre gratuit.</a:t>
            </a:r>
            <a:endParaRPr lang="en-US" sz="1000" dirty="0"/>
          </a:p>
        </p:txBody>
      </p:sp>
      <p:sp>
        <p:nvSpPr>
          <p:cNvPr id="51" name="Rectangle 5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52" name="Rectangle 5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commissions locales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Rapport annuel, composition et fonctionnement — Page 119-120</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F4A227"/>
          </a:solidFill>
          <a:ln w="12700">
            <a:solidFill>
              <a:srgbClr val="F4A227"/>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COMMISSIONS LOCALES DES TRANSPORTS PUBLICS PARTICULIERS DE PERSONNES</a:t>
            </a:r>
            <a:endParaRPr lang="en-US" sz="1000" dirty="0"/>
          </a:p>
        </p:txBody>
      </p:sp>
      <p:sp>
        <p:nvSpPr>
          <p:cNvPr id="11" name="Shape 9"/>
          <p:cNvSpPr/>
          <p:nvPr/>
        </p:nvSpPr>
        <p:spPr>
          <a:xfrm>
            <a:off x="274320" y="1316736"/>
            <a:ext cx="8595360" cy="25603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274320" y="1316736"/>
            <a:ext cx="859536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RAPPORT ANNUEL — 5 POINTS ABORDÉS</a:t>
            </a:r>
            <a:endParaRPr lang="en-US" sz="950" dirty="0"/>
          </a:p>
        </p:txBody>
      </p:sp>
      <p:sp>
        <p:nvSpPr>
          <p:cNvPr id="13" name="Shape 11"/>
          <p:cNvSpPr/>
          <p:nvPr/>
        </p:nvSpPr>
        <p:spPr>
          <a:xfrm>
            <a:off x="274320" y="1645920"/>
            <a:ext cx="2724912" cy="768096"/>
          </a:xfrm>
          <a:prstGeom prst="rect">
            <a:avLst/>
          </a:prstGeom>
          <a:solidFill>
            <a:srgbClr val="E8F1FA"/>
          </a:solidFill>
          <a:ln w="6350">
            <a:solidFill>
              <a:srgbClr val="D0DCE8"/>
            </a:solidFill>
            <a:prstDash val="solid"/>
          </a:ln>
        </p:spPr>
        <p:txBody>
          <a:bodyPr/>
          <a:lstStyle/>
          <a:p>
            <a:endParaRPr lang="fr-FR"/>
          </a:p>
        </p:txBody>
      </p:sp>
      <p:sp>
        <p:nvSpPr>
          <p:cNvPr id="14" name="Shape 12"/>
          <p:cNvSpPr/>
          <p:nvPr/>
        </p:nvSpPr>
        <p:spPr>
          <a:xfrm>
            <a:off x="274320" y="1645920"/>
            <a:ext cx="2724912" cy="228600"/>
          </a:xfrm>
          <a:prstGeom prst="rect">
            <a:avLst/>
          </a:prstGeom>
          <a:solidFill>
            <a:srgbClr val="2860A8"/>
          </a:solidFill>
          <a:ln w="12700">
            <a:solidFill>
              <a:srgbClr val="2860A8"/>
            </a:solidFill>
            <a:prstDash val="solid"/>
          </a:ln>
        </p:spPr>
        <p:txBody>
          <a:bodyPr/>
          <a:lstStyle/>
          <a:p>
            <a:endParaRPr lang="fr-FR"/>
          </a:p>
        </p:txBody>
      </p:sp>
      <p:sp>
        <p:nvSpPr>
          <p:cNvPr id="15" name="Text 13"/>
          <p:cNvSpPr/>
          <p:nvPr/>
        </p:nvSpPr>
        <p:spPr>
          <a:xfrm>
            <a:off x="347472" y="1645920"/>
            <a:ext cx="2615184"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Satisfaction quantitative et qualitative</a:t>
            </a:r>
            <a:endParaRPr lang="en-US" sz="850" dirty="0"/>
          </a:p>
        </p:txBody>
      </p:sp>
      <p:sp>
        <p:nvSpPr>
          <p:cNvPr id="16" name="Text 14"/>
          <p:cNvSpPr/>
          <p:nvPr/>
        </p:nvSpPr>
        <p:spPr>
          <a:xfrm>
            <a:off x="365760" y="1892808"/>
            <a:ext cx="2560320"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de la demande des T3P</a:t>
            </a:r>
            <a:endParaRPr lang="en-US" sz="850" dirty="0"/>
          </a:p>
        </p:txBody>
      </p:sp>
      <p:sp>
        <p:nvSpPr>
          <p:cNvPr id="17" name="Shape 15"/>
          <p:cNvSpPr/>
          <p:nvPr/>
        </p:nvSpPr>
        <p:spPr>
          <a:xfrm>
            <a:off x="3154680" y="1645920"/>
            <a:ext cx="2724912" cy="768096"/>
          </a:xfrm>
          <a:prstGeom prst="rect">
            <a:avLst/>
          </a:prstGeom>
          <a:solidFill>
            <a:srgbClr val="E8F1FA"/>
          </a:solidFill>
          <a:ln w="6350">
            <a:solidFill>
              <a:srgbClr val="D0DCE8"/>
            </a:solidFill>
            <a:prstDash val="solid"/>
          </a:ln>
        </p:spPr>
        <p:txBody>
          <a:bodyPr/>
          <a:lstStyle/>
          <a:p>
            <a:endParaRPr lang="fr-FR"/>
          </a:p>
        </p:txBody>
      </p:sp>
      <p:sp>
        <p:nvSpPr>
          <p:cNvPr id="18" name="Shape 16"/>
          <p:cNvSpPr/>
          <p:nvPr/>
        </p:nvSpPr>
        <p:spPr>
          <a:xfrm>
            <a:off x="3154680" y="1645920"/>
            <a:ext cx="2724912" cy="228600"/>
          </a:xfrm>
          <a:prstGeom prst="rect">
            <a:avLst/>
          </a:prstGeom>
          <a:solidFill>
            <a:srgbClr val="F4A227"/>
          </a:solidFill>
          <a:ln w="12700">
            <a:solidFill>
              <a:srgbClr val="F4A227"/>
            </a:solidFill>
            <a:prstDash val="solid"/>
          </a:ln>
        </p:spPr>
        <p:txBody>
          <a:bodyPr/>
          <a:lstStyle/>
          <a:p>
            <a:endParaRPr lang="fr-FR"/>
          </a:p>
        </p:txBody>
      </p:sp>
      <p:sp>
        <p:nvSpPr>
          <p:cNvPr id="19" name="Text 17"/>
          <p:cNvSpPr/>
          <p:nvPr/>
        </p:nvSpPr>
        <p:spPr>
          <a:xfrm>
            <a:off x="3227832" y="1645920"/>
            <a:ext cx="2615184"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État de l'offre du secteur</a:t>
            </a:r>
            <a:endParaRPr lang="en-US" sz="850" dirty="0"/>
          </a:p>
        </p:txBody>
      </p:sp>
      <p:sp>
        <p:nvSpPr>
          <p:cNvPr id="20" name="Text 18"/>
          <p:cNvSpPr/>
          <p:nvPr/>
        </p:nvSpPr>
        <p:spPr>
          <a:xfrm>
            <a:off x="3246120" y="1892808"/>
            <a:ext cx="2560320"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Niveau d'activité et évolution</a:t>
            </a:r>
            <a:endParaRPr lang="en-US" sz="850" dirty="0"/>
          </a:p>
        </p:txBody>
      </p:sp>
      <p:sp>
        <p:nvSpPr>
          <p:cNvPr id="21" name="Shape 19"/>
          <p:cNvSpPr/>
          <p:nvPr/>
        </p:nvSpPr>
        <p:spPr>
          <a:xfrm>
            <a:off x="6035040" y="1645920"/>
            <a:ext cx="2724912" cy="768096"/>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6035040" y="1645920"/>
            <a:ext cx="2724912" cy="228600"/>
          </a:xfrm>
          <a:prstGeom prst="rect">
            <a:avLst/>
          </a:prstGeom>
          <a:solidFill>
            <a:srgbClr val="6B7A8D"/>
          </a:solidFill>
          <a:ln w="12700">
            <a:solidFill>
              <a:srgbClr val="6B7A8D"/>
            </a:solidFill>
            <a:prstDash val="solid"/>
          </a:ln>
        </p:spPr>
        <p:txBody>
          <a:bodyPr/>
          <a:lstStyle/>
          <a:p>
            <a:endParaRPr lang="fr-FR"/>
          </a:p>
        </p:txBody>
      </p:sp>
      <p:sp>
        <p:nvSpPr>
          <p:cNvPr id="23" name="Text 21"/>
          <p:cNvSpPr/>
          <p:nvPr/>
        </p:nvSpPr>
        <p:spPr>
          <a:xfrm>
            <a:off x="6108192" y="1645920"/>
            <a:ext cx="2615184"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Offres de formations</a:t>
            </a:r>
            <a:endParaRPr lang="en-US" sz="850" dirty="0"/>
          </a:p>
        </p:txBody>
      </p:sp>
      <p:sp>
        <p:nvSpPr>
          <p:cNvPr id="24" name="Text 22"/>
          <p:cNvSpPr/>
          <p:nvPr/>
        </p:nvSpPr>
        <p:spPr>
          <a:xfrm>
            <a:off x="6126480" y="1892808"/>
            <a:ext cx="2560320"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des conducteurs et statistiques d'accès aux professions</a:t>
            </a:r>
            <a:endParaRPr lang="en-US" sz="850" dirty="0"/>
          </a:p>
        </p:txBody>
      </p:sp>
      <p:sp>
        <p:nvSpPr>
          <p:cNvPr id="25" name="Shape 23"/>
          <p:cNvSpPr/>
          <p:nvPr/>
        </p:nvSpPr>
        <p:spPr>
          <a:xfrm>
            <a:off x="274320" y="2487168"/>
            <a:ext cx="4206240" cy="768096"/>
          </a:xfrm>
          <a:prstGeom prst="rect">
            <a:avLst/>
          </a:prstGeom>
          <a:solidFill>
            <a:srgbClr val="E8F1FA"/>
          </a:solidFill>
          <a:ln w="6350">
            <a:solidFill>
              <a:srgbClr val="D0DCE8"/>
            </a:solidFill>
            <a:prstDash val="solid"/>
          </a:ln>
        </p:spPr>
        <p:txBody>
          <a:bodyPr/>
          <a:lstStyle/>
          <a:p>
            <a:endParaRPr lang="fr-FR"/>
          </a:p>
        </p:txBody>
      </p:sp>
      <p:sp>
        <p:nvSpPr>
          <p:cNvPr id="26" name="Shape 24"/>
          <p:cNvSpPr/>
          <p:nvPr/>
        </p:nvSpPr>
        <p:spPr>
          <a:xfrm>
            <a:off x="274320" y="2487168"/>
            <a:ext cx="4206240" cy="228600"/>
          </a:xfrm>
          <a:prstGeom prst="rect">
            <a:avLst/>
          </a:prstGeom>
          <a:solidFill>
            <a:srgbClr val="7B3F6E"/>
          </a:solidFill>
          <a:ln w="12700">
            <a:solidFill>
              <a:srgbClr val="7B3F6E"/>
            </a:solidFill>
            <a:prstDash val="solid"/>
          </a:ln>
        </p:spPr>
        <p:txBody>
          <a:bodyPr/>
          <a:lstStyle/>
          <a:p>
            <a:endParaRPr lang="fr-FR"/>
          </a:p>
        </p:txBody>
      </p:sp>
      <p:sp>
        <p:nvSpPr>
          <p:cNvPr id="27" name="Text 25"/>
          <p:cNvSpPr/>
          <p:nvPr/>
        </p:nvSpPr>
        <p:spPr>
          <a:xfrm>
            <a:off x="347472" y="2487168"/>
            <a:ext cx="409651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Respect de la réglementation</a:t>
            </a:r>
            <a:endParaRPr lang="en-US" sz="850" dirty="0"/>
          </a:p>
        </p:txBody>
      </p:sp>
      <p:sp>
        <p:nvSpPr>
          <p:cNvPr id="28" name="Text 26"/>
          <p:cNvSpPr/>
          <p:nvPr/>
        </p:nvSpPr>
        <p:spPr>
          <a:xfrm>
            <a:off x="365760" y="2734056"/>
            <a:ext cx="4041648"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du secteur T3P</a:t>
            </a:r>
            <a:endParaRPr lang="en-US" sz="850" dirty="0"/>
          </a:p>
        </p:txBody>
      </p:sp>
      <p:sp>
        <p:nvSpPr>
          <p:cNvPr id="29" name="Shape 27"/>
          <p:cNvSpPr/>
          <p:nvPr/>
        </p:nvSpPr>
        <p:spPr>
          <a:xfrm>
            <a:off x="4572000" y="2487168"/>
            <a:ext cx="4206240" cy="768096"/>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572000" y="2487168"/>
            <a:ext cx="4206240" cy="228600"/>
          </a:xfrm>
          <a:prstGeom prst="rect">
            <a:avLst/>
          </a:prstGeom>
          <a:solidFill>
            <a:srgbClr val="1A3A5C"/>
          </a:solidFill>
          <a:ln w="12700">
            <a:solidFill>
              <a:srgbClr val="1A3A5C"/>
            </a:solidFill>
            <a:prstDash val="solid"/>
          </a:ln>
        </p:spPr>
        <p:txBody>
          <a:bodyPr/>
          <a:lstStyle/>
          <a:p>
            <a:endParaRPr lang="fr-FR"/>
          </a:p>
        </p:txBody>
      </p:sp>
      <p:sp>
        <p:nvSpPr>
          <p:cNvPr id="31" name="Text 29"/>
          <p:cNvSpPr/>
          <p:nvPr/>
        </p:nvSpPr>
        <p:spPr>
          <a:xfrm>
            <a:off x="4645152" y="2487168"/>
            <a:ext cx="409651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Représentativité</a:t>
            </a:r>
            <a:endParaRPr lang="en-US" sz="850" dirty="0"/>
          </a:p>
        </p:txBody>
      </p:sp>
      <p:sp>
        <p:nvSpPr>
          <p:cNvPr id="32" name="Text 30"/>
          <p:cNvSpPr/>
          <p:nvPr/>
        </p:nvSpPr>
        <p:spPr>
          <a:xfrm>
            <a:off x="4663440" y="2734056"/>
            <a:ext cx="4041648"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des différents organismes représentant la profession (syndicats)</a:t>
            </a:r>
            <a:endParaRPr lang="en-US" sz="850" dirty="0"/>
          </a:p>
        </p:txBody>
      </p:sp>
      <p:sp>
        <p:nvSpPr>
          <p:cNvPr id="33" name="Shape 31"/>
          <p:cNvSpPr/>
          <p:nvPr/>
        </p:nvSpPr>
        <p:spPr>
          <a:xfrm>
            <a:off x="274320" y="3401568"/>
            <a:ext cx="8595360" cy="256032"/>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274320" y="3401568"/>
            <a:ext cx="859536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FONCTIONNEMENT ET COMPOSITION</a:t>
            </a:r>
            <a:endParaRPr lang="en-US" sz="950" dirty="0"/>
          </a:p>
        </p:txBody>
      </p:sp>
      <p:sp>
        <p:nvSpPr>
          <p:cNvPr id="35" name="Shape 33"/>
          <p:cNvSpPr/>
          <p:nvPr/>
        </p:nvSpPr>
        <p:spPr>
          <a:xfrm>
            <a:off x="274320" y="3730752"/>
            <a:ext cx="4206240" cy="347472"/>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274320" y="3730752"/>
            <a:ext cx="1371600" cy="347472"/>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329184" y="3730752"/>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Présidence</a:t>
            </a:r>
            <a:endParaRPr lang="en-US" sz="900" dirty="0"/>
          </a:p>
        </p:txBody>
      </p:sp>
      <p:sp>
        <p:nvSpPr>
          <p:cNvPr id="38" name="Text 36"/>
          <p:cNvSpPr/>
          <p:nvPr/>
        </p:nvSpPr>
        <p:spPr>
          <a:xfrm>
            <a:off x="1737360" y="3785616"/>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Préfet de département ou son représentant</a:t>
            </a:r>
            <a:endParaRPr lang="en-US" sz="900" dirty="0"/>
          </a:p>
        </p:txBody>
      </p:sp>
      <p:sp>
        <p:nvSpPr>
          <p:cNvPr id="39" name="Shape 37"/>
          <p:cNvSpPr/>
          <p:nvPr/>
        </p:nvSpPr>
        <p:spPr>
          <a:xfrm>
            <a:off x="4645152" y="3730752"/>
            <a:ext cx="4206240" cy="347472"/>
          </a:xfrm>
          <a:prstGeom prst="rect">
            <a:avLst/>
          </a:prstGeom>
          <a:solidFill>
            <a:srgbClr val="FFFFFF"/>
          </a:solidFill>
          <a:ln w="6350">
            <a:solidFill>
              <a:srgbClr val="D0DCE8"/>
            </a:solidFill>
            <a:prstDash val="solid"/>
          </a:ln>
        </p:spPr>
        <p:txBody>
          <a:bodyPr/>
          <a:lstStyle/>
          <a:p>
            <a:endParaRPr lang="fr-FR"/>
          </a:p>
        </p:txBody>
      </p:sp>
      <p:sp>
        <p:nvSpPr>
          <p:cNvPr id="40" name="Shape 38"/>
          <p:cNvSpPr/>
          <p:nvPr/>
        </p:nvSpPr>
        <p:spPr>
          <a:xfrm>
            <a:off x="4645152" y="3730752"/>
            <a:ext cx="1371600" cy="347472"/>
          </a:xfrm>
          <a:prstGeom prst="rect">
            <a:avLst/>
          </a:prstGeom>
          <a:solidFill>
            <a:srgbClr val="2860A8"/>
          </a:solidFill>
          <a:ln w="12700">
            <a:solidFill>
              <a:srgbClr val="2860A8"/>
            </a:solidFill>
            <a:prstDash val="solid"/>
          </a:ln>
        </p:spPr>
        <p:txBody>
          <a:bodyPr/>
          <a:lstStyle/>
          <a:p>
            <a:endParaRPr lang="fr-FR"/>
          </a:p>
        </p:txBody>
      </p:sp>
      <p:sp>
        <p:nvSpPr>
          <p:cNvPr id="41" name="Text 39"/>
          <p:cNvSpPr/>
          <p:nvPr/>
        </p:nvSpPr>
        <p:spPr>
          <a:xfrm>
            <a:off x="4700016" y="3730752"/>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Fréquence</a:t>
            </a:r>
            <a:endParaRPr lang="en-US" sz="900" dirty="0"/>
          </a:p>
        </p:txBody>
      </p:sp>
      <p:sp>
        <p:nvSpPr>
          <p:cNvPr id="42" name="Text 40"/>
          <p:cNvSpPr/>
          <p:nvPr/>
        </p:nvSpPr>
        <p:spPr>
          <a:xfrm>
            <a:off x="6108192" y="3785616"/>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Se réunit une fois par an</a:t>
            </a:r>
            <a:endParaRPr lang="en-US" sz="900" dirty="0"/>
          </a:p>
        </p:txBody>
      </p:sp>
      <p:sp>
        <p:nvSpPr>
          <p:cNvPr id="43" name="Shape 41"/>
          <p:cNvSpPr/>
          <p:nvPr/>
        </p:nvSpPr>
        <p:spPr>
          <a:xfrm>
            <a:off x="274320" y="4114800"/>
            <a:ext cx="4206240" cy="347472"/>
          </a:xfrm>
          <a:prstGeom prst="rect">
            <a:avLst/>
          </a:prstGeom>
          <a:solidFill>
            <a:srgbClr val="E8F1FA"/>
          </a:solidFill>
          <a:ln w="6350">
            <a:solidFill>
              <a:srgbClr val="D0DCE8"/>
            </a:solidFill>
            <a:prstDash val="solid"/>
          </a:ln>
        </p:spPr>
        <p:txBody>
          <a:bodyPr/>
          <a:lstStyle/>
          <a:p>
            <a:endParaRPr lang="fr-FR"/>
          </a:p>
        </p:txBody>
      </p:sp>
      <p:sp>
        <p:nvSpPr>
          <p:cNvPr id="44" name="Shape 42"/>
          <p:cNvSpPr/>
          <p:nvPr/>
        </p:nvSpPr>
        <p:spPr>
          <a:xfrm>
            <a:off x="274320" y="4114800"/>
            <a:ext cx="1371600" cy="347472"/>
          </a:xfrm>
          <a:prstGeom prst="rect">
            <a:avLst/>
          </a:prstGeom>
          <a:solidFill>
            <a:srgbClr val="2860A8"/>
          </a:solidFill>
          <a:ln w="12700">
            <a:solidFill>
              <a:srgbClr val="2860A8"/>
            </a:solidFill>
            <a:prstDash val="solid"/>
          </a:ln>
        </p:spPr>
        <p:txBody>
          <a:bodyPr/>
          <a:lstStyle/>
          <a:p>
            <a:endParaRPr lang="fr-FR"/>
          </a:p>
        </p:txBody>
      </p:sp>
      <p:sp>
        <p:nvSpPr>
          <p:cNvPr id="45" name="Text 43"/>
          <p:cNvSpPr/>
          <p:nvPr/>
        </p:nvSpPr>
        <p:spPr>
          <a:xfrm>
            <a:off x="329184" y="4114800"/>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Mandat</a:t>
            </a:r>
            <a:endParaRPr lang="en-US" sz="900" dirty="0"/>
          </a:p>
        </p:txBody>
      </p:sp>
      <p:sp>
        <p:nvSpPr>
          <p:cNvPr id="46" name="Text 44"/>
          <p:cNvSpPr/>
          <p:nvPr/>
        </p:nvSpPr>
        <p:spPr>
          <a:xfrm>
            <a:off x="1737360" y="4169664"/>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3 ans pour les membres</a:t>
            </a:r>
            <a:endParaRPr lang="en-US" sz="900" dirty="0"/>
          </a:p>
        </p:txBody>
      </p:sp>
      <p:sp>
        <p:nvSpPr>
          <p:cNvPr id="47" name="Shape 45"/>
          <p:cNvSpPr/>
          <p:nvPr/>
        </p:nvSpPr>
        <p:spPr>
          <a:xfrm>
            <a:off x="4645152" y="4114800"/>
            <a:ext cx="4206240" cy="347472"/>
          </a:xfrm>
          <a:prstGeom prst="rect">
            <a:avLst/>
          </a:prstGeom>
          <a:solidFill>
            <a:srgbClr val="FFFFFF"/>
          </a:solidFill>
          <a:ln w="6350">
            <a:solidFill>
              <a:srgbClr val="D0DCE8"/>
            </a:solidFill>
            <a:prstDash val="solid"/>
          </a:ln>
        </p:spPr>
        <p:txBody>
          <a:bodyPr/>
          <a:lstStyle/>
          <a:p>
            <a:endParaRPr lang="fr-FR"/>
          </a:p>
        </p:txBody>
      </p:sp>
      <p:sp>
        <p:nvSpPr>
          <p:cNvPr id="48" name="Shape 46"/>
          <p:cNvSpPr/>
          <p:nvPr/>
        </p:nvSpPr>
        <p:spPr>
          <a:xfrm>
            <a:off x="4645152" y="4114800"/>
            <a:ext cx="1371600" cy="347472"/>
          </a:xfrm>
          <a:prstGeom prst="rect">
            <a:avLst/>
          </a:prstGeom>
          <a:solidFill>
            <a:srgbClr val="2860A8"/>
          </a:solidFill>
          <a:ln w="12700">
            <a:solidFill>
              <a:srgbClr val="2860A8"/>
            </a:solidFill>
            <a:prstDash val="solid"/>
          </a:ln>
        </p:spPr>
        <p:txBody>
          <a:bodyPr/>
          <a:lstStyle/>
          <a:p>
            <a:endParaRPr lang="fr-FR"/>
          </a:p>
        </p:txBody>
      </p:sp>
      <p:sp>
        <p:nvSpPr>
          <p:cNvPr id="49" name="Text 47"/>
          <p:cNvSpPr/>
          <p:nvPr/>
        </p:nvSpPr>
        <p:spPr>
          <a:xfrm>
            <a:off x="4700016" y="4114800"/>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Rapport remis à</a:t>
            </a:r>
            <a:endParaRPr lang="en-US" sz="900" dirty="0"/>
          </a:p>
        </p:txBody>
      </p:sp>
      <p:sp>
        <p:nvSpPr>
          <p:cNvPr id="50" name="Text 48"/>
          <p:cNvSpPr/>
          <p:nvPr/>
        </p:nvSpPr>
        <p:spPr>
          <a:xfrm>
            <a:off x="6108192" y="4169664"/>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L'Observatoire national des T3P</a:t>
            </a:r>
            <a:endParaRPr lang="en-US" sz="900" dirty="0"/>
          </a:p>
        </p:txBody>
      </p:sp>
      <p:sp>
        <p:nvSpPr>
          <p:cNvPr id="51" name="Shape 49"/>
          <p:cNvSpPr/>
          <p:nvPr/>
        </p:nvSpPr>
        <p:spPr>
          <a:xfrm>
            <a:off x="274320" y="4919472"/>
            <a:ext cx="8595360" cy="347472"/>
          </a:xfrm>
          <a:prstGeom prst="rect">
            <a:avLst/>
          </a:prstGeom>
          <a:solidFill>
            <a:srgbClr val="FFFBEB"/>
          </a:solidFill>
          <a:ln w="19050">
            <a:solidFill>
              <a:srgbClr val="F4A227"/>
            </a:solidFill>
            <a:prstDash val="solid"/>
          </a:ln>
        </p:spPr>
        <p:txBody>
          <a:bodyPr/>
          <a:lstStyle/>
          <a:p>
            <a:endParaRPr lang="fr-FR"/>
          </a:p>
        </p:txBody>
      </p:sp>
      <p:sp>
        <p:nvSpPr>
          <p:cNvPr id="52" name="Shape 50"/>
          <p:cNvSpPr/>
          <p:nvPr/>
        </p:nvSpPr>
        <p:spPr>
          <a:xfrm>
            <a:off x="274320" y="4919472"/>
            <a:ext cx="54864" cy="347472"/>
          </a:xfrm>
          <a:prstGeom prst="rect">
            <a:avLst/>
          </a:prstGeom>
          <a:solidFill>
            <a:srgbClr val="F4A227"/>
          </a:solidFill>
          <a:ln w="12700">
            <a:solidFill>
              <a:srgbClr val="F4A227"/>
            </a:solidFill>
            <a:prstDash val="solid"/>
          </a:ln>
        </p:spPr>
        <p:txBody>
          <a:bodyPr/>
          <a:lstStyle/>
          <a:p>
            <a:endParaRPr lang="fr-FR"/>
          </a:p>
        </p:txBody>
      </p:sp>
      <p:sp>
        <p:nvSpPr>
          <p:cNvPr id="53" name="Text 51"/>
          <p:cNvSpPr/>
          <p:nvPr/>
        </p:nvSpPr>
        <p:spPr>
          <a:xfrm>
            <a:off x="384048" y="4550000"/>
            <a:ext cx="8467344" cy="500000"/>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ℹ  Composition : 4 collèges à parts égales — État, professionnels (taxis/VTC/VMDTR), collectivités territoriales, consommateurs/PMR/sécurité routière. Informe l'Observatoire national du suivi du secteur.</a:t>
            </a:r>
            <a:endParaRPr lang="en-US" sz="1000" dirty="0"/>
          </a:p>
        </p:txBody>
      </p:sp>
      <p:sp>
        <p:nvSpPr>
          <p:cNvPr id="54" name="Rectangle 5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55" name="Rectangle 5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commission disciplinaire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Taxis, VTC et VMDTR — Composition et fonctionnement — Page 121</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C0392B"/>
          </a:solidFill>
          <a:ln w="12700">
            <a:solidFill>
              <a:srgbClr val="C0392B"/>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COMMISSION DISCIPLINAIRE POUR LES TAXIS, VTC ET VMDTR</a:t>
            </a:r>
            <a:endParaRPr lang="en-US" sz="1100" dirty="0"/>
          </a:p>
        </p:txBody>
      </p:sp>
      <p:sp>
        <p:nvSpPr>
          <p:cNvPr id="11" name="Shape 9"/>
          <p:cNvSpPr/>
          <p:nvPr/>
        </p:nvSpPr>
        <p:spPr>
          <a:xfrm>
            <a:off x="274320" y="1335024"/>
            <a:ext cx="8595360" cy="74980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2" name="Shape 10"/>
          <p:cNvSpPr/>
          <p:nvPr/>
        </p:nvSpPr>
        <p:spPr>
          <a:xfrm>
            <a:off x="274320" y="1335024"/>
            <a:ext cx="8595360" cy="301752"/>
          </a:xfrm>
          <a:prstGeom prst="rect">
            <a:avLst/>
          </a:prstGeom>
          <a:solidFill>
            <a:srgbClr val="C0392B"/>
          </a:solidFill>
          <a:ln w="12700">
            <a:solidFill>
              <a:srgbClr val="C0392B"/>
            </a:solidFill>
            <a:prstDash val="solid"/>
          </a:ln>
        </p:spPr>
        <p:txBody>
          <a:bodyPr/>
          <a:lstStyle/>
          <a:p>
            <a:endParaRPr lang="fr-FR"/>
          </a:p>
        </p:txBody>
      </p:sp>
      <p:sp>
        <p:nvSpPr>
          <p:cNvPr id="13" name="Text 11"/>
          <p:cNvSpPr/>
          <p:nvPr/>
        </p:nvSpPr>
        <p:spPr>
          <a:xfrm>
            <a:off x="365760" y="1335024"/>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RÔLE ET STRUCTURE</a:t>
            </a:r>
            <a:endParaRPr lang="en-US" sz="1050" dirty="0"/>
          </a:p>
        </p:txBody>
      </p:sp>
      <p:sp>
        <p:nvSpPr>
          <p:cNvPr id="14" name="Text 12"/>
          <p:cNvSpPr/>
          <p:nvPr/>
        </p:nvSpPr>
        <p:spPr>
          <a:xfrm>
            <a:off x="384048" y="1682496"/>
            <a:ext cx="8412480" cy="35661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La commission peut comprendre jusqu'à 3 sections spécialisées en matière disciplinaire pour respectivement les taxis, les voitures de transport avec chauffeur (VTC) et les véhicules motorisés à deux ou trois roues (VMDTR).</a:t>
            </a:r>
            <a:endParaRPr lang="en-US" sz="1000" dirty="0"/>
          </a:p>
        </p:txBody>
      </p:sp>
      <p:sp>
        <p:nvSpPr>
          <p:cNvPr id="15" name="Shape 13"/>
          <p:cNvSpPr/>
          <p:nvPr/>
        </p:nvSpPr>
        <p:spPr>
          <a:xfrm>
            <a:off x="274320" y="2212848"/>
            <a:ext cx="8595360" cy="274320"/>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274320" y="2212848"/>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SECTIONS SPÉCIALISÉES</a:t>
            </a:r>
            <a:endParaRPr lang="en-US" sz="1000" dirty="0"/>
          </a:p>
        </p:txBody>
      </p:sp>
      <p:sp>
        <p:nvSpPr>
          <p:cNvPr id="17" name="Shape 15"/>
          <p:cNvSpPr/>
          <p:nvPr/>
        </p:nvSpPr>
        <p:spPr>
          <a:xfrm>
            <a:off x="274320" y="2542032"/>
            <a:ext cx="2724912" cy="475488"/>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542032"/>
            <a:ext cx="2724912"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SECTION TAXI</a:t>
            </a:r>
            <a:endParaRPr lang="en-US" sz="1200" dirty="0"/>
          </a:p>
        </p:txBody>
      </p:sp>
      <p:sp>
        <p:nvSpPr>
          <p:cNvPr id="19" name="Shape 17"/>
          <p:cNvSpPr/>
          <p:nvPr/>
        </p:nvSpPr>
        <p:spPr>
          <a:xfrm>
            <a:off x="3154680" y="2542032"/>
            <a:ext cx="2724912" cy="475488"/>
          </a:xfrm>
          <a:prstGeom prst="rect">
            <a:avLst/>
          </a:prstGeom>
          <a:solidFill>
            <a:srgbClr val="1A3A5C"/>
          </a:solidFill>
          <a:ln w="12700">
            <a:solidFill>
              <a:srgbClr val="1A3A5C"/>
            </a:solidFill>
            <a:prstDash val="solid"/>
          </a:ln>
        </p:spPr>
        <p:txBody>
          <a:bodyPr/>
          <a:lstStyle/>
          <a:p>
            <a:endParaRPr lang="fr-FR"/>
          </a:p>
        </p:txBody>
      </p:sp>
      <p:sp>
        <p:nvSpPr>
          <p:cNvPr id="20" name="Text 18"/>
          <p:cNvSpPr/>
          <p:nvPr/>
        </p:nvSpPr>
        <p:spPr>
          <a:xfrm>
            <a:off x="3154680" y="2542032"/>
            <a:ext cx="2724912"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SECTION VTC</a:t>
            </a:r>
            <a:endParaRPr lang="en-US" sz="1200" dirty="0"/>
          </a:p>
        </p:txBody>
      </p:sp>
      <p:sp>
        <p:nvSpPr>
          <p:cNvPr id="21" name="Shape 19"/>
          <p:cNvSpPr/>
          <p:nvPr/>
        </p:nvSpPr>
        <p:spPr>
          <a:xfrm>
            <a:off x="6035040" y="2542032"/>
            <a:ext cx="2724912" cy="475488"/>
          </a:xfrm>
          <a:prstGeom prst="rect">
            <a:avLst/>
          </a:prstGeom>
          <a:solidFill>
            <a:srgbClr val="6B7A8D"/>
          </a:solidFill>
          <a:ln w="12700">
            <a:solidFill>
              <a:srgbClr val="6B7A8D"/>
            </a:solidFill>
            <a:prstDash val="solid"/>
          </a:ln>
        </p:spPr>
        <p:txBody>
          <a:bodyPr/>
          <a:lstStyle/>
          <a:p>
            <a:endParaRPr lang="fr-FR"/>
          </a:p>
        </p:txBody>
      </p:sp>
      <p:sp>
        <p:nvSpPr>
          <p:cNvPr id="22" name="Text 20"/>
          <p:cNvSpPr/>
          <p:nvPr/>
        </p:nvSpPr>
        <p:spPr>
          <a:xfrm>
            <a:off x="6035040" y="2542032"/>
            <a:ext cx="2724912"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SECTION VMDTR</a:t>
            </a:r>
            <a:endParaRPr lang="en-US" sz="1200" dirty="0"/>
          </a:p>
        </p:txBody>
      </p:sp>
      <p:sp>
        <p:nvSpPr>
          <p:cNvPr id="23" name="Shape 21"/>
          <p:cNvSpPr/>
          <p:nvPr/>
        </p:nvSpPr>
        <p:spPr>
          <a:xfrm>
            <a:off x="274320" y="3145536"/>
            <a:ext cx="8595360" cy="274320"/>
          </a:xfrm>
          <a:prstGeom prst="rect">
            <a:avLst/>
          </a:prstGeom>
          <a:solidFill>
            <a:srgbClr val="2860A8"/>
          </a:solidFill>
          <a:ln w="12700">
            <a:solidFill>
              <a:srgbClr val="2860A8"/>
            </a:solidFill>
            <a:prstDash val="solid"/>
          </a:ln>
        </p:spPr>
        <p:txBody>
          <a:bodyPr/>
          <a:lstStyle/>
          <a:p>
            <a:endParaRPr lang="fr-FR"/>
          </a:p>
        </p:txBody>
      </p:sp>
      <p:sp>
        <p:nvSpPr>
          <p:cNvPr id="24" name="Text 22"/>
          <p:cNvSpPr/>
          <p:nvPr/>
        </p:nvSpPr>
        <p:spPr>
          <a:xfrm>
            <a:off x="274320" y="3145536"/>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COMPOSITION DE CHAQUE SECTION — À PARTS ÉGALES</a:t>
            </a:r>
            <a:endParaRPr lang="en-US" sz="1000" dirty="0"/>
          </a:p>
        </p:txBody>
      </p:sp>
      <p:sp>
        <p:nvSpPr>
          <p:cNvPr id="25" name="Shape 23"/>
          <p:cNvSpPr/>
          <p:nvPr/>
        </p:nvSpPr>
        <p:spPr>
          <a:xfrm>
            <a:off x="274320" y="3493008"/>
            <a:ext cx="2724912" cy="1463040"/>
          </a:xfrm>
          <a:prstGeom prst="rect">
            <a:avLst/>
          </a:prstGeom>
          <a:solidFill>
            <a:srgbClr val="E8F1FA"/>
          </a:solidFill>
          <a:ln w="6350">
            <a:solidFill>
              <a:srgbClr val="D0DCE8"/>
            </a:solidFill>
            <a:prstDash val="solid"/>
          </a:ln>
        </p:spPr>
        <p:txBody>
          <a:bodyPr/>
          <a:lstStyle/>
          <a:p>
            <a:endParaRPr lang="fr-FR"/>
          </a:p>
        </p:txBody>
      </p:sp>
      <p:sp>
        <p:nvSpPr>
          <p:cNvPr id="26" name="Shape 24"/>
          <p:cNvSpPr/>
          <p:nvPr/>
        </p:nvSpPr>
        <p:spPr>
          <a:xfrm>
            <a:off x="274320" y="3493008"/>
            <a:ext cx="2724912" cy="274320"/>
          </a:xfrm>
          <a:prstGeom prst="rect">
            <a:avLst/>
          </a:prstGeom>
          <a:solidFill>
            <a:srgbClr val="2860A8"/>
          </a:solidFill>
          <a:ln w="12700">
            <a:solidFill>
              <a:srgbClr val="2860A8"/>
            </a:solidFill>
            <a:prstDash val="solid"/>
          </a:ln>
        </p:spPr>
        <p:txBody>
          <a:bodyPr/>
          <a:lstStyle/>
          <a:p>
            <a:endParaRPr lang="fr-FR"/>
          </a:p>
        </p:txBody>
      </p:sp>
      <p:sp>
        <p:nvSpPr>
          <p:cNvPr id="27" name="Text 25"/>
          <p:cNvSpPr/>
          <p:nvPr/>
        </p:nvSpPr>
        <p:spPr>
          <a:xfrm>
            <a:off x="347472" y="3493008"/>
            <a:ext cx="25786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COLLÈGE DE L'ÉTAT</a:t>
            </a:r>
            <a:endParaRPr lang="en-US" sz="900" dirty="0"/>
          </a:p>
        </p:txBody>
      </p:sp>
      <p:sp>
        <p:nvSpPr>
          <p:cNvPr id="28" name="Text 26"/>
          <p:cNvSpPr/>
          <p:nvPr/>
        </p:nvSpPr>
        <p:spPr>
          <a:xfrm>
            <a:off x="365760" y="3785616"/>
            <a:ext cx="2542032" cy="1152144"/>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Représentants de l'administration. Nommés par arrêté ministériel.</a:t>
            </a:r>
            <a:endParaRPr lang="en-US" sz="900" dirty="0"/>
          </a:p>
        </p:txBody>
      </p:sp>
      <p:sp>
        <p:nvSpPr>
          <p:cNvPr id="29" name="Shape 27"/>
          <p:cNvSpPr/>
          <p:nvPr/>
        </p:nvSpPr>
        <p:spPr>
          <a:xfrm>
            <a:off x="3154680" y="3493008"/>
            <a:ext cx="2724912" cy="146304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3154680" y="3493008"/>
            <a:ext cx="2724912" cy="274320"/>
          </a:xfrm>
          <a:prstGeom prst="rect">
            <a:avLst/>
          </a:prstGeom>
          <a:solidFill>
            <a:srgbClr val="F4A227"/>
          </a:solidFill>
          <a:ln w="12700">
            <a:solidFill>
              <a:srgbClr val="F4A227"/>
            </a:solidFill>
            <a:prstDash val="solid"/>
          </a:ln>
        </p:spPr>
        <p:txBody>
          <a:bodyPr/>
          <a:lstStyle/>
          <a:p>
            <a:endParaRPr lang="fr-FR"/>
          </a:p>
        </p:txBody>
      </p:sp>
      <p:sp>
        <p:nvSpPr>
          <p:cNvPr id="31" name="Text 29"/>
          <p:cNvSpPr/>
          <p:nvPr/>
        </p:nvSpPr>
        <p:spPr>
          <a:xfrm>
            <a:off x="3227832" y="3493008"/>
            <a:ext cx="25786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COLLÈGE DES PROFESSIONNELS</a:t>
            </a:r>
            <a:endParaRPr lang="en-US" sz="900" dirty="0"/>
          </a:p>
        </p:txBody>
      </p:sp>
      <p:sp>
        <p:nvSpPr>
          <p:cNvPr id="32" name="Text 30"/>
          <p:cNvSpPr/>
          <p:nvPr/>
        </p:nvSpPr>
        <p:spPr>
          <a:xfrm>
            <a:off x="3246120" y="3785616"/>
            <a:ext cx="2542032" cy="1152144"/>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Représentants des professionnels T3P du secteur concerné (taxis, VTC ou VMDTR).</a:t>
            </a:r>
            <a:endParaRPr lang="en-US" sz="900" dirty="0"/>
          </a:p>
        </p:txBody>
      </p:sp>
      <p:sp>
        <p:nvSpPr>
          <p:cNvPr id="33" name="Shape 31"/>
          <p:cNvSpPr/>
          <p:nvPr/>
        </p:nvSpPr>
        <p:spPr>
          <a:xfrm>
            <a:off x="6035040" y="3493008"/>
            <a:ext cx="2724912" cy="1463040"/>
          </a:xfrm>
          <a:prstGeom prst="rect">
            <a:avLst/>
          </a:prstGeom>
          <a:solidFill>
            <a:srgbClr val="E8F1FA"/>
          </a:solidFill>
          <a:ln w="6350">
            <a:solidFill>
              <a:srgbClr val="D0DCE8"/>
            </a:solidFill>
            <a:prstDash val="solid"/>
          </a:ln>
        </p:spPr>
        <p:txBody>
          <a:bodyPr/>
          <a:lstStyle/>
          <a:p>
            <a:endParaRPr lang="fr-FR"/>
          </a:p>
        </p:txBody>
      </p:sp>
      <p:sp>
        <p:nvSpPr>
          <p:cNvPr id="34" name="Shape 32"/>
          <p:cNvSpPr/>
          <p:nvPr/>
        </p:nvSpPr>
        <p:spPr>
          <a:xfrm>
            <a:off x="6035040" y="3493008"/>
            <a:ext cx="2724912" cy="274320"/>
          </a:xfrm>
          <a:prstGeom prst="rect">
            <a:avLst/>
          </a:prstGeom>
          <a:solidFill>
            <a:srgbClr val="6B7A8D"/>
          </a:solidFill>
          <a:ln w="12700">
            <a:solidFill>
              <a:srgbClr val="6B7A8D"/>
            </a:solidFill>
            <a:prstDash val="solid"/>
          </a:ln>
        </p:spPr>
        <p:txBody>
          <a:bodyPr/>
          <a:lstStyle/>
          <a:p>
            <a:endParaRPr lang="fr-FR"/>
          </a:p>
        </p:txBody>
      </p:sp>
      <p:sp>
        <p:nvSpPr>
          <p:cNvPr id="35" name="Text 33"/>
          <p:cNvSpPr/>
          <p:nvPr/>
        </p:nvSpPr>
        <p:spPr>
          <a:xfrm>
            <a:off x="6108192" y="3493008"/>
            <a:ext cx="25786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L'INCULPÉ</a:t>
            </a:r>
            <a:endParaRPr lang="en-US" sz="900" dirty="0"/>
          </a:p>
        </p:txBody>
      </p:sp>
      <p:sp>
        <p:nvSpPr>
          <p:cNvPr id="36" name="Text 34"/>
          <p:cNvSpPr/>
          <p:nvPr/>
        </p:nvSpPr>
        <p:spPr>
          <a:xfrm>
            <a:off x="6126480" y="3785616"/>
            <a:ext cx="2542032" cy="1152144"/>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L'inculpé peut se présenter accompagné d'une personne de son choix (avocat, délégué syndical...).</a:t>
            </a:r>
            <a:endParaRPr lang="en-US" sz="900" dirty="0"/>
          </a:p>
        </p:txBody>
      </p:sp>
      <p:sp>
        <p:nvSpPr>
          <p:cNvPr id="37" name="Shape 35"/>
          <p:cNvSpPr/>
          <p:nvPr/>
        </p:nvSpPr>
        <p:spPr>
          <a:xfrm>
            <a:off x="274320" y="5074920"/>
            <a:ext cx="8595360" cy="292608"/>
          </a:xfrm>
          <a:prstGeom prst="rect">
            <a:avLst/>
          </a:prstGeom>
          <a:solidFill>
            <a:srgbClr val="FFFBEB"/>
          </a:solidFill>
          <a:ln w="19050">
            <a:solidFill>
              <a:srgbClr val="F4A227"/>
            </a:solidFill>
            <a:prstDash val="solid"/>
          </a:ln>
        </p:spPr>
        <p:txBody>
          <a:bodyPr/>
          <a:lstStyle/>
          <a:p>
            <a:endParaRPr lang="fr-FR"/>
          </a:p>
        </p:txBody>
      </p:sp>
      <p:sp>
        <p:nvSpPr>
          <p:cNvPr id="38" name="Shape 36"/>
          <p:cNvSpPr/>
          <p:nvPr/>
        </p:nvSpPr>
        <p:spPr>
          <a:xfrm>
            <a:off x="274320" y="5074920"/>
            <a:ext cx="54864" cy="292608"/>
          </a:xfrm>
          <a:prstGeom prst="rect">
            <a:avLst/>
          </a:prstGeom>
          <a:solidFill>
            <a:srgbClr val="F4A227"/>
          </a:solidFill>
          <a:ln w="12700">
            <a:solidFill>
              <a:srgbClr val="F4A227"/>
            </a:solidFill>
            <a:prstDash val="solid"/>
          </a:ln>
        </p:spPr>
        <p:txBody>
          <a:bodyPr/>
          <a:lstStyle/>
          <a:p>
            <a:endParaRPr lang="fr-FR"/>
          </a:p>
        </p:txBody>
      </p:sp>
      <p:sp>
        <p:nvSpPr>
          <p:cNvPr id="39" name="Text 37"/>
          <p:cNvSpPr/>
          <p:nvPr/>
        </p:nvSpPr>
        <p:spPr>
          <a:xfrm>
            <a:off x="384048" y="5074920"/>
            <a:ext cx="8467344"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La commission disciplinaire peut retirer temporairement ou définitivement la carte professionnelle en cas de violation de la réglementation.</a:t>
            </a:r>
            <a:endParaRPr lang="en-US" sz="1000" dirty="0"/>
          </a:p>
        </p:txBody>
      </p:sp>
      <p:sp>
        <p:nvSpPr>
          <p:cNvPr id="40" name="Rectangle 3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1" name="Rectangle 4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75">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Synthèse finale — Révision complète du programme T3P</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D'après le livre pages 113 à 122</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11.jpg"/>
          <p:cNvPicPr>
            <a:picLocks noChangeAspect="1"/>
          </p:cNvPicPr>
          <p:nvPr/>
        </p:nvPicPr>
        <p:blipFill>
          <a:blip r:embed="rId3"/>
          <a:stretch>
            <a:fillRect/>
          </a:stretch>
        </p:blipFill>
        <p:spPr>
          <a:xfrm>
            <a:off x="3020786" y="2820924"/>
            <a:ext cx="3102428" cy="1737360"/>
          </a:xfrm>
          <a:prstGeom prst="rect">
            <a:avLst/>
          </a:prstGeom>
          <a:ln w="9525">
            <a:solidFill>
              <a:srgbClr val="00B4D8"/>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Agents de contrôle sur route et en entreprise (p.114-115)</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8595360" cy="27432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32688"/>
            <a:ext cx="859536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LES AGENTS HABILITÉS À CONTRÔLER UN CONDUCTEUR T3P</a:t>
            </a:r>
            <a:endParaRPr lang="en-US" sz="1100" dirty="0"/>
          </a:p>
        </p:txBody>
      </p:sp>
      <p:sp>
        <p:nvSpPr>
          <p:cNvPr id="10" name="Shape 8"/>
          <p:cNvSpPr/>
          <p:nvPr/>
        </p:nvSpPr>
        <p:spPr>
          <a:xfrm>
            <a:off x="274320" y="1280160"/>
            <a:ext cx="8595360" cy="676656"/>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280160"/>
            <a:ext cx="2011680" cy="676656"/>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347472" y="1335024"/>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GENDARMERIE NATIONALE</a:t>
            </a:r>
            <a:endParaRPr lang="en-US" sz="850" dirty="0"/>
          </a:p>
          <a:p>
            <a:pPr marL="0" indent="0">
              <a:buNone/>
            </a:pPr>
            <a:r>
              <a:rPr lang="en-US" sz="850" b="1" dirty="0">
                <a:solidFill>
                  <a:srgbClr val="FFFFFF"/>
                </a:solidFill>
                <a:latin typeface="Calibri" pitchFamily="34" charset="0"/>
                <a:ea typeface="Calibri" pitchFamily="34" charset="-122"/>
                <a:cs typeface="Calibri" pitchFamily="34" charset="-120"/>
              </a:rPr>
              <a:t>et AGENTS DE POLICE JUDICIAIRE</a:t>
            </a:r>
            <a:endParaRPr lang="en-US" sz="850" dirty="0"/>
          </a:p>
        </p:txBody>
      </p:sp>
      <p:sp>
        <p:nvSpPr>
          <p:cNvPr id="13" name="Text 11"/>
          <p:cNvSpPr/>
          <p:nvPr/>
        </p:nvSpPr>
        <p:spPr>
          <a:xfrm>
            <a:off x="2377440" y="1316736"/>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Constater les infractions à la loi pénale. Placer en garde à vue les personnes soupçonnées d'infractions.</a:t>
            </a:r>
            <a:endParaRPr lang="en-US" sz="850" dirty="0"/>
          </a:p>
        </p:txBody>
      </p:sp>
      <p:sp>
        <p:nvSpPr>
          <p:cNvPr id="14" name="Shape 12"/>
          <p:cNvSpPr/>
          <p:nvPr/>
        </p:nvSpPr>
        <p:spPr>
          <a:xfrm>
            <a:off x="5669280" y="1298448"/>
            <a:ext cx="36576" cy="621792"/>
          </a:xfrm>
          <a:prstGeom prst="rect">
            <a:avLst/>
          </a:prstGeom>
          <a:solidFill>
            <a:srgbClr val="2860A8"/>
          </a:solidFill>
          <a:ln w="12700">
            <a:solidFill>
              <a:srgbClr val="2860A8"/>
            </a:solidFill>
            <a:prstDash val="solid"/>
          </a:ln>
        </p:spPr>
        <p:txBody>
          <a:bodyPr/>
          <a:lstStyle/>
          <a:p>
            <a:endParaRPr lang="fr-FR"/>
          </a:p>
        </p:txBody>
      </p:sp>
      <p:sp>
        <p:nvSpPr>
          <p:cNvPr id="15" name="Text 13"/>
          <p:cNvSpPr/>
          <p:nvPr/>
        </p:nvSpPr>
        <p:spPr>
          <a:xfrm>
            <a:off x="5760720" y="1316736"/>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Maintien de l'ordre et de la sécurité de la population. Assurer la sécurité publique.</a:t>
            </a:r>
            <a:endParaRPr lang="en-US" sz="850" dirty="0"/>
          </a:p>
        </p:txBody>
      </p:sp>
      <p:sp>
        <p:nvSpPr>
          <p:cNvPr id="16" name="Shape 14"/>
          <p:cNvSpPr/>
          <p:nvPr/>
        </p:nvSpPr>
        <p:spPr>
          <a:xfrm>
            <a:off x="274320" y="2029968"/>
            <a:ext cx="8595360" cy="676656"/>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029968"/>
            <a:ext cx="2011680" cy="676656"/>
          </a:xfrm>
          <a:prstGeom prst="rect">
            <a:avLst/>
          </a:prstGeom>
          <a:solidFill>
            <a:srgbClr val="F4A227"/>
          </a:solidFill>
          <a:ln w="12700">
            <a:solidFill>
              <a:srgbClr val="F4A227"/>
            </a:solidFill>
            <a:prstDash val="solid"/>
          </a:ln>
        </p:spPr>
        <p:txBody>
          <a:bodyPr/>
          <a:lstStyle/>
          <a:p>
            <a:endParaRPr lang="fr-FR"/>
          </a:p>
        </p:txBody>
      </p:sp>
      <p:sp>
        <p:nvSpPr>
          <p:cNvPr id="18" name="Text 16"/>
          <p:cNvSpPr/>
          <p:nvPr/>
        </p:nvSpPr>
        <p:spPr>
          <a:xfrm>
            <a:off x="347472" y="2084832"/>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LES DOUANES</a:t>
            </a:r>
            <a:endParaRPr lang="en-US" sz="850" dirty="0"/>
          </a:p>
        </p:txBody>
      </p:sp>
      <p:sp>
        <p:nvSpPr>
          <p:cNvPr id="19" name="Text 17"/>
          <p:cNvSpPr/>
          <p:nvPr/>
        </p:nvSpPr>
        <p:spPr>
          <a:xfrm>
            <a:off x="2377440" y="2066544"/>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Contrôle des bagages, marchandises, personnes et véhicules.</a:t>
            </a:r>
            <a:endParaRPr lang="en-US" sz="850" dirty="0"/>
          </a:p>
        </p:txBody>
      </p:sp>
      <p:sp>
        <p:nvSpPr>
          <p:cNvPr id="20" name="Shape 18"/>
          <p:cNvSpPr/>
          <p:nvPr/>
        </p:nvSpPr>
        <p:spPr>
          <a:xfrm>
            <a:off x="5669280" y="2048256"/>
            <a:ext cx="36576" cy="621792"/>
          </a:xfrm>
          <a:prstGeom prst="rect">
            <a:avLst/>
          </a:prstGeom>
          <a:solidFill>
            <a:srgbClr val="F4A227"/>
          </a:solidFill>
          <a:ln w="12700">
            <a:solidFill>
              <a:srgbClr val="F4A227"/>
            </a:solidFill>
            <a:prstDash val="solid"/>
          </a:ln>
        </p:spPr>
        <p:txBody>
          <a:bodyPr/>
          <a:lstStyle/>
          <a:p>
            <a:endParaRPr lang="fr-FR"/>
          </a:p>
        </p:txBody>
      </p:sp>
      <p:sp>
        <p:nvSpPr>
          <p:cNvPr id="21" name="Text 19"/>
          <p:cNvSpPr/>
          <p:nvPr/>
        </p:nvSpPr>
        <p:spPr>
          <a:xfrm>
            <a:off x="5760720" y="2066544"/>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Empêcher l'entrée de personnes et de marchandises illégales sur le sol français.</a:t>
            </a:r>
            <a:endParaRPr lang="en-US" sz="850" dirty="0"/>
          </a:p>
        </p:txBody>
      </p:sp>
      <p:sp>
        <p:nvSpPr>
          <p:cNvPr id="22" name="Shape 20"/>
          <p:cNvSpPr/>
          <p:nvPr/>
        </p:nvSpPr>
        <p:spPr>
          <a:xfrm>
            <a:off x="274320" y="2779776"/>
            <a:ext cx="8595360" cy="676656"/>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274320" y="2779776"/>
            <a:ext cx="2011680" cy="676656"/>
          </a:xfrm>
          <a:prstGeom prst="rect">
            <a:avLst/>
          </a:prstGeom>
          <a:solidFill>
            <a:srgbClr val="6B7A8D"/>
          </a:solidFill>
          <a:ln w="12700">
            <a:solidFill>
              <a:srgbClr val="6B7A8D"/>
            </a:solidFill>
            <a:prstDash val="solid"/>
          </a:ln>
        </p:spPr>
        <p:txBody>
          <a:bodyPr/>
          <a:lstStyle/>
          <a:p>
            <a:endParaRPr lang="fr-FR"/>
          </a:p>
        </p:txBody>
      </p:sp>
      <p:sp>
        <p:nvSpPr>
          <p:cNvPr id="24" name="Text 22"/>
          <p:cNvSpPr/>
          <p:nvPr/>
        </p:nvSpPr>
        <p:spPr>
          <a:xfrm>
            <a:off x="347472" y="2834640"/>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URSSAF</a:t>
            </a:r>
            <a:endParaRPr lang="en-US" sz="850" dirty="0"/>
          </a:p>
        </p:txBody>
      </p:sp>
      <p:sp>
        <p:nvSpPr>
          <p:cNvPr id="25" name="Text 23"/>
          <p:cNvSpPr/>
          <p:nvPr/>
        </p:nvSpPr>
        <p:spPr>
          <a:xfrm>
            <a:off x="2377440" y="2816352"/>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Le contrôle est précédé de l'envoi d'un avis informant la personne contrôlée. EN CAS DE TRAVAIL DISSIMULÉ : sans information préalable de l'employeur.</a:t>
            </a:r>
            <a:endParaRPr lang="en-US" sz="850" dirty="0"/>
          </a:p>
        </p:txBody>
      </p:sp>
      <p:sp>
        <p:nvSpPr>
          <p:cNvPr id="26" name="Shape 24"/>
          <p:cNvSpPr/>
          <p:nvPr/>
        </p:nvSpPr>
        <p:spPr>
          <a:xfrm>
            <a:off x="5669280" y="2798064"/>
            <a:ext cx="36576" cy="621792"/>
          </a:xfrm>
          <a:prstGeom prst="rect">
            <a:avLst/>
          </a:prstGeom>
          <a:solidFill>
            <a:srgbClr val="6B7A8D"/>
          </a:solidFill>
          <a:ln w="12700">
            <a:solidFill>
              <a:srgbClr val="6B7A8D"/>
            </a:solidFill>
            <a:prstDash val="solid"/>
          </a:ln>
        </p:spPr>
        <p:txBody>
          <a:bodyPr/>
          <a:lstStyle/>
          <a:p>
            <a:endParaRPr lang="fr-FR"/>
          </a:p>
        </p:txBody>
      </p:sp>
      <p:sp>
        <p:nvSpPr>
          <p:cNvPr id="27" name="Text 25"/>
          <p:cNvSpPr/>
          <p:nvPr/>
        </p:nvSpPr>
        <p:spPr>
          <a:xfrm>
            <a:off x="5760720" y="2816352"/>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Organisme gouvernemental qui collecte les cotisations et contributions sociales des entreprises.</a:t>
            </a:r>
            <a:endParaRPr lang="en-US" sz="850" dirty="0"/>
          </a:p>
        </p:txBody>
      </p:sp>
      <p:sp>
        <p:nvSpPr>
          <p:cNvPr id="28" name="Shape 26"/>
          <p:cNvSpPr/>
          <p:nvPr/>
        </p:nvSpPr>
        <p:spPr>
          <a:xfrm>
            <a:off x="274320" y="3529584"/>
            <a:ext cx="8595360" cy="676656"/>
          </a:xfrm>
          <a:prstGeom prst="rect">
            <a:avLst/>
          </a:prstGeom>
          <a:solidFill>
            <a:srgbClr val="E8F1FA"/>
          </a:solidFill>
          <a:ln w="6350">
            <a:solidFill>
              <a:srgbClr val="D0DCE8"/>
            </a:solidFill>
            <a:prstDash val="solid"/>
          </a:ln>
        </p:spPr>
        <p:txBody>
          <a:bodyPr/>
          <a:lstStyle/>
          <a:p>
            <a:endParaRPr lang="fr-FR"/>
          </a:p>
        </p:txBody>
      </p:sp>
      <p:sp>
        <p:nvSpPr>
          <p:cNvPr id="29" name="Shape 27"/>
          <p:cNvSpPr/>
          <p:nvPr/>
        </p:nvSpPr>
        <p:spPr>
          <a:xfrm>
            <a:off x="274320" y="3529584"/>
            <a:ext cx="2011680" cy="676656"/>
          </a:xfrm>
          <a:prstGeom prst="rect">
            <a:avLst/>
          </a:prstGeom>
          <a:solidFill>
            <a:srgbClr val="C0392B"/>
          </a:solidFill>
          <a:ln w="12700">
            <a:solidFill>
              <a:srgbClr val="C0392B"/>
            </a:solidFill>
            <a:prstDash val="solid"/>
          </a:ln>
        </p:spPr>
        <p:txBody>
          <a:bodyPr/>
          <a:lstStyle/>
          <a:p>
            <a:endParaRPr lang="fr-FR"/>
          </a:p>
        </p:txBody>
      </p:sp>
      <p:sp>
        <p:nvSpPr>
          <p:cNvPr id="30" name="Text 28"/>
          <p:cNvSpPr/>
          <p:nvPr/>
        </p:nvSpPr>
        <p:spPr>
          <a:xfrm>
            <a:off x="347472" y="3584448"/>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DGFIP</a:t>
            </a:r>
            <a:endParaRPr lang="en-US" sz="850" dirty="0"/>
          </a:p>
        </p:txBody>
      </p:sp>
      <p:sp>
        <p:nvSpPr>
          <p:cNvPr id="31" name="Text 29"/>
          <p:cNvSpPr/>
          <p:nvPr/>
        </p:nvSpPr>
        <p:spPr>
          <a:xfrm>
            <a:off x="2377440" y="3566160"/>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Le contribuable faisant l'objet d'une vérification de comptabilité doit recevoir un avis de vérification PRÉALABLE environ 15 JOURS avant le début de la vérification.</a:t>
            </a:r>
            <a:endParaRPr lang="en-US" sz="850" dirty="0"/>
          </a:p>
        </p:txBody>
      </p:sp>
      <p:sp>
        <p:nvSpPr>
          <p:cNvPr id="32" name="Shape 30"/>
          <p:cNvSpPr/>
          <p:nvPr/>
        </p:nvSpPr>
        <p:spPr>
          <a:xfrm>
            <a:off x="5669280" y="3547872"/>
            <a:ext cx="36576" cy="621792"/>
          </a:xfrm>
          <a:prstGeom prst="rect">
            <a:avLst/>
          </a:prstGeom>
          <a:solidFill>
            <a:srgbClr val="C0392B"/>
          </a:solidFill>
          <a:ln w="12700">
            <a:solidFill>
              <a:srgbClr val="C0392B"/>
            </a:solidFill>
            <a:prstDash val="solid"/>
          </a:ln>
        </p:spPr>
        <p:txBody>
          <a:bodyPr/>
          <a:lstStyle/>
          <a:p>
            <a:endParaRPr lang="fr-FR"/>
          </a:p>
        </p:txBody>
      </p:sp>
      <p:sp>
        <p:nvSpPr>
          <p:cNvPr id="33" name="Text 31"/>
          <p:cNvSpPr/>
          <p:nvPr/>
        </p:nvSpPr>
        <p:spPr>
          <a:xfrm>
            <a:off x="5760720" y="3566160"/>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Contrôle fiscal.</a:t>
            </a:r>
            <a:endParaRPr lang="en-US" sz="850" dirty="0"/>
          </a:p>
        </p:txBody>
      </p:sp>
      <p:sp>
        <p:nvSpPr>
          <p:cNvPr id="34" name="Shape 32"/>
          <p:cNvSpPr/>
          <p:nvPr/>
        </p:nvSpPr>
        <p:spPr>
          <a:xfrm>
            <a:off x="274320" y="4279392"/>
            <a:ext cx="8595360" cy="676656"/>
          </a:xfrm>
          <a:prstGeom prst="rect">
            <a:avLst/>
          </a:prstGeom>
          <a:solidFill>
            <a:srgbClr val="E8F1FA"/>
          </a:solidFill>
          <a:ln w="6350">
            <a:solidFill>
              <a:srgbClr val="D0DCE8"/>
            </a:solidFill>
            <a:prstDash val="solid"/>
          </a:ln>
        </p:spPr>
        <p:txBody>
          <a:bodyPr/>
          <a:lstStyle/>
          <a:p>
            <a:endParaRPr lang="fr-FR"/>
          </a:p>
        </p:txBody>
      </p:sp>
      <p:sp>
        <p:nvSpPr>
          <p:cNvPr id="35" name="Shape 33"/>
          <p:cNvSpPr/>
          <p:nvPr/>
        </p:nvSpPr>
        <p:spPr>
          <a:xfrm>
            <a:off x="274320" y="4279392"/>
            <a:ext cx="2011680" cy="676656"/>
          </a:xfrm>
          <a:prstGeom prst="rect">
            <a:avLst/>
          </a:prstGeom>
          <a:solidFill>
            <a:srgbClr val="5A6E8A"/>
          </a:solidFill>
          <a:ln w="12700">
            <a:solidFill>
              <a:srgbClr val="5A6E8A"/>
            </a:solidFill>
            <a:prstDash val="solid"/>
          </a:ln>
        </p:spPr>
        <p:txBody>
          <a:bodyPr/>
          <a:lstStyle/>
          <a:p>
            <a:endParaRPr lang="fr-FR"/>
          </a:p>
        </p:txBody>
      </p:sp>
      <p:sp>
        <p:nvSpPr>
          <p:cNvPr id="36" name="Text 34"/>
          <p:cNvSpPr/>
          <p:nvPr/>
        </p:nvSpPr>
        <p:spPr>
          <a:xfrm>
            <a:off x="347472" y="4334256"/>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DGCCRF</a:t>
            </a:r>
            <a:endParaRPr lang="en-US" sz="850" dirty="0"/>
          </a:p>
        </p:txBody>
      </p:sp>
      <p:sp>
        <p:nvSpPr>
          <p:cNvPr id="37" name="Text 35"/>
          <p:cNvSpPr/>
          <p:nvPr/>
        </p:nvSpPr>
        <p:spPr>
          <a:xfrm>
            <a:off x="2377440" y="4315968"/>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Lutte contre les contrefaçons. Enquêtes et contrôles sur les produits et leurs conditions de fabrication et de vente. Contrôle des pratiques commerciales.</a:t>
            </a:r>
            <a:endParaRPr lang="en-US" sz="850" dirty="0"/>
          </a:p>
        </p:txBody>
      </p:sp>
      <p:sp>
        <p:nvSpPr>
          <p:cNvPr id="38" name="Shape 36"/>
          <p:cNvSpPr/>
          <p:nvPr/>
        </p:nvSpPr>
        <p:spPr>
          <a:xfrm>
            <a:off x="5669280" y="4297680"/>
            <a:ext cx="36576" cy="621792"/>
          </a:xfrm>
          <a:prstGeom prst="rect">
            <a:avLst/>
          </a:prstGeom>
          <a:solidFill>
            <a:srgbClr val="5A6E8A"/>
          </a:solidFill>
          <a:ln w="12700">
            <a:solidFill>
              <a:srgbClr val="5A6E8A"/>
            </a:solidFill>
            <a:prstDash val="solid"/>
          </a:ln>
        </p:spPr>
        <p:txBody>
          <a:bodyPr/>
          <a:lstStyle/>
          <a:p>
            <a:endParaRPr lang="fr-FR"/>
          </a:p>
        </p:txBody>
      </p:sp>
      <p:sp>
        <p:nvSpPr>
          <p:cNvPr id="39" name="Text 37"/>
          <p:cNvSpPr/>
          <p:nvPr/>
        </p:nvSpPr>
        <p:spPr>
          <a:xfrm>
            <a:off x="5760720" y="4315968"/>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Administration chargée de veiller au respect des règles relatives à la concurrence et à la protection des consommateurs.</a:t>
            </a:r>
            <a:endParaRPr lang="en-US" sz="850" dirty="0"/>
          </a:p>
        </p:txBody>
      </p:sp>
      <p:sp>
        <p:nvSpPr>
          <p:cNvPr id="40" name="Rectangle 3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1" name="Rectangle 4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7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Les amendes et infractions spécifiques T3P (p.115-116)</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8595360" cy="25603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32688"/>
            <a:ext cx="85953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BARÈME DES AMENDES — CLASSES 1 À 5</a:t>
            </a:r>
            <a:endParaRPr lang="en-US" sz="10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274320" y="1225296"/>
          <a:ext cx="8595360" cy="1389888"/>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3164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Classe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Minorée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Forfaitaire (sous 45j)</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Majorée (après 45j)</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Max</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1</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Indisponible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11 €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33 €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38 €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2</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22 €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75 €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150 €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3</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45 €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68 €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180 €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450 €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4</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90 €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135 €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375 €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750 €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231648">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Classe 5</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1 500 €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3 000 € (récidive)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5"/>
                  </a:ext>
                </a:extLst>
              </a:tr>
            </a:tbl>
          </a:graphicData>
        </a:graphic>
      </p:graphicFrame>
      <p:sp>
        <p:nvSpPr>
          <p:cNvPr id="11" name="Shape 8"/>
          <p:cNvSpPr/>
          <p:nvPr/>
        </p:nvSpPr>
        <p:spPr>
          <a:xfrm>
            <a:off x="274320" y="2697480"/>
            <a:ext cx="8595360" cy="237744"/>
          </a:xfrm>
          <a:prstGeom prst="rect">
            <a:avLst/>
          </a:prstGeom>
          <a:solidFill>
            <a:srgbClr val="2860A8"/>
          </a:solidFill>
          <a:ln w="12700">
            <a:solidFill>
              <a:srgbClr val="2860A8"/>
            </a:solidFill>
            <a:prstDash val="solid"/>
          </a:ln>
        </p:spPr>
        <p:txBody>
          <a:bodyPr/>
          <a:lstStyle/>
          <a:p>
            <a:endParaRPr lang="fr-FR"/>
          </a:p>
        </p:txBody>
      </p:sp>
      <p:sp>
        <p:nvSpPr>
          <p:cNvPr id="12" name="Text 9"/>
          <p:cNvSpPr/>
          <p:nvPr/>
        </p:nvSpPr>
        <p:spPr>
          <a:xfrm>
            <a:off x="274320" y="2697480"/>
            <a:ext cx="859536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PV envoyé par courrier ou mail — Paiement par chèque ou guichet</a:t>
            </a:r>
            <a:endParaRPr lang="en-US" sz="900" dirty="0"/>
          </a:p>
        </p:txBody>
      </p:sp>
      <p:sp>
        <p:nvSpPr>
          <p:cNvPr id="13" name="Shape 10"/>
          <p:cNvSpPr/>
          <p:nvPr/>
        </p:nvSpPr>
        <p:spPr>
          <a:xfrm>
            <a:off x="274320" y="2971800"/>
            <a:ext cx="2724912" cy="475488"/>
          </a:xfrm>
          <a:prstGeom prst="rect">
            <a:avLst/>
          </a:prstGeom>
          <a:solidFill>
            <a:srgbClr val="2E7D32"/>
          </a:solidFill>
          <a:ln w="12700">
            <a:solidFill>
              <a:srgbClr val="2E7D32"/>
            </a:solidFill>
            <a:prstDash val="solid"/>
          </a:ln>
        </p:spPr>
        <p:txBody>
          <a:bodyPr/>
          <a:lstStyle/>
          <a:p>
            <a:endParaRPr lang="fr-FR"/>
          </a:p>
        </p:txBody>
      </p:sp>
      <p:sp>
        <p:nvSpPr>
          <p:cNvPr id="14" name="Text 11"/>
          <p:cNvSpPr/>
          <p:nvPr/>
        </p:nvSpPr>
        <p:spPr>
          <a:xfrm>
            <a:off x="274320" y="2971800"/>
            <a:ext cx="2724912"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Sous 15 jours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Amende MINORÉE — réduction maximale</a:t>
            </a:r>
            <a:endParaRPr lang="en-US" sz="900" dirty="0"/>
          </a:p>
        </p:txBody>
      </p:sp>
      <p:sp>
        <p:nvSpPr>
          <p:cNvPr id="15" name="Shape 12"/>
          <p:cNvSpPr/>
          <p:nvPr/>
        </p:nvSpPr>
        <p:spPr>
          <a:xfrm>
            <a:off x="3154680" y="2971800"/>
            <a:ext cx="2724912" cy="475488"/>
          </a:xfrm>
          <a:prstGeom prst="rect">
            <a:avLst/>
          </a:prstGeom>
          <a:solidFill>
            <a:srgbClr val="F4A227"/>
          </a:solidFill>
          <a:ln w="12700">
            <a:solidFill>
              <a:srgbClr val="F4A227"/>
            </a:solidFill>
            <a:prstDash val="solid"/>
          </a:ln>
        </p:spPr>
        <p:txBody>
          <a:bodyPr/>
          <a:lstStyle/>
          <a:p>
            <a:endParaRPr lang="fr-FR"/>
          </a:p>
        </p:txBody>
      </p:sp>
      <p:sp>
        <p:nvSpPr>
          <p:cNvPr id="16" name="Text 13"/>
          <p:cNvSpPr/>
          <p:nvPr/>
        </p:nvSpPr>
        <p:spPr>
          <a:xfrm>
            <a:off x="3154680" y="2971800"/>
            <a:ext cx="2724912"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Sous 45 jours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Amende FORFAITAIRE — tarif normal</a:t>
            </a:r>
            <a:endParaRPr lang="en-US" sz="900" dirty="0"/>
          </a:p>
        </p:txBody>
      </p:sp>
      <p:sp>
        <p:nvSpPr>
          <p:cNvPr id="17" name="Shape 14"/>
          <p:cNvSpPr/>
          <p:nvPr/>
        </p:nvSpPr>
        <p:spPr>
          <a:xfrm>
            <a:off x="6035040" y="2971800"/>
            <a:ext cx="2724912" cy="475488"/>
          </a:xfrm>
          <a:prstGeom prst="rect">
            <a:avLst/>
          </a:prstGeom>
          <a:solidFill>
            <a:srgbClr val="C0392B"/>
          </a:solidFill>
          <a:ln w="12700">
            <a:solidFill>
              <a:srgbClr val="C0392B"/>
            </a:solidFill>
            <a:prstDash val="solid"/>
          </a:ln>
        </p:spPr>
        <p:txBody>
          <a:bodyPr/>
          <a:lstStyle/>
          <a:p>
            <a:endParaRPr lang="fr-FR"/>
          </a:p>
        </p:txBody>
      </p:sp>
      <p:sp>
        <p:nvSpPr>
          <p:cNvPr id="18" name="Text 15"/>
          <p:cNvSpPr/>
          <p:nvPr/>
        </p:nvSpPr>
        <p:spPr>
          <a:xfrm>
            <a:off x="6035040" y="2971800"/>
            <a:ext cx="2724912"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Après 45 jours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Amende MAJORÉE — surcoût automatique</a:t>
            </a:r>
            <a:endParaRPr lang="en-US" sz="900" dirty="0"/>
          </a:p>
        </p:txBody>
      </p:sp>
      <p:sp>
        <p:nvSpPr>
          <p:cNvPr id="19" name="Shape 16"/>
          <p:cNvSpPr/>
          <p:nvPr/>
        </p:nvSpPr>
        <p:spPr>
          <a:xfrm>
            <a:off x="274320" y="3520440"/>
            <a:ext cx="8595360" cy="237744"/>
          </a:xfrm>
          <a:prstGeom prst="rect">
            <a:avLst/>
          </a:prstGeom>
          <a:solidFill>
            <a:srgbClr val="C0392B"/>
          </a:solidFill>
          <a:ln w="12700">
            <a:solidFill>
              <a:srgbClr val="C0392B"/>
            </a:solidFill>
            <a:prstDash val="solid"/>
          </a:ln>
        </p:spPr>
        <p:txBody>
          <a:bodyPr/>
          <a:lstStyle/>
          <a:p>
            <a:endParaRPr lang="fr-FR"/>
          </a:p>
        </p:txBody>
      </p:sp>
      <p:sp>
        <p:nvSpPr>
          <p:cNvPr id="20" name="Text 17"/>
          <p:cNvSpPr/>
          <p:nvPr/>
        </p:nvSpPr>
        <p:spPr>
          <a:xfrm>
            <a:off x="274320" y="3520440"/>
            <a:ext cx="8595360"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INFRACTIONS SPÉCIFIQUES T3P</a:t>
            </a:r>
            <a:endParaRPr lang="en-US" sz="1000" dirty="0"/>
          </a:p>
        </p:txBody>
      </p:sp>
      <p:graphicFrame>
        <p:nvGraphicFramePr>
          <p:cNvPr id="155" name="Table 1"/>
          <p:cNvGraphicFramePr>
            <a:graphicFrameLocks noGrp="1"/>
          </p:cNvGraphicFramePr>
          <p:nvPr>
            <p:extLst>
              <p:ext uri="{D42A27DB-BD31-4B8C-83A1-F6EECF244321}">
                <p14:modId xmlns:p14="http://schemas.microsoft.com/office/powerpoint/2010/main" val="1579011935"/>
              </p:ext>
            </p:extLst>
          </p:nvPr>
        </p:nvGraphicFramePr>
        <p:xfrm>
          <a:off x="274320" y="3785616"/>
          <a:ext cx="8595360" cy="1371600"/>
        </p:xfrm>
        <a:graphic>
          <a:graphicData uri="http://schemas.openxmlformats.org/drawingml/2006/table">
            <a:tbl>
              <a:tblPr/>
              <a:tblGrid>
                <a:gridCol w="4206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Infraction</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Classe / Peine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Concerne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Non apposition carte pro sur le véhicule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1</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Non présentation de la carte professionnelle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2</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Non justification possession carte pro (5 jours)</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4</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Conduite sans attestation visite médicale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4</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 LOTI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Exercice sans carte professionnelle valide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5</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Emploi conducteur sans carte pro valide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5 (employeur)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Exercice illégal — absence d'ADS</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1 an prison + 15 000 €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Taxi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7"/>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Exercice illégal — absence d'inscription registre (3 ans+45k€)</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3 ans prison + 45 000 €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VTC, LOTI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8"/>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Circulation sans assurance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3 750 €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Taxi, VTC, VMDTR, LOTI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9"/>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Location à la place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1 an prison + 15 000 €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10"/>
                  </a:ext>
                </a:extLst>
              </a:tr>
            </a:tbl>
          </a:graphicData>
        </a:graphic>
      </p:graphicFrame>
      <p:sp>
        <p:nvSpPr>
          <p:cNvPr id="156" name="Rectangle 15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57" name="Rectangle 15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7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160020"/>
            <a:ext cx="8778240" cy="6629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TPMR, Observatoire, Comité et Commissions locales (p.116-120)</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4160520" cy="256032"/>
          </a:xfrm>
          <a:prstGeom prst="rect">
            <a:avLst/>
          </a:prstGeom>
          <a:solidFill>
            <a:srgbClr val="6B7A8D"/>
          </a:solidFill>
          <a:ln w="12700">
            <a:solidFill>
              <a:srgbClr val="6B7A8D"/>
            </a:solidFill>
            <a:prstDash val="solid"/>
          </a:ln>
        </p:spPr>
        <p:txBody>
          <a:bodyPr/>
          <a:lstStyle/>
          <a:p>
            <a:endParaRPr lang="fr-FR"/>
          </a:p>
        </p:txBody>
      </p:sp>
      <p:sp>
        <p:nvSpPr>
          <p:cNvPr id="9" name="Text 7"/>
          <p:cNvSpPr/>
          <p:nvPr/>
        </p:nvSpPr>
        <p:spPr>
          <a:xfrm>
            <a:off x="274320" y="932688"/>
            <a:ext cx="416052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 FORMATION TPMR</a:t>
            </a:r>
            <a:endParaRPr lang="en-US" sz="1000" dirty="0"/>
          </a:p>
        </p:txBody>
      </p:sp>
      <p:sp>
        <p:nvSpPr>
          <p:cNvPr id="10" name="Shape 8"/>
          <p:cNvSpPr/>
          <p:nvPr/>
        </p:nvSpPr>
        <p:spPr>
          <a:xfrm>
            <a:off x="274320" y="1225296"/>
            <a:ext cx="4160520" cy="475488"/>
          </a:xfrm>
          <a:prstGeom prst="rect">
            <a:avLst/>
          </a:prstGeom>
          <a:solidFill>
            <a:srgbClr val="E8F1FA"/>
          </a:solidFill>
          <a:ln w="6350">
            <a:solidFill>
              <a:srgbClr val="D0DCE8"/>
            </a:solidFill>
            <a:prstDash val="solid"/>
          </a:ln>
        </p:spPr>
        <p:txBody>
          <a:bodyPr/>
          <a:lstStyle/>
          <a:p>
            <a:endParaRPr lang="fr-FR"/>
          </a:p>
        </p:txBody>
      </p:sp>
      <p:sp>
        <p:nvSpPr>
          <p:cNvPr id="11" name="Text 9"/>
          <p:cNvSpPr/>
          <p:nvPr/>
        </p:nvSpPr>
        <p:spPr>
          <a:xfrm>
            <a:off x="347472" y="1243584"/>
            <a:ext cx="4005072" cy="43891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Obligatoire pour toute personne souhaitant intervenir dans le transport des PMR (personnes handicapées, âgées, dépendantes...) dépassant l'utilisation des équipements du véhicule.</a:t>
            </a:r>
            <a:endParaRPr lang="en-US" sz="850" dirty="0"/>
          </a:p>
        </p:txBody>
      </p:sp>
      <p:sp>
        <p:nvSpPr>
          <p:cNvPr id="12" name="Shape 10"/>
          <p:cNvSpPr/>
          <p:nvPr/>
        </p:nvSpPr>
        <p:spPr>
          <a:xfrm>
            <a:off x="274320" y="1737360"/>
            <a:ext cx="4160520" cy="237744"/>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274320" y="1737360"/>
            <a:ext cx="416052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VÉHICULES TPMR — 5 CRITÈRES</a:t>
            </a:r>
            <a:endParaRPr lang="en-US" sz="900" dirty="0"/>
          </a:p>
        </p:txBody>
      </p:sp>
      <p:sp>
        <p:nvSpPr>
          <p:cNvPr id="14" name="Shape 12"/>
          <p:cNvSpPr/>
          <p:nvPr/>
        </p:nvSpPr>
        <p:spPr>
          <a:xfrm>
            <a:off x="274320" y="2011680"/>
            <a:ext cx="4160520" cy="246888"/>
          </a:xfrm>
          <a:prstGeom prst="rect">
            <a:avLst/>
          </a:prstGeom>
          <a:solidFill>
            <a:srgbClr val="E8F1FA"/>
          </a:solidFill>
          <a:ln w="6350">
            <a:solidFill>
              <a:srgbClr val="D0DCE8"/>
            </a:solidFill>
            <a:prstDash val="solid"/>
          </a:ln>
        </p:spPr>
        <p:txBody>
          <a:bodyPr/>
          <a:lstStyle/>
          <a:p>
            <a:endParaRPr lang="fr-FR"/>
          </a:p>
        </p:txBody>
      </p:sp>
      <p:sp>
        <p:nvSpPr>
          <p:cNvPr id="15" name="Shape 13"/>
          <p:cNvSpPr/>
          <p:nvPr/>
        </p:nvSpPr>
        <p:spPr>
          <a:xfrm>
            <a:off x="274320" y="2011680"/>
            <a:ext cx="201168" cy="246888"/>
          </a:xfrm>
          <a:prstGeom prst="rect">
            <a:avLst/>
          </a:prstGeom>
          <a:solidFill>
            <a:srgbClr val="6B7A8D"/>
          </a:solidFill>
          <a:ln w="12700">
            <a:solidFill>
              <a:srgbClr val="6B7A8D"/>
            </a:solidFill>
            <a:prstDash val="solid"/>
          </a:ln>
        </p:spPr>
        <p:txBody>
          <a:bodyPr/>
          <a:lstStyle/>
          <a:p>
            <a:endParaRPr lang="fr-FR"/>
          </a:p>
        </p:txBody>
      </p:sp>
      <p:sp>
        <p:nvSpPr>
          <p:cNvPr id="16" name="Text 14"/>
          <p:cNvSpPr/>
          <p:nvPr/>
        </p:nvSpPr>
        <p:spPr>
          <a:xfrm>
            <a:off x="274320" y="201168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7" name="Text 15"/>
          <p:cNvSpPr/>
          <p:nvPr/>
        </p:nvSpPr>
        <p:spPr>
          <a:xfrm>
            <a:off x="512064" y="202996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Homologation spécifique pour usage professionnel à titre onéreux</a:t>
            </a:r>
            <a:endParaRPr lang="en-US" sz="850" dirty="0"/>
          </a:p>
        </p:txBody>
      </p:sp>
      <p:sp>
        <p:nvSpPr>
          <p:cNvPr id="18" name="Shape 16"/>
          <p:cNvSpPr/>
          <p:nvPr/>
        </p:nvSpPr>
        <p:spPr>
          <a:xfrm>
            <a:off x="274320" y="2286000"/>
            <a:ext cx="4160520" cy="246888"/>
          </a:xfrm>
          <a:prstGeom prst="rect">
            <a:avLst/>
          </a:prstGeom>
          <a:solidFill>
            <a:srgbClr val="FFFFFF"/>
          </a:solidFill>
          <a:ln w="6350">
            <a:solidFill>
              <a:srgbClr val="D0DCE8"/>
            </a:solidFill>
            <a:prstDash val="solid"/>
          </a:ln>
        </p:spPr>
        <p:txBody>
          <a:bodyPr/>
          <a:lstStyle/>
          <a:p>
            <a:endParaRPr lang="fr-FR"/>
          </a:p>
        </p:txBody>
      </p:sp>
      <p:sp>
        <p:nvSpPr>
          <p:cNvPr id="19" name="Shape 17"/>
          <p:cNvSpPr/>
          <p:nvPr/>
        </p:nvSpPr>
        <p:spPr>
          <a:xfrm>
            <a:off x="274320" y="2286000"/>
            <a:ext cx="201168" cy="246888"/>
          </a:xfrm>
          <a:prstGeom prst="rect">
            <a:avLst/>
          </a:prstGeom>
          <a:solidFill>
            <a:srgbClr val="6B7A8D"/>
          </a:solidFill>
          <a:ln w="12700">
            <a:solidFill>
              <a:srgbClr val="6B7A8D"/>
            </a:solidFill>
            <a:prstDash val="solid"/>
          </a:ln>
        </p:spPr>
        <p:txBody>
          <a:bodyPr/>
          <a:lstStyle/>
          <a:p>
            <a:endParaRPr lang="fr-FR"/>
          </a:p>
        </p:txBody>
      </p:sp>
      <p:sp>
        <p:nvSpPr>
          <p:cNvPr id="20" name="Text 18"/>
          <p:cNvSpPr/>
          <p:nvPr/>
        </p:nvSpPr>
        <p:spPr>
          <a:xfrm>
            <a:off x="274320" y="228600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1" name="Text 19"/>
          <p:cNvSpPr/>
          <p:nvPr/>
        </p:nvSpPr>
        <p:spPr>
          <a:xfrm>
            <a:off x="512064" y="230428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Place réservée pour une PMR non en fauteuil roulant</a:t>
            </a:r>
            <a:endParaRPr lang="en-US" sz="850" dirty="0"/>
          </a:p>
        </p:txBody>
      </p:sp>
      <p:sp>
        <p:nvSpPr>
          <p:cNvPr id="22" name="Shape 20"/>
          <p:cNvSpPr/>
          <p:nvPr/>
        </p:nvSpPr>
        <p:spPr>
          <a:xfrm>
            <a:off x="274320" y="2560320"/>
            <a:ext cx="4160520" cy="246888"/>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274320" y="2560320"/>
            <a:ext cx="201168" cy="246888"/>
          </a:xfrm>
          <a:prstGeom prst="rect">
            <a:avLst/>
          </a:prstGeom>
          <a:solidFill>
            <a:srgbClr val="6B7A8D"/>
          </a:solidFill>
          <a:ln w="12700">
            <a:solidFill>
              <a:srgbClr val="6B7A8D"/>
            </a:solidFill>
            <a:prstDash val="solid"/>
          </a:ln>
        </p:spPr>
        <p:txBody>
          <a:bodyPr/>
          <a:lstStyle/>
          <a:p>
            <a:endParaRPr lang="fr-FR"/>
          </a:p>
        </p:txBody>
      </p:sp>
      <p:sp>
        <p:nvSpPr>
          <p:cNvPr id="24" name="Text 22"/>
          <p:cNvSpPr/>
          <p:nvPr/>
        </p:nvSpPr>
        <p:spPr>
          <a:xfrm>
            <a:off x="274320" y="256032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5" name="Text 23"/>
          <p:cNvSpPr/>
          <p:nvPr/>
        </p:nvSpPr>
        <p:spPr>
          <a:xfrm>
            <a:off x="512064" y="257860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Dimensions intérieures minimums imposées</a:t>
            </a:r>
            <a:endParaRPr lang="en-US" sz="850" dirty="0"/>
          </a:p>
        </p:txBody>
      </p:sp>
      <p:sp>
        <p:nvSpPr>
          <p:cNvPr id="26" name="Shape 24"/>
          <p:cNvSpPr/>
          <p:nvPr/>
        </p:nvSpPr>
        <p:spPr>
          <a:xfrm>
            <a:off x="274320" y="2834640"/>
            <a:ext cx="4160520" cy="246888"/>
          </a:xfrm>
          <a:prstGeom prst="rect">
            <a:avLst/>
          </a:prstGeom>
          <a:solidFill>
            <a:srgbClr val="FFFFFF"/>
          </a:solidFill>
          <a:ln w="6350">
            <a:solidFill>
              <a:srgbClr val="D0DCE8"/>
            </a:solidFill>
            <a:prstDash val="solid"/>
          </a:ln>
        </p:spPr>
        <p:txBody>
          <a:bodyPr/>
          <a:lstStyle/>
          <a:p>
            <a:endParaRPr lang="fr-FR"/>
          </a:p>
        </p:txBody>
      </p:sp>
      <p:sp>
        <p:nvSpPr>
          <p:cNvPr id="27" name="Shape 25"/>
          <p:cNvSpPr/>
          <p:nvPr/>
        </p:nvSpPr>
        <p:spPr>
          <a:xfrm>
            <a:off x="274320" y="2834640"/>
            <a:ext cx="201168" cy="246888"/>
          </a:xfrm>
          <a:prstGeom prst="rect">
            <a:avLst/>
          </a:prstGeom>
          <a:solidFill>
            <a:srgbClr val="6B7A8D"/>
          </a:solidFill>
          <a:ln w="12700">
            <a:solidFill>
              <a:srgbClr val="6B7A8D"/>
            </a:solidFill>
            <a:prstDash val="solid"/>
          </a:ln>
        </p:spPr>
        <p:txBody>
          <a:bodyPr/>
          <a:lstStyle/>
          <a:p>
            <a:endParaRPr lang="fr-FR"/>
          </a:p>
        </p:txBody>
      </p:sp>
      <p:sp>
        <p:nvSpPr>
          <p:cNvPr id="28" name="Text 26"/>
          <p:cNvSpPr/>
          <p:nvPr/>
        </p:nvSpPr>
        <p:spPr>
          <a:xfrm>
            <a:off x="274320" y="283464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9" name="Text 27"/>
          <p:cNvSpPr/>
          <p:nvPr/>
        </p:nvSpPr>
        <p:spPr>
          <a:xfrm>
            <a:off x="512064" y="285292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Ceintures de sécurité à 3 points d'ancrage renforcés</a:t>
            </a:r>
            <a:endParaRPr lang="en-US" sz="850" dirty="0"/>
          </a:p>
        </p:txBody>
      </p:sp>
      <p:sp>
        <p:nvSpPr>
          <p:cNvPr id="30" name="Shape 28"/>
          <p:cNvSpPr/>
          <p:nvPr/>
        </p:nvSpPr>
        <p:spPr>
          <a:xfrm>
            <a:off x="274320" y="3108960"/>
            <a:ext cx="4160520" cy="246888"/>
          </a:xfrm>
          <a:prstGeom prst="rect">
            <a:avLst/>
          </a:prstGeom>
          <a:solidFill>
            <a:srgbClr val="E8F1FA"/>
          </a:solidFill>
          <a:ln w="6350">
            <a:solidFill>
              <a:srgbClr val="D0DCE8"/>
            </a:solidFill>
            <a:prstDash val="solid"/>
          </a:ln>
        </p:spPr>
        <p:txBody>
          <a:bodyPr/>
          <a:lstStyle/>
          <a:p>
            <a:endParaRPr lang="fr-FR"/>
          </a:p>
        </p:txBody>
      </p:sp>
      <p:sp>
        <p:nvSpPr>
          <p:cNvPr id="31" name="Shape 29"/>
          <p:cNvSpPr/>
          <p:nvPr/>
        </p:nvSpPr>
        <p:spPr>
          <a:xfrm>
            <a:off x="274320" y="3108960"/>
            <a:ext cx="201168" cy="246888"/>
          </a:xfrm>
          <a:prstGeom prst="rect">
            <a:avLst/>
          </a:prstGeom>
          <a:solidFill>
            <a:srgbClr val="6B7A8D"/>
          </a:solidFill>
          <a:ln w="12700">
            <a:solidFill>
              <a:srgbClr val="6B7A8D"/>
            </a:solidFill>
            <a:prstDash val="solid"/>
          </a:ln>
        </p:spPr>
        <p:txBody>
          <a:bodyPr/>
          <a:lstStyle/>
          <a:p>
            <a:endParaRPr lang="fr-FR"/>
          </a:p>
        </p:txBody>
      </p:sp>
      <p:sp>
        <p:nvSpPr>
          <p:cNvPr id="32" name="Text 30"/>
          <p:cNvSpPr/>
          <p:nvPr/>
        </p:nvSpPr>
        <p:spPr>
          <a:xfrm>
            <a:off x="274320" y="310896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3" name="Text 31"/>
          <p:cNvSpPr/>
          <p:nvPr/>
        </p:nvSpPr>
        <p:spPr>
          <a:xfrm>
            <a:off x="512064" y="312724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Signalétique spécifique et notices d'utilisation</a:t>
            </a:r>
            <a:endParaRPr lang="en-US" sz="850" dirty="0"/>
          </a:p>
        </p:txBody>
      </p:sp>
      <p:sp>
        <p:nvSpPr>
          <p:cNvPr id="34" name="Shape 32"/>
          <p:cNvSpPr/>
          <p:nvPr/>
        </p:nvSpPr>
        <p:spPr>
          <a:xfrm>
            <a:off x="4709160" y="932688"/>
            <a:ext cx="4160520" cy="256032"/>
          </a:xfrm>
          <a:prstGeom prst="rect">
            <a:avLst/>
          </a:prstGeom>
          <a:solidFill>
            <a:srgbClr val="7B3F6E"/>
          </a:solidFill>
          <a:ln w="12700">
            <a:solidFill>
              <a:srgbClr val="7B3F6E"/>
            </a:solidFill>
            <a:prstDash val="solid"/>
          </a:ln>
        </p:spPr>
        <p:txBody>
          <a:bodyPr/>
          <a:lstStyle/>
          <a:p>
            <a:endParaRPr lang="fr-FR"/>
          </a:p>
        </p:txBody>
      </p:sp>
      <p:sp>
        <p:nvSpPr>
          <p:cNvPr id="35" name="Text 33"/>
          <p:cNvSpPr/>
          <p:nvPr/>
        </p:nvSpPr>
        <p:spPr>
          <a:xfrm>
            <a:off x="4709160" y="932688"/>
            <a:ext cx="416052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OBSERVATOIRE / COMITÉ / COMMISSIONS</a:t>
            </a:r>
            <a:endParaRPr lang="en-US" sz="950" dirty="0"/>
          </a:p>
        </p:txBody>
      </p:sp>
      <p:sp>
        <p:nvSpPr>
          <p:cNvPr id="36" name="Shape 34"/>
          <p:cNvSpPr/>
          <p:nvPr/>
        </p:nvSpPr>
        <p:spPr>
          <a:xfrm>
            <a:off x="4709160" y="1243584"/>
            <a:ext cx="4160520" cy="877824"/>
          </a:xfrm>
          <a:prstGeom prst="rect">
            <a:avLst/>
          </a:prstGeom>
          <a:solidFill>
            <a:srgbClr val="E8F1FA"/>
          </a:solidFill>
          <a:ln w="6350">
            <a:solidFill>
              <a:srgbClr val="D0DCE8"/>
            </a:solidFill>
            <a:prstDash val="solid"/>
          </a:ln>
        </p:spPr>
        <p:txBody>
          <a:bodyPr/>
          <a:lstStyle/>
          <a:p>
            <a:endParaRPr lang="fr-FR"/>
          </a:p>
        </p:txBody>
      </p:sp>
      <p:sp>
        <p:nvSpPr>
          <p:cNvPr id="37" name="Shape 35"/>
          <p:cNvSpPr/>
          <p:nvPr/>
        </p:nvSpPr>
        <p:spPr>
          <a:xfrm>
            <a:off x="4709160" y="1243584"/>
            <a:ext cx="4160520" cy="219456"/>
          </a:xfrm>
          <a:prstGeom prst="rect">
            <a:avLst/>
          </a:prstGeom>
          <a:solidFill>
            <a:srgbClr val="7B3F6E"/>
          </a:solidFill>
          <a:ln w="12700">
            <a:solidFill>
              <a:srgbClr val="7B3F6E"/>
            </a:solidFill>
            <a:prstDash val="solid"/>
          </a:ln>
        </p:spPr>
        <p:txBody>
          <a:bodyPr/>
          <a:lstStyle/>
          <a:p>
            <a:endParaRPr lang="fr-FR"/>
          </a:p>
        </p:txBody>
      </p:sp>
      <p:sp>
        <p:nvSpPr>
          <p:cNvPr id="38" name="Text 36"/>
          <p:cNvSpPr/>
          <p:nvPr/>
        </p:nvSpPr>
        <p:spPr>
          <a:xfrm>
            <a:off x="4782312" y="124358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OBSERVATOIRE NATIONAL DES T3P</a:t>
            </a:r>
            <a:endParaRPr lang="en-US" sz="820" dirty="0"/>
          </a:p>
        </p:txBody>
      </p:sp>
      <p:sp>
        <p:nvSpPr>
          <p:cNvPr id="39" name="Text 37"/>
          <p:cNvSpPr/>
          <p:nvPr/>
        </p:nvSpPr>
        <p:spPr>
          <a:xfrm>
            <a:off x="4800600" y="148132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Rapport annuel sur l'évolution des T3P — Mène des études — Diffuse ses travaux auprès des professionnels — Adresse son rapport au Comité national.</a:t>
            </a:r>
            <a:endParaRPr lang="en-US" sz="800" dirty="0"/>
          </a:p>
        </p:txBody>
      </p:sp>
      <p:sp>
        <p:nvSpPr>
          <p:cNvPr id="40" name="Shape 38"/>
          <p:cNvSpPr/>
          <p:nvPr/>
        </p:nvSpPr>
        <p:spPr>
          <a:xfrm>
            <a:off x="4709160" y="2203704"/>
            <a:ext cx="4160520" cy="877824"/>
          </a:xfrm>
          <a:prstGeom prst="rect">
            <a:avLst/>
          </a:prstGeom>
          <a:solidFill>
            <a:srgbClr val="E8F1FA"/>
          </a:solidFill>
          <a:ln w="6350">
            <a:solidFill>
              <a:srgbClr val="D0DCE8"/>
            </a:solidFill>
            <a:prstDash val="solid"/>
          </a:ln>
        </p:spPr>
        <p:txBody>
          <a:bodyPr/>
          <a:lstStyle/>
          <a:p>
            <a:endParaRPr lang="fr-FR"/>
          </a:p>
        </p:txBody>
      </p:sp>
      <p:sp>
        <p:nvSpPr>
          <p:cNvPr id="41" name="Shape 39"/>
          <p:cNvSpPr/>
          <p:nvPr/>
        </p:nvSpPr>
        <p:spPr>
          <a:xfrm>
            <a:off x="4709160" y="2203704"/>
            <a:ext cx="4160520" cy="219456"/>
          </a:xfrm>
          <a:prstGeom prst="rect">
            <a:avLst/>
          </a:prstGeom>
          <a:solidFill>
            <a:srgbClr val="6B2D6B"/>
          </a:solidFill>
          <a:ln w="12700">
            <a:solidFill>
              <a:srgbClr val="6B2D6B"/>
            </a:solidFill>
            <a:prstDash val="solid"/>
          </a:ln>
        </p:spPr>
        <p:txBody>
          <a:bodyPr/>
          <a:lstStyle/>
          <a:p>
            <a:endParaRPr lang="fr-FR"/>
          </a:p>
        </p:txBody>
      </p:sp>
      <p:sp>
        <p:nvSpPr>
          <p:cNvPr id="42" name="Text 40"/>
          <p:cNvSpPr/>
          <p:nvPr/>
        </p:nvSpPr>
        <p:spPr>
          <a:xfrm>
            <a:off x="4782312" y="220370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COMITÉ NATIONAL DES T3P</a:t>
            </a:r>
            <a:endParaRPr lang="en-US" sz="820" dirty="0"/>
          </a:p>
        </p:txBody>
      </p:sp>
      <p:sp>
        <p:nvSpPr>
          <p:cNvPr id="43" name="Text 41"/>
          <p:cNvSpPr/>
          <p:nvPr/>
        </p:nvSpPr>
        <p:spPr>
          <a:xfrm>
            <a:off x="4800600" y="244144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50 membres max — Mandat 5 ans — Fonctionne à titre gratuit.</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Débat les grands enjeux T3P. Peut être saisi par le ministre. Composé à parts égales de 4 collèges (État, professionnels, collectivités, associations).</a:t>
            </a:r>
            <a:endParaRPr lang="en-US" sz="800" dirty="0"/>
          </a:p>
        </p:txBody>
      </p:sp>
      <p:sp>
        <p:nvSpPr>
          <p:cNvPr id="44" name="Shape 42"/>
          <p:cNvSpPr/>
          <p:nvPr/>
        </p:nvSpPr>
        <p:spPr>
          <a:xfrm>
            <a:off x="4709160" y="3163824"/>
            <a:ext cx="4160520" cy="877824"/>
          </a:xfrm>
          <a:prstGeom prst="rect">
            <a:avLst/>
          </a:prstGeom>
          <a:solidFill>
            <a:srgbClr val="E8F1FA"/>
          </a:solidFill>
          <a:ln w="6350">
            <a:solidFill>
              <a:srgbClr val="D0DCE8"/>
            </a:solidFill>
            <a:prstDash val="solid"/>
          </a:ln>
        </p:spPr>
        <p:txBody>
          <a:bodyPr/>
          <a:lstStyle/>
          <a:p>
            <a:endParaRPr lang="fr-FR"/>
          </a:p>
        </p:txBody>
      </p:sp>
      <p:sp>
        <p:nvSpPr>
          <p:cNvPr id="45" name="Shape 43"/>
          <p:cNvSpPr/>
          <p:nvPr/>
        </p:nvSpPr>
        <p:spPr>
          <a:xfrm>
            <a:off x="4709160" y="3163824"/>
            <a:ext cx="4160520" cy="219456"/>
          </a:xfrm>
          <a:prstGeom prst="rect">
            <a:avLst/>
          </a:prstGeom>
          <a:solidFill>
            <a:srgbClr val="F4A227"/>
          </a:solidFill>
          <a:ln w="12700">
            <a:solidFill>
              <a:srgbClr val="F4A227"/>
            </a:solidFill>
            <a:prstDash val="solid"/>
          </a:ln>
        </p:spPr>
        <p:txBody>
          <a:bodyPr/>
          <a:lstStyle/>
          <a:p>
            <a:endParaRPr lang="fr-FR"/>
          </a:p>
        </p:txBody>
      </p:sp>
      <p:sp>
        <p:nvSpPr>
          <p:cNvPr id="46" name="Text 44"/>
          <p:cNvSpPr/>
          <p:nvPr/>
        </p:nvSpPr>
        <p:spPr>
          <a:xfrm>
            <a:off x="4782312" y="316382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COMMISSIONS LOCALES</a:t>
            </a:r>
            <a:endParaRPr lang="en-US" sz="820" dirty="0"/>
          </a:p>
        </p:txBody>
      </p:sp>
      <p:sp>
        <p:nvSpPr>
          <p:cNvPr id="47" name="Text 45"/>
          <p:cNvSpPr/>
          <p:nvPr/>
        </p:nvSpPr>
        <p:spPr>
          <a:xfrm>
            <a:off x="4800600" y="340156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Rapport annuel (activité, offre, formations, règlementation, représentativité).</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Présidée par le préfet — 1 fois/an — Mandat 3 ans.</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Remet son rapport à l'Observatoire national.</a:t>
            </a:r>
            <a:endParaRPr lang="en-US" sz="800" dirty="0"/>
          </a:p>
        </p:txBody>
      </p:sp>
      <p:sp>
        <p:nvSpPr>
          <p:cNvPr id="48" name="Shape 46"/>
          <p:cNvSpPr/>
          <p:nvPr/>
        </p:nvSpPr>
        <p:spPr>
          <a:xfrm>
            <a:off x="4709160" y="4123944"/>
            <a:ext cx="4160520" cy="877824"/>
          </a:xfrm>
          <a:prstGeom prst="rect">
            <a:avLst/>
          </a:prstGeom>
          <a:solidFill>
            <a:srgbClr val="E8F1FA"/>
          </a:solidFill>
          <a:ln w="6350">
            <a:solidFill>
              <a:srgbClr val="D0DCE8"/>
            </a:solidFill>
            <a:prstDash val="solid"/>
          </a:ln>
        </p:spPr>
        <p:txBody>
          <a:bodyPr/>
          <a:lstStyle/>
          <a:p>
            <a:endParaRPr lang="fr-FR"/>
          </a:p>
        </p:txBody>
      </p:sp>
      <p:sp>
        <p:nvSpPr>
          <p:cNvPr id="49" name="Shape 47"/>
          <p:cNvSpPr/>
          <p:nvPr/>
        </p:nvSpPr>
        <p:spPr>
          <a:xfrm>
            <a:off x="4709160" y="4123944"/>
            <a:ext cx="4160520" cy="219456"/>
          </a:xfrm>
          <a:prstGeom prst="rect">
            <a:avLst/>
          </a:prstGeom>
          <a:solidFill>
            <a:srgbClr val="C0392B"/>
          </a:solidFill>
          <a:ln w="12700">
            <a:solidFill>
              <a:srgbClr val="C0392B"/>
            </a:solidFill>
            <a:prstDash val="solid"/>
          </a:ln>
        </p:spPr>
        <p:txBody>
          <a:bodyPr/>
          <a:lstStyle/>
          <a:p>
            <a:endParaRPr lang="fr-FR"/>
          </a:p>
        </p:txBody>
      </p:sp>
      <p:sp>
        <p:nvSpPr>
          <p:cNvPr id="50" name="Text 48"/>
          <p:cNvSpPr/>
          <p:nvPr/>
        </p:nvSpPr>
        <p:spPr>
          <a:xfrm>
            <a:off x="4782312" y="412394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COMMISSION DISCIPLINAIRE</a:t>
            </a:r>
            <a:endParaRPr lang="en-US" sz="820" dirty="0"/>
          </a:p>
        </p:txBody>
      </p:sp>
      <p:sp>
        <p:nvSpPr>
          <p:cNvPr id="51" name="Text 49"/>
          <p:cNvSpPr/>
          <p:nvPr/>
        </p:nvSpPr>
        <p:spPr>
          <a:xfrm>
            <a:off x="4800600" y="436168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3 sections spécialisées : Taxi / VTC / VMDTR.</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Composée à parts égales : collège de l'État + collège des professionnels.</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L'inculpé peut venir avec une personne de son choix.</a:t>
            </a:r>
            <a:endParaRPr lang="en-US" sz="800" dirty="0"/>
          </a:p>
        </p:txBody>
      </p:sp>
      <p:sp>
        <p:nvSpPr>
          <p:cNvPr id="52" name="Rectangle 5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53" name="Rectangle 5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7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VSS et discriminations (p.121-122)</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8595360" cy="25603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32688"/>
            <a:ext cx="85953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4 INFRACTIONS SEXUELLES ET/OU SEXISTES — DÉFINITIONS ET PEINES</a:t>
            </a:r>
            <a:endParaRPr lang="en-US" sz="1000" dirty="0"/>
          </a:p>
        </p:txBody>
      </p:sp>
      <p:sp>
        <p:nvSpPr>
          <p:cNvPr id="10" name="Shape 8"/>
          <p:cNvSpPr/>
          <p:nvPr/>
        </p:nvSpPr>
        <p:spPr>
          <a:xfrm>
            <a:off x="274320" y="1261872"/>
            <a:ext cx="4279392" cy="1691640"/>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261872"/>
            <a:ext cx="4279392" cy="256032"/>
          </a:xfrm>
          <a:prstGeom prst="rect">
            <a:avLst/>
          </a:prstGeom>
          <a:solidFill>
            <a:srgbClr val="C0392B"/>
          </a:solidFill>
          <a:ln w="12700">
            <a:solidFill>
              <a:srgbClr val="C0392B"/>
            </a:solidFill>
            <a:prstDash val="solid"/>
          </a:ln>
        </p:spPr>
        <p:txBody>
          <a:bodyPr/>
          <a:lstStyle/>
          <a:p>
            <a:endParaRPr lang="fr-FR"/>
          </a:p>
        </p:txBody>
      </p:sp>
      <p:sp>
        <p:nvSpPr>
          <p:cNvPr id="12" name="Text 10"/>
          <p:cNvSpPr/>
          <p:nvPr/>
        </p:nvSpPr>
        <p:spPr>
          <a:xfrm>
            <a:off x="347472" y="126187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 VIOL</a:t>
            </a:r>
            <a:endParaRPr lang="en-US" sz="1000" dirty="0"/>
          </a:p>
        </p:txBody>
      </p:sp>
      <p:sp>
        <p:nvSpPr>
          <p:cNvPr id="13" name="Text 11"/>
          <p:cNvSpPr/>
          <p:nvPr/>
        </p:nvSpPr>
        <p:spPr>
          <a:xfrm>
            <a:off x="365760" y="153619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Acte de pénétration sexuelle ou acte bucco-génital commis sur une personne avec violence, contrainte, menace ou surprise, SANS son consentement.</a:t>
            </a:r>
            <a:endParaRPr lang="en-US" sz="850" dirty="0"/>
          </a:p>
        </p:txBody>
      </p:sp>
      <p:sp>
        <p:nvSpPr>
          <p:cNvPr id="14" name="Shape 12"/>
          <p:cNvSpPr/>
          <p:nvPr/>
        </p:nvSpPr>
        <p:spPr>
          <a:xfrm>
            <a:off x="3154680" y="1517904"/>
            <a:ext cx="1399032" cy="1435608"/>
          </a:xfrm>
          <a:prstGeom prst="rect">
            <a:avLst/>
          </a:prstGeom>
          <a:solidFill>
            <a:srgbClr val="C0392B"/>
          </a:solidFill>
          <a:ln w="12700">
            <a:solidFill>
              <a:srgbClr val="C0392B"/>
            </a:solidFill>
            <a:prstDash val="solid"/>
          </a:ln>
        </p:spPr>
        <p:txBody>
          <a:bodyPr/>
          <a:lstStyle/>
          <a:p>
            <a:endParaRPr lang="fr-FR"/>
          </a:p>
        </p:txBody>
      </p:sp>
      <p:sp>
        <p:nvSpPr>
          <p:cNvPr id="15" name="Text 13"/>
          <p:cNvSpPr/>
          <p:nvPr/>
        </p:nvSpPr>
        <p:spPr>
          <a:xfrm>
            <a:off x="3182112" y="153619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15 ans de réclusion criminelle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(peine de prison prononcée en cas de crime)</a:t>
            </a:r>
            <a:endParaRPr lang="en-US" sz="850" dirty="0"/>
          </a:p>
        </p:txBody>
      </p:sp>
      <p:sp>
        <p:nvSpPr>
          <p:cNvPr id="16" name="Shape 14"/>
          <p:cNvSpPr/>
          <p:nvPr/>
        </p:nvSpPr>
        <p:spPr>
          <a:xfrm>
            <a:off x="4663440" y="1261872"/>
            <a:ext cx="4279392" cy="1691640"/>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4663440" y="1261872"/>
            <a:ext cx="4279392" cy="256032"/>
          </a:xfrm>
          <a:prstGeom prst="rect">
            <a:avLst/>
          </a:prstGeom>
          <a:solidFill>
            <a:srgbClr val="D4530A"/>
          </a:solidFill>
          <a:ln w="12700">
            <a:solidFill>
              <a:srgbClr val="D4530A"/>
            </a:solidFill>
            <a:prstDash val="solid"/>
          </a:ln>
        </p:spPr>
        <p:txBody>
          <a:bodyPr/>
          <a:lstStyle/>
          <a:p>
            <a:endParaRPr lang="fr-FR"/>
          </a:p>
        </p:txBody>
      </p:sp>
      <p:sp>
        <p:nvSpPr>
          <p:cNvPr id="18" name="Text 16"/>
          <p:cNvSpPr/>
          <p:nvPr/>
        </p:nvSpPr>
        <p:spPr>
          <a:xfrm>
            <a:off x="4736592" y="126187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L'AGRESSION SEXUELLE</a:t>
            </a:r>
            <a:endParaRPr lang="en-US" sz="1000" dirty="0"/>
          </a:p>
        </p:txBody>
      </p:sp>
      <p:sp>
        <p:nvSpPr>
          <p:cNvPr id="19" name="Text 17"/>
          <p:cNvSpPr/>
          <p:nvPr/>
        </p:nvSpPr>
        <p:spPr>
          <a:xfrm>
            <a:off x="4754880" y="153619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Atteinte sexuelle commise sur une personne avec violence, contrainte, menace ou surprise, sans son consentement. (Ex : attouchements, actes sous contrainte...)</a:t>
            </a:r>
            <a:endParaRPr lang="en-US" sz="850" dirty="0"/>
          </a:p>
        </p:txBody>
      </p:sp>
      <p:sp>
        <p:nvSpPr>
          <p:cNvPr id="20" name="Shape 18"/>
          <p:cNvSpPr/>
          <p:nvPr/>
        </p:nvSpPr>
        <p:spPr>
          <a:xfrm>
            <a:off x="7543800" y="1517904"/>
            <a:ext cx="1399032" cy="1435608"/>
          </a:xfrm>
          <a:prstGeom prst="rect">
            <a:avLst/>
          </a:prstGeom>
          <a:solidFill>
            <a:srgbClr val="D4530A"/>
          </a:solidFill>
          <a:ln w="12700">
            <a:solidFill>
              <a:srgbClr val="D4530A"/>
            </a:solidFill>
            <a:prstDash val="solid"/>
          </a:ln>
        </p:spPr>
        <p:txBody>
          <a:bodyPr/>
          <a:lstStyle/>
          <a:p>
            <a:endParaRPr lang="fr-FR"/>
          </a:p>
        </p:txBody>
      </p:sp>
      <p:sp>
        <p:nvSpPr>
          <p:cNvPr id="21" name="Text 19"/>
          <p:cNvSpPr/>
          <p:nvPr/>
        </p:nvSpPr>
        <p:spPr>
          <a:xfrm>
            <a:off x="7571232" y="153619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ans d'emprisonnement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et 75 000 € d'amende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(voire plus selon circonstances)</a:t>
            </a:r>
            <a:endParaRPr lang="en-US" sz="850" dirty="0"/>
          </a:p>
        </p:txBody>
      </p:sp>
      <p:sp>
        <p:nvSpPr>
          <p:cNvPr id="22" name="Shape 20"/>
          <p:cNvSpPr/>
          <p:nvPr/>
        </p:nvSpPr>
        <p:spPr>
          <a:xfrm>
            <a:off x="274320" y="3044952"/>
            <a:ext cx="4279392" cy="1691640"/>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274320" y="3044952"/>
            <a:ext cx="4279392" cy="256032"/>
          </a:xfrm>
          <a:prstGeom prst="rect">
            <a:avLst/>
          </a:prstGeom>
          <a:solidFill>
            <a:srgbClr val="F4A227"/>
          </a:solidFill>
          <a:ln w="12700">
            <a:solidFill>
              <a:srgbClr val="F4A227"/>
            </a:solidFill>
            <a:prstDash val="solid"/>
          </a:ln>
        </p:spPr>
        <p:txBody>
          <a:bodyPr/>
          <a:lstStyle/>
          <a:p>
            <a:endParaRPr lang="fr-FR"/>
          </a:p>
        </p:txBody>
      </p:sp>
      <p:sp>
        <p:nvSpPr>
          <p:cNvPr id="24" name="Text 22"/>
          <p:cNvSpPr/>
          <p:nvPr/>
        </p:nvSpPr>
        <p:spPr>
          <a:xfrm>
            <a:off x="347472" y="304495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 HARCÈLEMENT SEXUEL</a:t>
            </a:r>
            <a:endParaRPr lang="en-US" sz="1000" dirty="0"/>
          </a:p>
        </p:txBody>
      </p:sp>
      <p:sp>
        <p:nvSpPr>
          <p:cNvPr id="25" name="Text 23"/>
          <p:cNvSpPr/>
          <p:nvPr/>
        </p:nvSpPr>
        <p:spPr>
          <a:xfrm>
            <a:off x="365760" y="331927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Le fait d'imposer à une personne, de façon RÉPÉTÉE, des propos ou comportements à connotation sexuelle ou sexiste SANS son consentement.</a:t>
            </a:r>
            <a:endParaRPr lang="en-US" sz="850" dirty="0"/>
          </a:p>
        </p:txBody>
      </p:sp>
      <p:sp>
        <p:nvSpPr>
          <p:cNvPr id="26" name="Shape 24"/>
          <p:cNvSpPr/>
          <p:nvPr/>
        </p:nvSpPr>
        <p:spPr>
          <a:xfrm>
            <a:off x="3154680" y="3300984"/>
            <a:ext cx="1399032" cy="1435608"/>
          </a:xfrm>
          <a:prstGeom prst="rect">
            <a:avLst/>
          </a:prstGeom>
          <a:solidFill>
            <a:srgbClr val="F4A227"/>
          </a:solidFill>
          <a:ln w="12700">
            <a:solidFill>
              <a:srgbClr val="F4A227"/>
            </a:solidFill>
            <a:prstDash val="solid"/>
          </a:ln>
        </p:spPr>
        <p:txBody>
          <a:bodyPr/>
          <a:lstStyle/>
          <a:p>
            <a:endParaRPr lang="fr-FR"/>
          </a:p>
        </p:txBody>
      </p:sp>
      <p:sp>
        <p:nvSpPr>
          <p:cNvPr id="27" name="Text 25"/>
          <p:cNvSpPr/>
          <p:nvPr/>
        </p:nvSpPr>
        <p:spPr>
          <a:xfrm>
            <a:off x="3182112" y="331927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ans d'emprisonnement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et 30 000 € d'amende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(voire plus selon circonstances)</a:t>
            </a:r>
            <a:endParaRPr lang="en-US" sz="850" dirty="0"/>
          </a:p>
        </p:txBody>
      </p:sp>
      <p:sp>
        <p:nvSpPr>
          <p:cNvPr id="28" name="Shape 26"/>
          <p:cNvSpPr/>
          <p:nvPr/>
        </p:nvSpPr>
        <p:spPr>
          <a:xfrm>
            <a:off x="4663440" y="3044952"/>
            <a:ext cx="4279392" cy="1691640"/>
          </a:xfrm>
          <a:prstGeom prst="rect">
            <a:avLst/>
          </a:prstGeom>
          <a:solidFill>
            <a:srgbClr val="E8F1FA"/>
          </a:solidFill>
          <a:ln w="6350">
            <a:solidFill>
              <a:srgbClr val="D0DCE8"/>
            </a:solidFill>
            <a:prstDash val="solid"/>
          </a:ln>
        </p:spPr>
        <p:txBody>
          <a:bodyPr/>
          <a:lstStyle/>
          <a:p>
            <a:endParaRPr lang="fr-FR"/>
          </a:p>
        </p:txBody>
      </p:sp>
      <p:sp>
        <p:nvSpPr>
          <p:cNvPr id="29" name="Shape 27"/>
          <p:cNvSpPr/>
          <p:nvPr/>
        </p:nvSpPr>
        <p:spPr>
          <a:xfrm>
            <a:off x="4663440" y="3044952"/>
            <a:ext cx="4279392" cy="256032"/>
          </a:xfrm>
          <a:prstGeom prst="rect">
            <a:avLst/>
          </a:prstGeom>
          <a:solidFill>
            <a:srgbClr val="2860A8"/>
          </a:solidFill>
          <a:ln w="12700">
            <a:solidFill>
              <a:srgbClr val="2860A8"/>
            </a:solidFill>
            <a:prstDash val="solid"/>
          </a:ln>
        </p:spPr>
        <p:txBody>
          <a:bodyPr/>
          <a:lstStyle/>
          <a:p>
            <a:endParaRPr lang="fr-FR"/>
          </a:p>
        </p:txBody>
      </p:sp>
      <p:sp>
        <p:nvSpPr>
          <p:cNvPr id="30" name="Text 28"/>
          <p:cNvSpPr/>
          <p:nvPr/>
        </p:nvSpPr>
        <p:spPr>
          <a:xfrm>
            <a:off x="4736592" y="304495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L'OUTRAGE SEXISTE OU SEXUEL</a:t>
            </a:r>
            <a:endParaRPr lang="en-US" sz="1000" dirty="0"/>
          </a:p>
        </p:txBody>
      </p:sp>
      <p:sp>
        <p:nvSpPr>
          <p:cNvPr id="31" name="Text 29"/>
          <p:cNvSpPr/>
          <p:nvPr/>
        </p:nvSpPr>
        <p:spPr>
          <a:xfrm>
            <a:off x="4754880" y="331927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Tout propos ou comportement à connotation sexuelle ou sexiste à l'encontre d'une personne. (Ex : sifflements, remarques sur le corps, propositions sexuelles à un(e) inconnu(e)...)</a:t>
            </a:r>
            <a:endParaRPr lang="en-US" sz="850" dirty="0"/>
          </a:p>
        </p:txBody>
      </p:sp>
      <p:sp>
        <p:nvSpPr>
          <p:cNvPr id="32" name="Shape 30"/>
          <p:cNvSpPr/>
          <p:nvPr/>
        </p:nvSpPr>
        <p:spPr>
          <a:xfrm>
            <a:off x="7543800" y="3300984"/>
            <a:ext cx="1399032" cy="1435608"/>
          </a:xfrm>
          <a:prstGeom prst="rect">
            <a:avLst/>
          </a:prstGeom>
          <a:solidFill>
            <a:srgbClr val="2860A8"/>
          </a:solidFill>
          <a:ln w="12700">
            <a:solidFill>
              <a:srgbClr val="2860A8"/>
            </a:solidFill>
            <a:prstDash val="solid"/>
          </a:ln>
        </p:spPr>
        <p:txBody>
          <a:bodyPr/>
          <a:lstStyle/>
          <a:p>
            <a:endParaRPr lang="fr-FR"/>
          </a:p>
        </p:txBody>
      </p:sp>
      <p:sp>
        <p:nvSpPr>
          <p:cNvPr id="33" name="Text 31"/>
          <p:cNvSpPr/>
          <p:nvPr/>
        </p:nvSpPr>
        <p:spPr>
          <a:xfrm>
            <a:off x="7571232" y="331927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Amende de 3 750 €</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Délit si aggravé</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(voire plus selon circonstances)</a:t>
            </a:r>
            <a:endParaRPr lang="en-US" sz="850" dirty="0"/>
          </a:p>
        </p:txBody>
      </p:sp>
      <p:sp>
        <p:nvSpPr>
          <p:cNvPr id="34" name="Shape 32"/>
          <p:cNvSpPr/>
          <p:nvPr/>
        </p:nvSpPr>
        <p:spPr>
          <a:xfrm>
            <a:off x="274320" y="4910328"/>
            <a:ext cx="8595360" cy="292608"/>
          </a:xfrm>
          <a:prstGeom prst="rect">
            <a:avLst/>
          </a:prstGeom>
          <a:solidFill>
            <a:srgbClr val="FFFBEB"/>
          </a:solidFill>
          <a:ln w="19050">
            <a:solidFill>
              <a:srgbClr val="F4A227"/>
            </a:solidFill>
            <a:prstDash val="solid"/>
          </a:ln>
        </p:spPr>
        <p:txBody>
          <a:bodyPr/>
          <a:lstStyle/>
          <a:p>
            <a:endParaRPr lang="fr-FR"/>
          </a:p>
        </p:txBody>
      </p:sp>
      <p:sp>
        <p:nvSpPr>
          <p:cNvPr id="35" name="Shape 33"/>
          <p:cNvSpPr/>
          <p:nvPr/>
        </p:nvSpPr>
        <p:spPr>
          <a:xfrm>
            <a:off x="274320" y="4910328"/>
            <a:ext cx="54864" cy="292608"/>
          </a:xfrm>
          <a:prstGeom prst="rect">
            <a:avLst/>
          </a:prstGeom>
          <a:solidFill>
            <a:srgbClr val="F4A227"/>
          </a:solidFill>
          <a:ln w="12700">
            <a:solidFill>
              <a:srgbClr val="F4A227"/>
            </a:solidFill>
            <a:prstDash val="solid"/>
          </a:ln>
        </p:spPr>
        <p:txBody>
          <a:bodyPr/>
          <a:lstStyle/>
          <a:p>
            <a:endParaRPr lang="fr-FR"/>
          </a:p>
        </p:txBody>
      </p:sp>
      <p:sp>
        <p:nvSpPr>
          <p:cNvPr id="36" name="Text 34"/>
          <p:cNvSpPr/>
          <p:nvPr/>
        </p:nvSpPr>
        <p:spPr>
          <a:xfrm>
            <a:off x="384048" y="4910328"/>
            <a:ext cx="8467344"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Les discriminations (art. 225-1 Code pénal) : 3 ans d'emprisonnement et 45 000 € d'amende. Critères protégés : origine, sexe, situation de famille, grossesse, apparence physique, patronyme, lieu de résidence, état de santé, perte d'autonomie, handicap, caractéristiques génétiques, moeurs, orientation sexuelle, identité de genre, âge, opinions politiques, activités syndicales, appartenance à une ethnie/nation/prétendue race, religion vraie ou supposée.</a:t>
            </a:r>
            <a:endParaRPr lang="en-US" sz="1000" dirty="0"/>
          </a:p>
        </p:txBody>
      </p:sp>
      <p:sp>
        <p:nvSpPr>
          <p:cNvPr id="37" name="Rectangle 3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38" name="Rectangle 3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80">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Fiches à retenir — Schémas de synthèse</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Les notions essentielles pour l'examen T3P</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44/88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pic>
        <p:nvPicPr>
          <p:cNvPr id="11" name="Picture 10" descr="image9.jpg"/>
          <p:cNvPicPr>
            <a:picLocks noChangeAspect="1"/>
          </p:cNvPicPr>
          <p:nvPr/>
        </p:nvPicPr>
        <p:blipFill>
          <a:blip r:embed="rId3"/>
          <a:stretch>
            <a:fillRect/>
          </a:stretch>
        </p:blipFill>
        <p:spPr>
          <a:xfrm>
            <a:off x="3197739" y="2820924"/>
            <a:ext cx="2748521" cy="1737360"/>
          </a:xfrm>
          <a:prstGeom prst="rect">
            <a:avLst/>
          </a:prstGeom>
          <a:ln w="9525">
            <a:solidFill>
              <a:srgbClr val="00B4D8"/>
            </a:solid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8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1 — Définition du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45/88</a:t>
            </a:r>
            <a:endParaRPr lang="en-US" sz="800" dirty="0"/>
          </a:p>
        </p:txBody>
      </p:sp>
      <p:sp>
        <p:nvSpPr>
          <p:cNvPr id="8" name="Shape 6"/>
          <p:cNvSpPr/>
          <p:nvPr/>
        </p:nvSpPr>
        <p:spPr>
          <a:xfrm>
            <a:off x="274320" y="914400"/>
            <a:ext cx="8595360" cy="43891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T3P = TRANSPORT PUBLIC PARTICULIER DE PERSONNES</a:t>
            </a:r>
            <a:endParaRPr lang="en-US" sz="1400" dirty="0"/>
          </a:p>
        </p:txBody>
      </p:sp>
      <p:sp>
        <p:nvSpPr>
          <p:cNvPr id="10" name="Shape 8"/>
          <p:cNvSpPr/>
          <p:nvPr/>
        </p:nvSpPr>
        <p:spPr>
          <a:xfrm>
            <a:off x="274320" y="1444752"/>
            <a:ext cx="8595360" cy="1170432"/>
          </a:xfrm>
          <a:prstGeom prst="rect">
            <a:avLst/>
          </a:prstGeom>
          <a:solidFill>
            <a:srgbClr val="EBF3FC"/>
          </a:solidFill>
          <a:ln w="19050">
            <a:solidFill>
              <a:srgbClr val="2860A8"/>
            </a:solidFill>
            <a:prstDash val="solid"/>
          </a:ln>
        </p:spPr>
        <p:txBody>
          <a:bodyPr/>
          <a:lstStyle/>
          <a:p>
            <a:endParaRPr lang="fr-FR"/>
          </a:p>
        </p:txBody>
      </p:sp>
      <p:sp>
        <p:nvSpPr>
          <p:cNvPr id="11" name="Shape 9"/>
          <p:cNvSpPr/>
          <p:nvPr/>
        </p:nvSpPr>
        <p:spPr>
          <a:xfrm>
            <a:off x="274320" y="1444752"/>
            <a:ext cx="54864" cy="1170432"/>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457200" y="1463040"/>
            <a:ext cx="8229600" cy="256032"/>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DÉFINITION LÉGALE (Code des transports) :</a:t>
            </a:r>
            <a:endParaRPr lang="en-US" sz="1000" dirty="0"/>
          </a:p>
        </p:txBody>
      </p:sp>
      <p:sp>
        <p:nvSpPr>
          <p:cNvPr id="13" name="Text 11"/>
          <p:cNvSpPr/>
          <p:nvPr/>
        </p:nvSpPr>
        <p:spPr>
          <a:xfrm>
            <a:off x="457200" y="1737360"/>
            <a:ext cx="8229600" cy="841248"/>
          </a:xfrm>
          <a:prstGeom prst="rect">
            <a:avLst/>
          </a:prstGeom>
          <a:noFill/>
          <a:ln/>
        </p:spPr>
        <p:txBody>
          <a:bodyPr wrap="square" rtlCol="0" anchor="t"/>
          <a:lstStyle/>
          <a:p>
            <a:pPr marL="0" indent="0">
              <a:buNone/>
            </a:pPr>
            <a:r>
              <a:rPr lang="en-US" sz="1000" i="1" dirty="0">
                <a:solidFill>
                  <a:srgbClr val="3A3A3A"/>
                </a:solidFill>
                <a:latin typeface="Calibri" pitchFamily="34" charset="0"/>
                <a:ea typeface="Calibri" pitchFamily="34" charset="-122"/>
                <a:cs typeface="Calibri" pitchFamily="34" charset="-120"/>
              </a:rPr>
              <a:t>Les prestations de transports publics particuliers sont des prestations de transport public routier de personnes qui ne relèvent ni des transports publics collectifs ni du transport privé routier de personnes. Ces prestations peuvent être proposées à autant de personnes que de places disponibles dans le véhicule. Elles sont exécutées, à titre onéreux (payant), par les taxis, les voitures de transport avec chauffeur et les véhicules motorisés à deux ou trois roues.</a:t>
            </a:r>
            <a:endParaRPr lang="en-US" sz="1000" dirty="0"/>
          </a:p>
        </p:txBody>
      </p:sp>
      <p:sp>
        <p:nvSpPr>
          <p:cNvPr id="14" name="Shape 12"/>
          <p:cNvSpPr/>
          <p:nvPr/>
        </p:nvSpPr>
        <p:spPr>
          <a:xfrm>
            <a:off x="274320" y="2724912"/>
            <a:ext cx="2743200" cy="1051560"/>
          </a:xfrm>
          <a:prstGeom prst="rect">
            <a:avLst/>
          </a:prstGeom>
          <a:solidFill>
            <a:srgbClr val="E8F1FA"/>
          </a:solidFill>
          <a:ln w="6350">
            <a:solidFill>
              <a:srgbClr val="D0DCE8"/>
            </a:solidFill>
            <a:prstDash val="solid"/>
          </a:ln>
        </p:spPr>
        <p:txBody>
          <a:bodyPr/>
          <a:lstStyle/>
          <a:p>
            <a:endParaRPr lang="fr-FR"/>
          </a:p>
        </p:txBody>
      </p:sp>
      <p:sp>
        <p:nvSpPr>
          <p:cNvPr id="15" name="Shape 13"/>
          <p:cNvSpPr/>
          <p:nvPr/>
        </p:nvSpPr>
        <p:spPr>
          <a:xfrm>
            <a:off x="274320" y="2724912"/>
            <a:ext cx="2743200" cy="384048"/>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329184" y="27249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NI collectif</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NI privé</a:t>
            </a:r>
            <a:endParaRPr lang="en-US" sz="1200" dirty="0"/>
          </a:p>
        </p:txBody>
      </p:sp>
      <p:sp>
        <p:nvSpPr>
          <p:cNvPr id="17" name="Text 15"/>
          <p:cNvSpPr/>
          <p:nvPr/>
        </p:nvSpPr>
        <p:spPr>
          <a:xfrm>
            <a:off x="365760" y="3136392"/>
            <a:ext cx="2606040" cy="621792"/>
          </a:xfrm>
          <a:prstGeom prst="rect">
            <a:avLst/>
          </a:prstGeom>
          <a:noFill/>
          <a:ln/>
        </p:spPr>
        <p:txBody>
          <a:bodyPr wrap="square" rtlCol="0" anchor="t"/>
          <a:lstStyle/>
          <a:p>
            <a:pPr marL="0" indent="0" algn="ctr">
              <a:buNone/>
            </a:pPr>
            <a:r>
              <a:rPr lang="en-US" sz="1000" dirty="0">
                <a:solidFill>
                  <a:srgbClr val="3A3A3A"/>
                </a:solidFill>
                <a:latin typeface="Calibri" pitchFamily="34" charset="0"/>
                <a:ea typeface="Calibri" pitchFamily="34" charset="-122"/>
                <a:cs typeface="Calibri" pitchFamily="34" charset="-120"/>
              </a:rPr>
              <a:t>Pas un bus ni une navette</a:t>
            </a:r>
            <a:endParaRPr lang="en-US" sz="1000" dirty="0"/>
          </a:p>
          <a:p>
            <a:pPr marL="0" indent="0" algn="ctr">
              <a:buNone/>
            </a:pPr>
            <a:r>
              <a:rPr lang="en-US" sz="1000" dirty="0">
                <a:solidFill>
                  <a:srgbClr val="3A3A3A"/>
                </a:solidFill>
                <a:latin typeface="Calibri" pitchFamily="34" charset="0"/>
                <a:ea typeface="Calibri" pitchFamily="34" charset="-122"/>
                <a:cs typeface="Calibri" pitchFamily="34" charset="-120"/>
              </a:rPr>
              <a:t>d'entreprise — entre les deux</a:t>
            </a:r>
            <a:endParaRPr lang="en-US" sz="1000" dirty="0"/>
          </a:p>
        </p:txBody>
      </p:sp>
      <p:sp>
        <p:nvSpPr>
          <p:cNvPr id="18" name="Shape 16"/>
          <p:cNvSpPr/>
          <p:nvPr/>
        </p:nvSpPr>
        <p:spPr>
          <a:xfrm>
            <a:off x="3154680" y="2724912"/>
            <a:ext cx="2743200" cy="1051560"/>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3154680" y="2724912"/>
            <a:ext cx="2743200" cy="384048"/>
          </a:xfrm>
          <a:prstGeom prst="rect">
            <a:avLst/>
          </a:prstGeom>
          <a:solidFill>
            <a:srgbClr val="F4A227"/>
          </a:solidFill>
          <a:ln w="12700">
            <a:solidFill>
              <a:srgbClr val="F4A227"/>
            </a:solidFill>
            <a:prstDash val="solid"/>
          </a:ln>
        </p:spPr>
        <p:txBody>
          <a:bodyPr/>
          <a:lstStyle/>
          <a:p>
            <a:endParaRPr lang="fr-FR"/>
          </a:p>
        </p:txBody>
      </p:sp>
      <p:sp>
        <p:nvSpPr>
          <p:cNvPr id="20" name="Text 18"/>
          <p:cNvSpPr/>
          <p:nvPr/>
        </p:nvSpPr>
        <p:spPr>
          <a:xfrm>
            <a:off x="3209544" y="27249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À titre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ONÉREUX</a:t>
            </a:r>
            <a:endParaRPr lang="en-US" sz="1200" dirty="0"/>
          </a:p>
        </p:txBody>
      </p:sp>
      <p:sp>
        <p:nvSpPr>
          <p:cNvPr id="21" name="Text 19"/>
          <p:cNvSpPr/>
          <p:nvPr/>
        </p:nvSpPr>
        <p:spPr>
          <a:xfrm>
            <a:off x="3246120" y="3136392"/>
            <a:ext cx="2606040" cy="621792"/>
          </a:xfrm>
          <a:prstGeom prst="rect">
            <a:avLst/>
          </a:prstGeom>
          <a:noFill/>
          <a:ln/>
        </p:spPr>
        <p:txBody>
          <a:bodyPr wrap="square" rtlCol="0" anchor="t"/>
          <a:lstStyle/>
          <a:p>
            <a:pPr marL="0" indent="0" algn="ctr">
              <a:buNone/>
            </a:pPr>
            <a:r>
              <a:rPr lang="en-US" sz="1000" dirty="0">
                <a:solidFill>
                  <a:srgbClr val="3A3A3A"/>
                </a:solidFill>
                <a:latin typeface="Calibri" pitchFamily="34" charset="0"/>
                <a:ea typeface="Calibri" pitchFamily="34" charset="-122"/>
                <a:cs typeface="Calibri" pitchFamily="34" charset="-120"/>
              </a:rPr>
              <a:t>Payant — le client verse</a:t>
            </a:r>
            <a:endParaRPr lang="en-US" sz="1000" dirty="0"/>
          </a:p>
          <a:p>
            <a:pPr marL="0" indent="0" algn="ctr">
              <a:buNone/>
            </a:pPr>
            <a:r>
              <a:rPr lang="en-US" sz="1000" dirty="0">
                <a:solidFill>
                  <a:srgbClr val="3A3A3A"/>
                </a:solidFill>
                <a:latin typeface="Calibri" pitchFamily="34" charset="0"/>
                <a:ea typeface="Calibri" pitchFamily="34" charset="-122"/>
                <a:cs typeface="Calibri" pitchFamily="34" charset="-120"/>
              </a:rPr>
              <a:t>une rémunération</a:t>
            </a:r>
            <a:endParaRPr lang="en-US" sz="1000" dirty="0"/>
          </a:p>
        </p:txBody>
      </p:sp>
      <p:sp>
        <p:nvSpPr>
          <p:cNvPr id="22" name="Shape 20"/>
          <p:cNvSpPr/>
          <p:nvPr/>
        </p:nvSpPr>
        <p:spPr>
          <a:xfrm>
            <a:off x="6035040" y="2724912"/>
            <a:ext cx="2743200" cy="1051560"/>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6035040" y="2724912"/>
            <a:ext cx="2743200" cy="384048"/>
          </a:xfrm>
          <a:prstGeom prst="rect">
            <a:avLst/>
          </a:prstGeom>
          <a:solidFill>
            <a:srgbClr val="1A3A5C"/>
          </a:solidFill>
          <a:ln w="12700">
            <a:solidFill>
              <a:srgbClr val="1A3A5C"/>
            </a:solidFill>
            <a:prstDash val="solid"/>
          </a:ln>
        </p:spPr>
        <p:txBody>
          <a:bodyPr/>
          <a:lstStyle/>
          <a:p>
            <a:endParaRPr lang="fr-FR"/>
          </a:p>
        </p:txBody>
      </p:sp>
      <p:sp>
        <p:nvSpPr>
          <p:cNvPr id="24" name="Text 22"/>
          <p:cNvSpPr/>
          <p:nvPr/>
        </p:nvSpPr>
        <p:spPr>
          <a:xfrm>
            <a:off x="6089904" y="27249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Autant de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passagers</a:t>
            </a:r>
            <a:endParaRPr lang="en-US" sz="1200" dirty="0"/>
          </a:p>
        </p:txBody>
      </p:sp>
      <p:sp>
        <p:nvSpPr>
          <p:cNvPr id="25" name="Text 23"/>
          <p:cNvSpPr/>
          <p:nvPr/>
        </p:nvSpPr>
        <p:spPr>
          <a:xfrm>
            <a:off x="6126480" y="3136392"/>
            <a:ext cx="2606040" cy="621792"/>
          </a:xfrm>
          <a:prstGeom prst="rect">
            <a:avLst/>
          </a:prstGeom>
          <a:noFill/>
          <a:ln/>
        </p:spPr>
        <p:txBody>
          <a:bodyPr wrap="square" rtlCol="0" anchor="t"/>
          <a:lstStyle/>
          <a:p>
            <a:pPr marL="0" indent="0" algn="ctr">
              <a:buNone/>
            </a:pPr>
            <a:r>
              <a:rPr lang="en-US" sz="1000" dirty="0">
                <a:solidFill>
                  <a:srgbClr val="3A3A3A"/>
                </a:solidFill>
                <a:latin typeface="Calibri" pitchFamily="34" charset="0"/>
                <a:ea typeface="Calibri" pitchFamily="34" charset="-122"/>
                <a:cs typeface="Calibri" pitchFamily="34" charset="-120"/>
              </a:rPr>
              <a:t>Que de places dispo</a:t>
            </a:r>
            <a:endParaRPr lang="en-US" sz="1000" dirty="0"/>
          </a:p>
          <a:p>
            <a:pPr marL="0" indent="0" algn="ctr">
              <a:buNone/>
            </a:pPr>
            <a:r>
              <a:rPr lang="en-US" sz="1000" dirty="0">
                <a:solidFill>
                  <a:srgbClr val="3A3A3A"/>
                </a:solidFill>
                <a:latin typeface="Calibri" pitchFamily="34" charset="0"/>
                <a:ea typeface="Calibri" pitchFamily="34" charset="-122"/>
                <a:cs typeface="Calibri" pitchFamily="34" charset="-120"/>
              </a:rPr>
              <a:t>dans le véhicule</a:t>
            </a:r>
            <a:endParaRPr lang="en-US" sz="1000" dirty="0"/>
          </a:p>
        </p:txBody>
      </p:sp>
      <p:sp>
        <p:nvSpPr>
          <p:cNvPr id="26" name="Shape 24"/>
          <p:cNvSpPr/>
          <p:nvPr/>
        </p:nvSpPr>
        <p:spPr>
          <a:xfrm>
            <a:off x="274320" y="3858768"/>
            <a:ext cx="8595360" cy="292608"/>
          </a:xfrm>
          <a:prstGeom prst="rect">
            <a:avLst/>
          </a:prstGeom>
          <a:solidFill>
            <a:srgbClr val="1A3A5C"/>
          </a:solidFill>
          <a:ln w="12700">
            <a:solidFill>
              <a:srgbClr val="1A3A5C"/>
            </a:solidFill>
            <a:prstDash val="solid"/>
          </a:ln>
        </p:spPr>
        <p:txBody>
          <a:bodyPr/>
          <a:lstStyle/>
          <a:p>
            <a:endParaRPr lang="fr-FR"/>
          </a:p>
        </p:txBody>
      </p:sp>
      <p:sp>
        <p:nvSpPr>
          <p:cNvPr id="27" name="Text 25"/>
          <p:cNvSpPr/>
          <p:nvPr/>
        </p:nvSpPr>
        <p:spPr>
          <a:xfrm>
            <a:off x="274320" y="3858768"/>
            <a:ext cx="859536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LES 3 PROFESSIONS T3P</a:t>
            </a:r>
            <a:endParaRPr lang="en-US" sz="1100" dirty="0"/>
          </a:p>
        </p:txBody>
      </p:sp>
      <p:sp>
        <p:nvSpPr>
          <p:cNvPr id="28" name="Shape 26"/>
          <p:cNvSpPr/>
          <p:nvPr/>
        </p:nvSpPr>
        <p:spPr>
          <a:xfrm>
            <a:off x="274320" y="4224528"/>
            <a:ext cx="2743200" cy="804672"/>
          </a:xfrm>
          <a:prstGeom prst="rect">
            <a:avLst/>
          </a:prstGeom>
          <a:solidFill>
            <a:srgbClr val="E8F1FA"/>
          </a:solidFill>
          <a:ln w="6350">
            <a:solidFill>
              <a:srgbClr val="D0DCE8"/>
            </a:solidFill>
            <a:prstDash val="solid"/>
          </a:ln>
        </p:spPr>
        <p:txBody>
          <a:bodyPr/>
          <a:lstStyle/>
          <a:p>
            <a:endParaRPr lang="fr-FR"/>
          </a:p>
        </p:txBody>
      </p:sp>
      <p:sp>
        <p:nvSpPr>
          <p:cNvPr id="29" name="Shape 27"/>
          <p:cNvSpPr/>
          <p:nvPr/>
        </p:nvSpPr>
        <p:spPr>
          <a:xfrm>
            <a:off x="274320" y="4224528"/>
            <a:ext cx="2743200" cy="274320"/>
          </a:xfrm>
          <a:prstGeom prst="rect">
            <a:avLst/>
          </a:prstGeom>
          <a:solidFill>
            <a:srgbClr val="1A3A5C"/>
          </a:solidFill>
          <a:ln w="12700">
            <a:solidFill>
              <a:srgbClr val="1A3A5C"/>
            </a:solidFill>
            <a:prstDash val="solid"/>
          </a:ln>
        </p:spPr>
        <p:txBody>
          <a:bodyPr/>
          <a:lstStyle/>
          <a:p>
            <a:endParaRPr lang="fr-FR"/>
          </a:p>
        </p:txBody>
      </p:sp>
      <p:sp>
        <p:nvSpPr>
          <p:cNvPr id="30" name="Text 28"/>
          <p:cNvSpPr/>
          <p:nvPr/>
        </p:nvSpPr>
        <p:spPr>
          <a:xfrm>
            <a:off x="347472" y="4224528"/>
            <a:ext cx="26334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TAXI</a:t>
            </a:r>
            <a:endParaRPr lang="en-US" sz="1100" dirty="0"/>
          </a:p>
        </p:txBody>
      </p:sp>
      <p:sp>
        <p:nvSpPr>
          <p:cNvPr id="31" name="Text 29"/>
          <p:cNvSpPr/>
          <p:nvPr/>
        </p:nvSpPr>
        <p:spPr>
          <a:xfrm>
            <a:off x="365760" y="4526280"/>
            <a:ext cx="2606040" cy="50292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Maraude autorisée dans la zone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Tarif réglementé — ADS obligatoire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PSC1 obligatoire</a:t>
            </a:r>
            <a:endParaRPr lang="en-US" sz="900" dirty="0"/>
          </a:p>
        </p:txBody>
      </p:sp>
      <p:sp>
        <p:nvSpPr>
          <p:cNvPr id="32" name="Shape 30"/>
          <p:cNvSpPr/>
          <p:nvPr/>
        </p:nvSpPr>
        <p:spPr>
          <a:xfrm>
            <a:off x="3154680" y="4224528"/>
            <a:ext cx="2743200" cy="804672"/>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3154680" y="4224528"/>
            <a:ext cx="2743200" cy="274320"/>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3227832" y="4224528"/>
            <a:ext cx="26334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VTC</a:t>
            </a:r>
            <a:endParaRPr lang="en-US" sz="1100" dirty="0"/>
          </a:p>
        </p:txBody>
      </p:sp>
      <p:sp>
        <p:nvSpPr>
          <p:cNvPr id="35" name="Text 33"/>
          <p:cNvSpPr/>
          <p:nvPr/>
        </p:nvSpPr>
        <p:spPr>
          <a:xfrm>
            <a:off x="3246120" y="4526280"/>
            <a:ext cx="2606040" cy="50292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Réservation PRÉALABLE toujours</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Tarif libre fixé à l'avance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Inscription Registre National VTC</a:t>
            </a:r>
            <a:endParaRPr lang="en-US" sz="900" dirty="0"/>
          </a:p>
        </p:txBody>
      </p:sp>
      <p:sp>
        <p:nvSpPr>
          <p:cNvPr id="36" name="Shape 34"/>
          <p:cNvSpPr/>
          <p:nvPr/>
        </p:nvSpPr>
        <p:spPr>
          <a:xfrm>
            <a:off x="6035040" y="4224528"/>
            <a:ext cx="2743200" cy="804672"/>
          </a:xfrm>
          <a:prstGeom prst="rect">
            <a:avLst/>
          </a:prstGeom>
          <a:solidFill>
            <a:srgbClr val="E8F1FA"/>
          </a:solidFill>
          <a:ln w="6350">
            <a:solidFill>
              <a:srgbClr val="D0DCE8"/>
            </a:solidFill>
            <a:prstDash val="solid"/>
          </a:ln>
        </p:spPr>
        <p:txBody>
          <a:bodyPr/>
          <a:lstStyle/>
          <a:p>
            <a:endParaRPr lang="fr-FR"/>
          </a:p>
        </p:txBody>
      </p:sp>
      <p:sp>
        <p:nvSpPr>
          <p:cNvPr id="37" name="Shape 35"/>
          <p:cNvSpPr/>
          <p:nvPr/>
        </p:nvSpPr>
        <p:spPr>
          <a:xfrm>
            <a:off x="6035040" y="4224528"/>
            <a:ext cx="2743200" cy="274320"/>
          </a:xfrm>
          <a:prstGeom prst="rect">
            <a:avLst/>
          </a:prstGeom>
          <a:solidFill>
            <a:srgbClr val="6B7A8D"/>
          </a:solidFill>
          <a:ln w="12700">
            <a:solidFill>
              <a:srgbClr val="6B7A8D"/>
            </a:solidFill>
            <a:prstDash val="solid"/>
          </a:ln>
        </p:spPr>
        <p:txBody>
          <a:bodyPr/>
          <a:lstStyle/>
          <a:p>
            <a:endParaRPr lang="fr-FR"/>
          </a:p>
        </p:txBody>
      </p:sp>
      <p:sp>
        <p:nvSpPr>
          <p:cNvPr id="38" name="Text 36"/>
          <p:cNvSpPr/>
          <p:nvPr/>
        </p:nvSpPr>
        <p:spPr>
          <a:xfrm>
            <a:off x="6108192" y="4224528"/>
            <a:ext cx="26334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VMDTR</a:t>
            </a:r>
            <a:endParaRPr lang="en-US" sz="1100" dirty="0"/>
          </a:p>
        </p:txBody>
      </p:sp>
      <p:sp>
        <p:nvSpPr>
          <p:cNvPr id="39" name="Text 37"/>
          <p:cNvSpPr/>
          <p:nvPr/>
        </p:nvSpPr>
        <p:spPr>
          <a:xfrm>
            <a:off x="6126480" y="4526280"/>
            <a:ext cx="2606040" cy="50292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Max 1 passager — 2 ou 3 roues</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Réservation préalable obligatoire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Même carte pro T3P</a:t>
            </a:r>
            <a:endParaRPr lang="en-US" sz="900" dirty="0"/>
          </a:p>
        </p:txBody>
      </p:sp>
      <p:sp>
        <p:nvSpPr>
          <p:cNvPr id="40" name="Rectangle 3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1" name="Rectangle 4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8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2 — Les cas de non-inscription à un examen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46/88</a:t>
            </a:r>
            <a:endParaRPr lang="en-US" sz="800" dirty="0"/>
          </a:p>
        </p:txBody>
      </p:sp>
      <p:sp>
        <p:nvSpPr>
          <p:cNvPr id="8" name="Shape 6"/>
          <p:cNvSpPr/>
          <p:nvPr/>
        </p:nvSpPr>
        <p:spPr>
          <a:xfrm>
            <a:off x="274320" y="914400"/>
            <a:ext cx="8595360" cy="41148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 SITUATIONS QUI BLOQUENT L'ACCÈS À L'EXAMEN T3P</a:t>
            </a:r>
            <a:endParaRPr lang="en-US" sz="1300" dirty="0"/>
          </a:p>
        </p:txBody>
      </p:sp>
      <p:sp>
        <p:nvSpPr>
          <p:cNvPr id="10" name="Shape 8"/>
          <p:cNvSpPr/>
          <p:nvPr/>
        </p:nvSpPr>
        <p:spPr>
          <a:xfrm>
            <a:off x="274320" y="1417320"/>
            <a:ext cx="2743200" cy="3310128"/>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417320"/>
            <a:ext cx="2743200" cy="292608"/>
          </a:xfrm>
          <a:prstGeom prst="rect">
            <a:avLst/>
          </a:prstGeom>
          <a:solidFill>
            <a:srgbClr val="C0392B"/>
          </a:solidFill>
          <a:ln w="12700">
            <a:solidFill>
              <a:srgbClr val="C0392B"/>
            </a:solidFill>
            <a:prstDash val="solid"/>
          </a:ln>
        </p:spPr>
        <p:txBody>
          <a:bodyPr/>
          <a:lstStyle/>
          <a:p>
            <a:endParaRPr lang="fr-FR"/>
          </a:p>
        </p:txBody>
      </p:sp>
      <p:sp>
        <p:nvSpPr>
          <p:cNvPr id="12" name="Text 10"/>
          <p:cNvSpPr/>
          <p:nvPr/>
        </p:nvSpPr>
        <p:spPr>
          <a:xfrm>
            <a:off x="347472" y="1417320"/>
            <a:ext cx="2633472"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1er CAS</a:t>
            </a:r>
            <a:endParaRPr lang="en-US" sz="1000" dirty="0"/>
          </a:p>
        </p:txBody>
      </p:sp>
      <p:sp>
        <p:nvSpPr>
          <p:cNvPr id="13" name="Shape 11"/>
          <p:cNvSpPr/>
          <p:nvPr/>
        </p:nvSpPr>
        <p:spPr>
          <a:xfrm>
            <a:off x="274320" y="1709928"/>
            <a:ext cx="2743200" cy="411480"/>
          </a:xfrm>
          <a:prstGeom prst="rect">
            <a:avLst/>
          </a:prstGeom>
          <a:solidFill>
            <a:srgbClr val="1A3A5C"/>
          </a:solidFill>
          <a:ln w="12700">
            <a:solidFill>
              <a:srgbClr val="1A3A5C"/>
            </a:solidFill>
            <a:prstDash val="solid"/>
          </a:ln>
        </p:spPr>
        <p:txBody>
          <a:bodyPr/>
          <a:lstStyle/>
          <a:p>
            <a:endParaRPr lang="fr-FR"/>
          </a:p>
        </p:txBody>
      </p:sp>
      <p:sp>
        <p:nvSpPr>
          <p:cNvPr id="14" name="Text 12"/>
          <p:cNvSpPr/>
          <p:nvPr/>
        </p:nvSpPr>
        <p:spPr>
          <a:xfrm>
            <a:off x="329184" y="1709928"/>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RETRAIT DÉFINITIF</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 CARTE</a:t>
            </a:r>
            <a:endParaRPr lang="en-US" sz="1100" dirty="0"/>
          </a:p>
        </p:txBody>
      </p:sp>
      <p:sp>
        <p:nvSpPr>
          <p:cNvPr id="15" name="Shape 13"/>
          <p:cNvSpPr/>
          <p:nvPr/>
        </p:nvSpPr>
        <p:spPr>
          <a:xfrm>
            <a:off x="548640" y="2176272"/>
            <a:ext cx="2194560" cy="658368"/>
          </a:xfrm>
          <a:prstGeom prst="rect">
            <a:avLst/>
          </a:prstGeom>
          <a:solidFill>
            <a:srgbClr val="C0392B"/>
          </a:solidFill>
          <a:ln w="12700">
            <a:solidFill>
              <a:srgbClr val="C0392B"/>
            </a:solidFill>
            <a:prstDash val="solid"/>
          </a:ln>
        </p:spPr>
        <p:txBody>
          <a:bodyPr/>
          <a:lstStyle/>
          <a:p>
            <a:endParaRPr lang="fr-FR"/>
          </a:p>
        </p:txBody>
      </p:sp>
      <p:sp>
        <p:nvSpPr>
          <p:cNvPr id="16" name="Text 14"/>
          <p:cNvSpPr/>
          <p:nvPr/>
        </p:nvSpPr>
        <p:spPr>
          <a:xfrm>
            <a:off x="548640" y="2176272"/>
            <a:ext cx="219456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 ANS</a:t>
            </a:r>
            <a:endParaRPr lang="en-US" sz="2200" dirty="0"/>
          </a:p>
        </p:txBody>
      </p:sp>
      <p:sp>
        <p:nvSpPr>
          <p:cNvPr id="17" name="Text 15"/>
          <p:cNvSpPr/>
          <p:nvPr/>
        </p:nvSpPr>
        <p:spPr>
          <a:xfrm>
            <a:off x="365760" y="2871216"/>
            <a:ext cx="2606040" cy="914400"/>
          </a:xfrm>
          <a:prstGeom prst="rect">
            <a:avLst/>
          </a:prstGeom>
          <a:noFill/>
          <a:ln/>
        </p:spPr>
        <p:txBody>
          <a:bodyPr wrap="square" rtlCol="0" anchor="t"/>
          <a:lstStyle/>
          <a:p>
            <a:pPr marL="0" indent="0">
              <a:buNone/>
            </a:pPr>
            <a:r>
              <a:rPr lang="en-US" sz="900" i="1" dirty="0">
                <a:solidFill>
                  <a:srgbClr val="3A3A3A"/>
                </a:solidFill>
                <a:latin typeface="Calibri" pitchFamily="34" charset="0"/>
                <a:ea typeface="Calibri" pitchFamily="34" charset="-122"/>
                <a:cs typeface="Calibri" pitchFamily="34" charset="-120"/>
              </a:rPr>
              <a:t>Il a fait l'objet, dans les 10 ans qui précèdent sa demande, d'un retrait définitif de sa carte professionnelle.</a:t>
            </a:r>
            <a:endParaRPr lang="en-US" sz="900" dirty="0"/>
          </a:p>
        </p:txBody>
      </p:sp>
      <p:sp>
        <p:nvSpPr>
          <p:cNvPr id="18" name="Shape 16"/>
          <p:cNvSpPr/>
          <p:nvPr/>
        </p:nvSpPr>
        <p:spPr>
          <a:xfrm>
            <a:off x="274320" y="3794760"/>
            <a:ext cx="2743200" cy="18288"/>
          </a:xfrm>
          <a:prstGeom prst="rect">
            <a:avLst/>
          </a:prstGeom>
          <a:solidFill>
            <a:srgbClr val="D0DCE8"/>
          </a:solidFill>
          <a:ln w="12700">
            <a:solidFill>
              <a:srgbClr val="D0DCE8"/>
            </a:solidFill>
            <a:prstDash val="solid"/>
          </a:ln>
        </p:spPr>
        <p:txBody>
          <a:bodyPr/>
          <a:lstStyle/>
          <a:p>
            <a:endParaRPr lang="fr-FR"/>
          </a:p>
        </p:txBody>
      </p:sp>
      <p:sp>
        <p:nvSpPr>
          <p:cNvPr id="19" name="Text 17"/>
          <p:cNvSpPr/>
          <p:nvPr/>
        </p:nvSpPr>
        <p:spPr>
          <a:xfrm>
            <a:off x="365760" y="3840480"/>
            <a:ext cx="2606040" cy="868680"/>
          </a:xfrm>
          <a:prstGeom prst="rect">
            <a:avLst/>
          </a:prstGeom>
          <a:noFill/>
          <a:ln/>
        </p:spPr>
        <p:txBody>
          <a:bodyPr wrap="square" rtlCol="0" anchor="t"/>
          <a:lstStyle/>
          <a:p>
            <a:pPr marL="0" indent="0">
              <a:buNone/>
            </a:pPr>
            <a:r>
              <a:rPr lang="en-US" sz="850" b="1" dirty="0">
                <a:solidFill>
                  <a:srgbClr val="1A3A5C"/>
                </a:solidFill>
                <a:latin typeface="Calibri" pitchFamily="34" charset="0"/>
                <a:ea typeface="Calibri" pitchFamily="34" charset="-122"/>
                <a:cs typeface="Calibri" pitchFamily="34" charset="-120"/>
              </a:rPr>
              <a:t>✔  On ne doit pas avoir retiré au candidat la carte professionnelle définitivement dans les 10 ans.</a:t>
            </a:r>
            <a:endParaRPr lang="en-US" sz="850" dirty="0"/>
          </a:p>
        </p:txBody>
      </p:sp>
      <p:sp>
        <p:nvSpPr>
          <p:cNvPr id="20" name="Shape 18"/>
          <p:cNvSpPr/>
          <p:nvPr/>
        </p:nvSpPr>
        <p:spPr>
          <a:xfrm>
            <a:off x="3154680" y="1417320"/>
            <a:ext cx="2743200" cy="3310128"/>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3154680" y="1417320"/>
            <a:ext cx="2743200" cy="292608"/>
          </a:xfrm>
          <a:prstGeom prst="rect">
            <a:avLst/>
          </a:prstGeom>
          <a:solidFill>
            <a:srgbClr val="D4530A"/>
          </a:solidFill>
          <a:ln w="12700">
            <a:solidFill>
              <a:srgbClr val="D4530A"/>
            </a:solidFill>
            <a:prstDash val="solid"/>
          </a:ln>
        </p:spPr>
        <p:txBody>
          <a:bodyPr/>
          <a:lstStyle/>
          <a:p>
            <a:endParaRPr lang="fr-FR"/>
          </a:p>
        </p:txBody>
      </p:sp>
      <p:sp>
        <p:nvSpPr>
          <p:cNvPr id="22" name="Text 20"/>
          <p:cNvSpPr/>
          <p:nvPr/>
        </p:nvSpPr>
        <p:spPr>
          <a:xfrm>
            <a:off x="3227832" y="1417320"/>
            <a:ext cx="2633472"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2ème CAS</a:t>
            </a:r>
            <a:endParaRPr lang="en-US" sz="1000" dirty="0"/>
          </a:p>
        </p:txBody>
      </p:sp>
      <p:sp>
        <p:nvSpPr>
          <p:cNvPr id="23" name="Shape 21"/>
          <p:cNvSpPr/>
          <p:nvPr/>
        </p:nvSpPr>
        <p:spPr>
          <a:xfrm>
            <a:off x="3154680" y="1709928"/>
            <a:ext cx="2743200" cy="411480"/>
          </a:xfrm>
          <a:prstGeom prst="rect">
            <a:avLst/>
          </a:prstGeom>
          <a:solidFill>
            <a:srgbClr val="1A3A5C"/>
          </a:solidFill>
          <a:ln w="12700">
            <a:solidFill>
              <a:srgbClr val="1A3A5C"/>
            </a:solidFill>
            <a:prstDash val="solid"/>
          </a:ln>
        </p:spPr>
        <p:txBody>
          <a:bodyPr/>
          <a:lstStyle/>
          <a:p>
            <a:endParaRPr lang="fr-FR"/>
          </a:p>
        </p:txBody>
      </p:sp>
      <p:sp>
        <p:nvSpPr>
          <p:cNvPr id="24" name="Text 22"/>
          <p:cNvSpPr/>
          <p:nvPr/>
        </p:nvSpPr>
        <p:spPr>
          <a:xfrm>
            <a:off x="3209544" y="1709928"/>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FRAUDE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À L'EXAMEN</a:t>
            </a:r>
            <a:endParaRPr lang="en-US" sz="1100" dirty="0"/>
          </a:p>
        </p:txBody>
      </p:sp>
      <p:sp>
        <p:nvSpPr>
          <p:cNvPr id="25" name="Shape 23"/>
          <p:cNvSpPr/>
          <p:nvPr/>
        </p:nvSpPr>
        <p:spPr>
          <a:xfrm>
            <a:off x="3429000" y="2176272"/>
            <a:ext cx="2194560" cy="658368"/>
          </a:xfrm>
          <a:prstGeom prst="rect">
            <a:avLst/>
          </a:prstGeom>
          <a:solidFill>
            <a:srgbClr val="D4530A"/>
          </a:solidFill>
          <a:ln w="12700">
            <a:solidFill>
              <a:srgbClr val="D4530A"/>
            </a:solidFill>
            <a:prstDash val="solid"/>
          </a:ln>
        </p:spPr>
        <p:txBody>
          <a:bodyPr/>
          <a:lstStyle/>
          <a:p>
            <a:endParaRPr lang="fr-FR"/>
          </a:p>
        </p:txBody>
      </p:sp>
      <p:sp>
        <p:nvSpPr>
          <p:cNvPr id="26" name="Text 24"/>
          <p:cNvSpPr/>
          <p:nvPr/>
        </p:nvSpPr>
        <p:spPr>
          <a:xfrm>
            <a:off x="3429000" y="2176272"/>
            <a:ext cx="219456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 ANS</a:t>
            </a:r>
            <a:endParaRPr lang="en-US" sz="2200" dirty="0"/>
          </a:p>
        </p:txBody>
      </p:sp>
      <p:sp>
        <p:nvSpPr>
          <p:cNvPr id="27" name="Text 25"/>
          <p:cNvSpPr/>
          <p:nvPr/>
        </p:nvSpPr>
        <p:spPr>
          <a:xfrm>
            <a:off x="3246120" y="2871216"/>
            <a:ext cx="2606040" cy="914400"/>
          </a:xfrm>
          <a:prstGeom prst="rect">
            <a:avLst/>
          </a:prstGeom>
          <a:noFill/>
          <a:ln/>
        </p:spPr>
        <p:txBody>
          <a:bodyPr wrap="square" rtlCol="0" anchor="t"/>
          <a:lstStyle/>
          <a:p>
            <a:pPr marL="0" indent="0">
              <a:buNone/>
            </a:pPr>
            <a:r>
              <a:rPr lang="en-US" sz="900" i="1" dirty="0">
                <a:solidFill>
                  <a:srgbClr val="3A3A3A"/>
                </a:solidFill>
                <a:latin typeface="Calibri" pitchFamily="34" charset="0"/>
                <a:ea typeface="Calibri" pitchFamily="34" charset="-122"/>
                <a:cs typeface="Calibri" pitchFamily="34" charset="-120"/>
              </a:rPr>
              <a:t>Il a fait l'objet, dans les 5 ans qui précèdent sa demande, d'une exclusion pour fraude lors d'une session à l'un des examens T3P.</a:t>
            </a:r>
            <a:endParaRPr lang="en-US" sz="900" dirty="0"/>
          </a:p>
        </p:txBody>
      </p:sp>
      <p:sp>
        <p:nvSpPr>
          <p:cNvPr id="28" name="Shape 26"/>
          <p:cNvSpPr/>
          <p:nvPr/>
        </p:nvSpPr>
        <p:spPr>
          <a:xfrm>
            <a:off x="3154680" y="3794760"/>
            <a:ext cx="2743200" cy="18288"/>
          </a:xfrm>
          <a:prstGeom prst="rect">
            <a:avLst/>
          </a:prstGeom>
          <a:solidFill>
            <a:srgbClr val="D0DCE8"/>
          </a:solidFill>
          <a:ln w="12700">
            <a:solidFill>
              <a:srgbClr val="D0DCE8"/>
            </a:solidFill>
            <a:prstDash val="solid"/>
          </a:ln>
        </p:spPr>
        <p:txBody>
          <a:bodyPr/>
          <a:lstStyle/>
          <a:p>
            <a:endParaRPr lang="fr-FR"/>
          </a:p>
        </p:txBody>
      </p:sp>
      <p:sp>
        <p:nvSpPr>
          <p:cNvPr id="29" name="Text 27"/>
          <p:cNvSpPr/>
          <p:nvPr/>
        </p:nvSpPr>
        <p:spPr>
          <a:xfrm>
            <a:off x="3246120" y="3840480"/>
            <a:ext cx="2606040" cy="868680"/>
          </a:xfrm>
          <a:prstGeom prst="rect">
            <a:avLst/>
          </a:prstGeom>
          <a:noFill/>
          <a:ln/>
        </p:spPr>
        <p:txBody>
          <a:bodyPr wrap="square" rtlCol="0" anchor="t"/>
          <a:lstStyle/>
          <a:p>
            <a:pPr marL="0" indent="0">
              <a:buNone/>
            </a:pPr>
            <a:r>
              <a:rPr lang="en-US" sz="850" b="1" dirty="0">
                <a:solidFill>
                  <a:srgbClr val="1A3A5C"/>
                </a:solidFill>
                <a:latin typeface="Calibri" pitchFamily="34" charset="0"/>
                <a:ea typeface="Calibri" pitchFamily="34" charset="-122"/>
                <a:cs typeface="Calibri" pitchFamily="34" charset="-120"/>
              </a:rPr>
              <a:t>✔  Le candidat ne doit pas avoir fraudé à un examen dans les 5 ans.</a:t>
            </a:r>
            <a:endParaRPr lang="en-US" sz="850" dirty="0"/>
          </a:p>
        </p:txBody>
      </p:sp>
      <p:sp>
        <p:nvSpPr>
          <p:cNvPr id="30" name="Shape 28"/>
          <p:cNvSpPr/>
          <p:nvPr/>
        </p:nvSpPr>
        <p:spPr>
          <a:xfrm>
            <a:off x="6035040" y="1417320"/>
            <a:ext cx="2743200" cy="3310128"/>
          </a:xfrm>
          <a:prstGeom prst="rect">
            <a:avLst/>
          </a:prstGeom>
          <a:solidFill>
            <a:srgbClr val="E8F1FA"/>
          </a:solidFill>
          <a:ln w="6350">
            <a:solidFill>
              <a:srgbClr val="D0DCE8"/>
            </a:solidFill>
            <a:prstDash val="solid"/>
          </a:ln>
        </p:spPr>
        <p:txBody>
          <a:bodyPr/>
          <a:lstStyle/>
          <a:p>
            <a:endParaRPr lang="fr-FR"/>
          </a:p>
        </p:txBody>
      </p:sp>
      <p:sp>
        <p:nvSpPr>
          <p:cNvPr id="31" name="Shape 29"/>
          <p:cNvSpPr/>
          <p:nvPr/>
        </p:nvSpPr>
        <p:spPr>
          <a:xfrm>
            <a:off x="6035040" y="1417320"/>
            <a:ext cx="2743200" cy="292608"/>
          </a:xfrm>
          <a:prstGeom prst="rect">
            <a:avLst/>
          </a:prstGeom>
          <a:solidFill>
            <a:srgbClr val="6B7A8D"/>
          </a:solidFill>
          <a:ln w="12700">
            <a:solidFill>
              <a:srgbClr val="6B7A8D"/>
            </a:solidFill>
            <a:prstDash val="solid"/>
          </a:ln>
        </p:spPr>
        <p:txBody>
          <a:bodyPr/>
          <a:lstStyle/>
          <a:p>
            <a:endParaRPr lang="fr-FR"/>
          </a:p>
        </p:txBody>
      </p:sp>
      <p:sp>
        <p:nvSpPr>
          <p:cNvPr id="32" name="Text 30"/>
          <p:cNvSpPr/>
          <p:nvPr/>
        </p:nvSpPr>
        <p:spPr>
          <a:xfrm>
            <a:off x="6108192" y="1417320"/>
            <a:ext cx="2633472"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3ème CAS</a:t>
            </a:r>
            <a:endParaRPr lang="en-US" sz="1000" dirty="0"/>
          </a:p>
        </p:txBody>
      </p:sp>
      <p:sp>
        <p:nvSpPr>
          <p:cNvPr id="33" name="Shape 31"/>
          <p:cNvSpPr/>
          <p:nvPr/>
        </p:nvSpPr>
        <p:spPr>
          <a:xfrm>
            <a:off x="6035040" y="1709928"/>
            <a:ext cx="2743200" cy="411480"/>
          </a:xfrm>
          <a:prstGeom prst="rect">
            <a:avLst/>
          </a:prstGeom>
          <a:solidFill>
            <a:srgbClr val="1A3A5C"/>
          </a:solidFill>
          <a:ln w="12700">
            <a:solidFill>
              <a:srgbClr val="1A3A5C"/>
            </a:solidFill>
            <a:prstDash val="solid"/>
          </a:ln>
        </p:spPr>
        <p:txBody>
          <a:bodyPr/>
          <a:lstStyle/>
          <a:p>
            <a:endParaRPr lang="fr-FR"/>
          </a:p>
        </p:txBody>
      </p:sp>
      <p:sp>
        <p:nvSpPr>
          <p:cNvPr id="34" name="Text 32"/>
          <p:cNvSpPr/>
          <p:nvPr/>
        </p:nvSpPr>
        <p:spPr>
          <a:xfrm>
            <a:off x="6089904" y="1709928"/>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PERMIS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PROBATOIRE</a:t>
            </a:r>
            <a:endParaRPr lang="en-US" sz="1100" dirty="0"/>
          </a:p>
        </p:txBody>
      </p:sp>
      <p:sp>
        <p:nvSpPr>
          <p:cNvPr id="35" name="Shape 33"/>
          <p:cNvSpPr/>
          <p:nvPr/>
        </p:nvSpPr>
        <p:spPr>
          <a:xfrm>
            <a:off x="6309360" y="2176272"/>
            <a:ext cx="2194560" cy="658368"/>
          </a:xfrm>
          <a:prstGeom prst="rect">
            <a:avLst/>
          </a:prstGeom>
          <a:solidFill>
            <a:srgbClr val="6B7A8D"/>
          </a:solidFill>
          <a:ln w="12700">
            <a:solidFill>
              <a:srgbClr val="6B7A8D"/>
            </a:solidFill>
            <a:prstDash val="solid"/>
          </a:ln>
        </p:spPr>
        <p:txBody>
          <a:bodyPr/>
          <a:lstStyle/>
          <a:p>
            <a:endParaRPr lang="fr-FR"/>
          </a:p>
        </p:txBody>
      </p:sp>
      <p:sp>
        <p:nvSpPr>
          <p:cNvPr id="36" name="Text 34"/>
          <p:cNvSpPr/>
          <p:nvPr/>
        </p:nvSpPr>
        <p:spPr>
          <a:xfrm>
            <a:off x="6309360" y="2176272"/>
            <a:ext cx="219456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ACCÈS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IMPOSSIBLE</a:t>
            </a:r>
            <a:endParaRPr lang="en-US" sz="2200" dirty="0"/>
          </a:p>
        </p:txBody>
      </p:sp>
      <p:sp>
        <p:nvSpPr>
          <p:cNvPr id="37" name="Text 35"/>
          <p:cNvSpPr/>
          <p:nvPr/>
        </p:nvSpPr>
        <p:spPr>
          <a:xfrm>
            <a:off x="6126480" y="2871216"/>
            <a:ext cx="2606040" cy="914400"/>
          </a:xfrm>
          <a:prstGeom prst="rect">
            <a:avLst/>
          </a:prstGeom>
          <a:noFill/>
          <a:ln/>
        </p:spPr>
        <p:txBody>
          <a:bodyPr wrap="square" rtlCol="0" anchor="t"/>
          <a:lstStyle/>
          <a:p>
            <a:pPr marL="0" indent="0">
              <a:buNone/>
            </a:pPr>
            <a:r>
              <a:rPr lang="en-US" sz="900" i="1" dirty="0">
                <a:solidFill>
                  <a:srgbClr val="3A3A3A"/>
                </a:solidFill>
                <a:latin typeface="Calibri" pitchFamily="34" charset="0"/>
                <a:ea typeface="Calibri" pitchFamily="34" charset="-122"/>
                <a:cs typeface="Calibri" pitchFamily="34" charset="-120"/>
              </a:rPr>
              <a:t>Le délai probatoire applicable à son permis n'est pas expiré.</a:t>
            </a:r>
            <a:endParaRPr lang="en-US" sz="900" dirty="0"/>
          </a:p>
        </p:txBody>
      </p:sp>
      <p:sp>
        <p:nvSpPr>
          <p:cNvPr id="38" name="Shape 36"/>
          <p:cNvSpPr/>
          <p:nvPr/>
        </p:nvSpPr>
        <p:spPr>
          <a:xfrm>
            <a:off x="6035040" y="3794760"/>
            <a:ext cx="2743200" cy="18288"/>
          </a:xfrm>
          <a:prstGeom prst="rect">
            <a:avLst/>
          </a:prstGeom>
          <a:solidFill>
            <a:srgbClr val="D0DCE8"/>
          </a:solidFill>
          <a:ln w="12700">
            <a:solidFill>
              <a:srgbClr val="D0DCE8"/>
            </a:solidFill>
            <a:prstDash val="solid"/>
          </a:ln>
        </p:spPr>
        <p:txBody>
          <a:bodyPr/>
          <a:lstStyle/>
          <a:p>
            <a:endParaRPr lang="fr-FR"/>
          </a:p>
        </p:txBody>
      </p:sp>
      <p:sp>
        <p:nvSpPr>
          <p:cNvPr id="39" name="Text 37"/>
          <p:cNvSpPr/>
          <p:nvPr/>
        </p:nvSpPr>
        <p:spPr>
          <a:xfrm>
            <a:off x="6126480" y="3840480"/>
            <a:ext cx="2606040" cy="868680"/>
          </a:xfrm>
          <a:prstGeom prst="rect">
            <a:avLst/>
          </a:prstGeom>
          <a:noFill/>
          <a:ln/>
        </p:spPr>
        <p:txBody>
          <a:bodyPr wrap="square" rtlCol="0" anchor="t"/>
          <a:lstStyle/>
          <a:p>
            <a:pPr marL="0" indent="0">
              <a:buNone/>
            </a:pPr>
            <a:r>
              <a:rPr lang="en-US" sz="850" b="1" dirty="0">
                <a:solidFill>
                  <a:srgbClr val="1A3A5C"/>
                </a:solidFill>
                <a:latin typeface="Calibri" pitchFamily="34" charset="0"/>
                <a:ea typeface="Calibri" pitchFamily="34" charset="-122"/>
                <a:cs typeface="Calibri" pitchFamily="34" charset="-120"/>
              </a:rPr>
              <a:t>✔  Le candidat doit avoir +2 ans de permis s'il a le permis en conduite accompagnée, sinon son permis doit avoir +3 ans.</a:t>
            </a:r>
            <a:endParaRPr lang="en-US" sz="850" dirty="0"/>
          </a:p>
        </p:txBody>
      </p:sp>
      <p:sp>
        <p:nvSpPr>
          <p:cNvPr id="40" name="Rectangle 3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41" name="Rectangle 4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8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3 — Les assurances obligatoires pour les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47/88</a:t>
            </a:r>
            <a:endParaRPr lang="en-US" sz="800" dirty="0"/>
          </a:p>
        </p:txBody>
      </p:sp>
      <p:sp>
        <p:nvSpPr>
          <p:cNvPr id="8" name="Shape 6"/>
          <p:cNvSpPr/>
          <p:nvPr/>
        </p:nvSpPr>
        <p:spPr>
          <a:xfrm>
            <a:off x="274320" y="914400"/>
            <a:ext cx="8595360" cy="41148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 ASSURANCES OBLIGATOIRES ET CUMULATIVES</a:t>
            </a:r>
            <a:endParaRPr lang="en-US" sz="1300" dirty="0"/>
          </a:p>
        </p:txBody>
      </p:sp>
      <p:sp>
        <p:nvSpPr>
          <p:cNvPr id="10" name="Shape 8"/>
          <p:cNvSpPr/>
          <p:nvPr/>
        </p:nvSpPr>
        <p:spPr>
          <a:xfrm>
            <a:off x="274320" y="1417320"/>
            <a:ext cx="4160520" cy="384048"/>
          </a:xfrm>
          <a:prstGeom prst="rect">
            <a:avLst/>
          </a:prstGeom>
          <a:solidFill>
            <a:srgbClr val="2860A8"/>
          </a:solidFill>
          <a:ln w="12700">
            <a:solidFill>
              <a:srgbClr val="2860A8"/>
            </a:solidFill>
            <a:prstDash val="solid"/>
          </a:ln>
        </p:spPr>
        <p:txBody>
          <a:bodyPr/>
          <a:lstStyle/>
          <a:p>
            <a:endParaRPr lang="fr-FR"/>
          </a:p>
        </p:txBody>
      </p:sp>
      <p:sp>
        <p:nvSpPr>
          <p:cNvPr id="11" name="Text 9"/>
          <p:cNvSpPr/>
          <p:nvPr/>
        </p:nvSpPr>
        <p:spPr>
          <a:xfrm>
            <a:off x="274320" y="1417320"/>
            <a:ext cx="416052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① RC CIRCULATION ou RC Circulation</a:t>
            </a:r>
            <a:endParaRPr lang="en-US" sz="1100" dirty="0"/>
          </a:p>
        </p:txBody>
      </p:sp>
      <p:sp>
        <p:nvSpPr>
          <p:cNvPr id="12" name="Shape 10"/>
          <p:cNvSpPr/>
          <p:nvPr/>
        </p:nvSpPr>
        <p:spPr>
          <a:xfrm>
            <a:off x="274320" y="1801368"/>
            <a:ext cx="4160520" cy="2176272"/>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411480" y="1901952"/>
            <a:ext cx="1965960" cy="475488"/>
          </a:xfrm>
          <a:prstGeom prst="rect">
            <a:avLst/>
          </a:prstGeom>
          <a:solidFill>
            <a:srgbClr val="D4E8F7"/>
          </a:solidFill>
          <a:ln w="12700">
            <a:solidFill>
              <a:srgbClr val="2860A8"/>
            </a:solidFill>
            <a:prstDash val="solid"/>
          </a:ln>
        </p:spPr>
        <p:txBody>
          <a:bodyPr/>
          <a:lstStyle/>
          <a:p>
            <a:endParaRPr lang="fr-FR"/>
          </a:p>
        </p:txBody>
      </p:sp>
      <p:sp>
        <p:nvSpPr>
          <p:cNvPr id="14" name="Text 12"/>
          <p:cNvSpPr/>
          <p:nvPr/>
        </p:nvSpPr>
        <p:spPr>
          <a:xfrm>
            <a:off x="411480" y="1901952"/>
            <a:ext cx="1965960" cy="475488"/>
          </a:xfrm>
          <a:prstGeom prst="rect">
            <a:avLst/>
          </a:prstGeom>
          <a:noFill/>
          <a:ln/>
        </p:spPr>
        <p:txBody>
          <a:bodyPr wrap="square" rtlCol="0" anchor="ctr"/>
          <a:lstStyle/>
          <a:p>
            <a:pPr marL="0" indent="0" algn="ctr">
              <a:buNone/>
            </a:pPr>
            <a:r>
              <a:rPr lang="en-US" sz="900" b="1" dirty="0">
                <a:solidFill>
                  <a:srgbClr val="1A3A5C"/>
                </a:solidFill>
                <a:latin typeface="Calibri" pitchFamily="34" charset="0"/>
                <a:ea typeface="Calibri" pitchFamily="34" charset="-122"/>
                <a:cs typeface="Calibri" pitchFamily="34" charset="-120"/>
              </a:rPr>
              <a:t>🚗  VÉHICULE</a:t>
            </a:r>
            <a:endParaRPr lang="en-US" sz="900" dirty="0"/>
          </a:p>
          <a:p>
            <a:pPr marL="0" indent="0" algn="ctr">
              <a:buNone/>
            </a:pPr>
            <a:r>
              <a:rPr lang="en-US" sz="900" b="1" dirty="0">
                <a:solidFill>
                  <a:srgbClr val="1A3A5C"/>
                </a:solidFill>
                <a:latin typeface="Calibri" pitchFamily="34" charset="0"/>
                <a:ea typeface="Calibri" pitchFamily="34" charset="-122"/>
                <a:cs typeface="Calibri" pitchFamily="34" charset="-120"/>
              </a:rPr>
              <a:t>IMPLIQUÉ</a:t>
            </a:r>
            <a:endParaRPr lang="en-US" sz="900" dirty="0"/>
          </a:p>
        </p:txBody>
      </p:sp>
      <p:sp>
        <p:nvSpPr>
          <p:cNvPr id="15" name="Text 13"/>
          <p:cNvSpPr/>
          <p:nvPr/>
        </p:nvSpPr>
        <p:spPr>
          <a:xfrm>
            <a:off x="2423160" y="1993392"/>
            <a:ext cx="274320" cy="292608"/>
          </a:xfrm>
          <a:prstGeom prst="rect">
            <a:avLst/>
          </a:prstGeom>
          <a:noFill/>
          <a:ln/>
        </p:spPr>
        <p:txBody>
          <a:bodyPr wrap="square" rtlCol="0" anchor="ctr"/>
          <a:lstStyle/>
          <a:p>
            <a:pPr marL="0" indent="0" algn="ctr">
              <a:buNone/>
            </a:pPr>
            <a:r>
              <a:rPr lang="en-US" sz="1400" b="1" dirty="0">
                <a:solidFill>
                  <a:srgbClr val="2860A8"/>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2743200" y="1901952"/>
            <a:ext cx="1572768" cy="475488"/>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2743200" y="1901952"/>
            <a:ext cx="15727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COUVERT</a:t>
            </a:r>
            <a:endParaRPr lang="en-US" sz="1000" dirty="0"/>
          </a:p>
        </p:txBody>
      </p:sp>
      <p:sp>
        <p:nvSpPr>
          <p:cNvPr id="18" name="Text 16"/>
          <p:cNvSpPr/>
          <p:nvPr/>
        </p:nvSpPr>
        <p:spPr>
          <a:xfrm>
            <a:off x="384048" y="2450592"/>
            <a:ext cx="3931920" cy="1481328"/>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Cela concerne les dommages corporels, matériels ou immatériels causés à un client ou un tiers avec implication du véhicule.</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Exemple : accident avec un automobiliste.</a:t>
            </a:r>
            <a:endParaRPr lang="en-US" sz="1000" dirty="0"/>
          </a:p>
        </p:txBody>
      </p:sp>
      <p:sp>
        <p:nvSpPr>
          <p:cNvPr id="19" name="Shape 17"/>
          <p:cNvSpPr/>
          <p:nvPr/>
        </p:nvSpPr>
        <p:spPr>
          <a:xfrm>
            <a:off x="4709160" y="1417320"/>
            <a:ext cx="4160520" cy="384048"/>
          </a:xfrm>
          <a:prstGeom prst="rect">
            <a:avLst/>
          </a:prstGeom>
          <a:solidFill>
            <a:srgbClr val="1A3A5C"/>
          </a:solidFill>
          <a:ln w="12700">
            <a:solidFill>
              <a:srgbClr val="1A3A5C"/>
            </a:solidFill>
            <a:prstDash val="solid"/>
          </a:ln>
        </p:spPr>
        <p:txBody>
          <a:bodyPr/>
          <a:lstStyle/>
          <a:p>
            <a:endParaRPr lang="fr-FR"/>
          </a:p>
        </p:txBody>
      </p:sp>
      <p:sp>
        <p:nvSpPr>
          <p:cNvPr id="20" name="Text 18"/>
          <p:cNvSpPr/>
          <p:nvPr/>
        </p:nvSpPr>
        <p:spPr>
          <a:xfrm>
            <a:off x="4709160" y="1417320"/>
            <a:ext cx="416052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② RC PRO EXPLOITATION</a:t>
            </a:r>
            <a:endParaRPr lang="en-US" sz="1100" dirty="0"/>
          </a:p>
        </p:txBody>
      </p:sp>
      <p:sp>
        <p:nvSpPr>
          <p:cNvPr id="21" name="Shape 19"/>
          <p:cNvSpPr/>
          <p:nvPr/>
        </p:nvSpPr>
        <p:spPr>
          <a:xfrm>
            <a:off x="4709160" y="1801368"/>
            <a:ext cx="4160520" cy="2176272"/>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4846320" y="1901952"/>
            <a:ext cx="1965960" cy="475488"/>
          </a:xfrm>
          <a:prstGeom prst="rect">
            <a:avLst/>
          </a:prstGeom>
          <a:solidFill>
            <a:srgbClr val="FFE8E8"/>
          </a:solidFill>
          <a:ln w="12700">
            <a:solidFill>
              <a:srgbClr val="C0392B"/>
            </a:solidFill>
            <a:prstDash val="solid"/>
          </a:ln>
        </p:spPr>
        <p:txBody>
          <a:bodyPr/>
          <a:lstStyle/>
          <a:p>
            <a:endParaRPr lang="fr-FR"/>
          </a:p>
        </p:txBody>
      </p:sp>
      <p:sp>
        <p:nvSpPr>
          <p:cNvPr id="23" name="Text 21"/>
          <p:cNvSpPr/>
          <p:nvPr/>
        </p:nvSpPr>
        <p:spPr>
          <a:xfrm>
            <a:off x="4846320" y="1901952"/>
            <a:ext cx="1965960" cy="475488"/>
          </a:xfrm>
          <a:prstGeom prst="rect">
            <a:avLst/>
          </a:prstGeom>
          <a:noFill/>
          <a:ln/>
        </p:spPr>
        <p:txBody>
          <a:bodyPr wrap="square"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  PAS de</a:t>
            </a:r>
            <a:endParaRPr lang="en-US" sz="900" dirty="0"/>
          </a:p>
          <a:p>
            <a:pPr marL="0" indent="0" algn="ctr">
              <a:buNone/>
            </a:pPr>
            <a:r>
              <a:rPr lang="en-US" sz="900" b="1" dirty="0">
                <a:solidFill>
                  <a:srgbClr val="C0392B"/>
                </a:solidFill>
                <a:latin typeface="Calibri" pitchFamily="34" charset="0"/>
                <a:ea typeface="Calibri" pitchFamily="34" charset="-122"/>
                <a:cs typeface="Calibri" pitchFamily="34" charset="-120"/>
              </a:rPr>
              <a:t>VÉHICULE</a:t>
            </a:r>
            <a:endParaRPr lang="en-US" sz="900" dirty="0"/>
          </a:p>
        </p:txBody>
      </p:sp>
      <p:sp>
        <p:nvSpPr>
          <p:cNvPr id="24" name="Text 22"/>
          <p:cNvSpPr/>
          <p:nvPr/>
        </p:nvSpPr>
        <p:spPr>
          <a:xfrm>
            <a:off x="6858000" y="1993392"/>
            <a:ext cx="274320" cy="292608"/>
          </a:xfrm>
          <a:prstGeom prst="rect">
            <a:avLst/>
          </a:prstGeom>
          <a:noFill/>
          <a:ln/>
        </p:spPr>
        <p:txBody>
          <a:bodyPr wrap="square"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7178040" y="1901952"/>
            <a:ext cx="1572768" cy="475488"/>
          </a:xfrm>
          <a:prstGeom prst="rect">
            <a:avLst/>
          </a:prstGeom>
          <a:solidFill>
            <a:srgbClr val="1A3A5C"/>
          </a:solidFill>
          <a:ln w="12700">
            <a:solidFill>
              <a:srgbClr val="1A3A5C"/>
            </a:solidFill>
            <a:prstDash val="solid"/>
          </a:ln>
        </p:spPr>
        <p:txBody>
          <a:bodyPr/>
          <a:lstStyle/>
          <a:p>
            <a:endParaRPr lang="fr-FR"/>
          </a:p>
        </p:txBody>
      </p:sp>
      <p:sp>
        <p:nvSpPr>
          <p:cNvPr id="26" name="Text 24"/>
          <p:cNvSpPr/>
          <p:nvPr/>
        </p:nvSpPr>
        <p:spPr>
          <a:xfrm>
            <a:off x="7178040" y="1901952"/>
            <a:ext cx="15727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COUVERT</a:t>
            </a:r>
            <a:endParaRPr lang="en-US" sz="1000" dirty="0"/>
          </a:p>
        </p:txBody>
      </p:sp>
      <p:sp>
        <p:nvSpPr>
          <p:cNvPr id="27" name="Text 25"/>
          <p:cNvSpPr/>
          <p:nvPr/>
        </p:nvSpPr>
        <p:spPr>
          <a:xfrm>
            <a:off x="4818888" y="2450592"/>
            <a:ext cx="3931920" cy="1481328"/>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Cela concerne les dommages corporels, matériels ou immatériels causés à un client ou un tiers en dehors de toute implication du véhicule.</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Exemple : détérioration des bagages.</a:t>
            </a:r>
            <a:endParaRPr lang="en-US" sz="10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274320" y="4069080"/>
          <a:ext cx="8595360" cy="975360"/>
        </p:xfrm>
        <a:graphic>
          <a:graphicData uri="http://schemas.openxmlformats.org/drawingml/2006/table">
            <a:tbl>
              <a:tblPr/>
              <a:tblGrid>
                <a:gridCol w="25603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240030">
                <a:tc>
                  <a:txBody>
                    <a:bodyPr/>
                    <a:lstStyle/>
                    <a:p>
                      <a:pPr marL="0" indent="0">
                        <a:buNone/>
                      </a:pP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RC CIRCULATION</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860A8"/>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RC PRO EXPLOITATION</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40030">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Véhicule impliqué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OUI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NON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030">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Exemple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Accident de route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Bagages détériorés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40030">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Obligatoire T3P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OUI</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OUI</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5" name="Rectangle 8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86" name="Rectangle 8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8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4 — Visite médicale et formation continue</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48/88</a:t>
            </a:r>
            <a:endParaRPr lang="en-US" sz="800" dirty="0"/>
          </a:p>
        </p:txBody>
      </p:sp>
      <p:sp>
        <p:nvSpPr>
          <p:cNvPr id="8" name="Shape 6"/>
          <p:cNvSpPr/>
          <p:nvPr/>
        </p:nvSpPr>
        <p:spPr>
          <a:xfrm>
            <a:off x="274320" y="914400"/>
            <a:ext cx="4160520" cy="411480"/>
          </a:xfrm>
          <a:prstGeom prst="rect">
            <a:avLst/>
          </a:prstGeom>
          <a:solidFill>
            <a:srgbClr val="2860A8"/>
          </a:solidFill>
          <a:ln w="12700">
            <a:solidFill>
              <a:srgbClr val="2860A8"/>
            </a:solidFill>
            <a:prstDash val="solid"/>
          </a:ln>
        </p:spPr>
        <p:txBody>
          <a:bodyPr/>
          <a:lstStyle/>
          <a:p>
            <a:endParaRPr lang="fr-FR"/>
          </a:p>
        </p:txBody>
      </p:sp>
      <p:sp>
        <p:nvSpPr>
          <p:cNvPr id="9" name="Text 7"/>
          <p:cNvSpPr/>
          <p:nvPr/>
        </p:nvSpPr>
        <p:spPr>
          <a:xfrm>
            <a:off x="274320" y="914400"/>
            <a:ext cx="41605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VISITE MÉDICALE OBLIGATOIRE</a:t>
            </a:r>
            <a:endParaRPr lang="en-US" sz="12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274320" y="1389888"/>
          <a:ext cx="4160520" cy="1719072"/>
        </p:xfrm>
        <a:graphic>
          <a:graphicData uri="http://schemas.openxmlformats.org/drawingml/2006/table">
            <a:tbl>
              <a:tblPr/>
              <a:tblGrid>
                <a:gridCol w="2560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42976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Tranche d'âge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Périodicité</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De 20 ans à 60 ans</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Tous les 5 ans</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De 60 ans à 76 ans</a:t>
                      </a:r>
                      <a:endParaRPr lang="en-US" sz="1100" dirty="0">
                        <a:latin typeface="Calibri" charset="0"/>
                        <a:ea typeface="Calibri" charset="0"/>
                        <a:cs typeface="Calibri" charset="0"/>
                      </a:endParaRPr>
                    </a:p>
                    <a:p>
                      <a:pPr marL="0" indent="0">
                        <a:buNone/>
                      </a:pPr>
                      <a:r>
                        <a:rPr lang="en-US" sz="1100" dirty="0">
                          <a:solidFill>
                            <a:srgbClr val="3A3A3A"/>
                          </a:solidFill>
                          <a:latin typeface="Calibri" pitchFamily="34" charset="0"/>
                          <a:ea typeface="Calibri" pitchFamily="34" charset="-122"/>
                          <a:cs typeface="Calibri" pitchFamily="34" charset="-120"/>
                        </a:rPr>
                        <a:t>(lendemain date anniversaire)</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3E0"/>
                    </a:solidFill>
                  </a:tcPr>
                </a:tc>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Tous les 2 ans</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3E0"/>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À partir de 76 ans</a:t>
                      </a:r>
                      <a:endParaRPr lang="en-US" sz="1100" dirty="0">
                        <a:latin typeface="Calibri" charset="0"/>
                        <a:ea typeface="Calibri" charset="0"/>
                        <a:cs typeface="Calibri" charset="0"/>
                      </a:endParaRPr>
                    </a:p>
                    <a:p>
                      <a:pPr marL="0" indent="0">
                        <a:buNone/>
                      </a:pPr>
                      <a:r>
                        <a:rPr lang="en-US" sz="1100" dirty="0">
                          <a:solidFill>
                            <a:srgbClr val="3A3A3A"/>
                          </a:solidFill>
                          <a:latin typeface="Calibri" pitchFamily="34" charset="0"/>
                          <a:ea typeface="Calibri" pitchFamily="34" charset="-122"/>
                          <a:cs typeface="Calibri" pitchFamily="34" charset="-120"/>
                        </a:rPr>
                        <a:t>(lendemain date anniversaire)</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Chaque année</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3"/>
                  </a:ext>
                </a:extLst>
              </a:tr>
            </a:tbl>
          </a:graphicData>
        </a:graphic>
      </p:graphicFrame>
      <p:sp>
        <p:nvSpPr>
          <p:cNvPr id="11" name="Shape 8"/>
          <p:cNvSpPr/>
          <p:nvPr/>
        </p:nvSpPr>
        <p:spPr>
          <a:xfrm>
            <a:off x="347472" y="3246120"/>
            <a:ext cx="1298448" cy="389169"/>
          </a:xfrm>
          <a:prstGeom prst="rect">
            <a:avLst/>
          </a:prstGeom>
          <a:solidFill>
            <a:srgbClr val="1A3A5C"/>
          </a:solidFill>
          <a:ln w="12700">
            <a:solidFill>
              <a:srgbClr val="1A3A5C"/>
            </a:solidFill>
            <a:prstDash val="solid"/>
          </a:ln>
        </p:spPr>
        <p:txBody>
          <a:bodyPr/>
          <a:lstStyle/>
          <a:p>
            <a:endParaRPr lang="fr-FR"/>
          </a:p>
        </p:txBody>
      </p:sp>
      <p:sp>
        <p:nvSpPr>
          <p:cNvPr id="12" name="Text 9"/>
          <p:cNvSpPr/>
          <p:nvPr/>
        </p:nvSpPr>
        <p:spPr>
          <a:xfrm>
            <a:off x="347472" y="3246120"/>
            <a:ext cx="1298448" cy="389169"/>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20→60</a:t>
            </a:r>
            <a:endParaRPr lang="en-US" sz="900" dirty="0"/>
          </a:p>
        </p:txBody>
      </p:sp>
      <p:sp>
        <p:nvSpPr>
          <p:cNvPr id="13" name="Shape 10"/>
          <p:cNvSpPr/>
          <p:nvPr/>
        </p:nvSpPr>
        <p:spPr>
          <a:xfrm>
            <a:off x="1737360" y="3246120"/>
            <a:ext cx="1298448" cy="655442"/>
          </a:xfrm>
          <a:prstGeom prst="rect">
            <a:avLst/>
          </a:prstGeom>
          <a:solidFill>
            <a:srgbClr val="F4A227"/>
          </a:solidFill>
          <a:ln w="12700">
            <a:solidFill>
              <a:srgbClr val="F4A227"/>
            </a:solidFill>
            <a:prstDash val="solid"/>
          </a:ln>
        </p:spPr>
        <p:txBody>
          <a:bodyPr/>
          <a:lstStyle/>
          <a:p>
            <a:endParaRPr lang="fr-FR"/>
          </a:p>
        </p:txBody>
      </p:sp>
      <p:sp>
        <p:nvSpPr>
          <p:cNvPr id="14" name="Text 11"/>
          <p:cNvSpPr/>
          <p:nvPr/>
        </p:nvSpPr>
        <p:spPr>
          <a:xfrm>
            <a:off x="1737360" y="3246120"/>
            <a:ext cx="1298448" cy="65544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60→76</a:t>
            </a:r>
            <a:endParaRPr lang="en-US" sz="900" dirty="0"/>
          </a:p>
        </p:txBody>
      </p:sp>
      <p:sp>
        <p:nvSpPr>
          <p:cNvPr id="15" name="Shape 12"/>
          <p:cNvSpPr/>
          <p:nvPr/>
        </p:nvSpPr>
        <p:spPr>
          <a:xfrm>
            <a:off x="3127248" y="3246120"/>
            <a:ext cx="1298448" cy="481340"/>
          </a:xfrm>
          <a:prstGeom prst="rect">
            <a:avLst/>
          </a:prstGeom>
          <a:solidFill>
            <a:srgbClr val="C0392B"/>
          </a:solidFill>
          <a:ln w="12700">
            <a:solidFill>
              <a:srgbClr val="C0392B"/>
            </a:solidFill>
            <a:prstDash val="solid"/>
          </a:ln>
        </p:spPr>
        <p:txBody>
          <a:bodyPr/>
          <a:lstStyle/>
          <a:p>
            <a:endParaRPr lang="fr-FR"/>
          </a:p>
        </p:txBody>
      </p:sp>
      <p:sp>
        <p:nvSpPr>
          <p:cNvPr id="16" name="Text 13"/>
          <p:cNvSpPr/>
          <p:nvPr/>
        </p:nvSpPr>
        <p:spPr>
          <a:xfrm>
            <a:off x="3127248" y="3246120"/>
            <a:ext cx="1298448" cy="4813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76+</a:t>
            </a:r>
            <a:endParaRPr lang="en-US" sz="900" dirty="0"/>
          </a:p>
        </p:txBody>
      </p:sp>
      <p:sp>
        <p:nvSpPr>
          <p:cNvPr id="17" name="Text 14"/>
          <p:cNvSpPr/>
          <p:nvPr/>
        </p:nvSpPr>
        <p:spPr>
          <a:xfrm>
            <a:off x="347472" y="3749040"/>
            <a:ext cx="1298448" cy="228600"/>
          </a:xfrm>
          <a:prstGeom prst="rect">
            <a:avLst/>
          </a:prstGeom>
          <a:noFill/>
          <a:ln/>
        </p:spPr>
        <p:txBody>
          <a:bodyPr wrap="square" rtlCol="0" anchor="ctr"/>
          <a:lstStyle/>
          <a:p>
            <a:pPr marL="0" indent="0" algn="ctr">
              <a:buNone/>
            </a:pPr>
            <a:r>
              <a:rPr lang="en-US" sz="900" b="1" dirty="0">
                <a:solidFill>
                  <a:srgbClr val="1A3A5C"/>
                </a:solidFill>
                <a:latin typeface="Calibri" pitchFamily="34" charset="0"/>
                <a:ea typeface="Calibri" pitchFamily="34" charset="-122"/>
                <a:cs typeface="Calibri" pitchFamily="34" charset="-120"/>
              </a:rPr>
              <a:t>5 ans</a:t>
            </a:r>
            <a:endParaRPr lang="en-US" sz="900" dirty="0"/>
          </a:p>
        </p:txBody>
      </p:sp>
      <p:sp>
        <p:nvSpPr>
          <p:cNvPr id="18" name="Text 15"/>
          <p:cNvSpPr/>
          <p:nvPr/>
        </p:nvSpPr>
        <p:spPr>
          <a:xfrm>
            <a:off x="1737360" y="3749040"/>
            <a:ext cx="1298448" cy="228600"/>
          </a:xfrm>
          <a:prstGeom prst="rect">
            <a:avLst/>
          </a:prstGeom>
          <a:noFill/>
          <a:ln/>
        </p:spPr>
        <p:txBody>
          <a:bodyPr wrap="square" rtlCol="0" anchor="ctr"/>
          <a:lstStyle/>
          <a:p>
            <a:pPr marL="0" indent="0" algn="ctr">
              <a:buNone/>
            </a:pPr>
            <a:r>
              <a:rPr lang="en-US" sz="900" b="1" dirty="0">
                <a:solidFill>
                  <a:srgbClr val="F4A227"/>
                </a:solidFill>
                <a:latin typeface="Calibri" pitchFamily="34" charset="0"/>
                <a:ea typeface="Calibri" pitchFamily="34" charset="-122"/>
                <a:cs typeface="Calibri" pitchFamily="34" charset="-120"/>
              </a:rPr>
              <a:t>2 ans</a:t>
            </a:r>
            <a:endParaRPr lang="en-US" sz="900" dirty="0"/>
          </a:p>
        </p:txBody>
      </p:sp>
      <p:sp>
        <p:nvSpPr>
          <p:cNvPr id="19" name="Text 16"/>
          <p:cNvSpPr/>
          <p:nvPr/>
        </p:nvSpPr>
        <p:spPr>
          <a:xfrm>
            <a:off x="3127248" y="3749040"/>
            <a:ext cx="1298448" cy="228600"/>
          </a:xfrm>
          <a:prstGeom prst="rect">
            <a:avLst/>
          </a:prstGeom>
          <a:noFill/>
          <a:ln/>
        </p:spPr>
        <p:txBody>
          <a:bodyPr wrap="square"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1 an</a:t>
            </a:r>
            <a:endParaRPr lang="en-US" sz="900" dirty="0"/>
          </a:p>
        </p:txBody>
      </p:sp>
      <p:sp>
        <p:nvSpPr>
          <p:cNvPr id="20" name="Shape 17"/>
          <p:cNvSpPr/>
          <p:nvPr/>
        </p:nvSpPr>
        <p:spPr>
          <a:xfrm>
            <a:off x="4709160" y="914400"/>
            <a:ext cx="4160520" cy="411480"/>
          </a:xfrm>
          <a:prstGeom prst="rect">
            <a:avLst/>
          </a:prstGeom>
          <a:solidFill>
            <a:srgbClr val="1A3A5C"/>
          </a:solidFill>
          <a:ln w="12700">
            <a:solidFill>
              <a:srgbClr val="1A3A5C"/>
            </a:solidFill>
            <a:prstDash val="solid"/>
          </a:ln>
        </p:spPr>
        <p:txBody>
          <a:bodyPr/>
          <a:lstStyle/>
          <a:p>
            <a:endParaRPr lang="fr-FR"/>
          </a:p>
        </p:txBody>
      </p:sp>
      <p:sp>
        <p:nvSpPr>
          <p:cNvPr id="21" name="Text 18"/>
          <p:cNvSpPr/>
          <p:nvPr/>
        </p:nvSpPr>
        <p:spPr>
          <a:xfrm>
            <a:off x="4709160" y="914400"/>
            <a:ext cx="41605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FORMATION CONTINUE OBLIGATOIRE</a:t>
            </a:r>
            <a:endParaRPr lang="en-US" sz="1200" dirty="0"/>
          </a:p>
        </p:txBody>
      </p:sp>
      <p:sp>
        <p:nvSpPr>
          <p:cNvPr id="22" name="Shape 19"/>
          <p:cNvSpPr/>
          <p:nvPr/>
        </p:nvSpPr>
        <p:spPr>
          <a:xfrm>
            <a:off x="4709160" y="1389888"/>
            <a:ext cx="4160520" cy="960120"/>
          </a:xfrm>
          <a:prstGeom prst="rect">
            <a:avLst/>
          </a:prstGeom>
          <a:solidFill>
            <a:srgbClr val="E8F1FA"/>
          </a:solidFill>
          <a:ln w="6350">
            <a:solidFill>
              <a:srgbClr val="D0DCE8"/>
            </a:solidFill>
            <a:prstDash val="solid"/>
          </a:ln>
        </p:spPr>
        <p:txBody>
          <a:bodyPr/>
          <a:lstStyle/>
          <a:p>
            <a:endParaRPr lang="fr-FR"/>
          </a:p>
        </p:txBody>
      </p:sp>
      <p:sp>
        <p:nvSpPr>
          <p:cNvPr id="23" name="Shape 20"/>
          <p:cNvSpPr/>
          <p:nvPr/>
        </p:nvSpPr>
        <p:spPr>
          <a:xfrm>
            <a:off x="4800600" y="1508760"/>
            <a:ext cx="1417320" cy="713232"/>
          </a:xfrm>
          <a:prstGeom prst="rect">
            <a:avLst/>
          </a:prstGeom>
          <a:solidFill>
            <a:srgbClr val="1A3A5C"/>
          </a:solidFill>
          <a:ln w="12700">
            <a:solidFill>
              <a:srgbClr val="1A3A5C"/>
            </a:solidFill>
            <a:prstDash val="solid"/>
          </a:ln>
        </p:spPr>
        <p:txBody>
          <a:bodyPr/>
          <a:lstStyle/>
          <a:p>
            <a:endParaRPr lang="fr-FR"/>
          </a:p>
        </p:txBody>
      </p:sp>
      <p:sp>
        <p:nvSpPr>
          <p:cNvPr id="24" name="Text 21"/>
          <p:cNvSpPr/>
          <p:nvPr/>
        </p:nvSpPr>
        <p:spPr>
          <a:xfrm>
            <a:off x="4800600" y="1508760"/>
            <a:ext cx="1417320" cy="713232"/>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14h</a:t>
            </a:r>
            <a:endParaRPr lang="en-US" sz="2800" dirty="0"/>
          </a:p>
        </p:txBody>
      </p:sp>
      <p:sp>
        <p:nvSpPr>
          <p:cNvPr id="25" name="Text 22"/>
          <p:cNvSpPr/>
          <p:nvPr/>
        </p:nvSpPr>
        <p:spPr>
          <a:xfrm>
            <a:off x="6309360" y="1508760"/>
            <a:ext cx="2468880" cy="71323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TAXI / VTC / VMDTR</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Tous les 5 ans</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Auprès d'un centre de formation agréé par le préfet</a:t>
            </a:r>
            <a:endParaRPr lang="en-US" sz="1000" dirty="0"/>
          </a:p>
        </p:txBody>
      </p:sp>
      <p:sp>
        <p:nvSpPr>
          <p:cNvPr id="26" name="Shape 23"/>
          <p:cNvSpPr/>
          <p:nvPr/>
        </p:nvSpPr>
        <p:spPr>
          <a:xfrm>
            <a:off x="4709160" y="2423160"/>
            <a:ext cx="4160520" cy="1691640"/>
          </a:xfrm>
          <a:prstGeom prst="rect">
            <a:avLst/>
          </a:prstGeom>
          <a:solidFill>
            <a:srgbClr val="E8F1FA"/>
          </a:solidFill>
          <a:ln w="6350">
            <a:solidFill>
              <a:srgbClr val="D0DCE8"/>
            </a:solidFill>
            <a:prstDash val="solid"/>
          </a:ln>
        </p:spPr>
        <p:txBody>
          <a:bodyPr/>
          <a:lstStyle/>
          <a:p>
            <a:endParaRPr lang="fr-FR"/>
          </a:p>
        </p:txBody>
      </p:sp>
      <p:sp>
        <p:nvSpPr>
          <p:cNvPr id="27" name="Text 24"/>
          <p:cNvSpPr/>
          <p:nvPr/>
        </p:nvSpPr>
        <p:spPr>
          <a:xfrm>
            <a:off x="4800600" y="2450592"/>
            <a:ext cx="3977640" cy="162763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 Mise à jour réglementaire (nouvelles lois, arrêtés)</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Sécurité routière spécifique T3P</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Relation client — gestion situations difficiles</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Prévention des discriminations et des VSS (depuis 2024)</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Centre de formation AGRÉÉ par le Préfet</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Finançable par le CPF</a:t>
            </a:r>
            <a:endParaRPr lang="en-US" sz="950" dirty="0"/>
          </a:p>
        </p:txBody>
      </p:sp>
      <p:sp>
        <p:nvSpPr>
          <p:cNvPr id="28" name="Shape 25"/>
          <p:cNvSpPr/>
          <p:nvPr/>
        </p:nvSpPr>
        <p:spPr>
          <a:xfrm>
            <a:off x="274320" y="4187952"/>
            <a:ext cx="8595360" cy="384048"/>
          </a:xfrm>
          <a:prstGeom prst="rect">
            <a:avLst/>
          </a:prstGeom>
          <a:solidFill>
            <a:srgbClr val="FEF0EE"/>
          </a:solidFill>
          <a:ln w="19050">
            <a:solidFill>
              <a:srgbClr val="C0392B"/>
            </a:solidFill>
            <a:prstDash val="solid"/>
          </a:ln>
        </p:spPr>
        <p:txBody>
          <a:bodyPr/>
          <a:lstStyle/>
          <a:p>
            <a:endParaRPr lang="fr-FR"/>
          </a:p>
        </p:txBody>
      </p:sp>
      <p:sp>
        <p:nvSpPr>
          <p:cNvPr id="29" name="Shape 26"/>
          <p:cNvSpPr/>
          <p:nvPr/>
        </p:nvSpPr>
        <p:spPr>
          <a:xfrm>
            <a:off x="274320" y="4187952"/>
            <a:ext cx="54864" cy="384048"/>
          </a:xfrm>
          <a:prstGeom prst="rect">
            <a:avLst/>
          </a:prstGeom>
          <a:solidFill>
            <a:srgbClr val="C0392B"/>
          </a:solidFill>
          <a:ln w="12700">
            <a:solidFill>
              <a:srgbClr val="C0392B"/>
            </a:solidFill>
            <a:prstDash val="solid"/>
          </a:ln>
        </p:spPr>
        <p:txBody>
          <a:bodyPr/>
          <a:lstStyle/>
          <a:p>
            <a:endParaRPr lang="fr-FR"/>
          </a:p>
        </p:txBody>
      </p:sp>
      <p:sp>
        <p:nvSpPr>
          <p:cNvPr id="30" name="Text 27"/>
          <p:cNvSpPr/>
          <p:nvPr/>
        </p:nvSpPr>
        <p:spPr>
          <a:xfrm>
            <a:off x="384048" y="4187952"/>
            <a:ext cx="8467344" cy="38404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Sans visite médicale valide OU sans formation continue → carte professionnelle non renouvelée → exercice illégal = DÉLIT.</a:t>
            </a:r>
            <a:endParaRPr lang="en-US" sz="1000" dirty="0"/>
          </a:p>
        </p:txBody>
      </p:sp>
      <p:sp>
        <p:nvSpPr>
          <p:cNvPr id="86" name="Rectangle 8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87" name="Rectangle 8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5 — La maraude et les sources de la réglementation</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49/88</a:t>
            </a:r>
            <a:endParaRPr lang="en-US" sz="800" dirty="0"/>
          </a:p>
        </p:txBody>
      </p:sp>
      <p:sp>
        <p:nvSpPr>
          <p:cNvPr id="8" name="Shape 6"/>
          <p:cNvSpPr/>
          <p:nvPr/>
        </p:nvSpPr>
        <p:spPr>
          <a:xfrm>
            <a:off x="274320" y="914400"/>
            <a:ext cx="8595360" cy="41148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 MARAUDE — Définition légale</a:t>
            </a:r>
            <a:endParaRPr lang="en-US" sz="1300" dirty="0"/>
          </a:p>
        </p:txBody>
      </p:sp>
      <p:sp>
        <p:nvSpPr>
          <p:cNvPr id="10" name="Shape 8"/>
          <p:cNvSpPr/>
          <p:nvPr/>
        </p:nvSpPr>
        <p:spPr>
          <a:xfrm>
            <a:off x="274320" y="1417320"/>
            <a:ext cx="8595360" cy="658368"/>
          </a:xfrm>
          <a:prstGeom prst="rect">
            <a:avLst/>
          </a:prstGeom>
          <a:solidFill>
            <a:srgbClr val="EBF3FC"/>
          </a:solidFill>
          <a:ln w="19050">
            <a:solidFill>
              <a:srgbClr val="2860A8"/>
            </a:solidFill>
            <a:prstDash val="solid"/>
          </a:ln>
        </p:spPr>
        <p:txBody>
          <a:bodyPr/>
          <a:lstStyle/>
          <a:p>
            <a:endParaRPr lang="fr-FR"/>
          </a:p>
        </p:txBody>
      </p:sp>
      <p:sp>
        <p:nvSpPr>
          <p:cNvPr id="11" name="Shape 9"/>
          <p:cNvSpPr/>
          <p:nvPr/>
        </p:nvSpPr>
        <p:spPr>
          <a:xfrm>
            <a:off x="274320" y="1417320"/>
            <a:ext cx="54864" cy="658368"/>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457200" y="1417320"/>
            <a:ext cx="8229600" cy="658368"/>
          </a:xfrm>
          <a:prstGeom prst="rect">
            <a:avLst/>
          </a:prstGeom>
          <a:noFill/>
          <a:ln/>
        </p:spPr>
        <p:txBody>
          <a:bodyPr wrap="square" rtlCol="0" anchor="ctr"/>
          <a:lstStyle/>
          <a:p>
            <a:pPr marL="0" indent="0">
              <a:buNone/>
            </a:pPr>
            <a:r>
              <a:rPr lang="en-US" sz="1100" i="1" dirty="0">
                <a:solidFill>
                  <a:srgbClr val="3A3A3A"/>
                </a:solidFill>
                <a:latin typeface="Calibri" pitchFamily="34" charset="0"/>
                <a:ea typeface="Calibri" pitchFamily="34" charset="-122"/>
                <a:cs typeface="Calibri" pitchFamily="34" charset="-120"/>
              </a:rPr>
              <a:t>C'est le fait de prendre un client sans réservation préalable et / ou d'être en quête de clientèle sur la voie publique.</a:t>
            </a:r>
            <a:endParaRPr lang="en-US" sz="11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274320" y="2148840"/>
          <a:ext cx="8595360" cy="804672"/>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02336">
                <a:tc>
                  <a:txBody>
                    <a:bodyPr/>
                    <a:lstStyle/>
                    <a:p>
                      <a:pPr marL="0" indent="0">
                        <a:buNone/>
                      </a:pP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TAXI</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860A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VTC</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VMDTR</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Maraude autorisée ?</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dirty="0">
                          <a:solidFill>
                            <a:srgbClr val="1A7A3A"/>
                          </a:solidFill>
                          <a:latin typeface="Calibri" pitchFamily="34" charset="0"/>
                          <a:ea typeface="Calibri" pitchFamily="34" charset="-122"/>
                          <a:cs typeface="Calibri" pitchFamily="34" charset="-120"/>
                        </a:rPr>
                        <a:t>Oui, uniquement dans la zone de rattachement</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b="1" dirty="0">
                          <a:solidFill>
                            <a:srgbClr val="C0392B"/>
                          </a:solidFill>
                          <a:latin typeface="Calibri" pitchFamily="34" charset="0"/>
                          <a:ea typeface="Calibri" pitchFamily="34" charset="-122"/>
                          <a:cs typeface="Calibri" pitchFamily="34" charset="-120"/>
                        </a:rPr>
                        <a:t>Non</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b="1" dirty="0">
                          <a:solidFill>
                            <a:srgbClr val="C0392B"/>
                          </a:solidFill>
                          <a:latin typeface="Calibri" pitchFamily="34" charset="0"/>
                          <a:ea typeface="Calibri" pitchFamily="34" charset="-122"/>
                          <a:cs typeface="Calibri" pitchFamily="34" charset="-120"/>
                        </a:rPr>
                        <a:t>Non</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1"/>
                  </a:ext>
                </a:extLst>
              </a:tr>
            </a:tbl>
          </a:graphicData>
        </a:graphic>
      </p:graphicFrame>
      <p:sp>
        <p:nvSpPr>
          <p:cNvPr id="14" name="Shape 11"/>
          <p:cNvSpPr/>
          <p:nvPr/>
        </p:nvSpPr>
        <p:spPr>
          <a:xfrm>
            <a:off x="274320" y="3035808"/>
            <a:ext cx="8595360" cy="347472"/>
          </a:xfrm>
          <a:prstGeom prst="rect">
            <a:avLst/>
          </a:prstGeom>
          <a:solidFill>
            <a:srgbClr val="FEF0EE"/>
          </a:solidFill>
          <a:ln w="19050">
            <a:solidFill>
              <a:srgbClr val="C0392B"/>
            </a:solidFill>
            <a:prstDash val="solid"/>
          </a:ln>
        </p:spPr>
        <p:txBody>
          <a:bodyPr/>
          <a:lstStyle/>
          <a:p>
            <a:endParaRPr lang="fr-FR"/>
          </a:p>
        </p:txBody>
      </p:sp>
      <p:sp>
        <p:nvSpPr>
          <p:cNvPr id="15" name="Shape 12"/>
          <p:cNvSpPr/>
          <p:nvPr/>
        </p:nvSpPr>
        <p:spPr>
          <a:xfrm>
            <a:off x="274320" y="3035808"/>
            <a:ext cx="54864" cy="347472"/>
          </a:xfrm>
          <a:prstGeom prst="rect">
            <a:avLst/>
          </a:prstGeom>
          <a:solidFill>
            <a:srgbClr val="C0392B"/>
          </a:solidFill>
          <a:ln w="12700">
            <a:solidFill>
              <a:srgbClr val="C0392B"/>
            </a:solidFill>
            <a:prstDash val="solid"/>
          </a:ln>
        </p:spPr>
        <p:txBody>
          <a:bodyPr/>
          <a:lstStyle/>
          <a:p>
            <a:endParaRPr lang="fr-FR"/>
          </a:p>
        </p:txBody>
      </p:sp>
      <p:sp>
        <p:nvSpPr>
          <p:cNvPr id="16" name="Text 13"/>
          <p:cNvSpPr/>
          <p:nvPr/>
        </p:nvSpPr>
        <p:spPr>
          <a:xfrm>
            <a:off x="384048" y="3035808"/>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RÈGLE : Maraude = DROIT EXCLUSIF du TAXI dans sa zone. VTC qui circule sans réservation = DÉLIT : 1 an + 15 000 €.</a:t>
            </a:r>
            <a:endParaRPr lang="en-US" sz="1000" dirty="0"/>
          </a:p>
        </p:txBody>
      </p:sp>
      <p:sp>
        <p:nvSpPr>
          <p:cNvPr id="17" name="Shape 14"/>
          <p:cNvSpPr/>
          <p:nvPr/>
        </p:nvSpPr>
        <p:spPr>
          <a:xfrm>
            <a:off x="274320" y="3493008"/>
            <a:ext cx="8595360" cy="347472"/>
          </a:xfrm>
          <a:prstGeom prst="rect">
            <a:avLst/>
          </a:prstGeom>
          <a:solidFill>
            <a:srgbClr val="1A3A5C"/>
          </a:solidFill>
          <a:ln w="12700">
            <a:solidFill>
              <a:srgbClr val="1A3A5C"/>
            </a:solidFill>
            <a:prstDash val="solid"/>
          </a:ln>
        </p:spPr>
        <p:txBody>
          <a:bodyPr/>
          <a:lstStyle/>
          <a:p>
            <a:endParaRPr lang="fr-FR"/>
          </a:p>
        </p:txBody>
      </p:sp>
      <p:sp>
        <p:nvSpPr>
          <p:cNvPr id="18" name="Text 15"/>
          <p:cNvSpPr/>
          <p:nvPr/>
        </p:nvSpPr>
        <p:spPr>
          <a:xfrm>
            <a:off x="274320" y="3493008"/>
            <a:ext cx="859536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SOURCES DE LA RÉGLEMENTATION</a:t>
            </a:r>
            <a:endParaRPr lang="en-US" sz="1100" dirty="0"/>
          </a:p>
        </p:txBody>
      </p:sp>
      <p:graphicFrame>
        <p:nvGraphicFramePr>
          <p:cNvPr id="171" name="Table 1"/>
          <p:cNvGraphicFramePr>
            <a:graphicFrameLocks noGrp="1"/>
          </p:cNvGraphicFramePr>
          <p:nvPr>
            <p:extLst>
              <p:ext uri="{D42A27DB-BD31-4B8C-83A1-F6EECF244321}">
                <p14:modId xmlns:p14="http://schemas.microsoft.com/office/powerpoint/2010/main" val="1579011935"/>
              </p:ext>
            </p:extLst>
          </p:nvPr>
        </p:nvGraphicFramePr>
        <p:xfrm>
          <a:off x="274320" y="3913632"/>
          <a:ext cx="8595360" cy="1078992"/>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59664">
                <a:tc>
                  <a:txBody>
                    <a:bodyPr/>
                    <a:lstStyle/>
                    <a:p>
                      <a:pPr marL="0" indent="0">
                        <a:buNone/>
                      </a:pP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TAXI</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860A8"/>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VTC</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VMDTR</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6B7A8D"/>
                    </a:solidFill>
                  </a:tcPr>
                </a:tc>
                <a:extLst>
                  <a:ext uri="{0D108BD9-81ED-4DB2-BD59-A6C34878D82A}">
                    <a16:rowId xmlns:a16="http://schemas.microsoft.com/office/drawing/2014/main" val="10000"/>
                  </a:ext>
                </a:extLst>
              </a:tr>
              <a:tr h="359664">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Texte de base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Code des transports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Code des transports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Code des transports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664">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Autorité locale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Préfecture</a:t>
                      </a:r>
                      <a:endParaRPr lang="en-US" sz="1000" dirty="0">
                        <a:latin typeface="Calibri" charset="0"/>
                        <a:ea typeface="Calibri" charset="0"/>
                        <a:cs typeface="Calibri" charset="0"/>
                      </a:endParaRPr>
                    </a:p>
                    <a:p>
                      <a:pPr marL="0" indent="0">
                        <a:buNone/>
                      </a:pPr>
                      <a:r>
                        <a:rPr lang="en-US" sz="1000" dirty="0">
                          <a:solidFill>
                            <a:srgbClr val="3A3A3A"/>
                          </a:solidFill>
                          <a:latin typeface="Calibri" pitchFamily="34" charset="0"/>
                          <a:ea typeface="Calibri" pitchFamily="34" charset="-122"/>
                          <a:cs typeface="Calibri" pitchFamily="34" charset="-120"/>
                        </a:rPr>
                        <a:t>EPCI (métropole)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Préfecture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Préfecture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bl>
          </a:graphicData>
        </a:graphic>
      </p:graphicFrame>
      <p:sp>
        <p:nvSpPr>
          <p:cNvPr id="172" name="Rectangle 17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173" name="Rectangle 17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8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6 — Documents de contrôle routier</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50/88</a:t>
            </a:r>
            <a:endParaRPr lang="en-US" sz="800" dirty="0"/>
          </a:p>
        </p:txBody>
      </p:sp>
      <p:sp>
        <p:nvSpPr>
          <p:cNvPr id="8" name="Shape 6"/>
          <p:cNvSpPr/>
          <p:nvPr/>
        </p:nvSpPr>
        <p:spPr>
          <a:xfrm>
            <a:off x="274320" y="914400"/>
            <a:ext cx="8595360" cy="34747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DOCUMENTS À PRÉSENTER EN CAS DE CONTRÔLE ROUTIER</a:t>
            </a:r>
            <a:endParaRPr lang="en-US" sz="1100" dirty="0"/>
          </a:p>
        </p:txBody>
      </p:sp>
      <p:sp>
        <p:nvSpPr>
          <p:cNvPr id="10" name="Shape 8"/>
          <p:cNvSpPr/>
          <p:nvPr/>
        </p:nvSpPr>
        <p:spPr>
          <a:xfrm>
            <a:off x="274320" y="1325880"/>
            <a:ext cx="4160520" cy="347472"/>
          </a:xfrm>
          <a:prstGeom prst="rect">
            <a:avLst/>
          </a:prstGeom>
          <a:solidFill>
            <a:srgbClr val="2860A8"/>
          </a:solidFill>
          <a:ln w="12700">
            <a:solidFill>
              <a:srgbClr val="2860A8"/>
            </a:solidFill>
            <a:prstDash val="solid"/>
          </a:ln>
        </p:spPr>
        <p:txBody>
          <a:bodyPr/>
          <a:lstStyle/>
          <a:p>
            <a:endParaRPr lang="fr-FR"/>
          </a:p>
        </p:txBody>
      </p:sp>
      <p:sp>
        <p:nvSpPr>
          <p:cNvPr id="11" name="Text 9"/>
          <p:cNvSpPr/>
          <p:nvPr/>
        </p:nvSpPr>
        <p:spPr>
          <a:xfrm>
            <a:off x="274320" y="1325880"/>
            <a:ext cx="416052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Documents VÉHICULE</a:t>
            </a:r>
            <a:endParaRPr lang="en-US" sz="1050" dirty="0"/>
          </a:p>
        </p:txBody>
      </p:sp>
      <p:sp>
        <p:nvSpPr>
          <p:cNvPr id="12" name="Shape 10"/>
          <p:cNvSpPr/>
          <p:nvPr/>
        </p:nvSpPr>
        <p:spPr>
          <a:xfrm>
            <a:off x="274320" y="1737360"/>
            <a:ext cx="4160520" cy="411480"/>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274320" y="1737360"/>
            <a:ext cx="256032" cy="411480"/>
          </a:xfrm>
          <a:prstGeom prst="rect">
            <a:avLst/>
          </a:prstGeom>
          <a:solidFill>
            <a:srgbClr val="2860A8"/>
          </a:solidFill>
          <a:ln w="12700">
            <a:solidFill>
              <a:srgbClr val="2860A8"/>
            </a:solidFill>
            <a:prstDash val="solid"/>
          </a:ln>
        </p:spPr>
        <p:txBody>
          <a:bodyPr/>
          <a:lstStyle/>
          <a:p>
            <a:endParaRPr lang="fr-FR"/>
          </a:p>
        </p:txBody>
      </p:sp>
      <p:sp>
        <p:nvSpPr>
          <p:cNvPr id="14" name="Text 12"/>
          <p:cNvSpPr/>
          <p:nvPr/>
        </p:nvSpPr>
        <p:spPr>
          <a:xfrm>
            <a:off x="274320" y="17373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15" name="Text 13"/>
          <p:cNvSpPr/>
          <p:nvPr/>
        </p:nvSpPr>
        <p:spPr>
          <a:xfrm>
            <a:off x="594360" y="17556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Carte Grise</a:t>
            </a:r>
            <a:endParaRPr lang="en-US" sz="1050" dirty="0"/>
          </a:p>
        </p:txBody>
      </p:sp>
      <p:sp>
        <p:nvSpPr>
          <p:cNvPr id="16" name="Shape 14"/>
          <p:cNvSpPr/>
          <p:nvPr/>
        </p:nvSpPr>
        <p:spPr>
          <a:xfrm>
            <a:off x="274320" y="2194560"/>
            <a:ext cx="4160520" cy="411480"/>
          </a:xfrm>
          <a:prstGeom prst="rect">
            <a:avLst/>
          </a:prstGeom>
          <a:solidFill>
            <a:srgbClr val="FFFFFF"/>
          </a:solidFill>
          <a:ln w="6350">
            <a:solidFill>
              <a:srgbClr val="D0DCE8"/>
            </a:solidFill>
            <a:prstDash val="solid"/>
          </a:ln>
        </p:spPr>
        <p:txBody>
          <a:bodyPr/>
          <a:lstStyle/>
          <a:p>
            <a:endParaRPr lang="fr-FR"/>
          </a:p>
        </p:txBody>
      </p:sp>
      <p:sp>
        <p:nvSpPr>
          <p:cNvPr id="17" name="Shape 15"/>
          <p:cNvSpPr/>
          <p:nvPr/>
        </p:nvSpPr>
        <p:spPr>
          <a:xfrm>
            <a:off x="274320" y="2194560"/>
            <a:ext cx="256032" cy="411480"/>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1945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p:cNvSpPr/>
          <p:nvPr/>
        </p:nvSpPr>
        <p:spPr>
          <a:xfrm>
            <a:off x="594360" y="22128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Contrôle technique ou attestation d'entretien</a:t>
            </a:r>
            <a:endParaRPr lang="en-US" sz="1050" dirty="0"/>
          </a:p>
        </p:txBody>
      </p:sp>
      <p:sp>
        <p:nvSpPr>
          <p:cNvPr id="20" name="Shape 18"/>
          <p:cNvSpPr/>
          <p:nvPr/>
        </p:nvSpPr>
        <p:spPr>
          <a:xfrm>
            <a:off x="274320" y="2651760"/>
            <a:ext cx="4160520" cy="411480"/>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274320" y="2651760"/>
            <a:ext cx="256032" cy="411480"/>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274320" y="26517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23" name="Text 21"/>
          <p:cNvSpPr/>
          <p:nvPr/>
        </p:nvSpPr>
        <p:spPr>
          <a:xfrm>
            <a:off x="594360" y="26700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Attestation d'assurance à titre onéreux</a:t>
            </a:r>
            <a:endParaRPr lang="en-US" sz="1050" dirty="0"/>
          </a:p>
        </p:txBody>
      </p:sp>
      <p:sp>
        <p:nvSpPr>
          <p:cNvPr id="24" name="Shape 22"/>
          <p:cNvSpPr/>
          <p:nvPr/>
        </p:nvSpPr>
        <p:spPr>
          <a:xfrm>
            <a:off x="274320" y="3108960"/>
            <a:ext cx="4160520" cy="411480"/>
          </a:xfrm>
          <a:prstGeom prst="rect">
            <a:avLst/>
          </a:prstGeom>
          <a:solidFill>
            <a:srgbClr val="FFFFFF"/>
          </a:solidFill>
          <a:ln w="6350">
            <a:solidFill>
              <a:srgbClr val="D0DCE8"/>
            </a:solidFill>
            <a:prstDash val="solid"/>
          </a:ln>
        </p:spPr>
        <p:txBody>
          <a:bodyPr/>
          <a:lstStyle/>
          <a:p>
            <a:endParaRPr lang="fr-FR"/>
          </a:p>
        </p:txBody>
      </p:sp>
      <p:sp>
        <p:nvSpPr>
          <p:cNvPr id="25" name="Shape 23"/>
          <p:cNvSpPr/>
          <p:nvPr/>
        </p:nvSpPr>
        <p:spPr>
          <a:xfrm>
            <a:off x="274320" y="3108960"/>
            <a:ext cx="256032" cy="411480"/>
          </a:xfrm>
          <a:prstGeom prst="rect">
            <a:avLst/>
          </a:prstGeom>
          <a:solidFill>
            <a:srgbClr val="2860A8"/>
          </a:solidFill>
          <a:ln w="12700">
            <a:solidFill>
              <a:srgbClr val="2860A8"/>
            </a:solidFill>
            <a:prstDash val="solid"/>
          </a:ln>
        </p:spPr>
        <p:txBody>
          <a:bodyPr/>
          <a:lstStyle/>
          <a:p>
            <a:endParaRPr lang="fr-FR"/>
          </a:p>
        </p:txBody>
      </p:sp>
      <p:sp>
        <p:nvSpPr>
          <p:cNvPr id="26" name="Text 24"/>
          <p:cNvSpPr/>
          <p:nvPr/>
        </p:nvSpPr>
        <p:spPr>
          <a:xfrm>
            <a:off x="274320" y="31089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5"/>
          <p:cNvSpPr/>
          <p:nvPr/>
        </p:nvSpPr>
        <p:spPr>
          <a:xfrm>
            <a:off x="594360" y="31272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Permis A ou B</a:t>
            </a:r>
            <a:endParaRPr lang="en-US" sz="1050" dirty="0"/>
          </a:p>
        </p:txBody>
      </p:sp>
      <p:sp>
        <p:nvSpPr>
          <p:cNvPr id="28" name="Shape 26"/>
          <p:cNvSpPr/>
          <p:nvPr/>
        </p:nvSpPr>
        <p:spPr>
          <a:xfrm>
            <a:off x="4709160" y="1325880"/>
            <a:ext cx="4160520" cy="347472"/>
          </a:xfrm>
          <a:prstGeom prst="rect">
            <a:avLst/>
          </a:prstGeom>
          <a:solidFill>
            <a:srgbClr val="1A3A5C"/>
          </a:solidFill>
          <a:ln w="12700">
            <a:solidFill>
              <a:srgbClr val="1A3A5C"/>
            </a:solidFill>
            <a:prstDash val="solid"/>
          </a:ln>
        </p:spPr>
        <p:txBody>
          <a:bodyPr/>
          <a:lstStyle/>
          <a:p>
            <a:endParaRPr lang="fr-FR"/>
          </a:p>
        </p:txBody>
      </p:sp>
      <p:sp>
        <p:nvSpPr>
          <p:cNvPr id="29" name="Text 27"/>
          <p:cNvSpPr/>
          <p:nvPr/>
        </p:nvSpPr>
        <p:spPr>
          <a:xfrm>
            <a:off x="4709160" y="1325880"/>
            <a:ext cx="416052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Documents PROFESSION</a:t>
            </a:r>
            <a:endParaRPr lang="en-US" sz="1050" dirty="0"/>
          </a:p>
        </p:txBody>
      </p:sp>
      <p:sp>
        <p:nvSpPr>
          <p:cNvPr id="30" name="Shape 28"/>
          <p:cNvSpPr/>
          <p:nvPr/>
        </p:nvSpPr>
        <p:spPr>
          <a:xfrm>
            <a:off x="4709160" y="1737360"/>
            <a:ext cx="4160520" cy="347472"/>
          </a:xfrm>
          <a:prstGeom prst="rect">
            <a:avLst/>
          </a:prstGeom>
          <a:solidFill>
            <a:srgbClr val="E8F1FA"/>
          </a:solidFill>
          <a:ln w="6350">
            <a:solidFill>
              <a:srgbClr val="D0DCE8"/>
            </a:solidFill>
            <a:prstDash val="solid"/>
          </a:ln>
        </p:spPr>
        <p:txBody>
          <a:bodyPr/>
          <a:lstStyle/>
          <a:p>
            <a:endParaRPr lang="fr-FR"/>
          </a:p>
        </p:txBody>
      </p:sp>
      <p:sp>
        <p:nvSpPr>
          <p:cNvPr id="31" name="Shape 29"/>
          <p:cNvSpPr/>
          <p:nvPr/>
        </p:nvSpPr>
        <p:spPr>
          <a:xfrm>
            <a:off x="4709160" y="1737360"/>
            <a:ext cx="256032" cy="347472"/>
          </a:xfrm>
          <a:prstGeom prst="rect">
            <a:avLst/>
          </a:prstGeom>
          <a:solidFill>
            <a:srgbClr val="1A3A5C"/>
          </a:solidFill>
          <a:ln w="12700">
            <a:solidFill>
              <a:srgbClr val="1A3A5C"/>
            </a:solidFill>
            <a:prstDash val="solid"/>
          </a:ln>
        </p:spPr>
        <p:txBody>
          <a:bodyPr/>
          <a:lstStyle/>
          <a:p>
            <a:endParaRPr lang="fr-FR"/>
          </a:p>
        </p:txBody>
      </p:sp>
      <p:sp>
        <p:nvSpPr>
          <p:cNvPr id="32" name="Text 30"/>
          <p:cNvSpPr/>
          <p:nvPr/>
        </p:nvSpPr>
        <p:spPr>
          <a:xfrm>
            <a:off x="4709160" y="1737360"/>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33" name="Text 31"/>
          <p:cNvSpPr/>
          <p:nvPr/>
        </p:nvSpPr>
        <p:spPr>
          <a:xfrm>
            <a:off x="5029200" y="1755648"/>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Carte professionnelle T3P</a:t>
            </a:r>
            <a:endParaRPr lang="en-US" sz="1000" dirty="0"/>
          </a:p>
        </p:txBody>
      </p:sp>
      <p:sp>
        <p:nvSpPr>
          <p:cNvPr id="34" name="Shape 32"/>
          <p:cNvSpPr/>
          <p:nvPr/>
        </p:nvSpPr>
        <p:spPr>
          <a:xfrm>
            <a:off x="4709160" y="2121408"/>
            <a:ext cx="4160520" cy="347472"/>
          </a:xfrm>
          <a:prstGeom prst="rect">
            <a:avLst/>
          </a:prstGeom>
          <a:solidFill>
            <a:srgbClr val="FFFFFF"/>
          </a:solidFill>
          <a:ln w="6350">
            <a:solidFill>
              <a:srgbClr val="D0DCE8"/>
            </a:solidFill>
            <a:prstDash val="solid"/>
          </a:ln>
        </p:spPr>
        <p:txBody>
          <a:bodyPr/>
          <a:lstStyle/>
          <a:p>
            <a:endParaRPr lang="fr-FR"/>
          </a:p>
        </p:txBody>
      </p:sp>
      <p:sp>
        <p:nvSpPr>
          <p:cNvPr id="35" name="Shape 33"/>
          <p:cNvSpPr/>
          <p:nvPr/>
        </p:nvSpPr>
        <p:spPr>
          <a:xfrm>
            <a:off x="4709160" y="2121408"/>
            <a:ext cx="256032" cy="347472"/>
          </a:xfrm>
          <a:prstGeom prst="rect">
            <a:avLst/>
          </a:prstGeom>
          <a:solidFill>
            <a:srgbClr val="1A3A5C"/>
          </a:solidFill>
          <a:ln w="12700">
            <a:solidFill>
              <a:srgbClr val="1A3A5C"/>
            </a:solidFill>
            <a:prstDash val="solid"/>
          </a:ln>
        </p:spPr>
        <p:txBody>
          <a:bodyPr/>
          <a:lstStyle/>
          <a:p>
            <a:endParaRPr lang="fr-FR"/>
          </a:p>
        </p:txBody>
      </p:sp>
      <p:sp>
        <p:nvSpPr>
          <p:cNvPr id="36" name="Text 34"/>
          <p:cNvSpPr/>
          <p:nvPr/>
        </p:nvSpPr>
        <p:spPr>
          <a:xfrm>
            <a:off x="4709160" y="2121408"/>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37" name="Text 35"/>
          <p:cNvSpPr/>
          <p:nvPr/>
        </p:nvSpPr>
        <p:spPr>
          <a:xfrm>
            <a:off x="5029200" y="2139696"/>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Attestation médicale ou visite médicale</a:t>
            </a:r>
            <a:endParaRPr lang="en-US" sz="1000" dirty="0"/>
          </a:p>
        </p:txBody>
      </p:sp>
      <p:sp>
        <p:nvSpPr>
          <p:cNvPr id="38" name="Shape 36"/>
          <p:cNvSpPr/>
          <p:nvPr/>
        </p:nvSpPr>
        <p:spPr>
          <a:xfrm>
            <a:off x="4709160" y="2505456"/>
            <a:ext cx="4160520" cy="347472"/>
          </a:xfrm>
          <a:prstGeom prst="rect">
            <a:avLst/>
          </a:prstGeom>
          <a:solidFill>
            <a:srgbClr val="E8F1FA"/>
          </a:solidFill>
          <a:ln w="6350">
            <a:solidFill>
              <a:srgbClr val="D0DCE8"/>
            </a:solidFill>
            <a:prstDash val="solid"/>
          </a:ln>
        </p:spPr>
        <p:txBody>
          <a:bodyPr/>
          <a:lstStyle/>
          <a:p>
            <a:endParaRPr lang="fr-FR"/>
          </a:p>
        </p:txBody>
      </p:sp>
      <p:sp>
        <p:nvSpPr>
          <p:cNvPr id="39" name="Shape 37"/>
          <p:cNvSpPr/>
          <p:nvPr/>
        </p:nvSpPr>
        <p:spPr>
          <a:xfrm>
            <a:off x="4709160" y="2505456"/>
            <a:ext cx="256032" cy="347472"/>
          </a:xfrm>
          <a:prstGeom prst="rect">
            <a:avLst/>
          </a:prstGeom>
          <a:solidFill>
            <a:srgbClr val="1A3A5C"/>
          </a:solidFill>
          <a:ln w="12700">
            <a:solidFill>
              <a:srgbClr val="1A3A5C"/>
            </a:solidFill>
            <a:prstDash val="solid"/>
          </a:ln>
        </p:spPr>
        <p:txBody>
          <a:bodyPr/>
          <a:lstStyle/>
          <a:p>
            <a:endParaRPr lang="fr-FR"/>
          </a:p>
        </p:txBody>
      </p:sp>
      <p:sp>
        <p:nvSpPr>
          <p:cNvPr id="40" name="Text 38"/>
          <p:cNvSpPr/>
          <p:nvPr/>
        </p:nvSpPr>
        <p:spPr>
          <a:xfrm>
            <a:off x="4709160" y="2505456"/>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41" name="Text 39"/>
          <p:cNvSpPr/>
          <p:nvPr/>
        </p:nvSpPr>
        <p:spPr>
          <a:xfrm>
            <a:off x="5029200" y="2523744"/>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Billet individuel/collectif ou carnet de bord (sauf taxi)</a:t>
            </a:r>
            <a:endParaRPr lang="en-US" sz="1000" dirty="0"/>
          </a:p>
        </p:txBody>
      </p:sp>
      <p:sp>
        <p:nvSpPr>
          <p:cNvPr id="42" name="Shape 40"/>
          <p:cNvSpPr/>
          <p:nvPr/>
        </p:nvSpPr>
        <p:spPr>
          <a:xfrm>
            <a:off x="4709160" y="2889504"/>
            <a:ext cx="4160520" cy="347472"/>
          </a:xfrm>
          <a:prstGeom prst="rect">
            <a:avLst/>
          </a:prstGeom>
          <a:solidFill>
            <a:srgbClr val="FFFFFF"/>
          </a:solidFill>
          <a:ln w="6350">
            <a:solidFill>
              <a:srgbClr val="D0DCE8"/>
            </a:solidFill>
            <a:prstDash val="solid"/>
          </a:ln>
        </p:spPr>
        <p:txBody>
          <a:bodyPr/>
          <a:lstStyle/>
          <a:p>
            <a:endParaRPr lang="fr-FR"/>
          </a:p>
        </p:txBody>
      </p:sp>
      <p:sp>
        <p:nvSpPr>
          <p:cNvPr id="43" name="Shape 41"/>
          <p:cNvSpPr/>
          <p:nvPr/>
        </p:nvSpPr>
        <p:spPr>
          <a:xfrm>
            <a:off x="4709160" y="2889504"/>
            <a:ext cx="256032" cy="347472"/>
          </a:xfrm>
          <a:prstGeom prst="rect">
            <a:avLst/>
          </a:prstGeom>
          <a:solidFill>
            <a:srgbClr val="1A3A5C"/>
          </a:solidFill>
          <a:ln w="12700">
            <a:solidFill>
              <a:srgbClr val="1A3A5C"/>
            </a:solidFill>
            <a:prstDash val="solid"/>
          </a:ln>
        </p:spPr>
        <p:txBody>
          <a:bodyPr/>
          <a:lstStyle/>
          <a:p>
            <a:endParaRPr lang="fr-FR"/>
          </a:p>
        </p:txBody>
      </p:sp>
      <p:sp>
        <p:nvSpPr>
          <p:cNvPr id="44" name="Text 42"/>
          <p:cNvSpPr/>
          <p:nvPr/>
        </p:nvSpPr>
        <p:spPr>
          <a:xfrm>
            <a:off x="4709160" y="2889504"/>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45" name="Text 43"/>
          <p:cNvSpPr/>
          <p:nvPr/>
        </p:nvSpPr>
        <p:spPr>
          <a:xfrm>
            <a:off x="5029200" y="2907792"/>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Licence (ADS ou inscription au registre VTC)</a:t>
            </a:r>
            <a:endParaRPr lang="en-US" sz="1000" dirty="0"/>
          </a:p>
        </p:txBody>
      </p:sp>
      <p:sp>
        <p:nvSpPr>
          <p:cNvPr id="46" name="Shape 44"/>
          <p:cNvSpPr/>
          <p:nvPr/>
        </p:nvSpPr>
        <p:spPr>
          <a:xfrm>
            <a:off x="4709160" y="3273552"/>
            <a:ext cx="4160520" cy="347472"/>
          </a:xfrm>
          <a:prstGeom prst="rect">
            <a:avLst/>
          </a:prstGeom>
          <a:solidFill>
            <a:srgbClr val="E8F1FA"/>
          </a:solidFill>
          <a:ln w="6350">
            <a:solidFill>
              <a:srgbClr val="D0DCE8"/>
            </a:solidFill>
            <a:prstDash val="solid"/>
          </a:ln>
        </p:spPr>
        <p:txBody>
          <a:bodyPr/>
          <a:lstStyle/>
          <a:p>
            <a:endParaRPr lang="fr-FR"/>
          </a:p>
        </p:txBody>
      </p:sp>
      <p:sp>
        <p:nvSpPr>
          <p:cNvPr id="47" name="Shape 45"/>
          <p:cNvSpPr/>
          <p:nvPr/>
        </p:nvSpPr>
        <p:spPr>
          <a:xfrm>
            <a:off x="4709160" y="3273552"/>
            <a:ext cx="256032" cy="347472"/>
          </a:xfrm>
          <a:prstGeom prst="rect">
            <a:avLst/>
          </a:prstGeom>
          <a:solidFill>
            <a:srgbClr val="1A3A5C"/>
          </a:solidFill>
          <a:ln w="12700">
            <a:solidFill>
              <a:srgbClr val="1A3A5C"/>
            </a:solidFill>
            <a:prstDash val="solid"/>
          </a:ln>
        </p:spPr>
        <p:txBody>
          <a:bodyPr/>
          <a:lstStyle/>
          <a:p>
            <a:endParaRPr lang="fr-FR"/>
          </a:p>
        </p:txBody>
      </p:sp>
      <p:sp>
        <p:nvSpPr>
          <p:cNvPr id="48" name="Text 46"/>
          <p:cNvSpPr/>
          <p:nvPr/>
        </p:nvSpPr>
        <p:spPr>
          <a:xfrm>
            <a:off x="4709160" y="3273552"/>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49" name="Text 47"/>
          <p:cNvSpPr/>
          <p:nvPr/>
        </p:nvSpPr>
        <p:spPr>
          <a:xfrm>
            <a:off x="5029200" y="3291840"/>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Pour salariés : contrat de travail + DPAE</a:t>
            </a:r>
            <a:endParaRPr lang="en-US" sz="1000" dirty="0"/>
          </a:p>
        </p:txBody>
      </p:sp>
      <p:sp>
        <p:nvSpPr>
          <p:cNvPr id="50" name="Shape 48"/>
          <p:cNvSpPr/>
          <p:nvPr/>
        </p:nvSpPr>
        <p:spPr>
          <a:xfrm>
            <a:off x="4709160" y="3657600"/>
            <a:ext cx="4160520" cy="347472"/>
          </a:xfrm>
          <a:prstGeom prst="rect">
            <a:avLst/>
          </a:prstGeom>
          <a:solidFill>
            <a:srgbClr val="FFFFFF"/>
          </a:solidFill>
          <a:ln w="6350">
            <a:solidFill>
              <a:srgbClr val="D0DCE8"/>
            </a:solidFill>
            <a:prstDash val="solid"/>
          </a:ln>
        </p:spPr>
        <p:txBody>
          <a:bodyPr/>
          <a:lstStyle/>
          <a:p>
            <a:endParaRPr lang="fr-FR"/>
          </a:p>
        </p:txBody>
      </p:sp>
      <p:sp>
        <p:nvSpPr>
          <p:cNvPr id="51" name="Shape 49"/>
          <p:cNvSpPr/>
          <p:nvPr/>
        </p:nvSpPr>
        <p:spPr>
          <a:xfrm>
            <a:off x="4709160" y="3657600"/>
            <a:ext cx="256032" cy="347472"/>
          </a:xfrm>
          <a:prstGeom prst="rect">
            <a:avLst/>
          </a:prstGeom>
          <a:solidFill>
            <a:srgbClr val="1A3A5C"/>
          </a:solidFill>
          <a:ln w="12700">
            <a:solidFill>
              <a:srgbClr val="1A3A5C"/>
            </a:solidFill>
            <a:prstDash val="solid"/>
          </a:ln>
        </p:spPr>
        <p:txBody>
          <a:bodyPr/>
          <a:lstStyle/>
          <a:p>
            <a:endParaRPr lang="fr-FR"/>
          </a:p>
        </p:txBody>
      </p:sp>
      <p:sp>
        <p:nvSpPr>
          <p:cNvPr id="52" name="Text 50"/>
          <p:cNvSpPr/>
          <p:nvPr/>
        </p:nvSpPr>
        <p:spPr>
          <a:xfrm>
            <a:off x="4709160" y="3657600"/>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53" name="Text 51"/>
          <p:cNvSpPr/>
          <p:nvPr/>
        </p:nvSpPr>
        <p:spPr>
          <a:xfrm>
            <a:off x="5029200" y="3675888"/>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Carnet métrologique taximètre (taxi uniquement)</a:t>
            </a:r>
            <a:endParaRPr lang="en-US" sz="1000" dirty="0"/>
          </a:p>
        </p:txBody>
      </p:sp>
      <p:sp>
        <p:nvSpPr>
          <p:cNvPr id="54" name="Shape 52"/>
          <p:cNvSpPr/>
          <p:nvPr/>
        </p:nvSpPr>
        <p:spPr>
          <a:xfrm>
            <a:off x="4709160" y="4041648"/>
            <a:ext cx="4160520" cy="347472"/>
          </a:xfrm>
          <a:prstGeom prst="rect">
            <a:avLst/>
          </a:prstGeom>
          <a:solidFill>
            <a:srgbClr val="E8F1FA"/>
          </a:solidFill>
          <a:ln w="6350">
            <a:solidFill>
              <a:srgbClr val="D0DCE8"/>
            </a:solidFill>
            <a:prstDash val="solid"/>
          </a:ln>
        </p:spPr>
        <p:txBody>
          <a:bodyPr/>
          <a:lstStyle/>
          <a:p>
            <a:endParaRPr lang="fr-FR"/>
          </a:p>
        </p:txBody>
      </p:sp>
      <p:sp>
        <p:nvSpPr>
          <p:cNvPr id="55" name="Shape 53"/>
          <p:cNvSpPr/>
          <p:nvPr/>
        </p:nvSpPr>
        <p:spPr>
          <a:xfrm>
            <a:off x="4709160" y="4041648"/>
            <a:ext cx="256032" cy="347472"/>
          </a:xfrm>
          <a:prstGeom prst="rect">
            <a:avLst/>
          </a:prstGeom>
          <a:solidFill>
            <a:srgbClr val="1A3A5C"/>
          </a:solidFill>
          <a:ln w="12700">
            <a:solidFill>
              <a:srgbClr val="1A3A5C"/>
            </a:solidFill>
            <a:prstDash val="solid"/>
          </a:ln>
        </p:spPr>
        <p:txBody>
          <a:bodyPr/>
          <a:lstStyle/>
          <a:p>
            <a:endParaRPr lang="fr-FR"/>
          </a:p>
        </p:txBody>
      </p:sp>
      <p:sp>
        <p:nvSpPr>
          <p:cNvPr id="56" name="Text 54"/>
          <p:cNvSpPr/>
          <p:nvPr/>
        </p:nvSpPr>
        <p:spPr>
          <a:xfrm>
            <a:off x="4709160" y="4041648"/>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57" name="Text 55"/>
          <p:cNvSpPr/>
          <p:nvPr/>
        </p:nvSpPr>
        <p:spPr>
          <a:xfrm>
            <a:off x="5029200" y="4059936"/>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Attestation de formation continue</a:t>
            </a:r>
            <a:endParaRPr lang="en-US" sz="1000" dirty="0"/>
          </a:p>
        </p:txBody>
      </p:sp>
      <p:sp>
        <p:nvSpPr>
          <p:cNvPr id="58" name="Rectangle 5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59" name="Rectangle 5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8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6b — Conditions de délivrance de la carte professionnelle</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51/88</a:t>
            </a:r>
            <a:endParaRPr lang="en-US" sz="800" dirty="0"/>
          </a:p>
        </p:txBody>
      </p:sp>
      <p:sp>
        <p:nvSpPr>
          <p:cNvPr id="8" name="Shape 6"/>
          <p:cNvSpPr/>
          <p:nvPr/>
        </p:nvSpPr>
        <p:spPr>
          <a:xfrm>
            <a:off x="274320" y="914400"/>
            <a:ext cx="8595360" cy="384048"/>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 CARTE PROFESSIONNELLE T3P — Conditions de délivrance</a:t>
            </a:r>
            <a:endParaRPr lang="en-US" sz="1200" dirty="0"/>
          </a:p>
        </p:txBody>
      </p:sp>
      <p:sp>
        <p:nvSpPr>
          <p:cNvPr id="10" name="Shape 8"/>
          <p:cNvSpPr/>
          <p:nvPr/>
        </p:nvSpPr>
        <p:spPr>
          <a:xfrm>
            <a:off x="274320" y="1417320"/>
            <a:ext cx="2743200" cy="3182112"/>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417320"/>
            <a:ext cx="2743200" cy="475488"/>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347472" y="1417320"/>
            <a:ext cx="2633472"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 PERMIS HORS PÉRIODE PROBATOIRE</a:t>
            </a:r>
            <a:endParaRPr lang="en-US" sz="1000" dirty="0"/>
          </a:p>
        </p:txBody>
      </p:sp>
      <p:sp>
        <p:nvSpPr>
          <p:cNvPr id="13" name="Text 11"/>
          <p:cNvSpPr/>
          <p:nvPr/>
        </p:nvSpPr>
        <p:spPr>
          <a:xfrm>
            <a:off x="384048" y="1920240"/>
            <a:ext cx="2560320" cy="2651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Permis de conduire valide, hors période probatoire.</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+2 ans si obtenu en Conduite Accompagnée (AAC)</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+3 ans si conduite normale classique</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Le permis probatoire bloque l'accès à l'examen T3P</a:t>
            </a:r>
            <a:endParaRPr lang="en-US" sz="1000" dirty="0"/>
          </a:p>
        </p:txBody>
      </p:sp>
      <p:sp>
        <p:nvSpPr>
          <p:cNvPr id="14" name="Shape 12"/>
          <p:cNvSpPr/>
          <p:nvPr/>
        </p:nvSpPr>
        <p:spPr>
          <a:xfrm>
            <a:off x="3154680" y="1417320"/>
            <a:ext cx="2743200" cy="3182112"/>
          </a:xfrm>
          <a:prstGeom prst="rect">
            <a:avLst/>
          </a:prstGeom>
          <a:solidFill>
            <a:srgbClr val="E8F1FA"/>
          </a:solidFill>
          <a:ln w="6350">
            <a:solidFill>
              <a:srgbClr val="D0DCE8"/>
            </a:solidFill>
            <a:prstDash val="solid"/>
          </a:ln>
        </p:spPr>
        <p:txBody>
          <a:bodyPr/>
          <a:lstStyle/>
          <a:p>
            <a:endParaRPr lang="fr-FR"/>
          </a:p>
        </p:txBody>
      </p:sp>
      <p:sp>
        <p:nvSpPr>
          <p:cNvPr id="15" name="Shape 13"/>
          <p:cNvSpPr/>
          <p:nvPr/>
        </p:nvSpPr>
        <p:spPr>
          <a:xfrm>
            <a:off x="3154680" y="1417320"/>
            <a:ext cx="2743200" cy="475488"/>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3227832" y="1417320"/>
            <a:ext cx="2633472"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APTITUDE PROFESSIONNELLE</a:t>
            </a:r>
            <a:endParaRPr lang="en-US" sz="1000" dirty="0"/>
          </a:p>
        </p:txBody>
      </p:sp>
      <p:sp>
        <p:nvSpPr>
          <p:cNvPr id="17" name="Text 15"/>
          <p:cNvSpPr/>
          <p:nvPr/>
        </p:nvSpPr>
        <p:spPr>
          <a:xfrm>
            <a:off x="3264408" y="1920240"/>
            <a:ext cx="2560320" cy="2651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Satisfaire à une condition d'aptitude professionnelle :</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Réussir l'EXAMEN T3P (tronc commun + épreuve spécifique Taxi ou VTC)</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OU justifier d'une EXPÉRIENCE PROFESSIONNELLE reconnue</a:t>
            </a:r>
            <a:endParaRPr lang="en-US" sz="1000" dirty="0"/>
          </a:p>
        </p:txBody>
      </p:sp>
      <p:sp>
        <p:nvSpPr>
          <p:cNvPr id="18" name="Shape 16"/>
          <p:cNvSpPr/>
          <p:nvPr/>
        </p:nvSpPr>
        <p:spPr>
          <a:xfrm>
            <a:off x="6035040" y="1417320"/>
            <a:ext cx="2743200" cy="3182112"/>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6035040" y="1417320"/>
            <a:ext cx="2743200" cy="475488"/>
          </a:xfrm>
          <a:prstGeom prst="rect">
            <a:avLst/>
          </a:prstGeom>
          <a:solidFill>
            <a:srgbClr val="6B7A8D"/>
          </a:solidFill>
          <a:ln w="12700">
            <a:solidFill>
              <a:srgbClr val="6B7A8D"/>
            </a:solidFill>
            <a:prstDash val="solid"/>
          </a:ln>
        </p:spPr>
        <p:txBody>
          <a:bodyPr/>
          <a:lstStyle/>
          <a:p>
            <a:endParaRPr lang="fr-FR"/>
          </a:p>
        </p:txBody>
      </p:sp>
      <p:sp>
        <p:nvSpPr>
          <p:cNvPr id="20" name="Text 18"/>
          <p:cNvSpPr/>
          <p:nvPr/>
        </p:nvSpPr>
        <p:spPr>
          <a:xfrm>
            <a:off x="6108192" y="1417320"/>
            <a:ext cx="2633472"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HONORABILITÉ PROFESSIONNELLE</a:t>
            </a:r>
            <a:endParaRPr lang="en-US" sz="1000" dirty="0"/>
          </a:p>
        </p:txBody>
      </p:sp>
      <p:sp>
        <p:nvSpPr>
          <p:cNvPr id="21" name="Text 19"/>
          <p:cNvSpPr/>
          <p:nvPr/>
        </p:nvSpPr>
        <p:spPr>
          <a:xfrm>
            <a:off x="6144768" y="1920240"/>
            <a:ext cx="2560320" cy="2651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Satisfaire à une condition d'honorabilité :</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Bulletin n°2 du casier judiciaire vierge des mentions incompatibles</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Vérification à chaque renouvellement de la carte</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PSC1 obligatoire pour les TAXIS uniquement</a:t>
            </a:r>
            <a:endParaRPr lang="en-US" sz="1000" dirty="0"/>
          </a:p>
        </p:txBody>
      </p:sp>
      <p:sp>
        <p:nvSpPr>
          <p:cNvPr id="22" name="Shape 20"/>
          <p:cNvSpPr/>
          <p:nvPr/>
        </p:nvSpPr>
        <p:spPr>
          <a:xfrm>
            <a:off x="274320" y="4663440"/>
            <a:ext cx="8595360" cy="384048"/>
          </a:xfrm>
          <a:prstGeom prst="rect">
            <a:avLst/>
          </a:prstGeom>
          <a:solidFill>
            <a:srgbClr val="FFFBEB"/>
          </a:solidFill>
          <a:ln w="19050">
            <a:solidFill>
              <a:srgbClr val="F4A227"/>
            </a:solidFill>
            <a:prstDash val="solid"/>
          </a:ln>
        </p:spPr>
        <p:txBody>
          <a:bodyPr/>
          <a:lstStyle/>
          <a:p>
            <a:endParaRPr lang="fr-FR"/>
          </a:p>
        </p:txBody>
      </p:sp>
      <p:sp>
        <p:nvSpPr>
          <p:cNvPr id="23" name="Shape 21"/>
          <p:cNvSpPr/>
          <p:nvPr/>
        </p:nvSpPr>
        <p:spPr>
          <a:xfrm>
            <a:off x="274320" y="4663440"/>
            <a:ext cx="54864" cy="384048"/>
          </a:xfrm>
          <a:prstGeom prst="rect">
            <a:avLst/>
          </a:prstGeom>
          <a:solidFill>
            <a:srgbClr val="F4A227"/>
          </a:solidFill>
          <a:ln w="12700">
            <a:solidFill>
              <a:srgbClr val="F4A227"/>
            </a:solidFill>
            <a:prstDash val="solid"/>
          </a:ln>
        </p:spPr>
        <p:txBody>
          <a:bodyPr/>
          <a:lstStyle/>
          <a:p>
            <a:endParaRPr lang="fr-FR"/>
          </a:p>
        </p:txBody>
      </p:sp>
      <p:sp>
        <p:nvSpPr>
          <p:cNvPr id="24" name="Text 22"/>
          <p:cNvSpPr/>
          <p:nvPr/>
        </p:nvSpPr>
        <p:spPr>
          <a:xfrm>
            <a:off x="384048" y="4663440"/>
            <a:ext cx="8467344" cy="38404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L'autorité administrative remet la carte dans un délai max de 3 mois. Le conducteur restitue sa carte s'il cesse définitivement son activité.</a:t>
            </a:r>
            <a:endParaRPr lang="en-US" sz="1000" dirty="0"/>
          </a:p>
        </p:txBody>
      </p:sp>
      <p:sp>
        <p:nvSpPr>
          <p:cNvPr id="25" name="Rectangle 2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26" name="Rectangle 2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8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7 — La perte de points du permis de conduire</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53/88</a:t>
            </a:r>
            <a:endParaRPr lang="en-US" sz="800" dirty="0"/>
          </a:p>
        </p:txBody>
      </p:sp>
      <p:sp>
        <p:nvSpPr>
          <p:cNvPr id="8" name="Shape 6"/>
          <p:cNvSpPr/>
          <p:nvPr/>
        </p:nvSpPr>
        <p:spPr>
          <a:xfrm>
            <a:off x="274320" y="914400"/>
            <a:ext cx="8595360" cy="384048"/>
          </a:xfrm>
          <a:prstGeom prst="rect">
            <a:avLst/>
          </a:prstGeom>
          <a:solidFill>
            <a:srgbClr val="C0392B"/>
          </a:solidFill>
          <a:ln w="12700">
            <a:solidFill>
              <a:srgbClr val="C0392B"/>
            </a:solidFill>
            <a:prstDash val="solid"/>
          </a:ln>
        </p:spPr>
        <p:txBody>
          <a:bodyPr/>
          <a:lstStyle/>
          <a:p>
            <a:endParaRPr lang="fr-FR"/>
          </a:p>
        </p:txBody>
      </p:sp>
      <p:sp>
        <p:nvSpPr>
          <p:cNvPr id="9" name="Text 7"/>
          <p:cNvSpPr/>
          <p:nvPr/>
        </p:nvSpPr>
        <p:spPr>
          <a:xfrm>
            <a:off x="274320" y="914400"/>
            <a:ext cx="8595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 PERTE DE 6 POINTS SUR LE PERMIS — Contraventions et délits</a:t>
            </a:r>
            <a:endParaRPr lang="en-US" sz="1200" dirty="0"/>
          </a:p>
        </p:txBody>
      </p:sp>
      <p:sp>
        <p:nvSpPr>
          <p:cNvPr id="10" name="Shape 8"/>
          <p:cNvSpPr/>
          <p:nvPr/>
        </p:nvSpPr>
        <p:spPr>
          <a:xfrm>
            <a:off x="274320" y="1389888"/>
            <a:ext cx="4160520" cy="320040"/>
          </a:xfrm>
          <a:prstGeom prst="rect">
            <a:avLst/>
          </a:prstGeom>
          <a:solidFill>
            <a:srgbClr val="D4530A"/>
          </a:solidFill>
          <a:ln w="12700">
            <a:solidFill>
              <a:srgbClr val="D4530A"/>
            </a:solidFill>
            <a:prstDash val="solid"/>
          </a:ln>
        </p:spPr>
        <p:txBody>
          <a:bodyPr/>
          <a:lstStyle/>
          <a:p>
            <a:endParaRPr lang="fr-FR"/>
          </a:p>
        </p:txBody>
      </p:sp>
      <p:sp>
        <p:nvSpPr>
          <p:cNvPr id="11" name="Text 9"/>
          <p:cNvSpPr/>
          <p:nvPr/>
        </p:nvSpPr>
        <p:spPr>
          <a:xfrm>
            <a:off x="274320" y="138988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CONTRAVENTIONS — 6 points retirés</a:t>
            </a:r>
            <a:endParaRPr lang="en-US" sz="1000" dirty="0"/>
          </a:p>
        </p:txBody>
      </p:sp>
      <p:sp>
        <p:nvSpPr>
          <p:cNvPr id="12" name="Shape 10"/>
          <p:cNvSpPr/>
          <p:nvPr/>
        </p:nvSpPr>
        <p:spPr>
          <a:xfrm>
            <a:off x="274320" y="1755648"/>
            <a:ext cx="4160520" cy="548640"/>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274320" y="1755648"/>
            <a:ext cx="457200" cy="548640"/>
          </a:xfrm>
          <a:prstGeom prst="rect">
            <a:avLst/>
          </a:prstGeom>
          <a:solidFill>
            <a:srgbClr val="D4530A"/>
          </a:solidFill>
          <a:ln w="12700">
            <a:solidFill>
              <a:srgbClr val="D4530A"/>
            </a:solidFill>
            <a:prstDash val="solid"/>
          </a:ln>
        </p:spPr>
        <p:txBody>
          <a:bodyPr/>
          <a:lstStyle/>
          <a:p>
            <a:endParaRPr lang="fr-FR"/>
          </a:p>
        </p:txBody>
      </p:sp>
      <p:sp>
        <p:nvSpPr>
          <p:cNvPr id="14" name="Text 12"/>
          <p:cNvSpPr/>
          <p:nvPr/>
        </p:nvSpPr>
        <p:spPr>
          <a:xfrm>
            <a:off x="274320" y="1755648"/>
            <a:ext cx="457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5" name="Text 13"/>
          <p:cNvSpPr/>
          <p:nvPr/>
        </p:nvSpPr>
        <p:spPr>
          <a:xfrm>
            <a:off x="804672" y="1773936"/>
            <a:ext cx="3566160" cy="47548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Alcool au volant : 0,25 à 0,4 mg/l d'air</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(soit 0,5 à 0,8 g/l de sang)</a:t>
            </a:r>
            <a:endParaRPr lang="en-US" sz="1000" dirty="0"/>
          </a:p>
        </p:txBody>
      </p:sp>
      <p:sp>
        <p:nvSpPr>
          <p:cNvPr id="16" name="Shape 14"/>
          <p:cNvSpPr/>
          <p:nvPr/>
        </p:nvSpPr>
        <p:spPr>
          <a:xfrm>
            <a:off x="274320" y="2350008"/>
            <a:ext cx="4160520" cy="548640"/>
          </a:xfrm>
          <a:prstGeom prst="rect">
            <a:avLst/>
          </a:prstGeom>
          <a:solidFill>
            <a:srgbClr val="FFFFFF"/>
          </a:solidFill>
          <a:ln w="6350">
            <a:solidFill>
              <a:srgbClr val="D0DCE8"/>
            </a:solidFill>
            <a:prstDash val="solid"/>
          </a:ln>
        </p:spPr>
        <p:txBody>
          <a:bodyPr/>
          <a:lstStyle/>
          <a:p>
            <a:endParaRPr lang="fr-FR"/>
          </a:p>
        </p:txBody>
      </p:sp>
      <p:sp>
        <p:nvSpPr>
          <p:cNvPr id="17" name="Shape 15"/>
          <p:cNvSpPr/>
          <p:nvPr/>
        </p:nvSpPr>
        <p:spPr>
          <a:xfrm>
            <a:off x="274320" y="2350008"/>
            <a:ext cx="457200" cy="548640"/>
          </a:xfrm>
          <a:prstGeom prst="rect">
            <a:avLst/>
          </a:prstGeom>
          <a:solidFill>
            <a:srgbClr val="D4530A"/>
          </a:solidFill>
          <a:ln w="12700">
            <a:solidFill>
              <a:srgbClr val="D4530A"/>
            </a:solidFill>
            <a:prstDash val="solid"/>
          </a:ln>
        </p:spPr>
        <p:txBody>
          <a:bodyPr/>
          <a:lstStyle/>
          <a:p>
            <a:endParaRPr lang="fr-FR"/>
          </a:p>
        </p:txBody>
      </p:sp>
      <p:sp>
        <p:nvSpPr>
          <p:cNvPr id="18" name="Text 16"/>
          <p:cNvSpPr/>
          <p:nvPr/>
        </p:nvSpPr>
        <p:spPr>
          <a:xfrm>
            <a:off x="274320" y="2350008"/>
            <a:ext cx="457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9" name="Text 17"/>
          <p:cNvSpPr/>
          <p:nvPr/>
        </p:nvSpPr>
        <p:spPr>
          <a:xfrm>
            <a:off x="804672" y="2368296"/>
            <a:ext cx="3566160" cy="47548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Excès de vitesse &gt; 50 km/h</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(radar automatique ou radar mobile)</a:t>
            </a:r>
            <a:endParaRPr lang="en-US" sz="1000" dirty="0"/>
          </a:p>
        </p:txBody>
      </p:sp>
      <p:sp>
        <p:nvSpPr>
          <p:cNvPr id="20" name="Shape 18"/>
          <p:cNvSpPr/>
          <p:nvPr/>
        </p:nvSpPr>
        <p:spPr>
          <a:xfrm>
            <a:off x="274320" y="2944368"/>
            <a:ext cx="4160520" cy="548640"/>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274320" y="2944368"/>
            <a:ext cx="457200" cy="548640"/>
          </a:xfrm>
          <a:prstGeom prst="rect">
            <a:avLst/>
          </a:prstGeom>
          <a:solidFill>
            <a:srgbClr val="D4530A"/>
          </a:solidFill>
          <a:ln w="12700">
            <a:solidFill>
              <a:srgbClr val="D4530A"/>
            </a:solidFill>
            <a:prstDash val="solid"/>
          </a:ln>
        </p:spPr>
        <p:txBody>
          <a:bodyPr/>
          <a:lstStyle/>
          <a:p>
            <a:endParaRPr lang="fr-FR"/>
          </a:p>
        </p:txBody>
      </p:sp>
      <p:sp>
        <p:nvSpPr>
          <p:cNvPr id="22" name="Text 20"/>
          <p:cNvSpPr/>
          <p:nvPr/>
        </p:nvSpPr>
        <p:spPr>
          <a:xfrm>
            <a:off x="274320" y="2944368"/>
            <a:ext cx="457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804672" y="2962656"/>
            <a:ext cx="3566160" cy="47548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Utilisation d'un détecteur de radar</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ou d'un système anti-radar</a:t>
            </a:r>
            <a:endParaRPr lang="en-US" sz="1000" dirty="0"/>
          </a:p>
        </p:txBody>
      </p:sp>
      <p:sp>
        <p:nvSpPr>
          <p:cNvPr id="24" name="Shape 22"/>
          <p:cNvSpPr/>
          <p:nvPr/>
        </p:nvSpPr>
        <p:spPr>
          <a:xfrm>
            <a:off x="4709160" y="1389888"/>
            <a:ext cx="4160520" cy="320040"/>
          </a:xfrm>
          <a:prstGeom prst="rect">
            <a:avLst/>
          </a:prstGeom>
          <a:solidFill>
            <a:srgbClr val="8B0000"/>
          </a:solidFill>
          <a:ln w="12700">
            <a:solidFill>
              <a:srgbClr val="8B0000"/>
            </a:solidFill>
            <a:prstDash val="solid"/>
          </a:ln>
        </p:spPr>
        <p:txBody>
          <a:bodyPr/>
          <a:lstStyle/>
          <a:p>
            <a:endParaRPr lang="fr-FR"/>
          </a:p>
        </p:txBody>
      </p:sp>
      <p:sp>
        <p:nvSpPr>
          <p:cNvPr id="25" name="Text 23"/>
          <p:cNvSpPr/>
          <p:nvPr/>
        </p:nvSpPr>
        <p:spPr>
          <a:xfrm>
            <a:off x="4709160" y="138988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DÉLITS — 6 points retirés</a:t>
            </a:r>
            <a:endParaRPr lang="en-US" sz="1000" dirty="0"/>
          </a:p>
        </p:txBody>
      </p:sp>
      <p:sp>
        <p:nvSpPr>
          <p:cNvPr id="26" name="Shape 24"/>
          <p:cNvSpPr/>
          <p:nvPr/>
        </p:nvSpPr>
        <p:spPr>
          <a:xfrm>
            <a:off x="4709160" y="1755648"/>
            <a:ext cx="4160520" cy="310896"/>
          </a:xfrm>
          <a:prstGeom prst="rect">
            <a:avLst/>
          </a:prstGeom>
          <a:solidFill>
            <a:srgbClr val="E8F1FA"/>
          </a:solidFill>
          <a:ln w="6350">
            <a:solidFill>
              <a:srgbClr val="D0DCE8"/>
            </a:solidFill>
            <a:prstDash val="solid"/>
          </a:ln>
        </p:spPr>
        <p:txBody>
          <a:bodyPr/>
          <a:lstStyle/>
          <a:p>
            <a:endParaRPr lang="fr-FR"/>
          </a:p>
        </p:txBody>
      </p:sp>
      <p:sp>
        <p:nvSpPr>
          <p:cNvPr id="27" name="Shape 25"/>
          <p:cNvSpPr/>
          <p:nvPr/>
        </p:nvSpPr>
        <p:spPr>
          <a:xfrm>
            <a:off x="4709160" y="1755648"/>
            <a:ext cx="320040" cy="310896"/>
          </a:xfrm>
          <a:prstGeom prst="rect">
            <a:avLst/>
          </a:prstGeom>
          <a:solidFill>
            <a:srgbClr val="8B0000"/>
          </a:solidFill>
          <a:ln w="12700">
            <a:solidFill>
              <a:srgbClr val="8B0000"/>
            </a:solidFill>
            <a:prstDash val="solid"/>
          </a:ln>
        </p:spPr>
        <p:txBody>
          <a:bodyPr/>
          <a:lstStyle/>
          <a:p>
            <a:endParaRPr lang="fr-FR"/>
          </a:p>
        </p:txBody>
      </p:sp>
      <p:sp>
        <p:nvSpPr>
          <p:cNvPr id="28" name="Text 26"/>
          <p:cNvSpPr/>
          <p:nvPr/>
        </p:nvSpPr>
        <p:spPr>
          <a:xfrm>
            <a:off x="4709160" y="1755648"/>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9" name="Text 27"/>
          <p:cNvSpPr/>
          <p:nvPr/>
        </p:nvSpPr>
        <p:spPr>
          <a:xfrm>
            <a:off x="5084064" y="1773936"/>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Alcool ≥ 0,40 mg/l d'air (≥ 0,8 g/l de sang)</a:t>
            </a:r>
            <a:endParaRPr lang="en-US" sz="900" dirty="0"/>
          </a:p>
        </p:txBody>
      </p:sp>
      <p:sp>
        <p:nvSpPr>
          <p:cNvPr id="30" name="Shape 28"/>
          <p:cNvSpPr/>
          <p:nvPr/>
        </p:nvSpPr>
        <p:spPr>
          <a:xfrm>
            <a:off x="4709160" y="2103120"/>
            <a:ext cx="4160520" cy="310896"/>
          </a:xfrm>
          <a:prstGeom prst="rect">
            <a:avLst/>
          </a:prstGeom>
          <a:solidFill>
            <a:srgbClr val="FFFFFF"/>
          </a:solidFill>
          <a:ln w="6350">
            <a:solidFill>
              <a:srgbClr val="D0DCE8"/>
            </a:solidFill>
            <a:prstDash val="solid"/>
          </a:ln>
        </p:spPr>
        <p:txBody>
          <a:bodyPr/>
          <a:lstStyle/>
          <a:p>
            <a:endParaRPr lang="fr-FR"/>
          </a:p>
        </p:txBody>
      </p:sp>
      <p:sp>
        <p:nvSpPr>
          <p:cNvPr id="31" name="Shape 29"/>
          <p:cNvSpPr/>
          <p:nvPr/>
        </p:nvSpPr>
        <p:spPr>
          <a:xfrm>
            <a:off x="4709160" y="2103120"/>
            <a:ext cx="320040" cy="310896"/>
          </a:xfrm>
          <a:prstGeom prst="rect">
            <a:avLst/>
          </a:prstGeom>
          <a:solidFill>
            <a:srgbClr val="8B0000"/>
          </a:solidFill>
          <a:ln w="12700">
            <a:solidFill>
              <a:srgbClr val="8B0000"/>
            </a:solidFill>
            <a:prstDash val="solid"/>
          </a:ln>
        </p:spPr>
        <p:txBody>
          <a:bodyPr/>
          <a:lstStyle/>
          <a:p>
            <a:endParaRPr lang="fr-FR"/>
          </a:p>
        </p:txBody>
      </p:sp>
      <p:sp>
        <p:nvSpPr>
          <p:cNvPr id="32" name="Text 30"/>
          <p:cNvSpPr/>
          <p:nvPr/>
        </p:nvSpPr>
        <p:spPr>
          <a:xfrm>
            <a:off x="4709160" y="2103120"/>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33" name="Text 31"/>
          <p:cNvSpPr/>
          <p:nvPr/>
        </p:nvSpPr>
        <p:spPr>
          <a:xfrm>
            <a:off x="5084064" y="2121408"/>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en état d'ivresse manifeste</a:t>
            </a:r>
            <a:endParaRPr lang="en-US" sz="900" dirty="0"/>
          </a:p>
        </p:txBody>
      </p:sp>
      <p:sp>
        <p:nvSpPr>
          <p:cNvPr id="34" name="Shape 32"/>
          <p:cNvSpPr/>
          <p:nvPr/>
        </p:nvSpPr>
        <p:spPr>
          <a:xfrm>
            <a:off x="4709160" y="2450592"/>
            <a:ext cx="4160520" cy="310896"/>
          </a:xfrm>
          <a:prstGeom prst="rect">
            <a:avLst/>
          </a:prstGeom>
          <a:solidFill>
            <a:srgbClr val="E8F1FA"/>
          </a:solidFill>
          <a:ln w="6350">
            <a:solidFill>
              <a:srgbClr val="D0DCE8"/>
            </a:solidFill>
            <a:prstDash val="solid"/>
          </a:ln>
        </p:spPr>
        <p:txBody>
          <a:bodyPr/>
          <a:lstStyle/>
          <a:p>
            <a:endParaRPr lang="fr-FR"/>
          </a:p>
        </p:txBody>
      </p:sp>
      <p:sp>
        <p:nvSpPr>
          <p:cNvPr id="35" name="Shape 33"/>
          <p:cNvSpPr/>
          <p:nvPr/>
        </p:nvSpPr>
        <p:spPr>
          <a:xfrm>
            <a:off x="4709160" y="2450592"/>
            <a:ext cx="320040" cy="310896"/>
          </a:xfrm>
          <a:prstGeom prst="rect">
            <a:avLst/>
          </a:prstGeom>
          <a:solidFill>
            <a:srgbClr val="8B0000"/>
          </a:solidFill>
          <a:ln w="12700">
            <a:solidFill>
              <a:srgbClr val="8B0000"/>
            </a:solidFill>
            <a:prstDash val="solid"/>
          </a:ln>
        </p:spPr>
        <p:txBody>
          <a:bodyPr/>
          <a:lstStyle/>
          <a:p>
            <a:endParaRPr lang="fr-FR"/>
          </a:p>
        </p:txBody>
      </p:sp>
      <p:sp>
        <p:nvSpPr>
          <p:cNvPr id="36" name="Text 34"/>
          <p:cNvSpPr/>
          <p:nvPr/>
        </p:nvSpPr>
        <p:spPr>
          <a:xfrm>
            <a:off x="4709160" y="2450592"/>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37" name="Text 35"/>
          <p:cNvSpPr/>
          <p:nvPr/>
        </p:nvSpPr>
        <p:spPr>
          <a:xfrm>
            <a:off x="5084064" y="2468880"/>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après consommation de stupéfiants</a:t>
            </a:r>
            <a:endParaRPr lang="en-US" sz="900" dirty="0"/>
          </a:p>
        </p:txBody>
      </p:sp>
      <p:sp>
        <p:nvSpPr>
          <p:cNvPr id="38" name="Shape 36"/>
          <p:cNvSpPr/>
          <p:nvPr/>
        </p:nvSpPr>
        <p:spPr>
          <a:xfrm>
            <a:off x="4709160" y="2798064"/>
            <a:ext cx="4160520" cy="310896"/>
          </a:xfrm>
          <a:prstGeom prst="rect">
            <a:avLst/>
          </a:prstGeom>
          <a:solidFill>
            <a:srgbClr val="FFFFFF"/>
          </a:solidFill>
          <a:ln w="6350">
            <a:solidFill>
              <a:srgbClr val="D0DCE8"/>
            </a:solidFill>
            <a:prstDash val="solid"/>
          </a:ln>
        </p:spPr>
        <p:txBody>
          <a:bodyPr/>
          <a:lstStyle/>
          <a:p>
            <a:endParaRPr lang="fr-FR"/>
          </a:p>
        </p:txBody>
      </p:sp>
      <p:sp>
        <p:nvSpPr>
          <p:cNvPr id="39" name="Shape 37"/>
          <p:cNvSpPr/>
          <p:nvPr/>
        </p:nvSpPr>
        <p:spPr>
          <a:xfrm>
            <a:off x="4709160" y="2798064"/>
            <a:ext cx="320040" cy="310896"/>
          </a:xfrm>
          <a:prstGeom prst="rect">
            <a:avLst/>
          </a:prstGeom>
          <a:solidFill>
            <a:srgbClr val="8B0000"/>
          </a:solidFill>
          <a:ln w="12700">
            <a:solidFill>
              <a:srgbClr val="8B0000"/>
            </a:solidFill>
            <a:prstDash val="solid"/>
          </a:ln>
        </p:spPr>
        <p:txBody>
          <a:bodyPr/>
          <a:lstStyle/>
          <a:p>
            <a:endParaRPr lang="fr-FR"/>
          </a:p>
        </p:txBody>
      </p:sp>
      <p:sp>
        <p:nvSpPr>
          <p:cNvPr id="40" name="Text 38"/>
          <p:cNvSpPr/>
          <p:nvPr/>
        </p:nvSpPr>
        <p:spPr>
          <a:xfrm>
            <a:off x="4709160" y="2798064"/>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1" name="Text 39"/>
          <p:cNvSpPr/>
          <p:nvPr/>
        </p:nvSpPr>
        <p:spPr>
          <a:xfrm>
            <a:off x="5084064" y="2816352"/>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Refus de se soumettre aux tests de dépistage</a:t>
            </a:r>
            <a:endParaRPr lang="en-US" sz="900" dirty="0"/>
          </a:p>
        </p:txBody>
      </p:sp>
      <p:sp>
        <p:nvSpPr>
          <p:cNvPr id="42" name="Shape 40"/>
          <p:cNvSpPr/>
          <p:nvPr/>
        </p:nvSpPr>
        <p:spPr>
          <a:xfrm>
            <a:off x="4709160" y="3145536"/>
            <a:ext cx="4160520" cy="310896"/>
          </a:xfrm>
          <a:prstGeom prst="rect">
            <a:avLst/>
          </a:prstGeom>
          <a:solidFill>
            <a:srgbClr val="E8F1FA"/>
          </a:solidFill>
          <a:ln w="6350">
            <a:solidFill>
              <a:srgbClr val="D0DCE8"/>
            </a:solidFill>
            <a:prstDash val="solid"/>
          </a:ln>
        </p:spPr>
        <p:txBody>
          <a:bodyPr/>
          <a:lstStyle/>
          <a:p>
            <a:endParaRPr lang="fr-FR"/>
          </a:p>
        </p:txBody>
      </p:sp>
      <p:sp>
        <p:nvSpPr>
          <p:cNvPr id="43" name="Shape 41"/>
          <p:cNvSpPr/>
          <p:nvPr/>
        </p:nvSpPr>
        <p:spPr>
          <a:xfrm>
            <a:off x="4709160" y="3145536"/>
            <a:ext cx="320040" cy="310896"/>
          </a:xfrm>
          <a:prstGeom prst="rect">
            <a:avLst/>
          </a:prstGeom>
          <a:solidFill>
            <a:srgbClr val="8B0000"/>
          </a:solidFill>
          <a:ln w="12700">
            <a:solidFill>
              <a:srgbClr val="8B0000"/>
            </a:solidFill>
            <a:prstDash val="solid"/>
          </a:ln>
        </p:spPr>
        <p:txBody>
          <a:bodyPr/>
          <a:lstStyle/>
          <a:p>
            <a:endParaRPr lang="fr-FR"/>
          </a:p>
        </p:txBody>
      </p:sp>
      <p:sp>
        <p:nvSpPr>
          <p:cNvPr id="44" name="Text 42"/>
          <p:cNvSpPr/>
          <p:nvPr/>
        </p:nvSpPr>
        <p:spPr>
          <a:xfrm>
            <a:off x="4709160" y="3145536"/>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5084064" y="3163824"/>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Homicide ou blessures involontaires (ITT)</a:t>
            </a:r>
            <a:endParaRPr lang="en-US" sz="900" dirty="0"/>
          </a:p>
        </p:txBody>
      </p:sp>
      <p:sp>
        <p:nvSpPr>
          <p:cNvPr id="46" name="Shape 44"/>
          <p:cNvSpPr/>
          <p:nvPr/>
        </p:nvSpPr>
        <p:spPr>
          <a:xfrm>
            <a:off x="4709160" y="3493008"/>
            <a:ext cx="4160520" cy="310896"/>
          </a:xfrm>
          <a:prstGeom prst="rect">
            <a:avLst/>
          </a:prstGeom>
          <a:solidFill>
            <a:srgbClr val="FFFFFF"/>
          </a:solidFill>
          <a:ln w="6350">
            <a:solidFill>
              <a:srgbClr val="D0DCE8"/>
            </a:solidFill>
            <a:prstDash val="solid"/>
          </a:ln>
        </p:spPr>
        <p:txBody>
          <a:bodyPr/>
          <a:lstStyle/>
          <a:p>
            <a:endParaRPr lang="fr-FR"/>
          </a:p>
        </p:txBody>
      </p:sp>
      <p:sp>
        <p:nvSpPr>
          <p:cNvPr id="47" name="Shape 45"/>
          <p:cNvSpPr/>
          <p:nvPr/>
        </p:nvSpPr>
        <p:spPr>
          <a:xfrm>
            <a:off x="4709160" y="3493008"/>
            <a:ext cx="320040" cy="310896"/>
          </a:xfrm>
          <a:prstGeom prst="rect">
            <a:avLst/>
          </a:prstGeom>
          <a:solidFill>
            <a:srgbClr val="8B0000"/>
          </a:solidFill>
          <a:ln w="12700">
            <a:solidFill>
              <a:srgbClr val="8B0000"/>
            </a:solidFill>
            <a:prstDash val="solid"/>
          </a:ln>
        </p:spPr>
        <p:txBody>
          <a:bodyPr/>
          <a:lstStyle/>
          <a:p>
            <a:endParaRPr lang="fr-FR"/>
          </a:p>
        </p:txBody>
      </p:sp>
      <p:sp>
        <p:nvSpPr>
          <p:cNvPr id="48" name="Text 46"/>
          <p:cNvSpPr/>
          <p:nvPr/>
        </p:nvSpPr>
        <p:spPr>
          <a:xfrm>
            <a:off x="4709160" y="3493008"/>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9" name="Text 47"/>
          <p:cNvSpPr/>
          <p:nvPr/>
        </p:nvSpPr>
        <p:spPr>
          <a:xfrm>
            <a:off x="5084064" y="3511296"/>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Délit de fuite après un accident</a:t>
            </a:r>
            <a:endParaRPr lang="en-US" sz="900" dirty="0"/>
          </a:p>
        </p:txBody>
      </p:sp>
      <p:sp>
        <p:nvSpPr>
          <p:cNvPr id="50" name="Shape 48"/>
          <p:cNvSpPr/>
          <p:nvPr/>
        </p:nvSpPr>
        <p:spPr>
          <a:xfrm>
            <a:off x="4709160" y="3840480"/>
            <a:ext cx="4160520" cy="310896"/>
          </a:xfrm>
          <a:prstGeom prst="rect">
            <a:avLst/>
          </a:prstGeom>
          <a:solidFill>
            <a:srgbClr val="E8F1FA"/>
          </a:solidFill>
          <a:ln w="6350">
            <a:solidFill>
              <a:srgbClr val="D0DCE8"/>
            </a:solidFill>
            <a:prstDash val="solid"/>
          </a:ln>
        </p:spPr>
        <p:txBody>
          <a:bodyPr/>
          <a:lstStyle/>
          <a:p>
            <a:endParaRPr lang="fr-FR"/>
          </a:p>
        </p:txBody>
      </p:sp>
      <p:sp>
        <p:nvSpPr>
          <p:cNvPr id="51" name="Shape 49"/>
          <p:cNvSpPr/>
          <p:nvPr/>
        </p:nvSpPr>
        <p:spPr>
          <a:xfrm>
            <a:off x="4709160" y="3840480"/>
            <a:ext cx="320040" cy="310896"/>
          </a:xfrm>
          <a:prstGeom prst="rect">
            <a:avLst/>
          </a:prstGeom>
          <a:solidFill>
            <a:srgbClr val="8B0000"/>
          </a:solidFill>
          <a:ln w="12700">
            <a:solidFill>
              <a:srgbClr val="8B0000"/>
            </a:solidFill>
            <a:prstDash val="solid"/>
          </a:ln>
        </p:spPr>
        <p:txBody>
          <a:bodyPr/>
          <a:lstStyle/>
          <a:p>
            <a:endParaRPr lang="fr-FR"/>
          </a:p>
        </p:txBody>
      </p:sp>
      <p:sp>
        <p:nvSpPr>
          <p:cNvPr id="52" name="Text 50"/>
          <p:cNvSpPr/>
          <p:nvPr/>
        </p:nvSpPr>
        <p:spPr>
          <a:xfrm>
            <a:off x="4709160" y="3840480"/>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3" name="Text 51"/>
          <p:cNvSpPr/>
          <p:nvPr/>
        </p:nvSpPr>
        <p:spPr>
          <a:xfrm>
            <a:off x="5084064" y="3858768"/>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Refus d'obtempérer / de s'immobiliser</a:t>
            </a:r>
            <a:endParaRPr lang="en-US" sz="900" dirty="0"/>
          </a:p>
        </p:txBody>
      </p:sp>
      <p:sp>
        <p:nvSpPr>
          <p:cNvPr id="54" name="Shape 52"/>
          <p:cNvSpPr/>
          <p:nvPr/>
        </p:nvSpPr>
        <p:spPr>
          <a:xfrm>
            <a:off x="4709160" y="4187952"/>
            <a:ext cx="4160520" cy="310896"/>
          </a:xfrm>
          <a:prstGeom prst="rect">
            <a:avLst/>
          </a:prstGeom>
          <a:solidFill>
            <a:srgbClr val="FFFFFF"/>
          </a:solidFill>
          <a:ln w="6350">
            <a:solidFill>
              <a:srgbClr val="D0DCE8"/>
            </a:solidFill>
            <a:prstDash val="solid"/>
          </a:ln>
        </p:spPr>
        <p:txBody>
          <a:bodyPr/>
          <a:lstStyle/>
          <a:p>
            <a:endParaRPr lang="fr-FR"/>
          </a:p>
        </p:txBody>
      </p:sp>
      <p:sp>
        <p:nvSpPr>
          <p:cNvPr id="55" name="Shape 53"/>
          <p:cNvSpPr/>
          <p:nvPr/>
        </p:nvSpPr>
        <p:spPr>
          <a:xfrm>
            <a:off x="4709160" y="4187952"/>
            <a:ext cx="320040" cy="310896"/>
          </a:xfrm>
          <a:prstGeom prst="rect">
            <a:avLst/>
          </a:prstGeom>
          <a:solidFill>
            <a:srgbClr val="8B0000"/>
          </a:solidFill>
          <a:ln w="12700">
            <a:solidFill>
              <a:srgbClr val="8B0000"/>
            </a:solidFill>
            <a:prstDash val="solid"/>
          </a:ln>
        </p:spPr>
        <p:txBody>
          <a:bodyPr/>
          <a:lstStyle/>
          <a:p>
            <a:endParaRPr lang="fr-FR"/>
          </a:p>
        </p:txBody>
      </p:sp>
      <p:sp>
        <p:nvSpPr>
          <p:cNvPr id="56" name="Text 54"/>
          <p:cNvSpPr/>
          <p:nvPr/>
        </p:nvSpPr>
        <p:spPr>
          <a:xfrm>
            <a:off x="4709160" y="4187952"/>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7" name="Text 55"/>
          <p:cNvSpPr/>
          <p:nvPr/>
        </p:nvSpPr>
        <p:spPr>
          <a:xfrm>
            <a:off x="5084064" y="4206240"/>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Usage de fausses plaques ou fausses déclarations</a:t>
            </a:r>
            <a:endParaRPr lang="en-US" sz="900" dirty="0"/>
          </a:p>
        </p:txBody>
      </p:sp>
      <p:sp>
        <p:nvSpPr>
          <p:cNvPr id="58" name="Shape 56"/>
          <p:cNvSpPr/>
          <p:nvPr/>
        </p:nvSpPr>
        <p:spPr>
          <a:xfrm>
            <a:off x="4709160" y="4535424"/>
            <a:ext cx="4160520" cy="310896"/>
          </a:xfrm>
          <a:prstGeom prst="rect">
            <a:avLst/>
          </a:prstGeom>
          <a:solidFill>
            <a:srgbClr val="E8F1FA"/>
          </a:solidFill>
          <a:ln w="6350">
            <a:solidFill>
              <a:srgbClr val="D0DCE8"/>
            </a:solidFill>
            <a:prstDash val="solid"/>
          </a:ln>
        </p:spPr>
        <p:txBody>
          <a:bodyPr/>
          <a:lstStyle/>
          <a:p>
            <a:endParaRPr lang="fr-FR"/>
          </a:p>
        </p:txBody>
      </p:sp>
      <p:sp>
        <p:nvSpPr>
          <p:cNvPr id="59" name="Shape 57"/>
          <p:cNvSpPr/>
          <p:nvPr/>
        </p:nvSpPr>
        <p:spPr>
          <a:xfrm>
            <a:off x="4709160" y="4535424"/>
            <a:ext cx="320040" cy="310896"/>
          </a:xfrm>
          <a:prstGeom prst="rect">
            <a:avLst/>
          </a:prstGeom>
          <a:solidFill>
            <a:srgbClr val="8B0000"/>
          </a:solidFill>
          <a:ln w="12700">
            <a:solidFill>
              <a:srgbClr val="8B0000"/>
            </a:solidFill>
            <a:prstDash val="solid"/>
          </a:ln>
        </p:spPr>
        <p:txBody>
          <a:bodyPr/>
          <a:lstStyle/>
          <a:p>
            <a:endParaRPr lang="fr-FR"/>
          </a:p>
        </p:txBody>
      </p:sp>
      <p:sp>
        <p:nvSpPr>
          <p:cNvPr id="60" name="Text 58"/>
          <p:cNvSpPr/>
          <p:nvPr/>
        </p:nvSpPr>
        <p:spPr>
          <a:xfrm>
            <a:off x="4709160" y="4535424"/>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61" name="Text 59"/>
          <p:cNvSpPr/>
          <p:nvPr/>
        </p:nvSpPr>
        <p:spPr>
          <a:xfrm>
            <a:off x="5084064" y="4553712"/>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malgré retrait, suspension ou annulation du permis</a:t>
            </a:r>
            <a:endParaRPr lang="en-US" sz="900" dirty="0"/>
          </a:p>
        </p:txBody>
      </p:sp>
      <p:sp>
        <p:nvSpPr>
          <p:cNvPr id="62" name="Rectangle 6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63" name="Rectangle 6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8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7b — Mentions du B2 incompatibles avec l'exercice du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54/88</a:t>
            </a:r>
            <a:endParaRPr lang="en-US" sz="800" dirty="0"/>
          </a:p>
        </p:txBody>
      </p:sp>
      <p:sp>
        <p:nvSpPr>
          <p:cNvPr id="8" name="Shape 6"/>
          <p:cNvSpPr/>
          <p:nvPr/>
        </p:nvSpPr>
        <p:spPr>
          <a:xfrm>
            <a:off x="274320" y="914400"/>
            <a:ext cx="8595360" cy="384048"/>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BULLETIN n°2 DU CASIER JUDICIAIRE — Mentions bloquantes</a:t>
            </a:r>
            <a:endParaRPr lang="en-US" sz="1200" dirty="0"/>
          </a:p>
        </p:txBody>
      </p:sp>
      <p:sp>
        <p:nvSpPr>
          <p:cNvPr id="10" name="Shape 8"/>
          <p:cNvSpPr/>
          <p:nvPr/>
        </p:nvSpPr>
        <p:spPr>
          <a:xfrm>
            <a:off x="274320" y="1389888"/>
            <a:ext cx="8595360" cy="292608"/>
          </a:xfrm>
          <a:prstGeom prst="rect">
            <a:avLst/>
          </a:prstGeom>
          <a:solidFill>
            <a:srgbClr val="1A3A5C"/>
          </a:solidFill>
          <a:ln w="12700">
            <a:solidFill>
              <a:srgbClr val="1A3A5C"/>
            </a:solidFill>
            <a:prstDash val="solid"/>
          </a:ln>
        </p:spPr>
        <p:txBody>
          <a:bodyPr/>
          <a:lstStyle/>
          <a:p>
            <a:endParaRPr lang="fr-FR"/>
          </a:p>
        </p:txBody>
      </p:sp>
      <p:sp>
        <p:nvSpPr>
          <p:cNvPr id="11" name="Text 9"/>
          <p:cNvSpPr/>
          <p:nvPr/>
        </p:nvSpPr>
        <p:spPr>
          <a:xfrm>
            <a:off x="347472" y="1389888"/>
            <a:ext cx="843076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 Bulletin n°2 NE DOIT PAS mentionner l'une des 3 condamnations suivantes :</a:t>
            </a:r>
            <a:endParaRPr lang="en-US" sz="1050" dirty="0"/>
          </a:p>
        </p:txBody>
      </p:sp>
      <p:sp>
        <p:nvSpPr>
          <p:cNvPr id="12" name="Shape 10"/>
          <p:cNvSpPr/>
          <p:nvPr/>
        </p:nvSpPr>
        <p:spPr>
          <a:xfrm>
            <a:off x="274320" y="1755648"/>
            <a:ext cx="8595360" cy="1005840"/>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274320" y="1755648"/>
            <a:ext cx="1234440" cy="1005840"/>
          </a:xfrm>
          <a:prstGeom prst="rect">
            <a:avLst/>
          </a:prstGeom>
          <a:solidFill>
            <a:srgbClr val="C0392B"/>
          </a:solidFill>
          <a:ln w="12700">
            <a:solidFill>
              <a:srgbClr val="C0392B"/>
            </a:solidFill>
            <a:prstDash val="solid"/>
          </a:ln>
        </p:spPr>
        <p:txBody>
          <a:bodyPr/>
          <a:lstStyle/>
          <a:p>
            <a:endParaRPr lang="fr-FR"/>
          </a:p>
        </p:txBody>
      </p:sp>
      <p:sp>
        <p:nvSpPr>
          <p:cNvPr id="14" name="Text 12"/>
          <p:cNvSpPr/>
          <p:nvPr/>
        </p:nvSpPr>
        <p:spPr>
          <a:xfrm>
            <a:off x="320040" y="1847088"/>
            <a:ext cx="1152144"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MENTION 1</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Délits Code de la route</a:t>
            </a:r>
            <a:endParaRPr lang="en-US" sz="900" dirty="0"/>
          </a:p>
        </p:txBody>
      </p:sp>
      <p:sp>
        <p:nvSpPr>
          <p:cNvPr id="15" name="Text 13"/>
          <p:cNvSpPr/>
          <p:nvPr/>
        </p:nvSpPr>
        <p:spPr>
          <a:xfrm>
            <a:off x="1572768" y="1810512"/>
            <a:ext cx="5349240" cy="89611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Condamnation définitive pour un délit prévu et réprimé par le Code de la route qui donne lieu à une réduction de la MOITIÉ du nombre maximal de points du permis de conduire.</a:t>
            </a:r>
            <a:endParaRPr lang="en-US" sz="950" dirty="0"/>
          </a:p>
        </p:txBody>
      </p:sp>
      <p:sp>
        <p:nvSpPr>
          <p:cNvPr id="16" name="Shape 14"/>
          <p:cNvSpPr/>
          <p:nvPr/>
        </p:nvSpPr>
        <p:spPr>
          <a:xfrm>
            <a:off x="6967728" y="1810512"/>
            <a:ext cx="1810512" cy="896112"/>
          </a:xfrm>
          <a:prstGeom prst="rect">
            <a:avLst/>
          </a:prstGeom>
          <a:solidFill>
            <a:srgbClr val="E8F0F8"/>
          </a:solidFill>
          <a:ln w="6350">
            <a:solidFill>
              <a:srgbClr val="D0DCE8"/>
            </a:solidFill>
            <a:prstDash val="solid"/>
          </a:ln>
        </p:spPr>
        <p:txBody>
          <a:bodyPr/>
          <a:lstStyle/>
          <a:p>
            <a:endParaRPr lang="fr-FR"/>
          </a:p>
        </p:txBody>
      </p:sp>
      <p:sp>
        <p:nvSpPr>
          <p:cNvPr id="17" name="Text 15"/>
          <p:cNvSpPr/>
          <p:nvPr/>
        </p:nvSpPr>
        <p:spPr>
          <a:xfrm>
            <a:off x="7004304" y="1810512"/>
            <a:ext cx="1737360" cy="896112"/>
          </a:xfrm>
          <a:prstGeom prst="rect">
            <a:avLst/>
          </a:prstGeom>
          <a:noFill/>
          <a:ln/>
        </p:spPr>
        <p:txBody>
          <a:bodyPr wrap="square" rtlCol="0" anchor="t"/>
          <a:lstStyle/>
          <a:p>
            <a:pPr marL="0" indent="0">
              <a:buNone/>
            </a:pPr>
            <a:r>
              <a:rPr lang="en-US" sz="800" i="1" dirty="0">
                <a:solidFill>
                  <a:srgbClr val="1A3A5C"/>
                </a:solidFill>
                <a:latin typeface="Calibri" pitchFamily="34" charset="0"/>
                <a:ea typeface="Calibri" pitchFamily="34" charset="-122"/>
                <a:cs typeface="Calibri" pitchFamily="34" charset="-120"/>
              </a:rPr>
              <a:t>💡 Exemple : conduite sous alcool avec taux ≥ 0,8 g/l → 6 points retirés sur 12 = moitié → B2 incompatible</a:t>
            </a:r>
            <a:endParaRPr lang="en-US" sz="800" dirty="0"/>
          </a:p>
        </p:txBody>
      </p:sp>
      <p:sp>
        <p:nvSpPr>
          <p:cNvPr id="18" name="Shape 16"/>
          <p:cNvSpPr/>
          <p:nvPr/>
        </p:nvSpPr>
        <p:spPr>
          <a:xfrm>
            <a:off x="274320" y="2834640"/>
            <a:ext cx="8595360" cy="1005840"/>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274320" y="2834640"/>
            <a:ext cx="1234440" cy="1005840"/>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320040" y="2926080"/>
            <a:ext cx="1152144"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MENTION 2</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Crimes et délits graves</a:t>
            </a:r>
            <a:endParaRPr lang="en-US" sz="900" dirty="0"/>
          </a:p>
        </p:txBody>
      </p:sp>
      <p:sp>
        <p:nvSpPr>
          <p:cNvPr id="21" name="Text 19"/>
          <p:cNvSpPr/>
          <p:nvPr/>
        </p:nvSpPr>
        <p:spPr>
          <a:xfrm>
            <a:off x="1572768" y="2889504"/>
            <a:ext cx="5349240" cy="89611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Condamnation définitive à une peine criminelle ou correctionnelle d'au moins 6 mois pour : vol, escroquerie, abus de confiance, atteinte volontaire à l'intégrité, agression sexuelle, trafic d'armes, extorsion, infractions stupéfiants.</a:t>
            </a:r>
            <a:endParaRPr lang="en-US" sz="950" dirty="0"/>
          </a:p>
        </p:txBody>
      </p:sp>
      <p:sp>
        <p:nvSpPr>
          <p:cNvPr id="22" name="Shape 20"/>
          <p:cNvSpPr/>
          <p:nvPr/>
        </p:nvSpPr>
        <p:spPr>
          <a:xfrm>
            <a:off x="6967728" y="2889504"/>
            <a:ext cx="1810512" cy="896112"/>
          </a:xfrm>
          <a:prstGeom prst="rect">
            <a:avLst/>
          </a:prstGeom>
          <a:solidFill>
            <a:srgbClr val="E8F0F8"/>
          </a:solidFill>
          <a:ln w="6350">
            <a:solidFill>
              <a:srgbClr val="D0DCE8"/>
            </a:solidFill>
            <a:prstDash val="solid"/>
          </a:ln>
        </p:spPr>
        <p:txBody>
          <a:bodyPr/>
          <a:lstStyle/>
          <a:p>
            <a:endParaRPr lang="fr-FR"/>
          </a:p>
        </p:txBody>
      </p:sp>
      <p:sp>
        <p:nvSpPr>
          <p:cNvPr id="23" name="Text 21"/>
          <p:cNvSpPr/>
          <p:nvPr/>
        </p:nvSpPr>
        <p:spPr>
          <a:xfrm>
            <a:off x="7004304" y="2889504"/>
            <a:ext cx="1737360" cy="896112"/>
          </a:xfrm>
          <a:prstGeom prst="rect">
            <a:avLst/>
          </a:prstGeom>
          <a:noFill/>
          <a:ln/>
        </p:spPr>
        <p:txBody>
          <a:bodyPr wrap="square" rtlCol="0" anchor="t"/>
          <a:lstStyle/>
          <a:p>
            <a:pPr marL="0" indent="0">
              <a:buNone/>
            </a:pPr>
            <a:r>
              <a:rPr lang="en-US" sz="800" i="1" dirty="0">
                <a:solidFill>
                  <a:srgbClr val="1A3A5C"/>
                </a:solidFill>
                <a:latin typeface="Calibri" pitchFamily="34" charset="0"/>
                <a:ea typeface="Calibri" pitchFamily="34" charset="-122"/>
                <a:cs typeface="Calibri" pitchFamily="34" charset="-120"/>
              </a:rPr>
              <a:t>💡 Peu importe la nationalité de la juridiction (française ou étrangère)</a:t>
            </a:r>
            <a:endParaRPr lang="en-US" sz="800" dirty="0"/>
          </a:p>
        </p:txBody>
      </p:sp>
      <p:sp>
        <p:nvSpPr>
          <p:cNvPr id="24" name="Shape 22"/>
          <p:cNvSpPr/>
          <p:nvPr/>
        </p:nvSpPr>
        <p:spPr>
          <a:xfrm>
            <a:off x="274320" y="3913632"/>
            <a:ext cx="8595360" cy="1005840"/>
          </a:xfrm>
          <a:prstGeom prst="rect">
            <a:avLst/>
          </a:prstGeom>
          <a:solidFill>
            <a:srgbClr val="E8F1FA"/>
          </a:solidFill>
          <a:ln w="6350">
            <a:solidFill>
              <a:srgbClr val="D0DCE8"/>
            </a:solidFill>
            <a:prstDash val="solid"/>
          </a:ln>
        </p:spPr>
        <p:txBody>
          <a:bodyPr/>
          <a:lstStyle/>
          <a:p>
            <a:endParaRPr lang="fr-FR"/>
          </a:p>
        </p:txBody>
      </p:sp>
      <p:sp>
        <p:nvSpPr>
          <p:cNvPr id="25" name="Shape 23"/>
          <p:cNvSpPr/>
          <p:nvPr/>
        </p:nvSpPr>
        <p:spPr>
          <a:xfrm>
            <a:off x="274320" y="3913632"/>
            <a:ext cx="1234440" cy="1005840"/>
          </a:xfrm>
          <a:prstGeom prst="rect">
            <a:avLst/>
          </a:prstGeom>
          <a:solidFill>
            <a:srgbClr val="C0392B"/>
          </a:solidFill>
          <a:ln w="12700">
            <a:solidFill>
              <a:srgbClr val="C0392B"/>
            </a:solidFill>
            <a:prstDash val="solid"/>
          </a:ln>
        </p:spPr>
        <p:txBody>
          <a:bodyPr/>
          <a:lstStyle/>
          <a:p>
            <a:endParaRPr lang="fr-FR"/>
          </a:p>
        </p:txBody>
      </p:sp>
      <p:sp>
        <p:nvSpPr>
          <p:cNvPr id="26" name="Text 24"/>
          <p:cNvSpPr/>
          <p:nvPr/>
        </p:nvSpPr>
        <p:spPr>
          <a:xfrm>
            <a:off x="320040" y="4005072"/>
            <a:ext cx="1152144"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MENTION 3</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Conduite sans permis</a:t>
            </a:r>
            <a:endParaRPr lang="en-US" sz="900" dirty="0"/>
          </a:p>
        </p:txBody>
      </p:sp>
      <p:sp>
        <p:nvSpPr>
          <p:cNvPr id="27" name="Text 25"/>
          <p:cNvSpPr/>
          <p:nvPr/>
        </p:nvSpPr>
        <p:spPr>
          <a:xfrm>
            <a:off x="1572768" y="3968496"/>
            <a:ext cx="5349240" cy="89611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Condamnation définitive pour conduite sans être titulaire du permis correspondant, ou malgré l'annulation ou l'interdiction d'obtenir un permis, ou refus de restituer son permis après invalidation ou annulation.</a:t>
            </a:r>
            <a:endParaRPr lang="en-US" sz="950" dirty="0"/>
          </a:p>
        </p:txBody>
      </p:sp>
      <p:sp>
        <p:nvSpPr>
          <p:cNvPr id="28" name="Shape 26"/>
          <p:cNvSpPr/>
          <p:nvPr/>
        </p:nvSpPr>
        <p:spPr>
          <a:xfrm>
            <a:off x="6967728" y="3968496"/>
            <a:ext cx="1810512" cy="896112"/>
          </a:xfrm>
          <a:prstGeom prst="rect">
            <a:avLst/>
          </a:prstGeom>
          <a:solidFill>
            <a:srgbClr val="E8F0F8"/>
          </a:solidFill>
          <a:ln w="6350">
            <a:solidFill>
              <a:srgbClr val="D0DCE8"/>
            </a:solidFill>
            <a:prstDash val="solid"/>
          </a:ln>
        </p:spPr>
        <p:txBody>
          <a:bodyPr/>
          <a:lstStyle/>
          <a:p>
            <a:endParaRPr lang="fr-FR"/>
          </a:p>
        </p:txBody>
      </p:sp>
      <p:sp>
        <p:nvSpPr>
          <p:cNvPr id="29" name="Text 27"/>
          <p:cNvSpPr/>
          <p:nvPr/>
        </p:nvSpPr>
        <p:spPr>
          <a:xfrm>
            <a:off x="7004304" y="3968496"/>
            <a:ext cx="1737360" cy="896112"/>
          </a:xfrm>
          <a:prstGeom prst="rect">
            <a:avLst/>
          </a:prstGeom>
          <a:noFill/>
          <a:ln/>
        </p:spPr>
        <p:txBody>
          <a:bodyPr wrap="square" rtlCol="0" anchor="t"/>
          <a:lstStyle/>
          <a:p>
            <a:pPr marL="0" indent="0">
              <a:buNone/>
            </a:pPr>
            <a:r>
              <a:rPr lang="en-US" sz="800" i="1" dirty="0">
                <a:solidFill>
                  <a:srgbClr val="1A3A5C"/>
                </a:solidFill>
                <a:latin typeface="Calibri" pitchFamily="34" charset="0"/>
                <a:ea typeface="Calibri" pitchFamily="34" charset="-122"/>
                <a:cs typeface="Calibri" pitchFamily="34" charset="-120"/>
              </a:rPr>
              <a:t>💡 Un conducteur T3P doit TOUJOURS avoir un permis valide correspondant à son véhicule</a:t>
            </a:r>
            <a:endParaRPr lang="en-US" sz="800" dirty="0"/>
          </a:p>
        </p:txBody>
      </p:sp>
      <p:sp>
        <p:nvSpPr>
          <p:cNvPr id="30" name="Shape 28"/>
          <p:cNvSpPr/>
          <p:nvPr/>
        </p:nvSpPr>
        <p:spPr>
          <a:xfrm>
            <a:off x="274320" y="5102352"/>
            <a:ext cx="8595360" cy="0"/>
          </a:xfrm>
          <a:prstGeom prst="rect">
            <a:avLst/>
          </a:prstGeom>
          <a:solidFill>
            <a:srgbClr val="FFFBEB"/>
          </a:solidFill>
          <a:ln w="19050">
            <a:solidFill>
              <a:srgbClr val="F4A227"/>
            </a:solidFill>
            <a:prstDash val="solid"/>
          </a:ln>
        </p:spPr>
        <p:txBody>
          <a:bodyPr/>
          <a:lstStyle/>
          <a:p>
            <a:endParaRPr lang="fr-FR"/>
          </a:p>
        </p:txBody>
      </p:sp>
      <p:sp>
        <p:nvSpPr>
          <p:cNvPr id="31" name="Shape 29"/>
          <p:cNvSpPr/>
          <p:nvPr/>
        </p:nvSpPr>
        <p:spPr>
          <a:xfrm>
            <a:off x="274320" y="5102352"/>
            <a:ext cx="54864" cy="0"/>
          </a:xfrm>
          <a:prstGeom prst="rect">
            <a:avLst/>
          </a:prstGeom>
          <a:solidFill>
            <a:srgbClr val="F4A227"/>
          </a:solidFill>
          <a:ln w="12700">
            <a:solidFill>
              <a:srgbClr val="F4A227"/>
            </a:solidFill>
            <a:prstDash val="solid"/>
          </a:ln>
        </p:spPr>
        <p:txBody>
          <a:bodyPr/>
          <a:lstStyle/>
          <a:p>
            <a:endParaRPr lang="fr-FR"/>
          </a:p>
        </p:txBody>
      </p:sp>
      <p:sp>
        <p:nvSpPr>
          <p:cNvPr id="32" name="Text 30"/>
          <p:cNvSpPr/>
          <p:nvPr/>
        </p:nvSpPr>
        <p:spPr>
          <a:xfrm>
            <a:off x="384048" y="5102352"/>
            <a:ext cx="8467344" cy="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a:t>
            </a:r>
            <a:endParaRPr lang="en-US" sz="1000" dirty="0"/>
          </a:p>
        </p:txBody>
      </p:sp>
      <p:sp>
        <p:nvSpPr>
          <p:cNvPr id="33" name="Shape 31"/>
          <p:cNvSpPr/>
          <p:nvPr/>
        </p:nvSpPr>
        <p:spPr>
          <a:xfrm>
            <a:off x="274320" y="5010912"/>
            <a:ext cx="8595360" cy="347472"/>
          </a:xfrm>
          <a:prstGeom prst="rect">
            <a:avLst/>
          </a:prstGeom>
          <a:solidFill>
            <a:srgbClr val="FFF8E1"/>
          </a:solidFill>
          <a:ln w="12700">
            <a:solidFill>
              <a:srgbClr val="F4A227"/>
            </a:solidFill>
            <a:prstDash val="solid"/>
          </a:ln>
        </p:spPr>
        <p:txBody>
          <a:bodyPr/>
          <a:lstStyle/>
          <a:p>
            <a:endParaRPr lang="fr-FR"/>
          </a:p>
        </p:txBody>
      </p:sp>
      <p:sp>
        <p:nvSpPr>
          <p:cNvPr id="34" name="Shape 32"/>
          <p:cNvSpPr/>
          <p:nvPr/>
        </p:nvSpPr>
        <p:spPr>
          <a:xfrm>
            <a:off x="274320" y="5010912"/>
            <a:ext cx="54864" cy="347472"/>
          </a:xfrm>
          <a:prstGeom prst="rect">
            <a:avLst/>
          </a:prstGeom>
          <a:solidFill>
            <a:srgbClr val="F4A227"/>
          </a:solidFill>
          <a:ln w="12700">
            <a:solidFill>
              <a:srgbClr val="F4A227"/>
            </a:solidFill>
            <a:prstDash val="solid"/>
          </a:ln>
        </p:spPr>
        <p:txBody>
          <a:bodyPr/>
          <a:lstStyle/>
          <a:p>
            <a:endParaRPr lang="fr-FR"/>
          </a:p>
        </p:txBody>
      </p:sp>
      <p:sp>
        <p:nvSpPr>
          <p:cNvPr id="35" name="Text 33"/>
          <p:cNvSpPr/>
          <p:nvPr/>
        </p:nvSpPr>
        <p:spPr>
          <a:xfrm>
            <a:off x="457200" y="5010912"/>
            <a:ext cx="8229600" cy="34747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  Condamnation DÉFINITIVE uniquement — après délai de 10 jours (opposition ou recours expirés). Une condamnation temporaire ne bloque pas.</a:t>
            </a:r>
            <a:endParaRPr lang="en-US" sz="950" dirty="0"/>
          </a:p>
        </p:txBody>
      </p:sp>
      <p:sp>
        <p:nvSpPr>
          <p:cNvPr id="36" name="Rectangle 3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2</a:t>
            </a:r>
          </a:p>
        </p:txBody>
      </p:sp>
      <p:sp>
        <p:nvSpPr>
          <p:cNvPr id="37" name="Rectangle 3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2 sur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7836</Words>
  <Application>Microsoft Office PowerPoint</Application>
  <PresentationFormat>Affichage à l'écran (16:9)</PresentationFormat>
  <Paragraphs>1135</Paragraphs>
  <Slides>43</Slides>
  <Notes>39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43</vt:i4>
      </vt:variant>
    </vt:vector>
  </HeadingPairs>
  <TitlesOfParts>
    <vt:vector size="46"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Réglementation T3P — FTRANSPORT</dc:title>
  <dc:subject>PptxGenJS Presentation</dc:subject>
  <dc:creator>PptxGenJS</dc:creator>
  <cp:lastModifiedBy>NAOUFAL GUENICHI</cp:lastModifiedBy>
  <cp:revision>2</cp:revision>
  <dcterms:created xsi:type="dcterms:W3CDTF">2026-02-22T21:39:09Z</dcterms:created>
  <dcterms:modified xsi:type="dcterms:W3CDTF">2026-09-18T21:00:10Z</dcterms:modified>
</cp:coreProperties>
</file>