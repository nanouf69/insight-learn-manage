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oufal guenichi" userId="858fd4b3-0f44-4d07-ab42-9c2b2bf873b3" providerId="ADAL" clId="{5ADB1776-59AF-4A69-8422-CB66C8AF09C6}"/>
    <pc:docChg chg="delSld">
      <pc:chgData name="naoufal guenichi" userId="858fd4b3-0f44-4d07-ab42-9c2b2bf873b3" providerId="ADAL" clId="{5ADB1776-59AF-4A69-8422-CB66C8AF09C6}" dt="2026-02-26T21:37:34.233" v="37" actId="47"/>
      <pc:docMkLst>
        <pc:docMk/>
      </pc:docMkLst>
      <pc:sldChg chg="del">
        <pc:chgData name="naoufal guenichi" userId="858fd4b3-0f44-4d07-ab42-9c2b2bf873b3" providerId="ADAL" clId="{5ADB1776-59AF-4A69-8422-CB66C8AF09C6}" dt="2026-02-26T21:37:11.285" v="0" actId="47"/>
        <pc:sldMkLst>
          <pc:docMk/>
          <pc:sldMk cId="0" sldId="256"/>
        </pc:sldMkLst>
      </pc:sldChg>
      <pc:sldChg chg="del">
        <pc:chgData name="naoufal guenichi" userId="858fd4b3-0f44-4d07-ab42-9c2b2bf873b3" providerId="ADAL" clId="{5ADB1776-59AF-4A69-8422-CB66C8AF09C6}" dt="2026-02-26T21:37:11.974" v="1" actId="47"/>
        <pc:sldMkLst>
          <pc:docMk/>
          <pc:sldMk cId="0" sldId="257"/>
        </pc:sldMkLst>
      </pc:sldChg>
      <pc:sldChg chg="del">
        <pc:chgData name="naoufal guenichi" userId="858fd4b3-0f44-4d07-ab42-9c2b2bf873b3" providerId="ADAL" clId="{5ADB1776-59AF-4A69-8422-CB66C8AF09C6}" dt="2026-02-26T21:37:12.684" v="2" actId="47"/>
        <pc:sldMkLst>
          <pc:docMk/>
          <pc:sldMk cId="0" sldId="258"/>
        </pc:sldMkLst>
      </pc:sldChg>
      <pc:sldChg chg="del">
        <pc:chgData name="naoufal guenichi" userId="858fd4b3-0f44-4d07-ab42-9c2b2bf873b3" providerId="ADAL" clId="{5ADB1776-59AF-4A69-8422-CB66C8AF09C6}" dt="2026-02-26T21:37:13.011" v="3" actId="47"/>
        <pc:sldMkLst>
          <pc:docMk/>
          <pc:sldMk cId="0" sldId="259"/>
        </pc:sldMkLst>
      </pc:sldChg>
      <pc:sldChg chg="del">
        <pc:chgData name="naoufal guenichi" userId="858fd4b3-0f44-4d07-ab42-9c2b2bf873b3" providerId="ADAL" clId="{5ADB1776-59AF-4A69-8422-CB66C8AF09C6}" dt="2026-02-26T21:37:13.344" v="4" actId="47"/>
        <pc:sldMkLst>
          <pc:docMk/>
          <pc:sldMk cId="0" sldId="260"/>
        </pc:sldMkLst>
      </pc:sldChg>
      <pc:sldChg chg="del">
        <pc:chgData name="naoufal guenichi" userId="858fd4b3-0f44-4d07-ab42-9c2b2bf873b3" providerId="ADAL" clId="{5ADB1776-59AF-4A69-8422-CB66C8AF09C6}" dt="2026-02-26T21:37:13.612" v="5" actId="47"/>
        <pc:sldMkLst>
          <pc:docMk/>
          <pc:sldMk cId="0" sldId="261"/>
        </pc:sldMkLst>
      </pc:sldChg>
      <pc:sldChg chg="del">
        <pc:chgData name="naoufal guenichi" userId="858fd4b3-0f44-4d07-ab42-9c2b2bf873b3" providerId="ADAL" clId="{5ADB1776-59AF-4A69-8422-CB66C8AF09C6}" dt="2026-02-26T21:37:13.869" v="6" actId="47"/>
        <pc:sldMkLst>
          <pc:docMk/>
          <pc:sldMk cId="0" sldId="262"/>
        </pc:sldMkLst>
      </pc:sldChg>
      <pc:sldChg chg="del">
        <pc:chgData name="naoufal guenichi" userId="858fd4b3-0f44-4d07-ab42-9c2b2bf873b3" providerId="ADAL" clId="{5ADB1776-59AF-4A69-8422-CB66C8AF09C6}" dt="2026-02-26T21:37:14.092" v="7" actId="47"/>
        <pc:sldMkLst>
          <pc:docMk/>
          <pc:sldMk cId="0" sldId="263"/>
        </pc:sldMkLst>
      </pc:sldChg>
      <pc:sldChg chg="del">
        <pc:chgData name="naoufal guenichi" userId="858fd4b3-0f44-4d07-ab42-9c2b2bf873b3" providerId="ADAL" clId="{5ADB1776-59AF-4A69-8422-CB66C8AF09C6}" dt="2026-02-26T21:37:14.284" v="8" actId="47"/>
        <pc:sldMkLst>
          <pc:docMk/>
          <pc:sldMk cId="0" sldId="264"/>
        </pc:sldMkLst>
      </pc:sldChg>
      <pc:sldChg chg="del">
        <pc:chgData name="naoufal guenichi" userId="858fd4b3-0f44-4d07-ab42-9c2b2bf873b3" providerId="ADAL" clId="{5ADB1776-59AF-4A69-8422-CB66C8AF09C6}" dt="2026-02-26T21:37:14.519" v="9" actId="47"/>
        <pc:sldMkLst>
          <pc:docMk/>
          <pc:sldMk cId="0" sldId="265"/>
        </pc:sldMkLst>
      </pc:sldChg>
      <pc:sldChg chg="del">
        <pc:chgData name="naoufal guenichi" userId="858fd4b3-0f44-4d07-ab42-9c2b2bf873b3" providerId="ADAL" clId="{5ADB1776-59AF-4A69-8422-CB66C8AF09C6}" dt="2026-02-26T21:37:14.726" v="10" actId="47"/>
        <pc:sldMkLst>
          <pc:docMk/>
          <pc:sldMk cId="0" sldId="266"/>
        </pc:sldMkLst>
      </pc:sldChg>
      <pc:sldChg chg="del">
        <pc:chgData name="naoufal guenichi" userId="858fd4b3-0f44-4d07-ab42-9c2b2bf873b3" providerId="ADAL" clId="{5ADB1776-59AF-4A69-8422-CB66C8AF09C6}" dt="2026-02-26T21:37:14.915" v="11" actId="47"/>
        <pc:sldMkLst>
          <pc:docMk/>
          <pc:sldMk cId="0" sldId="267"/>
        </pc:sldMkLst>
      </pc:sldChg>
      <pc:sldChg chg="del">
        <pc:chgData name="naoufal guenichi" userId="858fd4b3-0f44-4d07-ab42-9c2b2bf873b3" providerId="ADAL" clId="{5ADB1776-59AF-4A69-8422-CB66C8AF09C6}" dt="2026-02-26T21:37:15.117" v="12" actId="47"/>
        <pc:sldMkLst>
          <pc:docMk/>
          <pc:sldMk cId="0" sldId="268"/>
        </pc:sldMkLst>
      </pc:sldChg>
      <pc:sldChg chg="del">
        <pc:chgData name="naoufal guenichi" userId="858fd4b3-0f44-4d07-ab42-9c2b2bf873b3" providerId="ADAL" clId="{5ADB1776-59AF-4A69-8422-CB66C8AF09C6}" dt="2026-02-26T21:37:15.375" v="13" actId="47"/>
        <pc:sldMkLst>
          <pc:docMk/>
          <pc:sldMk cId="0" sldId="269"/>
        </pc:sldMkLst>
      </pc:sldChg>
      <pc:sldChg chg="del">
        <pc:chgData name="naoufal guenichi" userId="858fd4b3-0f44-4d07-ab42-9c2b2bf873b3" providerId="ADAL" clId="{5ADB1776-59AF-4A69-8422-CB66C8AF09C6}" dt="2026-02-26T21:37:15.600" v="14" actId="47"/>
        <pc:sldMkLst>
          <pc:docMk/>
          <pc:sldMk cId="0" sldId="270"/>
        </pc:sldMkLst>
      </pc:sldChg>
      <pc:sldChg chg="del">
        <pc:chgData name="naoufal guenichi" userId="858fd4b3-0f44-4d07-ab42-9c2b2bf873b3" providerId="ADAL" clId="{5ADB1776-59AF-4A69-8422-CB66C8AF09C6}" dt="2026-02-26T21:37:15.834" v="15" actId="47"/>
        <pc:sldMkLst>
          <pc:docMk/>
          <pc:sldMk cId="0" sldId="271"/>
        </pc:sldMkLst>
      </pc:sldChg>
      <pc:sldChg chg="del">
        <pc:chgData name="naoufal guenichi" userId="858fd4b3-0f44-4d07-ab42-9c2b2bf873b3" providerId="ADAL" clId="{5ADB1776-59AF-4A69-8422-CB66C8AF09C6}" dt="2026-02-26T21:37:16.061" v="16" actId="47"/>
        <pc:sldMkLst>
          <pc:docMk/>
          <pc:sldMk cId="0" sldId="272"/>
        </pc:sldMkLst>
      </pc:sldChg>
      <pc:sldChg chg="del">
        <pc:chgData name="naoufal guenichi" userId="858fd4b3-0f44-4d07-ab42-9c2b2bf873b3" providerId="ADAL" clId="{5ADB1776-59AF-4A69-8422-CB66C8AF09C6}" dt="2026-02-26T21:37:16.428" v="17" actId="47"/>
        <pc:sldMkLst>
          <pc:docMk/>
          <pc:sldMk cId="0" sldId="273"/>
        </pc:sldMkLst>
      </pc:sldChg>
      <pc:sldChg chg="del">
        <pc:chgData name="naoufal guenichi" userId="858fd4b3-0f44-4d07-ab42-9c2b2bf873b3" providerId="ADAL" clId="{5ADB1776-59AF-4A69-8422-CB66C8AF09C6}" dt="2026-02-26T21:37:16.686" v="18" actId="47"/>
        <pc:sldMkLst>
          <pc:docMk/>
          <pc:sldMk cId="0" sldId="274"/>
        </pc:sldMkLst>
      </pc:sldChg>
      <pc:sldChg chg="del">
        <pc:chgData name="naoufal guenichi" userId="858fd4b3-0f44-4d07-ab42-9c2b2bf873b3" providerId="ADAL" clId="{5ADB1776-59AF-4A69-8422-CB66C8AF09C6}" dt="2026-02-26T21:37:17.246" v="19" actId="47"/>
        <pc:sldMkLst>
          <pc:docMk/>
          <pc:sldMk cId="0" sldId="275"/>
        </pc:sldMkLst>
      </pc:sldChg>
      <pc:sldChg chg="del">
        <pc:chgData name="naoufal guenichi" userId="858fd4b3-0f44-4d07-ab42-9c2b2bf873b3" providerId="ADAL" clId="{5ADB1776-59AF-4A69-8422-CB66C8AF09C6}" dt="2026-02-26T21:37:17.559" v="20" actId="47"/>
        <pc:sldMkLst>
          <pc:docMk/>
          <pc:sldMk cId="0" sldId="276"/>
        </pc:sldMkLst>
      </pc:sldChg>
      <pc:sldChg chg="del">
        <pc:chgData name="naoufal guenichi" userId="858fd4b3-0f44-4d07-ab42-9c2b2bf873b3" providerId="ADAL" clId="{5ADB1776-59AF-4A69-8422-CB66C8AF09C6}" dt="2026-02-26T21:37:17.955" v="21" actId="47"/>
        <pc:sldMkLst>
          <pc:docMk/>
          <pc:sldMk cId="0" sldId="277"/>
        </pc:sldMkLst>
      </pc:sldChg>
      <pc:sldChg chg="del">
        <pc:chgData name="naoufal guenichi" userId="858fd4b3-0f44-4d07-ab42-9c2b2bf873b3" providerId="ADAL" clId="{5ADB1776-59AF-4A69-8422-CB66C8AF09C6}" dt="2026-02-26T21:37:18.560" v="22" actId="47"/>
        <pc:sldMkLst>
          <pc:docMk/>
          <pc:sldMk cId="0" sldId="278"/>
        </pc:sldMkLst>
      </pc:sldChg>
      <pc:sldChg chg="del">
        <pc:chgData name="naoufal guenichi" userId="858fd4b3-0f44-4d07-ab42-9c2b2bf873b3" providerId="ADAL" clId="{5ADB1776-59AF-4A69-8422-CB66C8AF09C6}" dt="2026-02-26T21:37:19.188" v="23" actId="47"/>
        <pc:sldMkLst>
          <pc:docMk/>
          <pc:sldMk cId="0" sldId="279"/>
        </pc:sldMkLst>
      </pc:sldChg>
      <pc:sldChg chg="del">
        <pc:chgData name="naoufal guenichi" userId="858fd4b3-0f44-4d07-ab42-9c2b2bf873b3" providerId="ADAL" clId="{5ADB1776-59AF-4A69-8422-CB66C8AF09C6}" dt="2026-02-26T21:37:19.951" v="24" actId="47"/>
        <pc:sldMkLst>
          <pc:docMk/>
          <pc:sldMk cId="0" sldId="280"/>
        </pc:sldMkLst>
      </pc:sldChg>
      <pc:sldChg chg="del">
        <pc:chgData name="naoufal guenichi" userId="858fd4b3-0f44-4d07-ab42-9c2b2bf873b3" providerId="ADAL" clId="{5ADB1776-59AF-4A69-8422-CB66C8AF09C6}" dt="2026-02-26T21:37:20.996" v="25" actId="47"/>
        <pc:sldMkLst>
          <pc:docMk/>
          <pc:sldMk cId="0" sldId="281"/>
        </pc:sldMkLst>
      </pc:sldChg>
      <pc:sldChg chg="del">
        <pc:chgData name="naoufal guenichi" userId="858fd4b3-0f44-4d07-ab42-9c2b2bf873b3" providerId="ADAL" clId="{5ADB1776-59AF-4A69-8422-CB66C8AF09C6}" dt="2026-02-26T21:37:25.085" v="26" actId="47"/>
        <pc:sldMkLst>
          <pc:docMk/>
          <pc:sldMk cId="0" sldId="299"/>
        </pc:sldMkLst>
      </pc:sldChg>
      <pc:sldChg chg="del">
        <pc:chgData name="naoufal guenichi" userId="858fd4b3-0f44-4d07-ab42-9c2b2bf873b3" providerId="ADAL" clId="{5ADB1776-59AF-4A69-8422-CB66C8AF09C6}" dt="2026-02-26T21:37:27.688" v="27" actId="47"/>
        <pc:sldMkLst>
          <pc:docMk/>
          <pc:sldMk cId="0" sldId="300"/>
        </pc:sldMkLst>
      </pc:sldChg>
      <pc:sldChg chg="del">
        <pc:chgData name="naoufal guenichi" userId="858fd4b3-0f44-4d07-ab42-9c2b2bf873b3" providerId="ADAL" clId="{5ADB1776-59AF-4A69-8422-CB66C8AF09C6}" dt="2026-02-26T21:37:34.233" v="37" actId="47"/>
        <pc:sldMkLst>
          <pc:docMk/>
          <pc:sldMk cId="0" sldId="301"/>
        </pc:sldMkLst>
      </pc:sldChg>
      <pc:sldChg chg="del">
        <pc:chgData name="naoufal guenichi" userId="858fd4b3-0f44-4d07-ab42-9c2b2bf873b3" providerId="ADAL" clId="{5ADB1776-59AF-4A69-8422-CB66C8AF09C6}" dt="2026-02-26T21:37:33.317" v="36" actId="47"/>
        <pc:sldMkLst>
          <pc:docMk/>
          <pc:sldMk cId="0" sldId="302"/>
        </pc:sldMkLst>
      </pc:sldChg>
      <pc:sldChg chg="del">
        <pc:chgData name="naoufal guenichi" userId="858fd4b3-0f44-4d07-ab42-9c2b2bf873b3" providerId="ADAL" clId="{5ADB1776-59AF-4A69-8422-CB66C8AF09C6}" dt="2026-02-26T21:37:32.774" v="35" actId="47"/>
        <pc:sldMkLst>
          <pc:docMk/>
          <pc:sldMk cId="0" sldId="303"/>
        </pc:sldMkLst>
      </pc:sldChg>
      <pc:sldChg chg="del">
        <pc:chgData name="naoufal guenichi" userId="858fd4b3-0f44-4d07-ab42-9c2b2bf873b3" providerId="ADAL" clId="{5ADB1776-59AF-4A69-8422-CB66C8AF09C6}" dt="2026-02-26T21:37:32.328" v="34" actId="47"/>
        <pc:sldMkLst>
          <pc:docMk/>
          <pc:sldMk cId="0" sldId="304"/>
        </pc:sldMkLst>
      </pc:sldChg>
      <pc:sldChg chg="del">
        <pc:chgData name="naoufal guenichi" userId="858fd4b3-0f44-4d07-ab42-9c2b2bf873b3" providerId="ADAL" clId="{5ADB1776-59AF-4A69-8422-CB66C8AF09C6}" dt="2026-02-26T21:37:31.881" v="33" actId="47"/>
        <pc:sldMkLst>
          <pc:docMk/>
          <pc:sldMk cId="0" sldId="305"/>
        </pc:sldMkLst>
      </pc:sldChg>
      <pc:sldChg chg="del">
        <pc:chgData name="naoufal guenichi" userId="858fd4b3-0f44-4d07-ab42-9c2b2bf873b3" providerId="ADAL" clId="{5ADB1776-59AF-4A69-8422-CB66C8AF09C6}" dt="2026-02-26T21:37:31.617" v="32" actId="47"/>
        <pc:sldMkLst>
          <pc:docMk/>
          <pc:sldMk cId="0" sldId="306"/>
        </pc:sldMkLst>
      </pc:sldChg>
      <pc:sldChg chg="del">
        <pc:chgData name="naoufal guenichi" userId="858fd4b3-0f44-4d07-ab42-9c2b2bf873b3" providerId="ADAL" clId="{5ADB1776-59AF-4A69-8422-CB66C8AF09C6}" dt="2026-02-26T21:37:31.371" v="31" actId="47"/>
        <pc:sldMkLst>
          <pc:docMk/>
          <pc:sldMk cId="0" sldId="307"/>
        </pc:sldMkLst>
      </pc:sldChg>
      <pc:sldChg chg="del">
        <pc:chgData name="naoufal guenichi" userId="858fd4b3-0f44-4d07-ab42-9c2b2bf873b3" providerId="ADAL" clId="{5ADB1776-59AF-4A69-8422-CB66C8AF09C6}" dt="2026-02-26T21:37:31.070" v="30" actId="47"/>
        <pc:sldMkLst>
          <pc:docMk/>
          <pc:sldMk cId="0" sldId="308"/>
        </pc:sldMkLst>
      </pc:sldChg>
      <pc:sldChg chg="del">
        <pc:chgData name="naoufal guenichi" userId="858fd4b3-0f44-4d07-ab42-9c2b2bf873b3" providerId="ADAL" clId="{5ADB1776-59AF-4A69-8422-CB66C8AF09C6}" dt="2026-02-26T21:37:30.784" v="29" actId="47"/>
        <pc:sldMkLst>
          <pc:docMk/>
          <pc:sldMk cId="0" sldId="309"/>
        </pc:sldMkLst>
      </pc:sldChg>
      <pc:sldChg chg="del">
        <pc:chgData name="naoufal guenichi" userId="858fd4b3-0f44-4d07-ab42-9c2b2bf873b3" providerId="ADAL" clId="{5ADB1776-59AF-4A69-8422-CB66C8AF09C6}" dt="2026-02-26T21:37:30.533" v="28" actId="47"/>
        <pc:sldMkLst>
          <pc:docMk/>
          <pc:sldMk cId="0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605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1737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719072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59689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Amortissements · Coût de revient · TVA · Fiscalité · Régimes sociaux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— Partie 2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coût de revient à la protection sociale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420624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56032" y="1024128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024128"/>
            <a:ext cx="3968496" cy="658368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22960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1389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 · dégressif · exceptionnel · valeur résiduelle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1773936"/>
            <a:ext cx="420624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6032" y="1773936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" y="1773936"/>
            <a:ext cx="3968496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2296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revient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2139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fixes/variables · Monôme · Binôme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523744"/>
            <a:ext cx="420624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56032" y="2523744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3232" y="2523744"/>
            <a:ext cx="3968496" cy="658368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822960" y="2578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rentabilité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28895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en volume et en valeur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3273552"/>
            <a:ext cx="420624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56032" y="3273552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3232" y="3273552"/>
            <a:ext cx="3968496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22960" y="3328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 — Collectée vs Déductible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3639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Mécanisme, taux, crédit de TVA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6032" y="4023360"/>
            <a:ext cx="420624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56032" y="4023360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3232" y="4023360"/>
            <a:ext cx="3968496" cy="658368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22960" y="40782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d'imposition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4389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· Réel simplifié · Réel normal — avantages/inconvénients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81728" y="1024128"/>
            <a:ext cx="420624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681728" y="1024128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38928" y="1024128"/>
            <a:ext cx="3968496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248656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commerciale &amp; BIC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248656" y="1389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 la marge, IR vs IS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81728" y="1773936"/>
            <a:ext cx="420624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681728" y="1773936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138928" y="1773936"/>
            <a:ext cx="3968496" cy="658368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248656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CFE &amp; CET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48656" y="2139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 foncière, CVAE, exonérations Taxi/VTC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81728" y="2523744"/>
            <a:ext cx="420624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681728" y="2523744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138928" y="2523744"/>
            <a:ext cx="3968496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5248656" y="2578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Déclarations fiscales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248656" y="288950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selon chaque régime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81728" y="3273552"/>
            <a:ext cx="420624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681728" y="3273552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138928" y="3273552"/>
            <a:ext cx="3968496" cy="658368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5248656" y="33284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sociaux — TNS vs Assimilé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248656" y="3639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Définition, cotisations, prestations par branche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81728" y="4023360"/>
            <a:ext cx="420624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681728" y="4023360"/>
            <a:ext cx="4206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138928" y="4023360"/>
            <a:ext cx="3968496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5248656" y="40782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CSG &amp; CRDS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248656" y="4389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sociales sur tous les revenus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L'amortissement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bien perd de la valeur chaque année — on étale son coût sur sa durée de vie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402336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: l'amortissement est la dépréciation d'un élément d'actif due à l'usage, au temps ou à l'obsolescence. On amortit le montant HT sur n années. La durée est fixée par l'Administration fiscale.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2798064" cy="349300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2798064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" y="14630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Linéaire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828800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Dépréciation CONSTANTE chaque année.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Prix HT ÷ Durée = Dotation annuelle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Durées indicatives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Véhicule : 4 à 5 ans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Matériel industriel : 5 à 10 ans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Mobilier de bureau : 10 ans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Bâtiment industriel : 20 ans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Exemple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Voiture 20 000 € HT, durée 4 ans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20 000 ÷ 4 = 5 000 €/an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1463040"/>
            <a:ext cx="2798064" cy="349300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172968" y="1463040"/>
            <a:ext cx="2798064" cy="31089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46120" y="14630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Dégressif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64408" y="1828800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Annuités DÉCROISSANTES — amortissement accéléré au début.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INTERDIT pour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biens d'occasion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véhicules de tourisme (VTC/Taxi 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Biens à durée de vie &lt; 3 ans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Exemple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de 4 000 €/an (linéaire)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6 000 € les 2 premières années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4 000 € les années suivantes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71616" y="1463040"/>
            <a:ext cx="2798064" cy="349300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071616" y="1463040"/>
            <a:ext cx="2798064" cy="310896"/>
          </a:xfrm>
          <a:prstGeom prst="rect">
            <a:avLst/>
          </a:prstGeom>
          <a:solidFill>
            <a:srgbClr val="555F6D"/>
          </a:solidFill>
          <a:ln w="12700">
            <a:solidFill>
              <a:srgbClr val="555F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144768" y="14630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Exceptionnel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63056" y="1828800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 accéléré sur 24 mois.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rarement utilisé.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 à certains équipements spécifiques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Robots industriels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Imprimantes 3D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Logiciels de gestion agréés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Avantage fiscal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Déduire rapidement le coût d'un investissement pour réduire le bénéfice imposable.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valeur résiduelle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vaut encore un bien après utilisation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14400" y="987552"/>
            <a:ext cx="7315200" cy="5120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14400" y="987552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résiduelle  =  Prix d'achat  −  Total des amortissements cumulés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72768"/>
          <a:ext cx="8595360" cy="224942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début d'année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Dotation annuelle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Amort. cumulé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résiduelle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 (achat)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 (fin)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25 000 €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— Totalement amorti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3895344"/>
            <a:ext cx="8595360" cy="329184"/>
          </a:xfrm>
          <a:prstGeom prst="rect">
            <a:avLst/>
          </a:prstGeom>
          <a:solidFill>
            <a:srgbClr val="FFF3E6"/>
          </a:solidFill>
          <a:ln w="1016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02336" y="39136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Je revends ce véhicule le 1er janvier 2020 → prix de vente conseillé = valeur résiduelle = 10 000 €  |  Achetée 25 000€, elle vaut 10 000€ après 2 ans d'usage.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" y="3895344"/>
            <a:ext cx="8595360" cy="329184"/>
          </a:xfrm>
          <a:prstGeom prst="rect">
            <a:avLst/>
          </a:prstGeom>
          <a:solidFill>
            <a:srgbClr val="FFF3E6"/>
          </a:solidFill>
          <a:ln w="1016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02336" y="39136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Je revends ce véhicule le 1er janvier 2020 → prix de vente conseillé = valeur résiduelle = 10 000 €  |  Achetée 25 000€, elle vaut 10 000€ après 2 ans d'usage.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" y="4279392"/>
            <a:ext cx="4160520" cy="859536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274320" y="4279392"/>
            <a:ext cx="4160520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65760" y="427939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À quoi sert la VALEUR RÉSIDUELLE ?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65760" y="45537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Connaître la VALEUR MARCHANDE du bien pour le revendre au juste prix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Savoir si le bien est totalement amorti (= valeur 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Calculer une plus-value ou une moins-value de cession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Exemple : si je vends à 12 000€ alors que la val. résiduelle = 10 000€ → plus-value = 2 000€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709160" y="4279392"/>
            <a:ext cx="4160520" cy="859536"/>
          </a:xfrm>
          <a:prstGeom prst="rect">
            <a:avLst/>
          </a:prstGeom>
          <a:solidFill>
            <a:srgbClr val="FFF8F0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4709160" y="4279392"/>
            <a:ext cx="4160520" cy="23774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800600" y="427939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À quoi sert l'AMORTISSEMENT ?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00600" y="45537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Répartir le coût d'un investissement sur plusieurs années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RÉDUIRE LE BÉNÉFICE IMPOSABLE chaque année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Plus la dotation est élevée, moins on paie d'impôts cette année-là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Exemple : sans amortissement, la voiture serait une charge de 20 000€ d'un seul coup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de revient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me coûte ce produit/service AVANT de mettre ma marge 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402336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de revient = ensemble des coûts directs et indirects, fixes et variables, de production et de distribution pour une unité vendue.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4160520" cy="31089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46304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CHARGES VARIABLES — dépendent du km parcouru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41605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8470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Carburant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03120" y="1847088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pas d'activité → pas de carburant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359152"/>
            <a:ext cx="4160520" cy="475488"/>
          </a:xfrm>
          <a:prstGeom prst="rect">
            <a:avLst/>
          </a:prstGeom>
          <a:solidFill>
            <a:srgbClr val="FFF3E6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84048" y="23774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Entretien véhicule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03120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Vidanges, réparations, lavage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89504"/>
            <a:ext cx="41605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29077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Pneumatiques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03120" y="2907792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S'usent proportionnellement au km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419856"/>
            <a:ext cx="4160520" cy="475488"/>
          </a:xfrm>
          <a:prstGeom prst="rect">
            <a:avLst/>
          </a:prstGeom>
          <a:solidFill>
            <a:srgbClr val="FFF3E6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" y="34381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Péages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03120" y="3438144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les trajets effectués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950208"/>
            <a:ext cx="416052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84048" y="39684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Commissions plateformes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03120" y="3968496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Uber, Bolt, G7 : % du CA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1463040"/>
            <a:ext cx="416052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00600" y="1463040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CHARGES FIXES — indépendantes de l'activité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828800"/>
            <a:ext cx="4160520" cy="384048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18888" y="184708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Assurance pro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64808" y="18470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circulation + transport personnes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2249424"/>
            <a:ext cx="4160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818888" y="226771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Leasing/crédit véhicule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64808" y="226771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si on ne roule pas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2670048"/>
            <a:ext cx="4160520" cy="384048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818888" y="26883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Salaire chauffeur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64808" y="268833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S'il est salarié — fixe mensuel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3090672"/>
            <a:ext cx="4160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818888" y="310896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Impôts (CFE)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64808" y="31089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 foncière des entreprises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511296"/>
            <a:ext cx="4160520" cy="384048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818888" y="352958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Frais bancaires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64808" y="352958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tenue de compte, commissions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3931920"/>
            <a:ext cx="41605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818888" y="395020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Loyer bureau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64808" y="39502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local professionnel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4352544"/>
            <a:ext cx="4160520" cy="384048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818888" y="43708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Abonnement logiciel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64808" y="43708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Comptabilité, facturation…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monôme et binôme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 Coût de Revient Kilométrique (CRK) — pour fixer son tarif et rester rentable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16052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FORMULE DU MONÔME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335024"/>
            <a:ext cx="416052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4320" y="1335024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CRK  =  (CV + CF)  ÷  Kilométrage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847088"/>
            <a:ext cx="4160520" cy="237744"/>
          </a:xfrm>
          <a:prstGeom prst="rect">
            <a:avLst/>
          </a:prstGeom>
          <a:solidFill>
            <a:srgbClr val="EBF4FC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8470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seul paramètre — méthode simpliste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121408"/>
            <a:ext cx="4160520" cy="2578608"/>
          </a:xfrm>
          <a:prstGeom prst="rect">
            <a:avLst/>
          </a:prstGeom>
          <a:solidFill>
            <a:srgbClr val="EBF4FC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2121408"/>
            <a:ext cx="4160520" cy="237744"/>
          </a:xfrm>
          <a:prstGeom prst="rect">
            <a:avLst/>
          </a:prstGeom>
          <a:solidFill>
            <a:srgbClr val="0A2A4A"/>
          </a:solidFill>
          <a:ln w="12700">
            <a:solidFill>
              <a:srgbClr val="0A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65760" y="212140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EXEMPLE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2414016"/>
            <a:ext cx="3913632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fixes     = 9 000 €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variables = 23 500 €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Kilométrage       = 60 500 km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CRK = (23 500 + 9 000) ÷ 60 500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CRK = 32 500 ÷ 60 500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CRK = 0,53 €/km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Chaque km parcouru coûte 0,53€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987552"/>
            <a:ext cx="4160520" cy="31089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00600" y="987552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FORMULE DU BINÔME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335024"/>
            <a:ext cx="4160520" cy="47548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09160" y="1335024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= CV ÷ km    +    TJ = CF ÷ jours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1847088"/>
            <a:ext cx="4160520" cy="237744"/>
          </a:xfrm>
          <a:prstGeom prst="rect">
            <a:avLst/>
          </a:prstGeom>
          <a:solidFill>
            <a:srgbClr val="FFF3E6"/>
          </a:solidFill>
          <a:ln w="1270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00600" y="18470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= coût variable/km  |  TJ = coût fixe/jour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121408"/>
            <a:ext cx="4160520" cy="2231136"/>
          </a:xfrm>
          <a:prstGeom prst="rect">
            <a:avLst/>
          </a:prstGeom>
          <a:solidFill>
            <a:srgbClr val="FFF8F0"/>
          </a:solidFill>
          <a:ln w="1270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09160" y="2121408"/>
            <a:ext cx="4160520" cy="237744"/>
          </a:xfrm>
          <a:prstGeom prst="rect">
            <a:avLst/>
          </a:prstGeom>
          <a:solidFill>
            <a:srgbClr val="5A2500"/>
          </a:solidFill>
          <a:ln w="12700">
            <a:solidFill>
              <a:srgbClr val="5A2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00600" y="212140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EXEMPLE (mêmes données)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18888" y="2414016"/>
            <a:ext cx="3913632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travaillés = 321 jours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 = 23 500 ÷ 60 500 = 0,39 €/km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 = 9 000 ÷ 321 = 28,01 €/jour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Coût d'une course de 10 km 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 × 0,39 + 28,01 = 31,91 €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773168"/>
            <a:ext cx="859536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84048" y="4791456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À QUOI SERVENT CES FORMULES ? → Connaître son coût réel/km pour FIXER UN TARIF RENTABLE, répondre aux appels d'offres, et savoir si l'activité est profitable. Sans CRK, impossible de savoir si on gagne ou perd de l'argent.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de rentabilité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CA où l'entreprise ne fait ni perte, ni bénéfice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457200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seuil de rentabilité (= POINT MORT) = CA minimum pour couvrir toutes les charges. En dessous → perte. Au-dessus → bénéfice.  🎯 À quoi ça sert ? Fixer ses objectifs, négocier avec sa banque, mesurer le risque, savoir combien de km/an il faut faire.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859536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FORMULES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416052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7556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en volume (unités ou km)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2048256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÷ (PV − CV unitaire)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737360"/>
            <a:ext cx="4160520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00600" y="175564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en valeur (€)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2048256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[CF ÷ (PV − CV unitaire)]  ×  PV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560320"/>
            <a:ext cx="8595360" cy="274320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2560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EXEMPLE COMPLET — Transport 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71216"/>
            <a:ext cx="8595360" cy="1993392"/>
          </a:xfrm>
          <a:prstGeom prst="rect">
            <a:avLst/>
          </a:prstGeom>
          <a:solidFill>
            <a:srgbClr val="EBF4FC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02336" y="290779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" y="3163824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vente = 1,40 €/km   |   Coûts variables = 0,44 €/km   |   Charges fixes = 12 140 €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02336" y="3456432"/>
            <a:ext cx="3931920" cy="658368"/>
          </a:xfrm>
          <a:prstGeom prst="rect">
            <a:avLst/>
          </a:prstGeom>
          <a:solidFill>
            <a:srgbClr val="E8F5E9"/>
          </a:solidFill>
          <a:ln w="12700">
            <a:solidFill>
              <a:srgbClr val="A8D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12064" y="3493008"/>
            <a:ext cx="37124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en volume :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12 140 ÷ (1,40 − 0,44) = 12 140 ÷ 0,96 = 12 647 km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456432"/>
            <a:ext cx="4114800" cy="658368"/>
          </a:xfrm>
          <a:prstGeom prst="rect">
            <a:avLst/>
          </a:prstGeom>
          <a:solidFill>
            <a:srgbClr val="FFF3E6"/>
          </a:solidFill>
          <a:ln w="1270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773168" y="3493008"/>
            <a:ext cx="389534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en valeur :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12 647 × 1,40 = 17 706 €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2336" y="4169664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 dessous de 12 647 km/an parcourus : l'entreprise est en PERTE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Au-dessus de 12 647 km/an : l'entreprise dégage un BÉNÉFICE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TVA — Taxe sur la Valeur Ajoutée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 sur la consommation — 4 taux en France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365760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TVA est un impôt général sur la consommation directement facturé aux clients finaux sur les biens et services consommés en France. L'entreprise collecte la TVA pour le compte de l'État.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2029968" cy="157276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2029968" cy="548640"/>
          </a:xfrm>
          <a:prstGeom prst="rect">
            <a:avLst/>
          </a:prstGeom>
          <a:solidFill>
            <a:srgbClr val="555F6D"/>
          </a:solidFill>
          <a:ln w="12700">
            <a:solidFill>
              <a:srgbClr val="555F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1426464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2,1 %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particulier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" y="22860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Médicaments remboursés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Spectacles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41448" y="1426464"/>
            <a:ext cx="2029968" cy="157276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441448" y="1426464"/>
            <a:ext cx="2029968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441448" y="1426464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5,5 %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496312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réduit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96312" y="22860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alimentaires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 dépendantes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08576" y="1426464"/>
            <a:ext cx="2029968" cy="157276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08576" y="1426464"/>
            <a:ext cx="2029968" cy="5486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08576" y="1426464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63440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intermédiaire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22860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Transport de voyageurs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VTC &amp; TAXI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Cafés, restaurants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08576" y="2980944"/>
            <a:ext cx="2029968" cy="21945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608576" y="2980944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VOTRE TAUX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75704" y="1426464"/>
            <a:ext cx="2029968" cy="157276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775704" y="1426464"/>
            <a:ext cx="2029968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775704" y="1426464"/>
            <a:ext cx="20299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830568" y="20116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normal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30568" y="2286000"/>
            <a:ext cx="1920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autres produits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Electronique, vêtements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généraux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273552"/>
            <a:ext cx="8595360" cy="274320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65760" y="3273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 : TVA COLLECTÉE  vs  TVA DÉDUCTIBLE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584448"/>
            <a:ext cx="4160520" cy="1261872"/>
          </a:xfrm>
          <a:prstGeom prst="rect">
            <a:avLst/>
          </a:prstGeom>
          <a:solidFill>
            <a:srgbClr val="FDECEA"/>
          </a:solidFill>
          <a:ln w="1016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274320" y="3584448"/>
            <a:ext cx="41605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65760" y="35844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TVA COLLECTÉE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" y="3895344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 que vous facturez à VOS CLIENTS sur vos ventes.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Vous la collectez pour le compte de l'État.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 : CA de 5 000 € TTC à 10% → TVA collectée = 455 €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3584448"/>
            <a:ext cx="4160520" cy="1261872"/>
          </a:xfrm>
          <a:prstGeom prst="rect">
            <a:avLst/>
          </a:prstGeom>
          <a:solidFill>
            <a:srgbClr val="E8F5E9"/>
          </a:solidFill>
          <a:ln w="10160">
            <a:solidFill>
              <a:srgbClr val="A8D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709160" y="3584448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800600" y="358444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TVA DÉDUCTIBLE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18888" y="3895344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 que vous payez à VOS FOURNISSEURS sur vos achats.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Vous la récupérez (déduisez) auprès de l'État.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 : essence 675 € TTC → TVA déductible = 113 €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 collectée vs TVA déductible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pratique et les 2 cas possibles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56032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DÉCLARATION TVA — VTC</a:t>
            </a:r>
            <a:endParaRPr lang="en-US" sz="9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8595360" cy="1828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(achats)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 TTC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TVA déductible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 (ventes)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 TTC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TVA collectée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675 €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 d'affaires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Entretien véhicule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Abonnement téléphone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455 €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74320" y="3200400"/>
            <a:ext cx="859536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65760" y="320040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 à payer  =  TVA collectée  −  TVA déductible  =  455 − 150  =  305 €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3712464"/>
            <a:ext cx="4160520" cy="1115568"/>
          </a:xfrm>
          <a:prstGeom prst="rect">
            <a:avLst/>
          </a:prstGeom>
          <a:solidFill>
            <a:srgbClr val="FDECEA"/>
          </a:solidFill>
          <a:ln w="1016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274320" y="3712464"/>
            <a:ext cx="41605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65760" y="37124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1 : TVA collectée &gt; TVA déductible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402336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L'entreprise est en DÉFICIT de TVA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Elle doit PAYER la différence à l'État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 : 455€ collectée − 150€ déductible = 305€ à payer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09160" y="3712464"/>
            <a:ext cx="4160520" cy="1115568"/>
          </a:xfrm>
          <a:prstGeom prst="rect">
            <a:avLst/>
          </a:prstGeom>
          <a:solidFill>
            <a:srgbClr val="E8F5E9"/>
          </a:solidFill>
          <a:ln w="10160">
            <a:solidFill>
              <a:srgbClr val="A8D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09160" y="3712464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800600" y="37124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 : TVA déductible &gt; TVA collectée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18888" y="4023360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L'entreprise est en CRÉDIT de TVA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L'État doit lui REMBOURSER la différence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 : beaucoup d'achats, peu de ventes ce mois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régimes d'imposition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calculer le bénéfice et la périodicité des déclarations de TVA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87552"/>
          <a:ext cx="8631936" cy="382219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47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7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Micro-entreprise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simplifié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normal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Mini-réel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Franchise TVA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7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max services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77 700 € 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1 € à 254 000 €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254 000 €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254 000 €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25 000 € 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(seuil 2025 -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ancien : 36 800 €)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Décl. TVA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 si CA &lt; 25 000 € 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(seuil 2025)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décl./an + 2 acomptes sem.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décl./mois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décl./mois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 bénéfice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du 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(50% services)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Recettes − Dépenses réelles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Recettes − Dépenses réelles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Recettes − Dépenses réelles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Avantages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Simplicité, pas de compta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seule décl./an TVA, bilan simplifié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Remb. rapide crédit TVA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Souplesse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TVA à reverser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Inconvénients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déduction charges réelles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TVA élevée à payer en fin d'exercice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Lourdeur admin., 12 décl.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Lourdeur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 petits CA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56032" y="4864608"/>
            <a:ext cx="8631936" cy="182880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Franchise TVA 2025 : 25 000€ HT (seuil tolérance 27 500€). Dépassement 246 000€ CA services → réel normal de plein droit.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commerciale, BIC et régime fiscal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 bénéfice imposable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160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LA MARGE COMMERCIALE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416052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4320" y="1298448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 =  Ventes HT  −  Coût de revient HT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4160520" cy="1225296"/>
          </a:xfrm>
          <a:prstGeom prst="rect">
            <a:avLst/>
          </a:prstGeom>
          <a:solidFill>
            <a:srgbClr val="EBF4FC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773936"/>
            <a:ext cx="391363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Exemple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téléphone = 200 € HT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de port    = 10 € HT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revient  = 210 € HT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           = 250 € HT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Marge = 250 − 210 = 40 € HT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987552"/>
            <a:ext cx="416052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00600" y="9875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LE BIC — Bénéfices Industriels et Commerciaux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298448"/>
            <a:ext cx="4160520" cy="2377440"/>
          </a:xfrm>
          <a:prstGeom prst="rect">
            <a:avLst/>
          </a:prstGeom>
          <a:solidFill>
            <a:srgbClr val="FFF8F0"/>
          </a:solidFill>
          <a:ln w="1270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18888" y="1335024"/>
            <a:ext cx="39136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EI et les sociétés à l'IR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Bénéfice inscrit dans la déclaration de revenus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Catégorie BIC : transport, artisanat, commerce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Catégorie BNC : professions libérales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IS (impôt sur les sociétés)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15% jusqu'à 42 500 € de bénéfice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25% au-delà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Option IR possible pendant 5 ans max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035808"/>
            <a:ext cx="859536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30358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L'EXCÉDENT BRUT D'EXPLOITATION (EBE)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46704"/>
            <a:ext cx="8595360" cy="1426464"/>
          </a:xfrm>
          <a:prstGeom prst="rect">
            <a:avLst/>
          </a:prstGeom>
          <a:solidFill>
            <a:srgbClr val="E8F5E9"/>
          </a:solidFill>
          <a:ln w="12700">
            <a:solidFill>
              <a:srgbClr val="A8D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02336" y="3383280"/>
            <a:ext cx="8321040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L'EBE est ce qui reste à l'entreprise une fois qu'elle a payé ses salariés et l'État. C'est le MEILLEUR indicateur de la performance économique d'une entreprise.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l'EBE est élevé, plus l'entreprise est performante et rentable.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EBE = Valeur Ajoutée − Charges de personnel − Impôts et taxes + Subventions d'exploitation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CFE et CET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payer chaque année par toute entreprise — remplace l'ancienne Taxe Professionnelle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5486400" cy="202996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548640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CFE — Cotisation Foncière des Entreprises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353312"/>
            <a:ext cx="530352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À quoi ça sert ? Impôt LOCAL versé à la commune. Finance les services publics locaux (voirie, collecte déchets…). TOUT entrepreneur doit la payer chaque année.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calcul : valeur locative des biens utilisés pour l'activité.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À ne pas confondre : CFE = aussi Centre de Formalités des Entreprises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Exonérations 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Création → EXONÉRÉ la 1ère année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 ≤ 5 000 € → exonéré de cotisation minimum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Taxi : propriétaire de 1 ou 2 voitures ≤ 7 places (art. 1453 CGI)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Réduction 50% l'année suivant la création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74320" y="3108960"/>
            <a:ext cx="5486400" cy="20299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5486400" cy="31089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84048" y="3108960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CET = CFE + CVAE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474720"/>
            <a:ext cx="530352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CET (Contribution Économique Territoriale) remplace l'ancienne Taxe Professionnelle.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CVAE (Cotisation sur la Valeur Ajoutée des Entreprises) :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Due uniquement si CA &gt; 500 000 € HT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Calculée sur la valeur ajoutée produite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Affectée aux collectivités territoriales (communes, départements, régions)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Donc pour un VTC/Taxi standard : seule la CFE s'applique (pas la CVAE).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870448" y="987552"/>
            <a:ext cx="2999232" cy="415137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5870448" y="987552"/>
            <a:ext cx="2999232" cy="256032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961888" y="987552"/>
            <a:ext cx="2816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Formulaire CFE — Cerfa 1447-C-SD</a:t>
            </a:r>
            <a:endParaRPr lang="en-US" sz="800" dirty="0"/>
          </a:p>
        </p:txBody>
      </p:sp>
      <p:pic>
        <p:nvPicPr>
          <p:cNvPr id="18" name="Image 0" descr="/mnt/user-data/uploads/177187525950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280160"/>
            <a:ext cx="299923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déclarations fiscales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selon votre régime d'imposition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1261872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859536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" y="98755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Micro-entrepreneur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353312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Déclaration du CA sur impôt sur le revenu (mensuel ou trimestriel)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Franchise TVA si CA &lt; 25 000 € HT (2025) → aucune déclaration de TVA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CFE : déclaration d'établissement à la création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 de bilan ni compte de résultat obligatoire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74320" y="2340864"/>
            <a:ext cx="85953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2340864"/>
            <a:ext cx="8595360" cy="31089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84048" y="2340864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Régime réel simplifié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706624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Compte de résultat et bilan simplifiés déposés au greffe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déclaration de TVA annuelle + 2 acomptes semestriels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CFE : déclaration annuelle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Déclaration 2031 (BIC/IR) ou 2065 (IS) selon le régime fiscal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274320" y="3694176"/>
            <a:ext cx="8595360" cy="1261872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3694176"/>
            <a:ext cx="8595360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84048" y="3694176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Régime réel normal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4059936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Comptes annuels détaillés (bilan + compte de résultat + annexe)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déclarations de TVA mensuelles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Remboursement rapide en cas de crédit TVA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CFE : déclaration annuelle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74320" y="5047488"/>
            <a:ext cx="8595360" cy="146304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5760" y="5047488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Formalités déclaratives : immatriculation au guichet unique, déclaration URSSAF, TVA, CFE, DPAE (avant embauche salarié 8 jours avant).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régimes sociaux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régime social 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475488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régime social contribue à la PROTECTION SOCIALE de la personne : maladie, maternité, accidents du travail, vieillesse (retraite), chômage, invalidité, décès. La forme juridique de l'entreprise détermine votre régime social.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36192"/>
            <a:ext cx="4160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5361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TRAVAILLEUR NON SALARIÉ (TNS)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47088"/>
            <a:ext cx="4160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8653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?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0" y="1865376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· Micro · Gérant majorit. SARL · Associé unique EURL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249424"/>
            <a:ext cx="4160520" cy="365760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84048" y="22677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28800" y="226771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 du bénéfice (BIC)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4160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26700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828800" y="267004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Remboursements soins identiques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Indemnités journalières après 1 an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054096"/>
            <a:ext cx="4160520" cy="365760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" y="30723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28800" y="3072384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~45% du dernier salaire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(moins favorable que salarié)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3456432"/>
            <a:ext cx="4160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84048" y="34747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28800" y="347472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Pas de chômage (sauf option volontaire payante)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858768"/>
            <a:ext cx="4160520" cy="365760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84048" y="38770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paie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0" y="3877056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 — pas de fiche de paie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4261104"/>
            <a:ext cx="4160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84048" y="42793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828800" y="427939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sociales moins élevées → plus de trésorerie disponible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4663440"/>
            <a:ext cx="4160520" cy="365760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84048" y="46817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28800" y="468172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bien protégé : pas de chômage, retraite plus faible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1536192"/>
            <a:ext cx="416052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00600" y="15361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ASSIMILÉ SALARIÉ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1847088"/>
            <a:ext cx="4160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D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818888" y="18653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?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81928" y="1865376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Gérant min./égal. SARL · Président SASU/SAS · PDG SA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2249424"/>
            <a:ext cx="4160520" cy="365760"/>
          </a:xfrm>
          <a:prstGeom prst="rect">
            <a:avLst/>
          </a:prstGeom>
          <a:solidFill>
            <a:srgbClr val="F0EAF8"/>
          </a:solidFill>
          <a:ln w="3810">
            <a:solidFill>
              <a:srgbClr val="E0D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818888" y="22677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81928" y="226771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 des rémunérations versées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09160" y="2651760"/>
            <a:ext cx="4160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D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818888" y="26700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81928" y="267004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Remboursements soins + indemnités journalières dès le 1er jour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09160" y="3054096"/>
            <a:ext cx="4160520" cy="365760"/>
          </a:xfrm>
          <a:prstGeom prst="rect">
            <a:avLst/>
          </a:prstGeom>
          <a:solidFill>
            <a:srgbClr val="F0EAF8"/>
          </a:solidFill>
          <a:ln w="3810">
            <a:solidFill>
              <a:srgbClr val="E0D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818888" y="30723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81928" y="3072384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 du dernier salaire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(identique à un salarié)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09160" y="3456432"/>
            <a:ext cx="4160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D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818888" y="34747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81928" y="347472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Pas de chômage non plus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(PDG/Président non couverts ARE)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09160" y="3858768"/>
            <a:ext cx="4160520" cy="365760"/>
          </a:xfrm>
          <a:prstGeom prst="rect">
            <a:avLst/>
          </a:prstGeom>
          <a:solidFill>
            <a:srgbClr val="F0EAF8"/>
          </a:solidFill>
          <a:ln w="3810">
            <a:solidFill>
              <a:srgbClr val="E0D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818888" y="38770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paie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81928" y="3877056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OUI — bulletin de salaire obligatoire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09160" y="4261104"/>
            <a:ext cx="416052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0D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818888" y="42793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281928" y="427939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protection sociale, retraite plus favorable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09160" y="4663440"/>
            <a:ext cx="4160520" cy="365760"/>
          </a:xfrm>
          <a:prstGeom prst="rect">
            <a:avLst/>
          </a:prstGeom>
          <a:solidFill>
            <a:srgbClr val="F0EAF8"/>
          </a:solidFill>
          <a:ln w="3810">
            <a:solidFill>
              <a:srgbClr val="E0D0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4818888" y="46817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Inconvénient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281928" y="468172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sociales très élevées (~75%) → moins de trésorerie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Prestations sociales par branche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couvre votre régime social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160520" cy="1243584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987552"/>
            <a:ext cx="4160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Maladie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298448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: Remboursements soins identiques. Indemnités journalières après 1 an de cotisation.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Assimilé : Remboursements + IJ dès le 1er jour de travail.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987552"/>
            <a:ext cx="416052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709160" y="987552"/>
            <a:ext cx="416052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800600" y="98755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🤰 Maternité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298448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: Allocation forfaitaire + indemnités journalières si cotisations suffisantes.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Assimilé : Identique à un salarié — congé maternité + IJ.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340864"/>
            <a:ext cx="4160520" cy="1243584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74320" y="2340864"/>
            <a:ext cx="41605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65760" y="23408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Accidents du travail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2651760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: Couverture AT/MP possible via option souscrite volontairement.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Assimilé : Couverture AT/MP intégrée dans le régime général.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2340864"/>
            <a:ext cx="416052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09160" y="2340864"/>
            <a:ext cx="416052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00600" y="23408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👴 Vieillesse (retraite)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651760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: ~45% du dernier salaire. Points retraite calculés sur les bénéfices.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Assimilé : ~75% du dernier salaire. Points retraite sur les rémunérations.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694176"/>
            <a:ext cx="4160520" cy="1243584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3694176"/>
            <a:ext cx="4160520" cy="274320"/>
          </a:xfrm>
          <a:prstGeom prst="rect">
            <a:avLst/>
          </a:prstGeom>
          <a:solidFill>
            <a:srgbClr val="555F6D"/>
          </a:solidFill>
          <a:ln w="12700">
            <a:solidFill>
              <a:srgbClr val="555F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65760" y="36941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Chômage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005072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: ❌ Pas couvert par l'assurance chômage (ARE). Possibilité ATI (Allocation Travailleur Indépendant) sous conditions.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Assimilé : ❌ Pas couvert non plus en tant que dirigeant.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3694176"/>
            <a:ext cx="416052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709160" y="3694176"/>
            <a:ext cx="4160520" cy="2743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00600" y="36941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🦽 Invalidité / Décès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4005072"/>
            <a:ext cx="397764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: Pension d'invalidité + capital décès si cotisations suffisantes.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Assimilé : Identique au régime général salarié.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CSG et CRDS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contributions sociales prélevées sur tous les revenus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365760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2 contributions sont prélevées sur les revenus d'ACTIVITÉ et de REMPLACEMENT : salaires, indemnités de chômage, pensions de retraite, indemnités journalières, revenus de capitaux mobiliers…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4160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CSG — Contribution Sociale Généralisée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4160520" cy="2999232"/>
          </a:xfrm>
          <a:prstGeom prst="rect">
            <a:avLst/>
          </a:prstGeom>
          <a:solidFill>
            <a:srgbClr val="EBF4FC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773936"/>
            <a:ext cx="3913632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 : faire participer l'ensemble des personnes physiques au financement de la protection sociale.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9,2 % sur les revenus d'activité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6,2 % sur les revenus de remplacement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Assurance maladie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Vieillesse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Famille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Fonds de solidarité vieillesse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 en partie déductible du revenu imposable.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709160" y="1426464"/>
            <a:ext cx="416052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00600" y="14264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CRDS — Contrib. Remboursement Dette Sociale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737360"/>
            <a:ext cx="4160520" cy="2999232"/>
          </a:xfrm>
          <a:prstGeom prst="rect">
            <a:avLst/>
          </a:prstGeom>
          <a:solidFill>
            <a:srgbClr val="FFF8F0"/>
          </a:solidFill>
          <a:ln w="1270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18888" y="1773936"/>
            <a:ext cx="3913632" cy="288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 : résorber l'endettement de la Sécurité sociale (déficit de la Sécu).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0,5 % sur tous les revenus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(taux unique)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Caisse d'amortissement de la dette sociale (CADES)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Créée en 1996 pour rembourser la dette accumulée de la Sécurité sociale.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déductible du revenu imposable.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PARTIE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59536"/>
            <a:ext cx="4251960" cy="932688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859536"/>
            <a:ext cx="237744" cy="93268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39496" y="914400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9496" y="1188720"/>
            <a:ext cx="3867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 = constant | Dégressif = interdit VTC/Taxi | Exceptionnel = 24 mois.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résiduelle = Prix − amortissements cumulés.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859536"/>
            <a:ext cx="4251960" cy="932688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859536"/>
            <a:ext cx="237744" cy="932688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974336" y="914400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CRK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74336" y="1188720"/>
            <a:ext cx="3867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Monôme : (CV+CF)÷km | Binôme : TK=CV÷km + TJ=CF÷jours.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883664"/>
            <a:ext cx="4251960" cy="932688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1883664"/>
            <a:ext cx="237744" cy="9326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39496" y="1938528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rentabilité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9496" y="2212848"/>
            <a:ext cx="3867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vol. = CF÷(PV−CV) | SR val. = SR vol.×PV.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dessous = perte.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883664"/>
            <a:ext cx="4251960" cy="932688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663440" y="1883664"/>
            <a:ext cx="237744" cy="9326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974336" y="1938528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74336" y="2212848"/>
            <a:ext cx="3867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Collectée (sur ventes) − Déductible (sur achats) = TVA à payer.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VTC/Taxi = 10%. Crédit TVA → l'État rembourse.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2907792"/>
            <a:ext cx="4251960" cy="932688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28600" y="2907792"/>
            <a:ext cx="237744" cy="93268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39496" y="2962656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d'imposition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9496" y="3236976"/>
            <a:ext cx="3867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(simple, 50% abatt.) | Réel simplifié (1 décl. TVA/an) | Réel normal (12 décl.).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Avant. micro = simplicité. Incov. = pas de déduction charges réelles.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663440" y="2907792"/>
            <a:ext cx="4251960" cy="932688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663440" y="2907792"/>
            <a:ext cx="237744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974336" y="2962656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 / 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74336" y="3236976"/>
            <a:ext cx="3867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→ IR (BIC). Sociétés → IS (15% &lt; 42 500€, 25% au-delà). Option IR = 5 ans.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8600" y="3931920"/>
            <a:ext cx="4251960" cy="932688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228600" y="3931920"/>
            <a:ext cx="237744" cy="9326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39496" y="3986784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sociaux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9496" y="4261104"/>
            <a:ext cx="3867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(~45%) : EI, gérant maj. SARL → Moins de protection (pas chômage).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Assimilé (~75%) : Président SASU/SAS → Meilleure protection, fiche de paie.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3931920"/>
            <a:ext cx="4251960" cy="932688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663440" y="3931920"/>
            <a:ext cx="237744" cy="932688"/>
          </a:xfrm>
          <a:prstGeom prst="rect">
            <a:avLst/>
          </a:prstGeom>
          <a:solidFill>
            <a:srgbClr val="555F6D"/>
          </a:solidFill>
          <a:ln w="12700">
            <a:solidFill>
              <a:srgbClr val="555F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974336" y="3986784"/>
            <a:ext cx="38679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CSG &amp; CRDS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74336" y="4261104"/>
            <a:ext cx="3867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CSG 9,2% : finance la protection sociale. CRDS 0,5% : rembourse la dette Sécu.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Prélevées sur TOUS les revenus (activité + remplacement).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3441</Words>
  <Application>Microsoft Office PowerPoint</Application>
  <PresentationFormat>Affichage à l'écran (16:9)</PresentationFormat>
  <Paragraphs>521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naoufal guenichi</cp:lastModifiedBy>
  <cp:revision>1</cp:revision>
  <dcterms:created xsi:type="dcterms:W3CDTF">2026-02-23T20:28:12Z</dcterms:created>
  <dcterms:modified xsi:type="dcterms:W3CDTF">2026-02-26T21:37:35Z</dcterms:modified>
</cp:coreProperties>
</file>