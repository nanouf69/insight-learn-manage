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947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0392B"/>
          </a:solidFill>
          <a:ln w="12700">
            <a:solidFill>
              <a:srgbClr val="C0392B"/>
            </a:solidFill>
            <a:prstDash val="solid"/>
          </a:ln>
        </p:spPr>
        <p:txBody>
          <a:bodyPr/>
          <a:lstStyle/>
          <a:p>
            <a:endParaRPr lang="fr-FR"/>
          </a:p>
        </p:txBody>
      </p:sp>
      <p:sp>
        <p:nvSpPr>
          <p:cNvPr id="3" name="Shape 1"/>
          <p:cNvSpPr/>
          <p:nvPr/>
        </p:nvSpPr>
        <p:spPr>
          <a:xfrm>
            <a:off x="320040" y="0"/>
            <a:ext cx="8823960" cy="91440"/>
          </a:xfrm>
          <a:prstGeom prst="rect">
            <a:avLst/>
          </a:prstGeom>
          <a:solidFill>
            <a:srgbClr val="C0392B"/>
          </a:solidFill>
          <a:ln w="12700">
            <a:solidFill>
              <a:srgbClr val="C0392B"/>
            </a:solidFill>
            <a:prstDash val="solid"/>
          </a:ln>
        </p:spPr>
        <p:txBody>
          <a:bodyPr/>
          <a:lstStyle/>
          <a:p>
            <a:endParaRPr lang="fr-FR"/>
          </a:p>
        </p:txBody>
      </p:sp>
      <p:sp>
        <p:nvSpPr>
          <p:cNvPr id="4" name="Text 2"/>
          <p:cNvSpPr/>
          <p:nvPr/>
        </p:nvSpPr>
        <p:spPr>
          <a:xfrm>
            <a:off x="594360" y="731520"/>
            <a:ext cx="8229600" cy="1005840"/>
          </a:xfrm>
          <a:prstGeom prst="rect">
            <a:avLst/>
          </a:prstGeom>
          <a:noFill/>
          <a:ln/>
        </p:spPr>
        <p:txBody>
          <a:bodyPr wrap="square" rtlCol="0" anchor="ctr"/>
          <a:lstStyle/>
          <a:p>
            <a:pPr marL="0" indent="0">
              <a:buNone/>
            </a:pPr>
            <a:r>
              <a:rPr lang="en-US" sz="4600" b="1" dirty="0">
                <a:solidFill>
                  <a:srgbClr val="FFFFFF"/>
                </a:solidFill>
              </a:rPr>
              <a:t>SÉCURITÉ ROUTIÈRE</a:t>
            </a:r>
            <a:endParaRPr lang="en-US" sz="4600" dirty="0"/>
          </a:p>
        </p:txBody>
      </p:sp>
      <p:sp>
        <p:nvSpPr>
          <p:cNvPr id="5" name="Text 3"/>
          <p:cNvSpPr/>
          <p:nvPr/>
        </p:nvSpPr>
        <p:spPr>
          <a:xfrm>
            <a:off x="594360" y="1783080"/>
            <a:ext cx="8229600" cy="457200"/>
          </a:xfrm>
          <a:prstGeom prst="rect">
            <a:avLst/>
          </a:prstGeom>
          <a:noFill/>
          <a:ln/>
        </p:spPr>
        <p:txBody>
          <a:bodyPr wrap="square" rtlCol="0" anchor="ctr"/>
          <a:lstStyle/>
          <a:p>
            <a:pPr marL="0" indent="0">
              <a:buNone/>
            </a:pPr>
            <a:r>
              <a:rPr lang="en-US" sz="1500" i="1" dirty="0">
                <a:solidFill>
                  <a:srgbClr val="D35400"/>
                </a:solidFill>
              </a:rPr>
              <a:t>Formation complète — 3 parties</a:t>
            </a:r>
            <a:endParaRPr lang="en-US" sz="1500" dirty="0"/>
          </a:p>
        </p:txBody>
      </p:sp>
      <p:sp>
        <p:nvSpPr>
          <p:cNvPr id="6" name="Shape 4"/>
          <p:cNvSpPr/>
          <p:nvPr/>
        </p:nvSpPr>
        <p:spPr>
          <a:xfrm>
            <a:off x="594360" y="2423160"/>
            <a:ext cx="7315200" cy="502920"/>
          </a:xfrm>
          <a:prstGeom prst="rect">
            <a:avLst/>
          </a:prstGeom>
          <a:solidFill>
            <a:srgbClr val="C0392B"/>
          </a:solidFill>
          <a:ln w="12700">
            <a:solidFill>
              <a:srgbClr val="C0392B"/>
            </a:solidFill>
            <a:prstDash val="solid"/>
          </a:ln>
        </p:spPr>
        <p:txBody>
          <a:bodyPr/>
          <a:lstStyle/>
          <a:p>
            <a:endParaRPr lang="fr-FR"/>
          </a:p>
        </p:txBody>
      </p:sp>
      <p:sp>
        <p:nvSpPr>
          <p:cNvPr id="7" name="Text 5"/>
          <p:cNvSpPr/>
          <p:nvPr/>
        </p:nvSpPr>
        <p:spPr>
          <a:xfrm>
            <a:off x="731520" y="2423160"/>
            <a:ext cx="7132320" cy="502920"/>
          </a:xfrm>
          <a:prstGeom prst="rect">
            <a:avLst/>
          </a:prstGeom>
          <a:noFill/>
          <a:ln/>
        </p:spPr>
        <p:txBody>
          <a:bodyPr wrap="square" rtlCol="0" anchor="ctr"/>
          <a:lstStyle/>
          <a:p>
            <a:pPr marL="0" indent="0">
              <a:buNone/>
            </a:pPr>
            <a:r>
              <a:rPr lang="en-US" sz="1050" dirty="0">
                <a:solidFill>
                  <a:srgbClr val="FFFFFF"/>
                </a:solidFill>
              </a:rPr>
              <a:t>PARTIE 1  —  Signalisation, marquages, priorités, stationnements</a:t>
            </a:r>
            <a:endParaRPr lang="en-US" sz="1050" dirty="0"/>
          </a:p>
        </p:txBody>
      </p:sp>
      <p:sp>
        <p:nvSpPr>
          <p:cNvPr id="8" name="Shape 6"/>
          <p:cNvSpPr/>
          <p:nvPr/>
        </p:nvSpPr>
        <p:spPr>
          <a:xfrm>
            <a:off x="594360" y="3017520"/>
            <a:ext cx="7315200" cy="502920"/>
          </a:xfrm>
          <a:prstGeom prst="rect">
            <a:avLst/>
          </a:prstGeom>
          <a:solidFill>
            <a:srgbClr val="922B21"/>
          </a:solidFill>
          <a:ln w="12700">
            <a:solidFill>
              <a:srgbClr val="922B21"/>
            </a:solidFill>
            <a:prstDash val="solid"/>
          </a:ln>
        </p:spPr>
        <p:txBody>
          <a:bodyPr/>
          <a:lstStyle/>
          <a:p>
            <a:endParaRPr lang="fr-FR"/>
          </a:p>
        </p:txBody>
      </p:sp>
      <p:sp>
        <p:nvSpPr>
          <p:cNvPr id="9" name="Text 7"/>
          <p:cNvSpPr/>
          <p:nvPr/>
        </p:nvSpPr>
        <p:spPr>
          <a:xfrm>
            <a:off x="731520" y="3017520"/>
            <a:ext cx="7132320" cy="502920"/>
          </a:xfrm>
          <a:prstGeom prst="rect">
            <a:avLst/>
          </a:prstGeom>
          <a:noFill/>
          <a:ln/>
        </p:spPr>
        <p:txBody>
          <a:bodyPr wrap="square" rtlCol="0" anchor="ctr"/>
          <a:lstStyle/>
          <a:p>
            <a:pPr marL="0" indent="0">
              <a:buNone/>
            </a:pPr>
            <a:r>
              <a:rPr lang="en-US" sz="1050" dirty="0">
                <a:solidFill>
                  <a:srgbClr val="FFFFFF"/>
                </a:solidFill>
              </a:rPr>
              <a:t>PARTIE 2  —  Distances, véhicules prioritaires, alcool, stationnements avancés</a:t>
            </a:r>
            <a:endParaRPr lang="en-US" sz="1050" dirty="0"/>
          </a:p>
        </p:txBody>
      </p:sp>
      <p:sp>
        <p:nvSpPr>
          <p:cNvPr id="10" name="Shape 8"/>
          <p:cNvSpPr/>
          <p:nvPr/>
        </p:nvSpPr>
        <p:spPr>
          <a:xfrm>
            <a:off x="594360" y="3611880"/>
            <a:ext cx="7315200" cy="502920"/>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731520" y="3611880"/>
            <a:ext cx="7132320" cy="502920"/>
          </a:xfrm>
          <a:prstGeom prst="rect">
            <a:avLst/>
          </a:prstGeom>
          <a:noFill/>
          <a:ln/>
        </p:spPr>
        <p:txBody>
          <a:bodyPr wrap="square" rtlCol="0" anchor="ctr"/>
          <a:lstStyle/>
          <a:p>
            <a:pPr marL="0" indent="0">
              <a:buNone/>
            </a:pPr>
            <a:r>
              <a:rPr lang="en-US" sz="1050" dirty="0">
                <a:solidFill>
                  <a:srgbClr val="FFFFFF"/>
                </a:solidFill>
              </a:rPr>
              <a:t>PARTIE 3  —  Sanctions, éco-conduite, contrôle technique, accidents, permis</a:t>
            </a:r>
            <a:endParaRPr lang="en-US" sz="1050" dirty="0"/>
          </a:p>
        </p:txBody>
      </p:sp>
      <p:sp>
        <p:nvSpPr>
          <p:cNvPr id="12" name="Text 10"/>
          <p:cNvSpPr/>
          <p:nvPr/>
        </p:nvSpPr>
        <p:spPr>
          <a:xfrm>
            <a:off x="594360" y="4736592"/>
            <a:ext cx="8229600" cy="274320"/>
          </a:xfrm>
          <a:prstGeom prst="rect">
            <a:avLst/>
          </a:prstGeom>
          <a:noFill/>
          <a:ln/>
        </p:spPr>
        <p:txBody>
          <a:bodyPr wrap="square" rtlCol="0" anchor="ctr"/>
          <a:lstStyle/>
          <a:p>
            <a:pPr marL="0" indent="0">
              <a:buNone/>
            </a:pPr>
            <a:r>
              <a:rPr lang="en-US" sz="800" dirty="0">
                <a:solidFill>
                  <a:srgbClr val="ABB2B9"/>
                </a:solidFill>
              </a:rPr>
              <a:t>3 parties — Formation certifiée Qualiopi  •  Déclaration n° 84 69 15114 69  •  Lyon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C2833"/>
          </a:solidFill>
          <a:ln w="12700">
            <a:solidFill>
              <a:srgbClr val="1C2833"/>
            </a:solidFill>
            <a:prstDash val="solid"/>
          </a:ln>
        </p:spPr>
        <p:txBody>
          <a:bodyPr/>
          <a:lstStyle/>
          <a:p>
            <a:endParaRPr lang="fr-FR"/>
          </a:p>
        </p:txBody>
      </p:sp>
      <p:sp>
        <p:nvSpPr>
          <p:cNvPr id="3" name="Text 1"/>
          <p:cNvSpPr/>
          <p:nvPr/>
        </p:nvSpPr>
        <p:spPr>
          <a:xfrm>
            <a:off x="365760" y="36576"/>
            <a:ext cx="7315200" cy="457200"/>
          </a:xfrm>
          <a:prstGeom prst="rect">
            <a:avLst/>
          </a:prstGeom>
          <a:noFill/>
          <a:ln/>
        </p:spPr>
        <p:txBody>
          <a:bodyPr wrap="square" rtlCol="0" anchor="ctr"/>
          <a:lstStyle/>
          <a:p>
            <a:pPr marL="0" indent="0">
              <a:buNone/>
            </a:pPr>
            <a:r>
              <a:rPr lang="en-US" sz="2400" b="1" dirty="0">
                <a:solidFill>
                  <a:srgbClr val="FFFFFF"/>
                </a:solidFill>
              </a:rPr>
              <a:t>SOMMAIRE GÉNÉRAL</a:t>
            </a:r>
            <a:endParaRPr lang="en-US" sz="2400" dirty="0"/>
          </a:p>
        </p:txBody>
      </p:sp>
      <p:sp>
        <p:nvSpPr>
          <p:cNvPr id="4" name="Text 2"/>
          <p:cNvSpPr/>
          <p:nvPr/>
        </p:nvSpPr>
        <p:spPr>
          <a:xfrm>
            <a:off x="365760" y="493776"/>
            <a:ext cx="7315200" cy="310896"/>
          </a:xfrm>
          <a:prstGeom prst="rect">
            <a:avLst/>
          </a:prstGeom>
          <a:noFill/>
          <a:ln/>
        </p:spPr>
        <p:txBody>
          <a:bodyPr wrap="square" rtlCol="0" anchor="ctr"/>
          <a:lstStyle/>
          <a:p>
            <a:pPr marL="0" indent="0">
              <a:buNone/>
            </a:pPr>
            <a:r>
              <a:rPr lang="en-US" sz="1100" i="1" dirty="0">
                <a:solidFill>
                  <a:srgbClr val="D35400"/>
                </a:solidFill>
              </a:rPr>
              <a:t>3 parties — Sécurité Routière</a:t>
            </a:r>
            <a:endParaRPr lang="en-US" sz="1100" dirty="0"/>
          </a:p>
        </p:txBody>
      </p:sp>
      <p:sp>
        <p:nvSpPr>
          <p:cNvPr id="5" name="Shape 3"/>
          <p:cNvSpPr/>
          <p:nvPr/>
        </p:nvSpPr>
        <p:spPr>
          <a:xfrm>
            <a:off x="228600" y="960120"/>
            <a:ext cx="2788920" cy="384048"/>
          </a:xfrm>
          <a:prstGeom prst="rect">
            <a:avLst/>
          </a:prstGeom>
          <a:solidFill>
            <a:srgbClr val="C0392B"/>
          </a:solidFill>
          <a:ln w="12700">
            <a:solidFill>
              <a:srgbClr val="C0392B"/>
            </a:solidFill>
            <a:prstDash val="solid"/>
          </a:ln>
        </p:spPr>
        <p:txBody>
          <a:bodyPr/>
          <a:lstStyle/>
          <a:p>
            <a:endParaRPr lang="fr-FR"/>
          </a:p>
        </p:txBody>
      </p:sp>
      <p:sp>
        <p:nvSpPr>
          <p:cNvPr id="6" name="Text 4"/>
          <p:cNvSpPr/>
          <p:nvPr/>
        </p:nvSpPr>
        <p:spPr>
          <a:xfrm>
            <a:off x="301752" y="960120"/>
            <a:ext cx="2743200" cy="384048"/>
          </a:xfrm>
          <a:prstGeom prst="rect">
            <a:avLst/>
          </a:prstGeom>
          <a:noFill/>
          <a:ln/>
        </p:spPr>
        <p:txBody>
          <a:bodyPr wrap="square" rtlCol="0" anchor="ctr"/>
          <a:lstStyle/>
          <a:p>
            <a:pPr marL="0" indent="0">
              <a:buNone/>
            </a:pPr>
            <a:r>
              <a:rPr lang="en-US" sz="1100" b="1" dirty="0">
                <a:solidFill>
                  <a:srgbClr val="FFFFFF"/>
                </a:solidFill>
              </a:rPr>
              <a:t>PARTIE 1</a:t>
            </a:r>
            <a:endParaRPr lang="en-US" sz="1100" dirty="0"/>
          </a:p>
        </p:txBody>
      </p:sp>
      <p:sp>
        <p:nvSpPr>
          <p:cNvPr id="7" name="Shape 5"/>
          <p:cNvSpPr/>
          <p:nvPr/>
        </p:nvSpPr>
        <p:spPr>
          <a:xfrm>
            <a:off x="228600" y="1389888"/>
            <a:ext cx="2788920" cy="457200"/>
          </a:xfrm>
          <a:prstGeom prst="rect">
            <a:avLst/>
          </a:prstGeom>
          <a:solidFill>
            <a:srgbClr val="FFFFFF"/>
          </a:solidFill>
          <a:ln w="12700">
            <a:solidFill>
              <a:srgbClr val="D5D8DC"/>
            </a:solidFill>
            <a:prstDash val="solid"/>
          </a:ln>
        </p:spPr>
        <p:txBody>
          <a:bodyPr/>
          <a:lstStyle/>
          <a:p>
            <a:endParaRPr lang="fr-FR"/>
          </a:p>
        </p:txBody>
      </p:sp>
      <p:sp>
        <p:nvSpPr>
          <p:cNvPr id="8" name="Text 6"/>
          <p:cNvSpPr/>
          <p:nvPr/>
        </p:nvSpPr>
        <p:spPr>
          <a:xfrm>
            <a:off x="320040" y="1389888"/>
            <a:ext cx="2651760" cy="457200"/>
          </a:xfrm>
          <a:prstGeom prst="rect">
            <a:avLst/>
          </a:prstGeom>
          <a:noFill/>
          <a:ln/>
        </p:spPr>
        <p:txBody>
          <a:bodyPr wrap="square" rtlCol="0" anchor="ctr"/>
          <a:lstStyle/>
          <a:p>
            <a:pPr marL="0" indent="0">
              <a:buNone/>
            </a:pPr>
            <a:r>
              <a:rPr lang="en-US" sz="850" dirty="0">
                <a:solidFill>
                  <a:srgbClr val="1C2833"/>
                </a:solidFill>
              </a:rPr>
              <a:t>Avertisseurs sonore &amp; lumineux</a:t>
            </a:r>
            <a:endParaRPr lang="en-US" sz="850" dirty="0"/>
          </a:p>
        </p:txBody>
      </p:sp>
      <p:sp>
        <p:nvSpPr>
          <p:cNvPr id="9" name="Shape 7"/>
          <p:cNvSpPr/>
          <p:nvPr/>
        </p:nvSpPr>
        <p:spPr>
          <a:xfrm>
            <a:off x="228600" y="1883664"/>
            <a:ext cx="2788920" cy="457200"/>
          </a:xfrm>
          <a:prstGeom prst="rect">
            <a:avLst/>
          </a:prstGeom>
          <a:solidFill>
            <a:srgbClr val="FFFFFF"/>
          </a:solidFill>
          <a:ln w="12700">
            <a:solidFill>
              <a:srgbClr val="D5D8DC"/>
            </a:solidFill>
            <a:prstDash val="solid"/>
          </a:ln>
        </p:spPr>
        <p:txBody>
          <a:bodyPr/>
          <a:lstStyle/>
          <a:p>
            <a:endParaRPr lang="fr-FR"/>
          </a:p>
        </p:txBody>
      </p:sp>
      <p:sp>
        <p:nvSpPr>
          <p:cNvPr id="10" name="Text 8"/>
          <p:cNvSpPr/>
          <p:nvPr/>
        </p:nvSpPr>
        <p:spPr>
          <a:xfrm>
            <a:off x="320040" y="1883664"/>
            <a:ext cx="2651760" cy="457200"/>
          </a:xfrm>
          <a:prstGeom prst="rect">
            <a:avLst/>
          </a:prstGeom>
          <a:noFill/>
          <a:ln/>
        </p:spPr>
        <p:txBody>
          <a:bodyPr wrap="square" rtlCol="0" anchor="ctr"/>
          <a:lstStyle/>
          <a:p>
            <a:pPr marL="0" indent="0">
              <a:buNone/>
            </a:pPr>
            <a:r>
              <a:rPr lang="en-US" sz="850" dirty="0">
                <a:solidFill>
                  <a:srgbClr val="1C2833"/>
                </a:solidFill>
              </a:rPr>
              <a:t>Vérifications véhicule</a:t>
            </a:r>
            <a:endParaRPr lang="en-US" sz="850" dirty="0"/>
          </a:p>
        </p:txBody>
      </p:sp>
      <p:sp>
        <p:nvSpPr>
          <p:cNvPr id="11" name="Shape 9"/>
          <p:cNvSpPr/>
          <p:nvPr/>
        </p:nvSpPr>
        <p:spPr>
          <a:xfrm>
            <a:off x="228600" y="2377440"/>
            <a:ext cx="2788920" cy="457200"/>
          </a:xfrm>
          <a:prstGeom prst="rect">
            <a:avLst/>
          </a:prstGeom>
          <a:solidFill>
            <a:srgbClr val="FFFFFF"/>
          </a:solidFill>
          <a:ln w="12700">
            <a:solidFill>
              <a:srgbClr val="D5D8DC"/>
            </a:solidFill>
            <a:prstDash val="solid"/>
          </a:ln>
        </p:spPr>
        <p:txBody>
          <a:bodyPr/>
          <a:lstStyle/>
          <a:p>
            <a:endParaRPr lang="fr-FR"/>
          </a:p>
        </p:txBody>
      </p:sp>
      <p:sp>
        <p:nvSpPr>
          <p:cNvPr id="12" name="Text 10"/>
          <p:cNvSpPr/>
          <p:nvPr/>
        </p:nvSpPr>
        <p:spPr>
          <a:xfrm>
            <a:off x="320040" y="2377440"/>
            <a:ext cx="2651760" cy="457200"/>
          </a:xfrm>
          <a:prstGeom prst="rect">
            <a:avLst/>
          </a:prstGeom>
          <a:noFill/>
          <a:ln/>
        </p:spPr>
        <p:txBody>
          <a:bodyPr wrap="square" rtlCol="0" anchor="ctr"/>
          <a:lstStyle/>
          <a:p>
            <a:pPr marL="0" indent="0">
              <a:buNone/>
            </a:pPr>
            <a:r>
              <a:rPr lang="en-US" sz="850" dirty="0">
                <a:solidFill>
                  <a:srgbClr val="1C2833"/>
                </a:solidFill>
              </a:rPr>
              <a:t>Panneaux de prescription &amp; d'indication</a:t>
            </a:r>
            <a:endParaRPr lang="en-US" sz="850" dirty="0"/>
          </a:p>
        </p:txBody>
      </p:sp>
      <p:sp>
        <p:nvSpPr>
          <p:cNvPr id="13" name="Shape 11"/>
          <p:cNvSpPr/>
          <p:nvPr/>
        </p:nvSpPr>
        <p:spPr>
          <a:xfrm>
            <a:off x="228600" y="2871216"/>
            <a:ext cx="2788920" cy="457200"/>
          </a:xfrm>
          <a:prstGeom prst="rect">
            <a:avLst/>
          </a:prstGeom>
          <a:solidFill>
            <a:srgbClr val="FFFFFF"/>
          </a:solidFill>
          <a:ln w="12700">
            <a:solidFill>
              <a:srgbClr val="D5D8DC"/>
            </a:solidFill>
            <a:prstDash val="solid"/>
          </a:ln>
        </p:spPr>
        <p:txBody>
          <a:bodyPr/>
          <a:lstStyle/>
          <a:p>
            <a:endParaRPr lang="fr-FR"/>
          </a:p>
        </p:txBody>
      </p:sp>
      <p:sp>
        <p:nvSpPr>
          <p:cNvPr id="14" name="Text 12"/>
          <p:cNvSpPr/>
          <p:nvPr/>
        </p:nvSpPr>
        <p:spPr>
          <a:xfrm>
            <a:off x="320040" y="2871216"/>
            <a:ext cx="2651760" cy="457200"/>
          </a:xfrm>
          <a:prstGeom prst="rect">
            <a:avLst/>
          </a:prstGeom>
          <a:noFill/>
          <a:ln/>
        </p:spPr>
        <p:txBody>
          <a:bodyPr wrap="square" rtlCol="0" anchor="ctr"/>
          <a:lstStyle/>
          <a:p>
            <a:pPr marL="0" indent="0">
              <a:buNone/>
            </a:pPr>
            <a:r>
              <a:rPr lang="en-US" sz="850" dirty="0">
                <a:solidFill>
                  <a:srgbClr val="1C2833"/>
                </a:solidFill>
              </a:rPr>
              <a:t>Marquages au sol &amp; voies</a:t>
            </a:r>
            <a:endParaRPr lang="en-US" sz="850" dirty="0"/>
          </a:p>
        </p:txBody>
      </p:sp>
      <p:sp>
        <p:nvSpPr>
          <p:cNvPr id="15" name="Shape 13"/>
          <p:cNvSpPr/>
          <p:nvPr/>
        </p:nvSpPr>
        <p:spPr>
          <a:xfrm>
            <a:off x="228600" y="3364992"/>
            <a:ext cx="2788920" cy="457200"/>
          </a:xfrm>
          <a:prstGeom prst="rect">
            <a:avLst/>
          </a:prstGeom>
          <a:solidFill>
            <a:srgbClr val="FFFFFF"/>
          </a:solidFill>
          <a:ln w="12700">
            <a:solidFill>
              <a:srgbClr val="D5D8DC"/>
            </a:solidFill>
            <a:prstDash val="solid"/>
          </a:ln>
        </p:spPr>
        <p:txBody>
          <a:bodyPr/>
          <a:lstStyle/>
          <a:p>
            <a:endParaRPr lang="fr-FR"/>
          </a:p>
        </p:txBody>
      </p:sp>
      <p:sp>
        <p:nvSpPr>
          <p:cNvPr id="16" name="Text 14"/>
          <p:cNvSpPr/>
          <p:nvPr/>
        </p:nvSpPr>
        <p:spPr>
          <a:xfrm>
            <a:off x="320040" y="3364992"/>
            <a:ext cx="2651760" cy="457200"/>
          </a:xfrm>
          <a:prstGeom prst="rect">
            <a:avLst/>
          </a:prstGeom>
          <a:noFill/>
          <a:ln/>
        </p:spPr>
        <p:txBody>
          <a:bodyPr wrap="square" rtlCol="0" anchor="ctr"/>
          <a:lstStyle/>
          <a:p>
            <a:pPr marL="0" indent="0">
              <a:buNone/>
            </a:pPr>
            <a:r>
              <a:rPr lang="en-US" sz="850" dirty="0">
                <a:solidFill>
                  <a:srgbClr val="1C2833"/>
                </a:solidFill>
              </a:rPr>
              <a:t>Stationnements alterné/payant</a:t>
            </a:r>
            <a:endParaRPr lang="en-US" sz="850" dirty="0"/>
          </a:p>
        </p:txBody>
      </p:sp>
      <p:sp>
        <p:nvSpPr>
          <p:cNvPr id="17" name="Shape 15"/>
          <p:cNvSpPr/>
          <p:nvPr/>
        </p:nvSpPr>
        <p:spPr>
          <a:xfrm>
            <a:off x="228600" y="3858768"/>
            <a:ext cx="2788920" cy="457200"/>
          </a:xfrm>
          <a:prstGeom prst="rect">
            <a:avLst/>
          </a:prstGeom>
          <a:solidFill>
            <a:srgbClr val="FFFFFF"/>
          </a:solidFill>
          <a:ln w="12700">
            <a:solidFill>
              <a:srgbClr val="D5D8DC"/>
            </a:solidFill>
            <a:prstDash val="solid"/>
          </a:ln>
        </p:spPr>
        <p:txBody>
          <a:bodyPr/>
          <a:lstStyle/>
          <a:p>
            <a:endParaRPr lang="fr-FR"/>
          </a:p>
        </p:txBody>
      </p:sp>
      <p:sp>
        <p:nvSpPr>
          <p:cNvPr id="18" name="Text 16"/>
          <p:cNvSpPr/>
          <p:nvPr/>
        </p:nvSpPr>
        <p:spPr>
          <a:xfrm>
            <a:off x="320040" y="3858768"/>
            <a:ext cx="2651760" cy="457200"/>
          </a:xfrm>
          <a:prstGeom prst="rect">
            <a:avLst/>
          </a:prstGeom>
          <a:noFill/>
          <a:ln/>
        </p:spPr>
        <p:txBody>
          <a:bodyPr wrap="square" rtlCol="0" anchor="ctr"/>
          <a:lstStyle/>
          <a:p>
            <a:pPr marL="0" indent="0">
              <a:buNone/>
            </a:pPr>
            <a:r>
              <a:rPr lang="en-US" sz="850" dirty="0">
                <a:solidFill>
                  <a:srgbClr val="1C2833"/>
                </a:solidFill>
              </a:rPr>
              <a:t>Priorités, croisements &amp; feux</a:t>
            </a:r>
            <a:endParaRPr lang="en-US" sz="850" dirty="0"/>
          </a:p>
        </p:txBody>
      </p:sp>
      <p:sp>
        <p:nvSpPr>
          <p:cNvPr id="19" name="Shape 17"/>
          <p:cNvSpPr/>
          <p:nvPr/>
        </p:nvSpPr>
        <p:spPr>
          <a:xfrm>
            <a:off x="228600" y="4352544"/>
            <a:ext cx="2788920" cy="457200"/>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320040" y="4352544"/>
            <a:ext cx="2651760" cy="457200"/>
          </a:xfrm>
          <a:prstGeom prst="rect">
            <a:avLst/>
          </a:prstGeom>
          <a:noFill/>
          <a:ln/>
        </p:spPr>
        <p:txBody>
          <a:bodyPr wrap="square" rtlCol="0" anchor="ctr"/>
          <a:lstStyle/>
          <a:p>
            <a:pPr marL="0" indent="0">
              <a:buNone/>
            </a:pPr>
            <a:r>
              <a:rPr lang="en-US" sz="950" b="1" dirty="0">
                <a:solidFill>
                  <a:srgbClr val="FFFFFF"/>
                </a:solidFill>
              </a:rPr>
              <a:t>→ Synthèse P1</a:t>
            </a:r>
            <a:endParaRPr lang="en-US" sz="950" dirty="0"/>
          </a:p>
        </p:txBody>
      </p:sp>
      <p:sp>
        <p:nvSpPr>
          <p:cNvPr id="21" name="Shape 19"/>
          <p:cNvSpPr/>
          <p:nvPr/>
        </p:nvSpPr>
        <p:spPr>
          <a:xfrm>
            <a:off x="3200400" y="960120"/>
            <a:ext cx="2788920" cy="384048"/>
          </a:xfrm>
          <a:prstGeom prst="rect">
            <a:avLst/>
          </a:prstGeom>
          <a:solidFill>
            <a:srgbClr val="922B21"/>
          </a:solidFill>
          <a:ln w="12700">
            <a:solidFill>
              <a:srgbClr val="922B21"/>
            </a:solidFill>
            <a:prstDash val="solid"/>
          </a:ln>
        </p:spPr>
        <p:txBody>
          <a:bodyPr/>
          <a:lstStyle/>
          <a:p>
            <a:endParaRPr lang="fr-FR"/>
          </a:p>
        </p:txBody>
      </p:sp>
      <p:sp>
        <p:nvSpPr>
          <p:cNvPr id="22" name="Text 20"/>
          <p:cNvSpPr/>
          <p:nvPr/>
        </p:nvSpPr>
        <p:spPr>
          <a:xfrm>
            <a:off x="3273552" y="960120"/>
            <a:ext cx="2743200" cy="384048"/>
          </a:xfrm>
          <a:prstGeom prst="rect">
            <a:avLst/>
          </a:prstGeom>
          <a:noFill/>
          <a:ln/>
        </p:spPr>
        <p:txBody>
          <a:bodyPr wrap="square" rtlCol="0" anchor="ctr"/>
          <a:lstStyle/>
          <a:p>
            <a:pPr marL="0" indent="0">
              <a:buNone/>
            </a:pPr>
            <a:r>
              <a:rPr lang="en-US" sz="1100" b="1" dirty="0">
                <a:solidFill>
                  <a:srgbClr val="FFFFFF"/>
                </a:solidFill>
              </a:rPr>
              <a:t>PARTIE 2</a:t>
            </a:r>
            <a:endParaRPr lang="en-US" sz="1100" dirty="0"/>
          </a:p>
        </p:txBody>
      </p:sp>
      <p:sp>
        <p:nvSpPr>
          <p:cNvPr id="23" name="Shape 21"/>
          <p:cNvSpPr/>
          <p:nvPr/>
        </p:nvSpPr>
        <p:spPr>
          <a:xfrm>
            <a:off x="3200400" y="1389888"/>
            <a:ext cx="2788920" cy="457200"/>
          </a:xfrm>
          <a:prstGeom prst="rect">
            <a:avLst/>
          </a:prstGeom>
          <a:solidFill>
            <a:srgbClr val="FFFFFF"/>
          </a:solidFill>
          <a:ln w="12700">
            <a:solidFill>
              <a:srgbClr val="D5D8DC"/>
            </a:solidFill>
            <a:prstDash val="solid"/>
          </a:ln>
        </p:spPr>
        <p:txBody>
          <a:bodyPr/>
          <a:lstStyle/>
          <a:p>
            <a:endParaRPr lang="fr-FR"/>
          </a:p>
        </p:txBody>
      </p:sp>
      <p:sp>
        <p:nvSpPr>
          <p:cNvPr id="24" name="Text 22"/>
          <p:cNvSpPr/>
          <p:nvPr/>
        </p:nvSpPr>
        <p:spPr>
          <a:xfrm>
            <a:off x="3291840" y="1389888"/>
            <a:ext cx="2651760" cy="457200"/>
          </a:xfrm>
          <a:prstGeom prst="rect">
            <a:avLst/>
          </a:prstGeom>
          <a:noFill/>
          <a:ln/>
        </p:spPr>
        <p:txBody>
          <a:bodyPr wrap="square" rtlCol="0" anchor="ctr"/>
          <a:lstStyle/>
          <a:p>
            <a:pPr marL="0" indent="0">
              <a:buNone/>
            </a:pPr>
            <a:r>
              <a:rPr lang="en-US" sz="850" dirty="0">
                <a:solidFill>
                  <a:srgbClr val="1C2833"/>
                </a:solidFill>
              </a:rPr>
              <a:t>Distances réaction/arrêt/freinage</a:t>
            </a:r>
            <a:endParaRPr lang="en-US" sz="850" dirty="0"/>
          </a:p>
        </p:txBody>
      </p:sp>
      <p:sp>
        <p:nvSpPr>
          <p:cNvPr id="25" name="Shape 23"/>
          <p:cNvSpPr/>
          <p:nvPr/>
        </p:nvSpPr>
        <p:spPr>
          <a:xfrm>
            <a:off x="3200400" y="1883664"/>
            <a:ext cx="2788920" cy="457200"/>
          </a:xfrm>
          <a:prstGeom prst="rect">
            <a:avLst/>
          </a:prstGeom>
          <a:solidFill>
            <a:srgbClr val="FFFFFF"/>
          </a:solidFill>
          <a:ln w="12700">
            <a:solidFill>
              <a:srgbClr val="D5D8DC"/>
            </a:solidFill>
            <a:prstDash val="solid"/>
          </a:ln>
        </p:spPr>
        <p:txBody>
          <a:bodyPr/>
          <a:lstStyle/>
          <a:p>
            <a:endParaRPr lang="fr-FR"/>
          </a:p>
        </p:txBody>
      </p:sp>
      <p:sp>
        <p:nvSpPr>
          <p:cNvPr id="26" name="Text 24"/>
          <p:cNvSpPr/>
          <p:nvPr/>
        </p:nvSpPr>
        <p:spPr>
          <a:xfrm>
            <a:off x="3291840" y="1883664"/>
            <a:ext cx="2651760" cy="457200"/>
          </a:xfrm>
          <a:prstGeom prst="rect">
            <a:avLst/>
          </a:prstGeom>
          <a:noFill/>
          <a:ln/>
        </p:spPr>
        <p:txBody>
          <a:bodyPr wrap="square" rtlCol="0" anchor="ctr"/>
          <a:lstStyle/>
          <a:p>
            <a:pPr marL="0" indent="0">
              <a:buNone/>
            </a:pPr>
            <a:r>
              <a:rPr lang="en-US" sz="850" dirty="0">
                <a:solidFill>
                  <a:srgbClr val="1C2833"/>
                </a:solidFill>
              </a:rPr>
              <a:t>Distance de sécurité (×6)</a:t>
            </a:r>
            <a:endParaRPr lang="en-US" sz="850" dirty="0"/>
          </a:p>
        </p:txBody>
      </p:sp>
      <p:sp>
        <p:nvSpPr>
          <p:cNvPr id="27" name="Shape 25"/>
          <p:cNvSpPr/>
          <p:nvPr/>
        </p:nvSpPr>
        <p:spPr>
          <a:xfrm>
            <a:off x="3200400" y="2377440"/>
            <a:ext cx="2788920" cy="457200"/>
          </a:xfrm>
          <a:prstGeom prst="rect">
            <a:avLst/>
          </a:prstGeom>
          <a:solidFill>
            <a:srgbClr val="FFFFFF"/>
          </a:solidFill>
          <a:ln w="12700">
            <a:solidFill>
              <a:srgbClr val="D5D8DC"/>
            </a:solidFill>
            <a:prstDash val="solid"/>
          </a:ln>
        </p:spPr>
        <p:txBody>
          <a:bodyPr/>
          <a:lstStyle/>
          <a:p>
            <a:endParaRPr lang="fr-FR"/>
          </a:p>
        </p:txBody>
      </p:sp>
      <p:sp>
        <p:nvSpPr>
          <p:cNvPr id="28" name="Text 26"/>
          <p:cNvSpPr/>
          <p:nvPr/>
        </p:nvSpPr>
        <p:spPr>
          <a:xfrm>
            <a:off x="3291840" y="2377440"/>
            <a:ext cx="2651760" cy="457200"/>
          </a:xfrm>
          <a:prstGeom prst="rect">
            <a:avLst/>
          </a:prstGeom>
          <a:noFill/>
          <a:ln/>
        </p:spPr>
        <p:txBody>
          <a:bodyPr wrap="square" rtlCol="0" anchor="ctr"/>
          <a:lstStyle/>
          <a:p>
            <a:pPr marL="0" indent="0">
              <a:buNone/>
            </a:pPr>
            <a:r>
              <a:rPr lang="en-US" sz="850" dirty="0">
                <a:solidFill>
                  <a:srgbClr val="1C2833"/>
                </a:solidFill>
              </a:rPr>
              <a:t>Siège auto &amp; Isofix</a:t>
            </a:r>
            <a:endParaRPr lang="en-US" sz="850" dirty="0"/>
          </a:p>
        </p:txBody>
      </p:sp>
      <p:sp>
        <p:nvSpPr>
          <p:cNvPr id="29" name="Shape 27"/>
          <p:cNvSpPr/>
          <p:nvPr/>
        </p:nvSpPr>
        <p:spPr>
          <a:xfrm>
            <a:off x="3200400" y="2871216"/>
            <a:ext cx="2788920" cy="457200"/>
          </a:xfrm>
          <a:prstGeom prst="rect">
            <a:avLst/>
          </a:prstGeom>
          <a:solidFill>
            <a:srgbClr val="FFFFFF"/>
          </a:solidFill>
          <a:ln w="12700">
            <a:solidFill>
              <a:srgbClr val="D5D8DC"/>
            </a:solidFill>
            <a:prstDash val="solid"/>
          </a:ln>
        </p:spPr>
        <p:txBody>
          <a:bodyPr/>
          <a:lstStyle/>
          <a:p>
            <a:endParaRPr lang="fr-FR"/>
          </a:p>
        </p:txBody>
      </p:sp>
      <p:sp>
        <p:nvSpPr>
          <p:cNvPr id="30" name="Text 28"/>
          <p:cNvSpPr/>
          <p:nvPr/>
        </p:nvSpPr>
        <p:spPr>
          <a:xfrm>
            <a:off x="3291840" y="2871216"/>
            <a:ext cx="2651760" cy="457200"/>
          </a:xfrm>
          <a:prstGeom prst="rect">
            <a:avLst/>
          </a:prstGeom>
          <a:noFill/>
          <a:ln/>
        </p:spPr>
        <p:txBody>
          <a:bodyPr wrap="square" rtlCol="0" anchor="ctr"/>
          <a:lstStyle/>
          <a:p>
            <a:pPr marL="0" indent="0">
              <a:buNone/>
            </a:pPr>
            <a:r>
              <a:rPr lang="en-US" sz="850" dirty="0">
                <a:solidFill>
                  <a:srgbClr val="1C2833"/>
                </a:solidFill>
              </a:rPr>
              <a:t>Dépassements &amp; véhicules prioritaires</a:t>
            </a:r>
            <a:endParaRPr lang="en-US" sz="850" dirty="0"/>
          </a:p>
        </p:txBody>
      </p:sp>
      <p:sp>
        <p:nvSpPr>
          <p:cNvPr id="31" name="Shape 29"/>
          <p:cNvSpPr/>
          <p:nvPr/>
        </p:nvSpPr>
        <p:spPr>
          <a:xfrm>
            <a:off x="3200400" y="3364992"/>
            <a:ext cx="2788920" cy="457200"/>
          </a:xfrm>
          <a:prstGeom prst="rect">
            <a:avLst/>
          </a:prstGeom>
          <a:solidFill>
            <a:srgbClr val="FFFFFF"/>
          </a:solidFill>
          <a:ln w="12700">
            <a:solidFill>
              <a:srgbClr val="D5D8DC"/>
            </a:solidFill>
            <a:prstDash val="solid"/>
          </a:ln>
        </p:spPr>
        <p:txBody>
          <a:bodyPr/>
          <a:lstStyle/>
          <a:p>
            <a:endParaRPr lang="fr-FR"/>
          </a:p>
        </p:txBody>
      </p:sp>
      <p:sp>
        <p:nvSpPr>
          <p:cNvPr id="32" name="Text 30"/>
          <p:cNvSpPr/>
          <p:nvPr/>
        </p:nvSpPr>
        <p:spPr>
          <a:xfrm>
            <a:off x="3291840" y="3364992"/>
            <a:ext cx="2651760" cy="457200"/>
          </a:xfrm>
          <a:prstGeom prst="rect">
            <a:avLst/>
          </a:prstGeom>
          <a:noFill/>
          <a:ln/>
        </p:spPr>
        <p:txBody>
          <a:bodyPr wrap="square" rtlCol="0" anchor="ctr"/>
          <a:lstStyle/>
          <a:p>
            <a:pPr marL="0" indent="0">
              <a:buNone/>
            </a:pPr>
            <a:r>
              <a:rPr lang="en-US" sz="850" dirty="0">
                <a:solidFill>
                  <a:srgbClr val="1C2833"/>
                </a:solidFill>
              </a:rPr>
              <a:t>Types de stationnements interdits</a:t>
            </a:r>
            <a:endParaRPr lang="en-US" sz="850" dirty="0"/>
          </a:p>
        </p:txBody>
      </p:sp>
      <p:sp>
        <p:nvSpPr>
          <p:cNvPr id="33" name="Shape 31"/>
          <p:cNvSpPr/>
          <p:nvPr/>
        </p:nvSpPr>
        <p:spPr>
          <a:xfrm>
            <a:off x="3200400" y="3858768"/>
            <a:ext cx="2788920" cy="457200"/>
          </a:xfrm>
          <a:prstGeom prst="rect">
            <a:avLst/>
          </a:prstGeom>
          <a:solidFill>
            <a:srgbClr val="FFFFFF"/>
          </a:solidFill>
          <a:ln w="12700">
            <a:solidFill>
              <a:srgbClr val="D5D8DC"/>
            </a:solidFill>
            <a:prstDash val="solid"/>
          </a:ln>
        </p:spPr>
        <p:txBody>
          <a:bodyPr/>
          <a:lstStyle/>
          <a:p>
            <a:endParaRPr lang="fr-FR"/>
          </a:p>
        </p:txBody>
      </p:sp>
      <p:sp>
        <p:nvSpPr>
          <p:cNvPr id="34" name="Text 32"/>
          <p:cNvSpPr/>
          <p:nvPr/>
        </p:nvSpPr>
        <p:spPr>
          <a:xfrm>
            <a:off x="3291840" y="3858768"/>
            <a:ext cx="2651760" cy="457200"/>
          </a:xfrm>
          <a:prstGeom prst="rect">
            <a:avLst/>
          </a:prstGeom>
          <a:noFill/>
          <a:ln/>
        </p:spPr>
        <p:txBody>
          <a:bodyPr wrap="square" rtlCol="0" anchor="ctr"/>
          <a:lstStyle/>
          <a:p>
            <a:pPr marL="0" indent="0">
              <a:buNone/>
            </a:pPr>
            <a:r>
              <a:rPr lang="en-US" sz="850" dirty="0">
                <a:solidFill>
                  <a:srgbClr val="1C2833"/>
                </a:solidFill>
              </a:rPr>
              <a:t>Alcool au volant</a:t>
            </a:r>
            <a:endParaRPr lang="en-US" sz="850" dirty="0"/>
          </a:p>
        </p:txBody>
      </p:sp>
      <p:sp>
        <p:nvSpPr>
          <p:cNvPr id="35" name="Shape 33"/>
          <p:cNvSpPr/>
          <p:nvPr/>
        </p:nvSpPr>
        <p:spPr>
          <a:xfrm>
            <a:off x="3200400" y="4352544"/>
            <a:ext cx="2788920" cy="457200"/>
          </a:xfrm>
          <a:prstGeom prst="rect">
            <a:avLst/>
          </a:prstGeom>
          <a:solidFill>
            <a:srgbClr val="922B21"/>
          </a:solidFill>
          <a:ln w="12700">
            <a:solidFill>
              <a:srgbClr val="922B21"/>
            </a:solidFill>
            <a:prstDash val="solid"/>
          </a:ln>
        </p:spPr>
        <p:txBody>
          <a:bodyPr/>
          <a:lstStyle/>
          <a:p>
            <a:endParaRPr lang="fr-FR"/>
          </a:p>
        </p:txBody>
      </p:sp>
      <p:sp>
        <p:nvSpPr>
          <p:cNvPr id="36" name="Text 34"/>
          <p:cNvSpPr/>
          <p:nvPr/>
        </p:nvSpPr>
        <p:spPr>
          <a:xfrm>
            <a:off x="3291840" y="4352544"/>
            <a:ext cx="2651760" cy="457200"/>
          </a:xfrm>
          <a:prstGeom prst="rect">
            <a:avLst/>
          </a:prstGeom>
          <a:noFill/>
          <a:ln/>
        </p:spPr>
        <p:txBody>
          <a:bodyPr wrap="square" rtlCol="0" anchor="ctr"/>
          <a:lstStyle/>
          <a:p>
            <a:pPr marL="0" indent="0">
              <a:buNone/>
            </a:pPr>
            <a:r>
              <a:rPr lang="en-US" sz="950" b="1" dirty="0">
                <a:solidFill>
                  <a:srgbClr val="FFFFFF"/>
                </a:solidFill>
              </a:rPr>
              <a:t>→ Synthèse P2</a:t>
            </a:r>
            <a:endParaRPr lang="en-US" sz="950" dirty="0"/>
          </a:p>
        </p:txBody>
      </p:sp>
      <p:sp>
        <p:nvSpPr>
          <p:cNvPr id="37" name="Shape 35"/>
          <p:cNvSpPr/>
          <p:nvPr/>
        </p:nvSpPr>
        <p:spPr>
          <a:xfrm>
            <a:off x="6172200" y="960120"/>
            <a:ext cx="2788920" cy="384048"/>
          </a:xfrm>
          <a:prstGeom prst="rect">
            <a:avLst/>
          </a:prstGeom>
          <a:solidFill>
            <a:srgbClr val="D35400"/>
          </a:solidFill>
          <a:ln w="12700">
            <a:solidFill>
              <a:srgbClr val="D35400"/>
            </a:solidFill>
            <a:prstDash val="solid"/>
          </a:ln>
        </p:spPr>
        <p:txBody>
          <a:bodyPr/>
          <a:lstStyle/>
          <a:p>
            <a:endParaRPr lang="fr-FR"/>
          </a:p>
        </p:txBody>
      </p:sp>
      <p:sp>
        <p:nvSpPr>
          <p:cNvPr id="38" name="Text 36"/>
          <p:cNvSpPr/>
          <p:nvPr/>
        </p:nvSpPr>
        <p:spPr>
          <a:xfrm>
            <a:off x="6245352" y="960120"/>
            <a:ext cx="2743200" cy="384048"/>
          </a:xfrm>
          <a:prstGeom prst="rect">
            <a:avLst/>
          </a:prstGeom>
          <a:noFill/>
          <a:ln/>
        </p:spPr>
        <p:txBody>
          <a:bodyPr wrap="square" rtlCol="0" anchor="ctr"/>
          <a:lstStyle/>
          <a:p>
            <a:pPr marL="0" indent="0">
              <a:buNone/>
            </a:pPr>
            <a:r>
              <a:rPr lang="en-US" sz="1100" b="1" dirty="0">
                <a:solidFill>
                  <a:srgbClr val="FFFFFF"/>
                </a:solidFill>
              </a:rPr>
              <a:t>PARTIE 3</a:t>
            </a:r>
            <a:endParaRPr lang="en-US" sz="1100" dirty="0"/>
          </a:p>
        </p:txBody>
      </p:sp>
      <p:sp>
        <p:nvSpPr>
          <p:cNvPr id="39" name="Shape 37"/>
          <p:cNvSpPr/>
          <p:nvPr/>
        </p:nvSpPr>
        <p:spPr>
          <a:xfrm>
            <a:off x="6172200" y="1389888"/>
            <a:ext cx="2788920" cy="457200"/>
          </a:xfrm>
          <a:prstGeom prst="rect">
            <a:avLst/>
          </a:prstGeom>
          <a:solidFill>
            <a:srgbClr val="FFFFFF"/>
          </a:solidFill>
          <a:ln w="12700">
            <a:solidFill>
              <a:srgbClr val="D5D8DC"/>
            </a:solidFill>
            <a:prstDash val="solid"/>
          </a:ln>
        </p:spPr>
        <p:txBody>
          <a:bodyPr/>
          <a:lstStyle/>
          <a:p>
            <a:endParaRPr lang="fr-FR"/>
          </a:p>
        </p:txBody>
      </p:sp>
      <p:sp>
        <p:nvSpPr>
          <p:cNvPr id="40" name="Text 38"/>
          <p:cNvSpPr/>
          <p:nvPr/>
        </p:nvSpPr>
        <p:spPr>
          <a:xfrm>
            <a:off x="6263640" y="1389888"/>
            <a:ext cx="2651760" cy="457200"/>
          </a:xfrm>
          <a:prstGeom prst="rect">
            <a:avLst/>
          </a:prstGeom>
          <a:noFill/>
          <a:ln/>
        </p:spPr>
        <p:txBody>
          <a:bodyPr wrap="square" rtlCol="0" anchor="ctr"/>
          <a:lstStyle/>
          <a:p>
            <a:pPr marL="0" indent="0">
              <a:buNone/>
            </a:pPr>
            <a:r>
              <a:rPr lang="en-US" sz="850" dirty="0">
                <a:solidFill>
                  <a:srgbClr val="1C2833"/>
                </a:solidFill>
              </a:rPr>
              <a:t>Sanctions alcool &amp; stupéfiants</a:t>
            </a:r>
            <a:endParaRPr lang="en-US" sz="850" dirty="0"/>
          </a:p>
        </p:txBody>
      </p:sp>
      <p:sp>
        <p:nvSpPr>
          <p:cNvPr id="41" name="Shape 39"/>
          <p:cNvSpPr/>
          <p:nvPr/>
        </p:nvSpPr>
        <p:spPr>
          <a:xfrm>
            <a:off x="6172200" y="1883664"/>
            <a:ext cx="2788920" cy="457200"/>
          </a:xfrm>
          <a:prstGeom prst="rect">
            <a:avLst/>
          </a:prstGeom>
          <a:solidFill>
            <a:srgbClr val="FFFFFF"/>
          </a:solidFill>
          <a:ln w="12700">
            <a:solidFill>
              <a:srgbClr val="D5D8DC"/>
            </a:solidFill>
            <a:prstDash val="solid"/>
          </a:ln>
        </p:spPr>
        <p:txBody>
          <a:bodyPr/>
          <a:lstStyle/>
          <a:p>
            <a:endParaRPr lang="fr-FR"/>
          </a:p>
        </p:txBody>
      </p:sp>
      <p:sp>
        <p:nvSpPr>
          <p:cNvPr id="42" name="Text 40"/>
          <p:cNvSpPr/>
          <p:nvPr/>
        </p:nvSpPr>
        <p:spPr>
          <a:xfrm>
            <a:off x="6263640" y="1883664"/>
            <a:ext cx="2651760" cy="457200"/>
          </a:xfrm>
          <a:prstGeom prst="rect">
            <a:avLst/>
          </a:prstGeom>
          <a:noFill/>
          <a:ln/>
        </p:spPr>
        <p:txBody>
          <a:bodyPr wrap="square" rtlCol="0" anchor="ctr"/>
          <a:lstStyle/>
          <a:p>
            <a:pPr marL="0" indent="0">
              <a:buNone/>
            </a:pPr>
            <a:r>
              <a:rPr lang="en-US" sz="850" dirty="0">
                <a:solidFill>
                  <a:srgbClr val="1C2833"/>
                </a:solidFill>
              </a:rPr>
              <a:t>Limitations de vitesse</a:t>
            </a:r>
            <a:endParaRPr lang="en-US" sz="850" dirty="0"/>
          </a:p>
        </p:txBody>
      </p:sp>
      <p:sp>
        <p:nvSpPr>
          <p:cNvPr id="43" name="Shape 41"/>
          <p:cNvSpPr/>
          <p:nvPr/>
        </p:nvSpPr>
        <p:spPr>
          <a:xfrm>
            <a:off x="6172200" y="2377440"/>
            <a:ext cx="2788920" cy="457200"/>
          </a:xfrm>
          <a:prstGeom prst="rect">
            <a:avLst/>
          </a:prstGeom>
          <a:solidFill>
            <a:srgbClr val="FFFFFF"/>
          </a:solidFill>
          <a:ln w="12700">
            <a:solidFill>
              <a:srgbClr val="D5D8DC"/>
            </a:solidFill>
            <a:prstDash val="solid"/>
          </a:ln>
        </p:spPr>
        <p:txBody>
          <a:bodyPr/>
          <a:lstStyle/>
          <a:p>
            <a:endParaRPr lang="fr-FR"/>
          </a:p>
        </p:txBody>
      </p:sp>
      <p:sp>
        <p:nvSpPr>
          <p:cNvPr id="44" name="Text 42"/>
          <p:cNvSpPr/>
          <p:nvPr/>
        </p:nvSpPr>
        <p:spPr>
          <a:xfrm>
            <a:off x="6263640" y="2377440"/>
            <a:ext cx="2651760" cy="457200"/>
          </a:xfrm>
          <a:prstGeom prst="rect">
            <a:avLst/>
          </a:prstGeom>
          <a:noFill/>
          <a:ln/>
        </p:spPr>
        <p:txBody>
          <a:bodyPr wrap="square" rtlCol="0" anchor="ctr"/>
          <a:lstStyle/>
          <a:p>
            <a:pPr marL="0" indent="0">
              <a:buNone/>
            </a:pPr>
            <a:r>
              <a:rPr lang="en-US" sz="850" dirty="0">
                <a:solidFill>
                  <a:srgbClr val="1C2833"/>
                </a:solidFill>
              </a:rPr>
              <a:t>Éco-conduite (8 principes)</a:t>
            </a:r>
            <a:endParaRPr lang="en-US" sz="850" dirty="0"/>
          </a:p>
        </p:txBody>
      </p:sp>
      <p:sp>
        <p:nvSpPr>
          <p:cNvPr id="45" name="Shape 43"/>
          <p:cNvSpPr/>
          <p:nvPr/>
        </p:nvSpPr>
        <p:spPr>
          <a:xfrm>
            <a:off x="6172200" y="2871216"/>
            <a:ext cx="2788920" cy="457200"/>
          </a:xfrm>
          <a:prstGeom prst="rect">
            <a:avLst/>
          </a:prstGeom>
          <a:solidFill>
            <a:srgbClr val="FFFFFF"/>
          </a:solidFill>
          <a:ln w="12700">
            <a:solidFill>
              <a:srgbClr val="D5D8DC"/>
            </a:solidFill>
            <a:prstDash val="solid"/>
          </a:ln>
        </p:spPr>
        <p:txBody>
          <a:bodyPr/>
          <a:lstStyle/>
          <a:p>
            <a:endParaRPr lang="fr-FR"/>
          </a:p>
        </p:txBody>
      </p:sp>
      <p:sp>
        <p:nvSpPr>
          <p:cNvPr id="46" name="Text 44"/>
          <p:cNvSpPr/>
          <p:nvPr/>
        </p:nvSpPr>
        <p:spPr>
          <a:xfrm>
            <a:off x="6263640" y="2871216"/>
            <a:ext cx="2651760" cy="457200"/>
          </a:xfrm>
          <a:prstGeom prst="rect">
            <a:avLst/>
          </a:prstGeom>
          <a:noFill/>
          <a:ln/>
        </p:spPr>
        <p:txBody>
          <a:bodyPr wrap="square" rtlCol="0" anchor="ctr"/>
          <a:lstStyle/>
          <a:p>
            <a:pPr marL="0" indent="0">
              <a:buNone/>
            </a:pPr>
            <a:r>
              <a:rPr lang="en-US" sz="850" dirty="0">
                <a:solidFill>
                  <a:srgbClr val="1C2833"/>
                </a:solidFill>
              </a:rPr>
              <a:t>Contrôle technique annuel</a:t>
            </a:r>
            <a:endParaRPr lang="en-US" sz="850" dirty="0"/>
          </a:p>
        </p:txBody>
      </p:sp>
      <p:sp>
        <p:nvSpPr>
          <p:cNvPr id="47" name="Shape 45"/>
          <p:cNvSpPr/>
          <p:nvPr/>
        </p:nvSpPr>
        <p:spPr>
          <a:xfrm>
            <a:off x="6172200" y="3364992"/>
            <a:ext cx="2788920" cy="457200"/>
          </a:xfrm>
          <a:prstGeom prst="rect">
            <a:avLst/>
          </a:prstGeom>
          <a:solidFill>
            <a:srgbClr val="FFFFFF"/>
          </a:solidFill>
          <a:ln w="12700">
            <a:solidFill>
              <a:srgbClr val="D5D8DC"/>
            </a:solidFill>
            <a:prstDash val="solid"/>
          </a:ln>
        </p:spPr>
        <p:txBody>
          <a:bodyPr/>
          <a:lstStyle/>
          <a:p>
            <a:endParaRPr lang="fr-FR"/>
          </a:p>
        </p:txBody>
      </p:sp>
      <p:sp>
        <p:nvSpPr>
          <p:cNvPr id="48" name="Text 46"/>
          <p:cNvSpPr/>
          <p:nvPr/>
        </p:nvSpPr>
        <p:spPr>
          <a:xfrm>
            <a:off x="6263640" y="3364992"/>
            <a:ext cx="2651760" cy="457200"/>
          </a:xfrm>
          <a:prstGeom prst="rect">
            <a:avLst/>
          </a:prstGeom>
          <a:noFill/>
          <a:ln/>
        </p:spPr>
        <p:txBody>
          <a:bodyPr wrap="square" rtlCol="0" anchor="ctr"/>
          <a:lstStyle/>
          <a:p>
            <a:pPr marL="0" indent="0">
              <a:buNone/>
            </a:pPr>
            <a:r>
              <a:rPr lang="en-US" sz="850" dirty="0">
                <a:solidFill>
                  <a:srgbClr val="1C2833"/>
                </a:solidFill>
              </a:rPr>
              <a:t>Accident : PAS · constat · PLS</a:t>
            </a:r>
            <a:endParaRPr lang="en-US" sz="850" dirty="0"/>
          </a:p>
        </p:txBody>
      </p:sp>
      <p:sp>
        <p:nvSpPr>
          <p:cNvPr id="49" name="Shape 47"/>
          <p:cNvSpPr/>
          <p:nvPr/>
        </p:nvSpPr>
        <p:spPr>
          <a:xfrm>
            <a:off x="6172200" y="3858768"/>
            <a:ext cx="2788920" cy="457200"/>
          </a:xfrm>
          <a:prstGeom prst="rect">
            <a:avLst/>
          </a:prstGeom>
          <a:solidFill>
            <a:srgbClr val="FFFFFF"/>
          </a:solidFill>
          <a:ln w="12700">
            <a:solidFill>
              <a:srgbClr val="D5D8DC"/>
            </a:solidFill>
            <a:prstDash val="solid"/>
          </a:ln>
        </p:spPr>
        <p:txBody>
          <a:bodyPr/>
          <a:lstStyle/>
          <a:p>
            <a:endParaRPr lang="fr-FR"/>
          </a:p>
        </p:txBody>
      </p:sp>
      <p:sp>
        <p:nvSpPr>
          <p:cNvPr id="50" name="Text 48"/>
          <p:cNvSpPr/>
          <p:nvPr/>
        </p:nvSpPr>
        <p:spPr>
          <a:xfrm>
            <a:off x="6263640" y="3858768"/>
            <a:ext cx="2651760" cy="457200"/>
          </a:xfrm>
          <a:prstGeom prst="rect">
            <a:avLst/>
          </a:prstGeom>
          <a:noFill/>
          <a:ln/>
        </p:spPr>
        <p:txBody>
          <a:bodyPr wrap="square" rtlCol="0" anchor="ctr"/>
          <a:lstStyle/>
          <a:p>
            <a:pPr marL="0" indent="0">
              <a:buNone/>
            </a:pPr>
            <a:r>
              <a:rPr lang="en-US" sz="850" dirty="0">
                <a:solidFill>
                  <a:srgbClr val="1C2833"/>
                </a:solidFill>
              </a:rPr>
              <a:t>Téléphone au volant</a:t>
            </a:r>
            <a:endParaRPr lang="en-US" sz="850" dirty="0"/>
          </a:p>
        </p:txBody>
      </p:sp>
      <p:sp>
        <p:nvSpPr>
          <p:cNvPr id="51" name="Shape 49"/>
          <p:cNvSpPr/>
          <p:nvPr/>
        </p:nvSpPr>
        <p:spPr>
          <a:xfrm>
            <a:off x="6172200" y="4352544"/>
            <a:ext cx="2788920" cy="457200"/>
          </a:xfrm>
          <a:prstGeom prst="rect">
            <a:avLst/>
          </a:prstGeom>
          <a:solidFill>
            <a:srgbClr val="D35400"/>
          </a:solidFill>
          <a:ln w="12700">
            <a:solidFill>
              <a:srgbClr val="D35400"/>
            </a:solidFill>
            <a:prstDash val="solid"/>
          </a:ln>
        </p:spPr>
        <p:txBody>
          <a:bodyPr/>
          <a:lstStyle/>
          <a:p>
            <a:endParaRPr lang="fr-FR"/>
          </a:p>
        </p:txBody>
      </p:sp>
      <p:sp>
        <p:nvSpPr>
          <p:cNvPr id="52" name="Text 50"/>
          <p:cNvSpPr/>
          <p:nvPr/>
        </p:nvSpPr>
        <p:spPr>
          <a:xfrm>
            <a:off x="6263640" y="4352544"/>
            <a:ext cx="2651760" cy="457200"/>
          </a:xfrm>
          <a:prstGeom prst="rect">
            <a:avLst/>
          </a:prstGeom>
          <a:noFill/>
          <a:ln/>
        </p:spPr>
        <p:txBody>
          <a:bodyPr wrap="square" rtlCol="0" anchor="ctr"/>
          <a:lstStyle/>
          <a:p>
            <a:pPr marL="0" indent="0">
              <a:buNone/>
            </a:pPr>
            <a:r>
              <a:rPr lang="en-US" sz="950" b="1" dirty="0">
                <a:solidFill>
                  <a:srgbClr val="FFFFFF"/>
                </a:solidFill>
              </a:rPr>
              <a:t>→ Synthèse P3 · Permis à points</a:t>
            </a:r>
            <a:endParaRPr lang="en-US" sz="950" dirty="0"/>
          </a:p>
        </p:txBody>
      </p:sp>
      <p:sp>
        <p:nvSpPr>
          <p:cNvPr id="53" name="Shape 51"/>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54" name="Text 52"/>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55" name="Text 53"/>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0392B"/>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FFFFFF"/>
          </a:solidFill>
          <a:ln w="12700">
            <a:solidFill>
              <a:srgbClr val="FFFFFF"/>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1C2833"/>
          </a:solidFill>
          <a:ln w="12700">
            <a:solidFill>
              <a:srgbClr val="1C2833"/>
            </a:solidFill>
            <a:prstDash val="solid"/>
          </a:ln>
        </p:spPr>
        <p:txBody>
          <a:bodyPr/>
          <a:lstStyle/>
          <a:p>
            <a:endParaRPr lang="fr-FR"/>
          </a:p>
        </p:txBody>
      </p:sp>
      <p:sp>
        <p:nvSpPr>
          <p:cNvPr id="4" name="Text 2"/>
          <p:cNvSpPr/>
          <p:nvPr/>
        </p:nvSpPr>
        <p:spPr>
          <a:xfrm>
            <a:off x="731520" y="1188720"/>
            <a:ext cx="8229600" cy="502920"/>
          </a:xfrm>
          <a:prstGeom prst="rect">
            <a:avLst/>
          </a:prstGeom>
          <a:noFill/>
          <a:ln/>
        </p:spPr>
        <p:txBody>
          <a:bodyPr wrap="square" rtlCol="0" anchor="ctr"/>
          <a:lstStyle/>
          <a:p>
            <a:pPr marL="0" indent="0">
              <a:buNone/>
            </a:pPr>
            <a:r>
              <a:rPr lang="en-US" sz="1500" b="1" kern="0" spc="700" dirty="0">
                <a:solidFill>
                  <a:srgbClr val="FFFFFF"/>
                </a:solidFill>
              </a:rPr>
              <a:t>PARTIE 1</a:t>
            </a:r>
            <a:endParaRPr lang="en-US" sz="1500" dirty="0"/>
          </a:p>
        </p:txBody>
      </p:sp>
      <p:sp>
        <p:nvSpPr>
          <p:cNvPr id="5" name="Text 3"/>
          <p:cNvSpPr/>
          <p:nvPr/>
        </p:nvSpPr>
        <p:spPr>
          <a:xfrm>
            <a:off x="731520" y="1691640"/>
            <a:ext cx="8229600" cy="1005840"/>
          </a:xfrm>
          <a:prstGeom prst="rect">
            <a:avLst/>
          </a:prstGeom>
          <a:noFill/>
          <a:ln/>
        </p:spPr>
        <p:txBody>
          <a:bodyPr wrap="square" rtlCol="0" anchor="ctr"/>
          <a:lstStyle/>
          <a:p>
            <a:pPr marL="0" indent="0">
              <a:buNone/>
            </a:pPr>
            <a:r>
              <a:rPr lang="en-US" sz="3800" b="1" dirty="0">
                <a:solidFill>
                  <a:srgbClr val="FFFFFF"/>
                </a:solidFill>
              </a:rPr>
              <a:t>Signalisation, Marquages &amp; Priorités</a:t>
            </a:r>
            <a:endParaRPr lang="en-US" sz="3800" dirty="0"/>
          </a:p>
        </p:txBody>
      </p:sp>
      <p:sp>
        <p:nvSpPr>
          <p:cNvPr id="6" name="Text 4"/>
          <p:cNvSpPr/>
          <p:nvPr/>
        </p:nvSpPr>
        <p:spPr>
          <a:xfrm>
            <a:off x="731520" y="2743200"/>
            <a:ext cx="7772400" cy="502920"/>
          </a:xfrm>
          <a:prstGeom prst="rect">
            <a:avLst/>
          </a:prstGeom>
          <a:noFill/>
          <a:ln/>
        </p:spPr>
        <p:txBody>
          <a:bodyPr wrap="square" rtlCol="0" anchor="ctr"/>
          <a:lstStyle/>
          <a:p>
            <a:pPr marL="0" indent="0">
              <a:buNone/>
            </a:pPr>
            <a:r>
              <a:rPr lang="en-US" sz="1300" i="1" dirty="0">
                <a:solidFill>
                  <a:srgbClr val="FFFFFF"/>
                </a:solidFill>
              </a:rPr>
              <a:t>Avertisseurs · Panneaux · Marquages · Stationnements · Feux</a:t>
            </a:r>
            <a:endParaRPr lang="en-US" sz="1300" dirty="0"/>
          </a:p>
        </p:txBody>
      </p:sp>
      <p:sp>
        <p:nvSpPr>
          <p:cNvPr id="7" name="Text 5"/>
          <p:cNvSpPr/>
          <p:nvPr/>
        </p:nvSpPr>
        <p:spPr>
          <a:xfrm>
            <a:off x="731520" y="4416552"/>
            <a:ext cx="8229600" cy="347472"/>
          </a:xfrm>
          <a:prstGeom prst="rect">
            <a:avLst/>
          </a:prstGeom>
          <a:noFill/>
          <a:ln/>
        </p:spPr>
        <p:txBody>
          <a:bodyPr wrap="square" rtlCol="0" anchor="ctr"/>
          <a:lstStyle/>
          <a:p>
            <a:pPr marL="0" indent="0">
              <a:buNone/>
            </a:pPr>
            <a:r>
              <a:rPr lang="en-US" sz="750" dirty="0">
                <a:solidFill>
                  <a:srgbClr val="ABB2B9"/>
                </a:solidFill>
              </a:rPr>
              <a:t>FTRANSPORT - SERVICES PRO  •  Formation certifiée Qualiopi  •  Éligible CPF  •  Lyon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C2833"/>
          </a:solidFill>
          <a:ln w="12700">
            <a:solidFill>
              <a:srgbClr val="1C2833"/>
            </a:solidFill>
            <a:prstDash val="solid"/>
          </a:ln>
        </p:spPr>
        <p:txBody>
          <a:bodyPr/>
          <a:lstStyle/>
          <a:p>
            <a:endParaRPr lang="fr-FR"/>
          </a:p>
        </p:txBody>
      </p:sp>
      <p:sp>
        <p:nvSpPr>
          <p:cNvPr id="3" name="Text 1"/>
          <p:cNvSpPr/>
          <p:nvPr/>
        </p:nvSpPr>
        <p:spPr>
          <a:xfrm>
            <a:off x="365760" y="36576"/>
            <a:ext cx="6400800" cy="457200"/>
          </a:xfrm>
          <a:prstGeom prst="rect">
            <a:avLst/>
          </a:prstGeom>
          <a:noFill/>
          <a:ln/>
        </p:spPr>
        <p:txBody>
          <a:bodyPr wrap="square" rtlCol="0" anchor="ctr"/>
          <a:lstStyle/>
          <a:p>
            <a:pPr marL="0" indent="0">
              <a:buNone/>
            </a:pPr>
            <a:r>
              <a:rPr lang="en-US" sz="1800" b="1" dirty="0">
                <a:solidFill>
                  <a:srgbClr val="FFFFFF"/>
                </a:solidFill>
              </a:rPr>
              <a:t>Sommaire — Partie 1</a:t>
            </a:r>
            <a:endParaRPr lang="en-US" sz="1800" dirty="0"/>
          </a:p>
        </p:txBody>
      </p:sp>
      <p:sp>
        <p:nvSpPr>
          <p:cNvPr id="4" name="Text 2"/>
          <p:cNvSpPr/>
          <p:nvPr/>
        </p:nvSpPr>
        <p:spPr>
          <a:xfrm>
            <a:off x="365760" y="475488"/>
            <a:ext cx="6400800" cy="329184"/>
          </a:xfrm>
          <a:prstGeom prst="rect">
            <a:avLst/>
          </a:prstGeom>
          <a:noFill/>
          <a:ln/>
        </p:spPr>
        <p:txBody>
          <a:bodyPr wrap="square" rtlCol="0" anchor="ctr"/>
          <a:lstStyle/>
          <a:p>
            <a:pPr marL="0" indent="0">
              <a:buNone/>
            </a:pPr>
            <a:r>
              <a:rPr lang="en-US" sz="1100" i="1" dirty="0">
                <a:solidFill>
                  <a:srgbClr val="C0392B"/>
                </a:solidFill>
              </a:rPr>
              <a:t>Signalisation, Marquages &amp; Priorités</a:t>
            </a:r>
            <a:endParaRPr lang="en-US" sz="1100" dirty="0"/>
          </a:p>
        </p:txBody>
      </p:sp>
      <p:sp>
        <p:nvSpPr>
          <p:cNvPr id="5" name="Shape 3"/>
          <p:cNvSpPr/>
          <p:nvPr/>
        </p:nvSpPr>
        <p:spPr>
          <a:xfrm>
            <a:off x="365760" y="960120"/>
            <a:ext cx="502920" cy="502920"/>
          </a:xfrm>
          <a:prstGeom prst="rect">
            <a:avLst/>
          </a:prstGeom>
          <a:solidFill>
            <a:srgbClr val="C0392B"/>
          </a:solidFill>
          <a:ln w="12700">
            <a:solidFill>
              <a:srgbClr val="C0392B"/>
            </a:solidFill>
            <a:prstDash val="solid"/>
          </a:ln>
        </p:spPr>
        <p:txBody>
          <a:bodyPr/>
          <a:lstStyle/>
          <a:p>
            <a:endParaRPr lang="fr-FR"/>
          </a:p>
        </p:txBody>
      </p:sp>
      <p:sp>
        <p:nvSpPr>
          <p:cNvPr id="6" name="Text 4"/>
          <p:cNvSpPr/>
          <p:nvPr/>
        </p:nvSpPr>
        <p:spPr>
          <a:xfrm>
            <a:off x="365760" y="960120"/>
            <a:ext cx="502920" cy="50292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005840" y="960120"/>
            <a:ext cx="7543800" cy="502920"/>
          </a:xfrm>
          <a:prstGeom prst="rect">
            <a:avLst/>
          </a:prstGeom>
          <a:solidFill>
            <a:srgbClr val="FFFFFF"/>
          </a:solidFill>
          <a:ln w="12700">
            <a:solidFill>
              <a:srgbClr val="D5D8DC"/>
            </a:solidFill>
            <a:prstDash val="solid"/>
          </a:ln>
        </p:spPr>
        <p:txBody>
          <a:bodyPr/>
          <a:lstStyle/>
          <a:p>
            <a:endParaRPr lang="fr-FR"/>
          </a:p>
        </p:txBody>
      </p:sp>
      <p:sp>
        <p:nvSpPr>
          <p:cNvPr id="8" name="Text 6"/>
          <p:cNvSpPr/>
          <p:nvPr/>
        </p:nvSpPr>
        <p:spPr>
          <a:xfrm>
            <a:off x="1143000" y="960120"/>
            <a:ext cx="4114800" cy="256032"/>
          </a:xfrm>
          <a:prstGeom prst="rect">
            <a:avLst/>
          </a:prstGeom>
          <a:noFill/>
          <a:ln/>
        </p:spPr>
        <p:txBody>
          <a:bodyPr wrap="square" rtlCol="0" anchor="ctr"/>
          <a:lstStyle/>
          <a:p>
            <a:pPr marL="0" indent="0">
              <a:buNone/>
            </a:pPr>
            <a:r>
              <a:rPr lang="en-US" sz="1100" b="1" dirty="0">
                <a:solidFill>
                  <a:srgbClr val="1C2833"/>
                </a:solidFill>
              </a:rPr>
              <a:t>Avertisseurs : sonore, lumineux &amp; feux de détresse</a:t>
            </a:r>
            <a:endParaRPr lang="en-US" sz="1100" dirty="0"/>
          </a:p>
        </p:txBody>
      </p:sp>
      <p:sp>
        <p:nvSpPr>
          <p:cNvPr id="9" name="Text 7"/>
          <p:cNvSpPr/>
          <p:nvPr/>
        </p:nvSpPr>
        <p:spPr>
          <a:xfrm>
            <a:off x="1143000" y="1216152"/>
            <a:ext cx="7132320" cy="246888"/>
          </a:xfrm>
          <a:prstGeom prst="rect">
            <a:avLst/>
          </a:prstGeom>
          <a:noFill/>
          <a:ln/>
        </p:spPr>
        <p:txBody>
          <a:bodyPr wrap="square" rtlCol="0" anchor="ctr"/>
          <a:lstStyle/>
          <a:p>
            <a:pPr marL="0" indent="0">
              <a:buNone/>
            </a:pPr>
            <a:r>
              <a:rPr lang="en-US" sz="900" dirty="0">
                <a:solidFill>
                  <a:srgbClr val="5D6D7E"/>
                </a:solidFill>
              </a:rPr>
              <a:t>Quand les utiliser, réglementation, amendes</a:t>
            </a:r>
            <a:endParaRPr lang="en-US" sz="900" dirty="0"/>
          </a:p>
        </p:txBody>
      </p:sp>
      <p:sp>
        <p:nvSpPr>
          <p:cNvPr id="10" name="Shape 8"/>
          <p:cNvSpPr/>
          <p:nvPr/>
        </p:nvSpPr>
        <p:spPr>
          <a:xfrm>
            <a:off x="365760" y="1673352"/>
            <a:ext cx="502920" cy="502920"/>
          </a:xfrm>
          <a:prstGeom prst="rect">
            <a:avLst/>
          </a:prstGeom>
          <a:solidFill>
            <a:srgbClr val="C0392B"/>
          </a:solidFill>
          <a:ln w="12700">
            <a:solidFill>
              <a:srgbClr val="C0392B"/>
            </a:solidFill>
            <a:prstDash val="solid"/>
          </a:ln>
        </p:spPr>
        <p:txBody>
          <a:bodyPr/>
          <a:lstStyle/>
          <a:p>
            <a:endParaRPr lang="fr-FR"/>
          </a:p>
        </p:txBody>
      </p:sp>
      <p:sp>
        <p:nvSpPr>
          <p:cNvPr id="11" name="Text 9"/>
          <p:cNvSpPr/>
          <p:nvPr/>
        </p:nvSpPr>
        <p:spPr>
          <a:xfrm>
            <a:off x="365760" y="1673352"/>
            <a:ext cx="502920" cy="50292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2" name="Shape 10"/>
          <p:cNvSpPr/>
          <p:nvPr/>
        </p:nvSpPr>
        <p:spPr>
          <a:xfrm>
            <a:off x="1005840" y="1673352"/>
            <a:ext cx="7543800" cy="502920"/>
          </a:xfrm>
          <a:prstGeom prst="rect">
            <a:avLst/>
          </a:prstGeom>
          <a:solidFill>
            <a:srgbClr val="FFFFFF"/>
          </a:solidFill>
          <a:ln w="12700">
            <a:solidFill>
              <a:srgbClr val="D5D8DC"/>
            </a:solidFill>
            <a:prstDash val="solid"/>
          </a:ln>
        </p:spPr>
        <p:txBody>
          <a:bodyPr/>
          <a:lstStyle/>
          <a:p>
            <a:endParaRPr lang="fr-FR"/>
          </a:p>
        </p:txBody>
      </p:sp>
      <p:sp>
        <p:nvSpPr>
          <p:cNvPr id="13" name="Text 11"/>
          <p:cNvSpPr/>
          <p:nvPr/>
        </p:nvSpPr>
        <p:spPr>
          <a:xfrm>
            <a:off x="1143000" y="1673352"/>
            <a:ext cx="4114800" cy="256032"/>
          </a:xfrm>
          <a:prstGeom prst="rect">
            <a:avLst/>
          </a:prstGeom>
          <a:noFill/>
          <a:ln/>
        </p:spPr>
        <p:txBody>
          <a:bodyPr wrap="square" rtlCol="0" anchor="ctr"/>
          <a:lstStyle/>
          <a:p>
            <a:pPr marL="0" indent="0">
              <a:buNone/>
            </a:pPr>
            <a:r>
              <a:rPr lang="en-US" sz="1100" b="1" dirty="0">
                <a:solidFill>
                  <a:srgbClr val="1C2833"/>
                </a:solidFill>
              </a:rPr>
              <a:t>Vérifications du véhicule</a:t>
            </a:r>
            <a:endParaRPr lang="en-US" sz="1100" dirty="0"/>
          </a:p>
        </p:txBody>
      </p:sp>
      <p:sp>
        <p:nvSpPr>
          <p:cNvPr id="14" name="Text 12"/>
          <p:cNvSpPr/>
          <p:nvPr/>
        </p:nvSpPr>
        <p:spPr>
          <a:xfrm>
            <a:off x="1143000" y="1929384"/>
            <a:ext cx="7132320" cy="246888"/>
          </a:xfrm>
          <a:prstGeom prst="rect">
            <a:avLst/>
          </a:prstGeom>
          <a:noFill/>
          <a:ln/>
        </p:spPr>
        <p:txBody>
          <a:bodyPr wrap="square" rtlCol="0" anchor="ctr"/>
          <a:lstStyle/>
          <a:p>
            <a:pPr marL="0" indent="0">
              <a:buNone/>
            </a:pPr>
            <a:r>
              <a:rPr lang="en-US" sz="900" dirty="0">
                <a:solidFill>
                  <a:srgbClr val="5D6D7E"/>
                </a:solidFill>
              </a:rPr>
              <a:t>Niveaux, pneumatiques, équipements obligatoires</a:t>
            </a:r>
            <a:endParaRPr lang="en-US" sz="900" dirty="0"/>
          </a:p>
        </p:txBody>
      </p:sp>
      <p:sp>
        <p:nvSpPr>
          <p:cNvPr id="15" name="Shape 13"/>
          <p:cNvSpPr/>
          <p:nvPr/>
        </p:nvSpPr>
        <p:spPr>
          <a:xfrm>
            <a:off x="365760" y="2386584"/>
            <a:ext cx="502920" cy="502920"/>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365760" y="2386584"/>
            <a:ext cx="502920" cy="50292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Shape 15"/>
          <p:cNvSpPr/>
          <p:nvPr/>
        </p:nvSpPr>
        <p:spPr>
          <a:xfrm>
            <a:off x="1005840" y="2386584"/>
            <a:ext cx="7543800" cy="502920"/>
          </a:xfrm>
          <a:prstGeom prst="rect">
            <a:avLst/>
          </a:prstGeom>
          <a:solidFill>
            <a:srgbClr val="FFFFFF"/>
          </a:solidFill>
          <a:ln w="12700">
            <a:solidFill>
              <a:srgbClr val="D5D8DC"/>
            </a:solidFill>
            <a:prstDash val="solid"/>
          </a:ln>
        </p:spPr>
        <p:txBody>
          <a:bodyPr/>
          <a:lstStyle/>
          <a:p>
            <a:endParaRPr lang="fr-FR"/>
          </a:p>
        </p:txBody>
      </p:sp>
      <p:sp>
        <p:nvSpPr>
          <p:cNvPr id="18" name="Text 16"/>
          <p:cNvSpPr/>
          <p:nvPr/>
        </p:nvSpPr>
        <p:spPr>
          <a:xfrm>
            <a:off x="1143000" y="2386584"/>
            <a:ext cx="4114800" cy="256032"/>
          </a:xfrm>
          <a:prstGeom prst="rect">
            <a:avLst/>
          </a:prstGeom>
          <a:noFill/>
          <a:ln/>
        </p:spPr>
        <p:txBody>
          <a:bodyPr wrap="square" rtlCol="0" anchor="ctr"/>
          <a:lstStyle/>
          <a:p>
            <a:pPr marL="0" indent="0">
              <a:buNone/>
            </a:pPr>
            <a:r>
              <a:rPr lang="en-US" sz="1100" b="1" dirty="0">
                <a:solidFill>
                  <a:srgbClr val="1C2833"/>
                </a:solidFill>
              </a:rPr>
              <a:t>Panneaux de prescription &amp; d'indication</a:t>
            </a:r>
            <a:endParaRPr lang="en-US" sz="1100" dirty="0"/>
          </a:p>
        </p:txBody>
      </p:sp>
      <p:sp>
        <p:nvSpPr>
          <p:cNvPr id="19" name="Text 17"/>
          <p:cNvSpPr/>
          <p:nvPr/>
        </p:nvSpPr>
        <p:spPr>
          <a:xfrm>
            <a:off x="1143000" y="2642616"/>
            <a:ext cx="7132320" cy="246888"/>
          </a:xfrm>
          <a:prstGeom prst="rect">
            <a:avLst/>
          </a:prstGeom>
          <a:noFill/>
          <a:ln/>
        </p:spPr>
        <p:txBody>
          <a:bodyPr wrap="square" rtlCol="0" anchor="ctr"/>
          <a:lstStyle/>
          <a:p>
            <a:pPr marL="0" indent="0">
              <a:buNone/>
            </a:pPr>
            <a:r>
              <a:rPr lang="en-US" sz="900" dirty="0">
                <a:solidFill>
                  <a:srgbClr val="5D6D7E"/>
                </a:solidFill>
              </a:rPr>
              <a:t>Interdiction, obligation, services, zonaux</a:t>
            </a:r>
            <a:endParaRPr lang="en-US" sz="900" dirty="0"/>
          </a:p>
        </p:txBody>
      </p:sp>
      <p:sp>
        <p:nvSpPr>
          <p:cNvPr id="20" name="Shape 18"/>
          <p:cNvSpPr/>
          <p:nvPr/>
        </p:nvSpPr>
        <p:spPr>
          <a:xfrm>
            <a:off x="365760" y="3099816"/>
            <a:ext cx="502920" cy="502920"/>
          </a:xfrm>
          <a:prstGeom prst="rect">
            <a:avLst/>
          </a:prstGeom>
          <a:solidFill>
            <a:srgbClr val="C0392B"/>
          </a:solidFill>
          <a:ln w="12700">
            <a:solidFill>
              <a:srgbClr val="C0392B"/>
            </a:solidFill>
            <a:prstDash val="solid"/>
          </a:ln>
        </p:spPr>
        <p:txBody>
          <a:bodyPr/>
          <a:lstStyle/>
          <a:p>
            <a:endParaRPr lang="fr-FR"/>
          </a:p>
        </p:txBody>
      </p:sp>
      <p:sp>
        <p:nvSpPr>
          <p:cNvPr id="21" name="Text 19"/>
          <p:cNvSpPr/>
          <p:nvPr/>
        </p:nvSpPr>
        <p:spPr>
          <a:xfrm>
            <a:off x="365760" y="3099816"/>
            <a:ext cx="502920" cy="50292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Shape 20"/>
          <p:cNvSpPr/>
          <p:nvPr/>
        </p:nvSpPr>
        <p:spPr>
          <a:xfrm>
            <a:off x="1005840" y="3099816"/>
            <a:ext cx="7543800" cy="502920"/>
          </a:xfrm>
          <a:prstGeom prst="rect">
            <a:avLst/>
          </a:prstGeom>
          <a:solidFill>
            <a:srgbClr val="FFFFFF"/>
          </a:solidFill>
          <a:ln w="12700">
            <a:solidFill>
              <a:srgbClr val="D5D8DC"/>
            </a:solidFill>
            <a:prstDash val="solid"/>
          </a:ln>
        </p:spPr>
        <p:txBody>
          <a:bodyPr/>
          <a:lstStyle/>
          <a:p>
            <a:endParaRPr lang="fr-FR"/>
          </a:p>
        </p:txBody>
      </p:sp>
      <p:sp>
        <p:nvSpPr>
          <p:cNvPr id="23" name="Text 21"/>
          <p:cNvSpPr/>
          <p:nvPr/>
        </p:nvSpPr>
        <p:spPr>
          <a:xfrm>
            <a:off x="1143000" y="3099816"/>
            <a:ext cx="4114800" cy="256032"/>
          </a:xfrm>
          <a:prstGeom prst="rect">
            <a:avLst/>
          </a:prstGeom>
          <a:noFill/>
          <a:ln/>
        </p:spPr>
        <p:txBody>
          <a:bodyPr wrap="square" rtlCol="0" anchor="ctr"/>
          <a:lstStyle/>
          <a:p>
            <a:pPr marL="0" indent="0">
              <a:buNone/>
            </a:pPr>
            <a:r>
              <a:rPr lang="en-US" sz="1100" b="1" dirty="0">
                <a:solidFill>
                  <a:srgbClr val="1C2833"/>
                </a:solidFill>
              </a:rPr>
              <a:t>Marquages au sol &amp; types de voies</a:t>
            </a:r>
            <a:endParaRPr lang="en-US" sz="1100" dirty="0"/>
          </a:p>
        </p:txBody>
      </p:sp>
      <p:sp>
        <p:nvSpPr>
          <p:cNvPr id="24" name="Text 22"/>
          <p:cNvSpPr/>
          <p:nvPr/>
        </p:nvSpPr>
        <p:spPr>
          <a:xfrm>
            <a:off x="1143000" y="3355848"/>
            <a:ext cx="7132320" cy="246888"/>
          </a:xfrm>
          <a:prstGeom prst="rect">
            <a:avLst/>
          </a:prstGeom>
          <a:noFill/>
          <a:ln/>
        </p:spPr>
        <p:txBody>
          <a:bodyPr wrap="square" rtlCol="0" anchor="ctr"/>
          <a:lstStyle/>
          <a:p>
            <a:pPr marL="0" indent="0">
              <a:buNone/>
            </a:pPr>
            <a:r>
              <a:rPr lang="en-US" sz="900" dirty="0">
                <a:solidFill>
                  <a:srgbClr val="5D6D7E"/>
                </a:solidFill>
              </a:rPr>
              <a:t>Lignes continues, mixtes, rives, pistes cyclables, voies TC</a:t>
            </a:r>
            <a:endParaRPr lang="en-US" sz="900" dirty="0"/>
          </a:p>
        </p:txBody>
      </p:sp>
      <p:sp>
        <p:nvSpPr>
          <p:cNvPr id="25" name="Shape 23"/>
          <p:cNvSpPr/>
          <p:nvPr/>
        </p:nvSpPr>
        <p:spPr>
          <a:xfrm>
            <a:off x="365760" y="3813048"/>
            <a:ext cx="502920" cy="502920"/>
          </a:xfrm>
          <a:prstGeom prst="rect">
            <a:avLst/>
          </a:prstGeom>
          <a:solidFill>
            <a:srgbClr val="C0392B"/>
          </a:solidFill>
          <a:ln w="12700">
            <a:solidFill>
              <a:srgbClr val="C0392B"/>
            </a:solidFill>
            <a:prstDash val="solid"/>
          </a:ln>
        </p:spPr>
        <p:txBody>
          <a:bodyPr/>
          <a:lstStyle/>
          <a:p>
            <a:endParaRPr lang="fr-FR"/>
          </a:p>
        </p:txBody>
      </p:sp>
      <p:sp>
        <p:nvSpPr>
          <p:cNvPr id="26" name="Text 24"/>
          <p:cNvSpPr/>
          <p:nvPr/>
        </p:nvSpPr>
        <p:spPr>
          <a:xfrm>
            <a:off x="365760" y="3813048"/>
            <a:ext cx="502920" cy="50292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7" name="Shape 25"/>
          <p:cNvSpPr/>
          <p:nvPr/>
        </p:nvSpPr>
        <p:spPr>
          <a:xfrm>
            <a:off x="1005840" y="3813048"/>
            <a:ext cx="7543800" cy="502920"/>
          </a:xfrm>
          <a:prstGeom prst="rect">
            <a:avLst/>
          </a:prstGeom>
          <a:solidFill>
            <a:srgbClr val="FFFFFF"/>
          </a:solidFill>
          <a:ln w="12700">
            <a:solidFill>
              <a:srgbClr val="D5D8DC"/>
            </a:solidFill>
            <a:prstDash val="solid"/>
          </a:ln>
        </p:spPr>
        <p:txBody>
          <a:bodyPr/>
          <a:lstStyle/>
          <a:p>
            <a:endParaRPr lang="fr-FR"/>
          </a:p>
        </p:txBody>
      </p:sp>
      <p:sp>
        <p:nvSpPr>
          <p:cNvPr id="28" name="Text 26"/>
          <p:cNvSpPr/>
          <p:nvPr/>
        </p:nvSpPr>
        <p:spPr>
          <a:xfrm>
            <a:off x="1143000" y="3813048"/>
            <a:ext cx="4114800" cy="256032"/>
          </a:xfrm>
          <a:prstGeom prst="rect">
            <a:avLst/>
          </a:prstGeom>
          <a:noFill/>
          <a:ln/>
        </p:spPr>
        <p:txBody>
          <a:bodyPr wrap="square" rtlCol="0" anchor="ctr"/>
          <a:lstStyle/>
          <a:p>
            <a:pPr marL="0" indent="0">
              <a:buNone/>
            </a:pPr>
            <a:r>
              <a:rPr lang="en-US" sz="1100" b="1" dirty="0">
                <a:solidFill>
                  <a:srgbClr val="1C2833"/>
                </a:solidFill>
              </a:rPr>
              <a:t>Stationnements : alterné, payant, disque</a:t>
            </a:r>
            <a:endParaRPr lang="en-US" sz="1100" dirty="0"/>
          </a:p>
        </p:txBody>
      </p:sp>
      <p:sp>
        <p:nvSpPr>
          <p:cNvPr id="29" name="Text 27"/>
          <p:cNvSpPr/>
          <p:nvPr/>
        </p:nvSpPr>
        <p:spPr>
          <a:xfrm>
            <a:off x="1143000" y="4069080"/>
            <a:ext cx="7132320" cy="246888"/>
          </a:xfrm>
          <a:prstGeom prst="rect">
            <a:avLst/>
          </a:prstGeom>
          <a:noFill/>
          <a:ln/>
        </p:spPr>
        <p:txBody>
          <a:bodyPr wrap="square" rtlCol="0" anchor="ctr"/>
          <a:lstStyle/>
          <a:p>
            <a:pPr marL="0" indent="0">
              <a:buNone/>
            </a:pPr>
            <a:r>
              <a:rPr lang="en-US" sz="900" dirty="0">
                <a:solidFill>
                  <a:srgbClr val="5D6D7E"/>
                </a:solidFill>
              </a:rPr>
              <a:t>Signification des panneaux côté pair/impair, parcmètre</a:t>
            </a:r>
            <a:endParaRPr lang="en-US" sz="900" dirty="0"/>
          </a:p>
        </p:txBody>
      </p:sp>
      <p:sp>
        <p:nvSpPr>
          <p:cNvPr id="30" name="Shape 28"/>
          <p:cNvSpPr/>
          <p:nvPr/>
        </p:nvSpPr>
        <p:spPr>
          <a:xfrm>
            <a:off x="365760" y="4526280"/>
            <a:ext cx="502920" cy="502920"/>
          </a:xfrm>
          <a:prstGeom prst="rect">
            <a:avLst/>
          </a:prstGeom>
          <a:solidFill>
            <a:srgbClr val="C0392B"/>
          </a:solidFill>
          <a:ln w="12700">
            <a:solidFill>
              <a:srgbClr val="C0392B"/>
            </a:solidFill>
            <a:prstDash val="solid"/>
          </a:ln>
        </p:spPr>
        <p:txBody>
          <a:bodyPr/>
          <a:lstStyle/>
          <a:p>
            <a:endParaRPr lang="fr-FR"/>
          </a:p>
        </p:txBody>
      </p:sp>
      <p:sp>
        <p:nvSpPr>
          <p:cNvPr id="31" name="Text 29"/>
          <p:cNvSpPr/>
          <p:nvPr/>
        </p:nvSpPr>
        <p:spPr>
          <a:xfrm>
            <a:off x="365760" y="4526280"/>
            <a:ext cx="502920" cy="502920"/>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32" name="Shape 30"/>
          <p:cNvSpPr/>
          <p:nvPr/>
        </p:nvSpPr>
        <p:spPr>
          <a:xfrm>
            <a:off x="1005840" y="4526280"/>
            <a:ext cx="7543800" cy="502920"/>
          </a:xfrm>
          <a:prstGeom prst="rect">
            <a:avLst/>
          </a:prstGeom>
          <a:solidFill>
            <a:srgbClr val="FFFFFF"/>
          </a:solidFill>
          <a:ln w="12700">
            <a:solidFill>
              <a:srgbClr val="D5D8DC"/>
            </a:solidFill>
            <a:prstDash val="solid"/>
          </a:ln>
        </p:spPr>
        <p:txBody>
          <a:bodyPr/>
          <a:lstStyle/>
          <a:p>
            <a:endParaRPr lang="fr-FR"/>
          </a:p>
        </p:txBody>
      </p:sp>
      <p:sp>
        <p:nvSpPr>
          <p:cNvPr id="33" name="Text 31"/>
          <p:cNvSpPr/>
          <p:nvPr/>
        </p:nvSpPr>
        <p:spPr>
          <a:xfrm>
            <a:off x="1143000" y="4526280"/>
            <a:ext cx="4114800" cy="256032"/>
          </a:xfrm>
          <a:prstGeom prst="rect">
            <a:avLst/>
          </a:prstGeom>
          <a:noFill/>
          <a:ln/>
        </p:spPr>
        <p:txBody>
          <a:bodyPr wrap="square" rtlCol="0" anchor="ctr"/>
          <a:lstStyle/>
          <a:p>
            <a:pPr marL="0" indent="0">
              <a:buNone/>
            </a:pPr>
            <a:r>
              <a:rPr lang="en-US" sz="1100" b="1" dirty="0">
                <a:solidFill>
                  <a:srgbClr val="1C2833"/>
                </a:solidFill>
              </a:rPr>
              <a:t>Priorités, feux &amp; croisements en pente</a:t>
            </a:r>
            <a:endParaRPr lang="en-US" sz="1100" dirty="0"/>
          </a:p>
        </p:txBody>
      </p:sp>
      <p:sp>
        <p:nvSpPr>
          <p:cNvPr id="34" name="Text 32"/>
          <p:cNvSpPr/>
          <p:nvPr/>
        </p:nvSpPr>
        <p:spPr>
          <a:xfrm>
            <a:off x="1143000" y="4782312"/>
            <a:ext cx="7132320" cy="246888"/>
          </a:xfrm>
          <a:prstGeom prst="rect">
            <a:avLst/>
          </a:prstGeom>
          <a:noFill/>
          <a:ln/>
        </p:spPr>
        <p:txBody>
          <a:bodyPr wrap="square" rtlCol="0" anchor="ctr"/>
          <a:lstStyle/>
          <a:p>
            <a:pPr marL="0" indent="0">
              <a:buNone/>
            </a:pPr>
            <a:r>
              <a:rPr lang="en-US" sz="900" dirty="0">
                <a:solidFill>
                  <a:srgbClr val="5D6D7E"/>
                </a:solidFill>
              </a:rPr>
              <a:t>Route prioritaire, ponctuelle, brouillard, nuit, croisement</a:t>
            </a:r>
            <a:endParaRPr lang="en-US" sz="900" dirty="0"/>
          </a:p>
        </p:txBody>
      </p:sp>
      <p:sp>
        <p:nvSpPr>
          <p:cNvPr id="35" name="Shape 33"/>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6" name="Text 34"/>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7" name="Text 35"/>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Avertisseurs : sonore, lumineux, clignotants &amp; détresse</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C0392B"/>
                </a:solidFill>
              </a:rPr>
              <a:t>🔔 Avertisseur SONORE</a:t>
            </a:r>
            <a:endParaRPr lang="en-US" sz="1100" dirty="0"/>
          </a:p>
        </p:txBody>
      </p:sp>
      <p:sp>
        <p:nvSpPr>
          <p:cNvPr id="8" name="Text 6"/>
          <p:cNvSpPr/>
          <p:nvPr/>
        </p:nvSpPr>
        <p:spPr>
          <a:xfrm>
            <a:off x="411480" y="1764792"/>
            <a:ext cx="3840480" cy="685800"/>
          </a:xfrm>
          <a:prstGeom prst="rect">
            <a:avLst/>
          </a:prstGeom>
          <a:noFill/>
          <a:ln/>
        </p:spPr>
        <p:txBody>
          <a:bodyPr wrap="square" rtlCol="0" anchor="ctr"/>
          <a:lstStyle/>
          <a:p>
            <a:pPr marL="0" indent="0">
              <a:buNone/>
            </a:pPr>
            <a:r>
              <a:rPr lang="en-US" sz="900" dirty="0">
                <a:solidFill>
                  <a:srgbClr val="1C2833"/>
                </a:solidFill>
              </a:rPr>
              <a:t>En agglomération : uniquement en cas de danger immédiat.</a:t>
            </a:r>
            <a:endParaRPr lang="en-US" sz="900" dirty="0"/>
          </a:p>
          <a:p>
            <a:pPr marL="0" indent="0">
              <a:buNone/>
            </a:pPr>
            <a:r>
              <a:rPr lang="en-US" sz="900" dirty="0">
                <a:solidFill>
                  <a:srgbClr val="1C2833"/>
                </a:solidFill>
              </a:rPr>
              <a:t>Hors agglomération : pour avertir les autres usagers.</a:t>
            </a:r>
            <a:endParaRPr lang="en-US" sz="900" dirty="0"/>
          </a:p>
          <a:p>
            <a:pPr marL="0" indent="0">
              <a:buNone/>
            </a:pPr>
            <a:r>
              <a:rPr lang="en-US" sz="900" dirty="0">
                <a:solidFill>
                  <a:srgbClr val="1C2833"/>
                </a:solidFill>
              </a:rPr>
              <a:t>Sanction : amende forfaitaire classe 2.</a:t>
            </a:r>
            <a:endParaRPr lang="en-US" sz="900" dirty="0"/>
          </a:p>
        </p:txBody>
      </p:sp>
      <p:sp>
        <p:nvSpPr>
          <p:cNvPr id="9" name="Text 7"/>
          <p:cNvSpPr/>
          <p:nvPr/>
        </p:nvSpPr>
        <p:spPr>
          <a:xfrm>
            <a:off x="411480" y="2487168"/>
            <a:ext cx="3840480" cy="292608"/>
          </a:xfrm>
          <a:prstGeom prst="rect">
            <a:avLst/>
          </a:prstGeom>
          <a:noFill/>
          <a:ln/>
        </p:spPr>
        <p:txBody>
          <a:bodyPr wrap="square" rtlCol="0" anchor="ctr"/>
          <a:lstStyle/>
          <a:p>
            <a:pPr marL="0" indent="0">
              <a:buNone/>
            </a:pPr>
            <a:r>
              <a:rPr lang="en-US" sz="1100" b="1" dirty="0">
                <a:solidFill>
                  <a:srgbClr val="C0392B"/>
                </a:solidFill>
              </a:rPr>
              <a:t>🔆 Appels de phares</a:t>
            </a:r>
            <a:endParaRPr lang="en-US" sz="1100" dirty="0"/>
          </a:p>
        </p:txBody>
      </p:sp>
      <p:sp>
        <p:nvSpPr>
          <p:cNvPr id="10" name="Text 8"/>
          <p:cNvSpPr/>
          <p:nvPr/>
        </p:nvSpPr>
        <p:spPr>
          <a:xfrm>
            <a:off x="411480" y="2807208"/>
            <a:ext cx="3840480" cy="347472"/>
          </a:xfrm>
          <a:prstGeom prst="rect">
            <a:avLst/>
          </a:prstGeom>
          <a:noFill/>
          <a:ln/>
        </p:spPr>
        <p:txBody>
          <a:bodyPr wrap="square" rtlCol="0" anchor="ctr"/>
          <a:lstStyle/>
          <a:p>
            <a:pPr marL="0" indent="0">
              <a:buNone/>
            </a:pPr>
            <a:r>
              <a:rPr lang="en-US" sz="900" dirty="0">
                <a:solidFill>
                  <a:srgbClr val="1C2833"/>
                </a:solidFill>
              </a:rPr>
              <a:t>Utilisables la nuit en remplacement de l'avertisseur sonore.</a:t>
            </a:r>
            <a:endParaRPr lang="en-US" sz="900" dirty="0"/>
          </a:p>
        </p:txBody>
      </p:sp>
      <p:sp>
        <p:nvSpPr>
          <p:cNvPr id="11" name="Text 9"/>
          <p:cNvSpPr/>
          <p:nvPr/>
        </p:nvSpPr>
        <p:spPr>
          <a:xfrm>
            <a:off x="411480" y="3200400"/>
            <a:ext cx="3840480" cy="292608"/>
          </a:xfrm>
          <a:prstGeom prst="rect">
            <a:avLst/>
          </a:prstGeom>
          <a:noFill/>
          <a:ln/>
        </p:spPr>
        <p:txBody>
          <a:bodyPr wrap="square" rtlCol="0" anchor="ctr"/>
          <a:lstStyle/>
          <a:p>
            <a:pPr marL="0" indent="0">
              <a:buNone/>
            </a:pPr>
            <a:r>
              <a:rPr lang="en-US" sz="1100" b="1" dirty="0">
                <a:solidFill>
                  <a:srgbClr val="C0392B"/>
                </a:solidFill>
              </a:rPr>
              <a:t>↕️ Clignotants</a:t>
            </a:r>
            <a:endParaRPr lang="en-US" sz="1100" dirty="0"/>
          </a:p>
        </p:txBody>
      </p:sp>
      <p:sp>
        <p:nvSpPr>
          <p:cNvPr id="12" name="Text 10"/>
          <p:cNvSpPr/>
          <p:nvPr/>
        </p:nvSpPr>
        <p:spPr>
          <a:xfrm>
            <a:off x="411480" y="3520440"/>
            <a:ext cx="3840480" cy="475488"/>
          </a:xfrm>
          <a:prstGeom prst="rect">
            <a:avLst/>
          </a:prstGeom>
          <a:noFill/>
          <a:ln/>
        </p:spPr>
        <p:txBody>
          <a:bodyPr wrap="square" rtlCol="0" anchor="ctr"/>
          <a:lstStyle/>
          <a:p>
            <a:pPr marL="0" indent="0">
              <a:buNone/>
            </a:pPr>
            <a:r>
              <a:rPr lang="en-US" sz="900" dirty="0">
                <a:solidFill>
                  <a:srgbClr val="1C2833"/>
                </a:solidFill>
              </a:rPr>
              <a:t>Obligatoires : tourner, dépasser, changer de voie, s'arrêter, quitter un stationnement.</a:t>
            </a:r>
            <a:endParaRPr lang="en-US" sz="900" dirty="0"/>
          </a:p>
        </p:txBody>
      </p:sp>
      <p:sp>
        <p:nvSpPr>
          <p:cNvPr id="13" name="Text 11"/>
          <p:cNvSpPr/>
          <p:nvPr/>
        </p:nvSpPr>
        <p:spPr>
          <a:xfrm>
            <a:off x="411480" y="4041648"/>
            <a:ext cx="3840480" cy="411480"/>
          </a:xfrm>
          <a:prstGeom prst="rect">
            <a:avLst/>
          </a:prstGeom>
          <a:noFill/>
          <a:ln/>
        </p:spPr>
        <p:txBody>
          <a:bodyPr wrap="square" rtlCol="0" anchor="ctr"/>
          <a:lstStyle/>
          <a:p>
            <a:pPr marL="0" indent="0">
              <a:buNone/>
            </a:pPr>
            <a:r>
              <a:rPr lang="en-US" sz="900" i="1" dirty="0">
                <a:solidFill>
                  <a:srgbClr val="5D6D7E"/>
                </a:solidFill>
              </a:rPr>
              <a:t>⚠️ Feux de détresse : véhicule immobilisé, allure réduite, dernier d'une file.</a:t>
            </a:r>
            <a:endParaRPr lang="en-US" sz="900" dirty="0"/>
          </a:p>
        </p:txBody>
      </p:sp>
      <p:pic>
        <p:nvPicPr>
          <p:cNvPr id="14" name="Image 0" descr="preencoded.png"/>
          <p:cNvPicPr>
            <a:picLocks noChangeAspect="1"/>
          </p:cNvPicPr>
          <p:nvPr/>
        </p:nvPicPr>
        <p:blipFill>
          <a:blip r:embed="rId3"/>
          <a:stretch>
            <a:fillRect/>
          </a:stretch>
        </p:blipFill>
        <p:spPr>
          <a:xfrm>
            <a:off x="4663440" y="1644091"/>
            <a:ext cx="4206240" cy="2663647"/>
          </a:xfrm>
          <a:prstGeom prst="rect">
            <a:avLst/>
          </a:prstGeom>
        </p:spPr>
      </p:pic>
      <p:sp>
        <p:nvSpPr>
          <p:cNvPr id="15" name="Shape 12"/>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6" name="Text 1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7" name="Text 14"/>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Vérifications régulières du véhicule</a:t>
            </a:r>
            <a:endParaRPr lang="en-US" sz="2000" dirty="0"/>
          </a:p>
        </p:txBody>
      </p:sp>
      <p:sp>
        <p:nvSpPr>
          <p:cNvPr id="6"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C0392B"/>
                </a:solidFill>
              </a:rPr>
              <a:t>Niveaux à contrôler :</a:t>
            </a:r>
            <a:endParaRPr lang="en-US" sz="1100" dirty="0"/>
          </a:p>
        </p:txBody>
      </p:sp>
      <p:sp>
        <p:nvSpPr>
          <p:cNvPr id="8" name="Shape 6"/>
          <p:cNvSpPr/>
          <p:nvPr/>
        </p:nvSpPr>
        <p:spPr>
          <a:xfrm>
            <a:off x="4800600" y="1819656"/>
            <a:ext cx="64008" cy="384048"/>
          </a:xfrm>
          <a:prstGeom prst="rect">
            <a:avLst/>
          </a:prstGeom>
          <a:solidFill>
            <a:srgbClr val="C0392B"/>
          </a:solidFill>
          <a:ln w="12700">
            <a:solidFill>
              <a:srgbClr val="C0392B"/>
            </a:solidFill>
            <a:prstDash val="solid"/>
          </a:ln>
        </p:spPr>
        <p:txBody>
          <a:bodyPr/>
          <a:lstStyle/>
          <a:p>
            <a:endParaRPr lang="fr-FR"/>
          </a:p>
        </p:txBody>
      </p:sp>
      <p:sp>
        <p:nvSpPr>
          <p:cNvPr id="9" name="Text 7"/>
          <p:cNvSpPr/>
          <p:nvPr/>
        </p:nvSpPr>
        <p:spPr>
          <a:xfrm>
            <a:off x="4956048" y="1764792"/>
            <a:ext cx="3639312" cy="493776"/>
          </a:xfrm>
          <a:prstGeom prst="rect">
            <a:avLst/>
          </a:prstGeom>
          <a:noFill/>
          <a:ln/>
        </p:spPr>
        <p:txBody>
          <a:bodyPr wrap="square" rtlCol="0" anchor="ctr"/>
          <a:lstStyle/>
          <a:p>
            <a:pPr marL="0" indent="0">
              <a:buNone/>
            </a:pPr>
            <a:r>
              <a:rPr lang="en-US" sz="900" dirty="0">
                <a:solidFill>
                  <a:srgbClr val="1C2833"/>
                </a:solidFill>
              </a:rPr>
              <a:t>Liquide de refroidissement</a:t>
            </a:r>
            <a:endParaRPr lang="en-US" sz="900" dirty="0"/>
          </a:p>
        </p:txBody>
      </p:sp>
      <p:sp>
        <p:nvSpPr>
          <p:cNvPr id="10" name="Shape 8"/>
          <p:cNvSpPr/>
          <p:nvPr/>
        </p:nvSpPr>
        <p:spPr>
          <a:xfrm>
            <a:off x="4800600" y="2295144"/>
            <a:ext cx="64008" cy="384048"/>
          </a:xfrm>
          <a:prstGeom prst="rect">
            <a:avLst/>
          </a:prstGeom>
          <a:solidFill>
            <a:srgbClr val="C0392B"/>
          </a:solidFill>
          <a:ln w="12700">
            <a:solidFill>
              <a:srgbClr val="C0392B"/>
            </a:solidFill>
            <a:prstDash val="solid"/>
          </a:ln>
        </p:spPr>
        <p:txBody>
          <a:bodyPr/>
          <a:lstStyle/>
          <a:p>
            <a:endParaRPr lang="fr-FR"/>
          </a:p>
        </p:txBody>
      </p:sp>
      <p:sp>
        <p:nvSpPr>
          <p:cNvPr id="11" name="Text 9"/>
          <p:cNvSpPr/>
          <p:nvPr/>
        </p:nvSpPr>
        <p:spPr>
          <a:xfrm>
            <a:off x="4956048" y="2240280"/>
            <a:ext cx="3639312" cy="493776"/>
          </a:xfrm>
          <a:prstGeom prst="rect">
            <a:avLst/>
          </a:prstGeom>
          <a:noFill/>
          <a:ln/>
        </p:spPr>
        <p:txBody>
          <a:bodyPr wrap="square" rtlCol="0" anchor="ctr"/>
          <a:lstStyle/>
          <a:p>
            <a:pPr marL="0" indent="0">
              <a:buNone/>
            </a:pPr>
            <a:r>
              <a:rPr lang="en-US" sz="900" dirty="0">
                <a:solidFill>
                  <a:srgbClr val="1C2833"/>
                </a:solidFill>
              </a:rPr>
              <a:t>Liquide de lave-glace</a:t>
            </a:r>
            <a:endParaRPr lang="en-US" sz="900" dirty="0"/>
          </a:p>
        </p:txBody>
      </p:sp>
      <p:sp>
        <p:nvSpPr>
          <p:cNvPr id="12" name="Shape 10"/>
          <p:cNvSpPr/>
          <p:nvPr/>
        </p:nvSpPr>
        <p:spPr>
          <a:xfrm>
            <a:off x="4800600" y="2770632"/>
            <a:ext cx="64008" cy="384048"/>
          </a:xfrm>
          <a:prstGeom prst="rect">
            <a:avLst/>
          </a:prstGeom>
          <a:solidFill>
            <a:srgbClr val="C0392B"/>
          </a:solidFill>
          <a:ln w="12700">
            <a:solidFill>
              <a:srgbClr val="C0392B"/>
            </a:solidFill>
            <a:prstDash val="solid"/>
          </a:ln>
        </p:spPr>
        <p:txBody>
          <a:bodyPr/>
          <a:lstStyle/>
          <a:p>
            <a:endParaRPr lang="fr-FR"/>
          </a:p>
        </p:txBody>
      </p:sp>
      <p:sp>
        <p:nvSpPr>
          <p:cNvPr id="13" name="Text 11"/>
          <p:cNvSpPr/>
          <p:nvPr/>
        </p:nvSpPr>
        <p:spPr>
          <a:xfrm>
            <a:off x="4956048" y="2715768"/>
            <a:ext cx="3639312" cy="493776"/>
          </a:xfrm>
          <a:prstGeom prst="rect">
            <a:avLst/>
          </a:prstGeom>
          <a:noFill/>
          <a:ln/>
        </p:spPr>
        <p:txBody>
          <a:bodyPr wrap="square" rtlCol="0" anchor="ctr"/>
          <a:lstStyle/>
          <a:p>
            <a:pPr marL="0" indent="0">
              <a:buNone/>
            </a:pPr>
            <a:r>
              <a:rPr lang="en-US" sz="900" dirty="0">
                <a:solidFill>
                  <a:srgbClr val="1C2833"/>
                </a:solidFill>
              </a:rPr>
              <a:t>Huile moteur</a:t>
            </a:r>
            <a:endParaRPr lang="en-US" sz="900" dirty="0"/>
          </a:p>
        </p:txBody>
      </p:sp>
      <p:sp>
        <p:nvSpPr>
          <p:cNvPr id="14" name="Shape 12"/>
          <p:cNvSpPr/>
          <p:nvPr/>
        </p:nvSpPr>
        <p:spPr>
          <a:xfrm>
            <a:off x="4800600" y="3246120"/>
            <a:ext cx="64008" cy="384048"/>
          </a:xfrm>
          <a:prstGeom prst="rect">
            <a:avLst/>
          </a:prstGeom>
          <a:solidFill>
            <a:srgbClr val="C0392B"/>
          </a:solidFill>
          <a:ln w="12700">
            <a:solidFill>
              <a:srgbClr val="C0392B"/>
            </a:solidFill>
            <a:prstDash val="solid"/>
          </a:ln>
        </p:spPr>
        <p:txBody>
          <a:bodyPr/>
          <a:lstStyle/>
          <a:p>
            <a:endParaRPr lang="fr-FR"/>
          </a:p>
        </p:txBody>
      </p:sp>
      <p:sp>
        <p:nvSpPr>
          <p:cNvPr id="15" name="Text 13"/>
          <p:cNvSpPr/>
          <p:nvPr/>
        </p:nvSpPr>
        <p:spPr>
          <a:xfrm>
            <a:off x="4956048" y="3191256"/>
            <a:ext cx="3639312" cy="493776"/>
          </a:xfrm>
          <a:prstGeom prst="rect">
            <a:avLst/>
          </a:prstGeom>
          <a:noFill/>
          <a:ln/>
        </p:spPr>
        <p:txBody>
          <a:bodyPr wrap="square" rtlCol="0" anchor="ctr"/>
          <a:lstStyle/>
          <a:p>
            <a:pPr marL="0" indent="0">
              <a:buNone/>
            </a:pPr>
            <a:r>
              <a:rPr lang="en-US" sz="900" dirty="0">
                <a:solidFill>
                  <a:srgbClr val="1C2833"/>
                </a:solidFill>
              </a:rPr>
              <a:t>Liquide de frein</a:t>
            </a:r>
            <a:endParaRPr lang="en-US" sz="900" dirty="0"/>
          </a:p>
        </p:txBody>
      </p:sp>
      <p:sp>
        <p:nvSpPr>
          <p:cNvPr id="16" name="Shape 14"/>
          <p:cNvSpPr/>
          <p:nvPr/>
        </p:nvSpPr>
        <p:spPr>
          <a:xfrm>
            <a:off x="4800600" y="3721608"/>
            <a:ext cx="64008" cy="384048"/>
          </a:xfrm>
          <a:prstGeom prst="rect">
            <a:avLst/>
          </a:prstGeom>
          <a:solidFill>
            <a:srgbClr val="C0392B"/>
          </a:solidFill>
          <a:ln w="12700">
            <a:solidFill>
              <a:srgbClr val="C0392B"/>
            </a:solidFill>
            <a:prstDash val="solid"/>
          </a:ln>
        </p:spPr>
        <p:txBody>
          <a:bodyPr/>
          <a:lstStyle/>
          <a:p>
            <a:endParaRPr lang="fr-FR"/>
          </a:p>
        </p:txBody>
      </p:sp>
      <p:sp>
        <p:nvSpPr>
          <p:cNvPr id="17" name="Text 15"/>
          <p:cNvSpPr/>
          <p:nvPr/>
        </p:nvSpPr>
        <p:spPr>
          <a:xfrm>
            <a:off x="4956048" y="3666744"/>
            <a:ext cx="3639312" cy="493776"/>
          </a:xfrm>
          <a:prstGeom prst="rect">
            <a:avLst/>
          </a:prstGeom>
          <a:noFill/>
          <a:ln/>
        </p:spPr>
        <p:txBody>
          <a:bodyPr wrap="square" rtlCol="0" anchor="ctr"/>
          <a:lstStyle/>
          <a:p>
            <a:pPr marL="0" indent="0">
              <a:buNone/>
            </a:pPr>
            <a:r>
              <a:rPr lang="en-US" sz="900" dirty="0">
                <a:solidFill>
                  <a:srgbClr val="1C2833"/>
                </a:solidFill>
              </a:rPr>
              <a:t>Niveau de carburant</a:t>
            </a:r>
            <a:endParaRPr lang="en-US" sz="900" dirty="0"/>
          </a:p>
        </p:txBody>
      </p:sp>
      <p:sp>
        <p:nvSpPr>
          <p:cNvPr id="18" name="Text 16"/>
          <p:cNvSpPr/>
          <p:nvPr/>
        </p:nvSpPr>
        <p:spPr>
          <a:xfrm>
            <a:off x="4800600" y="4206240"/>
            <a:ext cx="3840480" cy="292608"/>
          </a:xfrm>
          <a:prstGeom prst="rect">
            <a:avLst/>
          </a:prstGeom>
          <a:noFill/>
          <a:ln/>
        </p:spPr>
        <p:txBody>
          <a:bodyPr wrap="square" rtlCol="0" anchor="ctr"/>
          <a:lstStyle/>
          <a:p>
            <a:pPr marL="0" indent="0">
              <a:buNone/>
            </a:pPr>
            <a:r>
              <a:rPr lang="en-US" sz="1000" b="1" dirty="0">
                <a:solidFill>
                  <a:srgbClr val="C0392B"/>
                </a:solidFill>
              </a:rPr>
              <a:t>Éléments à vérifier :</a:t>
            </a:r>
            <a:endParaRPr lang="en-US" sz="1000" dirty="0"/>
          </a:p>
        </p:txBody>
      </p:sp>
      <p:sp>
        <p:nvSpPr>
          <p:cNvPr id="19" name="Text 17"/>
          <p:cNvSpPr/>
          <p:nvPr/>
        </p:nvSpPr>
        <p:spPr>
          <a:xfrm>
            <a:off x="4800600" y="4526280"/>
            <a:ext cx="3840480" cy="502920"/>
          </a:xfrm>
          <a:prstGeom prst="rect">
            <a:avLst/>
          </a:prstGeom>
          <a:noFill/>
          <a:ln/>
        </p:spPr>
        <p:txBody>
          <a:bodyPr wrap="square" rtlCol="0" anchor="ctr"/>
          <a:lstStyle/>
          <a:p>
            <a:pPr marL="0" indent="0">
              <a:buNone/>
            </a:pPr>
            <a:r>
              <a:rPr lang="en-US" sz="850" dirty="0">
                <a:solidFill>
                  <a:srgbClr val="1C2833"/>
                </a:solidFill>
              </a:rPr>
              <a:t>Pneumatiques · roue de secours · essuie-glaces · pare-brise · lumières · triangle de pré-signalisation · gilet réfléchissant</a:t>
            </a:r>
            <a:endParaRPr lang="en-US" sz="850" dirty="0"/>
          </a:p>
        </p:txBody>
      </p:sp>
      <p:pic>
        <p:nvPicPr>
          <p:cNvPr id="20"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21" name="Shape 1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2" name="Text 1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3" name="Text 2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Panneaux de signalisation : prescription &amp; indication</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C0392B"/>
                </a:solidFill>
              </a:rPr>
              <a:t>Panneaux de PRESCRIPTION</a:t>
            </a:r>
            <a:endParaRPr lang="en-US" sz="1100" dirty="0"/>
          </a:p>
        </p:txBody>
      </p:sp>
      <p:sp>
        <p:nvSpPr>
          <p:cNvPr id="8" name="Text 6"/>
          <p:cNvSpPr/>
          <p:nvPr/>
        </p:nvSpPr>
        <p:spPr>
          <a:xfrm>
            <a:off x="411480" y="1737360"/>
            <a:ext cx="3840480" cy="365760"/>
          </a:xfrm>
          <a:prstGeom prst="rect">
            <a:avLst/>
          </a:prstGeom>
          <a:noFill/>
          <a:ln/>
        </p:spPr>
        <p:txBody>
          <a:bodyPr wrap="square" rtlCol="0" anchor="ctr"/>
          <a:lstStyle/>
          <a:p>
            <a:pPr marL="0" indent="0">
              <a:buNone/>
            </a:pPr>
            <a:r>
              <a:rPr lang="en-US" sz="900" dirty="0">
                <a:solidFill>
                  <a:srgbClr val="1C2833"/>
                </a:solidFill>
              </a:rPr>
              <a:t>Informent des interdictions et obligations réglementaires.</a:t>
            </a:r>
            <a:endParaRPr lang="en-US" sz="900" dirty="0"/>
          </a:p>
        </p:txBody>
      </p:sp>
      <p:sp>
        <p:nvSpPr>
          <p:cNvPr id="9" name="Shape 7"/>
          <p:cNvSpPr/>
          <p:nvPr/>
        </p:nvSpPr>
        <p:spPr>
          <a:xfrm>
            <a:off x="411480" y="2221992"/>
            <a:ext cx="64008" cy="384048"/>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566928" y="2167128"/>
            <a:ext cx="3639312" cy="493776"/>
          </a:xfrm>
          <a:prstGeom prst="rect">
            <a:avLst/>
          </a:prstGeom>
          <a:noFill/>
          <a:ln/>
        </p:spPr>
        <p:txBody>
          <a:bodyPr wrap="square" rtlCol="0" anchor="ctr"/>
          <a:lstStyle/>
          <a:p>
            <a:pPr marL="0" indent="0">
              <a:buNone/>
            </a:pPr>
            <a:r>
              <a:rPr lang="en-US" sz="900" dirty="0">
                <a:solidFill>
                  <a:srgbClr val="1C2833"/>
                </a:solidFill>
              </a:rPr>
              <a:t>Panneaux d'interdiction</a:t>
            </a:r>
            <a:endParaRPr lang="en-US" sz="900" dirty="0"/>
          </a:p>
        </p:txBody>
      </p:sp>
      <p:sp>
        <p:nvSpPr>
          <p:cNvPr id="11" name="Shape 9"/>
          <p:cNvSpPr/>
          <p:nvPr/>
        </p:nvSpPr>
        <p:spPr>
          <a:xfrm>
            <a:off x="411480" y="2642616"/>
            <a:ext cx="64008" cy="384048"/>
          </a:xfrm>
          <a:prstGeom prst="rect">
            <a:avLst/>
          </a:prstGeom>
          <a:solidFill>
            <a:srgbClr val="C0392B"/>
          </a:solidFill>
          <a:ln w="12700">
            <a:solidFill>
              <a:srgbClr val="C0392B"/>
            </a:solidFill>
            <a:prstDash val="solid"/>
          </a:ln>
        </p:spPr>
        <p:txBody>
          <a:bodyPr/>
          <a:lstStyle/>
          <a:p>
            <a:endParaRPr lang="fr-FR"/>
          </a:p>
        </p:txBody>
      </p:sp>
      <p:sp>
        <p:nvSpPr>
          <p:cNvPr id="12" name="Text 10"/>
          <p:cNvSpPr/>
          <p:nvPr/>
        </p:nvSpPr>
        <p:spPr>
          <a:xfrm>
            <a:off x="566928" y="2587752"/>
            <a:ext cx="3639312" cy="493776"/>
          </a:xfrm>
          <a:prstGeom prst="rect">
            <a:avLst/>
          </a:prstGeom>
          <a:noFill/>
          <a:ln/>
        </p:spPr>
        <p:txBody>
          <a:bodyPr wrap="square" rtlCol="0" anchor="ctr"/>
          <a:lstStyle/>
          <a:p>
            <a:pPr marL="0" indent="0">
              <a:buNone/>
            </a:pPr>
            <a:r>
              <a:rPr lang="en-US" sz="900" dirty="0">
                <a:solidFill>
                  <a:srgbClr val="1C2833"/>
                </a:solidFill>
              </a:rPr>
              <a:t>Panneaux de fin d'interdiction</a:t>
            </a:r>
            <a:endParaRPr lang="en-US" sz="900" dirty="0"/>
          </a:p>
        </p:txBody>
      </p:sp>
      <p:sp>
        <p:nvSpPr>
          <p:cNvPr id="13" name="Shape 11"/>
          <p:cNvSpPr/>
          <p:nvPr/>
        </p:nvSpPr>
        <p:spPr>
          <a:xfrm>
            <a:off x="411480" y="3063240"/>
            <a:ext cx="64008" cy="384048"/>
          </a:xfrm>
          <a:prstGeom prst="rect">
            <a:avLst/>
          </a:prstGeom>
          <a:solidFill>
            <a:srgbClr val="C0392B"/>
          </a:solidFill>
          <a:ln w="12700">
            <a:solidFill>
              <a:srgbClr val="C0392B"/>
            </a:solidFill>
            <a:prstDash val="solid"/>
          </a:ln>
        </p:spPr>
        <p:txBody>
          <a:bodyPr/>
          <a:lstStyle/>
          <a:p>
            <a:endParaRPr lang="fr-FR"/>
          </a:p>
        </p:txBody>
      </p:sp>
      <p:sp>
        <p:nvSpPr>
          <p:cNvPr id="14" name="Text 12"/>
          <p:cNvSpPr/>
          <p:nvPr/>
        </p:nvSpPr>
        <p:spPr>
          <a:xfrm>
            <a:off x="566928" y="3008376"/>
            <a:ext cx="3639312" cy="493776"/>
          </a:xfrm>
          <a:prstGeom prst="rect">
            <a:avLst/>
          </a:prstGeom>
          <a:noFill/>
          <a:ln/>
        </p:spPr>
        <p:txBody>
          <a:bodyPr wrap="square" rtlCol="0" anchor="ctr"/>
          <a:lstStyle/>
          <a:p>
            <a:pPr marL="0" indent="0">
              <a:buNone/>
            </a:pPr>
            <a:r>
              <a:rPr lang="en-US" sz="900" dirty="0">
                <a:solidFill>
                  <a:srgbClr val="1C2833"/>
                </a:solidFill>
              </a:rPr>
              <a:t>Panneaux d'obligation</a:t>
            </a:r>
            <a:endParaRPr lang="en-US" sz="900" dirty="0"/>
          </a:p>
        </p:txBody>
      </p:sp>
      <p:sp>
        <p:nvSpPr>
          <p:cNvPr id="15" name="Shape 13"/>
          <p:cNvSpPr/>
          <p:nvPr/>
        </p:nvSpPr>
        <p:spPr>
          <a:xfrm>
            <a:off x="411480" y="3483864"/>
            <a:ext cx="64008" cy="384048"/>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566928" y="3429000"/>
            <a:ext cx="3639312" cy="493776"/>
          </a:xfrm>
          <a:prstGeom prst="rect">
            <a:avLst/>
          </a:prstGeom>
          <a:noFill/>
          <a:ln/>
        </p:spPr>
        <p:txBody>
          <a:bodyPr wrap="square" rtlCol="0" anchor="ctr"/>
          <a:lstStyle/>
          <a:p>
            <a:pPr marL="0" indent="0">
              <a:buNone/>
            </a:pPr>
            <a:r>
              <a:rPr lang="en-US" sz="900" dirty="0">
                <a:solidFill>
                  <a:srgbClr val="1C2833"/>
                </a:solidFill>
              </a:rPr>
              <a:t>Panneaux de fin d'obligation</a:t>
            </a:r>
            <a:endParaRPr lang="en-US" sz="900" dirty="0"/>
          </a:p>
        </p:txBody>
      </p:sp>
      <p:sp>
        <p:nvSpPr>
          <p:cNvPr id="17" name="Shape 15"/>
          <p:cNvSpPr/>
          <p:nvPr/>
        </p:nvSpPr>
        <p:spPr>
          <a:xfrm>
            <a:off x="411480" y="3904488"/>
            <a:ext cx="64008" cy="384048"/>
          </a:xfrm>
          <a:prstGeom prst="rect">
            <a:avLst/>
          </a:prstGeom>
          <a:solidFill>
            <a:srgbClr val="C0392B"/>
          </a:solidFill>
          <a:ln w="12700">
            <a:solidFill>
              <a:srgbClr val="C0392B"/>
            </a:solidFill>
            <a:prstDash val="solid"/>
          </a:ln>
        </p:spPr>
        <p:txBody>
          <a:bodyPr/>
          <a:lstStyle/>
          <a:p>
            <a:endParaRPr lang="fr-FR"/>
          </a:p>
        </p:txBody>
      </p:sp>
      <p:sp>
        <p:nvSpPr>
          <p:cNvPr id="18" name="Text 16"/>
          <p:cNvSpPr/>
          <p:nvPr/>
        </p:nvSpPr>
        <p:spPr>
          <a:xfrm>
            <a:off x="566928" y="3849624"/>
            <a:ext cx="3639312" cy="493776"/>
          </a:xfrm>
          <a:prstGeom prst="rect">
            <a:avLst/>
          </a:prstGeom>
          <a:noFill/>
          <a:ln/>
        </p:spPr>
        <p:txBody>
          <a:bodyPr wrap="square" rtlCol="0" anchor="ctr"/>
          <a:lstStyle/>
          <a:p>
            <a:pPr marL="0" indent="0">
              <a:buNone/>
            </a:pPr>
            <a:r>
              <a:rPr lang="en-US" sz="900" dirty="0">
                <a:solidFill>
                  <a:srgbClr val="1C2833"/>
                </a:solidFill>
              </a:rPr>
              <a:t>Panneaux de prescription zonale</a:t>
            </a:r>
            <a:endParaRPr lang="en-US" sz="900" dirty="0"/>
          </a:p>
        </p:txBody>
      </p:sp>
      <p:sp>
        <p:nvSpPr>
          <p:cNvPr id="19" name="Shape 17"/>
          <p:cNvSpPr/>
          <p:nvPr/>
        </p:nvSpPr>
        <p:spPr>
          <a:xfrm>
            <a:off x="411480" y="4325112"/>
            <a:ext cx="64008" cy="384048"/>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566928" y="4270248"/>
            <a:ext cx="3639312" cy="493776"/>
          </a:xfrm>
          <a:prstGeom prst="rect">
            <a:avLst/>
          </a:prstGeom>
          <a:noFill/>
          <a:ln/>
        </p:spPr>
        <p:txBody>
          <a:bodyPr wrap="square" rtlCol="0" anchor="ctr"/>
          <a:lstStyle/>
          <a:p>
            <a:pPr marL="0" indent="0">
              <a:buNone/>
            </a:pPr>
            <a:r>
              <a:rPr lang="en-US" sz="900" dirty="0">
                <a:solidFill>
                  <a:srgbClr val="1C2833"/>
                </a:solidFill>
              </a:rPr>
              <a:t>Fin de prescription zonale</a:t>
            </a:r>
            <a:endParaRPr lang="en-US" sz="900" dirty="0"/>
          </a:p>
        </p:txBody>
      </p:sp>
      <p:sp>
        <p:nvSpPr>
          <p:cNvPr id="21" name="Text 19"/>
          <p:cNvSpPr/>
          <p:nvPr/>
        </p:nvSpPr>
        <p:spPr>
          <a:xfrm>
            <a:off x="411480" y="4572000"/>
            <a:ext cx="3840480" cy="347472"/>
          </a:xfrm>
          <a:prstGeom prst="rect">
            <a:avLst/>
          </a:prstGeom>
          <a:noFill/>
          <a:ln/>
        </p:spPr>
        <p:txBody>
          <a:bodyPr wrap="square" rtlCol="0" anchor="ctr"/>
          <a:lstStyle/>
          <a:p>
            <a:pPr marL="0" indent="0">
              <a:buNone/>
            </a:pPr>
            <a:r>
              <a:rPr lang="en-US" sz="850" i="1" dirty="0">
                <a:solidFill>
                  <a:srgbClr val="5D6D7E"/>
                </a:solidFill>
              </a:rPr>
              <a:t>Panneaux d'INDICATION : Type C (conduite) &amp; Type CE (services : stations, hôpitaux…)</a:t>
            </a:r>
            <a:endParaRPr lang="en-US" sz="850" dirty="0"/>
          </a:p>
        </p:txBody>
      </p:sp>
      <p:pic>
        <p:nvPicPr>
          <p:cNvPr id="22" name="Image 0" descr="preencoded.png"/>
          <p:cNvPicPr>
            <a:picLocks noChangeAspect="1"/>
          </p:cNvPicPr>
          <p:nvPr/>
        </p:nvPicPr>
        <p:blipFill>
          <a:blip r:embed="rId3"/>
          <a:stretch>
            <a:fillRect/>
          </a:stretch>
        </p:blipFill>
        <p:spPr>
          <a:xfrm>
            <a:off x="4663440" y="1644091"/>
            <a:ext cx="4206240" cy="2663647"/>
          </a:xfrm>
          <a:prstGeom prst="rect">
            <a:avLst/>
          </a:prstGeom>
        </p:spPr>
      </p:pic>
      <p:sp>
        <p:nvSpPr>
          <p:cNvPr id="23" name="Shape 20"/>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4" name="Text 21"/>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5" name="Text 22"/>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Marquages au sol &amp; Types de voies</a:t>
            </a:r>
            <a:endParaRPr lang="en-US" sz="2000" dirty="0"/>
          </a:p>
        </p:txBody>
      </p:sp>
      <p:pic>
        <p:nvPicPr>
          <p:cNvPr id="6" name="Image 0" descr="preencoded.png"/>
          <p:cNvPicPr>
            <a:picLocks noChangeAspect="1"/>
          </p:cNvPicPr>
          <p:nvPr/>
        </p:nvPicPr>
        <p:blipFill>
          <a:blip r:embed="rId3"/>
          <a:stretch>
            <a:fillRect/>
          </a:stretch>
        </p:blipFill>
        <p:spPr>
          <a:xfrm>
            <a:off x="1128370" y="1298448"/>
            <a:ext cx="3321101" cy="2103120"/>
          </a:xfrm>
          <a:prstGeom prst="rect">
            <a:avLst/>
          </a:prstGeom>
        </p:spPr>
      </p:pic>
      <p:sp>
        <p:nvSpPr>
          <p:cNvPr id="7" name="Shape 4"/>
          <p:cNvSpPr/>
          <p:nvPr/>
        </p:nvSpPr>
        <p:spPr>
          <a:xfrm>
            <a:off x="4663440" y="1298448"/>
            <a:ext cx="4206240" cy="210312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663440" y="1389888"/>
            <a:ext cx="4114800" cy="320040"/>
          </a:xfrm>
          <a:prstGeom prst="rect">
            <a:avLst/>
          </a:prstGeom>
          <a:noFill/>
          <a:ln/>
        </p:spPr>
        <p:txBody>
          <a:bodyPr wrap="square" rtlCol="0" anchor="ctr"/>
          <a:lstStyle/>
          <a:p>
            <a:pPr marL="0" indent="0">
              <a:buNone/>
            </a:pPr>
            <a:r>
              <a:rPr lang="en-US" sz="1100" b="1" dirty="0">
                <a:solidFill>
                  <a:srgbClr val="C0392B"/>
                </a:solidFill>
              </a:rPr>
              <a:t>Types de lignes</a:t>
            </a:r>
            <a:endParaRPr lang="en-US" sz="1100" dirty="0"/>
          </a:p>
        </p:txBody>
      </p:sp>
      <p:sp>
        <p:nvSpPr>
          <p:cNvPr id="9" name="Text 6"/>
          <p:cNvSpPr/>
          <p:nvPr/>
        </p:nvSpPr>
        <p:spPr>
          <a:xfrm>
            <a:off x="4800600" y="1508760"/>
            <a:ext cx="3840480" cy="201168"/>
          </a:xfrm>
          <a:prstGeom prst="rect">
            <a:avLst/>
          </a:prstGeom>
          <a:noFill/>
          <a:ln/>
        </p:spPr>
        <p:txBody>
          <a:bodyPr wrap="square" rtlCol="0" anchor="ctr"/>
          <a:lstStyle/>
          <a:p>
            <a:pPr marL="0" indent="0">
              <a:buNone/>
            </a:pPr>
            <a:r>
              <a:rPr lang="en-US" sz="900" b="1" dirty="0">
                <a:solidFill>
                  <a:srgbClr val="C0392B"/>
                </a:solidFill>
              </a:rPr>
              <a:t>Ligne continue :</a:t>
            </a:r>
            <a:endParaRPr lang="en-US" sz="900" dirty="0"/>
          </a:p>
        </p:txBody>
      </p:sp>
      <p:sp>
        <p:nvSpPr>
          <p:cNvPr id="10" name="Text 7"/>
          <p:cNvSpPr/>
          <p:nvPr/>
        </p:nvSpPr>
        <p:spPr>
          <a:xfrm>
            <a:off x="4800600" y="1728216"/>
            <a:ext cx="3840480" cy="201168"/>
          </a:xfrm>
          <a:prstGeom prst="rect">
            <a:avLst/>
          </a:prstGeom>
          <a:noFill/>
          <a:ln/>
        </p:spPr>
        <p:txBody>
          <a:bodyPr wrap="square" rtlCol="0" anchor="ctr"/>
          <a:lstStyle/>
          <a:p>
            <a:pPr marL="0" indent="0">
              <a:buNone/>
            </a:pPr>
            <a:r>
              <a:rPr lang="en-US" sz="850" dirty="0">
                <a:solidFill>
                  <a:srgbClr val="1C2833"/>
                </a:solidFill>
              </a:rPr>
              <a:t>Dépassement INTERDIT de votre côté</a:t>
            </a:r>
            <a:endParaRPr lang="en-US" sz="850" dirty="0"/>
          </a:p>
        </p:txBody>
      </p:sp>
      <p:sp>
        <p:nvSpPr>
          <p:cNvPr id="11" name="Text 8"/>
          <p:cNvSpPr/>
          <p:nvPr/>
        </p:nvSpPr>
        <p:spPr>
          <a:xfrm>
            <a:off x="4800600" y="1911096"/>
            <a:ext cx="3840480" cy="201168"/>
          </a:xfrm>
          <a:prstGeom prst="rect">
            <a:avLst/>
          </a:prstGeom>
          <a:noFill/>
          <a:ln/>
        </p:spPr>
        <p:txBody>
          <a:bodyPr wrap="square" rtlCol="0" anchor="ctr"/>
          <a:lstStyle/>
          <a:p>
            <a:pPr marL="0" indent="0">
              <a:buNone/>
            </a:pPr>
            <a:r>
              <a:rPr lang="en-US" sz="900" b="1" dirty="0">
                <a:solidFill>
                  <a:srgbClr val="C0392B"/>
                </a:solidFill>
              </a:rPr>
              <a:t>Ligne discontinue :</a:t>
            </a:r>
            <a:endParaRPr lang="en-US" sz="900" dirty="0"/>
          </a:p>
        </p:txBody>
      </p:sp>
      <p:sp>
        <p:nvSpPr>
          <p:cNvPr id="12" name="Text 9"/>
          <p:cNvSpPr/>
          <p:nvPr/>
        </p:nvSpPr>
        <p:spPr>
          <a:xfrm>
            <a:off x="4800600" y="2130552"/>
            <a:ext cx="3840480" cy="201168"/>
          </a:xfrm>
          <a:prstGeom prst="rect">
            <a:avLst/>
          </a:prstGeom>
          <a:noFill/>
          <a:ln/>
        </p:spPr>
        <p:txBody>
          <a:bodyPr wrap="square" rtlCol="0" anchor="ctr"/>
          <a:lstStyle/>
          <a:p>
            <a:pPr marL="0" indent="0">
              <a:buNone/>
            </a:pPr>
            <a:r>
              <a:rPr lang="en-US" sz="850" dirty="0">
                <a:solidFill>
                  <a:srgbClr val="1C2833"/>
                </a:solidFill>
              </a:rPr>
              <a:t>Dépassement autorisé</a:t>
            </a:r>
            <a:endParaRPr lang="en-US" sz="850" dirty="0"/>
          </a:p>
        </p:txBody>
      </p:sp>
      <p:sp>
        <p:nvSpPr>
          <p:cNvPr id="13" name="Text 10"/>
          <p:cNvSpPr/>
          <p:nvPr/>
        </p:nvSpPr>
        <p:spPr>
          <a:xfrm>
            <a:off x="4800600" y="2313432"/>
            <a:ext cx="3840480" cy="201168"/>
          </a:xfrm>
          <a:prstGeom prst="rect">
            <a:avLst/>
          </a:prstGeom>
          <a:noFill/>
          <a:ln/>
        </p:spPr>
        <p:txBody>
          <a:bodyPr wrap="square" rtlCol="0" anchor="ctr"/>
          <a:lstStyle/>
          <a:p>
            <a:pPr marL="0" indent="0">
              <a:buNone/>
            </a:pPr>
            <a:r>
              <a:rPr lang="en-US" sz="900" b="1" dirty="0">
                <a:solidFill>
                  <a:srgbClr val="C0392B"/>
                </a:solidFill>
              </a:rPr>
              <a:t>Lignes mixtes :</a:t>
            </a:r>
            <a:endParaRPr lang="en-US" sz="900" dirty="0"/>
          </a:p>
        </p:txBody>
      </p:sp>
      <p:sp>
        <p:nvSpPr>
          <p:cNvPr id="14" name="Text 11"/>
          <p:cNvSpPr/>
          <p:nvPr/>
        </p:nvSpPr>
        <p:spPr>
          <a:xfrm>
            <a:off x="4800600" y="2532888"/>
            <a:ext cx="3840480" cy="201168"/>
          </a:xfrm>
          <a:prstGeom prst="rect">
            <a:avLst/>
          </a:prstGeom>
          <a:noFill/>
          <a:ln/>
        </p:spPr>
        <p:txBody>
          <a:bodyPr wrap="square" rtlCol="0" anchor="ctr"/>
          <a:lstStyle/>
          <a:p>
            <a:pPr marL="0" indent="0">
              <a:buNone/>
            </a:pPr>
            <a:r>
              <a:rPr lang="en-US" sz="850" dirty="0">
                <a:solidFill>
                  <a:srgbClr val="1C2833"/>
                </a:solidFill>
              </a:rPr>
              <a:t>Continue côté = INTERDIT / Discontinue = OK</a:t>
            </a:r>
            <a:endParaRPr lang="en-US" sz="850" dirty="0"/>
          </a:p>
        </p:txBody>
      </p:sp>
      <p:sp>
        <p:nvSpPr>
          <p:cNvPr id="15" name="Text 12"/>
          <p:cNvSpPr/>
          <p:nvPr/>
        </p:nvSpPr>
        <p:spPr>
          <a:xfrm>
            <a:off x="4800600" y="2715768"/>
            <a:ext cx="3840480" cy="201168"/>
          </a:xfrm>
          <a:prstGeom prst="rect">
            <a:avLst/>
          </a:prstGeom>
          <a:noFill/>
          <a:ln/>
        </p:spPr>
        <p:txBody>
          <a:bodyPr wrap="square" rtlCol="0" anchor="ctr"/>
          <a:lstStyle/>
          <a:p>
            <a:pPr marL="0" indent="0">
              <a:buNone/>
            </a:pPr>
            <a:r>
              <a:rPr lang="en-US" sz="900" b="1" dirty="0">
                <a:solidFill>
                  <a:srgbClr val="C0392B"/>
                </a:solidFill>
              </a:rPr>
              <a:t>Rive route :</a:t>
            </a:r>
            <a:endParaRPr lang="en-US" sz="900" dirty="0"/>
          </a:p>
        </p:txBody>
      </p:sp>
      <p:sp>
        <p:nvSpPr>
          <p:cNvPr id="16" name="Text 13"/>
          <p:cNvSpPr/>
          <p:nvPr/>
        </p:nvSpPr>
        <p:spPr>
          <a:xfrm>
            <a:off x="4800600" y="2935224"/>
            <a:ext cx="3840480" cy="201168"/>
          </a:xfrm>
          <a:prstGeom prst="rect">
            <a:avLst/>
          </a:prstGeom>
          <a:noFill/>
          <a:ln/>
        </p:spPr>
        <p:txBody>
          <a:bodyPr wrap="square" rtlCol="0" anchor="ctr"/>
          <a:lstStyle/>
          <a:p>
            <a:pPr marL="0" indent="0">
              <a:buNone/>
            </a:pPr>
            <a:r>
              <a:rPr lang="en-US" sz="850" dirty="0">
                <a:solidFill>
                  <a:srgbClr val="1C2833"/>
                </a:solidFill>
              </a:rPr>
              <a:t>Traits 3m / intervalles 3,50m</a:t>
            </a:r>
            <a:endParaRPr lang="en-US" sz="850" dirty="0"/>
          </a:p>
        </p:txBody>
      </p:sp>
      <p:sp>
        <p:nvSpPr>
          <p:cNvPr id="17" name="Text 14"/>
          <p:cNvSpPr/>
          <p:nvPr/>
        </p:nvSpPr>
        <p:spPr>
          <a:xfrm>
            <a:off x="4800600" y="3118104"/>
            <a:ext cx="3840480" cy="201168"/>
          </a:xfrm>
          <a:prstGeom prst="rect">
            <a:avLst/>
          </a:prstGeom>
          <a:noFill/>
          <a:ln/>
        </p:spPr>
        <p:txBody>
          <a:bodyPr wrap="square" rtlCol="0" anchor="ctr"/>
          <a:lstStyle/>
          <a:p>
            <a:pPr marL="0" indent="0">
              <a:buNone/>
            </a:pPr>
            <a:r>
              <a:rPr lang="en-US" sz="900" b="1" dirty="0">
                <a:solidFill>
                  <a:srgbClr val="C0392B"/>
                </a:solidFill>
              </a:rPr>
              <a:t>Rive autoroute :</a:t>
            </a:r>
            <a:endParaRPr lang="en-US" sz="900" dirty="0"/>
          </a:p>
        </p:txBody>
      </p:sp>
      <p:sp>
        <p:nvSpPr>
          <p:cNvPr id="18" name="Text 15"/>
          <p:cNvSpPr/>
          <p:nvPr/>
        </p:nvSpPr>
        <p:spPr>
          <a:xfrm>
            <a:off x="4800600" y="3337560"/>
            <a:ext cx="3840480" cy="201168"/>
          </a:xfrm>
          <a:prstGeom prst="rect">
            <a:avLst/>
          </a:prstGeom>
          <a:noFill/>
          <a:ln/>
        </p:spPr>
        <p:txBody>
          <a:bodyPr wrap="square" rtlCol="0" anchor="ctr"/>
          <a:lstStyle/>
          <a:p>
            <a:pPr marL="0" indent="0">
              <a:buNone/>
            </a:pPr>
            <a:r>
              <a:rPr lang="en-US" sz="850" dirty="0">
                <a:solidFill>
                  <a:srgbClr val="1C2833"/>
                </a:solidFill>
              </a:rPr>
              <a:t>Traits 39m / intervalles 13m (BAU)</a:t>
            </a:r>
            <a:endParaRPr lang="en-US" sz="850" dirty="0"/>
          </a:p>
        </p:txBody>
      </p:sp>
      <p:sp>
        <p:nvSpPr>
          <p:cNvPr id="19" name="Shape 16"/>
          <p:cNvSpPr/>
          <p:nvPr/>
        </p:nvSpPr>
        <p:spPr>
          <a:xfrm>
            <a:off x="274320" y="3502152"/>
            <a:ext cx="8595360" cy="1143000"/>
          </a:xfrm>
          <a:prstGeom prst="rect">
            <a:avLst/>
          </a:prstGeom>
          <a:solidFill>
            <a:srgbClr val="FFFFFF"/>
          </a:solidFill>
          <a:ln w="12700">
            <a:solidFill>
              <a:srgbClr val="D5D8DC"/>
            </a:solidFill>
            <a:prstDash val="solid"/>
          </a:ln>
        </p:spPr>
        <p:txBody>
          <a:bodyPr/>
          <a:lstStyle/>
          <a:p>
            <a:endParaRPr lang="fr-FR"/>
          </a:p>
        </p:txBody>
      </p:sp>
      <p:sp>
        <p:nvSpPr>
          <p:cNvPr id="20" name="Text 17"/>
          <p:cNvSpPr/>
          <p:nvPr/>
        </p:nvSpPr>
        <p:spPr>
          <a:xfrm>
            <a:off x="411480" y="3584448"/>
            <a:ext cx="8229600" cy="274320"/>
          </a:xfrm>
          <a:prstGeom prst="rect">
            <a:avLst/>
          </a:prstGeom>
          <a:noFill/>
          <a:ln/>
        </p:spPr>
        <p:txBody>
          <a:bodyPr wrap="square" rtlCol="0" anchor="ctr"/>
          <a:lstStyle/>
          <a:p>
            <a:pPr marL="0" indent="0">
              <a:buNone/>
            </a:pPr>
            <a:r>
              <a:rPr lang="en-US" sz="1000" b="1" dirty="0">
                <a:solidFill>
                  <a:srgbClr val="C0392B"/>
                </a:solidFill>
              </a:rPr>
              <a:t>Voies spéciales :</a:t>
            </a:r>
            <a:endParaRPr lang="en-US" sz="1000" dirty="0"/>
          </a:p>
        </p:txBody>
      </p:sp>
      <p:sp>
        <p:nvSpPr>
          <p:cNvPr id="21" name="Text 18"/>
          <p:cNvSpPr/>
          <p:nvPr/>
        </p:nvSpPr>
        <p:spPr>
          <a:xfrm>
            <a:off x="411480" y="3886200"/>
            <a:ext cx="4023360" cy="320040"/>
          </a:xfrm>
          <a:prstGeom prst="rect">
            <a:avLst/>
          </a:prstGeom>
          <a:noFill/>
          <a:ln/>
        </p:spPr>
        <p:txBody>
          <a:bodyPr wrap="square" rtlCol="0" anchor="ctr"/>
          <a:lstStyle/>
          <a:p>
            <a:pPr marL="0" indent="0">
              <a:buNone/>
            </a:pPr>
            <a:r>
              <a:rPr lang="en-US" sz="850" dirty="0">
                <a:solidFill>
                  <a:srgbClr val="1C2833"/>
                </a:solidFill>
              </a:rPr>
              <a:t>Voie de stockage : au milieu, pour véhicules tournant — emprunter le plus tôt possible.</a:t>
            </a:r>
            <a:endParaRPr lang="en-US" sz="850" dirty="0"/>
          </a:p>
        </p:txBody>
      </p:sp>
      <p:sp>
        <p:nvSpPr>
          <p:cNvPr id="22" name="Text 19"/>
          <p:cNvSpPr/>
          <p:nvPr/>
        </p:nvSpPr>
        <p:spPr>
          <a:xfrm>
            <a:off x="4480560" y="3886200"/>
            <a:ext cx="4206240" cy="320040"/>
          </a:xfrm>
          <a:prstGeom prst="rect">
            <a:avLst/>
          </a:prstGeom>
          <a:noFill/>
          <a:ln/>
        </p:spPr>
        <p:txBody>
          <a:bodyPr wrap="square" rtlCol="0" anchor="ctr"/>
          <a:lstStyle/>
          <a:p>
            <a:pPr marL="0" indent="0">
              <a:buNone/>
            </a:pPr>
            <a:r>
              <a:rPr lang="en-US" sz="850" dirty="0">
                <a:solidFill>
                  <a:srgbClr val="1C2833"/>
                </a:solidFill>
              </a:rPr>
              <a:t>Voie TC : autorisée aux TAXIS et AMBULANCES — VTC et VMDTR = INTERDITS.</a:t>
            </a:r>
            <a:endParaRPr lang="en-US" sz="850" dirty="0"/>
          </a:p>
        </p:txBody>
      </p:sp>
      <p:sp>
        <p:nvSpPr>
          <p:cNvPr id="23" name="Text 20"/>
          <p:cNvSpPr/>
          <p:nvPr/>
        </p:nvSpPr>
        <p:spPr>
          <a:xfrm>
            <a:off x="411480" y="4251960"/>
            <a:ext cx="8229600" cy="274320"/>
          </a:xfrm>
          <a:prstGeom prst="rect">
            <a:avLst/>
          </a:prstGeom>
          <a:noFill/>
          <a:ln/>
        </p:spPr>
        <p:txBody>
          <a:bodyPr wrap="square" rtlCol="0" anchor="ctr"/>
          <a:lstStyle/>
          <a:p>
            <a:pPr marL="0" indent="0">
              <a:buNone/>
            </a:pPr>
            <a:r>
              <a:rPr lang="en-US" sz="850" dirty="0">
                <a:solidFill>
                  <a:srgbClr val="1C2833"/>
                </a:solidFill>
              </a:rPr>
              <a:t>Voie lente : à droite, réservée aux véhicules ne pouvant dépasser 60 km/h.</a:t>
            </a:r>
            <a:endParaRPr lang="en-US" sz="850" dirty="0"/>
          </a:p>
        </p:txBody>
      </p:sp>
      <p:sp>
        <p:nvSpPr>
          <p:cNvPr id="24" name="Shape 21"/>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5" name="Text 22"/>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6" name="Text 23"/>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Stationnements : alterné, payant &amp; Priorités</a:t>
            </a:r>
            <a:endParaRPr lang="en-US" sz="2000" dirty="0"/>
          </a:p>
        </p:txBody>
      </p:sp>
      <p:pic>
        <p:nvPicPr>
          <p:cNvPr id="6" name="Image 0" descr="preencoded.png"/>
          <p:cNvPicPr>
            <a:picLocks noChangeAspect="1"/>
          </p:cNvPicPr>
          <p:nvPr/>
        </p:nvPicPr>
        <p:blipFill>
          <a:blip r:embed="rId3"/>
          <a:stretch>
            <a:fillRect/>
          </a:stretch>
        </p:blipFill>
        <p:spPr>
          <a:xfrm>
            <a:off x="572414" y="1298448"/>
            <a:ext cx="3609137" cy="2286000"/>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C0392B"/>
                </a:solidFill>
              </a:rPr>
              <a:t>Stationnement alterné :</a:t>
            </a:r>
            <a:endParaRPr lang="en-US" sz="1100" dirty="0"/>
          </a:p>
        </p:txBody>
      </p:sp>
      <p:sp>
        <p:nvSpPr>
          <p:cNvPr id="9" name="Text 6"/>
          <p:cNvSpPr/>
          <p:nvPr/>
        </p:nvSpPr>
        <p:spPr>
          <a:xfrm>
            <a:off x="4800600" y="1737360"/>
            <a:ext cx="3840480" cy="749808"/>
          </a:xfrm>
          <a:prstGeom prst="rect">
            <a:avLst/>
          </a:prstGeom>
          <a:noFill/>
          <a:ln/>
        </p:spPr>
        <p:txBody>
          <a:bodyPr wrap="square" rtlCol="0" anchor="ctr"/>
          <a:lstStyle/>
          <a:p>
            <a:pPr marL="0" indent="0">
              <a:buNone/>
            </a:pPr>
            <a:r>
              <a:rPr lang="en-US" sz="900" dirty="0">
                <a:solidFill>
                  <a:srgbClr val="1C2833"/>
                </a:solidFill>
              </a:rPr>
              <a:t>Du 1er au 15 → interdit côté du panneau</a:t>
            </a:r>
            <a:endParaRPr lang="en-US" sz="900" dirty="0"/>
          </a:p>
          <a:p>
            <a:pPr marL="0" indent="0">
              <a:buNone/>
            </a:pPr>
            <a:r>
              <a:rPr lang="en-US" sz="900" dirty="0">
                <a:solidFill>
                  <a:srgbClr val="1C2833"/>
                </a:solidFill>
              </a:rPr>
              <a:t>Du 16 au 31 → interdit de l'autre côté</a:t>
            </a:r>
            <a:endParaRPr lang="en-US" sz="900" dirty="0"/>
          </a:p>
          <a:p>
            <a:pPr marL="0" indent="0">
              <a:buNone/>
            </a:pPr>
            <a:r>
              <a:rPr lang="en-US" sz="900" dirty="0">
                <a:solidFill>
                  <a:srgbClr val="1C2833"/>
                </a:solidFill>
              </a:rPr>
              <a:t>Changement entre 20h30 et 21h (15 et dernier du mois)</a:t>
            </a:r>
            <a:endParaRPr lang="en-US" sz="900" dirty="0"/>
          </a:p>
        </p:txBody>
      </p:sp>
      <p:sp>
        <p:nvSpPr>
          <p:cNvPr id="10" name="Text 7"/>
          <p:cNvSpPr/>
          <p:nvPr/>
        </p:nvSpPr>
        <p:spPr>
          <a:xfrm>
            <a:off x="4800600" y="2542032"/>
            <a:ext cx="3840480" cy="292608"/>
          </a:xfrm>
          <a:prstGeom prst="rect">
            <a:avLst/>
          </a:prstGeom>
          <a:noFill/>
          <a:ln/>
        </p:spPr>
        <p:txBody>
          <a:bodyPr wrap="square" rtlCol="0" anchor="ctr"/>
          <a:lstStyle/>
          <a:p>
            <a:pPr marL="0" indent="0">
              <a:buNone/>
            </a:pPr>
            <a:r>
              <a:rPr lang="en-US" sz="1100" b="1" dirty="0">
                <a:solidFill>
                  <a:srgbClr val="C0392B"/>
                </a:solidFill>
              </a:rPr>
              <a:t>Stationnement payant :</a:t>
            </a:r>
            <a:endParaRPr lang="en-US" sz="1100" dirty="0"/>
          </a:p>
        </p:txBody>
      </p:sp>
      <p:sp>
        <p:nvSpPr>
          <p:cNvPr id="11" name="Text 8"/>
          <p:cNvSpPr/>
          <p:nvPr/>
        </p:nvSpPr>
        <p:spPr>
          <a:xfrm>
            <a:off x="4800600" y="2871216"/>
            <a:ext cx="3840480" cy="502920"/>
          </a:xfrm>
          <a:prstGeom prst="rect">
            <a:avLst/>
          </a:prstGeom>
          <a:noFill/>
          <a:ln/>
        </p:spPr>
        <p:txBody>
          <a:bodyPr wrap="square" rtlCol="0" anchor="ctr"/>
          <a:lstStyle/>
          <a:p>
            <a:pPr marL="0" indent="0">
              <a:buNone/>
            </a:pPr>
            <a:r>
              <a:rPr lang="en-US" sz="900" dirty="0">
                <a:solidFill>
                  <a:srgbClr val="1C2833"/>
                </a:solidFill>
              </a:rPr>
              <a:t>Ticket parcmètre → placer derrière pare-brise.</a:t>
            </a:r>
            <a:endParaRPr lang="en-US" sz="900" dirty="0"/>
          </a:p>
          <a:p>
            <a:pPr marL="0" indent="0">
              <a:buNone/>
            </a:pPr>
            <a:r>
              <a:rPr lang="en-US" sz="900" dirty="0">
                <a:solidFill>
                  <a:srgbClr val="1C2833"/>
                </a:solidFill>
              </a:rPr>
              <a:t>Disque horodateur : position heure d'arrivée.</a:t>
            </a:r>
            <a:endParaRPr lang="en-US" sz="900" dirty="0"/>
          </a:p>
        </p:txBody>
      </p:sp>
      <p:sp>
        <p:nvSpPr>
          <p:cNvPr id="12" name="Text 9"/>
          <p:cNvSpPr/>
          <p:nvPr/>
        </p:nvSpPr>
        <p:spPr>
          <a:xfrm>
            <a:off x="4800600" y="3429000"/>
            <a:ext cx="3840480" cy="292608"/>
          </a:xfrm>
          <a:prstGeom prst="rect">
            <a:avLst/>
          </a:prstGeom>
          <a:noFill/>
          <a:ln/>
        </p:spPr>
        <p:txBody>
          <a:bodyPr wrap="square" rtlCol="0" anchor="ctr"/>
          <a:lstStyle/>
          <a:p>
            <a:pPr marL="0" indent="0">
              <a:buNone/>
            </a:pPr>
            <a:r>
              <a:rPr lang="en-US" sz="1100" b="1" dirty="0">
                <a:solidFill>
                  <a:srgbClr val="C0392B"/>
                </a:solidFill>
              </a:rPr>
              <a:t>Priorités :</a:t>
            </a:r>
            <a:endParaRPr lang="en-US" sz="1100" dirty="0"/>
          </a:p>
        </p:txBody>
      </p:sp>
      <p:sp>
        <p:nvSpPr>
          <p:cNvPr id="13" name="Text 10"/>
          <p:cNvSpPr/>
          <p:nvPr/>
        </p:nvSpPr>
        <p:spPr>
          <a:xfrm>
            <a:off x="4800600" y="3749040"/>
            <a:ext cx="3840480" cy="640080"/>
          </a:xfrm>
          <a:prstGeom prst="rect">
            <a:avLst/>
          </a:prstGeom>
          <a:noFill/>
          <a:ln/>
        </p:spPr>
        <p:txBody>
          <a:bodyPr wrap="square" rtlCol="0" anchor="ctr"/>
          <a:lstStyle/>
          <a:p>
            <a:pPr marL="0" indent="0">
              <a:buNone/>
            </a:pPr>
            <a:r>
              <a:rPr lang="en-US" sz="900" dirty="0">
                <a:solidFill>
                  <a:srgbClr val="1C2833"/>
                </a:solidFill>
              </a:rPr>
              <a:t>Route prioritaire : panneau répété tous les km (agglo), 5 km (hors agglo).</a:t>
            </a:r>
            <a:endParaRPr lang="en-US" sz="900" dirty="0"/>
          </a:p>
          <a:p>
            <a:pPr marL="0" indent="0">
              <a:buNone/>
            </a:pPr>
            <a:r>
              <a:rPr lang="en-US" sz="900" dirty="0">
                <a:solidFill>
                  <a:srgbClr val="1C2833"/>
                </a:solidFill>
              </a:rPr>
              <a:t>Priorité ponctuelle : uniquement à la prochaine intersection.</a:t>
            </a:r>
            <a:endParaRPr lang="en-US" sz="900" dirty="0"/>
          </a:p>
        </p:txBody>
      </p:sp>
      <p:sp>
        <p:nvSpPr>
          <p:cNvPr id="14" name="Shape 11"/>
          <p:cNvSpPr/>
          <p:nvPr/>
        </p:nvSpPr>
        <p:spPr>
          <a:xfrm>
            <a:off x="274320" y="3657600"/>
            <a:ext cx="8595360" cy="960120"/>
          </a:xfrm>
          <a:prstGeom prst="rect">
            <a:avLst/>
          </a:prstGeom>
          <a:solidFill>
            <a:srgbClr val="FFFFFF"/>
          </a:solidFill>
          <a:ln w="12700">
            <a:solidFill>
              <a:srgbClr val="D5D8DC"/>
            </a:solidFill>
            <a:prstDash val="solid"/>
          </a:ln>
        </p:spPr>
        <p:txBody>
          <a:bodyPr/>
          <a:lstStyle/>
          <a:p>
            <a:endParaRPr lang="fr-FR"/>
          </a:p>
        </p:txBody>
      </p:sp>
      <p:sp>
        <p:nvSpPr>
          <p:cNvPr id="15" name="Text 12"/>
          <p:cNvSpPr/>
          <p:nvPr/>
        </p:nvSpPr>
        <p:spPr>
          <a:xfrm>
            <a:off x="411480" y="3730752"/>
            <a:ext cx="4114800" cy="274320"/>
          </a:xfrm>
          <a:prstGeom prst="rect">
            <a:avLst/>
          </a:prstGeom>
          <a:noFill/>
          <a:ln/>
        </p:spPr>
        <p:txBody>
          <a:bodyPr wrap="square" rtlCol="0" anchor="ctr"/>
          <a:lstStyle/>
          <a:p>
            <a:pPr marL="0" indent="0">
              <a:buNone/>
            </a:pPr>
            <a:r>
              <a:rPr lang="en-US" sz="1000" b="1" dirty="0">
                <a:solidFill>
                  <a:srgbClr val="C0392B"/>
                </a:solidFill>
              </a:rPr>
              <a:t>Croisement en pente :</a:t>
            </a:r>
            <a:endParaRPr lang="en-US" sz="1000" dirty="0"/>
          </a:p>
        </p:txBody>
      </p:sp>
      <p:sp>
        <p:nvSpPr>
          <p:cNvPr id="16" name="Text 13"/>
          <p:cNvSpPr/>
          <p:nvPr/>
        </p:nvSpPr>
        <p:spPr>
          <a:xfrm>
            <a:off x="411480" y="4041648"/>
            <a:ext cx="8321040" cy="411480"/>
          </a:xfrm>
          <a:prstGeom prst="rect">
            <a:avLst/>
          </a:prstGeom>
          <a:noFill/>
          <a:ln/>
        </p:spPr>
        <p:txBody>
          <a:bodyPr wrap="square" rtlCol="0" anchor="ctr"/>
          <a:lstStyle/>
          <a:p>
            <a:pPr marL="0" indent="0">
              <a:buNone/>
            </a:pPr>
            <a:r>
              <a:rPr lang="en-US" sz="850" dirty="0">
                <a:solidFill>
                  <a:srgbClr val="1C2833"/>
                </a:solidFill>
              </a:rPr>
              <a:t>Véhicule qui descend recule si même gabarit. Seul recule face à un ensemble. Léger recule face à un camion.</a:t>
            </a:r>
            <a:endParaRPr lang="en-US" sz="850" dirty="0"/>
          </a:p>
        </p:txBody>
      </p:sp>
      <p:sp>
        <p:nvSpPr>
          <p:cNvPr id="17" name="Shape 14"/>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8" name="Text 15"/>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9" name="Text 16"/>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1 — COURS</a:t>
            </a:r>
            <a:endParaRPr lang="en-US" sz="850" dirty="0"/>
          </a:p>
        </p:txBody>
      </p:sp>
      <p:sp>
        <p:nvSpPr>
          <p:cNvPr id="4" name="Shape 2"/>
          <p:cNvSpPr/>
          <p:nvPr/>
        </p:nvSpPr>
        <p:spPr>
          <a:xfrm>
            <a:off x="0" y="512064"/>
            <a:ext cx="118872" cy="685800"/>
          </a:xfrm>
          <a:prstGeom prst="rect">
            <a:avLst/>
          </a:prstGeom>
          <a:solidFill>
            <a:srgbClr val="C0392B"/>
          </a:solidFill>
          <a:ln w="12700">
            <a:solidFill>
              <a:srgbClr val="C0392B"/>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Réglementation des feux — brouillard, nuit</a:t>
            </a:r>
            <a:endParaRPr lang="en-US" sz="2000" dirty="0"/>
          </a:p>
        </p:txBody>
      </p:sp>
      <p:pic>
        <p:nvPicPr>
          <p:cNvPr id="6" name="Image 0" descr="preencoded.png"/>
          <p:cNvPicPr>
            <a:picLocks noChangeAspect="1"/>
          </p:cNvPicPr>
          <p:nvPr/>
        </p:nvPicPr>
        <p:blipFill>
          <a:blip r:embed="rId3"/>
          <a:stretch>
            <a:fillRect/>
          </a:stretch>
        </p:blipFill>
        <p:spPr>
          <a:xfrm>
            <a:off x="435254" y="1298448"/>
            <a:ext cx="3609137" cy="2286000"/>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417320"/>
            <a:ext cx="3840480" cy="274320"/>
          </a:xfrm>
          <a:prstGeom prst="rect">
            <a:avLst/>
          </a:prstGeom>
          <a:noFill/>
          <a:ln/>
        </p:spPr>
        <p:txBody>
          <a:bodyPr wrap="square" rtlCol="0" anchor="ctr"/>
          <a:lstStyle/>
          <a:p>
            <a:pPr marL="0" indent="0">
              <a:buNone/>
            </a:pPr>
            <a:r>
              <a:rPr lang="en-US" sz="1000" b="1" dirty="0">
                <a:solidFill>
                  <a:srgbClr val="C0392B"/>
                </a:solidFill>
              </a:rPr>
              <a:t>Feux de brouillard :</a:t>
            </a:r>
            <a:endParaRPr lang="en-US" sz="1000" dirty="0"/>
          </a:p>
        </p:txBody>
      </p:sp>
      <p:sp>
        <p:nvSpPr>
          <p:cNvPr id="9" name="Text 6"/>
          <p:cNvSpPr/>
          <p:nvPr/>
        </p:nvSpPr>
        <p:spPr>
          <a:xfrm>
            <a:off x="4800600" y="1719072"/>
            <a:ext cx="3840480" cy="548640"/>
          </a:xfrm>
          <a:prstGeom prst="rect">
            <a:avLst/>
          </a:prstGeom>
          <a:noFill/>
          <a:ln/>
        </p:spPr>
        <p:txBody>
          <a:bodyPr wrap="square" rtlCol="0" anchor="ctr"/>
          <a:lstStyle/>
          <a:p>
            <a:pPr marL="0" indent="0">
              <a:buNone/>
            </a:pPr>
            <a:r>
              <a:rPr lang="en-US" sz="900" dirty="0">
                <a:solidFill>
                  <a:srgbClr val="1C2833"/>
                </a:solidFill>
              </a:rPr>
              <a:t>Avant ET arrière utilisables simultanément.</a:t>
            </a:r>
            <a:endParaRPr lang="en-US" sz="900" dirty="0"/>
          </a:p>
          <a:p>
            <a:pPr marL="0" indent="0">
              <a:buNone/>
            </a:pPr>
            <a:r>
              <a:rPr lang="en-US" sz="900" dirty="0">
                <a:solidFill>
                  <a:srgbClr val="1C2833"/>
                </a:solidFill>
              </a:rPr>
              <a:t>Mauvais usage → amende forfaitaire 135€.</a:t>
            </a:r>
            <a:endParaRPr lang="en-US" sz="900" dirty="0"/>
          </a:p>
        </p:txBody>
      </p:sp>
      <p:sp>
        <p:nvSpPr>
          <p:cNvPr id="10" name="Text 7"/>
          <p:cNvSpPr/>
          <p:nvPr/>
        </p:nvSpPr>
        <p:spPr>
          <a:xfrm>
            <a:off x="4800600" y="2331720"/>
            <a:ext cx="3840480" cy="274320"/>
          </a:xfrm>
          <a:prstGeom prst="rect">
            <a:avLst/>
          </a:prstGeom>
          <a:noFill/>
          <a:ln/>
        </p:spPr>
        <p:txBody>
          <a:bodyPr wrap="square" rtlCol="0" anchor="ctr"/>
          <a:lstStyle/>
          <a:p>
            <a:pPr marL="0" indent="0">
              <a:buNone/>
            </a:pPr>
            <a:r>
              <a:rPr lang="en-US" sz="1000" b="1" dirty="0">
                <a:solidFill>
                  <a:srgbClr val="C0392B"/>
                </a:solidFill>
              </a:rPr>
              <a:t>Nuit en ville :</a:t>
            </a:r>
            <a:endParaRPr lang="en-US" sz="1000" dirty="0"/>
          </a:p>
        </p:txBody>
      </p:sp>
      <p:sp>
        <p:nvSpPr>
          <p:cNvPr id="11" name="Text 8"/>
          <p:cNvSpPr/>
          <p:nvPr/>
        </p:nvSpPr>
        <p:spPr>
          <a:xfrm>
            <a:off x="4800600" y="2633472"/>
            <a:ext cx="3840480" cy="548640"/>
          </a:xfrm>
          <a:prstGeom prst="rect">
            <a:avLst/>
          </a:prstGeom>
          <a:noFill/>
          <a:ln/>
        </p:spPr>
        <p:txBody>
          <a:bodyPr wrap="square" rtlCol="0" anchor="ctr"/>
          <a:lstStyle/>
          <a:p>
            <a:pPr marL="0" indent="0">
              <a:buNone/>
            </a:pPr>
            <a:r>
              <a:rPr lang="en-US" sz="900" dirty="0">
                <a:solidFill>
                  <a:srgbClr val="1C2833"/>
                </a:solidFill>
              </a:rPr>
              <a:t>Interdit de circuler sans feux, même en agglomération.</a:t>
            </a:r>
            <a:endParaRPr lang="en-US" sz="900" dirty="0"/>
          </a:p>
        </p:txBody>
      </p:sp>
      <p:sp>
        <p:nvSpPr>
          <p:cNvPr id="12" name="Text 9"/>
          <p:cNvSpPr/>
          <p:nvPr/>
        </p:nvSpPr>
        <p:spPr>
          <a:xfrm>
            <a:off x="4800600" y="3246120"/>
            <a:ext cx="3840480" cy="274320"/>
          </a:xfrm>
          <a:prstGeom prst="rect">
            <a:avLst/>
          </a:prstGeom>
          <a:noFill/>
          <a:ln/>
        </p:spPr>
        <p:txBody>
          <a:bodyPr wrap="square" rtlCol="0" anchor="ctr"/>
          <a:lstStyle/>
          <a:p>
            <a:pPr marL="0" indent="0">
              <a:buNone/>
            </a:pPr>
            <a:r>
              <a:rPr lang="en-US" sz="1000" b="1" dirty="0">
                <a:solidFill>
                  <a:srgbClr val="C0392B"/>
                </a:solidFill>
              </a:rPr>
              <a:t>Route sinueuse :</a:t>
            </a:r>
            <a:endParaRPr lang="en-US" sz="1000" dirty="0"/>
          </a:p>
        </p:txBody>
      </p:sp>
      <p:sp>
        <p:nvSpPr>
          <p:cNvPr id="13" name="Text 10"/>
          <p:cNvSpPr/>
          <p:nvPr/>
        </p:nvSpPr>
        <p:spPr>
          <a:xfrm>
            <a:off x="4800600" y="3547872"/>
            <a:ext cx="3840480" cy="548640"/>
          </a:xfrm>
          <a:prstGeom prst="rect">
            <a:avLst/>
          </a:prstGeom>
          <a:noFill/>
          <a:ln/>
        </p:spPr>
        <p:txBody>
          <a:bodyPr wrap="square" rtlCol="0" anchor="ctr"/>
          <a:lstStyle/>
          <a:p>
            <a:pPr marL="0" indent="0">
              <a:buNone/>
            </a:pPr>
            <a:r>
              <a:rPr lang="en-US" sz="900" dirty="0">
                <a:solidFill>
                  <a:srgbClr val="1C2833"/>
                </a:solidFill>
              </a:rPr>
              <a:t>Route s'écartant de la ligne droite par des courbes irrégulières.</a:t>
            </a:r>
            <a:endParaRPr lang="en-US" sz="900" dirty="0"/>
          </a:p>
        </p:txBody>
      </p:sp>
      <p:sp>
        <p:nvSpPr>
          <p:cNvPr id="14" name="Text 11"/>
          <p:cNvSpPr/>
          <p:nvPr/>
        </p:nvSpPr>
        <p:spPr>
          <a:xfrm>
            <a:off x="4800600" y="4160520"/>
            <a:ext cx="3840480" cy="274320"/>
          </a:xfrm>
          <a:prstGeom prst="rect">
            <a:avLst/>
          </a:prstGeom>
          <a:noFill/>
          <a:ln/>
        </p:spPr>
        <p:txBody>
          <a:bodyPr wrap="square" rtlCol="0" anchor="ctr"/>
          <a:lstStyle/>
          <a:p>
            <a:pPr marL="0" indent="0">
              <a:buNone/>
            </a:pPr>
            <a:r>
              <a:rPr lang="en-US" sz="1000" b="1" dirty="0">
                <a:solidFill>
                  <a:srgbClr val="C0392B"/>
                </a:solidFill>
              </a:rPr>
              <a:t>Feux de détresse :</a:t>
            </a:r>
            <a:endParaRPr lang="en-US" sz="1000" dirty="0"/>
          </a:p>
        </p:txBody>
      </p:sp>
      <p:sp>
        <p:nvSpPr>
          <p:cNvPr id="15" name="Text 12"/>
          <p:cNvSpPr/>
          <p:nvPr/>
        </p:nvSpPr>
        <p:spPr>
          <a:xfrm>
            <a:off x="4800600" y="4462272"/>
            <a:ext cx="3840480" cy="548640"/>
          </a:xfrm>
          <a:prstGeom prst="rect">
            <a:avLst/>
          </a:prstGeom>
          <a:noFill/>
          <a:ln/>
        </p:spPr>
        <p:txBody>
          <a:bodyPr wrap="square" rtlCol="0" anchor="ctr"/>
          <a:lstStyle/>
          <a:p>
            <a:pPr marL="0" indent="0">
              <a:buNone/>
            </a:pPr>
            <a:r>
              <a:rPr lang="en-US" sz="900" dirty="0">
                <a:solidFill>
                  <a:srgbClr val="1C2833"/>
                </a:solidFill>
              </a:rPr>
              <a:t>Immobilisation sur chaussée · allure très réduite · dernier d'une file · danger imminent.</a:t>
            </a:r>
            <a:endParaRPr lang="en-US" sz="900" dirty="0"/>
          </a:p>
        </p:txBody>
      </p:sp>
      <p:sp>
        <p:nvSpPr>
          <p:cNvPr id="16" name="Shape 13"/>
          <p:cNvSpPr/>
          <p:nvPr/>
        </p:nvSpPr>
        <p:spPr>
          <a:xfrm>
            <a:off x="274320" y="3611880"/>
            <a:ext cx="8595360" cy="1024128"/>
          </a:xfrm>
          <a:prstGeom prst="rect">
            <a:avLst/>
          </a:prstGeom>
          <a:solidFill>
            <a:srgbClr val="FFFFFF"/>
          </a:solidFill>
          <a:ln w="12700">
            <a:solidFill>
              <a:srgbClr val="D5D8DC"/>
            </a:solidFill>
            <a:prstDash val="solid"/>
          </a:ln>
        </p:spPr>
        <p:txBody>
          <a:bodyPr/>
          <a:lstStyle/>
          <a:p>
            <a:endParaRPr lang="fr-FR"/>
          </a:p>
        </p:txBody>
      </p:sp>
      <p:sp>
        <p:nvSpPr>
          <p:cNvPr id="17" name="Text 14"/>
          <p:cNvSpPr/>
          <p:nvPr/>
        </p:nvSpPr>
        <p:spPr>
          <a:xfrm>
            <a:off x="411480" y="3675888"/>
            <a:ext cx="8229600" cy="292608"/>
          </a:xfrm>
          <a:prstGeom prst="rect">
            <a:avLst/>
          </a:prstGeom>
          <a:noFill/>
          <a:ln/>
        </p:spPr>
        <p:txBody>
          <a:bodyPr wrap="square" rtlCol="0" anchor="ctr"/>
          <a:lstStyle/>
          <a:p>
            <a:pPr marL="0" indent="0">
              <a:buNone/>
            </a:pPr>
            <a:r>
              <a:rPr lang="en-US" sz="950" b="1" dirty="0">
                <a:solidFill>
                  <a:srgbClr val="C0392B"/>
                </a:solidFill>
              </a:rPr>
              <a:t>Ligne jaune continue → Arrêt ET stationnement interdits</a:t>
            </a:r>
            <a:endParaRPr lang="en-US" sz="950" dirty="0"/>
          </a:p>
        </p:txBody>
      </p:sp>
      <p:sp>
        <p:nvSpPr>
          <p:cNvPr id="18" name="Text 15"/>
          <p:cNvSpPr/>
          <p:nvPr/>
        </p:nvSpPr>
        <p:spPr>
          <a:xfrm>
            <a:off x="411480" y="4005072"/>
            <a:ext cx="8229600" cy="292608"/>
          </a:xfrm>
          <a:prstGeom prst="rect">
            <a:avLst/>
          </a:prstGeom>
          <a:noFill/>
          <a:ln/>
        </p:spPr>
        <p:txBody>
          <a:bodyPr wrap="square" rtlCol="0" anchor="ctr"/>
          <a:lstStyle/>
          <a:p>
            <a:pPr marL="0" indent="0">
              <a:buNone/>
            </a:pPr>
            <a:r>
              <a:rPr lang="en-US" sz="950" dirty="0">
                <a:solidFill>
                  <a:srgbClr val="1C2833"/>
                </a:solidFill>
              </a:rPr>
              <a:t>Ligne jaune discontinue → Stationnement interdit seulement</a:t>
            </a:r>
            <a:endParaRPr lang="en-US" sz="950" dirty="0"/>
          </a:p>
        </p:txBody>
      </p:sp>
      <p:sp>
        <p:nvSpPr>
          <p:cNvPr id="19" name="Text 16"/>
          <p:cNvSpPr/>
          <p:nvPr/>
        </p:nvSpPr>
        <p:spPr>
          <a:xfrm>
            <a:off x="411480" y="4315968"/>
            <a:ext cx="8229600" cy="256032"/>
          </a:xfrm>
          <a:prstGeom prst="rect">
            <a:avLst/>
          </a:prstGeom>
          <a:noFill/>
          <a:ln/>
        </p:spPr>
        <p:txBody>
          <a:bodyPr wrap="square" rtlCol="0" anchor="ctr"/>
          <a:lstStyle/>
          <a:p>
            <a:pPr marL="0" indent="0">
              <a:buNone/>
            </a:pPr>
            <a:r>
              <a:rPr lang="en-US" sz="900" dirty="0">
                <a:solidFill>
                  <a:srgbClr val="1C2833"/>
                </a:solidFill>
              </a:rPr>
              <a:t>Piste cyclable : chaussée distincte réservée aux cycles sans remorque</a:t>
            </a:r>
            <a:endParaRPr lang="en-US" sz="900" dirty="0"/>
          </a:p>
        </p:txBody>
      </p:sp>
      <p:sp>
        <p:nvSpPr>
          <p:cNvPr id="20" name="Shape 1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1" name="Text 1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2" name="Text 1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365760" y="45720"/>
            <a:ext cx="7315200" cy="411480"/>
          </a:xfrm>
          <a:prstGeom prst="rect">
            <a:avLst/>
          </a:prstGeom>
          <a:noFill/>
          <a:ln/>
        </p:spPr>
        <p:txBody>
          <a:bodyPr wrap="square" rtlCol="0" anchor="ctr"/>
          <a:lstStyle/>
          <a:p>
            <a:pPr marL="0" indent="0">
              <a:buNone/>
            </a:pPr>
            <a:r>
              <a:rPr lang="en-US" sz="1400" b="1" kern="0" spc="500" dirty="0">
                <a:solidFill>
                  <a:srgbClr val="FFFFFF"/>
                </a:solidFill>
              </a:rPr>
              <a:t>SYNTHÈSE — PARTIE 1</a:t>
            </a:r>
            <a:endParaRPr lang="en-US" sz="1400" dirty="0"/>
          </a:p>
        </p:txBody>
      </p:sp>
      <p:sp>
        <p:nvSpPr>
          <p:cNvPr id="4" name="Text 2"/>
          <p:cNvSpPr/>
          <p:nvPr/>
        </p:nvSpPr>
        <p:spPr>
          <a:xfrm>
            <a:off x="365760" y="457200"/>
            <a:ext cx="7315200" cy="438912"/>
          </a:xfrm>
          <a:prstGeom prst="rect">
            <a:avLst/>
          </a:prstGeom>
          <a:noFill/>
          <a:ln/>
        </p:spPr>
        <p:txBody>
          <a:bodyPr wrap="square" rtlCol="0" anchor="ctr"/>
          <a:lstStyle/>
          <a:p>
            <a:pPr marL="0" indent="0">
              <a:buNone/>
            </a:pPr>
            <a:r>
              <a:rPr lang="en-US" sz="1600" i="1" dirty="0">
                <a:solidFill>
                  <a:srgbClr val="FFFFFF"/>
                </a:solidFill>
              </a:rPr>
              <a:t>Signalisation, Marquages &amp; Priorités — Points clés</a:t>
            </a:r>
            <a:endParaRPr lang="en-US" sz="1600" dirty="0"/>
          </a:p>
        </p:txBody>
      </p:sp>
      <p:sp>
        <p:nvSpPr>
          <p:cNvPr id="5" name="Shape 3"/>
          <p:cNvSpPr/>
          <p:nvPr/>
        </p:nvSpPr>
        <p:spPr>
          <a:xfrm>
            <a:off x="274320" y="1097280"/>
            <a:ext cx="4206240" cy="841248"/>
          </a:xfrm>
          <a:prstGeom prst="rect">
            <a:avLst/>
          </a:prstGeom>
          <a:solidFill>
            <a:srgbClr val="22303C"/>
          </a:solidFill>
          <a:ln w="12700">
            <a:solidFill>
              <a:srgbClr val="C0392B"/>
            </a:solidFill>
            <a:prstDash val="solid"/>
          </a:ln>
        </p:spPr>
        <p:txBody>
          <a:bodyPr/>
          <a:lstStyle/>
          <a:p>
            <a:endParaRPr lang="fr-FR"/>
          </a:p>
        </p:txBody>
      </p:sp>
      <p:sp>
        <p:nvSpPr>
          <p:cNvPr id="6" name="Shape 4"/>
          <p:cNvSpPr/>
          <p:nvPr/>
        </p:nvSpPr>
        <p:spPr>
          <a:xfrm>
            <a:off x="274320" y="1097280"/>
            <a:ext cx="109728" cy="841248"/>
          </a:xfrm>
          <a:prstGeom prst="rect">
            <a:avLst/>
          </a:prstGeom>
          <a:solidFill>
            <a:srgbClr val="C0392B"/>
          </a:solidFill>
          <a:ln w="12700">
            <a:solidFill>
              <a:srgbClr val="C0392B"/>
            </a:solidFill>
            <a:prstDash val="solid"/>
          </a:ln>
        </p:spPr>
        <p:txBody>
          <a:bodyPr/>
          <a:lstStyle/>
          <a:p>
            <a:endParaRPr lang="fr-FR"/>
          </a:p>
        </p:txBody>
      </p:sp>
      <p:sp>
        <p:nvSpPr>
          <p:cNvPr id="7" name="Text 5"/>
          <p:cNvSpPr/>
          <p:nvPr/>
        </p:nvSpPr>
        <p:spPr>
          <a:xfrm>
            <a:off x="475488" y="1133856"/>
            <a:ext cx="3886200" cy="274320"/>
          </a:xfrm>
          <a:prstGeom prst="rect">
            <a:avLst/>
          </a:prstGeom>
          <a:noFill/>
          <a:ln/>
        </p:spPr>
        <p:txBody>
          <a:bodyPr wrap="square" rtlCol="0" anchor="ctr"/>
          <a:lstStyle/>
          <a:p>
            <a:pPr marL="0" indent="0">
              <a:buNone/>
            </a:pPr>
            <a:r>
              <a:rPr lang="en-US" sz="1000" b="1" dirty="0">
                <a:solidFill>
                  <a:srgbClr val="D35400"/>
                </a:solidFill>
              </a:rPr>
              <a:t>Avertisseur sonore</a:t>
            </a:r>
            <a:endParaRPr lang="en-US" sz="1000" dirty="0"/>
          </a:p>
        </p:txBody>
      </p:sp>
      <p:sp>
        <p:nvSpPr>
          <p:cNvPr id="8" name="Text 6"/>
          <p:cNvSpPr/>
          <p:nvPr/>
        </p:nvSpPr>
        <p:spPr>
          <a:xfrm>
            <a:off x="475488" y="1426464"/>
            <a:ext cx="3886200" cy="457200"/>
          </a:xfrm>
          <a:prstGeom prst="rect">
            <a:avLst/>
          </a:prstGeom>
          <a:noFill/>
          <a:ln/>
        </p:spPr>
        <p:txBody>
          <a:bodyPr wrap="square" rtlCol="0" anchor="ctr"/>
          <a:lstStyle/>
          <a:p>
            <a:pPr marL="0" indent="0">
              <a:buNone/>
            </a:pPr>
            <a:r>
              <a:rPr lang="en-US" sz="850" dirty="0">
                <a:solidFill>
                  <a:srgbClr val="D5D8DC"/>
                </a:solidFill>
              </a:rPr>
              <a:t>Agglo : danger immédiat seulement. Hors agglo : avertissements nécessaires. Violation → classe 2.</a:t>
            </a:r>
            <a:endParaRPr lang="en-US" sz="850" dirty="0"/>
          </a:p>
        </p:txBody>
      </p:sp>
      <p:sp>
        <p:nvSpPr>
          <p:cNvPr id="9" name="Shape 7"/>
          <p:cNvSpPr/>
          <p:nvPr/>
        </p:nvSpPr>
        <p:spPr>
          <a:xfrm>
            <a:off x="4754880" y="1097280"/>
            <a:ext cx="4206240" cy="841248"/>
          </a:xfrm>
          <a:prstGeom prst="rect">
            <a:avLst/>
          </a:prstGeom>
          <a:solidFill>
            <a:srgbClr val="22303C"/>
          </a:solidFill>
          <a:ln w="12700">
            <a:solidFill>
              <a:srgbClr val="C0392B"/>
            </a:solidFill>
            <a:prstDash val="solid"/>
          </a:ln>
        </p:spPr>
        <p:txBody>
          <a:bodyPr/>
          <a:lstStyle/>
          <a:p>
            <a:endParaRPr lang="fr-FR"/>
          </a:p>
        </p:txBody>
      </p:sp>
      <p:sp>
        <p:nvSpPr>
          <p:cNvPr id="10" name="Shape 8"/>
          <p:cNvSpPr/>
          <p:nvPr/>
        </p:nvSpPr>
        <p:spPr>
          <a:xfrm>
            <a:off x="4754880" y="1097280"/>
            <a:ext cx="109728" cy="841248"/>
          </a:xfrm>
          <a:prstGeom prst="rect">
            <a:avLst/>
          </a:prstGeom>
          <a:solidFill>
            <a:srgbClr val="C0392B"/>
          </a:solidFill>
          <a:ln w="12700">
            <a:solidFill>
              <a:srgbClr val="C0392B"/>
            </a:solidFill>
            <a:prstDash val="solid"/>
          </a:ln>
        </p:spPr>
        <p:txBody>
          <a:bodyPr/>
          <a:lstStyle/>
          <a:p>
            <a:endParaRPr lang="fr-FR"/>
          </a:p>
        </p:txBody>
      </p:sp>
      <p:sp>
        <p:nvSpPr>
          <p:cNvPr id="11" name="Text 9"/>
          <p:cNvSpPr/>
          <p:nvPr/>
        </p:nvSpPr>
        <p:spPr>
          <a:xfrm>
            <a:off x="4956048" y="1133856"/>
            <a:ext cx="3886200" cy="274320"/>
          </a:xfrm>
          <a:prstGeom prst="rect">
            <a:avLst/>
          </a:prstGeom>
          <a:noFill/>
          <a:ln/>
        </p:spPr>
        <p:txBody>
          <a:bodyPr wrap="square" rtlCol="0" anchor="ctr"/>
          <a:lstStyle/>
          <a:p>
            <a:pPr marL="0" indent="0">
              <a:buNone/>
            </a:pPr>
            <a:r>
              <a:rPr lang="en-US" sz="1000" b="1" dirty="0">
                <a:solidFill>
                  <a:srgbClr val="D35400"/>
                </a:solidFill>
              </a:rPr>
              <a:t>Clignotants</a:t>
            </a:r>
            <a:endParaRPr lang="en-US" sz="1000" dirty="0"/>
          </a:p>
        </p:txBody>
      </p:sp>
      <p:sp>
        <p:nvSpPr>
          <p:cNvPr id="12" name="Text 10"/>
          <p:cNvSpPr/>
          <p:nvPr/>
        </p:nvSpPr>
        <p:spPr>
          <a:xfrm>
            <a:off x="4956048" y="1426464"/>
            <a:ext cx="3886200" cy="457200"/>
          </a:xfrm>
          <a:prstGeom prst="rect">
            <a:avLst/>
          </a:prstGeom>
          <a:noFill/>
          <a:ln/>
        </p:spPr>
        <p:txBody>
          <a:bodyPr wrap="square" rtlCol="0" anchor="ctr"/>
          <a:lstStyle/>
          <a:p>
            <a:pPr marL="0" indent="0">
              <a:buNone/>
            </a:pPr>
            <a:r>
              <a:rPr lang="en-US" sz="850" dirty="0">
                <a:solidFill>
                  <a:srgbClr val="D5D8DC"/>
                </a:solidFill>
              </a:rPr>
              <a:t>Obligatoires pour tout changement de direction, dépassement, arrêt, quitter stationnement.</a:t>
            </a:r>
            <a:endParaRPr lang="en-US" sz="850" dirty="0"/>
          </a:p>
        </p:txBody>
      </p:sp>
      <p:sp>
        <p:nvSpPr>
          <p:cNvPr id="13" name="Shape 11"/>
          <p:cNvSpPr/>
          <p:nvPr/>
        </p:nvSpPr>
        <p:spPr>
          <a:xfrm>
            <a:off x="274320" y="2057400"/>
            <a:ext cx="4206240" cy="841248"/>
          </a:xfrm>
          <a:prstGeom prst="rect">
            <a:avLst/>
          </a:prstGeom>
          <a:solidFill>
            <a:srgbClr val="22303C"/>
          </a:solidFill>
          <a:ln w="12700">
            <a:solidFill>
              <a:srgbClr val="C0392B"/>
            </a:solidFill>
            <a:prstDash val="solid"/>
          </a:ln>
        </p:spPr>
        <p:txBody>
          <a:bodyPr/>
          <a:lstStyle/>
          <a:p>
            <a:endParaRPr lang="fr-FR"/>
          </a:p>
        </p:txBody>
      </p:sp>
      <p:sp>
        <p:nvSpPr>
          <p:cNvPr id="14" name="Shape 12"/>
          <p:cNvSpPr/>
          <p:nvPr/>
        </p:nvSpPr>
        <p:spPr>
          <a:xfrm>
            <a:off x="274320" y="2057400"/>
            <a:ext cx="109728" cy="841248"/>
          </a:xfrm>
          <a:prstGeom prst="rect">
            <a:avLst/>
          </a:prstGeom>
          <a:solidFill>
            <a:srgbClr val="C0392B"/>
          </a:solidFill>
          <a:ln w="12700">
            <a:solidFill>
              <a:srgbClr val="C0392B"/>
            </a:solidFill>
            <a:prstDash val="solid"/>
          </a:ln>
        </p:spPr>
        <p:txBody>
          <a:bodyPr/>
          <a:lstStyle/>
          <a:p>
            <a:endParaRPr lang="fr-FR"/>
          </a:p>
        </p:txBody>
      </p:sp>
      <p:sp>
        <p:nvSpPr>
          <p:cNvPr id="15" name="Text 13"/>
          <p:cNvSpPr/>
          <p:nvPr/>
        </p:nvSpPr>
        <p:spPr>
          <a:xfrm>
            <a:off x="475488" y="2093976"/>
            <a:ext cx="3886200" cy="274320"/>
          </a:xfrm>
          <a:prstGeom prst="rect">
            <a:avLst/>
          </a:prstGeom>
          <a:noFill/>
          <a:ln/>
        </p:spPr>
        <p:txBody>
          <a:bodyPr wrap="square" rtlCol="0" anchor="ctr"/>
          <a:lstStyle/>
          <a:p>
            <a:pPr marL="0" indent="0">
              <a:buNone/>
            </a:pPr>
            <a:r>
              <a:rPr lang="en-US" sz="1000" b="1" dirty="0">
                <a:solidFill>
                  <a:srgbClr val="D35400"/>
                </a:solidFill>
              </a:rPr>
              <a:t>Lignes mixtes</a:t>
            </a:r>
            <a:endParaRPr lang="en-US" sz="1000" dirty="0"/>
          </a:p>
        </p:txBody>
      </p:sp>
      <p:sp>
        <p:nvSpPr>
          <p:cNvPr id="16" name="Text 14"/>
          <p:cNvSpPr/>
          <p:nvPr/>
        </p:nvSpPr>
        <p:spPr>
          <a:xfrm>
            <a:off x="475488" y="2386584"/>
            <a:ext cx="3886200" cy="457200"/>
          </a:xfrm>
          <a:prstGeom prst="rect">
            <a:avLst/>
          </a:prstGeom>
          <a:noFill/>
          <a:ln/>
        </p:spPr>
        <p:txBody>
          <a:bodyPr wrap="square" rtlCol="0" anchor="ctr"/>
          <a:lstStyle/>
          <a:p>
            <a:pPr marL="0" indent="0">
              <a:buNone/>
            </a:pPr>
            <a:r>
              <a:rPr lang="en-US" sz="850" dirty="0">
                <a:solidFill>
                  <a:srgbClr val="D5D8DC"/>
                </a:solidFill>
              </a:rPr>
              <a:t>Continue de votre côté = dépassement INTERDIT. Discontinue = dépassement autorisé.</a:t>
            </a:r>
            <a:endParaRPr lang="en-US" sz="850" dirty="0"/>
          </a:p>
        </p:txBody>
      </p:sp>
      <p:sp>
        <p:nvSpPr>
          <p:cNvPr id="17" name="Shape 15"/>
          <p:cNvSpPr/>
          <p:nvPr/>
        </p:nvSpPr>
        <p:spPr>
          <a:xfrm>
            <a:off x="4754880" y="2057400"/>
            <a:ext cx="4206240" cy="841248"/>
          </a:xfrm>
          <a:prstGeom prst="rect">
            <a:avLst/>
          </a:prstGeom>
          <a:solidFill>
            <a:srgbClr val="22303C"/>
          </a:solidFill>
          <a:ln w="12700">
            <a:solidFill>
              <a:srgbClr val="C0392B"/>
            </a:solidFill>
            <a:prstDash val="solid"/>
          </a:ln>
        </p:spPr>
        <p:txBody>
          <a:bodyPr/>
          <a:lstStyle/>
          <a:p>
            <a:endParaRPr lang="fr-FR"/>
          </a:p>
        </p:txBody>
      </p:sp>
      <p:sp>
        <p:nvSpPr>
          <p:cNvPr id="18" name="Shape 16"/>
          <p:cNvSpPr/>
          <p:nvPr/>
        </p:nvSpPr>
        <p:spPr>
          <a:xfrm>
            <a:off x="4754880" y="2057400"/>
            <a:ext cx="109728" cy="841248"/>
          </a:xfrm>
          <a:prstGeom prst="rect">
            <a:avLst/>
          </a:prstGeom>
          <a:solidFill>
            <a:srgbClr val="C0392B"/>
          </a:solidFill>
          <a:ln w="12700">
            <a:solidFill>
              <a:srgbClr val="C0392B"/>
            </a:solidFill>
            <a:prstDash val="solid"/>
          </a:ln>
        </p:spPr>
        <p:txBody>
          <a:bodyPr/>
          <a:lstStyle/>
          <a:p>
            <a:endParaRPr lang="fr-FR"/>
          </a:p>
        </p:txBody>
      </p:sp>
      <p:sp>
        <p:nvSpPr>
          <p:cNvPr id="19" name="Text 17"/>
          <p:cNvSpPr/>
          <p:nvPr/>
        </p:nvSpPr>
        <p:spPr>
          <a:xfrm>
            <a:off x="4956048" y="2093976"/>
            <a:ext cx="3886200" cy="274320"/>
          </a:xfrm>
          <a:prstGeom prst="rect">
            <a:avLst/>
          </a:prstGeom>
          <a:noFill/>
          <a:ln/>
        </p:spPr>
        <p:txBody>
          <a:bodyPr wrap="square" rtlCol="0" anchor="ctr"/>
          <a:lstStyle/>
          <a:p>
            <a:pPr marL="0" indent="0">
              <a:buNone/>
            </a:pPr>
            <a:r>
              <a:rPr lang="en-US" sz="1000" b="1" dirty="0">
                <a:solidFill>
                  <a:srgbClr val="D35400"/>
                </a:solidFill>
              </a:rPr>
              <a:t>Voie TC</a:t>
            </a:r>
            <a:endParaRPr lang="en-US" sz="1000" dirty="0"/>
          </a:p>
        </p:txBody>
      </p:sp>
      <p:sp>
        <p:nvSpPr>
          <p:cNvPr id="20" name="Text 18"/>
          <p:cNvSpPr/>
          <p:nvPr/>
        </p:nvSpPr>
        <p:spPr>
          <a:xfrm>
            <a:off x="4956048" y="2386584"/>
            <a:ext cx="3886200" cy="457200"/>
          </a:xfrm>
          <a:prstGeom prst="rect">
            <a:avLst/>
          </a:prstGeom>
          <a:noFill/>
          <a:ln/>
        </p:spPr>
        <p:txBody>
          <a:bodyPr wrap="square" rtlCol="0" anchor="ctr"/>
          <a:lstStyle/>
          <a:p>
            <a:pPr marL="0" indent="0">
              <a:buNone/>
            </a:pPr>
            <a:r>
              <a:rPr lang="en-US" sz="850" dirty="0">
                <a:solidFill>
                  <a:srgbClr val="D5D8DC"/>
                </a:solidFill>
              </a:rPr>
              <a:t>Taxis et ambulances autorisés. VTC et VMDTR = INTERDITS.</a:t>
            </a:r>
            <a:endParaRPr lang="en-US" sz="850" dirty="0"/>
          </a:p>
        </p:txBody>
      </p:sp>
      <p:sp>
        <p:nvSpPr>
          <p:cNvPr id="21" name="Shape 19"/>
          <p:cNvSpPr/>
          <p:nvPr/>
        </p:nvSpPr>
        <p:spPr>
          <a:xfrm>
            <a:off x="274320" y="3017520"/>
            <a:ext cx="4206240" cy="841248"/>
          </a:xfrm>
          <a:prstGeom prst="rect">
            <a:avLst/>
          </a:prstGeom>
          <a:solidFill>
            <a:srgbClr val="22303C"/>
          </a:solidFill>
          <a:ln w="12700">
            <a:solidFill>
              <a:srgbClr val="C0392B"/>
            </a:solidFill>
            <a:prstDash val="solid"/>
          </a:ln>
        </p:spPr>
        <p:txBody>
          <a:bodyPr/>
          <a:lstStyle/>
          <a:p>
            <a:endParaRPr lang="fr-FR"/>
          </a:p>
        </p:txBody>
      </p:sp>
      <p:sp>
        <p:nvSpPr>
          <p:cNvPr id="22" name="Shape 20"/>
          <p:cNvSpPr/>
          <p:nvPr/>
        </p:nvSpPr>
        <p:spPr>
          <a:xfrm>
            <a:off x="274320" y="3017520"/>
            <a:ext cx="109728" cy="841248"/>
          </a:xfrm>
          <a:prstGeom prst="rect">
            <a:avLst/>
          </a:prstGeom>
          <a:solidFill>
            <a:srgbClr val="C0392B"/>
          </a:solidFill>
          <a:ln w="12700">
            <a:solidFill>
              <a:srgbClr val="C0392B"/>
            </a:solidFill>
            <a:prstDash val="solid"/>
          </a:ln>
        </p:spPr>
        <p:txBody>
          <a:bodyPr/>
          <a:lstStyle/>
          <a:p>
            <a:endParaRPr lang="fr-FR"/>
          </a:p>
        </p:txBody>
      </p:sp>
      <p:sp>
        <p:nvSpPr>
          <p:cNvPr id="23" name="Text 21"/>
          <p:cNvSpPr/>
          <p:nvPr/>
        </p:nvSpPr>
        <p:spPr>
          <a:xfrm>
            <a:off x="475488" y="3054096"/>
            <a:ext cx="3886200" cy="274320"/>
          </a:xfrm>
          <a:prstGeom prst="rect">
            <a:avLst/>
          </a:prstGeom>
          <a:noFill/>
          <a:ln/>
        </p:spPr>
        <p:txBody>
          <a:bodyPr wrap="square" rtlCol="0" anchor="ctr"/>
          <a:lstStyle/>
          <a:p>
            <a:pPr marL="0" indent="0">
              <a:buNone/>
            </a:pPr>
            <a:r>
              <a:rPr lang="en-US" sz="1000" b="1" dirty="0">
                <a:solidFill>
                  <a:srgbClr val="D35400"/>
                </a:solidFill>
              </a:rPr>
              <a:t>Stationnement alterné</a:t>
            </a:r>
            <a:endParaRPr lang="en-US" sz="1000" dirty="0"/>
          </a:p>
        </p:txBody>
      </p:sp>
      <p:sp>
        <p:nvSpPr>
          <p:cNvPr id="24" name="Text 22"/>
          <p:cNvSpPr/>
          <p:nvPr/>
        </p:nvSpPr>
        <p:spPr>
          <a:xfrm>
            <a:off x="475488" y="3346704"/>
            <a:ext cx="3886200" cy="457200"/>
          </a:xfrm>
          <a:prstGeom prst="rect">
            <a:avLst/>
          </a:prstGeom>
          <a:noFill/>
          <a:ln/>
        </p:spPr>
        <p:txBody>
          <a:bodyPr wrap="square" rtlCol="0" anchor="ctr"/>
          <a:lstStyle/>
          <a:p>
            <a:pPr marL="0" indent="0">
              <a:buNone/>
            </a:pPr>
            <a:r>
              <a:rPr lang="en-US" sz="850" dirty="0">
                <a:solidFill>
                  <a:srgbClr val="D5D8DC"/>
                </a:solidFill>
              </a:rPr>
              <a:t>1-15 du mois : côté panneau interdit. Changement de côté entre 20h30 et 21h.</a:t>
            </a:r>
            <a:endParaRPr lang="en-US" sz="850" dirty="0"/>
          </a:p>
        </p:txBody>
      </p:sp>
      <p:sp>
        <p:nvSpPr>
          <p:cNvPr id="25" name="Shape 23"/>
          <p:cNvSpPr/>
          <p:nvPr/>
        </p:nvSpPr>
        <p:spPr>
          <a:xfrm>
            <a:off x="4754880" y="3017520"/>
            <a:ext cx="4206240" cy="841248"/>
          </a:xfrm>
          <a:prstGeom prst="rect">
            <a:avLst/>
          </a:prstGeom>
          <a:solidFill>
            <a:srgbClr val="22303C"/>
          </a:solidFill>
          <a:ln w="12700">
            <a:solidFill>
              <a:srgbClr val="C0392B"/>
            </a:solidFill>
            <a:prstDash val="solid"/>
          </a:ln>
        </p:spPr>
        <p:txBody>
          <a:bodyPr/>
          <a:lstStyle/>
          <a:p>
            <a:endParaRPr lang="fr-FR"/>
          </a:p>
        </p:txBody>
      </p:sp>
      <p:sp>
        <p:nvSpPr>
          <p:cNvPr id="26" name="Shape 24"/>
          <p:cNvSpPr/>
          <p:nvPr/>
        </p:nvSpPr>
        <p:spPr>
          <a:xfrm>
            <a:off x="4754880" y="3017520"/>
            <a:ext cx="109728" cy="841248"/>
          </a:xfrm>
          <a:prstGeom prst="rect">
            <a:avLst/>
          </a:prstGeom>
          <a:solidFill>
            <a:srgbClr val="C0392B"/>
          </a:solidFill>
          <a:ln w="12700">
            <a:solidFill>
              <a:srgbClr val="C0392B"/>
            </a:solidFill>
            <a:prstDash val="solid"/>
          </a:ln>
        </p:spPr>
        <p:txBody>
          <a:bodyPr/>
          <a:lstStyle/>
          <a:p>
            <a:endParaRPr lang="fr-FR"/>
          </a:p>
        </p:txBody>
      </p:sp>
      <p:sp>
        <p:nvSpPr>
          <p:cNvPr id="27" name="Text 25"/>
          <p:cNvSpPr/>
          <p:nvPr/>
        </p:nvSpPr>
        <p:spPr>
          <a:xfrm>
            <a:off x="4956048" y="3054096"/>
            <a:ext cx="3886200" cy="274320"/>
          </a:xfrm>
          <a:prstGeom prst="rect">
            <a:avLst/>
          </a:prstGeom>
          <a:noFill/>
          <a:ln/>
        </p:spPr>
        <p:txBody>
          <a:bodyPr wrap="square" rtlCol="0" anchor="ctr"/>
          <a:lstStyle/>
          <a:p>
            <a:pPr marL="0" indent="0">
              <a:buNone/>
            </a:pPr>
            <a:r>
              <a:rPr lang="en-US" sz="1000" b="1" dirty="0">
                <a:solidFill>
                  <a:srgbClr val="D35400"/>
                </a:solidFill>
              </a:rPr>
              <a:t>Feux de brouillard</a:t>
            </a:r>
            <a:endParaRPr lang="en-US" sz="1000" dirty="0"/>
          </a:p>
        </p:txBody>
      </p:sp>
      <p:sp>
        <p:nvSpPr>
          <p:cNvPr id="28" name="Text 26"/>
          <p:cNvSpPr/>
          <p:nvPr/>
        </p:nvSpPr>
        <p:spPr>
          <a:xfrm>
            <a:off x="4956048" y="3346704"/>
            <a:ext cx="3886200" cy="457200"/>
          </a:xfrm>
          <a:prstGeom prst="rect">
            <a:avLst/>
          </a:prstGeom>
          <a:noFill/>
          <a:ln/>
        </p:spPr>
        <p:txBody>
          <a:bodyPr wrap="square" rtlCol="0" anchor="ctr"/>
          <a:lstStyle/>
          <a:p>
            <a:pPr marL="0" indent="0">
              <a:buNone/>
            </a:pPr>
            <a:r>
              <a:rPr lang="en-US" sz="850" dirty="0">
                <a:solidFill>
                  <a:srgbClr val="D5D8DC"/>
                </a:solidFill>
              </a:rPr>
              <a:t>Avant + arrière autorisés simultanément. Mauvais usage = amende 135€.</a:t>
            </a:r>
            <a:endParaRPr lang="en-US" sz="850" dirty="0"/>
          </a:p>
        </p:txBody>
      </p:sp>
      <p:sp>
        <p:nvSpPr>
          <p:cNvPr id="29" name="Shape 2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0" name="Text 2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1" name="Text 2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922B21"/>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FFFFFF"/>
          </a:solidFill>
          <a:ln w="12700">
            <a:solidFill>
              <a:srgbClr val="FFFFFF"/>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1C2833"/>
          </a:solidFill>
          <a:ln w="12700">
            <a:solidFill>
              <a:srgbClr val="1C2833"/>
            </a:solidFill>
            <a:prstDash val="solid"/>
          </a:ln>
        </p:spPr>
        <p:txBody>
          <a:bodyPr/>
          <a:lstStyle/>
          <a:p>
            <a:endParaRPr lang="fr-FR"/>
          </a:p>
        </p:txBody>
      </p:sp>
      <p:sp>
        <p:nvSpPr>
          <p:cNvPr id="4" name="Text 2"/>
          <p:cNvSpPr/>
          <p:nvPr/>
        </p:nvSpPr>
        <p:spPr>
          <a:xfrm>
            <a:off x="731520" y="1188720"/>
            <a:ext cx="8229600" cy="502920"/>
          </a:xfrm>
          <a:prstGeom prst="rect">
            <a:avLst/>
          </a:prstGeom>
          <a:noFill/>
          <a:ln/>
        </p:spPr>
        <p:txBody>
          <a:bodyPr wrap="square" rtlCol="0" anchor="ctr"/>
          <a:lstStyle/>
          <a:p>
            <a:pPr marL="0" indent="0">
              <a:buNone/>
            </a:pPr>
            <a:r>
              <a:rPr lang="en-US" sz="1500" b="1" kern="0" spc="700" dirty="0">
                <a:solidFill>
                  <a:srgbClr val="FFFFFF"/>
                </a:solidFill>
              </a:rPr>
              <a:t>PARTIE 2</a:t>
            </a:r>
            <a:endParaRPr lang="en-US" sz="1500" dirty="0"/>
          </a:p>
        </p:txBody>
      </p:sp>
      <p:sp>
        <p:nvSpPr>
          <p:cNvPr id="5" name="Text 3"/>
          <p:cNvSpPr/>
          <p:nvPr/>
        </p:nvSpPr>
        <p:spPr>
          <a:xfrm>
            <a:off x="731520" y="1691640"/>
            <a:ext cx="8229600" cy="1005840"/>
          </a:xfrm>
          <a:prstGeom prst="rect">
            <a:avLst/>
          </a:prstGeom>
          <a:noFill/>
          <a:ln/>
        </p:spPr>
        <p:txBody>
          <a:bodyPr wrap="square" rtlCol="0" anchor="ctr"/>
          <a:lstStyle/>
          <a:p>
            <a:pPr marL="0" indent="0">
              <a:buNone/>
            </a:pPr>
            <a:r>
              <a:rPr lang="en-US" sz="3800" b="1" dirty="0">
                <a:solidFill>
                  <a:srgbClr val="FFFFFF"/>
                </a:solidFill>
              </a:rPr>
              <a:t>Distances, Priorités &amp; Alcool</a:t>
            </a:r>
            <a:endParaRPr lang="en-US" sz="3800" dirty="0"/>
          </a:p>
        </p:txBody>
      </p:sp>
      <p:sp>
        <p:nvSpPr>
          <p:cNvPr id="6" name="Text 4"/>
          <p:cNvSpPr/>
          <p:nvPr/>
        </p:nvSpPr>
        <p:spPr>
          <a:xfrm>
            <a:off x="731520" y="2743200"/>
            <a:ext cx="7772400" cy="502920"/>
          </a:xfrm>
          <a:prstGeom prst="rect">
            <a:avLst/>
          </a:prstGeom>
          <a:noFill/>
          <a:ln/>
        </p:spPr>
        <p:txBody>
          <a:bodyPr wrap="square" rtlCol="0" anchor="ctr"/>
          <a:lstStyle/>
          <a:p>
            <a:pPr marL="0" indent="0">
              <a:buNone/>
            </a:pPr>
            <a:r>
              <a:rPr lang="en-US" sz="1300" i="1" dirty="0">
                <a:solidFill>
                  <a:srgbClr val="FFFFFF"/>
                </a:solidFill>
              </a:rPr>
              <a:t>Temps de réaction · Distance d'arrêt · Véhicules prioritaires · Alcool</a:t>
            </a:r>
            <a:endParaRPr lang="en-US" sz="1300" dirty="0"/>
          </a:p>
        </p:txBody>
      </p:sp>
      <p:sp>
        <p:nvSpPr>
          <p:cNvPr id="7" name="Text 5"/>
          <p:cNvSpPr/>
          <p:nvPr/>
        </p:nvSpPr>
        <p:spPr>
          <a:xfrm>
            <a:off x="731520" y="4416552"/>
            <a:ext cx="8229600" cy="347472"/>
          </a:xfrm>
          <a:prstGeom prst="rect">
            <a:avLst/>
          </a:prstGeom>
          <a:noFill/>
          <a:ln/>
        </p:spPr>
        <p:txBody>
          <a:bodyPr wrap="square" rtlCol="0" anchor="ctr"/>
          <a:lstStyle/>
          <a:p>
            <a:pPr marL="0" indent="0">
              <a:buNone/>
            </a:pPr>
            <a:r>
              <a:rPr lang="en-US" sz="750" dirty="0">
                <a:solidFill>
                  <a:srgbClr val="ABB2B9"/>
                </a:solidFill>
              </a:rPr>
              <a:t>FTRANSPORT - SERVICES PRO  •  Formation certifiée Qualiopi  •  Éligible CPF  •  Lyon</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C2833"/>
          </a:solidFill>
          <a:ln w="12700">
            <a:solidFill>
              <a:srgbClr val="1C2833"/>
            </a:solidFill>
            <a:prstDash val="solid"/>
          </a:ln>
        </p:spPr>
        <p:txBody>
          <a:bodyPr/>
          <a:lstStyle/>
          <a:p>
            <a:endParaRPr lang="fr-FR"/>
          </a:p>
        </p:txBody>
      </p:sp>
      <p:sp>
        <p:nvSpPr>
          <p:cNvPr id="3" name="Text 1"/>
          <p:cNvSpPr/>
          <p:nvPr/>
        </p:nvSpPr>
        <p:spPr>
          <a:xfrm>
            <a:off x="365760" y="36576"/>
            <a:ext cx="6400800" cy="457200"/>
          </a:xfrm>
          <a:prstGeom prst="rect">
            <a:avLst/>
          </a:prstGeom>
          <a:noFill/>
          <a:ln/>
        </p:spPr>
        <p:txBody>
          <a:bodyPr wrap="square" rtlCol="0" anchor="ctr"/>
          <a:lstStyle/>
          <a:p>
            <a:pPr marL="0" indent="0">
              <a:buNone/>
            </a:pPr>
            <a:r>
              <a:rPr lang="en-US" sz="1800" b="1" dirty="0">
                <a:solidFill>
                  <a:srgbClr val="FFFFFF"/>
                </a:solidFill>
              </a:rPr>
              <a:t>Sommaire — Partie 2</a:t>
            </a:r>
            <a:endParaRPr lang="en-US" sz="1800" dirty="0"/>
          </a:p>
        </p:txBody>
      </p:sp>
      <p:sp>
        <p:nvSpPr>
          <p:cNvPr id="4" name="Text 2"/>
          <p:cNvSpPr/>
          <p:nvPr/>
        </p:nvSpPr>
        <p:spPr>
          <a:xfrm>
            <a:off x="365760" y="475488"/>
            <a:ext cx="6400800" cy="329184"/>
          </a:xfrm>
          <a:prstGeom prst="rect">
            <a:avLst/>
          </a:prstGeom>
          <a:noFill/>
          <a:ln/>
        </p:spPr>
        <p:txBody>
          <a:bodyPr wrap="square" rtlCol="0" anchor="ctr"/>
          <a:lstStyle/>
          <a:p>
            <a:pPr marL="0" indent="0">
              <a:buNone/>
            </a:pPr>
            <a:r>
              <a:rPr lang="en-US" sz="1100" i="1" dirty="0">
                <a:solidFill>
                  <a:srgbClr val="922B21"/>
                </a:solidFill>
              </a:rPr>
              <a:t>Distances, Priorités avancées &amp; Alcool</a:t>
            </a:r>
            <a:endParaRPr lang="en-US" sz="1100" dirty="0"/>
          </a:p>
        </p:txBody>
      </p:sp>
      <p:sp>
        <p:nvSpPr>
          <p:cNvPr id="5" name="Shape 3"/>
          <p:cNvSpPr/>
          <p:nvPr/>
        </p:nvSpPr>
        <p:spPr>
          <a:xfrm>
            <a:off x="365760" y="960120"/>
            <a:ext cx="502920" cy="502920"/>
          </a:xfrm>
          <a:prstGeom prst="rect">
            <a:avLst/>
          </a:prstGeom>
          <a:solidFill>
            <a:srgbClr val="922B21"/>
          </a:solidFill>
          <a:ln w="12700">
            <a:solidFill>
              <a:srgbClr val="922B21"/>
            </a:solidFill>
            <a:prstDash val="solid"/>
          </a:ln>
        </p:spPr>
        <p:txBody>
          <a:bodyPr/>
          <a:lstStyle/>
          <a:p>
            <a:endParaRPr lang="fr-FR"/>
          </a:p>
        </p:txBody>
      </p:sp>
      <p:sp>
        <p:nvSpPr>
          <p:cNvPr id="6" name="Text 4"/>
          <p:cNvSpPr/>
          <p:nvPr/>
        </p:nvSpPr>
        <p:spPr>
          <a:xfrm>
            <a:off x="365760" y="960120"/>
            <a:ext cx="502920" cy="50292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005840" y="960120"/>
            <a:ext cx="7543800" cy="502920"/>
          </a:xfrm>
          <a:prstGeom prst="rect">
            <a:avLst/>
          </a:prstGeom>
          <a:solidFill>
            <a:srgbClr val="FFFFFF"/>
          </a:solidFill>
          <a:ln w="12700">
            <a:solidFill>
              <a:srgbClr val="D5D8DC"/>
            </a:solidFill>
            <a:prstDash val="solid"/>
          </a:ln>
        </p:spPr>
        <p:txBody>
          <a:bodyPr/>
          <a:lstStyle/>
          <a:p>
            <a:endParaRPr lang="fr-FR"/>
          </a:p>
        </p:txBody>
      </p:sp>
      <p:sp>
        <p:nvSpPr>
          <p:cNvPr id="8" name="Text 6"/>
          <p:cNvSpPr/>
          <p:nvPr/>
        </p:nvSpPr>
        <p:spPr>
          <a:xfrm>
            <a:off x="1143000" y="960120"/>
            <a:ext cx="4114800" cy="256032"/>
          </a:xfrm>
          <a:prstGeom prst="rect">
            <a:avLst/>
          </a:prstGeom>
          <a:noFill/>
          <a:ln/>
        </p:spPr>
        <p:txBody>
          <a:bodyPr wrap="square" rtlCol="0" anchor="ctr"/>
          <a:lstStyle/>
          <a:p>
            <a:pPr marL="0" indent="0">
              <a:buNone/>
            </a:pPr>
            <a:r>
              <a:rPr lang="en-US" sz="1100" b="1" dirty="0">
                <a:solidFill>
                  <a:srgbClr val="1C2833"/>
                </a:solidFill>
              </a:rPr>
              <a:t>Distance de réaction &amp; formule</a:t>
            </a:r>
            <a:endParaRPr lang="en-US" sz="1100" dirty="0"/>
          </a:p>
        </p:txBody>
      </p:sp>
      <p:sp>
        <p:nvSpPr>
          <p:cNvPr id="9" name="Text 7"/>
          <p:cNvSpPr/>
          <p:nvPr/>
        </p:nvSpPr>
        <p:spPr>
          <a:xfrm>
            <a:off x="1143000" y="1216152"/>
            <a:ext cx="7132320" cy="246888"/>
          </a:xfrm>
          <a:prstGeom prst="rect">
            <a:avLst/>
          </a:prstGeom>
          <a:noFill/>
          <a:ln/>
        </p:spPr>
        <p:txBody>
          <a:bodyPr wrap="square" rtlCol="0" anchor="ctr"/>
          <a:lstStyle/>
          <a:p>
            <a:pPr marL="0" indent="0">
              <a:buNone/>
            </a:pPr>
            <a:r>
              <a:rPr lang="en-US" sz="900" dirty="0">
                <a:solidFill>
                  <a:srgbClr val="5D6D7E"/>
                </a:solidFill>
              </a:rPr>
              <a:t>1 seconde · dizaines × 3 · tableau de calcul</a:t>
            </a:r>
            <a:endParaRPr lang="en-US" sz="900" dirty="0"/>
          </a:p>
        </p:txBody>
      </p:sp>
      <p:sp>
        <p:nvSpPr>
          <p:cNvPr id="10" name="Shape 8"/>
          <p:cNvSpPr/>
          <p:nvPr/>
        </p:nvSpPr>
        <p:spPr>
          <a:xfrm>
            <a:off x="365760" y="1673352"/>
            <a:ext cx="502920" cy="502920"/>
          </a:xfrm>
          <a:prstGeom prst="rect">
            <a:avLst/>
          </a:prstGeom>
          <a:solidFill>
            <a:srgbClr val="922B21"/>
          </a:solidFill>
          <a:ln w="12700">
            <a:solidFill>
              <a:srgbClr val="922B21"/>
            </a:solidFill>
            <a:prstDash val="solid"/>
          </a:ln>
        </p:spPr>
        <p:txBody>
          <a:bodyPr/>
          <a:lstStyle/>
          <a:p>
            <a:endParaRPr lang="fr-FR"/>
          </a:p>
        </p:txBody>
      </p:sp>
      <p:sp>
        <p:nvSpPr>
          <p:cNvPr id="11" name="Text 9"/>
          <p:cNvSpPr/>
          <p:nvPr/>
        </p:nvSpPr>
        <p:spPr>
          <a:xfrm>
            <a:off x="365760" y="1673352"/>
            <a:ext cx="502920" cy="50292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2" name="Shape 10"/>
          <p:cNvSpPr/>
          <p:nvPr/>
        </p:nvSpPr>
        <p:spPr>
          <a:xfrm>
            <a:off x="1005840" y="1673352"/>
            <a:ext cx="7543800" cy="502920"/>
          </a:xfrm>
          <a:prstGeom prst="rect">
            <a:avLst/>
          </a:prstGeom>
          <a:solidFill>
            <a:srgbClr val="FFFFFF"/>
          </a:solidFill>
          <a:ln w="12700">
            <a:solidFill>
              <a:srgbClr val="D5D8DC"/>
            </a:solidFill>
            <a:prstDash val="solid"/>
          </a:ln>
        </p:spPr>
        <p:txBody>
          <a:bodyPr/>
          <a:lstStyle/>
          <a:p>
            <a:endParaRPr lang="fr-FR"/>
          </a:p>
        </p:txBody>
      </p:sp>
      <p:sp>
        <p:nvSpPr>
          <p:cNvPr id="13" name="Text 11"/>
          <p:cNvSpPr/>
          <p:nvPr/>
        </p:nvSpPr>
        <p:spPr>
          <a:xfrm>
            <a:off x="1143000" y="1673352"/>
            <a:ext cx="4114800" cy="256032"/>
          </a:xfrm>
          <a:prstGeom prst="rect">
            <a:avLst/>
          </a:prstGeom>
          <a:noFill/>
          <a:ln/>
        </p:spPr>
        <p:txBody>
          <a:bodyPr wrap="square" rtlCol="0" anchor="ctr"/>
          <a:lstStyle/>
          <a:p>
            <a:pPr marL="0" indent="0">
              <a:buNone/>
            </a:pPr>
            <a:r>
              <a:rPr lang="en-US" sz="1100" b="1" dirty="0">
                <a:solidFill>
                  <a:srgbClr val="1C2833"/>
                </a:solidFill>
              </a:rPr>
              <a:t>Distance d'arrêt sèche et mouillée</a:t>
            </a:r>
            <a:endParaRPr lang="en-US" sz="1100" dirty="0"/>
          </a:p>
        </p:txBody>
      </p:sp>
      <p:sp>
        <p:nvSpPr>
          <p:cNvPr id="14" name="Text 12"/>
          <p:cNvSpPr/>
          <p:nvPr/>
        </p:nvSpPr>
        <p:spPr>
          <a:xfrm>
            <a:off x="1143000" y="1929384"/>
            <a:ext cx="7132320" cy="246888"/>
          </a:xfrm>
          <a:prstGeom prst="rect">
            <a:avLst/>
          </a:prstGeom>
          <a:noFill/>
          <a:ln/>
        </p:spPr>
        <p:txBody>
          <a:bodyPr wrap="square" rtlCol="0" anchor="ctr"/>
          <a:lstStyle/>
          <a:p>
            <a:pPr marL="0" indent="0">
              <a:buNone/>
            </a:pPr>
            <a:r>
              <a:rPr lang="en-US" sz="900" dirty="0">
                <a:solidFill>
                  <a:srgbClr val="5D6D7E"/>
                </a:solidFill>
              </a:rPr>
              <a:t>Dizaines × dizaines · route mouillée ×1,5</a:t>
            </a:r>
            <a:endParaRPr lang="en-US" sz="900" dirty="0"/>
          </a:p>
        </p:txBody>
      </p:sp>
      <p:sp>
        <p:nvSpPr>
          <p:cNvPr id="15" name="Shape 13"/>
          <p:cNvSpPr/>
          <p:nvPr/>
        </p:nvSpPr>
        <p:spPr>
          <a:xfrm>
            <a:off x="365760" y="2386584"/>
            <a:ext cx="502920" cy="502920"/>
          </a:xfrm>
          <a:prstGeom prst="rect">
            <a:avLst/>
          </a:prstGeom>
          <a:solidFill>
            <a:srgbClr val="922B21"/>
          </a:solidFill>
          <a:ln w="12700">
            <a:solidFill>
              <a:srgbClr val="922B21"/>
            </a:solidFill>
            <a:prstDash val="solid"/>
          </a:ln>
        </p:spPr>
        <p:txBody>
          <a:bodyPr/>
          <a:lstStyle/>
          <a:p>
            <a:endParaRPr lang="fr-FR"/>
          </a:p>
        </p:txBody>
      </p:sp>
      <p:sp>
        <p:nvSpPr>
          <p:cNvPr id="16" name="Text 14"/>
          <p:cNvSpPr/>
          <p:nvPr/>
        </p:nvSpPr>
        <p:spPr>
          <a:xfrm>
            <a:off x="365760" y="2386584"/>
            <a:ext cx="502920" cy="50292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Shape 15"/>
          <p:cNvSpPr/>
          <p:nvPr/>
        </p:nvSpPr>
        <p:spPr>
          <a:xfrm>
            <a:off x="1005840" y="2386584"/>
            <a:ext cx="7543800" cy="502920"/>
          </a:xfrm>
          <a:prstGeom prst="rect">
            <a:avLst/>
          </a:prstGeom>
          <a:solidFill>
            <a:srgbClr val="FFFFFF"/>
          </a:solidFill>
          <a:ln w="12700">
            <a:solidFill>
              <a:srgbClr val="D5D8DC"/>
            </a:solidFill>
            <a:prstDash val="solid"/>
          </a:ln>
        </p:spPr>
        <p:txBody>
          <a:bodyPr/>
          <a:lstStyle/>
          <a:p>
            <a:endParaRPr lang="fr-FR"/>
          </a:p>
        </p:txBody>
      </p:sp>
      <p:sp>
        <p:nvSpPr>
          <p:cNvPr id="18" name="Text 16"/>
          <p:cNvSpPr/>
          <p:nvPr/>
        </p:nvSpPr>
        <p:spPr>
          <a:xfrm>
            <a:off x="1143000" y="2386584"/>
            <a:ext cx="4114800" cy="256032"/>
          </a:xfrm>
          <a:prstGeom prst="rect">
            <a:avLst/>
          </a:prstGeom>
          <a:noFill/>
          <a:ln/>
        </p:spPr>
        <p:txBody>
          <a:bodyPr wrap="square" rtlCol="0" anchor="ctr"/>
          <a:lstStyle/>
          <a:p>
            <a:pPr marL="0" indent="0">
              <a:buNone/>
            </a:pPr>
            <a:r>
              <a:rPr lang="en-US" sz="1100" b="1" dirty="0">
                <a:solidFill>
                  <a:srgbClr val="1C2833"/>
                </a:solidFill>
              </a:rPr>
              <a:t>Distance de freinage &amp; intervalle de sécurité</a:t>
            </a:r>
            <a:endParaRPr lang="en-US" sz="1100" dirty="0"/>
          </a:p>
        </p:txBody>
      </p:sp>
      <p:sp>
        <p:nvSpPr>
          <p:cNvPr id="19" name="Text 17"/>
          <p:cNvSpPr/>
          <p:nvPr/>
        </p:nvSpPr>
        <p:spPr>
          <a:xfrm>
            <a:off x="1143000" y="2642616"/>
            <a:ext cx="7132320" cy="246888"/>
          </a:xfrm>
          <a:prstGeom prst="rect">
            <a:avLst/>
          </a:prstGeom>
          <a:noFill/>
          <a:ln/>
        </p:spPr>
        <p:txBody>
          <a:bodyPr wrap="square" rtlCol="0" anchor="ctr"/>
          <a:lstStyle/>
          <a:p>
            <a:pPr marL="0" indent="0">
              <a:buNone/>
            </a:pPr>
            <a:r>
              <a:rPr lang="en-US" sz="900" dirty="0">
                <a:solidFill>
                  <a:srgbClr val="5D6D7E"/>
                </a:solidFill>
              </a:rPr>
              <a:t>Règle 2 secondes · formule ×6 · marquage autoroute</a:t>
            </a:r>
            <a:endParaRPr lang="en-US" sz="900" dirty="0"/>
          </a:p>
        </p:txBody>
      </p:sp>
      <p:sp>
        <p:nvSpPr>
          <p:cNvPr id="20" name="Shape 18"/>
          <p:cNvSpPr/>
          <p:nvPr/>
        </p:nvSpPr>
        <p:spPr>
          <a:xfrm>
            <a:off x="365760" y="3099816"/>
            <a:ext cx="502920" cy="502920"/>
          </a:xfrm>
          <a:prstGeom prst="rect">
            <a:avLst/>
          </a:prstGeom>
          <a:solidFill>
            <a:srgbClr val="922B21"/>
          </a:solidFill>
          <a:ln w="12700">
            <a:solidFill>
              <a:srgbClr val="922B21"/>
            </a:solidFill>
            <a:prstDash val="solid"/>
          </a:ln>
        </p:spPr>
        <p:txBody>
          <a:bodyPr/>
          <a:lstStyle/>
          <a:p>
            <a:endParaRPr lang="fr-FR"/>
          </a:p>
        </p:txBody>
      </p:sp>
      <p:sp>
        <p:nvSpPr>
          <p:cNvPr id="21" name="Text 19"/>
          <p:cNvSpPr/>
          <p:nvPr/>
        </p:nvSpPr>
        <p:spPr>
          <a:xfrm>
            <a:off x="365760" y="3099816"/>
            <a:ext cx="502920" cy="50292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Shape 20"/>
          <p:cNvSpPr/>
          <p:nvPr/>
        </p:nvSpPr>
        <p:spPr>
          <a:xfrm>
            <a:off x="1005840" y="3099816"/>
            <a:ext cx="7543800" cy="502920"/>
          </a:xfrm>
          <a:prstGeom prst="rect">
            <a:avLst/>
          </a:prstGeom>
          <a:solidFill>
            <a:srgbClr val="FFFFFF"/>
          </a:solidFill>
          <a:ln w="12700">
            <a:solidFill>
              <a:srgbClr val="D5D8DC"/>
            </a:solidFill>
            <a:prstDash val="solid"/>
          </a:ln>
        </p:spPr>
        <p:txBody>
          <a:bodyPr/>
          <a:lstStyle/>
          <a:p>
            <a:endParaRPr lang="fr-FR"/>
          </a:p>
        </p:txBody>
      </p:sp>
      <p:sp>
        <p:nvSpPr>
          <p:cNvPr id="23" name="Text 21"/>
          <p:cNvSpPr/>
          <p:nvPr/>
        </p:nvSpPr>
        <p:spPr>
          <a:xfrm>
            <a:off x="1143000" y="3099816"/>
            <a:ext cx="4114800" cy="256032"/>
          </a:xfrm>
          <a:prstGeom prst="rect">
            <a:avLst/>
          </a:prstGeom>
          <a:noFill/>
          <a:ln/>
        </p:spPr>
        <p:txBody>
          <a:bodyPr wrap="square" rtlCol="0" anchor="ctr"/>
          <a:lstStyle/>
          <a:p>
            <a:pPr marL="0" indent="0">
              <a:buNone/>
            </a:pPr>
            <a:r>
              <a:rPr lang="en-US" sz="1100" b="1" dirty="0">
                <a:solidFill>
                  <a:srgbClr val="1C2833"/>
                </a:solidFill>
              </a:rPr>
              <a:t>Siège auto &amp; fixation Isofix</a:t>
            </a:r>
            <a:endParaRPr lang="en-US" sz="1100" dirty="0"/>
          </a:p>
        </p:txBody>
      </p:sp>
      <p:sp>
        <p:nvSpPr>
          <p:cNvPr id="24" name="Text 22"/>
          <p:cNvSpPr/>
          <p:nvPr/>
        </p:nvSpPr>
        <p:spPr>
          <a:xfrm>
            <a:off x="1143000" y="3355848"/>
            <a:ext cx="7132320" cy="246888"/>
          </a:xfrm>
          <a:prstGeom prst="rect">
            <a:avLst/>
          </a:prstGeom>
          <a:noFill/>
          <a:ln/>
        </p:spPr>
        <p:txBody>
          <a:bodyPr wrap="square" rtlCol="0" anchor="ctr"/>
          <a:lstStyle/>
          <a:p>
            <a:pPr marL="0" indent="0">
              <a:buNone/>
            </a:pPr>
            <a:r>
              <a:rPr lang="en-US" sz="900" dirty="0">
                <a:solidFill>
                  <a:srgbClr val="5D6D7E"/>
                </a:solidFill>
              </a:rPr>
              <a:t>Obligation &lt; 135 cm · exceptions avant · normes ECE R44</a:t>
            </a:r>
            <a:endParaRPr lang="en-US" sz="900" dirty="0"/>
          </a:p>
        </p:txBody>
      </p:sp>
      <p:sp>
        <p:nvSpPr>
          <p:cNvPr id="25" name="Shape 23"/>
          <p:cNvSpPr/>
          <p:nvPr/>
        </p:nvSpPr>
        <p:spPr>
          <a:xfrm>
            <a:off x="365760" y="3813048"/>
            <a:ext cx="502920" cy="502920"/>
          </a:xfrm>
          <a:prstGeom prst="rect">
            <a:avLst/>
          </a:prstGeom>
          <a:solidFill>
            <a:srgbClr val="922B21"/>
          </a:solidFill>
          <a:ln w="12700">
            <a:solidFill>
              <a:srgbClr val="922B21"/>
            </a:solidFill>
            <a:prstDash val="solid"/>
          </a:ln>
        </p:spPr>
        <p:txBody>
          <a:bodyPr/>
          <a:lstStyle/>
          <a:p>
            <a:endParaRPr lang="fr-FR"/>
          </a:p>
        </p:txBody>
      </p:sp>
      <p:sp>
        <p:nvSpPr>
          <p:cNvPr id="26" name="Text 24"/>
          <p:cNvSpPr/>
          <p:nvPr/>
        </p:nvSpPr>
        <p:spPr>
          <a:xfrm>
            <a:off x="365760" y="3813048"/>
            <a:ext cx="502920" cy="50292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7" name="Shape 25"/>
          <p:cNvSpPr/>
          <p:nvPr/>
        </p:nvSpPr>
        <p:spPr>
          <a:xfrm>
            <a:off x="1005840" y="3813048"/>
            <a:ext cx="7543800" cy="502920"/>
          </a:xfrm>
          <a:prstGeom prst="rect">
            <a:avLst/>
          </a:prstGeom>
          <a:solidFill>
            <a:srgbClr val="FFFFFF"/>
          </a:solidFill>
          <a:ln w="12700">
            <a:solidFill>
              <a:srgbClr val="D5D8DC"/>
            </a:solidFill>
            <a:prstDash val="solid"/>
          </a:ln>
        </p:spPr>
        <p:txBody>
          <a:bodyPr/>
          <a:lstStyle/>
          <a:p>
            <a:endParaRPr lang="fr-FR"/>
          </a:p>
        </p:txBody>
      </p:sp>
      <p:sp>
        <p:nvSpPr>
          <p:cNvPr id="28" name="Text 26"/>
          <p:cNvSpPr/>
          <p:nvPr/>
        </p:nvSpPr>
        <p:spPr>
          <a:xfrm>
            <a:off x="1143000" y="3813048"/>
            <a:ext cx="4114800" cy="256032"/>
          </a:xfrm>
          <a:prstGeom prst="rect">
            <a:avLst/>
          </a:prstGeom>
          <a:noFill/>
          <a:ln/>
        </p:spPr>
        <p:txBody>
          <a:bodyPr wrap="square" rtlCol="0" anchor="ctr"/>
          <a:lstStyle/>
          <a:p>
            <a:pPr marL="0" indent="0">
              <a:buNone/>
            </a:pPr>
            <a:r>
              <a:rPr lang="en-US" sz="1100" b="1" dirty="0">
                <a:solidFill>
                  <a:srgbClr val="1C2833"/>
                </a:solidFill>
              </a:rPr>
              <a:t>Règles de dépassement &amp; véhicules prioritaires</a:t>
            </a:r>
            <a:endParaRPr lang="en-US" sz="1100" dirty="0"/>
          </a:p>
        </p:txBody>
      </p:sp>
      <p:sp>
        <p:nvSpPr>
          <p:cNvPr id="29" name="Text 27"/>
          <p:cNvSpPr/>
          <p:nvPr/>
        </p:nvSpPr>
        <p:spPr>
          <a:xfrm>
            <a:off x="1143000" y="4069080"/>
            <a:ext cx="7132320" cy="246888"/>
          </a:xfrm>
          <a:prstGeom prst="rect">
            <a:avLst/>
          </a:prstGeom>
          <a:noFill/>
          <a:ln/>
        </p:spPr>
        <p:txBody>
          <a:bodyPr wrap="square" rtlCol="0" anchor="ctr"/>
          <a:lstStyle/>
          <a:p>
            <a:pPr marL="0" indent="0">
              <a:buNone/>
            </a:pPr>
            <a:r>
              <a:rPr lang="en-US" sz="900" dirty="0">
                <a:solidFill>
                  <a:srgbClr val="5D6D7E"/>
                </a:solidFill>
              </a:rPr>
              <a:t>Piétons 1/1,5m · bus · sirène 2 tons · liste · sanctions</a:t>
            </a:r>
            <a:endParaRPr lang="en-US" sz="900" dirty="0"/>
          </a:p>
        </p:txBody>
      </p:sp>
      <p:sp>
        <p:nvSpPr>
          <p:cNvPr id="30" name="Shape 28"/>
          <p:cNvSpPr/>
          <p:nvPr/>
        </p:nvSpPr>
        <p:spPr>
          <a:xfrm>
            <a:off x="365760" y="4526280"/>
            <a:ext cx="502920" cy="502920"/>
          </a:xfrm>
          <a:prstGeom prst="rect">
            <a:avLst/>
          </a:prstGeom>
          <a:solidFill>
            <a:srgbClr val="922B21"/>
          </a:solidFill>
          <a:ln w="12700">
            <a:solidFill>
              <a:srgbClr val="922B21"/>
            </a:solidFill>
            <a:prstDash val="solid"/>
          </a:ln>
        </p:spPr>
        <p:txBody>
          <a:bodyPr/>
          <a:lstStyle/>
          <a:p>
            <a:endParaRPr lang="fr-FR"/>
          </a:p>
        </p:txBody>
      </p:sp>
      <p:sp>
        <p:nvSpPr>
          <p:cNvPr id="31" name="Text 29"/>
          <p:cNvSpPr/>
          <p:nvPr/>
        </p:nvSpPr>
        <p:spPr>
          <a:xfrm>
            <a:off x="365760" y="4526280"/>
            <a:ext cx="502920" cy="502920"/>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32" name="Shape 30"/>
          <p:cNvSpPr/>
          <p:nvPr/>
        </p:nvSpPr>
        <p:spPr>
          <a:xfrm>
            <a:off x="1005840" y="4526280"/>
            <a:ext cx="7543800" cy="502920"/>
          </a:xfrm>
          <a:prstGeom prst="rect">
            <a:avLst/>
          </a:prstGeom>
          <a:solidFill>
            <a:srgbClr val="FFFFFF"/>
          </a:solidFill>
          <a:ln w="12700">
            <a:solidFill>
              <a:srgbClr val="D5D8DC"/>
            </a:solidFill>
            <a:prstDash val="solid"/>
          </a:ln>
        </p:spPr>
        <p:txBody>
          <a:bodyPr/>
          <a:lstStyle/>
          <a:p>
            <a:endParaRPr lang="fr-FR"/>
          </a:p>
        </p:txBody>
      </p:sp>
      <p:sp>
        <p:nvSpPr>
          <p:cNvPr id="33" name="Text 31"/>
          <p:cNvSpPr/>
          <p:nvPr/>
        </p:nvSpPr>
        <p:spPr>
          <a:xfrm>
            <a:off x="1143000" y="4526280"/>
            <a:ext cx="4114800" cy="256032"/>
          </a:xfrm>
          <a:prstGeom prst="rect">
            <a:avLst/>
          </a:prstGeom>
          <a:noFill/>
          <a:ln/>
        </p:spPr>
        <p:txBody>
          <a:bodyPr wrap="square" rtlCol="0" anchor="ctr"/>
          <a:lstStyle/>
          <a:p>
            <a:pPr marL="0" indent="0">
              <a:buNone/>
            </a:pPr>
            <a:r>
              <a:rPr lang="en-US" sz="1100" b="1" dirty="0">
                <a:solidFill>
                  <a:srgbClr val="1C2833"/>
                </a:solidFill>
              </a:rPr>
              <a:t>Stationnements dangereux, gênants, très gênants</a:t>
            </a:r>
            <a:endParaRPr lang="en-US" sz="1100" dirty="0"/>
          </a:p>
        </p:txBody>
      </p:sp>
      <p:sp>
        <p:nvSpPr>
          <p:cNvPr id="34" name="Text 32"/>
          <p:cNvSpPr/>
          <p:nvPr/>
        </p:nvSpPr>
        <p:spPr>
          <a:xfrm>
            <a:off x="1143000" y="4782312"/>
            <a:ext cx="7132320" cy="246888"/>
          </a:xfrm>
          <a:prstGeom prst="rect">
            <a:avLst/>
          </a:prstGeom>
          <a:noFill/>
          <a:ln/>
        </p:spPr>
        <p:txBody>
          <a:bodyPr wrap="square" rtlCol="0" anchor="ctr"/>
          <a:lstStyle/>
          <a:p>
            <a:pPr marL="0" indent="0">
              <a:buNone/>
            </a:pPr>
            <a:r>
              <a:rPr lang="en-US" sz="900" dirty="0">
                <a:solidFill>
                  <a:srgbClr val="5D6D7E"/>
                </a:solidFill>
              </a:rPr>
              <a:t>3 catégories · contraventions · immobilisation</a:t>
            </a:r>
            <a:endParaRPr lang="en-US" sz="900" dirty="0"/>
          </a:p>
        </p:txBody>
      </p:sp>
      <p:sp>
        <p:nvSpPr>
          <p:cNvPr id="35" name="Shape 33"/>
          <p:cNvSpPr/>
          <p:nvPr/>
        </p:nvSpPr>
        <p:spPr>
          <a:xfrm>
            <a:off x="365760" y="5239512"/>
            <a:ext cx="502920" cy="502920"/>
          </a:xfrm>
          <a:prstGeom prst="rect">
            <a:avLst/>
          </a:prstGeom>
          <a:solidFill>
            <a:srgbClr val="922B21"/>
          </a:solidFill>
          <a:ln w="12700">
            <a:solidFill>
              <a:srgbClr val="922B21"/>
            </a:solidFill>
            <a:prstDash val="solid"/>
          </a:ln>
        </p:spPr>
        <p:txBody>
          <a:bodyPr/>
          <a:lstStyle/>
          <a:p>
            <a:endParaRPr lang="fr-FR"/>
          </a:p>
        </p:txBody>
      </p:sp>
      <p:sp>
        <p:nvSpPr>
          <p:cNvPr id="36" name="Text 34"/>
          <p:cNvSpPr/>
          <p:nvPr/>
        </p:nvSpPr>
        <p:spPr>
          <a:xfrm>
            <a:off x="365760" y="5239512"/>
            <a:ext cx="502920" cy="502920"/>
          </a:xfrm>
          <a:prstGeom prst="rect">
            <a:avLst/>
          </a:prstGeom>
          <a:noFill/>
          <a:ln/>
        </p:spPr>
        <p:txBody>
          <a:bodyPr wrap="square" rtlCol="0" anchor="ctr"/>
          <a:lstStyle/>
          <a:p>
            <a:pPr marL="0" indent="0" algn="ctr">
              <a:buNone/>
            </a:pPr>
            <a:r>
              <a:rPr lang="en-US" sz="1600" b="1" dirty="0">
                <a:solidFill>
                  <a:srgbClr val="FFFFFF"/>
                </a:solidFill>
              </a:rPr>
              <a:t>7</a:t>
            </a:r>
            <a:endParaRPr lang="en-US" sz="1600" dirty="0"/>
          </a:p>
        </p:txBody>
      </p:sp>
      <p:sp>
        <p:nvSpPr>
          <p:cNvPr id="37" name="Shape 35"/>
          <p:cNvSpPr/>
          <p:nvPr/>
        </p:nvSpPr>
        <p:spPr>
          <a:xfrm>
            <a:off x="1005840" y="5239512"/>
            <a:ext cx="7543800" cy="502920"/>
          </a:xfrm>
          <a:prstGeom prst="rect">
            <a:avLst/>
          </a:prstGeom>
          <a:solidFill>
            <a:srgbClr val="FFFFFF"/>
          </a:solidFill>
          <a:ln w="12700">
            <a:solidFill>
              <a:srgbClr val="D5D8DC"/>
            </a:solidFill>
            <a:prstDash val="solid"/>
          </a:ln>
        </p:spPr>
        <p:txBody>
          <a:bodyPr/>
          <a:lstStyle/>
          <a:p>
            <a:endParaRPr lang="fr-FR"/>
          </a:p>
        </p:txBody>
      </p:sp>
      <p:sp>
        <p:nvSpPr>
          <p:cNvPr id="38" name="Text 36"/>
          <p:cNvSpPr/>
          <p:nvPr/>
        </p:nvSpPr>
        <p:spPr>
          <a:xfrm>
            <a:off x="1143000" y="5239512"/>
            <a:ext cx="4114800" cy="256032"/>
          </a:xfrm>
          <a:prstGeom prst="rect">
            <a:avLst/>
          </a:prstGeom>
          <a:noFill/>
          <a:ln/>
        </p:spPr>
        <p:txBody>
          <a:bodyPr wrap="square" rtlCol="0" anchor="ctr"/>
          <a:lstStyle/>
          <a:p>
            <a:pPr marL="0" indent="0">
              <a:buNone/>
            </a:pPr>
            <a:r>
              <a:rPr lang="en-US" sz="1100" b="1" dirty="0">
                <a:solidFill>
                  <a:srgbClr val="1C2833"/>
                </a:solidFill>
              </a:rPr>
              <a:t>Alcool au volant</a:t>
            </a:r>
            <a:endParaRPr lang="en-US" sz="1100" dirty="0"/>
          </a:p>
        </p:txBody>
      </p:sp>
      <p:sp>
        <p:nvSpPr>
          <p:cNvPr id="39" name="Text 37"/>
          <p:cNvSpPr/>
          <p:nvPr/>
        </p:nvSpPr>
        <p:spPr>
          <a:xfrm>
            <a:off x="1143000" y="5495544"/>
            <a:ext cx="7132320" cy="246888"/>
          </a:xfrm>
          <a:prstGeom prst="rect">
            <a:avLst/>
          </a:prstGeom>
          <a:noFill/>
          <a:ln/>
        </p:spPr>
        <p:txBody>
          <a:bodyPr wrap="square" rtlCol="0" anchor="ctr"/>
          <a:lstStyle/>
          <a:p>
            <a:pPr marL="0" indent="0">
              <a:buNone/>
            </a:pPr>
            <a:r>
              <a:rPr lang="en-US" sz="900" dirty="0">
                <a:solidFill>
                  <a:srgbClr val="5D6D7E"/>
                </a:solidFill>
              </a:rPr>
              <a:t>Taux légaux 0,5 g/l et 0,2 g/l · élimination · dangers</a:t>
            </a:r>
            <a:endParaRPr lang="en-US" sz="900" dirty="0"/>
          </a:p>
        </p:txBody>
      </p:sp>
      <p:sp>
        <p:nvSpPr>
          <p:cNvPr id="40" name="Shape 3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41" name="Text 3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42" name="Text 4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Distances : réaction, arrêt, freinage</a:t>
            </a:r>
            <a:endParaRPr lang="en-US" sz="2000" dirty="0"/>
          </a:p>
        </p:txBody>
      </p:sp>
      <p:pic>
        <p:nvPicPr>
          <p:cNvPr id="6" name="Image 0" descr="preencoded.png"/>
          <p:cNvPicPr>
            <a:picLocks noChangeAspect="1"/>
          </p:cNvPicPr>
          <p:nvPr/>
        </p:nvPicPr>
        <p:blipFill>
          <a:blip r:embed="rId3"/>
          <a:stretch>
            <a:fillRect/>
          </a:stretch>
        </p:blipFill>
        <p:spPr>
          <a:xfrm>
            <a:off x="1044245" y="1298448"/>
            <a:ext cx="3032150" cy="1920240"/>
          </a:xfrm>
          <a:prstGeom prst="rect">
            <a:avLst/>
          </a:prstGeom>
        </p:spPr>
      </p:pic>
      <p:sp>
        <p:nvSpPr>
          <p:cNvPr id="7" name="Shape 4"/>
          <p:cNvSpPr/>
          <p:nvPr/>
        </p:nvSpPr>
        <p:spPr>
          <a:xfrm>
            <a:off x="4663440" y="1298448"/>
            <a:ext cx="4206240" cy="192024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663440" y="1389888"/>
            <a:ext cx="4114800" cy="320040"/>
          </a:xfrm>
          <a:prstGeom prst="rect">
            <a:avLst/>
          </a:prstGeom>
          <a:noFill/>
          <a:ln/>
        </p:spPr>
        <p:txBody>
          <a:bodyPr wrap="square" rtlCol="0" anchor="ctr"/>
          <a:lstStyle/>
          <a:p>
            <a:pPr marL="0" indent="0">
              <a:buNone/>
            </a:pPr>
            <a:r>
              <a:rPr lang="en-US" sz="1100" b="1" dirty="0">
                <a:solidFill>
                  <a:srgbClr val="922B21"/>
                </a:solidFill>
              </a:rPr>
              <a:t>Formules de calcul</a:t>
            </a:r>
            <a:endParaRPr lang="en-US" sz="1100" dirty="0"/>
          </a:p>
        </p:txBody>
      </p:sp>
      <p:sp>
        <p:nvSpPr>
          <p:cNvPr id="9" name="Text 6"/>
          <p:cNvSpPr/>
          <p:nvPr/>
        </p:nvSpPr>
        <p:spPr>
          <a:xfrm>
            <a:off x="4663440" y="1783080"/>
            <a:ext cx="2011680" cy="320040"/>
          </a:xfrm>
          <a:prstGeom prst="rect">
            <a:avLst/>
          </a:prstGeom>
          <a:noFill/>
          <a:ln/>
        </p:spPr>
        <p:txBody>
          <a:bodyPr wrap="square" rtlCol="0" anchor="ctr"/>
          <a:lstStyle/>
          <a:p>
            <a:pPr marL="0" indent="0">
              <a:buNone/>
            </a:pPr>
            <a:r>
              <a:rPr lang="en-US" sz="850" b="1" dirty="0">
                <a:solidFill>
                  <a:srgbClr val="922B21"/>
                </a:solidFill>
              </a:rPr>
              <a:t>Distance réaction</a:t>
            </a:r>
            <a:endParaRPr lang="en-US" sz="850" dirty="0"/>
          </a:p>
        </p:txBody>
      </p:sp>
      <p:sp>
        <p:nvSpPr>
          <p:cNvPr id="10" name="Text 7"/>
          <p:cNvSpPr/>
          <p:nvPr/>
        </p:nvSpPr>
        <p:spPr>
          <a:xfrm>
            <a:off x="6720840" y="1783080"/>
            <a:ext cx="1280160" cy="320040"/>
          </a:xfrm>
          <a:prstGeom prst="rect">
            <a:avLst/>
          </a:prstGeom>
          <a:noFill/>
          <a:ln/>
        </p:spPr>
        <p:txBody>
          <a:bodyPr wrap="square" rtlCol="0" anchor="ctr"/>
          <a:lstStyle/>
          <a:p>
            <a:pPr marL="0" indent="0">
              <a:buNone/>
            </a:pPr>
            <a:r>
              <a:rPr lang="en-US" sz="850" dirty="0">
                <a:solidFill>
                  <a:srgbClr val="1C2833"/>
                </a:solidFill>
              </a:rPr>
              <a:t>Dizaines × 3</a:t>
            </a:r>
            <a:endParaRPr lang="en-US" sz="850" dirty="0"/>
          </a:p>
        </p:txBody>
      </p:sp>
      <p:sp>
        <p:nvSpPr>
          <p:cNvPr id="11" name="Text 8"/>
          <p:cNvSpPr/>
          <p:nvPr/>
        </p:nvSpPr>
        <p:spPr>
          <a:xfrm>
            <a:off x="8046720" y="1783080"/>
            <a:ext cx="914400" cy="320040"/>
          </a:xfrm>
          <a:prstGeom prst="rect">
            <a:avLst/>
          </a:prstGeom>
          <a:noFill/>
          <a:ln/>
        </p:spPr>
        <p:txBody>
          <a:bodyPr wrap="square" rtlCol="0" anchor="ctr"/>
          <a:lstStyle/>
          <a:p>
            <a:pPr marL="0" indent="0">
              <a:buNone/>
            </a:pPr>
            <a:r>
              <a:rPr lang="en-US" sz="750" i="1" dirty="0">
                <a:solidFill>
                  <a:srgbClr val="5D6D7E"/>
                </a:solidFill>
              </a:rPr>
              <a:t>50 km/h → 15 m</a:t>
            </a:r>
            <a:endParaRPr lang="en-US" sz="750" dirty="0"/>
          </a:p>
        </p:txBody>
      </p:sp>
      <p:sp>
        <p:nvSpPr>
          <p:cNvPr id="12" name="Text 9"/>
          <p:cNvSpPr/>
          <p:nvPr/>
        </p:nvSpPr>
        <p:spPr>
          <a:xfrm>
            <a:off x="4663440" y="2167128"/>
            <a:ext cx="2011680" cy="320040"/>
          </a:xfrm>
          <a:prstGeom prst="rect">
            <a:avLst/>
          </a:prstGeom>
          <a:noFill/>
          <a:ln/>
        </p:spPr>
        <p:txBody>
          <a:bodyPr wrap="square" rtlCol="0" anchor="ctr"/>
          <a:lstStyle/>
          <a:p>
            <a:pPr marL="0" indent="0">
              <a:buNone/>
            </a:pPr>
            <a:r>
              <a:rPr lang="en-US" sz="850" b="1" dirty="0">
                <a:solidFill>
                  <a:srgbClr val="922B21"/>
                </a:solidFill>
              </a:rPr>
              <a:t>Distance d'arrêt sèche</a:t>
            </a:r>
            <a:endParaRPr lang="en-US" sz="850" dirty="0"/>
          </a:p>
        </p:txBody>
      </p:sp>
      <p:sp>
        <p:nvSpPr>
          <p:cNvPr id="13" name="Text 10"/>
          <p:cNvSpPr/>
          <p:nvPr/>
        </p:nvSpPr>
        <p:spPr>
          <a:xfrm>
            <a:off x="6720840" y="2167128"/>
            <a:ext cx="1280160" cy="320040"/>
          </a:xfrm>
          <a:prstGeom prst="rect">
            <a:avLst/>
          </a:prstGeom>
          <a:noFill/>
          <a:ln/>
        </p:spPr>
        <p:txBody>
          <a:bodyPr wrap="square" rtlCol="0" anchor="ctr"/>
          <a:lstStyle/>
          <a:p>
            <a:pPr marL="0" indent="0">
              <a:buNone/>
            </a:pPr>
            <a:r>
              <a:rPr lang="en-US" sz="850" dirty="0">
                <a:solidFill>
                  <a:srgbClr val="1C2833"/>
                </a:solidFill>
              </a:rPr>
              <a:t>Dizaines × Dizaines</a:t>
            </a:r>
            <a:endParaRPr lang="en-US" sz="850" dirty="0"/>
          </a:p>
        </p:txBody>
      </p:sp>
      <p:sp>
        <p:nvSpPr>
          <p:cNvPr id="14" name="Text 11"/>
          <p:cNvSpPr/>
          <p:nvPr/>
        </p:nvSpPr>
        <p:spPr>
          <a:xfrm>
            <a:off x="8046720" y="2167128"/>
            <a:ext cx="914400" cy="320040"/>
          </a:xfrm>
          <a:prstGeom prst="rect">
            <a:avLst/>
          </a:prstGeom>
          <a:noFill/>
          <a:ln/>
        </p:spPr>
        <p:txBody>
          <a:bodyPr wrap="square" rtlCol="0" anchor="ctr"/>
          <a:lstStyle/>
          <a:p>
            <a:pPr marL="0" indent="0">
              <a:buNone/>
            </a:pPr>
            <a:r>
              <a:rPr lang="en-US" sz="750" i="1" dirty="0">
                <a:solidFill>
                  <a:srgbClr val="5D6D7E"/>
                </a:solidFill>
              </a:rPr>
              <a:t>100 km/h → 100 m</a:t>
            </a:r>
            <a:endParaRPr lang="en-US" sz="750" dirty="0"/>
          </a:p>
        </p:txBody>
      </p:sp>
      <p:sp>
        <p:nvSpPr>
          <p:cNvPr id="15" name="Text 12"/>
          <p:cNvSpPr/>
          <p:nvPr/>
        </p:nvSpPr>
        <p:spPr>
          <a:xfrm>
            <a:off x="4663440" y="2551176"/>
            <a:ext cx="2011680" cy="320040"/>
          </a:xfrm>
          <a:prstGeom prst="rect">
            <a:avLst/>
          </a:prstGeom>
          <a:noFill/>
          <a:ln/>
        </p:spPr>
        <p:txBody>
          <a:bodyPr wrap="square" rtlCol="0" anchor="ctr"/>
          <a:lstStyle/>
          <a:p>
            <a:pPr marL="0" indent="0">
              <a:buNone/>
            </a:pPr>
            <a:r>
              <a:rPr lang="en-US" sz="850" b="1" dirty="0">
                <a:solidFill>
                  <a:srgbClr val="922B21"/>
                </a:solidFill>
              </a:rPr>
              <a:t>Distance d'arrêt mouillée</a:t>
            </a:r>
            <a:endParaRPr lang="en-US" sz="850" dirty="0"/>
          </a:p>
        </p:txBody>
      </p:sp>
      <p:sp>
        <p:nvSpPr>
          <p:cNvPr id="16" name="Text 13"/>
          <p:cNvSpPr/>
          <p:nvPr/>
        </p:nvSpPr>
        <p:spPr>
          <a:xfrm>
            <a:off x="6720840" y="2551176"/>
            <a:ext cx="1280160" cy="320040"/>
          </a:xfrm>
          <a:prstGeom prst="rect">
            <a:avLst/>
          </a:prstGeom>
          <a:noFill/>
          <a:ln/>
        </p:spPr>
        <p:txBody>
          <a:bodyPr wrap="square" rtlCol="0" anchor="ctr"/>
          <a:lstStyle/>
          <a:p>
            <a:pPr marL="0" indent="0">
              <a:buNone/>
            </a:pPr>
            <a:r>
              <a:rPr lang="en-US" sz="850" dirty="0">
                <a:solidFill>
                  <a:srgbClr val="1C2833"/>
                </a:solidFill>
              </a:rPr>
              <a:t>D.sèche × 1,5</a:t>
            </a:r>
            <a:endParaRPr lang="en-US" sz="850" dirty="0"/>
          </a:p>
        </p:txBody>
      </p:sp>
      <p:sp>
        <p:nvSpPr>
          <p:cNvPr id="17" name="Text 14"/>
          <p:cNvSpPr/>
          <p:nvPr/>
        </p:nvSpPr>
        <p:spPr>
          <a:xfrm>
            <a:off x="8046720" y="2551176"/>
            <a:ext cx="914400" cy="320040"/>
          </a:xfrm>
          <a:prstGeom prst="rect">
            <a:avLst/>
          </a:prstGeom>
          <a:noFill/>
          <a:ln/>
        </p:spPr>
        <p:txBody>
          <a:bodyPr wrap="square" rtlCol="0" anchor="ctr"/>
          <a:lstStyle/>
          <a:p>
            <a:pPr marL="0" indent="0">
              <a:buNone/>
            </a:pPr>
            <a:r>
              <a:rPr lang="en-US" sz="750" i="1" dirty="0">
                <a:solidFill>
                  <a:srgbClr val="5D6D7E"/>
                </a:solidFill>
              </a:rPr>
              <a:t>100 km/h → 150 m</a:t>
            </a:r>
            <a:endParaRPr lang="en-US" sz="750" dirty="0"/>
          </a:p>
        </p:txBody>
      </p:sp>
      <p:sp>
        <p:nvSpPr>
          <p:cNvPr id="18" name="Text 15"/>
          <p:cNvSpPr/>
          <p:nvPr/>
        </p:nvSpPr>
        <p:spPr>
          <a:xfrm>
            <a:off x="4663440" y="2935224"/>
            <a:ext cx="2011680" cy="320040"/>
          </a:xfrm>
          <a:prstGeom prst="rect">
            <a:avLst/>
          </a:prstGeom>
          <a:noFill/>
          <a:ln/>
        </p:spPr>
        <p:txBody>
          <a:bodyPr wrap="square" rtlCol="0" anchor="ctr"/>
          <a:lstStyle/>
          <a:p>
            <a:pPr marL="0" indent="0">
              <a:buNone/>
            </a:pPr>
            <a:r>
              <a:rPr lang="en-US" sz="850" b="1" dirty="0">
                <a:solidFill>
                  <a:srgbClr val="922B21"/>
                </a:solidFill>
              </a:rPr>
              <a:t>Distance de freinage</a:t>
            </a:r>
            <a:endParaRPr lang="en-US" sz="850" dirty="0"/>
          </a:p>
        </p:txBody>
      </p:sp>
      <p:sp>
        <p:nvSpPr>
          <p:cNvPr id="19" name="Text 16"/>
          <p:cNvSpPr/>
          <p:nvPr/>
        </p:nvSpPr>
        <p:spPr>
          <a:xfrm>
            <a:off x="6720840" y="2935224"/>
            <a:ext cx="1280160" cy="320040"/>
          </a:xfrm>
          <a:prstGeom prst="rect">
            <a:avLst/>
          </a:prstGeom>
          <a:noFill/>
          <a:ln/>
        </p:spPr>
        <p:txBody>
          <a:bodyPr wrap="square" rtlCol="0" anchor="ctr"/>
          <a:lstStyle/>
          <a:p>
            <a:pPr marL="0" indent="0">
              <a:buNone/>
            </a:pPr>
            <a:r>
              <a:rPr lang="en-US" sz="850" dirty="0">
                <a:solidFill>
                  <a:srgbClr val="1C2833"/>
                </a:solidFill>
              </a:rPr>
              <a:t>D.arrêt − D.réaction</a:t>
            </a:r>
            <a:endParaRPr lang="en-US" sz="850" dirty="0"/>
          </a:p>
        </p:txBody>
      </p:sp>
      <p:sp>
        <p:nvSpPr>
          <p:cNvPr id="20" name="Text 17"/>
          <p:cNvSpPr/>
          <p:nvPr/>
        </p:nvSpPr>
        <p:spPr>
          <a:xfrm>
            <a:off x="8046720" y="2935224"/>
            <a:ext cx="914400" cy="320040"/>
          </a:xfrm>
          <a:prstGeom prst="rect">
            <a:avLst/>
          </a:prstGeom>
          <a:noFill/>
          <a:ln/>
        </p:spPr>
        <p:txBody>
          <a:bodyPr wrap="square" rtlCol="0" anchor="ctr"/>
          <a:lstStyle/>
          <a:p>
            <a:pPr marL="0" indent="0">
              <a:buNone/>
            </a:pPr>
            <a:r>
              <a:rPr lang="en-US" sz="750" i="1" dirty="0">
                <a:solidFill>
                  <a:srgbClr val="5D6D7E"/>
                </a:solidFill>
              </a:rPr>
              <a:t>Dépend : charge, adhérence, freins</a:t>
            </a:r>
            <a:endParaRPr lang="en-US" sz="750" dirty="0"/>
          </a:p>
        </p:txBody>
      </p:sp>
      <p:pic>
        <p:nvPicPr>
          <p:cNvPr id="21" name="Image 1" descr="preencoded.png"/>
          <p:cNvPicPr>
            <a:picLocks noChangeAspect="1"/>
          </p:cNvPicPr>
          <p:nvPr/>
        </p:nvPicPr>
        <p:blipFill>
          <a:blip r:embed="rId4"/>
          <a:stretch>
            <a:fillRect/>
          </a:stretch>
        </p:blipFill>
        <p:spPr>
          <a:xfrm>
            <a:off x="3511296" y="3310128"/>
            <a:ext cx="2122322" cy="1344168"/>
          </a:xfrm>
          <a:prstGeom prst="rect">
            <a:avLst/>
          </a:prstGeom>
        </p:spPr>
      </p:pic>
      <p:sp>
        <p:nvSpPr>
          <p:cNvPr id="22" name="Shape 1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3" name="Text 1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4" name="Text 2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Distance de sécurité &amp; Intervalle de sécurité</a:t>
            </a:r>
            <a:endParaRPr lang="en-US" sz="2000" dirty="0"/>
          </a:p>
        </p:txBody>
      </p:sp>
      <p:pic>
        <p:nvPicPr>
          <p:cNvPr id="6" name="Image 0" descr="preencoded.png"/>
          <p:cNvPicPr>
            <a:picLocks noChangeAspect="1"/>
          </p:cNvPicPr>
          <p:nvPr/>
        </p:nvPicPr>
        <p:blipFill>
          <a:blip r:embed="rId3"/>
          <a:stretch>
            <a:fillRect/>
          </a:stretch>
        </p:blipFill>
        <p:spPr>
          <a:xfrm>
            <a:off x="1044245" y="1298448"/>
            <a:ext cx="3032150" cy="1920240"/>
          </a:xfrm>
          <a:prstGeom prst="rect">
            <a:avLst/>
          </a:prstGeom>
        </p:spPr>
      </p:pic>
      <p:sp>
        <p:nvSpPr>
          <p:cNvPr id="7" name="Shape 4"/>
          <p:cNvSpPr/>
          <p:nvPr/>
        </p:nvSpPr>
        <p:spPr>
          <a:xfrm>
            <a:off x="4663440" y="1298448"/>
            <a:ext cx="4206240" cy="192024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663440" y="1389888"/>
            <a:ext cx="4114800" cy="320040"/>
          </a:xfrm>
          <a:prstGeom prst="rect">
            <a:avLst/>
          </a:prstGeom>
          <a:noFill/>
          <a:ln/>
        </p:spPr>
        <p:txBody>
          <a:bodyPr wrap="square" rtlCol="0" anchor="ctr"/>
          <a:lstStyle/>
          <a:p>
            <a:pPr marL="0" indent="0">
              <a:buNone/>
            </a:pPr>
            <a:r>
              <a:rPr lang="en-US" sz="1100" b="1" dirty="0">
                <a:solidFill>
                  <a:srgbClr val="922B21"/>
                </a:solidFill>
              </a:rPr>
              <a:t>Distance de sécurité : Dizaines × 6</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663440" y="1764792"/>
          <a:ext cx="4114800" cy="1371600"/>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28600">
                <a:tc>
                  <a:txBody>
                    <a:bodyPr/>
                    <a:lstStyle/>
                    <a:p>
                      <a:pPr marL="0" indent="0" algn="ctr">
                        <a:buNone/>
                      </a:pPr>
                      <a:r>
                        <a:rPr lang="en-US" sz="900" b="1" dirty="0">
                          <a:solidFill>
                            <a:srgbClr val="FFFFFF"/>
                          </a:solidFill>
                        </a:rPr>
                        <a:t>Vitesse</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marL="0" indent="0" algn="ctr">
                        <a:buNone/>
                      </a:pPr>
                      <a:r>
                        <a:rPr lang="en-US" sz="900" b="1" dirty="0">
                          <a:solidFill>
                            <a:srgbClr val="FFFFFF"/>
                          </a:solidFill>
                        </a:rPr>
                        <a:t>Calcul</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marL="0" indent="0" algn="ctr">
                        <a:buNone/>
                      </a:pPr>
                      <a:r>
                        <a:rPr lang="en-US" sz="900" b="1" dirty="0">
                          <a:solidFill>
                            <a:srgbClr val="FFFFFF"/>
                          </a:solidFill>
                        </a:rPr>
                        <a:t>Distance</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extLst>
                  <a:ext uri="{0D108BD9-81ED-4DB2-BD59-A6C34878D82A}">
                    <a16:rowId xmlns:a16="http://schemas.microsoft.com/office/drawing/2014/main" val="10000"/>
                  </a:ext>
                </a:extLst>
              </a:tr>
              <a:tr h="228600">
                <a:tc>
                  <a:txBody>
                    <a:bodyPr/>
                    <a:lstStyle/>
                    <a:p>
                      <a:pPr marL="0" indent="0" algn="ctr">
                        <a:buNone/>
                      </a:pPr>
                      <a:r>
                        <a:rPr lang="en-US" sz="900" dirty="0">
                          <a:solidFill>
                            <a:srgbClr val="1C2833"/>
                          </a:solidFill>
                        </a:rPr>
                        <a:t>30 km/h</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3×6</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18 m</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228600">
                <a:tc>
                  <a:txBody>
                    <a:bodyPr/>
                    <a:lstStyle/>
                    <a:p>
                      <a:pPr marL="0" indent="0" algn="ctr">
                        <a:buNone/>
                      </a:pPr>
                      <a:r>
                        <a:rPr lang="en-US" sz="900" dirty="0">
                          <a:solidFill>
                            <a:srgbClr val="1C2833"/>
                          </a:solidFill>
                        </a:rPr>
                        <a:t>50 km/h</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5×6</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30 m</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228600">
                <a:tc>
                  <a:txBody>
                    <a:bodyPr/>
                    <a:lstStyle/>
                    <a:p>
                      <a:pPr marL="0" indent="0" algn="ctr">
                        <a:buNone/>
                      </a:pPr>
                      <a:r>
                        <a:rPr lang="en-US" sz="900" dirty="0">
                          <a:solidFill>
                            <a:srgbClr val="1C2833"/>
                          </a:solidFill>
                        </a:rPr>
                        <a:t>80 km/h</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8×6</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48 m</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r h="228600">
                <a:tc>
                  <a:txBody>
                    <a:bodyPr/>
                    <a:lstStyle/>
                    <a:p>
                      <a:pPr marL="0" indent="0" algn="ctr">
                        <a:buNone/>
                      </a:pPr>
                      <a:r>
                        <a:rPr lang="en-US" sz="900" dirty="0">
                          <a:solidFill>
                            <a:srgbClr val="1C2833"/>
                          </a:solidFill>
                        </a:rPr>
                        <a:t>110 km/h</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11×6</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66 m</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228600">
                <a:tc>
                  <a:txBody>
                    <a:bodyPr/>
                    <a:lstStyle/>
                    <a:p>
                      <a:pPr marL="0" indent="0" algn="ctr">
                        <a:buNone/>
                      </a:pPr>
                      <a:r>
                        <a:rPr lang="en-US" sz="900" dirty="0">
                          <a:solidFill>
                            <a:srgbClr val="1C2833"/>
                          </a:solidFill>
                        </a:rPr>
                        <a:t>130 km/h</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13×6</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rgbClr val="1C2833"/>
                          </a:solidFill>
                        </a:rPr>
                        <a:t>78 m</a:t>
                      </a:r>
                      <a:endParaRPr lang="en-US" sz="9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5"/>
                  </a:ext>
                </a:extLst>
              </a:tr>
            </a:tbl>
          </a:graphicData>
        </a:graphic>
      </p:graphicFrame>
      <p:sp>
        <p:nvSpPr>
          <p:cNvPr id="10" name="Shape 6"/>
          <p:cNvSpPr/>
          <p:nvPr/>
        </p:nvSpPr>
        <p:spPr>
          <a:xfrm>
            <a:off x="274320" y="3310128"/>
            <a:ext cx="8595360" cy="1344168"/>
          </a:xfrm>
          <a:prstGeom prst="rect">
            <a:avLst/>
          </a:prstGeom>
          <a:solidFill>
            <a:srgbClr val="FFFFFF"/>
          </a:solidFill>
          <a:ln w="12700">
            <a:solidFill>
              <a:srgbClr val="D5D8DC"/>
            </a:solidFill>
            <a:prstDash val="solid"/>
          </a:ln>
        </p:spPr>
        <p:txBody>
          <a:bodyPr/>
          <a:lstStyle/>
          <a:p>
            <a:endParaRPr lang="fr-FR"/>
          </a:p>
        </p:txBody>
      </p:sp>
      <p:sp>
        <p:nvSpPr>
          <p:cNvPr id="11" name="Text 7"/>
          <p:cNvSpPr/>
          <p:nvPr/>
        </p:nvSpPr>
        <p:spPr>
          <a:xfrm>
            <a:off x="411480" y="3383280"/>
            <a:ext cx="8229600" cy="320040"/>
          </a:xfrm>
          <a:prstGeom prst="rect">
            <a:avLst/>
          </a:prstGeom>
          <a:noFill/>
          <a:ln/>
        </p:spPr>
        <p:txBody>
          <a:bodyPr wrap="square" rtlCol="0" anchor="ctr"/>
          <a:lstStyle/>
          <a:p>
            <a:pPr marL="0" indent="0">
              <a:buNone/>
            </a:pPr>
            <a:r>
              <a:rPr lang="en-US" sz="1100" b="1" dirty="0">
                <a:solidFill>
                  <a:srgbClr val="922B21"/>
                </a:solidFill>
              </a:rPr>
              <a:t>Intervalle de sécurité minimum = 2 secondes</a:t>
            </a:r>
            <a:endParaRPr lang="en-US" sz="1100" dirty="0"/>
          </a:p>
        </p:txBody>
      </p:sp>
      <p:sp>
        <p:nvSpPr>
          <p:cNvPr id="12" name="Text 8"/>
          <p:cNvSpPr/>
          <p:nvPr/>
        </p:nvSpPr>
        <p:spPr>
          <a:xfrm>
            <a:off x="411480" y="3730752"/>
            <a:ext cx="4114800" cy="292608"/>
          </a:xfrm>
          <a:prstGeom prst="rect">
            <a:avLst/>
          </a:prstGeom>
          <a:noFill/>
          <a:ln/>
        </p:spPr>
        <p:txBody>
          <a:bodyPr wrap="square" rtlCol="0" anchor="ctr"/>
          <a:lstStyle/>
          <a:p>
            <a:pPr marL="0" indent="0">
              <a:buNone/>
            </a:pPr>
            <a:r>
              <a:rPr lang="en-US" sz="1000" dirty="0">
                <a:solidFill>
                  <a:srgbClr val="1C2833"/>
                </a:solidFill>
              </a:rPr>
              <a:t>50 km/h → 30 m  |  100 km/h → 60 m</a:t>
            </a:r>
            <a:endParaRPr lang="en-US" sz="1000" dirty="0"/>
          </a:p>
        </p:txBody>
      </p:sp>
      <p:sp>
        <p:nvSpPr>
          <p:cNvPr id="13" name="Text 9"/>
          <p:cNvSpPr/>
          <p:nvPr/>
        </p:nvSpPr>
        <p:spPr>
          <a:xfrm>
            <a:off x="411480" y="4059936"/>
            <a:ext cx="4114800" cy="292608"/>
          </a:xfrm>
          <a:prstGeom prst="rect">
            <a:avLst/>
          </a:prstGeom>
          <a:noFill/>
          <a:ln/>
        </p:spPr>
        <p:txBody>
          <a:bodyPr wrap="square" rtlCol="0" anchor="ctr"/>
          <a:lstStyle/>
          <a:p>
            <a:pPr marL="0" indent="0">
              <a:buNone/>
            </a:pPr>
            <a:r>
              <a:rPr lang="en-US" sz="900" dirty="0">
                <a:solidFill>
                  <a:srgbClr val="1C2833"/>
                </a:solidFill>
              </a:rPr>
              <a:t>Autoroute : 2 traits de bande d'arrêt d'urgence = distance minimale.</a:t>
            </a:r>
            <a:endParaRPr lang="en-US" sz="900" dirty="0"/>
          </a:p>
        </p:txBody>
      </p:sp>
      <p:sp>
        <p:nvSpPr>
          <p:cNvPr id="14" name="Text 10"/>
          <p:cNvSpPr/>
          <p:nvPr/>
        </p:nvSpPr>
        <p:spPr>
          <a:xfrm>
            <a:off x="4572000" y="3730752"/>
            <a:ext cx="4297680" cy="502920"/>
          </a:xfrm>
          <a:prstGeom prst="rect">
            <a:avLst/>
          </a:prstGeom>
          <a:noFill/>
          <a:ln/>
        </p:spPr>
        <p:txBody>
          <a:bodyPr wrap="square" rtlCol="0" anchor="ctr"/>
          <a:lstStyle/>
          <a:p>
            <a:pPr marL="0" indent="0">
              <a:buNone/>
            </a:pPr>
            <a:r>
              <a:rPr lang="en-US" sz="900" i="1" dirty="0">
                <a:solidFill>
                  <a:srgbClr val="5D6D7E"/>
                </a:solidFill>
              </a:rPr>
              <a:t>Astuce : quand le véhicule devant passe un repère, comptez jusqu'à 2 avant de passer ce même repère.</a:t>
            </a:r>
            <a:endParaRPr lang="en-US" sz="900" dirty="0"/>
          </a:p>
        </p:txBody>
      </p:sp>
      <p:sp>
        <p:nvSpPr>
          <p:cNvPr id="15" name="Shape 11"/>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9" name="Text 12"/>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7" name="Text 13"/>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Siège auto &amp; Fixation Isofix</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922B21"/>
                </a:solidFill>
              </a:rPr>
              <a:t>👶 Siège auto — Obligation légale</a:t>
            </a:r>
            <a:endParaRPr lang="en-US" sz="1100" dirty="0"/>
          </a:p>
        </p:txBody>
      </p:sp>
      <p:sp>
        <p:nvSpPr>
          <p:cNvPr id="8" name="Shape 6"/>
          <p:cNvSpPr/>
          <p:nvPr/>
        </p:nvSpPr>
        <p:spPr>
          <a:xfrm>
            <a:off x="411480" y="1837944"/>
            <a:ext cx="64008" cy="384048"/>
          </a:xfrm>
          <a:prstGeom prst="rect">
            <a:avLst/>
          </a:prstGeom>
          <a:solidFill>
            <a:srgbClr val="922B21"/>
          </a:solidFill>
          <a:ln w="12700">
            <a:solidFill>
              <a:srgbClr val="922B21"/>
            </a:solidFill>
            <a:prstDash val="solid"/>
          </a:ln>
        </p:spPr>
        <p:txBody>
          <a:bodyPr/>
          <a:lstStyle/>
          <a:p>
            <a:endParaRPr lang="fr-FR"/>
          </a:p>
        </p:txBody>
      </p:sp>
      <p:sp>
        <p:nvSpPr>
          <p:cNvPr id="9" name="Text 7"/>
          <p:cNvSpPr/>
          <p:nvPr/>
        </p:nvSpPr>
        <p:spPr>
          <a:xfrm>
            <a:off x="566928" y="1783080"/>
            <a:ext cx="3639312" cy="493776"/>
          </a:xfrm>
          <a:prstGeom prst="rect">
            <a:avLst/>
          </a:prstGeom>
          <a:noFill/>
          <a:ln/>
        </p:spPr>
        <p:txBody>
          <a:bodyPr wrap="square" rtlCol="0" anchor="ctr"/>
          <a:lstStyle/>
          <a:p>
            <a:pPr marL="0" indent="0">
              <a:buNone/>
            </a:pPr>
            <a:r>
              <a:rPr lang="en-US" sz="900" dirty="0">
                <a:solidFill>
                  <a:srgbClr val="1C2833"/>
                </a:solidFill>
              </a:rPr>
              <a:t>Depuis 1992 : tout enfant &lt; 135 cm → siège auto ou réhausseur obligatoire.</a:t>
            </a:r>
            <a:endParaRPr lang="en-US" sz="900" dirty="0"/>
          </a:p>
        </p:txBody>
      </p:sp>
      <p:sp>
        <p:nvSpPr>
          <p:cNvPr id="10" name="Shape 8"/>
          <p:cNvSpPr/>
          <p:nvPr/>
        </p:nvSpPr>
        <p:spPr>
          <a:xfrm>
            <a:off x="411480" y="2587752"/>
            <a:ext cx="64008" cy="384048"/>
          </a:xfrm>
          <a:prstGeom prst="rect">
            <a:avLst/>
          </a:prstGeom>
          <a:solidFill>
            <a:srgbClr val="922B21"/>
          </a:solidFill>
          <a:ln w="12700">
            <a:solidFill>
              <a:srgbClr val="922B21"/>
            </a:solidFill>
            <a:prstDash val="solid"/>
          </a:ln>
        </p:spPr>
        <p:txBody>
          <a:bodyPr/>
          <a:lstStyle/>
          <a:p>
            <a:endParaRPr lang="fr-FR"/>
          </a:p>
        </p:txBody>
      </p:sp>
      <p:sp>
        <p:nvSpPr>
          <p:cNvPr id="11" name="Text 9"/>
          <p:cNvSpPr/>
          <p:nvPr/>
        </p:nvSpPr>
        <p:spPr>
          <a:xfrm>
            <a:off x="566928" y="2532888"/>
            <a:ext cx="3639312" cy="493776"/>
          </a:xfrm>
          <a:prstGeom prst="rect">
            <a:avLst/>
          </a:prstGeom>
          <a:noFill/>
          <a:ln/>
        </p:spPr>
        <p:txBody>
          <a:bodyPr wrap="square" rtlCol="0" anchor="ctr"/>
          <a:lstStyle/>
          <a:p>
            <a:pPr marL="0" indent="0">
              <a:buNone/>
            </a:pPr>
            <a:r>
              <a:rPr lang="en-US" sz="900" dirty="0">
                <a:solidFill>
                  <a:srgbClr val="1C2833"/>
                </a:solidFill>
              </a:rPr>
              <a:t>Enfants &lt; 10 ans : toujours à l'ARRIÈRE du véhicule.</a:t>
            </a:r>
            <a:endParaRPr lang="en-US" sz="900" dirty="0"/>
          </a:p>
        </p:txBody>
      </p:sp>
      <p:sp>
        <p:nvSpPr>
          <p:cNvPr id="12" name="Shape 10"/>
          <p:cNvSpPr/>
          <p:nvPr/>
        </p:nvSpPr>
        <p:spPr>
          <a:xfrm>
            <a:off x="411480" y="3337560"/>
            <a:ext cx="64008" cy="384048"/>
          </a:xfrm>
          <a:prstGeom prst="rect">
            <a:avLst/>
          </a:prstGeom>
          <a:solidFill>
            <a:srgbClr val="922B21"/>
          </a:solidFill>
          <a:ln w="12700">
            <a:solidFill>
              <a:srgbClr val="922B21"/>
            </a:solidFill>
            <a:prstDash val="solid"/>
          </a:ln>
        </p:spPr>
        <p:txBody>
          <a:bodyPr/>
          <a:lstStyle/>
          <a:p>
            <a:endParaRPr lang="fr-FR"/>
          </a:p>
        </p:txBody>
      </p:sp>
      <p:sp>
        <p:nvSpPr>
          <p:cNvPr id="13" name="Text 11"/>
          <p:cNvSpPr/>
          <p:nvPr/>
        </p:nvSpPr>
        <p:spPr>
          <a:xfrm>
            <a:off x="566928" y="3282696"/>
            <a:ext cx="3639312" cy="493776"/>
          </a:xfrm>
          <a:prstGeom prst="rect">
            <a:avLst/>
          </a:prstGeom>
          <a:noFill/>
          <a:ln/>
        </p:spPr>
        <p:txBody>
          <a:bodyPr wrap="square" rtlCol="0" anchor="ctr"/>
          <a:lstStyle/>
          <a:p>
            <a:pPr marL="0" indent="0">
              <a:buNone/>
            </a:pPr>
            <a:r>
              <a:rPr lang="en-US" sz="900" dirty="0">
                <a:solidFill>
                  <a:srgbClr val="1C2833"/>
                </a:solidFill>
              </a:rPr>
              <a:t>Exception à l'avant : siège dos à la route (airbag désactivé) · ou absence de siège arrière · ou sièges arrière déjà occupés.</a:t>
            </a:r>
            <a:endParaRPr lang="en-US" sz="900" dirty="0"/>
          </a:p>
        </p:txBody>
      </p:sp>
      <p:sp>
        <p:nvSpPr>
          <p:cNvPr id="14" name="Shape 12"/>
          <p:cNvSpPr/>
          <p:nvPr/>
        </p:nvSpPr>
        <p:spPr>
          <a:xfrm>
            <a:off x="411480" y="4087368"/>
            <a:ext cx="64008" cy="384048"/>
          </a:xfrm>
          <a:prstGeom prst="rect">
            <a:avLst/>
          </a:prstGeom>
          <a:solidFill>
            <a:srgbClr val="922B21"/>
          </a:solidFill>
          <a:ln w="12700">
            <a:solidFill>
              <a:srgbClr val="922B21"/>
            </a:solidFill>
            <a:prstDash val="solid"/>
          </a:ln>
        </p:spPr>
        <p:txBody>
          <a:bodyPr/>
          <a:lstStyle/>
          <a:p>
            <a:endParaRPr lang="fr-FR"/>
          </a:p>
        </p:txBody>
      </p:sp>
      <p:sp>
        <p:nvSpPr>
          <p:cNvPr id="15" name="Text 13"/>
          <p:cNvSpPr/>
          <p:nvPr/>
        </p:nvSpPr>
        <p:spPr>
          <a:xfrm>
            <a:off x="566928" y="4032504"/>
            <a:ext cx="3639312" cy="493776"/>
          </a:xfrm>
          <a:prstGeom prst="rect">
            <a:avLst/>
          </a:prstGeom>
          <a:noFill/>
          <a:ln/>
        </p:spPr>
        <p:txBody>
          <a:bodyPr wrap="square" rtlCol="0" anchor="ctr"/>
          <a:lstStyle/>
          <a:p>
            <a:pPr marL="0" indent="0">
              <a:buNone/>
            </a:pPr>
            <a:r>
              <a:rPr lang="en-US" sz="900" dirty="0">
                <a:solidFill>
                  <a:srgbClr val="1C2833"/>
                </a:solidFill>
              </a:rPr>
              <a:t>Normes de sécurité : ECE R44/03 ou ECE R44/04.</a:t>
            </a:r>
            <a:endParaRPr lang="en-US" sz="900" dirty="0"/>
          </a:p>
        </p:txBody>
      </p:sp>
      <p:sp>
        <p:nvSpPr>
          <p:cNvPr id="16" name="Text 14"/>
          <p:cNvSpPr/>
          <p:nvPr/>
        </p:nvSpPr>
        <p:spPr>
          <a:xfrm>
            <a:off x="411480" y="4590288"/>
            <a:ext cx="3840480" cy="320040"/>
          </a:xfrm>
          <a:prstGeom prst="rect">
            <a:avLst/>
          </a:prstGeom>
          <a:noFill/>
          <a:ln/>
        </p:spPr>
        <p:txBody>
          <a:bodyPr wrap="square" rtlCol="0" anchor="ctr"/>
          <a:lstStyle/>
          <a:p>
            <a:pPr marL="0" indent="0">
              <a:buNone/>
            </a:pPr>
            <a:r>
              <a:rPr lang="en-US" sz="900" i="1" dirty="0">
                <a:solidFill>
                  <a:srgbClr val="5D6D7E"/>
                </a:solidFill>
              </a:rPr>
              <a:t>🔒 ISOFIX : 2 pinces métalliques + 2 crochets — obligatoire depuis 2005.</a:t>
            </a:r>
            <a:endParaRPr lang="en-US" sz="900" dirty="0"/>
          </a:p>
        </p:txBody>
      </p:sp>
      <p:pic>
        <p:nvPicPr>
          <p:cNvPr id="17" name="Image 0" descr="preencoded.png"/>
          <p:cNvPicPr>
            <a:picLocks noChangeAspect="1"/>
          </p:cNvPicPr>
          <p:nvPr/>
        </p:nvPicPr>
        <p:blipFill>
          <a:blip r:embed="rId3"/>
          <a:stretch>
            <a:fillRect/>
          </a:stretch>
        </p:blipFill>
        <p:spPr>
          <a:xfrm>
            <a:off x="4663440" y="1644091"/>
            <a:ext cx="4206240" cy="2663647"/>
          </a:xfrm>
          <a:prstGeom prst="rect">
            <a:avLst/>
          </a:prstGeom>
        </p:spPr>
      </p:pic>
      <p:sp>
        <p:nvSpPr>
          <p:cNvPr id="18" name="Shape 15"/>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9" name="Text 16"/>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0" name="Text 17"/>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Règles de dépassement &amp; Véhicules prioritaires</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922B21"/>
                </a:solidFill>
              </a:rPr>
              <a:t>📏 Marges de dépassement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800600" y="1764792"/>
          <a:ext cx="4114800" cy="109728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74320">
                <a:tc>
                  <a:txBody>
                    <a:bodyPr/>
                    <a:lstStyle/>
                    <a:p>
                      <a:pPr marL="0" indent="0" algn="ctr">
                        <a:buNone/>
                      </a:pPr>
                      <a:r>
                        <a:rPr lang="en-US" sz="950" b="1" dirty="0">
                          <a:solidFill>
                            <a:srgbClr val="FFFFFF"/>
                          </a:solidFill>
                        </a:rPr>
                        <a:t>Usager</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marL="0" indent="0" algn="ctr">
                        <a:buNone/>
                      </a:pPr>
                      <a:r>
                        <a:rPr lang="en-US" sz="950" b="1" dirty="0">
                          <a:solidFill>
                            <a:srgbClr val="FFFFFF"/>
                          </a:solidFill>
                        </a:rPr>
                        <a:t>En agglo</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marL="0" indent="0" algn="ctr">
                        <a:buNone/>
                      </a:pPr>
                      <a:r>
                        <a:rPr lang="en-US" sz="950" b="1" dirty="0">
                          <a:solidFill>
                            <a:srgbClr val="FFFFFF"/>
                          </a:solidFill>
                        </a:rPr>
                        <a:t>Hors agglo</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extLst>
                  <a:ext uri="{0D108BD9-81ED-4DB2-BD59-A6C34878D82A}">
                    <a16:rowId xmlns:a16="http://schemas.microsoft.com/office/drawing/2014/main" val="10000"/>
                  </a:ext>
                </a:extLst>
              </a:tr>
              <a:tr h="274320">
                <a:tc>
                  <a:txBody>
                    <a:bodyPr/>
                    <a:lstStyle/>
                    <a:p>
                      <a:pPr marL="0" indent="0" algn="ctr">
                        <a:buNone/>
                      </a:pPr>
                      <a:r>
                        <a:rPr lang="en-US" sz="950" dirty="0">
                          <a:solidFill>
                            <a:srgbClr val="1C2833"/>
                          </a:solidFill>
                        </a:rPr>
                        <a:t>Piéton</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 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1,50 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274320">
                <a:tc>
                  <a:txBody>
                    <a:bodyPr/>
                    <a:lstStyle/>
                    <a:p>
                      <a:pPr marL="0" indent="0" algn="ctr">
                        <a:buNone/>
                      </a:pPr>
                      <a:r>
                        <a:rPr lang="en-US" sz="950" dirty="0">
                          <a:solidFill>
                            <a:srgbClr val="1C2833"/>
                          </a:solidFill>
                        </a:rPr>
                        <a:t>Deux-roues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 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1,50 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274320">
                <a:tc>
                  <a:txBody>
                    <a:bodyPr/>
                    <a:lstStyle/>
                    <a:p>
                      <a:pPr marL="0" indent="0" algn="ctr">
                        <a:buNone/>
                      </a:pPr>
                      <a:r>
                        <a:rPr lang="en-US" sz="950" dirty="0">
                          <a:solidFill>
                            <a:srgbClr val="1C2833"/>
                          </a:solidFill>
                        </a:rPr>
                        <a:t>Bus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Céder passage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Faciliter</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bl>
          </a:graphicData>
        </a:graphic>
      </p:graphicFrame>
      <p:sp>
        <p:nvSpPr>
          <p:cNvPr id="10" name="Text 6"/>
          <p:cNvSpPr/>
          <p:nvPr/>
        </p:nvSpPr>
        <p:spPr>
          <a:xfrm>
            <a:off x="4800600" y="2944368"/>
            <a:ext cx="3840480" cy="320040"/>
          </a:xfrm>
          <a:prstGeom prst="rect">
            <a:avLst/>
          </a:prstGeom>
          <a:noFill/>
          <a:ln/>
        </p:spPr>
        <p:txBody>
          <a:bodyPr wrap="square" rtlCol="0" anchor="ctr"/>
          <a:lstStyle/>
          <a:p>
            <a:pPr marL="0" indent="0">
              <a:buNone/>
            </a:pPr>
            <a:r>
              <a:rPr lang="en-US" sz="1100" b="1" dirty="0">
                <a:solidFill>
                  <a:srgbClr val="C0392B"/>
                </a:solidFill>
              </a:rPr>
              <a:t>🚨 Véhicules PRIORITAIRES</a:t>
            </a:r>
            <a:endParaRPr lang="en-US" sz="1100" dirty="0"/>
          </a:p>
        </p:txBody>
      </p:sp>
      <p:sp>
        <p:nvSpPr>
          <p:cNvPr id="11" name="Text 7"/>
          <p:cNvSpPr/>
          <p:nvPr/>
        </p:nvSpPr>
        <p:spPr>
          <a:xfrm>
            <a:off x="4800600" y="3310128"/>
            <a:ext cx="3840480" cy="548640"/>
          </a:xfrm>
          <a:prstGeom prst="rect">
            <a:avLst/>
          </a:prstGeom>
          <a:noFill/>
          <a:ln/>
        </p:spPr>
        <p:txBody>
          <a:bodyPr wrap="square" rtlCol="0" anchor="ctr"/>
          <a:lstStyle/>
          <a:p>
            <a:pPr marL="0" indent="0">
              <a:buNone/>
            </a:pPr>
            <a:r>
              <a:rPr lang="en-US" sz="900" dirty="0">
                <a:solidFill>
                  <a:srgbClr val="1C2833"/>
                </a:solidFill>
              </a:rPr>
              <a:t>Sirène 2 tons + feu bleu (simultanés)</a:t>
            </a:r>
            <a:endParaRPr lang="en-US" sz="900" dirty="0"/>
          </a:p>
          <a:p>
            <a:pPr marL="0" indent="0">
              <a:buNone/>
            </a:pPr>
            <a:r>
              <a:rPr lang="en-US" sz="900" dirty="0">
                <a:solidFill>
                  <a:srgbClr val="1C2833"/>
                </a:solidFill>
              </a:rPr>
              <a:t>→ Ralentir · s'arrêter · faciliter le passage.</a:t>
            </a:r>
            <a:endParaRPr lang="en-US" sz="900" dirty="0"/>
          </a:p>
        </p:txBody>
      </p:sp>
      <p:sp>
        <p:nvSpPr>
          <p:cNvPr id="12" name="Shape 8"/>
          <p:cNvSpPr/>
          <p:nvPr/>
        </p:nvSpPr>
        <p:spPr>
          <a:xfrm>
            <a:off x="4800600" y="3968496"/>
            <a:ext cx="64008" cy="384048"/>
          </a:xfrm>
          <a:prstGeom prst="rect">
            <a:avLst/>
          </a:prstGeom>
          <a:solidFill>
            <a:srgbClr val="C0392B"/>
          </a:solidFill>
          <a:ln w="12700">
            <a:solidFill>
              <a:srgbClr val="C0392B"/>
            </a:solidFill>
            <a:prstDash val="solid"/>
          </a:ln>
        </p:spPr>
        <p:txBody>
          <a:bodyPr/>
          <a:lstStyle/>
          <a:p>
            <a:endParaRPr lang="fr-FR"/>
          </a:p>
        </p:txBody>
      </p:sp>
      <p:sp>
        <p:nvSpPr>
          <p:cNvPr id="13" name="Text 9"/>
          <p:cNvSpPr/>
          <p:nvPr/>
        </p:nvSpPr>
        <p:spPr>
          <a:xfrm>
            <a:off x="4956048" y="3913632"/>
            <a:ext cx="3639312" cy="493776"/>
          </a:xfrm>
          <a:prstGeom prst="rect">
            <a:avLst/>
          </a:prstGeom>
          <a:noFill/>
          <a:ln/>
        </p:spPr>
        <p:txBody>
          <a:bodyPr wrap="square" rtlCol="0" anchor="ctr"/>
          <a:lstStyle/>
          <a:p>
            <a:pPr marL="0" indent="0">
              <a:buNone/>
            </a:pPr>
            <a:r>
              <a:rPr lang="en-US" sz="850" dirty="0">
                <a:solidFill>
                  <a:srgbClr val="1C2833"/>
                </a:solidFill>
              </a:rPr>
              <a:t>Police, gendarmerie, douanes</a:t>
            </a:r>
            <a:endParaRPr lang="en-US" sz="850" dirty="0"/>
          </a:p>
        </p:txBody>
      </p:sp>
      <p:sp>
        <p:nvSpPr>
          <p:cNvPr id="14" name="Shape 10"/>
          <p:cNvSpPr/>
          <p:nvPr/>
        </p:nvSpPr>
        <p:spPr>
          <a:xfrm>
            <a:off x="4800600" y="4224528"/>
            <a:ext cx="64008" cy="384048"/>
          </a:xfrm>
          <a:prstGeom prst="rect">
            <a:avLst/>
          </a:prstGeom>
          <a:solidFill>
            <a:srgbClr val="C0392B"/>
          </a:solidFill>
          <a:ln w="12700">
            <a:solidFill>
              <a:srgbClr val="C0392B"/>
            </a:solidFill>
            <a:prstDash val="solid"/>
          </a:ln>
        </p:spPr>
        <p:txBody>
          <a:bodyPr/>
          <a:lstStyle/>
          <a:p>
            <a:endParaRPr lang="fr-FR"/>
          </a:p>
        </p:txBody>
      </p:sp>
      <p:sp>
        <p:nvSpPr>
          <p:cNvPr id="15" name="Text 11"/>
          <p:cNvSpPr/>
          <p:nvPr/>
        </p:nvSpPr>
        <p:spPr>
          <a:xfrm>
            <a:off x="4956048" y="4169664"/>
            <a:ext cx="3639312" cy="493776"/>
          </a:xfrm>
          <a:prstGeom prst="rect">
            <a:avLst/>
          </a:prstGeom>
          <a:noFill/>
          <a:ln/>
        </p:spPr>
        <p:txBody>
          <a:bodyPr wrap="square" rtlCol="0" anchor="ctr"/>
          <a:lstStyle/>
          <a:p>
            <a:pPr marL="0" indent="0">
              <a:buNone/>
            </a:pPr>
            <a:r>
              <a:rPr lang="en-US" sz="850" dirty="0">
                <a:solidFill>
                  <a:srgbClr val="1C2833"/>
                </a:solidFill>
              </a:rPr>
              <a:t>Pompiers</a:t>
            </a:r>
            <a:endParaRPr lang="en-US" sz="850" dirty="0"/>
          </a:p>
        </p:txBody>
      </p:sp>
      <p:sp>
        <p:nvSpPr>
          <p:cNvPr id="16" name="Shape 12"/>
          <p:cNvSpPr/>
          <p:nvPr/>
        </p:nvSpPr>
        <p:spPr>
          <a:xfrm>
            <a:off x="4800600" y="4480560"/>
            <a:ext cx="64008" cy="384048"/>
          </a:xfrm>
          <a:prstGeom prst="rect">
            <a:avLst/>
          </a:prstGeom>
          <a:solidFill>
            <a:srgbClr val="C0392B"/>
          </a:solidFill>
          <a:ln w="12700">
            <a:solidFill>
              <a:srgbClr val="C0392B"/>
            </a:solidFill>
            <a:prstDash val="solid"/>
          </a:ln>
        </p:spPr>
        <p:txBody>
          <a:bodyPr/>
          <a:lstStyle/>
          <a:p>
            <a:endParaRPr lang="fr-FR"/>
          </a:p>
        </p:txBody>
      </p:sp>
      <p:sp>
        <p:nvSpPr>
          <p:cNvPr id="17" name="Text 13"/>
          <p:cNvSpPr/>
          <p:nvPr/>
        </p:nvSpPr>
        <p:spPr>
          <a:xfrm>
            <a:off x="4956048" y="4425696"/>
            <a:ext cx="3639312" cy="493776"/>
          </a:xfrm>
          <a:prstGeom prst="rect">
            <a:avLst/>
          </a:prstGeom>
          <a:noFill/>
          <a:ln/>
        </p:spPr>
        <p:txBody>
          <a:bodyPr wrap="square" rtlCol="0" anchor="ctr"/>
          <a:lstStyle/>
          <a:p>
            <a:pPr marL="0" indent="0">
              <a:buNone/>
            </a:pPr>
            <a:r>
              <a:rPr lang="en-US" sz="850" dirty="0">
                <a:solidFill>
                  <a:srgbClr val="1C2833"/>
                </a:solidFill>
              </a:rPr>
              <a:t>SAMU / SMUR</a:t>
            </a:r>
            <a:endParaRPr lang="en-US" sz="850" dirty="0"/>
          </a:p>
        </p:txBody>
      </p:sp>
      <p:sp>
        <p:nvSpPr>
          <p:cNvPr id="9" name="Shape 14"/>
          <p:cNvSpPr/>
          <p:nvPr/>
        </p:nvSpPr>
        <p:spPr>
          <a:xfrm>
            <a:off x="4800600" y="4736592"/>
            <a:ext cx="64008" cy="384048"/>
          </a:xfrm>
          <a:prstGeom prst="rect">
            <a:avLst/>
          </a:prstGeom>
          <a:solidFill>
            <a:srgbClr val="C0392B"/>
          </a:solidFill>
          <a:ln w="12700">
            <a:solidFill>
              <a:srgbClr val="C0392B"/>
            </a:solidFill>
            <a:prstDash val="solid"/>
          </a:ln>
        </p:spPr>
        <p:txBody>
          <a:bodyPr/>
          <a:lstStyle/>
          <a:p>
            <a:endParaRPr lang="fr-FR"/>
          </a:p>
        </p:txBody>
      </p:sp>
      <p:sp>
        <p:nvSpPr>
          <p:cNvPr id="19" name="Text 15"/>
          <p:cNvSpPr/>
          <p:nvPr/>
        </p:nvSpPr>
        <p:spPr>
          <a:xfrm>
            <a:off x="4956048" y="4681728"/>
            <a:ext cx="3639312" cy="493776"/>
          </a:xfrm>
          <a:prstGeom prst="rect">
            <a:avLst/>
          </a:prstGeom>
          <a:noFill/>
          <a:ln/>
        </p:spPr>
        <p:txBody>
          <a:bodyPr wrap="square" rtlCol="0" anchor="ctr"/>
          <a:lstStyle/>
          <a:p>
            <a:pPr marL="0" indent="0">
              <a:buNone/>
            </a:pPr>
            <a:r>
              <a:rPr lang="en-US" sz="850" dirty="0">
                <a:solidFill>
                  <a:srgbClr val="1C2833"/>
                </a:solidFill>
              </a:rPr>
              <a:t>Ambulances appelées par le SAMU</a:t>
            </a:r>
            <a:endParaRPr lang="en-US" sz="850" dirty="0"/>
          </a:p>
        </p:txBody>
      </p:sp>
      <p:sp>
        <p:nvSpPr>
          <p:cNvPr id="20" name="Shape 16"/>
          <p:cNvSpPr/>
          <p:nvPr/>
        </p:nvSpPr>
        <p:spPr>
          <a:xfrm>
            <a:off x="4800600" y="4992624"/>
            <a:ext cx="64008" cy="384048"/>
          </a:xfrm>
          <a:prstGeom prst="rect">
            <a:avLst/>
          </a:prstGeom>
          <a:solidFill>
            <a:srgbClr val="C0392B"/>
          </a:solidFill>
          <a:ln w="12700">
            <a:solidFill>
              <a:srgbClr val="C0392B"/>
            </a:solidFill>
            <a:prstDash val="solid"/>
          </a:ln>
        </p:spPr>
        <p:txBody>
          <a:bodyPr/>
          <a:lstStyle/>
          <a:p>
            <a:endParaRPr lang="fr-FR"/>
          </a:p>
        </p:txBody>
      </p:sp>
      <p:sp>
        <p:nvSpPr>
          <p:cNvPr id="21" name="Text 17"/>
          <p:cNvSpPr/>
          <p:nvPr/>
        </p:nvSpPr>
        <p:spPr>
          <a:xfrm>
            <a:off x="4956048" y="4937760"/>
            <a:ext cx="3639312" cy="493776"/>
          </a:xfrm>
          <a:prstGeom prst="rect">
            <a:avLst/>
          </a:prstGeom>
          <a:noFill/>
          <a:ln/>
        </p:spPr>
        <p:txBody>
          <a:bodyPr wrap="square" rtlCol="0" anchor="ctr"/>
          <a:lstStyle/>
          <a:p>
            <a:pPr marL="0" indent="0">
              <a:buNone/>
            </a:pPr>
            <a:r>
              <a:rPr lang="en-US" sz="850" dirty="0">
                <a:solidFill>
                  <a:srgbClr val="1C2833"/>
                </a:solidFill>
              </a:rPr>
              <a:t>Transport de détenus</a:t>
            </a:r>
            <a:endParaRPr lang="en-US" sz="850" dirty="0"/>
          </a:p>
        </p:txBody>
      </p:sp>
      <p:sp>
        <p:nvSpPr>
          <p:cNvPr id="22" name="Shape 1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3" name="Text 1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4" name="Text 2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Types de stationnements interdits &amp; Sanction VP</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Shape 5"/>
          <p:cNvSpPr/>
          <p:nvPr/>
        </p:nvSpPr>
        <p:spPr>
          <a:xfrm>
            <a:off x="4800600" y="1417320"/>
            <a:ext cx="4114800" cy="960120"/>
          </a:xfrm>
          <a:prstGeom prst="rect">
            <a:avLst/>
          </a:prstGeom>
          <a:solidFill>
            <a:srgbClr val="FFFFFF"/>
          </a:solidFill>
          <a:ln w="12700">
            <a:solidFill>
              <a:srgbClr val="D5D8DC"/>
            </a:solidFill>
            <a:prstDash val="solid"/>
          </a:ln>
        </p:spPr>
        <p:txBody>
          <a:bodyPr/>
          <a:lstStyle/>
          <a:p>
            <a:endParaRPr lang="fr-FR"/>
          </a:p>
        </p:txBody>
      </p:sp>
      <p:sp>
        <p:nvSpPr>
          <p:cNvPr id="9" name="Shape 6"/>
          <p:cNvSpPr/>
          <p:nvPr/>
        </p:nvSpPr>
        <p:spPr>
          <a:xfrm>
            <a:off x="4800600" y="1417320"/>
            <a:ext cx="4114800" cy="347472"/>
          </a:xfrm>
          <a:prstGeom prst="rect">
            <a:avLst/>
          </a:prstGeom>
          <a:solidFill>
            <a:srgbClr val="C0392B"/>
          </a:solidFill>
          <a:ln w="12700">
            <a:solidFill>
              <a:srgbClr val="C0392B"/>
            </a:solidFill>
            <a:prstDash val="solid"/>
          </a:ln>
        </p:spPr>
        <p:txBody>
          <a:bodyPr/>
          <a:lstStyle/>
          <a:p>
            <a:endParaRPr lang="fr-FR"/>
          </a:p>
        </p:txBody>
      </p:sp>
      <p:sp>
        <p:nvSpPr>
          <p:cNvPr id="10" name="Text 7"/>
          <p:cNvSpPr/>
          <p:nvPr/>
        </p:nvSpPr>
        <p:spPr>
          <a:xfrm>
            <a:off x="4892040" y="1417320"/>
            <a:ext cx="3931920" cy="347472"/>
          </a:xfrm>
          <a:prstGeom prst="rect">
            <a:avLst/>
          </a:prstGeom>
          <a:noFill/>
          <a:ln/>
        </p:spPr>
        <p:txBody>
          <a:bodyPr wrap="square" rtlCol="0" anchor="ctr"/>
          <a:lstStyle/>
          <a:p>
            <a:pPr marL="0" indent="0">
              <a:buNone/>
            </a:pPr>
            <a:r>
              <a:rPr lang="en-US" sz="900" b="1" dirty="0">
                <a:solidFill>
                  <a:srgbClr val="FFFFFF"/>
                </a:solidFill>
              </a:rPr>
              <a:t>DANGEREUX — Classe 4, 3 pts</a:t>
            </a:r>
            <a:endParaRPr lang="en-US" sz="900" dirty="0"/>
          </a:p>
        </p:txBody>
      </p:sp>
      <p:sp>
        <p:nvSpPr>
          <p:cNvPr id="11" name="Text 8"/>
          <p:cNvSpPr/>
          <p:nvPr/>
        </p:nvSpPr>
        <p:spPr>
          <a:xfrm>
            <a:off x="4892040" y="1801368"/>
            <a:ext cx="3931920" cy="521208"/>
          </a:xfrm>
          <a:prstGeom prst="rect">
            <a:avLst/>
          </a:prstGeom>
          <a:noFill/>
          <a:ln/>
        </p:spPr>
        <p:txBody>
          <a:bodyPr wrap="square" rtlCol="0" anchor="ctr"/>
          <a:lstStyle/>
          <a:p>
            <a:pPr marL="0" indent="0">
              <a:buNone/>
            </a:pPr>
            <a:r>
              <a:rPr lang="en-US" sz="850" dirty="0">
                <a:solidFill>
                  <a:srgbClr val="1C2833"/>
                </a:solidFill>
              </a:rPr>
              <a:t>Virages · sommets de côte · intersections · passages à niveaux · faible visibilité.</a:t>
            </a:r>
            <a:endParaRPr lang="en-US" sz="850" dirty="0"/>
          </a:p>
        </p:txBody>
      </p:sp>
      <p:sp>
        <p:nvSpPr>
          <p:cNvPr id="12" name="Shape 9"/>
          <p:cNvSpPr/>
          <p:nvPr/>
        </p:nvSpPr>
        <p:spPr>
          <a:xfrm>
            <a:off x="4800600" y="2514600"/>
            <a:ext cx="4114800" cy="960120"/>
          </a:xfrm>
          <a:prstGeom prst="rect">
            <a:avLst/>
          </a:prstGeom>
          <a:solidFill>
            <a:srgbClr val="FFFFFF"/>
          </a:solidFill>
          <a:ln w="12700">
            <a:solidFill>
              <a:srgbClr val="D5D8DC"/>
            </a:solidFill>
            <a:prstDash val="solid"/>
          </a:ln>
        </p:spPr>
        <p:txBody>
          <a:bodyPr/>
          <a:lstStyle/>
          <a:p>
            <a:endParaRPr lang="fr-FR"/>
          </a:p>
        </p:txBody>
      </p:sp>
      <p:sp>
        <p:nvSpPr>
          <p:cNvPr id="13" name="Shape 10"/>
          <p:cNvSpPr/>
          <p:nvPr/>
        </p:nvSpPr>
        <p:spPr>
          <a:xfrm>
            <a:off x="4800600" y="2514600"/>
            <a:ext cx="4114800" cy="347472"/>
          </a:xfrm>
          <a:prstGeom prst="rect">
            <a:avLst/>
          </a:prstGeom>
          <a:solidFill>
            <a:srgbClr val="922B21"/>
          </a:solidFill>
          <a:ln w="12700">
            <a:solidFill>
              <a:srgbClr val="922B21"/>
            </a:solidFill>
            <a:prstDash val="solid"/>
          </a:ln>
        </p:spPr>
        <p:txBody>
          <a:bodyPr/>
          <a:lstStyle/>
          <a:p>
            <a:endParaRPr lang="fr-FR"/>
          </a:p>
        </p:txBody>
      </p:sp>
      <p:sp>
        <p:nvSpPr>
          <p:cNvPr id="14" name="Text 11"/>
          <p:cNvSpPr/>
          <p:nvPr/>
        </p:nvSpPr>
        <p:spPr>
          <a:xfrm>
            <a:off x="4892040" y="2514600"/>
            <a:ext cx="3931920" cy="347472"/>
          </a:xfrm>
          <a:prstGeom prst="rect">
            <a:avLst/>
          </a:prstGeom>
          <a:noFill/>
          <a:ln/>
        </p:spPr>
        <p:txBody>
          <a:bodyPr wrap="square" rtlCol="0" anchor="ctr"/>
          <a:lstStyle/>
          <a:p>
            <a:pPr marL="0" indent="0">
              <a:buNone/>
            </a:pPr>
            <a:r>
              <a:rPr lang="en-US" sz="900" b="1" dirty="0">
                <a:solidFill>
                  <a:srgbClr val="FFFFFF"/>
                </a:solidFill>
              </a:rPr>
              <a:t>TRÈS GÊNANT — Classe 4</a:t>
            </a:r>
            <a:endParaRPr lang="en-US" sz="900" dirty="0"/>
          </a:p>
        </p:txBody>
      </p:sp>
      <p:sp>
        <p:nvSpPr>
          <p:cNvPr id="15" name="Text 12"/>
          <p:cNvSpPr/>
          <p:nvPr/>
        </p:nvSpPr>
        <p:spPr>
          <a:xfrm>
            <a:off x="4892040" y="2898648"/>
            <a:ext cx="3931920" cy="521208"/>
          </a:xfrm>
          <a:prstGeom prst="rect">
            <a:avLst/>
          </a:prstGeom>
          <a:noFill/>
          <a:ln/>
        </p:spPr>
        <p:txBody>
          <a:bodyPr wrap="square" rtlCol="0" anchor="ctr"/>
          <a:lstStyle/>
          <a:p>
            <a:pPr marL="0" indent="0">
              <a:buNone/>
            </a:pPr>
            <a:r>
              <a:rPr lang="en-US" sz="850" dirty="0">
                <a:solidFill>
                  <a:srgbClr val="1C2833"/>
                </a:solidFill>
              </a:rPr>
              <a:t>Passage piéton · trottoirs · voies vertes/pistes cyclables · voie bus/taxi · empl. PMR · transport de fonds.</a:t>
            </a:r>
            <a:endParaRPr lang="en-US" sz="850" dirty="0"/>
          </a:p>
        </p:txBody>
      </p:sp>
      <p:sp>
        <p:nvSpPr>
          <p:cNvPr id="16" name="Shape 13"/>
          <p:cNvSpPr/>
          <p:nvPr/>
        </p:nvSpPr>
        <p:spPr>
          <a:xfrm>
            <a:off x="4800600" y="3611880"/>
            <a:ext cx="4114800" cy="960120"/>
          </a:xfrm>
          <a:prstGeom prst="rect">
            <a:avLst/>
          </a:prstGeom>
          <a:solidFill>
            <a:srgbClr val="FFFFFF"/>
          </a:solidFill>
          <a:ln w="12700">
            <a:solidFill>
              <a:srgbClr val="D5D8DC"/>
            </a:solidFill>
            <a:prstDash val="solid"/>
          </a:ln>
        </p:spPr>
        <p:txBody>
          <a:bodyPr/>
          <a:lstStyle/>
          <a:p>
            <a:endParaRPr lang="fr-FR"/>
          </a:p>
        </p:txBody>
      </p:sp>
      <p:sp>
        <p:nvSpPr>
          <p:cNvPr id="17" name="Shape 14"/>
          <p:cNvSpPr/>
          <p:nvPr/>
        </p:nvSpPr>
        <p:spPr>
          <a:xfrm>
            <a:off x="4800600" y="3611880"/>
            <a:ext cx="4114800" cy="347472"/>
          </a:xfrm>
          <a:prstGeom prst="rect">
            <a:avLst/>
          </a:prstGeom>
          <a:solidFill>
            <a:srgbClr val="D35400"/>
          </a:solidFill>
          <a:ln w="12700">
            <a:solidFill>
              <a:srgbClr val="D35400"/>
            </a:solidFill>
            <a:prstDash val="solid"/>
          </a:ln>
        </p:spPr>
        <p:txBody>
          <a:bodyPr/>
          <a:lstStyle/>
          <a:p>
            <a:endParaRPr lang="fr-FR"/>
          </a:p>
        </p:txBody>
      </p:sp>
      <p:sp>
        <p:nvSpPr>
          <p:cNvPr id="18" name="Text 15"/>
          <p:cNvSpPr/>
          <p:nvPr/>
        </p:nvSpPr>
        <p:spPr>
          <a:xfrm>
            <a:off x="4892040" y="3611880"/>
            <a:ext cx="3931920" cy="347472"/>
          </a:xfrm>
          <a:prstGeom prst="rect">
            <a:avLst/>
          </a:prstGeom>
          <a:noFill/>
          <a:ln/>
        </p:spPr>
        <p:txBody>
          <a:bodyPr wrap="square" rtlCol="0" anchor="ctr"/>
          <a:lstStyle/>
          <a:p>
            <a:pPr marL="0" indent="0">
              <a:buNone/>
            </a:pPr>
            <a:r>
              <a:rPr lang="en-US" sz="900" b="1" dirty="0">
                <a:solidFill>
                  <a:srgbClr val="FFFFFF"/>
                </a:solidFill>
              </a:rPr>
              <a:t>GÊNANT — Classe 2</a:t>
            </a:r>
            <a:endParaRPr lang="en-US" sz="900" dirty="0"/>
          </a:p>
        </p:txBody>
      </p:sp>
      <p:sp>
        <p:nvSpPr>
          <p:cNvPr id="19" name="Text 16"/>
          <p:cNvSpPr/>
          <p:nvPr/>
        </p:nvSpPr>
        <p:spPr>
          <a:xfrm>
            <a:off x="4892040" y="3995928"/>
            <a:ext cx="3931920" cy="521208"/>
          </a:xfrm>
          <a:prstGeom prst="rect">
            <a:avLst/>
          </a:prstGeom>
          <a:noFill/>
          <a:ln/>
        </p:spPr>
        <p:txBody>
          <a:bodyPr wrap="square" rtlCol="0" anchor="ctr"/>
          <a:lstStyle/>
          <a:p>
            <a:pPr marL="0" indent="0">
              <a:buNone/>
            </a:pPr>
            <a:r>
              <a:rPr lang="en-US" sz="850" dirty="0">
                <a:solidFill>
                  <a:srgbClr val="1C2833"/>
                </a:solidFill>
              </a:rPr>
              <a:t>Borne recharge VE · pont · tunnel · entrée immeuble · livraison hors horaires · BAU.</a:t>
            </a:r>
            <a:endParaRPr lang="en-US" sz="850" dirty="0"/>
          </a:p>
        </p:txBody>
      </p:sp>
      <p:sp>
        <p:nvSpPr>
          <p:cNvPr id="20" name="Shape 17"/>
          <p:cNvSpPr/>
          <p:nvPr/>
        </p:nvSpPr>
        <p:spPr>
          <a:xfrm>
            <a:off x="4800600" y="4572000"/>
            <a:ext cx="4114800" cy="320040"/>
          </a:xfrm>
          <a:prstGeom prst="rect">
            <a:avLst/>
          </a:prstGeom>
          <a:solidFill>
            <a:srgbClr val="922B21"/>
          </a:solidFill>
          <a:ln w="12700">
            <a:solidFill>
              <a:srgbClr val="922B21"/>
            </a:solidFill>
            <a:prstDash val="solid"/>
          </a:ln>
        </p:spPr>
        <p:txBody>
          <a:bodyPr/>
          <a:lstStyle/>
          <a:p>
            <a:endParaRPr lang="fr-FR"/>
          </a:p>
        </p:txBody>
      </p:sp>
      <p:sp>
        <p:nvSpPr>
          <p:cNvPr id="21" name="Text 18"/>
          <p:cNvSpPr/>
          <p:nvPr/>
        </p:nvSpPr>
        <p:spPr>
          <a:xfrm>
            <a:off x="4846320" y="4572000"/>
            <a:ext cx="4023360" cy="320040"/>
          </a:xfrm>
          <a:prstGeom prst="rect">
            <a:avLst/>
          </a:prstGeom>
          <a:noFill/>
          <a:ln/>
        </p:spPr>
        <p:txBody>
          <a:bodyPr wrap="square" rtlCol="0" anchor="ctr"/>
          <a:lstStyle/>
          <a:p>
            <a:pPr marL="0" indent="0">
              <a:buNone/>
            </a:pPr>
            <a:r>
              <a:rPr lang="en-US" sz="850" b="1" dirty="0">
                <a:solidFill>
                  <a:srgbClr val="FFFFFF"/>
                </a:solidFill>
              </a:rPr>
              <a:t>Non-cession VP : 4 pts + 135€ + suspension jusqu'à 3 ans</a:t>
            </a:r>
            <a:endParaRPr lang="en-US" sz="850" dirty="0"/>
          </a:p>
        </p:txBody>
      </p:sp>
      <p:sp>
        <p:nvSpPr>
          <p:cNvPr id="22" name="Shape 19"/>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3" name="Text 20"/>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4" name="Text 21"/>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2 — COURS</a:t>
            </a:r>
            <a:endParaRPr lang="en-US" sz="850" dirty="0"/>
          </a:p>
        </p:txBody>
      </p:sp>
      <p:sp>
        <p:nvSpPr>
          <p:cNvPr id="4" name="Shape 2"/>
          <p:cNvSpPr/>
          <p:nvPr/>
        </p:nvSpPr>
        <p:spPr>
          <a:xfrm>
            <a:off x="0" y="512064"/>
            <a:ext cx="118872" cy="685800"/>
          </a:xfrm>
          <a:prstGeom prst="rect">
            <a:avLst/>
          </a:prstGeom>
          <a:solidFill>
            <a:srgbClr val="922B21"/>
          </a:solidFill>
          <a:ln w="12700">
            <a:solidFill>
              <a:srgbClr val="922B21"/>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Alcool au volant — Taux légaux &amp; Élimination</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922B21"/>
                </a:solidFill>
              </a:rPr>
              <a:t>⚖️ Taux légaux autorisés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800600" y="1764792"/>
          <a:ext cx="4114800" cy="1280160"/>
        </p:xfrm>
        <a:graphic>
          <a:graphicData uri="http://schemas.openxmlformats.org/drawingml/2006/table">
            <a:tbl>
              <a:tblPr/>
              <a:tblGrid>
                <a:gridCol w="16459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20040">
                <a:tc>
                  <a:txBody>
                    <a:bodyPr/>
                    <a:lstStyle/>
                    <a:p>
                      <a:pPr marL="0" indent="0">
                        <a:buNone/>
                      </a:pPr>
                      <a:r>
                        <a:rPr lang="en-US" sz="950" b="1" dirty="0">
                          <a:solidFill>
                            <a:srgbClr val="FFFFFF"/>
                          </a:solidFill>
                        </a:rPr>
                        <a:t>Conducteur</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marL="0" indent="0">
                        <a:buNone/>
                      </a:pPr>
                      <a:r>
                        <a:rPr lang="en-US" sz="950" b="1" dirty="0">
                          <a:solidFill>
                            <a:srgbClr val="FFFFFF"/>
                          </a:solidFill>
                        </a:rPr>
                        <a:t>Taux max</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extLst>
                  <a:ext uri="{0D108BD9-81ED-4DB2-BD59-A6C34878D82A}">
                    <a16:rowId xmlns:a16="http://schemas.microsoft.com/office/drawing/2014/main" val="10000"/>
                  </a:ext>
                </a:extLst>
              </a:tr>
              <a:tr h="320040">
                <a:tc>
                  <a:txBody>
                    <a:bodyPr/>
                    <a:lstStyle/>
                    <a:p>
                      <a:pPr marL="0" indent="0">
                        <a:buNone/>
                      </a:pPr>
                      <a:r>
                        <a:rPr lang="en-US" sz="950" dirty="0">
                          <a:solidFill>
                            <a:srgbClr val="1C2833"/>
                          </a:solidFill>
                        </a:rPr>
                        <a:t>Standard</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50" dirty="0">
                          <a:solidFill>
                            <a:srgbClr val="1C2833"/>
                          </a:solidFill>
                        </a:rPr>
                        <a:t>0,5 g/l de sang (0,25 mg/l air expiré)</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320040">
                <a:tc>
                  <a:txBody>
                    <a:bodyPr/>
                    <a:lstStyle/>
                    <a:p>
                      <a:pPr marL="0" indent="0">
                        <a:buNone/>
                      </a:pPr>
                      <a:r>
                        <a:rPr lang="en-US" sz="950" dirty="0">
                          <a:solidFill>
                            <a:srgbClr val="1C2833"/>
                          </a:solidFill>
                        </a:rPr>
                        <a:t>Permis probatoire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50" dirty="0">
                          <a:solidFill>
                            <a:srgbClr val="1C2833"/>
                          </a:solidFill>
                        </a:rPr>
                        <a:t>0,2 g/l de sang</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20040">
                <a:tc>
                  <a:txBody>
                    <a:bodyPr/>
                    <a:lstStyle/>
                    <a:p>
                      <a:pPr marL="0" indent="0">
                        <a:buNone/>
                      </a:pPr>
                      <a:r>
                        <a:rPr lang="en-US" sz="950" dirty="0">
                          <a:solidFill>
                            <a:srgbClr val="1C2833"/>
                          </a:solidFill>
                        </a:rPr>
                        <a:t>Taux délictuel</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50" dirty="0">
                          <a:solidFill>
                            <a:srgbClr val="1C2833"/>
                          </a:solidFill>
                        </a:rPr>
                        <a:t>≥ 0,8 g/l de sang</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bl>
          </a:graphicData>
        </a:graphic>
      </p:graphicFrame>
      <p:sp>
        <p:nvSpPr>
          <p:cNvPr id="10" name="Text 6"/>
          <p:cNvSpPr/>
          <p:nvPr/>
        </p:nvSpPr>
        <p:spPr>
          <a:xfrm>
            <a:off x="4800600" y="3127248"/>
            <a:ext cx="3840480" cy="320040"/>
          </a:xfrm>
          <a:prstGeom prst="rect">
            <a:avLst/>
          </a:prstGeom>
          <a:noFill/>
          <a:ln/>
        </p:spPr>
        <p:txBody>
          <a:bodyPr wrap="square" rtlCol="0" anchor="ctr"/>
          <a:lstStyle/>
          <a:p>
            <a:pPr marL="0" indent="0">
              <a:buNone/>
            </a:pPr>
            <a:r>
              <a:rPr lang="en-US" sz="1100" b="1" dirty="0">
                <a:solidFill>
                  <a:srgbClr val="922B21"/>
                </a:solidFill>
              </a:rPr>
              <a:t>⏱️ Élimination de l'alcool</a:t>
            </a:r>
            <a:endParaRPr lang="en-US" sz="1100" dirty="0"/>
          </a:p>
        </p:txBody>
      </p:sp>
      <p:sp>
        <p:nvSpPr>
          <p:cNvPr id="11" name="Text 7"/>
          <p:cNvSpPr/>
          <p:nvPr/>
        </p:nvSpPr>
        <p:spPr>
          <a:xfrm>
            <a:off x="4800600" y="3493008"/>
            <a:ext cx="3840480" cy="1051560"/>
          </a:xfrm>
          <a:prstGeom prst="rect">
            <a:avLst/>
          </a:prstGeom>
          <a:noFill/>
          <a:ln/>
        </p:spPr>
        <p:txBody>
          <a:bodyPr wrap="square" rtlCol="0" anchor="ctr"/>
          <a:lstStyle/>
          <a:p>
            <a:pPr marL="0" indent="0">
              <a:buNone/>
            </a:pPr>
            <a:r>
              <a:rPr lang="en-US" sz="900" dirty="0">
                <a:solidFill>
                  <a:srgbClr val="1C2833"/>
                </a:solidFill>
              </a:rPr>
              <a:t>Baisse de 0,10 à 0,15 g/l par heure.</a:t>
            </a:r>
            <a:endParaRPr lang="en-US" sz="900" dirty="0"/>
          </a:p>
          <a:p>
            <a:pPr marL="0" indent="0">
              <a:buNone/>
            </a:pPr>
            <a:endParaRPr lang="en-US" sz="900" dirty="0"/>
          </a:p>
          <a:p>
            <a:pPr marL="0" indent="0">
              <a:buNone/>
            </a:pPr>
            <a:r>
              <a:rPr lang="en-US" sz="900" dirty="0">
                <a:solidFill>
                  <a:srgbClr val="1C2833"/>
                </a:solidFill>
              </a:rPr>
              <a:t>Exemple : 6 heures pour éliminer 0,6 g/l.</a:t>
            </a:r>
            <a:endParaRPr lang="en-US" sz="900" dirty="0"/>
          </a:p>
          <a:p>
            <a:pPr marL="0" indent="0">
              <a:buNone/>
            </a:pPr>
            <a:endParaRPr lang="en-US" sz="900" dirty="0"/>
          </a:p>
          <a:p>
            <a:pPr marL="0" indent="0">
              <a:buNone/>
            </a:pPr>
            <a:r>
              <a:rPr lang="en-US" sz="900" dirty="0">
                <a:solidFill>
                  <a:srgbClr val="1C2833"/>
                </a:solidFill>
              </a:rPr>
              <a:t>Café, eau, sport = INEFFICACES.</a:t>
            </a:r>
            <a:endParaRPr lang="en-US" sz="900" dirty="0"/>
          </a:p>
          <a:p>
            <a:pPr marL="0" indent="0">
              <a:buNone/>
            </a:pPr>
            <a:endParaRPr lang="en-US" sz="900" dirty="0"/>
          </a:p>
          <a:p>
            <a:pPr marL="0" indent="0">
              <a:buNone/>
            </a:pPr>
            <a:r>
              <a:rPr lang="en-US" sz="900" dirty="0">
                <a:solidFill>
                  <a:srgbClr val="1C2833"/>
                </a:solidFill>
              </a:rPr>
              <a:t>Seule solution : ne pas boire avant de conduire.</a:t>
            </a:r>
            <a:endParaRPr lang="en-US" sz="900" dirty="0"/>
          </a:p>
        </p:txBody>
      </p:sp>
      <p:sp>
        <p:nvSpPr>
          <p:cNvPr id="12" name="Shape 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3" name="Text 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4" name="Text 1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922B21"/>
          </a:solidFill>
          <a:ln w="12700">
            <a:solidFill>
              <a:srgbClr val="922B21"/>
            </a:solidFill>
            <a:prstDash val="solid"/>
          </a:ln>
        </p:spPr>
        <p:txBody>
          <a:bodyPr/>
          <a:lstStyle/>
          <a:p>
            <a:endParaRPr lang="fr-FR"/>
          </a:p>
        </p:txBody>
      </p:sp>
      <p:sp>
        <p:nvSpPr>
          <p:cNvPr id="3" name="Text 1"/>
          <p:cNvSpPr/>
          <p:nvPr/>
        </p:nvSpPr>
        <p:spPr>
          <a:xfrm>
            <a:off x="365760" y="45720"/>
            <a:ext cx="7315200" cy="411480"/>
          </a:xfrm>
          <a:prstGeom prst="rect">
            <a:avLst/>
          </a:prstGeom>
          <a:noFill/>
          <a:ln/>
        </p:spPr>
        <p:txBody>
          <a:bodyPr wrap="square" rtlCol="0" anchor="ctr"/>
          <a:lstStyle/>
          <a:p>
            <a:pPr marL="0" indent="0">
              <a:buNone/>
            </a:pPr>
            <a:r>
              <a:rPr lang="en-US" sz="1400" b="1" kern="0" spc="500" dirty="0">
                <a:solidFill>
                  <a:srgbClr val="FFFFFF"/>
                </a:solidFill>
              </a:rPr>
              <a:t>SYNTHÈSE — PARTIE 2</a:t>
            </a:r>
            <a:endParaRPr lang="en-US" sz="1400" dirty="0"/>
          </a:p>
        </p:txBody>
      </p:sp>
      <p:sp>
        <p:nvSpPr>
          <p:cNvPr id="4" name="Text 2"/>
          <p:cNvSpPr/>
          <p:nvPr/>
        </p:nvSpPr>
        <p:spPr>
          <a:xfrm>
            <a:off x="365760" y="457200"/>
            <a:ext cx="7315200" cy="438912"/>
          </a:xfrm>
          <a:prstGeom prst="rect">
            <a:avLst/>
          </a:prstGeom>
          <a:noFill/>
          <a:ln/>
        </p:spPr>
        <p:txBody>
          <a:bodyPr wrap="square" rtlCol="0" anchor="ctr"/>
          <a:lstStyle/>
          <a:p>
            <a:pPr marL="0" indent="0">
              <a:buNone/>
            </a:pPr>
            <a:r>
              <a:rPr lang="en-US" sz="1600" i="1" dirty="0">
                <a:solidFill>
                  <a:srgbClr val="FFFFFF"/>
                </a:solidFill>
              </a:rPr>
              <a:t>Distances, Priorités &amp; Alcool — Points clés</a:t>
            </a:r>
            <a:endParaRPr lang="en-US" sz="1600" dirty="0"/>
          </a:p>
        </p:txBody>
      </p:sp>
      <p:sp>
        <p:nvSpPr>
          <p:cNvPr id="5" name="Shape 3"/>
          <p:cNvSpPr/>
          <p:nvPr/>
        </p:nvSpPr>
        <p:spPr>
          <a:xfrm>
            <a:off x="274320" y="1097280"/>
            <a:ext cx="4206240" cy="841248"/>
          </a:xfrm>
          <a:prstGeom prst="rect">
            <a:avLst/>
          </a:prstGeom>
          <a:solidFill>
            <a:srgbClr val="22303C"/>
          </a:solidFill>
          <a:ln w="12700">
            <a:solidFill>
              <a:srgbClr val="922B21"/>
            </a:solidFill>
            <a:prstDash val="solid"/>
          </a:ln>
        </p:spPr>
        <p:txBody>
          <a:bodyPr/>
          <a:lstStyle/>
          <a:p>
            <a:endParaRPr lang="fr-FR"/>
          </a:p>
        </p:txBody>
      </p:sp>
      <p:sp>
        <p:nvSpPr>
          <p:cNvPr id="6" name="Shape 4"/>
          <p:cNvSpPr/>
          <p:nvPr/>
        </p:nvSpPr>
        <p:spPr>
          <a:xfrm>
            <a:off x="274320" y="1097280"/>
            <a:ext cx="109728" cy="841248"/>
          </a:xfrm>
          <a:prstGeom prst="rect">
            <a:avLst/>
          </a:prstGeom>
          <a:solidFill>
            <a:srgbClr val="922B21"/>
          </a:solidFill>
          <a:ln w="12700">
            <a:solidFill>
              <a:srgbClr val="922B21"/>
            </a:solidFill>
            <a:prstDash val="solid"/>
          </a:ln>
        </p:spPr>
        <p:txBody>
          <a:bodyPr/>
          <a:lstStyle/>
          <a:p>
            <a:endParaRPr lang="fr-FR"/>
          </a:p>
        </p:txBody>
      </p:sp>
      <p:sp>
        <p:nvSpPr>
          <p:cNvPr id="7" name="Text 5"/>
          <p:cNvSpPr/>
          <p:nvPr/>
        </p:nvSpPr>
        <p:spPr>
          <a:xfrm>
            <a:off x="475488" y="1133856"/>
            <a:ext cx="3886200" cy="274320"/>
          </a:xfrm>
          <a:prstGeom prst="rect">
            <a:avLst/>
          </a:prstGeom>
          <a:noFill/>
          <a:ln/>
        </p:spPr>
        <p:txBody>
          <a:bodyPr wrap="square" rtlCol="0" anchor="ctr"/>
          <a:lstStyle/>
          <a:p>
            <a:pPr marL="0" indent="0">
              <a:buNone/>
            </a:pPr>
            <a:r>
              <a:rPr lang="en-US" sz="1000" b="1" dirty="0">
                <a:solidFill>
                  <a:srgbClr val="D35400"/>
                </a:solidFill>
              </a:rPr>
              <a:t>Distance de réaction</a:t>
            </a:r>
            <a:endParaRPr lang="en-US" sz="1000" dirty="0"/>
          </a:p>
        </p:txBody>
      </p:sp>
      <p:sp>
        <p:nvSpPr>
          <p:cNvPr id="8" name="Text 6"/>
          <p:cNvSpPr/>
          <p:nvPr/>
        </p:nvSpPr>
        <p:spPr>
          <a:xfrm>
            <a:off x="475488" y="1426464"/>
            <a:ext cx="3886200" cy="457200"/>
          </a:xfrm>
          <a:prstGeom prst="rect">
            <a:avLst/>
          </a:prstGeom>
          <a:noFill/>
          <a:ln/>
        </p:spPr>
        <p:txBody>
          <a:bodyPr wrap="square" rtlCol="0" anchor="ctr"/>
          <a:lstStyle/>
          <a:p>
            <a:pPr marL="0" indent="0">
              <a:buNone/>
            </a:pPr>
            <a:r>
              <a:rPr lang="en-US" sz="850" dirty="0">
                <a:solidFill>
                  <a:srgbClr val="D5D8DC"/>
                </a:solidFill>
              </a:rPr>
              <a:t>Dizaines × 3 — Ex : 80 km/h → 24 m (1 seconde de temps de réaction)</a:t>
            </a:r>
            <a:endParaRPr lang="en-US" sz="850" dirty="0"/>
          </a:p>
        </p:txBody>
      </p:sp>
      <p:sp>
        <p:nvSpPr>
          <p:cNvPr id="9" name="Shape 7"/>
          <p:cNvSpPr/>
          <p:nvPr/>
        </p:nvSpPr>
        <p:spPr>
          <a:xfrm>
            <a:off x="4754880" y="1097280"/>
            <a:ext cx="4206240" cy="841248"/>
          </a:xfrm>
          <a:prstGeom prst="rect">
            <a:avLst/>
          </a:prstGeom>
          <a:solidFill>
            <a:srgbClr val="22303C"/>
          </a:solidFill>
          <a:ln w="12700">
            <a:solidFill>
              <a:srgbClr val="922B21"/>
            </a:solidFill>
            <a:prstDash val="solid"/>
          </a:ln>
        </p:spPr>
        <p:txBody>
          <a:bodyPr/>
          <a:lstStyle/>
          <a:p>
            <a:endParaRPr lang="fr-FR"/>
          </a:p>
        </p:txBody>
      </p:sp>
      <p:sp>
        <p:nvSpPr>
          <p:cNvPr id="10" name="Shape 8"/>
          <p:cNvSpPr/>
          <p:nvPr/>
        </p:nvSpPr>
        <p:spPr>
          <a:xfrm>
            <a:off x="4754880" y="1097280"/>
            <a:ext cx="109728" cy="841248"/>
          </a:xfrm>
          <a:prstGeom prst="rect">
            <a:avLst/>
          </a:prstGeom>
          <a:solidFill>
            <a:srgbClr val="922B21"/>
          </a:solidFill>
          <a:ln w="12700">
            <a:solidFill>
              <a:srgbClr val="922B21"/>
            </a:solidFill>
            <a:prstDash val="solid"/>
          </a:ln>
        </p:spPr>
        <p:txBody>
          <a:bodyPr/>
          <a:lstStyle/>
          <a:p>
            <a:endParaRPr lang="fr-FR"/>
          </a:p>
        </p:txBody>
      </p:sp>
      <p:sp>
        <p:nvSpPr>
          <p:cNvPr id="11" name="Text 9"/>
          <p:cNvSpPr/>
          <p:nvPr/>
        </p:nvSpPr>
        <p:spPr>
          <a:xfrm>
            <a:off x="4956048" y="1133856"/>
            <a:ext cx="3886200" cy="274320"/>
          </a:xfrm>
          <a:prstGeom prst="rect">
            <a:avLst/>
          </a:prstGeom>
          <a:noFill/>
          <a:ln/>
        </p:spPr>
        <p:txBody>
          <a:bodyPr wrap="square" rtlCol="0" anchor="ctr"/>
          <a:lstStyle/>
          <a:p>
            <a:pPr marL="0" indent="0">
              <a:buNone/>
            </a:pPr>
            <a:r>
              <a:rPr lang="en-US" sz="1000" b="1" dirty="0">
                <a:solidFill>
                  <a:srgbClr val="D35400"/>
                </a:solidFill>
              </a:rPr>
              <a:t>Distance d'arrêt sèche</a:t>
            </a:r>
            <a:endParaRPr lang="en-US" sz="1000" dirty="0"/>
          </a:p>
        </p:txBody>
      </p:sp>
      <p:sp>
        <p:nvSpPr>
          <p:cNvPr id="12" name="Text 10"/>
          <p:cNvSpPr/>
          <p:nvPr/>
        </p:nvSpPr>
        <p:spPr>
          <a:xfrm>
            <a:off x="4956048" y="1426464"/>
            <a:ext cx="3886200" cy="457200"/>
          </a:xfrm>
          <a:prstGeom prst="rect">
            <a:avLst/>
          </a:prstGeom>
          <a:noFill/>
          <a:ln/>
        </p:spPr>
        <p:txBody>
          <a:bodyPr wrap="square" rtlCol="0" anchor="ctr"/>
          <a:lstStyle/>
          <a:p>
            <a:pPr marL="0" indent="0">
              <a:buNone/>
            </a:pPr>
            <a:r>
              <a:rPr lang="en-US" sz="850" dirty="0">
                <a:solidFill>
                  <a:srgbClr val="D5D8DC"/>
                </a:solidFill>
              </a:rPr>
              <a:t>Dizaines × Dizaines — 50→25m / 100→100m / 130→169m</a:t>
            </a:r>
            <a:endParaRPr lang="en-US" sz="850" dirty="0"/>
          </a:p>
        </p:txBody>
      </p:sp>
      <p:sp>
        <p:nvSpPr>
          <p:cNvPr id="13" name="Shape 11"/>
          <p:cNvSpPr/>
          <p:nvPr/>
        </p:nvSpPr>
        <p:spPr>
          <a:xfrm>
            <a:off x="274320" y="2057400"/>
            <a:ext cx="4206240" cy="841248"/>
          </a:xfrm>
          <a:prstGeom prst="rect">
            <a:avLst/>
          </a:prstGeom>
          <a:solidFill>
            <a:srgbClr val="22303C"/>
          </a:solidFill>
          <a:ln w="12700">
            <a:solidFill>
              <a:srgbClr val="922B21"/>
            </a:solidFill>
            <a:prstDash val="solid"/>
          </a:ln>
        </p:spPr>
        <p:txBody>
          <a:bodyPr/>
          <a:lstStyle/>
          <a:p>
            <a:endParaRPr lang="fr-FR"/>
          </a:p>
        </p:txBody>
      </p:sp>
      <p:sp>
        <p:nvSpPr>
          <p:cNvPr id="14" name="Shape 12"/>
          <p:cNvSpPr/>
          <p:nvPr/>
        </p:nvSpPr>
        <p:spPr>
          <a:xfrm>
            <a:off x="274320" y="2057400"/>
            <a:ext cx="109728" cy="841248"/>
          </a:xfrm>
          <a:prstGeom prst="rect">
            <a:avLst/>
          </a:prstGeom>
          <a:solidFill>
            <a:srgbClr val="922B21"/>
          </a:solidFill>
          <a:ln w="12700">
            <a:solidFill>
              <a:srgbClr val="922B21"/>
            </a:solidFill>
            <a:prstDash val="solid"/>
          </a:ln>
        </p:spPr>
        <p:txBody>
          <a:bodyPr/>
          <a:lstStyle/>
          <a:p>
            <a:endParaRPr lang="fr-FR"/>
          </a:p>
        </p:txBody>
      </p:sp>
      <p:sp>
        <p:nvSpPr>
          <p:cNvPr id="15" name="Text 13"/>
          <p:cNvSpPr/>
          <p:nvPr/>
        </p:nvSpPr>
        <p:spPr>
          <a:xfrm>
            <a:off x="475488" y="2093976"/>
            <a:ext cx="3886200" cy="274320"/>
          </a:xfrm>
          <a:prstGeom prst="rect">
            <a:avLst/>
          </a:prstGeom>
          <a:noFill/>
          <a:ln/>
        </p:spPr>
        <p:txBody>
          <a:bodyPr wrap="square" rtlCol="0" anchor="ctr"/>
          <a:lstStyle/>
          <a:p>
            <a:pPr marL="0" indent="0">
              <a:buNone/>
            </a:pPr>
            <a:r>
              <a:rPr lang="en-US" sz="1000" b="1" dirty="0">
                <a:solidFill>
                  <a:srgbClr val="D35400"/>
                </a:solidFill>
              </a:rPr>
              <a:t>Route mouillée</a:t>
            </a:r>
            <a:endParaRPr lang="en-US" sz="1000" dirty="0"/>
          </a:p>
        </p:txBody>
      </p:sp>
      <p:sp>
        <p:nvSpPr>
          <p:cNvPr id="16" name="Text 14"/>
          <p:cNvSpPr/>
          <p:nvPr/>
        </p:nvSpPr>
        <p:spPr>
          <a:xfrm>
            <a:off x="475488" y="2386584"/>
            <a:ext cx="3886200" cy="457200"/>
          </a:xfrm>
          <a:prstGeom prst="rect">
            <a:avLst/>
          </a:prstGeom>
          <a:noFill/>
          <a:ln/>
        </p:spPr>
        <p:txBody>
          <a:bodyPr wrap="square" rtlCol="0" anchor="ctr"/>
          <a:lstStyle/>
          <a:p>
            <a:pPr marL="0" indent="0">
              <a:buNone/>
            </a:pPr>
            <a:r>
              <a:rPr lang="en-US" sz="850" dirty="0">
                <a:solidFill>
                  <a:srgbClr val="D5D8DC"/>
                </a:solidFill>
              </a:rPr>
              <a:t>Distance sèche × 1,5 — Ex : 100 km/h → 150 m</a:t>
            </a:r>
            <a:endParaRPr lang="en-US" sz="850" dirty="0"/>
          </a:p>
        </p:txBody>
      </p:sp>
      <p:sp>
        <p:nvSpPr>
          <p:cNvPr id="17" name="Shape 15"/>
          <p:cNvSpPr/>
          <p:nvPr/>
        </p:nvSpPr>
        <p:spPr>
          <a:xfrm>
            <a:off x="4754880" y="2057400"/>
            <a:ext cx="4206240" cy="841248"/>
          </a:xfrm>
          <a:prstGeom prst="rect">
            <a:avLst/>
          </a:prstGeom>
          <a:solidFill>
            <a:srgbClr val="22303C"/>
          </a:solidFill>
          <a:ln w="12700">
            <a:solidFill>
              <a:srgbClr val="922B21"/>
            </a:solidFill>
            <a:prstDash val="solid"/>
          </a:ln>
        </p:spPr>
        <p:txBody>
          <a:bodyPr/>
          <a:lstStyle/>
          <a:p>
            <a:endParaRPr lang="fr-FR"/>
          </a:p>
        </p:txBody>
      </p:sp>
      <p:sp>
        <p:nvSpPr>
          <p:cNvPr id="18" name="Shape 16"/>
          <p:cNvSpPr/>
          <p:nvPr/>
        </p:nvSpPr>
        <p:spPr>
          <a:xfrm>
            <a:off x="4754880" y="2057400"/>
            <a:ext cx="109728" cy="841248"/>
          </a:xfrm>
          <a:prstGeom prst="rect">
            <a:avLst/>
          </a:prstGeom>
          <a:solidFill>
            <a:srgbClr val="922B21"/>
          </a:solidFill>
          <a:ln w="12700">
            <a:solidFill>
              <a:srgbClr val="922B21"/>
            </a:solidFill>
            <a:prstDash val="solid"/>
          </a:ln>
        </p:spPr>
        <p:txBody>
          <a:bodyPr/>
          <a:lstStyle/>
          <a:p>
            <a:endParaRPr lang="fr-FR"/>
          </a:p>
        </p:txBody>
      </p:sp>
      <p:sp>
        <p:nvSpPr>
          <p:cNvPr id="19" name="Text 17"/>
          <p:cNvSpPr/>
          <p:nvPr/>
        </p:nvSpPr>
        <p:spPr>
          <a:xfrm>
            <a:off x="4956048" y="2093976"/>
            <a:ext cx="3886200" cy="274320"/>
          </a:xfrm>
          <a:prstGeom prst="rect">
            <a:avLst/>
          </a:prstGeom>
          <a:noFill/>
          <a:ln/>
        </p:spPr>
        <p:txBody>
          <a:bodyPr wrap="square" rtlCol="0" anchor="ctr"/>
          <a:lstStyle/>
          <a:p>
            <a:pPr marL="0" indent="0">
              <a:buNone/>
            </a:pPr>
            <a:r>
              <a:rPr lang="en-US" sz="1000" b="1" dirty="0">
                <a:solidFill>
                  <a:srgbClr val="D35400"/>
                </a:solidFill>
              </a:rPr>
              <a:t>Intervalle de sécurité</a:t>
            </a:r>
            <a:endParaRPr lang="en-US" sz="1000" dirty="0"/>
          </a:p>
        </p:txBody>
      </p:sp>
      <p:sp>
        <p:nvSpPr>
          <p:cNvPr id="20" name="Text 18"/>
          <p:cNvSpPr/>
          <p:nvPr/>
        </p:nvSpPr>
        <p:spPr>
          <a:xfrm>
            <a:off x="4956048" y="2386584"/>
            <a:ext cx="3886200" cy="457200"/>
          </a:xfrm>
          <a:prstGeom prst="rect">
            <a:avLst/>
          </a:prstGeom>
          <a:noFill/>
          <a:ln/>
        </p:spPr>
        <p:txBody>
          <a:bodyPr wrap="square" rtlCol="0" anchor="ctr"/>
          <a:lstStyle/>
          <a:p>
            <a:pPr marL="0" indent="0">
              <a:buNone/>
            </a:pPr>
            <a:r>
              <a:rPr lang="en-US" sz="850" dirty="0">
                <a:solidFill>
                  <a:srgbClr val="D5D8DC"/>
                </a:solidFill>
              </a:rPr>
              <a:t>Min. 2 secondes : 50 km/h→30m / 100 km/h→60m</a:t>
            </a:r>
            <a:endParaRPr lang="en-US" sz="850" dirty="0"/>
          </a:p>
        </p:txBody>
      </p:sp>
      <p:sp>
        <p:nvSpPr>
          <p:cNvPr id="21" name="Shape 19"/>
          <p:cNvSpPr/>
          <p:nvPr/>
        </p:nvSpPr>
        <p:spPr>
          <a:xfrm>
            <a:off x="274320" y="3017520"/>
            <a:ext cx="4206240" cy="841248"/>
          </a:xfrm>
          <a:prstGeom prst="rect">
            <a:avLst/>
          </a:prstGeom>
          <a:solidFill>
            <a:srgbClr val="22303C"/>
          </a:solidFill>
          <a:ln w="12700">
            <a:solidFill>
              <a:srgbClr val="922B21"/>
            </a:solidFill>
            <a:prstDash val="solid"/>
          </a:ln>
        </p:spPr>
        <p:txBody>
          <a:bodyPr/>
          <a:lstStyle/>
          <a:p>
            <a:endParaRPr lang="fr-FR"/>
          </a:p>
        </p:txBody>
      </p:sp>
      <p:sp>
        <p:nvSpPr>
          <p:cNvPr id="22" name="Shape 20"/>
          <p:cNvSpPr/>
          <p:nvPr/>
        </p:nvSpPr>
        <p:spPr>
          <a:xfrm>
            <a:off x="274320" y="3017520"/>
            <a:ext cx="109728" cy="841248"/>
          </a:xfrm>
          <a:prstGeom prst="rect">
            <a:avLst/>
          </a:prstGeom>
          <a:solidFill>
            <a:srgbClr val="922B21"/>
          </a:solidFill>
          <a:ln w="12700">
            <a:solidFill>
              <a:srgbClr val="922B21"/>
            </a:solidFill>
            <a:prstDash val="solid"/>
          </a:ln>
        </p:spPr>
        <p:txBody>
          <a:bodyPr/>
          <a:lstStyle/>
          <a:p>
            <a:endParaRPr lang="fr-FR"/>
          </a:p>
        </p:txBody>
      </p:sp>
      <p:sp>
        <p:nvSpPr>
          <p:cNvPr id="23" name="Text 21"/>
          <p:cNvSpPr/>
          <p:nvPr/>
        </p:nvSpPr>
        <p:spPr>
          <a:xfrm>
            <a:off x="475488" y="3054096"/>
            <a:ext cx="3886200" cy="274320"/>
          </a:xfrm>
          <a:prstGeom prst="rect">
            <a:avLst/>
          </a:prstGeom>
          <a:noFill/>
          <a:ln/>
        </p:spPr>
        <p:txBody>
          <a:bodyPr wrap="square" rtlCol="0" anchor="ctr"/>
          <a:lstStyle/>
          <a:p>
            <a:pPr marL="0" indent="0">
              <a:buNone/>
            </a:pPr>
            <a:r>
              <a:rPr lang="en-US" sz="1000" b="1" dirty="0">
                <a:solidFill>
                  <a:srgbClr val="D35400"/>
                </a:solidFill>
              </a:rPr>
              <a:t>Véhicules prioritaires</a:t>
            </a:r>
            <a:endParaRPr lang="en-US" sz="1000" dirty="0"/>
          </a:p>
        </p:txBody>
      </p:sp>
      <p:sp>
        <p:nvSpPr>
          <p:cNvPr id="24" name="Text 22"/>
          <p:cNvSpPr/>
          <p:nvPr/>
        </p:nvSpPr>
        <p:spPr>
          <a:xfrm>
            <a:off x="475488" y="3346704"/>
            <a:ext cx="3886200" cy="457200"/>
          </a:xfrm>
          <a:prstGeom prst="rect">
            <a:avLst/>
          </a:prstGeom>
          <a:noFill/>
          <a:ln/>
        </p:spPr>
        <p:txBody>
          <a:bodyPr wrap="square" rtlCol="0" anchor="ctr"/>
          <a:lstStyle/>
          <a:p>
            <a:pPr marL="0" indent="0">
              <a:buNone/>
            </a:pPr>
            <a:r>
              <a:rPr lang="en-US" sz="850" dirty="0">
                <a:solidFill>
                  <a:srgbClr val="D5D8DC"/>
                </a:solidFill>
              </a:rPr>
              <a:t>Sirène + feu bleu → s'arrêter. Non-respect : 4 pts + 135€</a:t>
            </a:r>
            <a:endParaRPr lang="en-US" sz="850" dirty="0"/>
          </a:p>
        </p:txBody>
      </p:sp>
      <p:sp>
        <p:nvSpPr>
          <p:cNvPr id="25" name="Shape 23"/>
          <p:cNvSpPr/>
          <p:nvPr/>
        </p:nvSpPr>
        <p:spPr>
          <a:xfrm>
            <a:off x="4754880" y="3017520"/>
            <a:ext cx="4206240" cy="841248"/>
          </a:xfrm>
          <a:prstGeom prst="rect">
            <a:avLst/>
          </a:prstGeom>
          <a:solidFill>
            <a:srgbClr val="22303C"/>
          </a:solidFill>
          <a:ln w="12700">
            <a:solidFill>
              <a:srgbClr val="922B21"/>
            </a:solidFill>
            <a:prstDash val="solid"/>
          </a:ln>
        </p:spPr>
        <p:txBody>
          <a:bodyPr/>
          <a:lstStyle/>
          <a:p>
            <a:endParaRPr lang="fr-FR"/>
          </a:p>
        </p:txBody>
      </p:sp>
      <p:sp>
        <p:nvSpPr>
          <p:cNvPr id="26" name="Shape 24"/>
          <p:cNvSpPr/>
          <p:nvPr/>
        </p:nvSpPr>
        <p:spPr>
          <a:xfrm>
            <a:off x="4754880" y="3017520"/>
            <a:ext cx="109728" cy="841248"/>
          </a:xfrm>
          <a:prstGeom prst="rect">
            <a:avLst/>
          </a:prstGeom>
          <a:solidFill>
            <a:srgbClr val="922B21"/>
          </a:solidFill>
          <a:ln w="12700">
            <a:solidFill>
              <a:srgbClr val="922B21"/>
            </a:solidFill>
            <a:prstDash val="solid"/>
          </a:ln>
        </p:spPr>
        <p:txBody>
          <a:bodyPr/>
          <a:lstStyle/>
          <a:p>
            <a:endParaRPr lang="fr-FR"/>
          </a:p>
        </p:txBody>
      </p:sp>
      <p:sp>
        <p:nvSpPr>
          <p:cNvPr id="27" name="Text 25"/>
          <p:cNvSpPr/>
          <p:nvPr/>
        </p:nvSpPr>
        <p:spPr>
          <a:xfrm>
            <a:off x="4956048" y="3054096"/>
            <a:ext cx="3886200" cy="274320"/>
          </a:xfrm>
          <a:prstGeom prst="rect">
            <a:avLst/>
          </a:prstGeom>
          <a:noFill/>
          <a:ln/>
        </p:spPr>
        <p:txBody>
          <a:bodyPr wrap="square" rtlCol="0" anchor="ctr"/>
          <a:lstStyle/>
          <a:p>
            <a:pPr marL="0" indent="0">
              <a:buNone/>
            </a:pPr>
            <a:r>
              <a:rPr lang="en-US" sz="1000" b="1" dirty="0">
                <a:solidFill>
                  <a:srgbClr val="D35400"/>
                </a:solidFill>
              </a:rPr>
              <a:t>Alcool</a:t>
            </a:r>
            <a:endParaRPr lang="en-US" sz="1000" dirty="0"/>
          </a:p>
        </p:txBody>
      </p:sp>
      <p:sp>
        <p:nvSpPr>
          <p:cNvPr id="28" name="Text 26"/>
          <p:cNvSpPr/>
          <p:nvPr/>
        </p:nvSpPr>
        <p:spPr>
          <a:xfrm>
            <a:off x="4956048" y="3346704"/>
            <a:ext cx="3886200" cy="457200"/>
          </a:xfrm>
          <a:prstGeom prst="rect">
            <a:avLst/>
          </a:prstGeom>
          <a:noFill/>
          <a:ln/>
        </p:spPr>
        <p:txBody>
          <a:bodyPr wrap="square" rtlCol="0" anchor="ctr"/>
          <a:lstStyle/>
          <a:p>
            <a:pPr marL="0" indent="0">
              <a:buNone/>
            </a:pPr>
            <a:r>
              <a:rPr lang="en-US" sz="850" dirty="0">
                <a:solidFill>
                  <a:srgbClr val="D5D8DC"/>
                </a:solidFill>
              </a:rPr>
              <a:t>0,5 g/l (standard) · 0,2 g/l (probatoire) · élimination 0,10-0,15 g/l/h</a:t>
            </a:r>
            <a:endParaRPr lang="en-US" sz="850" dirty="0"/>
          </a:p>
        </p:txBody>
      </p:sp>
      <p:sp>
        <p:nvSpPr>
          <p:cNvPr id="29" name="Shape 2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0" name="Text 2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1" name="Text 2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35400"/>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FFFFFF"/>
          </a:solidFill>
          <a:ln w="12700">
            <a:solidFill>
              <a:srgbClr val="FFFFFF"/>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1C2833"/>
          </a:solidFill>
          <a:ln w="12700">
            <a:solidFill>
              <a:srgbClr val="1C2833"/>
            </a:solidFill>
            <a:prstDash val="solid"/>
          </a:ln>
        </p:spPr>
        <p:txBody>
          <a:bodyPr/>
          <a:lstStyle/>
          <a:p>
            <a:endParaRPr lang="fr-FR"/>
          </a:p>
        </p:txBody>
      </p:sp>
      <p:sp>
        <p:nvSpPr>
          <p:cNvPr id="4" name="Text 2"/>
          <p:cNvSpPr/>
          <p:nvPr/>
        </p:nvSpPr>
        <p:spPr>
          <a:xfrm>
            <a:off x="731520" y="1188720"/>
            <a:ext cx="8229600" cy="502920"/>
          </a:xfrm>
          <a:prstGeom prst="rect">
            <a:avLst/>
          </a:prstGeom>
          <a:noFill/>
          <a:ln/>
        </p:spPr>
        <p:txBody>
          <a:bodyPr wrap="square" rtlCol="0" anchor="ctr"/>
          <a:lstStyle/>
          <a:p>
            <a:pPr marL="0" indent="0">
              <a:buNone/>
            </a:pPr>
            <a:r>
              <a:rPr lang="en-US" sz="1500" b="1" kern="0" spc="700" dirty="0">
                <a:solidFill>
                  <a:srgbClr val="FFFFFF"/>
                </a:solidFill>
              </a:rPr>
              <a:t>PARTIE 3</a:t>
            </a:r>
            <a:endParaRPr lang="en-US" sz="1500" dirty="0"/>
          </a:p>
        </p:txBody>
      </p:sp>
      <p:sp>
        <p:nvSpPr>
          <p:cNvPr id="5" name="Text 3"/>
          <p:cNvSpPr/>
          <p:nvPr/>
        </p:nvSpPr>
        <p:spPr>
          <a:xfrm>
            <a:off x="731520" y="1691640"/>
            <a:ext cx="8229600" cy="1005840"/>
          </a:xfrm>
          <a:prstGeom prst="rect">
            <a:avLst/>
          </a:prstGeom>
          <a:noFill/>
          <a:ln/>
        </p:spPr>
        <p:txBody>
          <a:bodyPr wrap="square" rtlCol="0" anchor="ctr"/>
          <a:lstStyle/>
          <a:p>
            <a:pPr marL="0" indent="0">
              <a:buNone/>
            </a:pPr>
            <a:r>
              <a:rPr lang="en-US" sz="3800" b="1" dirty="0">
                <a:solidFill>
                  <a:srgbClr val="FFFFFF"/>
                </a:solidFill>
              </a:rPr>
              <a:t>Sanctions, Éco-conduite &amp; Accidents</a:t>
            </a:r>
            <a:endParaRPr lang="en-US" sz="3800" dirty="0"/>
          </a:p>
        </p:txBody>
      </p:sp>
      <p:sp>
        <p:nvSpPr>
          <p:cNvPr id="6" name="Text 4"/>
          <p:cNvSpPr/>
          <p:nvPr/>
        </p:nvSpPr>
        <p:spPr>
          <a:xfrm>
            <a:off x="731520" y="2743200"/>
            <a:ext cx="7772400" cy="502920"/>
          </a:xfrm>
          <a:prstGeom prst="rect">
            <a:avLst/>
          </a:prstGeom>
          <a:noFill/>
          <a:ln/>
        </p:spPr>
        <p:txBody>
          <a:bodyPr wrap="square" rtlCol="0" anchor="ctr"/>
          <a:lstStyle/>
          <a:p>
            <a:pPr marL="0" indent="0">
              <a:buNone/>
            </a:pPr>
            <a:r>
              <a:rPr lang="en-US" sz="1300" i="1" dirty="0">
                <a:solidFill>
                  <a:srgbClr val="FFFFFF"/>
                </a:solidFill>
              </a:rPr>
              <a:t>Sanctions · Limitations · CT · PAS · Constat · Permis à points</a:t>
            </a:r>
            <a:endParaRPr lang="en-US" sz="1300" dirty="0"/>
          </a:p>
        </p:txBody>
      </p:sp>
      <p:sp>
        <p:nvSpPr>
          <p:cNvPr id="7" name="Text 5"/>
          <p:cNvSpPr/>
          <p:nvPr/>
        </p:nvSpPr>
        <p:spPr>
          <a:xfrm>
            <a:off x="731520" y="4416552"/>
            <a:ext cx="8229600" cy="347472"/>
          </a:xfrm>
          <a:prstGeom prst="rect">
            <a:avLst/>
          </a:prstGeom>
          <a:noFill/>
          <a:ln/>
        </p:spPr>
        <p:txBody>
          <a:bodyPr wrap="square" rtlCol="0" anchor="ctr"/>
          <a:lstStyle/>
          <a:p>
            <a:pPr marL="0" indent="0">
              <a:buNone/>
            </a:pPr>
            <a:r>
              <a:rPr lang="en-US" sz="750" dirty="0">
                <a:solidFill>
                  <a:srgbClr val="ABB2B9"/>
                </a:solidFill>
              </a:rPr>
              <a:t>FTRANSPORT - SERVICES PRO  •  Formation certifiée Qualiopi  •  Éligible CPF  •  Lyon</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C2833"/>
          </a:solidFill>
          <a:ln w="12700">
            <a:solidFill>
              <a:srgbClr val="1C2833"/>
            </a:solidFill>
            <a:prstDash val="solid"/>
          </a:ln>
        </p:spPr>
        <p:txBody>
          <a:bodyPr/>
          <a:lstStyle/>
          <a:p>
            <a:endParaRPr lang="fr-FR"/>
          </a:p>
        </p:txBody>
      </p:sp>
      <p:sp>
        <p:nvSpPr>
          <p:cNvPr id="3" name="Text 1"/>
          <p:cNvSpPr/>
          <p:nvPr/>
        </p:nvSpPr>
        <p:spPr>
          <a:xfrm>
            <a:off x="365760" y="36576"/>
            <a:ext cx="6400800" cy="457200"/>
          </a:xfrm>
          <a:prstGeom prst="rect">
            <a:avLst/>
          </a:prstGeom>
          <a:noFill/>
          <a:ln/>
        </p:spPr>
        <p:txBody>
          <a:bodyPr wrap="square" rtlCol="0" anchor="ctr"/>
          <a:lstStyle/>
          <a:p>
            <a:pPr marL="0" indent="0">
              <a:buNone/>
            </a:pPr>
            <a:r>
              <a:rPr lang="en-US" sz="1800" b="1" dirty="0">
                <a:solidFill>
                  <a:srgbClr val="FFFFFF"/>
                </a:solidFill>
              </a:rPr>
              <a:t>Sommaire — Partie 3</a:t>
            </a:r>
            <a:endParaRPr lang="en-US" sz="1800" dirty="0"/>
          </a:p>
        </p:txBody>
      </p:sp>
      <p:sp>
        <p:nvSpPr>
          <p:cNvPr id="4" name="Text 2"/>
          <p:cNvSpPr/>
          <p:nvPr/>
        </p:nvSpPr>
        <p:spPr>
          <a:xfrm>
            <a:off x="365760" y="475488"/>
            <a:ext cx="6400800" cy="329184"/>
          </a:xfrm>
          <a:prstGeom prst="rect">
            <a:avLst/>
          </a:prstGeom>
          <a:noFill/>
          <a:ln/>
        </p:spPr>
        <p:txBody>
          <a:bodyPr wrap="square" rtlCol="0" anchor="ctr"/>
          <a:lstStyle/>
          <a:p>
            <a:pPr marL="0" indent="0">
              <a:buNone/>
            </a:pPr>
            <a:r>
              <a:rPr lang="en-US" sz="1100" i="1" dirty="0">
                <a:solidFill>
                  <a:srgbClr val="D35400"/>
                </a:solidFill>
              </a:rPr>
              <a:t>Sanctions, Éco-conduite, Contrôle technique &amp; Permis</a:t>
            </a:r>
            <a:endParaRPr lang="en-US" sz="1100" dirty="0"/>
          </a:p>
        </p:txBody>
      </p:sp>
      <p:sp>
        <p:nvSpPr>
          <p:cNvPr id="5" name="Shape 3"/>
          <p:cNvSpPr/>
          <p:nvPr/>
        </p:nvSpPr>
        <p:spPr>
          <a:xfrm>
            <a:off x="365760" y="960120"/>
            <a:ext cx="502920" cy="502920"/>
          </a:xfrm>
          <a:prstGeom prst="rect">
            <a:avLst/>
          </a:prstGeom>
          <a:solidFill>
            <a:srgbClr val="D35400"/>
          </a:solidFill>
          <a:ln w="12700">
            <a:solidFill>
              <a:srgbClr val="D35400"/>
            </a:solidFill>
            <a:prstDash val="solid"/>
          </a:ln>
        </p:spPr>
        <p:txBody>
          <a:bodyPr/>
          <a:lstStyle/>
          <a:p>
            <a:endParaRPr lang="fr-FR"/>
          </a:p>
        </p:txBody>
      </p:sp>
      <p:sp>
        <p:nvSpPr>
          <p:cNvPr id="6" name="Text 4"/>
          <p:cNvSpPr/>
          <p:nvPr/>
        </p:nvSpPr>
        <p:spPr>
          <a:xfrm>
            <a:off x="365760" y="960120"/>
            <a:ext cx="502920" cy="50292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005840" y="960120"/>
            <a:ext cx="7543800" cy="502920"/>
          </a:xfrm>
          <a:prstGeom prst="rect">
            <a:avLst/>
          </a:prstGeom>
          <a:solidFill>
            <a:srgbClr val="FFFFFF"/>
          </a:solidFill>
          <a:ln w="12700">
            <a:solidFill>
              <a:srgbClr val="D5D8DC"/>
            </a:solidFill>
            <a:prstDash val="solid"/>
          </a:ln>
        </p:spPr>
        <p:txBody>
          <a:bodyPr/>
          <a:lstStyle/>
          <a:p>
            <a:endParaRPr lang="fr-FR"/>
          </a:p>
        </p:txBody>
      </p:sp>
      <p:sp>
        <p:nvSpPr>
          <p:cNvPr id="8" name="Text 6"/>
          <p:cNvSpPr/>
          <p:nvPr/>
        </p:nvSpPr>
        <p:spPr>
          <a:xfrm>
            <a:off x="1143000" y="960120"/>
            <a:ext cx="4114800" cy="256032"/>
          </a:xfrm>
          <a:prstGeom prst="rect">
            <a:avLst/>
          </a:prstGeom>
          <a:noFill/>
          <a:ln/>
        </p:spPr>
        <p:txBody>
          <a:bodyPr wrap="square" rtlCol="0" anchor="ctr"/>
          <a:lstStyle/>
          <a:p>
            <a:pPr marL="0" indent="0">
              <a:buNone/>
            </a:pPr>
            <a:r>
              <a:rPr lang="en-US" sz="1100" b="1" dirty="0">
                <a:solidFill>
                  <a:srgbClr val="1C2833"/>
                </a:solidFill>
              </a:rPr>
              <a:t>Sanctions : alcool, stupéfiants &amp; cumul</a:t>
            </a:r>
            <a:endParaRPr lang="en-US" sz="1100" dirty="0"/>
          </a:p>
        </p:txBody>
      </p:sp>
      <p:sp>
        <p:nvSpPr>
          <p:cNvPr id="9" name="Text 7"/>
          <p:cNvSpPr/>
          <p:nvPr/>
        </p:nvSpPr>
        <p:spPr>
          <a:xfrm>
            <a:off x="1143000" y="1216152"/>
            <a:ext cx="7132320" cy="246888"/>
          </a:xfrm>
          <a:prstGeom prst="rect">
            <a:avLst/>
          </a:prstGeom>
          <a:noFill/>
          <a:ln/>
        </p:spPr>
        <p:txBody>
          <a:bodyPr wrap="square" rtlCol="0" anchor="ctr"/>
          <a:lstStyle/>
          <a:p>
            <a:pPr marL="0" indent="0">
              <a:buNone/>
            </a:pPr>
            <a:r>
              <a:rPr lang="en-US" sz="900" dirty="0">
                <a:solidFill>
                  <a:srgbClr val="5D6D7E"/>
                </a:solidFill>
              </a:rPr>
              <a:t>Tableau complet : points, amendes, prison, immobilisation</a:t>
            </a:r>
            <a:endParaRPr lang="en-US" sz="900" dirty="0"/>
          </a:p>
        </p:txBody>
      </p:sp>
      <p:sp>
        <p:nvSpPr>
          <p:cNvPr id="10" name="Shape 8"/>
          <p:cNvSpPr/>
          <p:nvPr/>
        </p:nvSpPr>
        <p:spPr>
          <a:xfrm>
            <a:off x="365760" y="1673352"/>
            <a:ext cx="502920" cy="502920"/>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365760" y="1673352"/>
            <a:ext cx="502920" cy="50292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2" name="Shape 10"/>
          <p:cNvSpPr/>
          <p:nvPr/>
        </p:nvSpPr>
        <p:spPr>
          <a:xfrm>
            <a:off x="1005840" y="1673352"/>
            <a:ext cx="7543800" cy="502920"/>
          </a:xfrm>
          <a:prstGeom prst="rect">
            <a:avLst/>
          </a:prstGeom>
          <a:solidFill>
            <a:srgbClr val="FFFFFF"/>
          </a:solidFill>
          <a:ln w="12700">
            <a:solidFill>
              <a:srgbClr val="D5D8DC"/>
            </a:solidFill>
            <a:prstDash val="solid"/>
          </a:ln>
        </p:spPr>
        <p:txBody>
          <a:bodyPr/>
          <a:lstStyle/>
          <a:p>
            <a:endParaRPr lang="fr-FR"/>
          </a:p>
        </p:txBody>
      </p:sp>
      <p:sp>
        <p:nvSpPr>
          <p:cNvPr id="13" name="Text 11"/>
          <p:cNvSpPr/>
          <p:nvPr/>
        </p:nvSpPr>
        <p:spPr>
          <a:xfrm>
            <a:off x="1143000" y="1673352"/>
            <a:ext cx="4114800" cy="256032"/>
          </a:xfrm>
          <a:prstGeom prst="rect">
            <a:avLst/>
          </a:prstGeom>
          <a:noFill/>
          <a:ln/>
        </p:spPr>
        <p:txBody>
          <a:bodyPr wrap="square" rtlCol="0" anchor="ctr"/>
          <a:lstStyle/>
          <a:p>
            <a:pPr marL="0" indent="0">
              <a:buNone/>
            </a:pPr>
            <a:r>
              <a:rPr lang="en-US" sz="1100" b="1" dirty="0">
                <a:solidFill>
                  <a:srgbClr val="1C2833"/>
                </a:solidFill>
              </a:rPr>
              <a:t>Limitations de vitesse &amp; excès</a:t>
            </a:r>
            <a:endParaRPr lang="en-US" sz="1100" dirty="0"/>
          </a:p>
        </p:txBody>
      </p:sp>
      <p:sp>
        <p:nvSpPr>
          <p:cNvPr id="14" name="Text 12"/>
          <p:cNvSpPr/>
          <p:nvPr/>
        </p:nvSpPr>
        <p:spPr>
          <a:xfrm>
            <a:off x="1143000" y="1929384"/>
            <a:ext cx="7132320" cy="246888"/>
          </a:xfrm>
          <a:prstGeom prst="rect">
            <a:avLst/>
          </a:prstGeom>
          <a:noFill/>
          <a:ln/>
        </p:spPr>
        <p:txBody>
          <a:bodyPr wrap="square" rtlCol="0" anchor="ctr"/>
          <a:lstStyle/>
          <a:p>
            <a:pPr marL="0" indent="0">
              <a:buNone/>
            </a:pPr>
            <a:r>
              <a:rPr lang="en-US" sz="900" dirty="0">
                <a:solidFill>
                  <a:srgbClr val="5D6D7E"/>
                </a:solidFill>
              </a:rPr>
              <a:t>Tableau par type de voie et sanctions par seuil</a:t>
            </a:r>
            <a:endParaRPr lang="en-US" sz="900" dirty="0"/>
          </a:p>
        </p:txBody>
      </p:sp>
      <p:sp>
        <p:nvSpPr>
          <p:cNvPr id="15" name="Shape 13"/>
          <p:cNvSpPr/>
          <p:nvPr/>
        </p:nvSpPr>
        <p:spPr>
          <a:xfrm>
            <a:off x="365760" y="2386584"/>
            <a:ext cx="502920" cy="502920"/>
          </a:xfrm>
          <a:prstGeom prst="rect">
            <a:avLst/>
          </a:prstGeom>
          <a:solidFill>
            <a:srgbClr val="D35400"/>
          </a:solidFill>
          <a:ln w="12700">
            <a:solidFill>
              <a:srgbClr val="D35400"/>
            </a:solidFill>
            <a:prstDash val="solid"/>
          </a:ln>
        </p:spPr>
        <p:txBody>
          <a:bodyPr/>
          <a:lstStyle/>
          <a:p>
            <a:endParaRPr lang="fr-FR"/>
          </a:p>
        </p:txBody>
      </p:sp>
      <p:sp>
        <p:nvSpPr>
          <p:cNvPr id="16" name="Text 14"/>
          <p:cNvSpPr/>
          <p:nvPr/>
        </p:nvSpPr>
        <p:spPr>
          <a:xfrm>
            <a:off x="365760" y="2386584"/>
            <a:ext cx="502920" cy="50292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Shape 15"/>
          <p:cNvSpPr/>
          <p:nvPr/>
        </p:nvSpPr>
        <p:spPr>
          <a:xfrm>
            <a:off x="1005840" y="2386584"/>
            <a:ext cx="7543800" cy="502920"/>
          </a:xfrm>
          <a:prstGeom prst="rect">
            <a:avLst/>
          </a:prstGeom>
          <a:solidFill>
            <a:srgbClr val="FFFFFF"/>
          </a:solidFill>
          <a:ln w="12700">
            <a:solidFill>
              <a:srgbClr val="D5D8DC"/>
            </a:solidFill>
            <a:prstDash val="solid"/>
          </a:ln>
        </p:spPr>
        <p:txBody>
          <a:bodyPr/>
          <a:lstStyle/>
          <a:p>
            <a:endParaRPr lang="fr-FR"/>
          </a:p>
        </p:txBody>
      </p:sp>
      <p:sp>
        <p:nvSpPr>
          <p:cNvPr id="18" name="Text 16"/>
          <p:cNvSpPr/>
          <p:nvPr/>
        </p:nvSpPr>
        <p:spPr>
          <a:xfrm>
            <a:off x="1143000" y="2386584"/>
            <a:ext cx="4114800" cy="256032"/>
          </a:xfrm>
          <a:prstGeom prst="rect">
            <a:avLst/>
          </a:prstGeom>
          <a:noFill/>
          <a:ln/>
        </p:spPr>
        <p:txBody>
          <a:bodyPr wrap="square" rtlCol="0" anchor="ctr"/>
          <a:lstStyle/>
          <a:p>
            <a:pPr marL="0" indent="0">
              <a:buNone/>
            </a:pPr>
            <a:r>
              <a:rPr lang="en-US" sz="1100" b="1" dirty="0">
                <a:solidFill>
                  <a:srgbClr val="1C2833"/>
                </a:solidFill>
              </a:rPr>
              <a:t>Éco-conduite (8 principes)</a:t>
            </a:r>
            <a:endParaRPr lang="en-US" sz="1100" dirty="0"/>
          </a:p>
        </p:txBody>
      </p:sp>
      <p:sp>
        <p:nvSpPr>
          <p:cNvPr id="19" name="Text 17"/>
          <p:cNvSpPr/>
          <p:nvPr/>
        </p:nvSpPr>
        <p:spPr>
          <a:xfrm>
            <a:off x="1143000" y="2642616"/>
            <a:ext cx="7132320" cy="246888"/>
          </a:xfrm>
          <a:prstGeom prst="rect">
            <a:avLst/>
          </a:prstGeom>
          <a:noFill/>
          <a:ln/>
        </p:spPr>
        <p:txBody>
          <a:bodyPr wrap="square" rtlCol="0" anchor="ctr"/>
          <a:lstStyle/>
          <a:p>
            <a:pPr marL="0" indent="0">
              <a:buNone/>
            </a:pPr>
            <a:r>
              <a:rPr lang="en-US" sz="900" dirty="0">
                <a:solidFill>
                  <a:srgbClr val="5D6D7E"/>
                </a:solidFill>
              </a:rPr>
              <a:t>Vitesse, rapports, frein moteur, charge, pneus…</a:t>
            </a:r>
            <a:endParaRPr lang="en-US" sz="900" dirty="0"/>
          </a:p>
        </p:txBody>
      </p:sp>
      <p:sp>
        <p:nvSpPr>
          <p:cNvPr id="20" name="Shape 18"/>
          <p:cNvSpPr/>
          <p:nvPr/>
        </p:nvSpPr>
        <p:spPr>
          <a:xfrm>
            <a:off x="365760" y="3099816"/>
            <a:ext cx="502920" cy="502920"/>
          </a:xfrm>
          <a:prstGeom prst="rect">
            <a:avLst/>
          </a:prstGeom>
          <a:solidFill>
            <a:srgbClr val="D35400"/>
          </a:solidFill>
          <a:ln w="12700">
            <a:solidFill>
              <a:srgbClr val="D35400"/>
            </a:solidFill>
            <a:prstDash val="solid"/>
          </a:ln>
        </p:spPr>
        <p:txBody>
          <a:bodyPr/>
          <a:lstStyle/>
          <a:p>
            <a:endParaRPr lang="fr-FR"/>
          </a:p>
        </p:txBody>
      </p:sp>
      <p:sp>
        <p:nvSpPr>
          <p:cNvPr id="21" name="Text 19"/>
          <p:cNvSpPr/>
          <p:nvPr/>
        </p:nvSpPr>
        <p:spPr>
          <a:xfrm>
            <a:off x="365760" y="3099816"/>
            <a:ext cx="502920" cy="50292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Shape 20"/>
          <p:cNvSpPr/>
          <p:nvPr/>
        </p:nvSpPr>
        <p:spPr>
          <a:xfrm>
            <a:off x="1005840" y="3099816"/>
            <a:ext cx="7543800" cy="502920"/>
          </a:xfrm>
          <a:prstGeom prst="rect">
            <a:avLst/>
          </a:prstGeom>
          <a:solidFill>
            <a:srgbClr val="FFFFFF"/>
          </a:solidFill>
          <a:ln w="12700">
            <a:solidFill>
              <a:srgbClr val="D5D8DC"/>
            </a:solidFill>
            <a:prstDash val="solid"/>
          </a:ln>
        </p:spPr>
        <p:txBody>
          <a:bodyPr/>
          <a:lstStyle/>
          <a:p>
            <a:endParaRPr lang="fr-FR"/>
          </a:p>
        </p:txBody>
      </p:sp>
      <p:sp>
        <p:nvSpPr>
          <p:cNvPr id="23" name="Text 21"/>
          <p:cNvSpPr/>
          <p:nvPr/>
        </p:nvSpPr>
        <p:spPr>
          <a:xfrm>
            <a:off x="1143000" y="3099816"/>
            <a:ext cx="4114800" cy="256032"/>
          </a:xfrm>
          <a:prstGeom prst="rect">
            <a:avLst/>
          </a:prstGeom>
          <a:noFill/>
          <a:ln/>
        </p:spPr>
        <p:txBody>
          <a:bodyPr wrap="square" rtlCol="0" anchor="ctr"/>
          <a:lstStyle/>
          <a:p>
            <a:pPr marL="0" indent="0">
              <a:buNone/>
            </a:pPr>
            <a:r>
              <a:rPr lang="en-US" sz="1100" b="1" dirty="0">
                <a:solidFill>
                  <a:srgbClr val="1C2833"/>
                </a:solidFill>
              </a:rPr>
              <a:t>Contrôle technique annuel</a:t>
            </a:r>
            <a:endParaRPr lang="en-US" sz="1100" dirty="0"/>
          </a:p>
        </p:txBody>
      </p:sp>
      <p:sp>
        <p:nvSpPr>
          <p:cNvPr id="24" name="Text 22"/>
          <p:cNvSpPr/>
          <p:nvPr/>
        </p:nvSpPr>
        <p:spPr>
          <a:xfrm>
            <a:off x="1143000" y="3355848"/>
            <a:ext cx="7132320" cy="246888"/>
          </a:xfrm>
          <a:prstGeom prst="rect">
            <a:avLst/>
          </a:prstGeom>
          <a:noFill/>
          <a:ln/>
        </p:spPr>
        <p:txBody>
          <a:bodyPr wrap="square" rtlCol="0" anchor="ctr"/>
          <a:lstStyle/>
          <a:p>
            <a:pPr marL="0" indent="0">
              <a:buNone/>
            </a:pPr>
            <a:r>
              <a:rPr lang="en-US" sz="900" dirty="0">
                <a:solidFill>
                  <a:srgbClr val="5D6D7E"/>
                </a:solidFill>
              </a:rPr>
              <a:t>10 fonctions, 100+ points, défaillances mineures/majeures/critiques</a:t>
            </a:r>
            <a:endParaRPr lang="en-US" sz="900" dirty="0"/>
          </a:p>
        </p:txBody>
      </p:sp>
      <p:sp>
        <p:nvSpPr>
          <p:cNvPr id="25" name="Shape 23"/>
          <p:cNvSpPr/>
          <p:nvPr/>
        </p:nvSpPr>
        <p:spPr>
          <a:xfrm>
            <a:off x="365760" y="3813048"/>
            <a:ext cx="502920" cy="502920"/>
          </a:xfrm>
          <a:prstGeom prst="rect">
            <a:avLst/>
          </a:prstGeom>
          <a:solidFill>
            <a:srgbClr val="D35400"/>
          </a:solidFill>
          <a:ln w="12700">
            <a:solidFill>
              <a:srgbClr val="D35400"/>
            </a:solidFill>
            <a:prstDash val="solid"/>
          </a:ln>
        </p:spPr>
        <p:txBody>
          <a:bodyPr/>
          <a:lstStyle/>
          <a:p>
            <a:endParaRPr lang="fr-FR"/>
          </a:p>
        </p:txBody>
      </p:sp>
      <p:sp>
        <p:nvSpPr>
          <p:cNvPr id="26" name="Text 24"/>
          <p:cNvSpPr/>
          <p:nvPr/>
        </p:nvSpPr>
        <p:spPr>
          <a:xfrm>
            <a:off x="365760" y="3813048"/>
            <a:ext cx="502920" cy="50292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7" name="Shape 25"/>
          <p:cNvSpPr/>
          <p:nvPr/>
        </p:nvSpPr>
        <p:spPr>
          <a:xfrm>
            <a:off x="1005840" y="3813048"/>
            <a:ext cx="7543800" cy="502920"/>
          </a:xfrm>
          <a:prstGeom prst="rect">
            <a:avLst/>
          </a:prstGeom>
          <a:solidFill>
            <a:srgbClr val="FFFFFF"/>
          </a:solidFill>
          <a:ln w="12700">
            <a:solidFill>
              <a:srgbClr val="D5D8DC"/>
            </a:solidFill>
            <a:prstDash val="solid"/>
          </a:ln>
        </p:spPr>
        <p:txBody>
          <a:bodyPr/>
          <a:lstStyle/>
          <a:p>
            <a:endParaRPr lang="fr-FR"/>
          </a:p>
        </p:txBody>
      </p:sp>
      <p:sp>
        <p:nvSpPr>
          <p:cNvPr id="28" name="Text 26"/>
          <p:cNvSpPr/>
          <p:nvPr/>
        </p:nvSpPr>
        <p:spPr>
          <a:xfrm>
            <a:off x="1143000" y="3813048"/>
            <a:ext cx="4114800" cy="256032"/>
          </a:xfrm>
          <a:prstGeom prst="rect">
            <a:avLst/>
          </a:prstGeom>
          <a:noFill/>
          <a:ln/>
        </p:spPr>
        <p:txBody>
          <a:bodyPr wrap="square" rtlCol="0" anchor="ctr"/>
          <a:lstStyle/>
          <a:p>
            <a:pPr marL="0" indent="0">
              <a:buNone/>
            </a:pPr>
            <a:r>
              <a:rPr lang="en-US" sz="1100" b="1" dirty="0">
                <a:solidFill>
                  <a:srgbClr val="1C2833"/>
                </a:solidFill>
              </a:rPr>
              <a:t>Accident : P.A.S. &amp; numéros d'urgence</a:t>
            </a:r>
            <a:endParaRPr lang="en-US" sz="1100" dirty="0"/>
          </a:p>
        </p:txBody>
      </p:sp>
      <p:sp>
        <p:nvSpPr>
          <p:cNvPr id="29" name="Text 27"/>
          <p:cNvSpPr/>
          <p:nvPr/>
        </p:nvSpPr>
        <p:spPr>
          <a:xfrm>
            <a:off x="1143000" y="4069080"/>
            <a:ext cx="7132320" cy="246888"/>
          </a:xfrm>
          <a:prstGeom prst="rect">
            <a:avLst/>
          </a:prstGeom>
          <a:noFill/>
          <a:ln/>
        </p:spPr>
        <p:txBody>
          <a:bodyPr wrap="square" rtlCol="0" anchor="ctr"/>
          <a:lstStyle/>
          <a:p>
            <a:pPr marL="0" indent="0">
              <a:buNone/>
            </a:pPr>
            <a:r>
              <a:rPr lang="en-US" sz="900" dirty="0">
                <a:solidFill>
                  <a:srgbClr val="5D6D7E"/>
                </a:solidFill>
              </a:rPr>
              <a:t>Protéger · Alerter · Secourir · PLS · Téléphone au volant</a:t>
            </a:r>
            <a:endParaRPr lang="en-US" sz="900" dirty="0"/>
          </a:p>
        </p:txBody>
      </p:sp>
      <p:sp>
        <p:nvSpPr>
          <p:cNvPr id="30" name="Shape 28"/>
          <p:cNvSpPr/>
          <p:nvPr/>
        </p:nvSpPr>
        <p:spPr>
          <a:xfrm>
            <a:off x="365760" y="4526280"/>
            <a:ext cx="502920" cy="502920"/>
          </a:xfrm>
          <a:prstGeom prst="rect">
            <a:avLst/>
          </a:prstGeom>
          <a:solidFill>
            <a:srgbClr val="D35400"/>
          </a:solidFill>
          <a:ln w="12700">
            <a:solidFill>
              <a:srgbClr val="D35400"/>
            </a:solidFill>
            <a:prstDash val="solid"/>
          </a:ln>
        </p:spPr>
        <p:txBody>
          <a:bodyPr/>
          <a:lstStyle/>
          <a:p>
            <a:endParaRPr lang="fr-FR"/>
          </a:p>
        </p:txBody>
      </p:sp>
      <p:sp>
        <p:nvSpPr>
          <p:cNvPr id="31" name="Text 29"/>
          <p:cNvSpPr/>
          <p:nvPr/>
        </p:nvSpPr>
        <p:spPr>
          <a:xfrm>
            <a:off x="365760" y="4526280"/>
            <a:ext cx="502920" cy="502920"/>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32" name="Shape 30"/>
          <p:cNvSpPr/>
          <p:nvPr/>
        </p:nvSpPr>
        <p:spPr>
          <a:xfrm>
            <a:off x="1005840" y="4526280"/>
            <a:ext cx="7543800" cy="502920"/>
          </a:xfrm>
          <a:prstGeom prst="rect">
            <a:avLst/>
          </a:prstGeom>
          <a:solidFill>
            <a:srgbClr val="FFFFFF"/>
          </a:solidFill>
          <a:ln w="12700">
            <a:solidFill>
              <a:srgbClr val="D5D8DC"/>
            </a:solidFill>
            <a:prstDash val="solid"/>
          </a:ln>
        </p:spPr>
        <p:txBody>
          <a:bodyPr/>
          <a:lstStyle/>
          <a:p>
            <a:endParaRPr lang="fr-FR"/>
          </a:p>
        </p:txBody>
      </p:sp>
      <p:sp>
        <p:nvSpPr>
          <p:cNvPr id="33" name="Text 31"/>
          <p:cNvSpPr/>
          <p:nvPr/>
        </p:nvSpPr>
        <p:spPr>
          <a:xfrm>
            <a:off x="1143000" y="4526280"/>
            <a:ext cx="4114800" cy="256032"/>
          </a:xfrm>
          <a:prstGeom prst="rect">
            <a:avLst/>
          </a:prstGeom>
          <a:noFill/>
          <a:ln/>
        </p:spPr>
        <p:txBody>
          <a:bodyPr wrap="square" rtlCol="0" anchor="ctr"/>
          <a:lstStyle/>
          <a:p>
            <a:pPr marL="0" indent="0">
              <a:buNone/>
            </a:pPr>
            <a:r>
              <a:rPr lang="en-US" sz="1100" b="1" dirty="0">
                <a:solidFill>
                  <a:srgbClr val="1C2833"/>
                </a:solidFill>
              </a:rPr>
              <a:t>Constat amiable &amp; situations difficiles</a:t>
            </a:r>
            <a:endParaRPr lang="en-US" sz="1100" dirty="0"/>
          </a:p>
        </p:txBody>
      </p:sp>
      <p:sp>
        <p:nvSpPr>
          <p:cNvPr id="34" name="Text 32"/>
          <p:cNvSpPr/>
          <p:nvPr/>
        </p:nvSpPr>
        <p:spPr>
          <a:xfrm>
            <a:off x="1143000" y="4782312"/>
            <a:ext cx="7132320" cy="246888"/>
          </a:xfrm>
          <a:prstGeom prst="rect">
            <a:avLst/>
          </a:prstGeom>
          <a:noFill/>
          <a:ln/>
        </p:spPr>
        <p:txBody>
          <a:bodyPr wrap="square" rtlCol="0" anchor="ctr"/>
          <a:lstStyle/>
          <a:p>
            <a:pPr marL="0" indent="0">
              <a:buNone/>
            </a:pPr>
            <a:r>
              <a:rPr lang="en-US" sz="900" dirty="0">
                <a:solidFill>
                  <a:srgbClr val="5D6D7E"/>
                </a:solidFill>
              </a:rPr>
              <a:t>Procédure, désaccord, refus, fuite</a:t>
            </a:r>
            <a:endParaRPr lang="en-US" sz="900" dirty="0"/>
          </a:p>
        </p:txBody>
      </p:sp>
      <p:sp>
        <p:nvSpPr>
          <p:cNvPr id="35" name="Shape 33"/>
          <p:cNvSpPr/>
          <p:nvPr/>
        </p:nvSpPr>
        <p:spPr>
          <a:xfrm>
            <a:off x="365760" y="5239512"/>
            <a:ext cx="502920" cy="502920"/>
          </a:xfrm>
          <a:prstGeom prst="rect">
            <a:avLst/>
          </a:prstGeom>
          <a:solidFill>
            <a:srgbClr val="D35400"/>
          </a:solidFill>
          <a:ln w="12700">
            <a:solidFill>
              <a:srgbClr val="D35400"/>
            </a:solidFill>
            <a:prstDash val="solid"/>
          </a:ln>
        </p:spPr>
        <p:txBody>
          <a:bodyPr/>
          <a:lstStyle/>
          <a:p>
            <a:endParaRPr lang="fr-FR"/>
          </a:p>
        </p:txBody>
      </p:sp>
      <p:sp>
        <p:nvSpPr>
          <p:cNvPr id="36" name="Text 34"/>
          <p:cNvSpPr/>
          <p:nvPr/>
        </p:nvSpPr>
        <p:spPr>
          <a:xfrm>
            <a:off x="365760" y="5239512"/>
            <a:ext cx="502920" cy="502920"/>
          </a:xfrm>
          <a:prstGeom prst="rect">
            <a:avLst/>
          </a:prstGeom>
          <a:noFill/>
          <a:ln/>
        </p:spPr>
        <p:txBody>
          <a:bodyPr wrap="square" rtlCol="0" anchor="ctr"/>
          <a:lstStyle/>
          <a:p>
            <a:pPr marL="0" indent="0" algn="ctr">
              <a:buNone/>
            </a:pPr>
            <a:r>
              <a:rPr lang="en-US" sz="1600" b="1" dirty="0">
                <a:solidFill>
                  <a:srgbClr val="FFFFFF"/>
                </a:solidFill>
              </a:rPr>
              <a:t>7</a:t>
            </a:r>
            <a:endParaRPr lang="en-US" sz="1600" dirty="0"/>
          </a:p>
        </p:txBody>
      </p:sp>
      <p:sp>
        <p:nvSpPr>
          <p:cNvPr id="37" name="Shape 35"/>
          <p:cNvSpPr/>
          <p:nvPr/>
        </p:nvSpPr>
        <p:spPr>
          <a:xfrm>
            <a:off x="1005840" y="5239512"/>
            <a:ext cx="7543800" cy="502920"/>
          </a:xfrm>
          <a:prstGeom prst="rect">
            <a:avLst/>
          </a:prstGeom>
          <a:solidFill>
            <a:srgbClr val="FFFFFF"/>
          </a:solidFill>
          <a:ln w="12700">
            <a:solidFill>
              <a:srgbClr val="D5D8DC"/>
            </a:solidFill>
            <a:prstDash val="solid"/>
          </a:ln>
        </p:spPr>
        <p:txBody>
          <a:bodyPr/>
          <a:lstStyle/>
          <a:p>
            <a:endParaRPr lang="fr-FR"/>
          </a:p>
        </p:txBody>
      </p:sp>
      <p:sp>
        <p:nvSpPr>
          <p:cNvPr id="38" name="Text 36"/>
          <p:cNvSpPr/>
          <p:nvPr/>
        </p:nvSpPr>
        <p:spPr>
          <a:xfrm>
            <a:off x="1143000" y="5239512"/>
            <a:ext cx="4114800" cy="256032"/>
          </a:xfrm>
          <a:prstGeom prst="rect">
            <a:avLst/>
          </a:prstGeom>
          <a:noFill/>
          <a:ln/>
        </p:spPr>
        <p:txBody>
          <a:bodyPr wrap="square" rtlCol="0" anchor="ctr"/>
          <a:lstStyle/>
          <a:p>
            <a:pPr marL="0" indent="0">
              <a:buNone/>
            </a:pPr>
            <a:r>
              <a:rPr lang="en-US" sz="1100" b="1" dirty="0">
                <a:solidFill>
                  <a:srgbClr val="1C2833"/>
                </a:solidFill>
              </a:rPr>
              <a:t>Permis : annulation &amp; invalidation</a:t>
            </a:r>
            <a:endParaRPr lang="en-US" sz="1100" dirty="0"/>
          </a:p>
        </p:txBody>
      </p:sp>
      <p:sp>
        <p:nvSpPr>
          <p:cNvPr id="39" name="Text 37"/>
          <p:cNvSpPr/>
          <p:nvPr/>
        </p:nvSpPr>
        <p:spPr>
          <a:xfrm>
            <a:off x="1143000" y="5495544"/>
            <a:ext cx="7132320" cy="246888"/>
          </a:xfrm>
          <a:prstGeom prst="rect">
            <a:avLst/>
          </a:prstGeom>
          <a:noFill/>
          <a:ln/>
        </p:spPr>
        <p:txBody>
          <a:bodyPr wrap="square" rtlCol="0" anchor="ctr"/>
          <a:lstStyle/>
          <a:p>
            <a:pPr marL="0" indent="0">
              <a:buNone/>
            </a:pPr>
            <a:r>
              <a:rPr lang="en-US" sz="900" dirty="0">
                <a:solidFill>
                  <a:srgbClr val="5D6D7E"/>
                </a:solidFill>
              </a:rPr>
              <a:t>Procédures de repassage, délais d'attente</a:t>
            </a:r>
            <a:endParaRPr lang="en-US" sz="900" dirty="0"/>
          </a:p>
        </p:txBody>
      </p:sp>
      <p:sp>
        <p:nvSpPr>
          <p:cNvPr id="40" name="Shape 38"/>
          <p:cNvSpPr/>
          <p:nvPr/>
        </p:nvSpPr>
        <p:spPr>
          <a:xfrm>
            <a:off x="365760" y="5952744"/>
            <a:ext cx="502920" cy="502920"/>
          </a:xfrm>
          <a:prstGeom prst="rect">
            <a:avLst/>
          </a:prstGeom>
          <a:solidFill>
            <a:srgbClr val="D35400"/>
          </a:solidFill>
          <a:ln w="12700">
            <a:solidFill>
              <a:srgbClr val="D35400"/>
            </a:solidFill>
            <a:prstDash val="solid"/>
          </a:ln>
        </p:spPr>
        <p:txBody>
          <a:bodyPr/>
          <a:lstStyle/>
          <a:p>
            <a:endParaRPr lang="fr-FR"/>
          </a:p>
        </p:txBody>
      </p:sp>
      <p:sp>
        <p:nvSpPr>
          <p:cNvPr id="41" name="Text 39"/>
          <p:cNvSpPr/>
          <p:nvPr/>
        </p:nvSpPr>
        <p:spPr>
          <a:xfrm>
            <a:off x="365760" y="5952744"/>
            <a:ext cx="502920" cy="502920"/>
          </a:xfrm>
          <a:prstGeom prst="rect">
            <a:avLst/>
          </a:prstGeom>
          <a:noFill/>
          <a:ln/>
        </p:spPr>
        <p:txBody>
          <a:bodyPr wrap="square" rtlCol="0" anchor="ctr"/>
          <a:lstStyle/>
          <a:p>
            <a:pPr marL="0" indent="0" algn="ctr">
              <a:buNone/>
            </a:pPr>
            <a:r>
              <a:rPr lang="en-US" sz="1600" b="1" dirty="0">
                <a:solidFill>
                  <a:srgbClr val="FFFFFF"/>
                </a:solidFill>
              </a:rPr>
              <a:t>8</a:t>
            </a:r>
            <a:endParaRPr lang="en-US" sz="1600" dirty="0"/>
          </a:p>
        </p:txBody>
      </p:sp>
      <p:sp>
        <p:nvSpPr>
          <p:cNvPr id="42" name="Shape 40"/>
          <p:cNvSpPr/>
          <p:nvPr/>
        </p:nvSpPr>
        <p:spPr>
          <a:xfrm>
            <a:off x="1005840" y="5952744"/>
            <a:ext cx="7543800" cy="502920"/>
          </a:xfrm>
          <a:prstGeom prst="rect">
            <a:avLst/>
          </a:prstGeom>
          <a:solidFill>
            <a:srgbClr val="FFFFFF"/>
          </a:solidFill>
          <a:ln w="12700">
            <a:solidFill>
              <a:srgbClr val="D5D8DC"/>
            </a:solidFill>
            <a:prstDash val="solid"/>
          </a:ln>
        </p:spPr>
        <p:txBody>
          <a:bodyPr/>
          <a:lstStyle/>
          <a:p>
            <a:endParaRPr lang="fr-FR"/>
          </a:p>
        </p:txBody>
      </p:sp>
      <p:sp>
        <p:nvSpPr>
          <p:cNvPr id="43" name="Text 41"/>
          <p:cNvSpPr/>
          <p:nvPr/>
        </p:nvSpPr>
        <p:spPr>
          <a:xfrm>
            <a:off x="1143000" y="5952744"/>
            <a:ext cx="4114800" cy="256032"/>
          </a:xfrm>
          <a:prstGeom prst="rect">
            <a:avLst/>
          </a:prstGeom>
          <a:noFill/>
          <a:ln/>
        </p:spPr>
        <p:txBody>
          <a:bodyPr wrap="square" rtlCol="0" anchor="ctr"/>
          <a:lstStyle/>
          <a:p>
            <a:pPr marL="0" indent="0">
              <a:buNone/>
            </a:pPr>
            <a:r>
              <a:rPr lang="en-US" sz="1100" b="1" dirty="0">
                <a:solidFill>
                  <a:srgbClr val="1C2833"/>
                </a:solidFill>
              </a:rPr>
              <a:t>Récupération automatique &amp; par stage</a:t>
            </a:r>
            <a:endParaRPr lang="en-US" sz="1100" dirty="0"/>
          </a:p>
        </p:txBody>
      </p:sp>
      <p:sp>
        <p:nvSpPr>
          <p:cNvPr id="44" name="Text 42"/>
          <p:cNvSpPr/>
          <p:nvPr/>
        </p:nvSpPr>
        <p:spPr>
          <a:xfrm>
            <a:off x="1143000" y="6208776"/>
            <a:ext cx="7132320" cy="246888"/>
          </a:xfrm>
          <a:prstGeom prst="rect">
            <a:avLst/>
          </a:prstGeom>
          <a:noFill/>
          <a:ln/>
        </p:spPr>
        <p:txBody>
          <a:bodyPr wrap="square" rtlCol="0" anchor="ctr"/>
          <a:lstStyle/>
          <a:p>
            <a:pPr marL="0" indent="0">
              <a:buNone/>
            </a:pPr>
            <a:r>
              <a:rPr lang="en-US" sz="900" dirty="0">
                <a:solidFill>
                  <a:srgbClr val="5D6D7E"/>
                </a:solidFill>
              </a:rPr>
              <a:t>6 mois / 2 ans / 3 ans / 10 ans · Stage = 4 pts max</a:t>
            </a:r>
            <a:endParaRPr lang="en-US" sz="900" dirty="0"/>
          </a:p>
        </p:txBody>
      </p:sp>
      <p:sp>
        <p:nvSpPr>
          <p:cNvPr id="45" name="Shape 43"/>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46" name="Text 44"/>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47" name="Text 45"/>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Sanctions : Alcool, Stupéfiants &amp; Cumul</a:t>
            </a:r>
            <a:endParaRPr lang="en-US" sz="2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1298448"/>
          <a:ext cx="8595360" cy="3383280"/>
        </p:xfrm>
        <a:graphic>
          <a:graphicData uri="http://schemas.openxmlformats.org/drawingml/2006/table">
            <a:tbl>
              <a:tblPr/>
              <a:tblGrid>
                <a:gridCol w="32918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548640">
                <a:tc>
                  <a:txBody>
                    <a:bodyPr/>
                    <a:lstStyle/>
                    <a:p>
                      <a:pPr marL="0" indent="0">
                        <a:buNone/>
                      </a:pPr>
                      <a:r>
                        <a:rPr lang="en-US" sz="850" b="1" dirty="0">
                          <a:solidFill>
                            <a:srgbClr val="FFFFFF"/>
                          </a:solidFill>
                        </a:rPr>
                        <a:t>Infraction</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50" b="1" dirty="0">
                          <a:solidFill>
                            <a:srgbClr val="FFFFFF"/>
                          </a:solidFill>
                        </a:rPr>
                        <a:t>Sanctions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548640">
                <a:tc>
                  <a:txBody>
                    <a:bodyPr/>
                    <a:lstStyle/>
                    <a:p>
                      <a:pPr marL="0" indent="0">
                        <a:buNone/>
                      </a:pPr>
                      <a:r>
                        <a:rPr lang="en-US" sz="850" dirty="0">
                          <a:solidFill>
                            <a:srgbClr val="1C2833"/>
                          </a:solidFill>
                        </a:rPr>
                        <a:t>Taux ≥ 0,5 g/l et &lt; 0,8 g/l (contravention)</a:t>
                      </a:r>
                      <a:endParaRPr lang="en-US" sz="850" dirty="0"/>
                    </a:p>
                    <a:p>
                      <a:pPr marL="0" indent="0">
                        <a:buNone/>
                      </a:pPr>
                      <a:r>
                        <a:rPr lang="en-US" sz="850" dirty="0">
                          <a:solidFill>
                            <a:srgbClr val="1C2833"/>
                          </a:solidFill>
                        </a:rPr>
                        <a:t>[0,2 g/l permis probatoire]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forfait. 135€ (max 750€) · Suspension permis jusqu'à 3 ans · Immobilisation</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850" dirty="0">
                          <a:solidFill>
                            <a:srgbClr val="1C2833"/>
                          </a:solidFill>
                        </a:rPr>
                        <a:t>Taux ≥ 0,8 g/l (délit)</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jusqu'à 4 500€ · Prison 2 ans · Suspension/annulation permis · Stage obligatoire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850" dirty="0">
                          <a:solidFill>
                            <a:srgbClr val="1C2833"/>
                          </a:solidFill>
                        </a:rPr>
                        <a:t>Refus de souffler</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Mêmes sanctions que taux ≥ 0,8 g/l (présomption alcoolémie délictuelle)</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850" dirty="0">
                          <a:solidFill>
                            <a:srgbClr val="1C2833"/>
                          </a:solidFill>
                        </a:rPr>
                        <a:t>Stupéfiants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4 500€ · Prison 2 ans · Fourrière immédiate · Peines complémentaires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850" dirty="0">
                          <a:solidFill>
                            <a:srgbClr val="1C2833"/>
                          </a:solidFill>
                        </a:rPr>
                        <a:t>Alcool + Stupéfiants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850" dirty="0">
                          <a:solidFill>
                            <a:srgbClr val="1C2833"/>
                          </a:solidFill>
                        </a:rPr>
                        <a:t>Retrait 6 pts · Amende jusqu'à 9 000€ · Prison · Confiscation véhicule · Peines complémentaires</a:t>
                      </a:r>
                      <a:endParaRPr lang="en-US" sz="8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8" name="Text 5"/>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9" name="Text 6"/>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Limitations de vitesse &amp; Sanctions</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D35400"/>
                </a:solidFill>
              </a:rPr>
              <a:t>🚗 Limitations de vitesse</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764792"/>
          <a:ext cx="3840480" cy="2103120"/>
        </p:xfrm>
        <a:graphic>
          <a:graphicData uri="http://schemas.openxmlformats.org/drawingml/2006/table">
            <a:tbl>
              <a:tblPr/>
              <a:tblGrid>
                <a:gridCol w="1828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50520">
                <a:tc>
                  <a:txBody>
                    <a:bodyPr/>
                    <a:lstStyle/>
                    <a:p>
                      <a:pPr marL="0" indent="0" algn="ctr">
                        <a:buNone/>
                      </a:pPr>
                      <a:r>
                        <a:rPr lang="en-US" sz="950" b="1" dirty="0">
                          <a:solidFill>
                            <a:srgbClr val="FFFFFF"/>
                          </a:solidFill>
                        </a:rPr>
                        <a:t>Type de voie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lgn="ctr">
                        <a:buNone/>
                      </a:pPr>
                      <a:r>
                        <a:rPr lang="en-US" sz="950" b="1" dirty="0">
                          <a:solidFill>
                            <a:srgbClr val="FFFFFF"/>
                          </a:solidFill>
                        </a:rPr>
                        <a:t>Sec</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lgn="ctr">
                        <a:buNone/>
                      </a:pPr>
                      <a:r>
                        <a:rPr lang="en-US" sz="950" b="1" dirty="0">
                          <a:solidFill>
                            <a:srgbClr val="FFFFFF"/>
                          </a:solidFill>
                        </a:rPr>
                        <a:t>Pluie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350520">
                <a:tc>
                  <a:txBody>
                    <a:bodyPr/>
                    <a:lstStyle/>
                    <a:p>
                      <a:pPr marL="0" indent="0" algn="ctr">
                        <a:buNone/>
                      </a:pPr>
                      <a:r>
                        <a:rPr lang="en-US" sz="950" dirty="0">
                          <a:solidFill>
                            <a:srgbClr val="1C2833"/>
                          </a:solidFill>
                        </a:rPr>
                        <a:t>Agglomération</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350520">
                <a:tc>
                  <a:txBody>
                    <a:bodyPr/>
                    <a:lstStyle/>
                    <a:p>
                      <a:pPr marL="0" indent="0" algn="ctr">
                        <a:buNone/>
                      </a:pPr>
                      <a:r>
                        <a:rPr lang="en-US" sz="950" dirty="0">
                          <a:solidFill>
                            <a:srgbClr val="1C2833"/>
                          </a:solidFill>
                        </a:rPr>
                        <a:t>Route 2 sens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80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80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50520">
                <a:tc>
                  <a:txBody>
                    <a:bodyPr/>
                    <a:lstStyle/>
                    <a:p>
                      <a:pPr marL="0" indent="0" algn="ctr">
                        <a:buNone/>
                      </a:pPr>
                      <a:r>
                        <a:rPr lang="en-US" sz="950" dirty="0">
                          <a:solidFill>
                            <a:srgbClr val="1C2833"/>
                          </a:solidFill>
                        </a:rPr>
                        <a:t>Route 2×2 voies</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110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100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r h="350520">
                <a:tc>
                  <a:txBody>
                    <a:bodyPr/>
                    <a:lstStyle/>
                    <a:p>
                      <a:pPr marL="0" indent="0" algn="ctr">
                        <a:buNone/>
                      </a:pPr>
                      <a:r>
                        <a:rPr lang="en-US" sz="950" dirty="0">
                          <a:solidFill>
                            <a:srgbClr val="1C2833"/>
                          </a:solidFill>
                        </a:rPr>
                        <a:t>Autoroute</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130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110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350520">
                <a:tc>
                  <a:txBody>
                    <a:bodyPr/>
                    <a:lstStyle/>
                    <a:p>
                      <a:pPr marL="0" indent="0" algn="ctr">
                        <a:buNone/>
                      </a:pPr>
                      <a:r>
                        <a:rPr lang="en-US" sz="950" dirty="0">
                          <a:solidFill>
                            <a:srgbClr val="1C2833"/>
                          </a:solidFill>
                        </a:rPr>
                        <a:t>Nuit/visib.&lt;50m</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50" dirty="0">
                          <a:solidFill>
                            <a:srgbClr val="1C2833"/>
                          </a:solidFill>
                        </a:rPr>
                        <a:t>50</a:t>
                      </a:r>
                      <a:endParaRPr lang="en-US" sz="95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5"/>
                  </a:ext>
                </a:extLst>
              </a:tr>
            </a:tbl>
          </a:graphicData>
        </a:graphic>
      </p:graphicFrame>
      <p:sp>
        <p:nvSpPr>
          <p:cNvPr id="9" name="Text 6"/>
          <p:cNvSpPr/>
          <p:nvPr/>
        </p:nvSpPr>
        <p:spPr>
          <a:xfrm>
            <a:off x="411480" y="3931920"/>
            <a:ext cx="3840480" cy="292608"/>
          </a:xfrm>
          <a:prstGeom prst="rect">
            <a:avLst/>
          </a:prstGeom>
          <a:noFill/>
          <a:ln/>
        </p:spPr>
        <p:txBody>
          <a:bodyPr wrap="square" rtlCol="0" anchor="ctr"/>
          <a:lstStyle/>
          <a:p>
            <a:pPr marL="0" indent="0">
              <a:buNone/>
            </a:pPr>
            <a:r>
              <a:rPr lang="en-US" sz="1000" b="1" dirty="0">
                <a:solidFill>
                  <a:srgbClr val="D35400"/>
                </a:solidFill>
              </a:rPr>
              <a:t>⚡ Sanctions excès de vitesse</a:t>
            </a:r>
            <a:endParaRPr lang="en-US" sz="1000" dirty="0"/>
          </a:p>
        </p:txBody>
      </p:sp>
      <p:sp>
        <p:nvSpPr>
          <p:cNvPr id="10" name="Text 7"/>
          <p:cNvSpPr/>
          <p:nvPr/>
        </p:nvSpPr>
        <p:spPr>
          <a:xfrm>
            <a:off x="411480" y="4251960"/>
            <a:ext cx="3840480" cy="475488"/>
          </a:xfrm>
          <a:prstGeom prst="rect">
            <a:avLst/>
          </a:prstGeom>
          <a:noFill/>
          <a:ln/>
        </p:spPr>
        <p:txBody>
          <a:bodyPr wrap="square" rtlCol="0" anchor="ctr"/>
          <a:lstStyle/>
          <a:p>
            <a:pPr marL="0" indent="0">
              <a:buNone/>
            </a:pPr>
            <a:r>
              <a:rPr lang="en-US" sz="850" dirty="0">
                <a:solidFill>
                  <a:srgbClr val="1C2833"/>
                </a:solidFill>
              </a:rPr>
              <a:t>&lt; 20 km/h: 1 pt+68€ · 20-29: 2 pts+135€ · 30-39: 3 pts · 40-49: 4 pts · ≥50: 6 pts+1 500€+annulation</a:t>
            </a:r>
            <a:endParaRPr lang="en-US" sz="850" dirty="0"/>
          </a:p>
        </p:txBody>
      </p:sp>
      <p:pic>
        <p:nvPicPr>
          <p:cNvPr id="11" name="Image 0" descr="preencoded.png"/>
          <p:cNvPicPr>
            <a:picLocks noChangeAspect="1"/>
          </p:cNvPicPr>
          <p:nvPr/>
        </p:nvPicPr>
        <p:blipFill>
          <a:blip r:embed="rId3"/>
          <a:stretch>
            <a:fillRect/>
          </a:stretch>
        </p:blipFill>
        <p:spPr>
          <a:xfrm>
            <a:off x="4663440" y="1644091"/>
            <a:ext cx="4206240" cy="2663647"/>
          </a:xfrm>
          <a:prstGeom prst="rect">
            <a:avLst/>
          </a:prstGeom>
        </p:spPr>
      </p:pic>
      <p:sp>
        <p:nvSpPr>
          <p:cNvPr id="12" name="Shape 8"/>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3" name="Text 9"/>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4" name="Text 10"/>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L'éco-conduite — 8 principes essentiels</a:t>
            </a:r>
            <a:endParaRPr lang="en-US" sz="2000" dirty="0"/>
          </a:p>
        </p:txBody>
      </p:sp>
      <p:pic>
        <p:nvPicPr>
          <p:cNvPr id="6" name="Image 0" descr="preencoded.png"/>
          <p:cNvPicPr>
            <a:picLocks noChangeAspect="1"/>
          </p:cNvPicPr>
          <p:nvPr/>
        </p:nvPicPr>
        <p:blipFill>
          <a:blip r:embed="rId3"/>
          <a:stretch>
            <a:fillRect/>
          </a:stretch>
        </p:blipFill>
        <p:spPr>
          <a:xfrm>
            <a:off x="274320" y="1383487"/>
            <a:ext cx="5029200" cy="3184855"/>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5257800" y="1389888"/>
            <a:ext cx="3657600" cy="320040"/>
          </a:xfrm>
          <a:prstGeom prst="rect">
            <a:avLst/>
          </a:prstGeom>
          <a:noFill/>
          <a:ln/>
        </p:spPr>
        <p:txBody>
          <a:bodyPr wrap="square" rtlCol="0" anchor="ctr"/>
          <a:lstStyle/>
          <a:p>
            <a:pPr marL="0" indent="0">
              <a:buNone/>
            </a:pPr>
            <a:r>
              <a:rPr lang="en-US" sz="1100" b="1" dirty="0">
                <a:solidFill>
                  <a:srgbClr val="D35400"/>
                </a:solidFill>
              </a:rPr>
              <a:t>8 principes d'éco-conduite</a:t>
            </a:r>
            <a:endParaRPr lang="en-US" sz="1100" dirty="0"/>
          </a:p>
        </p:txBody>
      </p:sp>
      <p:sp>
        <p:nvSpPr>
          <p:cNvPr id="9" name="Shape 6"/>
          <p:cNvSpPr/>
          <p:nvPr/>
        </p:nvSpPr>
        <p:spPr>
          <a:xfrm>
            <a:off x="5257800" y="1810512"/>
            <a:ext cx="64008" cy="384048"/>
          </a:xfrm>
          <a:prstGeom prst="rect">
            <a:avLst/>
          </a:prstGeom>
          <a:solidFill>
            <a:srgbClr val="D35400"/>
          </a:solidFill>
          <a:ln w="12700">
            <a:solidFill>
              <a:srgbClr val="D35400"/>
            </a:solidFill>
            <a:prstDash val="solid"/>
          </a:ln>
        </p:spPr>
        <p:txBody>
          <a:bodyPr/>
          <a:lstStyle/>
          <a:p>
            <a:endParaRPr lang="fr-FR"/>
          </a:p>
        </p:txBody>
      </p:sp>
      <p:sp>
        <p:nvSpPr>
          <p:cNvPr id="10" name="Text 7"/>
          <p:cNvSpPr/>
          <p:nvPr/>
        </p:nvSpPr>
        <p:spPr>
          <a:xfrm>
            <a:off x="5413248" y="1755648"/>
            <a:ext cx="3364992" cy="493776"/>
          </a:xfrm>
          <a:prstGeom prst="rect">
            <a:avLst/>
          </a:prstGeom>
          <a:noFill/>
          <a:ln/>
        </p:spPr>
        <p:txBody>
          <a:bodyPr wrap="square" rtlCol="0" anchor="ctr"/>
          <a:lstStyle/>
          <a:p>
            <a:pPr marL="0" indent="0">
              <a:buNone/>
            </a:pPr>
            <a:r>
              <a:rPr lang="en-US" sz="850" dirty="0">
                <a:solidFill>
                  <a:srgbClr val="1C2833"/>
                </a:solidFill>
              </a:rPr>
              <a:t>Changer de vitesse tôt — rapport le plus élevé</a:t>
            </a:r>
            <a:endParaRPr lang="en-US" sz="850" dirty="0"/>
          </a:p>
        </p:txBody>
      </p:sp>
      <p:sp>
        <p:nvSpPr>
          <p:cNvPr id="11" name="Shape 8"/>
          <p:cNvSpPr/>
          <p:nvPr/>
        </p:nvSpPr>
        <p:spPr>
          <a:xfrm>
            <a:off x="5257800" y="2203704"/>
            <a:ext cx="64008" cy="384048"/>
          </a:xfrm>
          <a:prstGeom prst="rect">
            <a:avLst/>
          </a:prstGeom>
          <a:solidFill>
            <a:srgbClr val="D35400"/>
          </a:solidFill>
          <a:ln w="12700">
            <a:solidFill>
              <a:srgbClr val="D35400"/>
            </a:solidFill>
            <a:prstDash val="solid"/>
          </a:ln>
        </p:spPr>
        <p:txBody>
          <a:bodyPr/>
          <a:lstStyle/>
          <a:p>
            <a:endParaRPr lang="fr-FR"/>
          </a:p>
        </p:txBody>
      </p:sp>
      <p:sp>
        <p:nvSpPr>
          <p:cNvPr id="12" name="Text 9"/>
          <p:cNvSpPr/>
          <p:nvPr/>
        </p:nvSpPr>
        <p:spPr>
          <a:xfrm>
            <a:off x="5413248" y="2148840"/>
            <a:ext cx="3364992" cy="493776"/>
          </a:xfrm>
          <a:prstGeom prst="rect">
            <a:avLst/>
          </a:prstGeom>
          <a:noFill/>
          <a:ln/>
        </p:spPr>
        <p:txBody>
          <a:bodyPr wrap="square" rtlCol="0" anchor="ctr"/>
          <a:lstStyle/>
          <a:p>
            <a:pPr marL="0" indent="0">
              <a:buNone/>
            </a:pPr>
            <a:r>
              <a:rPr lang="en-US" sz="850" dirty="0">
                <a:solidFill>
                  <a:srgbClr val="1C2833"/>
                </a:solidFill>
              </a:rPr>
              <a:t>Réduire la vitesse : -10 km/h = économies significatives</a:t>
            </a:r>
            <a:endParaRPr lang="en-US" sz="850" dirty="0"/>
          </a:p>
        </p:txBody>
      </p:sp>
      <p:sp>
        <p:nvSpPr>
          <p:cNvPr id="13" name="Shape 10"/>
          <p:cNvSpPr/>
          <p:nvPr/>
        </p:nvSpPr>
        <p:spPr>
          <a:xfrm>
            <a:off x="5257800" y="2596896"/>
            <a:ext cx="64008" cy="384048"/>
          </a:xfrm>
          <a:prstGeom prst="rect">
            <a:avLst/>
          </a:prstGeom>
          <a:solidFill>
            <a:srgbClr val="D35400"/>
          </a:solidFill>
          <a:ln w="12700">
            <a:solidFill>
              <a:srgbClr val="D35400"/>
            </a:solidFill>
            <a:prstDash val="solid"/>
          </a:ln>
        </p:spPr>
        <p:txBody>
          <a:bodyPr/>
          <a:lstStyle/>
          <a:p>
            <a:endParaRPr lang="fr-FR"/>
          </a:p>
        </p:txBody>
      </p:sp>
      <p:sp>
        <p:nvSpPr>
          <p:cNvPr id="14" name="Text 11"/>
          <p:cNvSpPr/>
          <p:nvPr/>
        </p:nvSpPr>
        <p:spPr>
          <a:xfrm>
            <a:off x="5413248" y="2542032"/>
            <a:ext cx="3364992" cy="493776"/>
          </a:xfrm>
          <a:prstGeom prst="rect">
            <a:avLst/>
          </a:prstGeom>
          <a:noFill/>
          <a:ln/>
        </p:spPr>
        <p:txBody>
          <a:bodyPr wrap="square" rtlCol="0" anchor="ctr"/>
          <a:lstStyle/>
          <a:p>
            <a:pPr marL="0" indent="0">
              <a:buNone/>
            </a:pPr>
            <a:r>
              <a:rPr lang="en-US" sz="850" dirty="0">
                <a:solidFill>
                  <a:srgbClr val="1C2833"/>
                </a:solidFill>
              </a:rPr>
              <a:t>Maintenir une vitesse stable — anticiper le trafic</a:t>
            </a:r>
            <a:endParaRPr lang="en-US" sz="850" dirty="0"/>
          </a:p>
        </p:txBody>
      </p:sp>
      <p:sp>
        <p:nvSpPr>
          <p:cNvPr id="15" name="Shape 12"/>
          <p:cNvSpPr/>
          <p:nvPr/>
        </p:nvSpPr>
        <p:spPr>
          <a:xfrm>
            <a:off x="5257800" y="2990088"/>
            <a:ext cx="64008" cy="384048"/>
          </a:xfrm>
          <a:prstGeom prst="rect">
            <a:avLst/>
          </a:prstGeom>
          <a:solidFill>
            <a:srgbClr val="D35400"/>
          </a:solidFill>
          <a:ln w="12700">
            <a:solidFill>
              <a:srgbClr val="D35400"/>
            </a:solidFill>
            <a:prstDash val="solid"/>
          </a:ln>
        </p:spPr>
        <p:txBody>
          <a:bodyPr/>
          <a:lstStyle/>
          <a:p>
            <a:endParaRPr lang="fr-FR"/>
          </a:p>
        </p:txBody>
      </p:sp>
      <p:sp>
        <p:nvSpPr>
          <p:cNvPr id="16" name="Text 13"/>
          <p:cNvSpPr/>
          <p:nvPr/>
        </p:nvSpPr>
        <p:spPr>
          <a:xfrm>
            <a:off x="5413248" y="2935224"/>
            <a:ext cx="3364992" cy="493776"/>
          </a:xfrm>
          <a:prstGeom prst="rect">
            <a:avLst/>
          </a:prstGeom>
          <a:noFill/>
          <a:ln/>
        </p:spPr>
        <p:txBody>
          <a:bodyPr wrap="square" rtlCol="0" anchor="ctr"/>
          <a:lstStyle/>
          <a:p>
            <a:pPr marL="0" indent="0">
              <a:buNone/>
            </a:pPr>
            <a:r>
              <a:rPr lang="en-US" sz="850" dirty="0">
                <a:solidFill>
                  <a:srgbClr val="1C2833"/>
                </a:solidFill>
              </a:rPr>
              <a:t>Frein moteur : injection coupée (vs. débrayé = consommation)</a:t>
            </a:r>
            <a:endParaRPr lang="en-US" sz="850" dirty="0"/>
          </a:p>
        </p:txBody>
      </p:sp>
      <p:sp>
        <p:nvSpPr>
          <p:cNvPr id="17" name="Shape 14"/>
          <p:cNvSpPr/>
          <p:nvPr/>
        </p:nvSpPr>
        <p:spPr>
          <a:xfrm>
            <a:off x="5257800" y="3383280"/>
            <a:ext cx="64008" cy="384048"/>
          </a:xfrm>
          <a:prstGeom prst="rect">
            <a:avLst/>
          </a:prstGeom>
          <a:solidFill>
            <a:srgbClr val="D35400"/>
          </a:solidFill>
          <a:ln w="12700">
            <a:solidFill>
              <a:srgbClr val="D35400"/>
            </a:solidFill>
            <a:prstDash val="solid"/>
          </a:ln>
        </p:spPr>
        <p:txBody>
          <a:bodyPr/>
          <a:lstStyle/>
          <a:p>
            <a:endParaRPr lang="fr-FR"/>
          </a:p>
        </p:txBody>
      </p:sp>
      <p:sp>
        <p:nvSpPr>
          <p:cNvPr id="18" name="Text 15"/>
          <p:cNvSpPr/>
          <p:nvPr/>
        </p:nvSpPr>
        <p:spPr>
          <a:xfrm>
            <a:off x="5413248" y="3328416"/>
            <a:ext cx="3364992" cy="493776"/>
          </a:xfrm>
          <a:prstGeom prst="rect">
            <a:avLst/>
          </a:prstGeom>
          <a:noFill/>
          <a:ln/>
        </p:spPr>
        <p:txBody>
          <a:bodyPr wrap="square" rtlCol="0" anchor="ctr"/>
          <a:lstStyle/>
          <a:p>
            <a:pPr marL="0" indent="0">
              <a:buNone/>
            </a:pPr>
            <a:r>
              <a:rPr lang="en-US" sz="850" dirty="0">
                <a:solidFill>
                  <a:srgbClr val="1C2833"/>
                </a:solidFill>
              </a:rPr>
              <a:t>Couper le moteur à l'arrêt prolongé (passage à niveau, feu rouge long)</a:t>
            </a:r>
            <a:endParaRPr lang="en-US" sz="850" dirty="0"/>
          </a:p>
        </p:txBody>
      </p:sp>
      <p:sp>
        <p:nvSpPr>
          <p:cNvPr id="19" name="Shape 16"/>
          <p:cNvSpPr/>
          <p:nvPr/>
        </p:nvSpPr>
        <p:spPr>
          <a:xfrm>
            <a:off x="5257800" y="3776472"/>
            <a:ext cx="64008" cy="384048"/>
          </a:xfrm>
          <a:prstGeom prst="rect">
            <a:avLst/>
          </a:prstGeom>
          <a:solidFill>
            <a:srgbClr val="D35400"/>
          </a:solidFill>
          <a:ln w="12700">
            <a:solidFill>
              <a:srgbClr val="D35400"/>
            </a:solidFill>
            <a:prstDash val="solid"/>
          </a:ln>
        </p:spPr>
        <p:txBody>
          <a:bodyPr/>
          <a:lstStyle/>
          <a:p>
            <a:endParaRPr lang="fr-FR"/>
          </a:p>
        </p:txBody>
      </p:sp>
      <p:sp>
        <p:nvSpPr>
          <p:cNvPr id="20" name="Text 17"/>
          <p:cNvSpPr/>
          <p:nvPr/>
        </p:nvSpPr>
        <p:spPr>
          <a:xfrm>
            <a:off x="5413248" y="3721608"/>
            <a:ext cx="3364992" cy="493776"/>
          </a:xfrm>
          <a:prstGeom prst="rect">
            <a:avLst/>
          </a:prstGeom>
          <a:noFill/>
          <a:ln/>
        </p:spPr>
        <p:txBody>
          <a:bodyPr wrap="square" rtlCol="0" anchor="ctr"/>
          <a:lstStyle/>
          <a:p>
            <a:pPr marL="0" indent="0">
              <a:buNone/>
            </a:pPr>
            <a:r>
              <a:rPr lang="en-US" sz="850" dirty="0">
                <a:solidFill>
                  <a:srgbClr val="1C2833"/>
                </a:solidFill>
              </a:rPr>
              <a:t>Décharger la voiture — moins de charge = moins de consommation</a:t>
            </a:r>
            <a:endParaRPr lang="en-US" sz="850" dirty="0"/>
          </a:p>
        </p:txBody>
      </p:sp>
      <p:sp>
        <p:nvSpPr>
          <p:cNvPr id="21" name="Shape 18"/>
          <p:cNvSpPr/>
          <p:nvPr/>
        </p:nvSpPr>
        <p:spPr>
          <a:xfrm>
            <a:off x="5257800" y="4169664"/>
            <a:ext cx="64008" cy="384048"/>
          </a:xfrm>
          <a:prstGeom prst="rect">
            <a:avLst/>
          </a:prstGeom>
          <a:solidFill>
            <a:srgbClr val="D35400"/>
          </a:solidFill>
          <a:ln w="12700">
            <a:solidFill>
              <a:srgbClr val="D35400"/>
            </a:solidFill>
            <a:prstDash val="solid"/>
          </a:ln>
        </p:spPr>
        <p:txBody>
          <a:bodyPr/>
          <a:lstStyle/>
          <a:p>
            <a:endParaRPr lang="fr-FR"/>
          </a:p>
        </p:txBody>
      </p:sp>
      <p:sp>
        <p:nvSpPr>
          <p:cNvPr id="22" name="Text 19"/>
          <p:cNvSpPr/>
          <p:nvPr/>
        </p:nvSpPr>
        <p:spPr>
          <a:xfrm>
            <a:off x="5413248" y="4114800"/>
            <a:ext cx="3364992" cy="493776"/>
          </a:xfrm>
          <a:prstGeom prst="rect">
            <a:avLst/>
          </a:prstGeom>
          <a:noFill/>
          <a:ln/>
        </p:spPr>
        <p:txBody>
          <a:bodyPr wrap="square" rtlCol="0" anchor="ctr"/>
          <a:lstStyle/>
          <a:p>
            <a:pPr marL="0" indent="0">
              <a:buNone/>
            </a:pPr>
            <a:r>
              <a:rPr lang="en-US" sz="850" dirty="0">
                <a:solidFill>
                  <a:srgbClr val="1C2833"/>
                </a:solidFill>
              </a:rPr>
              <a:t>Vérifier la pression des pneus régulièrement</a:t>
            </a:r>
            <a:endParaRPr lang="en-US" sz="850" dirty="0"/>
          </a:p>
        </p:txBody>
      </p:sp>
      <p:sp>
        <p:nvSpPr>
          <p:cNvPr id="23" name="Shape 20"/>
          <p:cNvSpPr/>
          <p:nvPr/>
        </p:nvSpPr>
        <p:spPr>
          <a:xfrm>
            <a:off x="5257800" y="4562856"/>
            <a:ext cx="64008" cy="384048"/>
          </a:xfrm>
          <a:prstGeom prst="rect">
            <a:avLst/>
          </a:prstGeom>
          <a:solidFill>
            <a:srgbClr val="D35400"/>
          </a:solidFill>
          <a:ln w="12700">
            <a:solidFill>
              <a:srgbClr val="D35400"/>
            </a:solidFill>
            <a:prstDash val="solid"/>
          </a:ln>
        </p:spPr>
        <p:txBody>
          <a:bodyPr/>
          <a:lstStyle/>
          <a:p>
            <a:endParaRPr lang="fr-FR"/>
          </a:p>
        </p:txBody>
      </p:sp>
      <p:sp>
        <p:nvSpPr>
          <p:cNvPr id="24" name="Text 21"/>
          <p:cNvSpPr/>
          <p:nvPr/>
        </p:nvSpPr>
        <p:spPr>
          <a:xfrm>
            <a:off x="5413248" y="4507992"/>
            <a:ext cx="3364992" cy="493776"/>
          </a:xfrm>
          <a:prstGeom prst="rect">
            <a:avLst/>
          </a:prstGeom>
          <a:noFill/>
          <a:ln/>
        </p:spPr>
        <p:txBody>
          <a:bodyPr wrap="square" rtlCol="0" anchor="ctr"/>
          <a:lstStyle/>
          <a:p>
            <a:pPr marL="0" indent="0">
              <a:buNone/>
            </a:pPr>
            <a:r>
              <a:rPr lang="en-US" sz="850" dirty="0">
                <a:solidFill>
                  <a:srgbClr val="1C2833"/>
                </a:solidFill>
              </a:rPr>
              <a:t>Utiliser une huile moteur de haute qualité</a:t>
            </a:r>
            <a:endParaRPr lang="en-US" sz="850" dirty="0"/>
          </a:p>
        </p:txBody>
      </p:sp>
      <p:sp>
        <p:nvSpPr>
          <p:cNvPr id="25" name="Shape 22"/>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6" name="Text 2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7" name="Text 24"/>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Contrôle technique — Transport de personnes</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Périodicité</a:t>
            </a:r>
            <a:endParaRPr lang="en-US" sz="1100" dirty="0"/>
          </a:p>
        </p:txBody>
      </p:sp>
      <p:sp>
        <p:nvSpPr>
          <p:cNvPr id="9" name="Shape 6"/>
          <p:cNvSpPr/>
          <p:nvPr/>
        </p:nvSpPr>
        <p:spPr>
          <a:xfrm>
            <a:off x="4800600" y="1819656"/>
            <a:ext cx="64008" cy="384048"/>
          </a:xfrm>
          <a:prstGeom prst="rect">
            <a:avLst/>
          </a:prstGeom>
          <a:solidFill>
            <a:srgbClr val="D35400"/>
          </a:solidFill>
          <a:ln w="12700">
            <a:solidFill>
              <a:srgbClr val="D35400"/>
            </a:solidFill>
            <a:prstDash val="solid"/>
          </a:ln>
        </p:spPr>
        <p:txBody>
          <a:bodyPr/>
          <a:lstStyle/>
          <a:p>
            <a:endParaRPr lang="fr-FR"/>
          </a:p>
        </p:txBody>
      </p:sp>
      <p:sp>
        <p:nvSpPr>
          <p:cNvPr id="10" name="Text 7"/>
          <p:cNvSpPr/>
          <p:nvPr/>
        </p:nvSpPr>
        <p:spPr>
          <a:xfrm>
            <a:off x="4956048" y="1764792"/>
            <a:ext cx="3639312" cy="493776"/>
          </a:xfrm>
          <a:prstGeom prst="rect">
            <a:avLst/>
          </a:prstGeom>
          <a:noFill/>
          <a:ln/>
        </p:spPr>
        <p:txBody>
          <a:bodyPr wrap="square" rtlCol="0" anchor="ctr"/>
          <a:lstStyle/>
          <a:p>
            <a:pPr marL="0" indent="0">
              <a:buNone/>
            </a:pPr>
            <a:r>
              <a:rPr lang="en-US" sz="900" dirty="0">
                <a:solidFill>
                  <a:srgbClr val="1C2833"/>
                </a:solidFill>
              </a:rPr>
              <a:t>Véhicule &lt; 10 places affecté au transport public de personnes</a:t>
            </a:r>
            <a:endParaRPr lang="en-US" sz="900" dirty="0"/>
          </a:p>
        </p:txBody>
      </p:sp>
      <p:sp>
        <p:nvSpPr>
          <p:cNvPr id="11" name="Shape 8"/>
          <p:cNvSpPr/>
          <p:nvPr/>
        </p:nvSpPr>
        <p:spPr>
          <a:xfrm>
            <a:off x="4800600" y="2368296"/>
            <a:ext cx="64008" cy="384048"/>
          </a:xfrm>
          <a:prstGeom prst="rect">
            <a:avLst/>
          </a:prstGeom>
          <a:solidFill>
            <a:srgbClr val="D35400"/>
          </a:solidFill>
          <a:ln w="12700">
            <a:solidFill>
              <a:srgbClr val="D35400"/>
            </a:solidFill>
            <a:prstDash val="solid"/>
          </a:ln>
        </p:spPr>
        <p:txBody>
          <a:bodyPr/>
          <a:lstStyle/>
          <a:p>
            <a:endParaRPr lang="fr-FR"/>
          </a:p>
        </p:txBody>
      </p:sp>
      <p:sp>
        <p:nvSpPr>
          <p:cNvPr id="12" name="Text 9"/>
          <p:cNvSpPr/>
          <p:nvPr/>
        </p:nvSpPr>
        <p:spPr>
          <a:xfrm>
            <a:off x="4956048" y="2313432"/>
            <a:ext cx="3639312" cy="493776"/>
          </a:xfrm>
          <a:prstGeom prst="rect">
            <a:avLst/>
          </a:prstGeom>
          <a:noFill/>
          <a:ln/>
        </p:spPr>
        <p:txBody>
          <a:bodyPr wrap="square" rtlCol="0" anchor="ctr"/>
          <a:lstStyle/>
          <a:p>
            <a:pPr marL="0" indent="0">
              <a:buNone/>
            </a:pPr>
            <a:r>
              <a:rPr lang="en-US" sz="900" dirty="0">
                <a:solidFill>
                  <a:srgbClr val="1C2833"/>
                </a:solidFill>
              </a:rPr>
              <a:t>1er CT : au plus tard 1 an après 1ère mise en circulation</a:t>
            </a:r>
            <a:endParaRPr lang="en-US" sz="900" dirty="0"/>
          </a:p>
        </p:txBody>
      </p:sp>
      <p:sp>
        <p:nvSpPr>
          <p:cNvPr id="13" name="Shape 10"/>
          <p:cNvSpPr/>
          <p:nvPr/>
        </p:nvSpPr>
        <p:spPr>
          <a:xfrm>
            <a:off x="4800600" y="2916936"/>
            <a:ext cx="64008" cy="384048"/>
          </a:xfrm>
          <a:prstGeom prst="rect">
            <a:avLst/>
          </a:prstGeom>
          <a:solidFill>
            <a:srgbClr val="D35400"/>
          </a:solidFill>
          <a:ln w="12700">
            <a:solidFill>
              <a:srgbClr val="D35400"/>
            </a:solidFill>
            <a:prstDash val="solid"/>
          </a:ln>
        </p:spPr>
        <p:txBody>
          <a:bodyPr/>
          <a:lstStyle/>
          <a:p>
            <a:endParaRPr lang="fr-FR"/>
          </a:p>
        </p:txBody>
      </p:sp>
      <p:sp>
        <p:nvSpPr>
          <p:cNvPr id="14" name="Text 11"/>
          <p:cNvSpPr/>
          <p:nvPr/>
        </p:nvSpPr>
        <p:spPr>
          <a:xfrm>
            <a:off x="4956048" y="2862072"/>
            <a:ext cx="3639312" cy="493776"/>
          </a:xfrm>
          <a:prstGeom prst="rect">
            <a:avLst/>
          </a:prstGeom>
          <a:noFill/>
          <a:ln/>
        </p:spPr>
        <p:txBody>
          <a:bodyPr wrap="square" rtlCol="0" anchor="ctr"/>
          <a:lstStyle/>
          <a:p>
            <a:pPr marL="0" indent="0">
              <a:buNone/>
            </a:pPr>
            <a:r>
              <a:rPr lang="en-US" sz="900" dirty="0">
                <a:solidFill>
                  <a:srgbClr val="1C2833"/>
                </a:solidFill>
              </a:rPr>
              <a:t>OU avant utilisation si CT &gt; 1 an après mise en circulation</a:t>
            </a:r>
            <a:endParaRPr lang="en-US" sz="900" dirty="0"/>
          </a:p>
        </p:txBody>
      </p:sp>
      <p:sp>
        <p:nvSpPr>
          <p:cNvPr id="15" name="Shape 12"/>
          <p:cNvSpPr/>
          <p:nvPr/>
        </p:nvSpPr>
        <p:spPr>
          <a:xfrm>
            <a:off x="4800600" y="3465576"/>
            <a:ext cx="64008" cy="384048"/>
          </a:xfrm>
          <a:prstGeom prst="rect">
            <a:avLst/>
          </a:prstGeom>
          <a:solidFill>
            <a:srgbClr val="D35400"/>
          </a:solidFill>
          <a:ln w="12700">
            <a:solidFill>
              <a:srgbClr val="D35400"/>
            </a:solidFill>
            <a:prstDash val="solid"/>
          </a:ln>
        </p:spPr>
        <p:txBody>
          <a:bodyPr/>
          <a:lstStyle/>
          <a:p>
            <a:endParaRPr lang="fr-FR"/>
          </a:p>
        </p:txBody>
      </p:sp>
      <p:sp>
        <p:nvSpPr>
          <p:cNvPr id="16" name="Text 13"/>
          <p:cNvSpPr/>
          <p:nvPr/>
        </p:nvSpPr>
        <p:spPr>
          <a:xfrm>
            <a:off x="4956048" y="3410712"/>
            <a:ext cx="3639312" cy="493776"/>
          </a:xfrm>
          <a:prstGeom prst="rect">
            <a:avLst/>
          </a:prstGeom>
          <a:noFill/>
          <a:ln/>
        </p:spPr>
        <p:txBody>
          <a:bodyPr wrap="square" rtlCol="0" anchor="ctr"/>
          <a:lstStyle/>
          <a:p>
            <a:pPr marL="0" indent="0">
              <a:buNone/>
            </a:pPr>
            <a:r>
              <a:rPr lang="en-US" sz="900" dirty="0">
                <a:solidFill>
                  <a:srgbClr val="1C2833"/>
                </a:solidFill>
              </a:rPr>
              <a:t>Renouvellement TOUS LES ANS</a:t>
            </a:r>
            <a:endParaRPr lang="en-US" sz="900" dirty="0"/>
          </a:p>
        </p:txBody>
      </p:sp>
      <p:sp>
        <p:nvSpPr>
          <p:cNvPr id="17" name="Text 14"/>
          <p:cNvSpPr/>
          <p:nvPr/>
        </p:nvSpPr>
        <p:spPr>
          <a:xfrm>
            <a:off x="4800600" y="4023360"/>
            <a:ext cx="3840480" cy="292608"/>
          </a:xfrm>
          <a:prstGeom prst="rect">
            <a:avLst/>
          </a:prstGeom>
          <a:noFill/>
          <a:ln/>
        </p:spPr>
        <p:txBody>
          <a:bodyPr wrap="square" rtlCol="0" anchor="ctr"/>
          <a:lstStyle/>
          <a:p>
            <a:pPr marL="0" indent="0">
              <a:buNone/>
            </a:pPr>
            <a:r>
              <a:rPr lang="en-US" sz="1100" b="1" dirty="0">
                <a:solidFill>
                  <a:srgbClr val="D35400"/>
                </a:solidFill>
              </a:rPr>
              <a:t>⚠️ 3 niveaux de défaillances</a:t>
            </a:r>
            <a:endParaRPr lang="en-US" sz="1100" dirty="0"/>
          </a:p>
        </p:txBody>
      </p:sp>
      <p:sp>
        <p:nvSpPr>
          <p:cNvPr id="18" name="Shape 15"/>
          <p:cNvSpPr/>
          <p:nvPr/>
        </p:nvSpPr>
        <p:spPr>
          <a:xfrm>
            <a:off x="4800600" y="4370832"/>
            <a:ext cx="1188720" cy="256032"/>
          </a:xfrm>
          <a:prstGeom prst="rect">
            <a:avLst/>
          </a:prstGeom>
          <a:solidFill>
            <a:srgbClr val="1E8449"/>
          </a:solidFill>
          <a:ln w="12700">
            <a:solidFill>
              <a:srgbClr val="1E8449"/>
            </a:solidFill>
            <a:prstDash val="solid"/>
          </a:ln>
        </p:spPr>
        <p:txBody>
          <a:bodyPr/>
          <a:lstStyle/>
          <a:p>
            <a:endParaRPr lang="fr-FR"/>
          </a:p>
        </p:txBody>
      </p:sp>
      <p:sp>
        <p:nvSpPr>
          <p:cNvPr id="19" name="Text 16"/>
          <p:cNvSpPr/>
          <p:nvPr/>
        </p:nvSpPr>
        <p:spPr>
          <a:xfrm>
            <a:off x="4800600" y="4370832"/>
            <a:ext cx="1188720" cy="256032"/>
          </a:xfrm>
          <a:prstGeom prst="rect">
            <a:avLst/>
          </a:prstGeom>
          <a:noFill/>
          <a:ln/>
        </p:spPr>
        <p:txBody>
          <a:bodyPr wrap="square" rtlCol="0" anchor="ctr"/>
          <a:lstStyle/>
          <a:p>
            <a:pPr marL="0" indent="0" algn="ctr">
              <a:buNone/>
            </a:pPr>
            <a:r>
              <a:rPr lang="en-US" sz="750" b="1" dirty="0">
                <a:solidFill>
                  <a:srgbClr val="FFFFFF"/>
                </a:solidFill>
              </a:rPr>
              <a:t>MINEURES</a:t>
            </a:r>
            <a:endParaRPr lang="en-US" sz="750" dirty="0"/>
          </a:p>
        </p:txBody>
      </p:sp>
      <p:sp>
        <p:nvSpPr>
          <p:cNvPr id="20" name="Text 17"/>
          <p:cNvSpPr/>
          <p:nvPr/>
        </p:nvSpPr>
        <p:spPr>
          <a:xfrm>
            <a:off x="6080760" y="4370832"/>
            <a:ext cx="2651760" cy="256032"/>
          </a:xfrm>
          <a:prstGeom prst="rect">
            <a:avLst/>
          </a:prstGeom>
          <a:noFill/>
          <a:ln/>
        </p:spPr>
        <p:txBody>
          <a:bodyPr wrap="square" rtlCol="0" anchor="ctr"/>
          <a:lstStyle/>
          <a:p>
            <a:pPr marL="0" indent="0">
              <a:buNone/>
            </a:pPr>
            <a:r>
              <a:rPr lang="en-US" sz="850" dirty="0">
                <a:solidFill>
                  <a:srgbClr val="1C2833"/>
                </a:solidFill>
              </a:rPr>
              <a:t>Sans contre-visite obligatoire</a:t>
            </a:r>
            <a:endParaRPr lang="en-US" sz="850" dirty="0"/>
          </a:p>
        </p:txBody>
      </p:sp>
      <p:sp>
        <p:nvSpPr>
          <p:cNvPr id="21" name="Shape 18"/>
          <p:cNvSpPr/>
          <p:nvPr/>
        </p:nvSpPr>
        <p:spPr>
          <a:xfrm>
            <a:off x="4800600" y="4654296"/>
            <a:ext cx="1188720" cy="256032"/>
          </a:xfrm>
          <a:prstGeom prst="rect">
            <a:avLst/>
          </a:prstGeom>
          <a:solidFill>
            <a:srgbClr val="D4AC0D"/>
          </a:solidFill>
          <a:ln w="12700">
            <a:solidFill>
              <a:srgbClr val="D4AC0D"/>
            </a:solidFill>
            <a:prstDash val="solid"/>
          </a:ln>
        </p:spPr>
        <p:txBody>
          <a:bodyPr/>
          <a:lstStyle/>
          <a:p>
            <a:endParaRPr lang="fr-FR"/>
          </a:p>
        </p:txBody>
      </p:sp>
      <p:sp>
        <p:nvSpPr>
          <p:cNvPr id="22" name="Text 19"/>
          <p:cNvSpPr/>
          <p:nvPr/>
        </p:nvSpPr>
        <p:spPr>
          <a:xfrm>
            <a:off x="4800600" y="4654296"/>
            <a:ext cx="1188720" cy="256032"/>
          </a:xfrm>
          <a:prstGeom prst="rect">
            <a:avLst/>
          </a:prstGeom>
          <a:noFill/>
          <a:ln/>
        </p:spPr>
        <p:txBody>
          <a:bodyPr wrap="square" rtlCol="0" anchor="ctr"/>
          <a:lstStyle/>
          <a:p>
            <a:pPr marL="0" indent="0" algn="ctr">
              <a:buNone/>
            </a:pPr>
            <a:r>
              <a:rPr lang="en-US" sz="750" b="1" dirty="0">
                <a:solidFill>
                  <a:srgbClr val="FFFFFF"/>
                </a:solidFill>
              </a:rPr>
              <a:t>MAJEURES</a:t>
            </a:r>
            <a:endParaRPr lang="en-US" sz="750" dirty="0"/>
          </a:p>
        </p:txBody>
      </p:sp>
      <p:sp>
        <p:nvSpPr>
          <p:cNvPr id="23" name="Text 20"/>
          <p:cNvSpPr/>
          <p:nvPr/>
        </p:nvSpPr>
        <p:spPr>
          <a:xfrm>
            <a:off x="6080760" y="4654296"/>
            <a:ext cx="2651760" cy="256032"/>
          </a:xfrm>
          <a:prstGeom prst="rect">
            <a:avLst/>
          </a:prstGeom>
          <a:noFill/>
          <a:ln/>
        </p:spPr>
        <p:txBody>
          <a:bodyPr wrap="square" rtlCol="0" anchor="ctr"/>
          <a:lstStyle/>
          <a:p>
            <a:pPr marL="0" indent="0">
              <a:buNone/>
            </a:pPr>
            <a:r>
              <a:rPr lang="en-US" sz="850" dirty="0">
                <a:solidFill>
                  <a:srgbClr val="1C2833"/>
                </a:solidFill>
              </a:rPr>
              <a:t>Contre-visite sous 2 mois</a:t>
            </a:r>
            <a:endParaRPr lang="en-US" sz="850" dirty="0"/>
          </a:p>
        </p:txBody>
      </p:sp>
      <p:sp>
        <p:nvSpPr>
          <p:cNvPr id="24" name="Shape 21"/>
          <p:cNvSpPr/>
          <p:nvPr/>
        </p:nvSpPr>
        <p:spPr>
          <a:xfrm>
            <a:off x="4800600" y="4937760"/>
            <a:ext cx="1188720" cy="256032"/>
          </a:xfrm>
          <a:prstGeom prst="rect">
            <a:avLst/>
          </a:prstGeom>
          <a:solidFill>
            <a:srgbClr val="C0392B"/>
          </a:solidFill>
          <a:ln w="12700">
            <a:solidFill>
              <a:srgbClr val="C0392B"/>
            </a:solidFill>
            <a:prstDash val="solid"/>
          </a:ln>
        </p:spPr>
        <p:txBody>
          <a:bodyPr/>
          <a:lstStyle/>
          <a:p>
            <a:endParaRPr lang="fr-FR"/>
          </a:p>
        </p:txBody>
      </p:sp>
      <p:sp>
        <p:nvSpPr>
          <p:cNvPr id="25" name="Text 22"/>
          <p:cNvSpPr/>
          <p:nvPr/>
        </p:nvSpPr>
        <p:spPr>
          <a:xfrm>
            <a:off x="4800600" y="4937760"/>
            <a:ext cx="1188720" cy="256032"/>
          </a:xfrm>
          <a:prstGeom prst="rect">
            <a:avLst/>
          </a:prstGeom>
          <a:noFill/>
          <a:ln/>
        </p:spPr>
        <p:txBody>
          <a:bodyPr wrap="square" rtlCol="0" anchor="ctr"/>
          <a:lstStyle/>
          <a:p>
            <a:pPr marL="0" indent="0" algn="ctr">
              <a:buNone/>
            </a:pPr>
            <a:r>
              <a:rPr lang="en-US" sz="750" b="1" dirty="0">
                <a:solidFill>
                  <a:srgbClr val="FFFFFF"/>
                </a:solidFill>
              </a:rPr>
              <a:t>CRITIQUES</a:t>
            </a:r>
            <a:endParaRPr lang="en-US" sz="750" dirty="0"/>
          </a:p>
        </p:txBody>
      </p:sp>
      <p:sp>
        <p:nvSpPr>
          <p:cNvPr id="26" name="Text 23"/>
          <p:cNvSpPr/>
          <p:nvPr/>
        </p:nvSpPr>
        <p:spPr>
          <a:xfrm>
            <a:off x="6080760" y="4937760"/>
            <a:ext cx="2651760" cy="256032"/>
          </a:xfrm>
          <a:prstGeom prst="rect">
            <a:avLst/>
          </a:prstGeom>
          <a:noFill/>
          <a:ln/>
        </p:spPr>
        <p:txBody>
          <a:bodyPr wrap="square" rtlCol="0" anchor="ctr"/>
          <a:lstStyle/>
          <a:p>
            <a:pPr marL="0" indent="0">
              <a:buNone/>
            </a:pPr>
            <a:r>
              <a:rPr lang="en-US" sz="850" dirty="0">
                <a:solidFill>
                  <a:srgbClr val="1C2833"/>
                </a:solidFill>
              </a:rPr>
              <a:t>Circuler uniquement le jour J</a:t>
            </a:r>
            <a:endParaRPr lang="en-US" sz="850" dirty="0"/>
          </a:p>
        </p:txBody>
      </p:sp>
      <p:sp>
        <p:nvSpPr>
          <p:cNvPr id="27" name="Shape 24"/>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8" name="Text 25"/>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9" name="Text 26"/>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Accident : P.A.S. &amp; Téléphone au volant</a:t>
            </a:r>
            <a:endParaRPr lang="en-US" sz="2000" dirty="0"/>
          </a:p>
        </p:txBody>
      </p:sp>
      <p:pic>
        <p:nvPicPr>
          <p:cNvPr id="6" name="Image 0" descr="preencoded.png"/>
          <p:cNvPicPr>
            <a:picLocks noChangeAspect="1"/>
          </p:cNvPicPr>
          <p:nvPr/>
        </p:nvPicPr>
        <p:blipFill>
          <a:blip r:embed="rId3"/>
          <a:stretch>
            <a:fillRect/>
          </a:stretch>
        </p:blipFill>
        <p:spPr>
          <a:xfrm>
            <a:off x="748894" y="1298448"/>
            <a:ext cx="3898087" cy="2468880"/>
          </a:xfrm>
          <a:prstGeom prst="rect">
            <a:avLst/>
          </a:prstGeom>
        </p:spPr>
      </p:pic>
      <p:sp>
        <p:nvSpPr>
          <p:cNvPr id="7" name="Shape 4"/>
          <p:cNvSpPr/>
          <p:nvPr/>
        </p:nvSpPr>
        <p:spPr>
          <a:xfrm>
            <a:off x="4663440" y="1298448"/>
            <a:ext cx="4206240" cy="246888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Téléphone au volant</a:t>
            </a:r>
            <a:endParaRPr lang="en-US" sz="1100" dirty="0"/>
          </a:p>
        </p:txBody>
      </p:sp>
      <p:sp>
        <p:nvSpPr>
          <p:cNvPr id="9" name="Text 6"/>
          <p:cNvSpPr/>
          <p:nvPr/>
        </p:nvSpPr>
        <p:spPr>
          <a:xfrm>
            <a:off x="4800600" y="1764792"/>
            <a:ext cx="3840480" cy="256032"/>
          </a:xfrm>
          <a:prstGeom prst="rect">
            <a:avLst/>
          </a:prstGeom>
          <a:noFill/>
          <a:ln/>
        </p:spPr>
        <p:txBody>
          <a:bodyPr wrap="square" rtlCol="0" anchor="ctr"/>
          <a:lstStyle/>
          <a:p>
            <a:pPr marL="0" indent="0">
              <a:buNone/>
            </a:pPr>
            <a:r>
              <a:rPr lang="en-US" sz="950" b="1" dirty="0">
                <a:solidFill>
                  <a:srgbClr val="C0392B"/>
                </a:solidFill>
              </a:rPr>
              <a:t>INTERDITS :</a:t>
            </a:r>
            <a:endParaRPr lang="en-US" sz="950" dirty="0"/>
          </a:p>
        </p:txBody>
      </p:sp>
      <p:sp>
        <p:nvSpPr>
          <p:cNvPr id="10" name="Shape 7"/>
          <p:cNvSpPr/>
          <p:nvPr/>
        </p:nvSpPr>
        <p:spPr>
          <a:xfrm>
            <a:off x="4800600" y="2112264"/>
            <a:ext cx="64008" cy="384048"/>
          </a:xfrm>
          <a:prstGeom prst="rect">
            <a:avLst/>
          </a:prstGeom>
          <a:solidFill>
            <a:srgbClr val="C0392B"/>
          </a:solidFill>
          <a:ln w="12700">
            <a:solidFill>
              <a:srgbClr val="C0392B"/>
            </a:solidFill>
            <a:prstDash val="solid"/>
          </a:ln>
        </p:spPr>
        <p:txBody>
          <a:bodyPr/>
          <a:lstStyle/>
          <a:p>
            <a:endParaRPr lang="fr-FR"/>
          </a:p>
        </p:txBody>
      </p:sp>
      <p:sp>
        <p:nvSpPr>
          <p:cNvPr id="11" name="Text 8"/>
          <p:cNvSpPr/>
          <p:nvPr/>
        </p:nvSpPr>
        <p:spPr>
          <a:xfrm>
            <a:off x="4956048" y="2057400"/>
            <a:ext cx="3639312" cy="493776"/>
          </a:xfrm>
          <a:prstGeom prst="rect">
            <a:avLst/>
          </a:prstGeom>
          <a:noFill/>
          <a:ln/>
        </p:spPr>
        <p:txBody>
          <a:bodyPr wrap="square" rtlCol="0" anchor="ctr"/>
          <a:lstStyle/>
          <a:p>
            <a:pPr marL="0" indent="0">
              <a:buNone/>
            </a:pPr>
            <a:r>
              <a:rPr lang="en-US" sz="900" dirty="0">
                <a:solidFill>
                  <a:srgbClr val="1C2833"/>
                </a:solidFill>
              </a:rPr>
              <a:t>Téléphone tenu en main</a:t>
            </a:r>
            <a:endParaRPr lang="en-US" sz="900" dirty="0"/>
          </a:p>
        </p:txBody>
      </p:sp>
      <p:sp>
        <p:nvSpPr>
          <p:cNvPr id="12" name="Shape 9"/>
          <p:cNvSpPr/>
          <p:nvPr/>
        </p:nvSpPr>
        <p:spPr>
          <a:xfrm>
            <a:off x="4800600" y="2505456"/>
            <a:ext cx="64008" cy="384048"/>
          </a:xfrm>
          <a:prstGeom prst="rect">
            <a:avLst/>
          </a:prstGeom>
          <a:solidFill>
            <a:srgbClr val="C0392B"/>
          </a:solidFill>
          <a:ln w="12700">
            <a:solidFill>
              <a:srgbClr val="C0392B"/>
            </a:solidFill>
            <a:prstDash val="solid"/>
          </a:ln>
        </p:spPr>
        <p:txBody>
          <a:bodyPr/>
          <a:lstStyle/>
          <a:p>
            <a:endParaRPr lang="fr-FR"/>
          </a:p>
        </p:txBody>
      </p:sp>
      <p:sp>
        <p:nvSpPr>
          <p:cNvPr id="13" name="Text 10"/>
          <p:cNvSpPr/>
          <p:nvPr/>
        </p:nvSpPr>
        <p:spPr>
          <a:xfrm>
            <a:off x="4956048" y="2450592"/>
            <a:ext cx="3639312" cy="493776"/>
          </a:xfrm>
          <a:prstGeom prst="rect">
            <a:avLst/>
          </a:prstGeom>
          <a:noFill/>
          <a:ln/>
        </p:spPr>
        <p:txBody>
          <a:bodyPr wrap="square" rtlCol="0" anchor="ctr"/>
          <a:lstStyle/>
          <a:p>
            <a:pPr marL="0" indent="0">
              <a:buNone/>
            </a:pPr>
            <a:r>
              <a:rPr lang="en-US" sz="900" dirty="0">
                <a:solidFill>
                  <a:srgbClr val="1C2833"/>
                </a:solidFill>
              </a:rPr>
              <a:t>Oreillettes &amp; écouteurs</a:t>
            </a:r>
            <a:endParaRPr lang="en-US" sz="900" dirty="0"/>
          </a:p>
        </p:txBody>
      </p:sp>
      <p:sp>
        <p:nvSpPr>
          <p:cNvPr id="14" name="Shape 11"/>
          <p:cNvSpPr/>
          <p:nvPr/>
        </p:nvSpPr>
        <p:spPr>
          <a:xfrm>
            <a:off x="4800600" y="2898648"/>
            <a:ext cx="64008" cy="384048"/>
          </a:xfrm>
          <a:prstGeom prst="rect">
            <a:avLst/>
          </a:prstGeom>
          <a:solidFill>
            <a:srgbClr val="C0392B"/>
          </a:solidFill>
          <a:ln w="12700">
            <a:solidFill>
              <a:srgbClr val="C0392B"/>
            </a:solidFill>
            <a:prstDash val="solid"/>
          </a:ln>
        </p:spPr>
        <p:txBody>
          <a:bodyPr/>
          <a:lstStyle/>
          <a:p>
            <a:endParaRPr lang="fr-FR"/>
          </a:p>
        </p:txBody>
      </p:sp>
      <p:sp>
        <p:nvSpPr>
          <p:cNvPr id="15" name="Text 12"/>
          <p:cNvSpPr/>
          <p:nvPr/>
        </p:nvSpPr>
        <p:spPr>
          <a:xfrm>
            <a:off x="4956048" y="2843784"/>
            <a:ext cx="3639312" cy="493776"/>
          </a:xfrm>
          <a:prstGeom prst="rect">
            <a:avLst/>
          </a:prstGeom>
          <a:noFill/>
          <a:ln/>
        </p:spPr>
        <p:txBody>
          <a:bodyPr wrap="square" rtlCol="0" anchor="ctr"/>
          <a:lstStyle/>
          <a:p>
            <a:pPr marL="0" indent="0">
              <a:buNone/>
            </a:pPr>
            <a:r>
              <a:rPr lang="en-US" sz="900" dirty="0">
                <a:solidFill>
                  <a:srgbClr val="1C2833"/>
                </a:solidFill>
              </a:rPr>
              <a:t>Casque permettant de téléphoner ou écouter</a:t>
            </a:r>
            <a:endParaRPr lang="en-US" sz="900" dirty="0"/>
          </a:p>
        </p:txBody>
      </p:sp>
      <p:sp>
        <p:nvSpPr>
          <p:cNvPr id="16" name="Shape 13"/>
          <p:cNvSpPr/>
          <p:nvPr/>
        </p:nvSpPr>
        <p:spPr>
          <a:xfrm>
            <a:off x="4800600" y="3291840"/>
            <a:ext cx="64008" cy="384048"/>
          </a:xfrm>
          <a:prstGeom prst="rect">
            <a:avLst/>
          </a:prstGeom>
          <a:solidFill>
            <a:srgbClr val="C0392B"/>
          </a:solidFill>
          <a:ln w="12700">
            <a:solidFill>
              <a:srgbClr val="C0392B"/>
            </a:solidFill>
            <a:prstDash val="solid"/>
          </a:ln>
        </p:spPr>
        <p:txBody>
          <a:bodyPr/>
          <a:lstStyle/>
          <a:p>
            <a:endParaRPr lang="fr-FR"/>
          </a:p>
        </p:txBody>
      </p:sp>
      <p:sp>
        <p:nvSpPr>
          <p:cNvPr id="17" name="Text 14"/>
          <p:cNvSpPr/>
          <p:nvPr/>
        </p:nvSpPr>
        <p:spPr>
          <a:xfrm>
            <a:off x="4956048" y="3236976"/>
            <a:ext cx="3639312" cy="493776"/>
          </a:xfrm>
          <a:prstGeom prst="rect">
            <a:avLst/>
          </a:prstGeom>
          <a:noFill/>
          <a:ln/>
        </p:spPr>
        <p:txBody>
          <a:bodyPr wrap="square" rtlCol="0" anchor="ctr"/>
          <a:lstStyle/>
          <a:p>
            <a:pPr marL="0" indent="0">
              <a:buNone/>
            </a:pPr>
            <a:r>
              <a:rPr lang="en-US" sz="900" dirty="0">
                <a:solidFill>
                  <a:srgbClr val="1C2833"/>
                </a:solidFill>
              </a:rPr>
              <a:t>Exception : correcteurs de surdité</a:t>
            </a:r>
            <a:endParaRPr lang="en-US" sz="900" dirty="0"/>
          </a:p>
        </p:txBody>
      </p:sp>
      <p:sp>
        <p:nvSpPr>
          <p:cNvPr id="18" name="Shape 15"/>
          <p:cNvSpPr/>
          <p:nvPr/>
        </p:nvSpPr>
        <p:spPr>
          <a:xfrm>
            <a:off x="4800600" y="3611880"/>
            <a:ext cx="4114800" cy="320040"/>
          </a:xfrm>
          <a:prstGeom prst="rect">
            <a:avLst/>
          </a:prstGeom>
          <a:solidFill>
            <a:srgbClr val="D35400"/>
          </a:solidFill>
          <a:ln w="12700">
            <a:solidFill>
              <a:srgbClr val="D35400"/>
            </a:solidFill>
            <a:prstDash val="solid"/>
          </a:ln>
        </p:spPr>
        <p:txBody>
          <a:bodyPr/>
          <a:lstStyle/>
          <a:p>
            <a:endParaRPr lang="fr-FR"/>
          </a:p>
        </p:txBody>
      </p:sp>
      <p:sp>
        <p:nvSpPr>
          <p:cNvPr id="19" name="Text 16"/>
          <p:cNvSpPr/>
          <p:nvPr/>
        </p:nvSpPr>
        <p:spPr>
          <a:xfrm>
            <a:off x="4846320" y="3611880"/>
            <a:ext cx="4023360" cy="320040"/>
          </a:xfrm>
          <a:prstGeom prst="rect">
            <a:avLst/>
          </a:prstGeom>
          <a:noFill/>
          <a:ln/>
        </p:spPr>
        <p:txBody>
          <a:bodyPr wrap="square" rtlCol="0" anchor="ctr"/>
          <a:lstStyle/>
          <a:p>
            <a:pPr marL="0" indent="0">
              <a:buNone/>
            </a:pPr>
            <a:r>
              <a:rPr lang="en-US" sz="900" b="1" dirty="0">
                <a:solidFill>
                  <a:srgbClr val="FFFFFF"/>
                </a:solidFill>
              </a:rPr>
              <a:t>Sanction : 135€ + 3 points retirés (risque accident ×3)</a:t>
            </a:r>
            <a:endParaRPr lang="en-US" sz="900" dirty="0"/>
          </a:p>
        </p:txBody>
      </p:sp>
      <p:sp>
        <p:nvSpPr>
          <p:cNvPr id="20" name="Shape 17"/>
          <p:cNvSpPr/>
          <p:nvPr/>
        </p:nvSpPr>
        <p:spPr>
          <a:xfrm>
            <a:off x="274320" y="4005072"/>
            <a:ext cx="8595360" cy="658368"/>
          </a:xfrm>
          <a:prstGeom prst="rect">
            <a:avLst/>
          </a:prstGeom>
          <a:solidFill>
            <a:srgbClr val="FFFFFF"/>
          </a:solidFill>
          <a:ln w="12700">
            <a:solidFill>
              <a:srgbClr val="D5D8DC"/>
            </a:solidFill>
            <a:prstDash val="solid"/>
          </a:ln>
        </p:spPr>
        <p:txBody>
          <a:bodyPr/>
          <a:lstStyle/>
          <a:p>
            <a:endParaRPr lang="fr-FR"/>
          </a:p>
        </p:txBody>
      </p:sp>
      <p:sp>
        <p:nvSpPr>
          <p:cNvPr id="21" name="Text 18"/>
          <p:cNvSpPr/>
          <p:nvPr/>
        </p:nvSpPr>
        <p:spPr>
          <a:xfrm>
            <a:off x="411480" y="4078224"/>
            <a:ext cx="8321040" cy="512064"/>
          </a:xfrm>
          <a:prstGeom prst="rect">
            <a:avLst/>
          </a:prstGeom>
          <a:noFill/>
          <a:ln/>
        </p:spPr>
        <p:txBody>
          <a:bodyPr wrap="square" rtlCol="0" anchor="ctr"/>
          <a:lstStyle/>
          <a:p>
            <a:pPr marL="0" indent="0">
              <a:buNone/>
            </a:pPr>
            <a:r>
              <a:rPr lang="en-US" sz="850" dirty="0">
                <a:solidFill>
                  <a:srgbClr val="1C2833"/>
                </a:solidFill>
              </a:rPr>
              <a:t>P = Protéger (feux détresse + triangle ≥30m + gilet) · A = Alerter (15/17/18/112) · S = Secourir (ne jamais déplacer, pas à boire, pas enlever casque motard · PLS si inconscient avec accord secours)</a:t>
            </a:r>
            <a:endParaRPr lang="en-US" sz="850" dirty="0"/>
          </a:p>
        </p:txBody>
      </p:sp>
      <p:sp>
        <p:nvSpPr>
          <p:cNvPr id="22" name="Shape 19"/>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23" name="Text 20"/>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24" name="Text 21"/>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Constat amiable &amp; Situations difficiles</a:t>
            </a:r>
            <a:endParaRPr lang="en-US" sz="2000" dirty="0"/>
          </a:p>
        </p:txBody>
      </p:sp>
      <p:sp>
        <p:nvSpPr>
          <p:cNvPr id="6" name="Shape 4"/>
          <p:cNvSpPr/>
          <p:nvPr/>
        </p:nvSpPr>
        <p:spPr>
          <a:xfrm>
            <a:off x="27432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7" name="Text 5"/>
          <p:cNvSpPr/>
          <p:nvPr/>
        </p:nvSpPr>
        <p:spPr>
          <a:xfrm>
            <a:off x="411480" y="1389888"/>
            <a:ext cx="3840480" cy="320040"/>
          </a:xfrm>
          <a:prstGeom prst="rect">
            <a:avLst/>
          </a:prstGeom>
          <a:noFill/>
          <a:ln/>
        </p:spPr>
        <p:txBody>
          <a:bodyPr wrap="square" rtlCol="0" anchor="ctr"/>
          <a:lstStyle/>
          <a:p>
            <a:pPr marL="0" indent="0">
              <a:buNone/>
            </a:pPr>
            <a:r>
              <a:rPr lang="en-US" sz="1100" b="1" dirty="0">
                <a:solidFill>
                  <a:srgbClr val="D35400"/>
                </a:solidFill>
              </a:rPr>
              <a:t>📋 Remplir le constat</a:t>
            </a:r>
            <a:endParaRPr lang="en-US" sz="1100" dirty="0"/>
          </a:p>
        </p:txBody>
      </p:sp>
      <p:sp>
        <p:nvSpPr>
          <p:cNvPr id="8" name="Shape 6"/>
          <p:cNvSpPr/>
          <p:nvPr/>
        </p:nvSpPr>
        <p:spPr>
          <a:xfrm>
            <a:off x="411480" y="1819656"/>
            <a:ext cx="64008" cy="384048"/>
          </a:xfrm>
          <a:prstGeom prst="rect">
            <a:avLst/>
          </a:prstGeom>
          <a:solidFill>
            <a:srgbClr val="D35400"/>
          </a:solidFill>
          <a:ln w="12700">
            <a:solidFill>
              <a:srgbClr val="D35400"/>
            </a:solidFill>
            <a:prstDash val="solid"/>
          </a:ln>
        </p:spPr>
        <p:txBody>
          <a:bodyPr/>
          <a:lstStyle/>
          <a:p>
            <a:endParaRPr lang="fr-FR"/>
          </a:p>
        </p:txBody>
      </p:sp>
      <p:sp>
        <p:nvSpPr>
          <p:cNvPr id="9" name="Text 7"/>
          <p:cNvSpPr/>
          <p:nvPr/>
        </p:nvSpPr>
        <p:spPr>
          <a:xfrm>
            <a:off x="566928" y="1764792"/>
            <a:ext cx="3639312" cy="493776"/>
          </a:xfrm>
          <a:prstGeom prst="rect">
            <a:avLst/>
          </a:prstGeom>
          <a:noFill/>
          <a:ln/>
        </p:spPr>
        <p:txBody>
          <a:bodyPr wrap="square" rtlCol="0" anchor="ctr"/>
          <a:lstStyle/>
          <a:p>
            <a:pPr marL="0" indent="0">
              <a:buNone/>
            </a:pPr>
            <a:r>
              <a:rPr lang="en-US" sz="850" dirty="0">
                <a:solidFill>
                  <a:srgbClr val="1C2833"/>
                </a:solidFill>
              </a:rPr>
              <a:t>Présenter ses papiers : permis · assurance · carte grise</a:t>
            </a:r>
            <a:endParaRPr lang="en-US" sz="850" dirty="0"/>
          </a:p>
        </p:txBody>
      </p:sp>
      <p:sp>
        <p:nvSpPr>
          <p:cNvPr id="10" name="Shape 8"/>
          <p:cNvSpPr/>
          <p:nvPr/>
        </p:nvSpPr>
        <p:spPr>
          <a:xfrm>
            <a:off x="411480" y="2203704"/>
            <a:ext cx="64008" cy="384048"/>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566928" y="2148840"/>
            <a:ext cx="3639312" cy="493776"/>
          </a:xfrm>
          <a:prstGeom prst="rect">
            <a:avLst/>
          </a:prstGeom>
          <a:noFill/>
          <a:ln/>
        </p:spPr>
        <p:txBody>
          <a:bodyPr wrap="square" rtlCol="0" anchor="ctr"/>
          <a:lstStyle/>
          <a:p>
            <a:pPr marL="0" indent="0">
              <a:buNone/>
            </a:pPr>
            <a:r>
              <a:rPr lang="en-US" sz="850" dirty="0">
                <a:solidFill>
                  <a:srgbClr val="1C2833"/>
                </a:solidFill>
              </a:rPr>
              <a:t>Stylo à bille (double lisible)</a:t>
            </a:r>
            <a:endParaRPr lang="en-US" sz="850" dirty="0"/>
          </a:p>
        </p:txBody>
      </p:sp>
      <p:sp>
        <p:nvSpPr>
          <p:cNvPr id="12" name="Shape 10"/>
          <p:cNvSpPr/>
          <p:nvPr/>
        </p:nvSpPr>
        <p:spPr>
          <a:xfrm>
            <a:off x="411480" y="2587752"/>
            <a:ext cx="64008" cy="384048"/>
          </a:xfrm>
          <a:prstGeom prst="rect">
            <a:avLst/>
          </a:prstGeom>
          <a:solidFill>
            <a:srgbClr val="D35400"/>
          </a:solidFill>
          <a:ln w="12700">
            <a:solidFill>
              <a:srgbClr val="D35400"/>
            </a:solidFill>
            <a:prstDash val="solid"/>
          </a:ln>
        </p:spPr>
        <p:txBody>
          <a:bodyPr/>
          <a:lstStyle/>
          <a:p>
            <a:endParaRPr lang="fr-FR"/>
          </a:p>
        </p:txBody>
      </p:sp>
      <p:sp>
        <p:nvSpPr>
          <p:cNvPr id="13" name="Text 11"/>
          <p:cNvSpPr/>
          <p:nvPr/>
        </p:nvSpPr>
        <p:spPr>
          <a:xfrm>
            <a:off x="566928" y="2532888"/>
            <a:ext cx="3639312" cy="493776"/>
          </a:xfrm>
          <a:prstGeom prst="rect">
            <a:avLst/>
          </a:prstGeom>
          <a:noFill/>
          <a:ln/>
        </p:spPr>
        <p:txBody>
          <a:bodyPr wrap="square" rtlCol="0" anchor="ctr"/>
          <a:lstStyle/>
          <a:p>
            <a:pPr marL="0" indent="0">
              <a:buNone/>
            </a:pPr>
            <a:r>
              <a:rPr lang="en-US" sz="850" dirty="0">
                <a:solidFill>
                  <a:srgbClr val="1C2833"/>
                </a:solidFill>
              </a:rPr>
              <a:t>Si +2 véhicules : un constat par conducteur</a:t>
            </a:r>
            <a:endParaRPr lang="en-US" sz="850" dirty="0"/>
          </a:p>
        </p:txBody>
      </p:sp>
      <p:sp>
        <p:nvSpPr>
          <p:cNvPr id="14" name="Shape 12"/>
          <p:cNvSpPr/>
          <p:nvPr/>
        </p:nvSpPr>
        <p:spPr>
          <a:xfrm>
            <a:off x="411480" y="2971800"/>
            <a:ext cx="64008" cy="384048"/>
          </a:xfrm>
          <a:prstGeom prst="rect">
            <a:avLst/>
          </a:prstGeom>
          <a:solidFill>
            <a:srgbClr val="D35400"/>
          </a:solidFill>
          <a:ln w="12700">
            <a:solidFill>
              <a:srgbClr val="D35400"/>
            </a:solidFill>
            <a:prstDash val="solid"/>
          </a:ln>
        </p:spPr>
        <p:txBody>
          <a:bodyPr/>
          <a:lstStyle/>
          <a:p>
            <a:endParaRPr lang="fr-FR"/>
          </a:p>
        </p:txBody>
      </p:sp>
      <p:sp>
        <p:nvSpPr>
          <p:cNvPr id="15" name="Text 13"/>
          <p:cNvSpPr/>
          <p:nvPr/>
        </p:nvSpPr>
        <p:spPr>
          <a:xfrm>
            <a:off x="566928" y="2916936"/>
            <a:ext cx="3639312" cy="493776"/>
          </a:xfrm>
          <a:prstGeom prst="rect">
            <a:avLst/>
          </a:prstGeom>
          <a:noFill/>
          <a:ln/>
        </p:spPr>
        <p:txBody>
          <a:bodyPr wrap="square" rtlCol="0" anchor="ctr"/>
          <a:lstStyle/>
          <a:p>
            <a:pPr marL="0" indent="0">
              <a:buNone/>
            </a:pPr>
            <a:r>
              <a:rPr lang="en-US" sz="850" dirty="0">
                <a:solidFill>
                  <a:srgbClr val="1C2833"/>
                </a:solidFill>
              </a:rPr>
              <a:t>Remplir uniquement le recto (partie A bleue ou B jaune)</a:t>
            </a:r>
            <a:endParaRPr lang="en-US" sz="850" dirty="0"/>
          </a:p>
        </p:txBody>
      </p:sp>
      <p:sp>
        <p:nvSpPr>
          <p:cNvPr id="16" name="Shape 14"/>
          <p:cNvSpPr/>
          <p:nvPr/>
        </p:nvSpPr>
        <p:spPr>
          <a:xfrm>
            <a:off x="411480" y="3355848"/>
            <a:ext cx="64008" cy="384048"/>
          </a:xfrm>
          <a:prstGeom prst="rect">
            <a:avLst/>
          </a:prstGeom>
          <a:solidFill>
            <a:srgbClr val="D35400"/>
          </a:solidFill>
          <a:ln w="12700">
            <a:solidFill>
              <a:srgbClr val="D35400"/>
            </a:solidFill>
            <a:prstDash val="solid"/>
          </a:ln>
        </p:spPr>
        <p:txBody>
          <a:bodyPr/>
          <a:lstStyle/>
          <a:p>
            <a:endParaRPr lang="fr-FR"/>
          </a:p>
        </p:txBody>
      </p:sp>
      <p:sp>
        <p:nvSpPr>
          <p:cNvPr id="17" name="Text 15"/>
          <p:cNvSpPr/>
          <p:nvPr/>
        </p:nvSpPr>
        <p:spPr>
          <a:xfrm>
            <a:off x="566928" y="3300984"/>
            <a:ext cx="3639312" cy="493776"/>
          </a:xfrm>
          <a:prstGeom prst="rect">
            <a:avLst/>
          </a:prstGeom>
          <a:noFill/>
          <a:ln/>
        </p:spPr>
        <p:txBody>
          <a:bodyPr wrap="square" rtlCol="0" anchor="ctr"/>
          <a:lstStyle/>
          <a:p>
            <a:pPr marL="0" indent="0">
              <a:buNone/>
            </a:pPr>
            <a:r>
              <a:rPr lang="en-US" sz="850" dirty="0">
                <a:solidFill>
                  <a:srgbClr val="1C2833"/>
                </a:solidFill>
              </a:rPr>
              <a:t>Vérifier cases cochées et observations</a:t>
            </a:r>
            <a:endParaRPr lang="en-US" sz="850" dirty="0"/>
          </a:p>
        </p:txBody>
      </p:sp>
      <p:sp>
        <p:nvSpPr>
          <p:cNvPr id="18" name="Shape 16"/>
          <p:cNvSpPr/>
          <p:nvPr/>
        </p:nvSpPr>
        <p:spPr>
          <a:xfrm>
            <a:off x="411480" y="3739896"/>
            <a:ext cx="64008" cy="384048"/>
          </a:xfrm>
          <a:prstGeom prst="rect">
            <a:avLst/>
          </a:prstGeom>
          <a:solidFill>
            <a:srgbClr val="D35400"/>
          </a:solidFill>
          <a:ln w="12700">
            <a:solidFill>
              <a:srgbClr val="D35400"/>
            </a:solidFill>
            <a:prstDash val="solid"/>
          </a:ln>
        </p:spPr>
        <p:txBody>
          <a:bodyPr/>
          <a:lstStyle/>
          <a:p>
            <a:endParaRPr lang="fr-FR"/>
          </a:p>
        </p:txBody>
      </p:sp>
      <p:sp>
        <p:nvSpPr>
          <p:cNvPr id="19" name="Text 17"/>
          <p:cNvSpPr/>
          <p:nvPr/>
        </p:nvSpPr>
        <p:spPr>
          <a:xfrm>
            <a:off x="566928" y="3685032"/>
            <a:ext cx="3639312" cy="493776"/>
          </a:xfrm>
          <a:prstGeom prst="rect">
            <a:avLst/>
          </a:prstGeom>
          <a:noFill/>
          <a:ln/>
        </p:spPr>
        <p:txBody>
          <a:bodyPr wrap="square" rtlCol="0" anchor="ctr"/>
          <a:lstStyle/>
          <a:p>
            <a:pPr marL="0" indent="0">
              <a:buNone/>
            </a:pPr>
            <a:r>
              <a:rPr lang="en-US" sz="850" dirty="0">
                <a:solidFill>
                  <a:srgbClr val="1C2833"/>
                </a:solidFill>
              </a:rPr>
              <a:t>Signer ET faire signer l'autre conducteur</a:t>
            </a:r>
            <a:endParaRPr lang="en-US" sz="850" dirty="0"/>
          </a:p>
        </p:txBody>
      </p:sp>
      <p:sp>
        <p:nvSpPr>
          <p:cNvPr id="20" name="Shape 18"/>
          <p:cNvSpPr/>
          <p:nvPr/>
        </p:nvSpPr>
        <p:spPr>
          <a:xfrm>
            <a:off x="411480" y="4123944"/>
            <a:ext cx="64008" cy="384048"/>
          </a:xfrm>
          <a:prstGeom prst="rect">
            <a:avLst/>
          </a:prstGeom>
          <a:solidFill>
            <a:srgbClr val="D35400"/>
          </a:solidFill>
          <a:ln w="12700">
            <a:solidFill>
              <a:srgbClr val="D35400"/>
            </a:solidFill>
            <a:prstDash val="solid"/>
          </a:ln>
        </p:spPr>
        <p:txBody>
          <a:bodyPr/>
          <a:lstStyle/>
          <a:p>
            <a:endParaRPr lang="fr-FR"/>
          </a:p>
        </p:txBody>
      </p:sp>
      <p:sp>
        <p:nvSpPr>
          <p:cNvPr id="21" name="Text 19"/>
          <p:cNvSpPr/>
          <p:nvPr/>
        </p:nvSpPr>
        <p:spPr>
          <a:xfrm>
            <a:off x="566928" y="4069080"/>
            <a:ext cx="3639312" cy="493776"/>
          </a:xfrm>
          <a:prstGeom prst="rect">
            <a:avLst/>
          </a:prstGeom>
          <a:noFill/>
          <a:ln/>
        </p:spPr>
        <p:txBody>
          <a:bodyPr wrap="square" rtlCol="0" anchor="ctr"/>
          <a:lstStyle/>
          <a:p>
            <a:pPr marL="0" indent="0">
              <a:buNone/>
            </a:pPr>
            <a:r>
              <a:rPr lang="en-US" sz="850" dirty="0">
                <a:solidFill>
                  <a:srgbClr val="1C2833"/>
                </a:solidFill>
              </a:rPr>
              <a:t>Séparer les 2 exemplaires et remettre l'un</a:t>
            </a:r>
            <a:endParaRPr lang="en-US" sz="850" dirty="0"/>
          </a:p>
        </p:txBody>
      </p:sp>
      <p:sp>
        <p:nvSpPr>
          <p:cNvPr id="22" name="Shape 20"/>
          <p:cNvSpPr/>
          <p:nvPr/>
        </p:nvSpPr>
        <p:spPr>
          <a:xfrm>
            <a:off x="411480" y="4507992"/>
            <a:ext cx="64008" cy="384048"/>
          </a:xfrm>
          <a:prstGeom prst="rect">
            <a:avLst/>
          </a:prstGeom>
          <a:solidFill>
            <a:srgbClr val="D35400"/>
          </a:solidFill>
          <a:ln w="12700">
            <a:solidFill>
              <a:srgbClr val="D35400"/>
            </a:solidFill>
            <a:prstDash val="solid"/>
          </a:ln>
        </p:spPr>
        <p:txBody>
          <a:bodyPr/>
          <a:lstStyle/>
          <a:p>
            <a:endParaRPr lang="fr-FR"/>
          </a:p>
        </p:txBody>
      </p:sp>
      <p:sp>
        <p:nvSpPr>
          <p:cNvPr id="23" name="Text 21"/>
          <p:cNvSpPr/>
          <p:nvPr/>
        </p:nvSpPr>
        <p:spPr>
          <a:xfrm>
            <a:off x="566928" y="4453128"/>
            <a:ext cx="3639312" cy="493776"/>
          </a:xfrm>
          <a:prstGeom prst="rect">
            <a:avLst/>
          </a:prstGeom>
          <a:noFill/>
          <a:ln/>
        </p:spPr>
        <p:txBody>
          <a:bodyPr wrap="square" rtlCol="0" anchor="ctr"/>
          <a:lstStyle/>
          <a:p>
            <a:pPr marL="0" indent="0">
              <a:buNone/>
            </a:pPr>
            <a:r>
              <a:rPr lang="en-US" sz="850" dirty="0">
                <a:solidFill>
                  <a:srgbClr val="1C2833"/>
                </a:solidFill>
              </a:rPr>
              <a:t>⚠️ Après signature : ne RIEN ajouter au recto</a:t>
            </a:r>
            <a:endParaRPr lang="en-US" sz="850" dirty="0"/>
          </a:p>
        </p:txBody>
      </p:sp>
      <p:sp>
        <p:nvSpPr>
          <p:cNvPr id="24" name="Shape 22"/>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25" name="Text 23"/>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D35400"/>
                </a:solidFill>
              </a:rPr>
              <a:t>⚠️ Situations difficiles</a:t>
            </a:r>
            <a:endParaRPr lang="en-US" sz="1100" dirty="0"/>
          </a:p>
        </p:txBody>
      </p:sp>
      <p:sp>
        <p:nvSpPr>
          <p:cNvPr id="26" name="Text 24"/>
          <p:cNvSpPr/>
          <p:nvPr/>
        </p:nvSpPr>
        <p:spPr>
          <a:xfrm>
            <a:off x="4800600" y="1764792"/>
            <a:ext cx="3840480" cy="256032"/>
          </a:xfrm>
          <a:prstGeom prst="rect">
            <a:avLst/>
          </a:prstGeom>
          <a:noFill/>
          <a:ln/>
        </p:spPr>
        <p:txBody>
          <a:bodyPr wrap="square" rtlCol="0" anchor="ctr"/>
          <a:lstStyle/>
          <a:p>
            <a:pPr marL="0" indent="0">
              <a:buNone/>
            </a:pPr>
            <a:r>
              <a:rPr lang="en-US" sz="950" b="1" dirty="0">
                <a:solidFill>
                  <a:srgbClr val="D35400"/>
                </a:solidFill>
              </a:rPr>
              <a:t>Constat incorrect :</a:t>
            </a:r>
            <a:endParaRPr lang="en-US" sz="950" dirty="0"/>
          </a:p>
        </p:txBody>
      </p:sp>
      <p:sp>
        <p:nvSpPr>
          <p:cNvPr id="27" name="Text 25"/>
          <p:cNvSpPr/>
          <p:nvPr/>
        </p:nvSpPr>
        <p:spPr>
          <a:xfrm>
            <a:off x="4800600" y="2039112"/>
            <a:ext cx="3840480" cy="475488"/>
          </a:xfrm>
          <a:prstGeom prst="rect">
            <a:avLst/>
          </a:prstGeom>
          <a:noFill/>
          <a:ln/>
        </p:spPr>
        <p:txBody>
          <a:bodyPr wrap="square" rtlCol="0" anchor="ctr"/>
          <a:lstStyle/>
          <a:p>
            <a:pPr marL="0" indent="0">
              <a:buNone/>
            </a:pPr>
            <a:r>
              <a:rPr lang="en-US" sz="850" dirty="0">
                <a:solidFill>
                  <a:srgbClr val="1C2833"/>
                </a:solidFill>
              </a:rPr>
              <a:t>Établir un 2ème constat rectificatif mentionnant « annule et remplace ».</a:t>
            </a:r>
            <a:endParaRPr lang="en-US" sz="850" dirty="0"/>
          </a:p>
        </p:txBody>
      </p:sp>
      <p:sp>
        <p:nvSpPr>
          <p:cNvPr id="28" name="Text 26"/>
          <p:cNvSpPr/>
          <p:nvPr/>
        </p:nvSpPr>
        <p:spPr>
          <a:xfrm>
            <a:off x="4800600" y="2587752"/>
            <a:ext cx="3840480" cy="256032"/>
          </a:xfrm>
          <a:prstGeom prst="rect">
            <a:avLst/>
          </a:prstGeom>
          <a:noFill/>
          <a:ln/>
        </p:spPr>
        <p:txBody>
          <a:bodyPr wrap="square" rtlCol="0" anchor="ctr"/>
          <a:lstStyle/>
          <a:p>
            <a:pPr marL="0" indent="0">
              <a:buNone/>
            </a:pPr>
            <a:r>
              <a:rPr lang="en-US" sz="950" b="1" dirty="0">
                <a:solidFill>
                  <a:srgbClr val="D35400"/>
                </a:solidFill>
              </a:rPr>
              <a:t>Désaccord :</a:t>
            </a:r>
            <a:endParaRPr lang="en-US" sz="950" dirty="0"/>
          </a:p>
        </p:txBody>
      </p:sp>
      <p:sp>
        <p:nvSpPr>
          <p:cNvPr id="29" name="Text 27"/>
          <p:cNvSpPr/>
          <p:nvPr/>
        </p:nvSpPr>
        <p:spPr>
          <a:xfrm>
            <a:off x="4800600" y="2862072"/>
            <a:ext cx="3840480" cy="475488"/>
          </a:xfrm>
          <a:prstGeom prst="rect">
            <a:avLst/>
          </a:prstGeom>
          <a:noFill/>
          <a:ln/>
        </p:spPr>
        <p:txBody>
          <a:bodyPr wrap="square" rtlCol="0" anchor="ctr"/>
          <a:lstStyle/>
          <a:p>
            <a:pPr marL="0" indent="0">
              <a:buNone/>
            </a:pPr>
            <a:r>
              <a:rPr lang="en-US" sz="850" dirty="0">
                <a:solidFill>
                  <a:srgbClr val="1C2833"/>
                </a:solidFill>
              </a:rPr>
              <a:t>Signer quand même en notant le désaccord dans « Observations ».</a:t>
            </a:r>
            <a:endParaRPr lang="en-US" sz="850" dirty="0"/>
          </a:p>
        </p:txBody>
      </p:sp>
      <p:sp>
        <p:nvSpPr>
          <p:cNvPr id="30" name="Text 28"/>
          <p:cNvSpPr/>
          <p:nvPr/>
        </p:nvSpPr>
        <p:spPr>
          <a:xfrm>
            <a:off x="4800600" y="3410712"/>
            <a:ext cx="3840480" cy="256032"/>
          </a:xfrm>
          <a:prstGeom prst="rect">
            <a:avLst/>
          </a:prstGeom>
          <a:noFill/>
          <a:ln/>
        </p:spPr>
        <p:txBody>
          <a:bodyPr wrap="square" rtlCol="0" anchor="ctr"/>
          <a:lstStyle/>
          <a:p>
            <a:pPr marL="0" indent="0">
              <a:buNone/>
            </a:pPr>
            <a:r>
              <a:rPr lang="en-US" sz="950" b="1" dirty="0">
                <a:solidFill>
                  <a:srgbClr val="D35400"/>
                </a:solidFill>
              </a:rPr>
              <a:t>Refus de remplir :</a:t>
            </a:r>
            <a:endParaRPr lang="en-US" sz="950" dirty="0"/>
          </a:p>
        </p:txBody>
      </p:sp>
      <p:sp>
        <p:nvSpPr>
          <p:cNvPr id="31" name="Text 29"/>
          <p:cNvSpPr/>
          <p:nvPr/>
        </p:nvSpPr>
        <p:spPr>
          <a:xfrm>
            <a:off x="4800600" y="3685032"/>
            <a:ext cx="3840480" cy="475488"/>
          </a:xfrm>
          <a:prstGeom prst="rect">
            <a:avLst/>
          </a:prstGeom>
          <a:noFill/>
          <a:ln/>
        </p:spPr>
        <p:txBody>
          <a:bodyPr wrap="square" rtlCol="0" anchor="ctr"/>
          <a:lstStyle/>
          <a:p>
            <a:pPr marL="0" indent="0">
              <a:buNone/>
            </a:pPr>
            <a:r>
              <a:rPr lang="en-US" sz="850" dirty="0">
                <a:solidFill>
                  <a:srgbClr val="1C2833"/>
                </a:solidFill>
              </a:rPr>
              <a:t>Noter immatriculation + identité + assureur (vignette). Chercher un témoin.</a:t>
            </a:r>
            <a:endParaRPr lang="en-US" sz="850" dirty="0"/>
          </a:p>
        </p:txBody>
      </p:sp>
      <p:sp>
        <p:nvSpPr>
          <p:cNvPr id="32" name="Text 30"/>
          <p:cNvSpPr/>
          <p:nvPr/>
        </p:nvSpPr>
        <p:spPr>
          <a:xfrm>
            <a:off x="4800600" y="4233672"/>
            <a:ext cx="3840480" cy="256032"/>
          </a:xfrm>
          <a:prstGeom prst="rect">
            <a:avLst/>
          </a:prstGeom>
          <a:noFill/>
          <a:ln/>
        </p:spPr>
        <p:txBody>
          <a:bodyPr wrap="square" rtlCol="0" anchor="ctr"/>
          <a:lstStyle/>
          <a:p>
            <a:pPr marL="0" indent="0">
              <a:buNone/>
            </a:pPr>
            <a:r>
              <a:rPr lang="en-US" sz="950" b="1" dirty="0">
                <a:solidFill>
                  <a:srgbClr val="D35400"/>
                </a:solidFill>
              </a:rPr>
              <a:t>Fuite ou contrainte :</a:t>
            </a:r>
            <a:endParaRPr lang="en-US" sz="950" dirty="0"/>
          </a:p>
        </p:txBody>
      </p:sp>
      <p:sp>
        <p:nvSpPr>
          <p:cNvPr id="33" name="Text 31"/>
          <p:cNvSpPr/>
          <p:nvPr/>
        </p:nvSpPr>
        <p:spPr>
          <a:xfrm>
            <a:off x="4800600" y="4507992"/>
            <a:ext cx="3840480" cy="475488"/>
          </a:xfrm>
          <a:prstGeom prst="rect">
            <a:avLst/>
          </a:prstGeom>
          <a:noFill/>
          <a:ln/>
        </p:spPr>
        <p:txBody>
          <a:bodyPr wrap="square" rtlCol="0" anchor="ctr"/>
          <a:lstStyle/>
          <a:p>
            <a:pPr marL="0" indent="0">
              <a:buNone/>
            </a:pPr>
            <a:r>
              <a:rPr lang="en-US" sz="850" dirty="0">
                <a:solidFill>
                  <a:srgbClr val="1C2833"/>
                </a:solidFill>
              </a:rPr>
              <a:t>Immatriculation + témoin + dépôt de plainte (police, gendarmerie ou procureur).</a:t>
            </a:r>
            <a:endParaRPr lang="en-US" sz="850" dirty="0"/>
          </a:p>
        </p:txBody>
      </p:sp>
      <p:sp>
        <p:nvSpPr>
          <p:cNvPr id="34" name="Shape 32"/>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5" name="Text 33"/>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6" name="Text 34"/>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Permis à points : Annulation &amp; Invalidation</a:t>
            </a:r>
            <a:endParaRPr lang="en-US" sz="2000" dirty="0"/>
          </a:p>
        </p:txBody>
      </p:sp>
      <p:pic>
        <p:nvPicPr>
          <p:cNvPr id="6" name="Image 0" descr="preencoded.png"/>
          <p:cNvPicPr>
            <a:picLocks noChangeAspect="1"/>
          </p:cNvPicPr>
          <p:nvPr/>
        </p:nvPicPr>
        <p:blipFill>
          <a:blip r:embed="rId3"/>
          <a:stretch>
            <a:fillRect/>
          </a:stretch>
        </p:blipFill>
        <p:spPr>
          <a:xfrm>
            <a:off x="274320" y="1644091"/>
            <a:ext cx="4206240" cy="2663647"/>
          </a:xfrm>
          <a:prstGeom prst="rect">
            <a:avLst/>
          </a:prstGeom>
        </p:spPr>
      </p:pic>
      <p:sp>
        <p:nvSpPr>
          <p:cNvPr id="7" name="Shape 4"/>
          <p:cNvSpPr/>
          <p:nvPr/>
        </p:nvSpPr>
        <p:spPr>
          <a:xfrm>
            <a:off x="4663440" y="1298448"/>
            <a:ext cx="4206240" cy="3355848"/>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320040"/>
          </a:xfrm>
          <a:prstGeom prst="rect">
            <a:avLst/>
          </a:prstGeom>
          <a:noFill/>
          <a:ln/>
        </p:spPr>
        <p:txBody>
          <a:bodyPr wrap="square" rtlCol="0" anchor="ctr"/>
          <a:lstStyle/>
          <a:p>
            <a:pPr marL="0" indent="0">
              <a:buNone/>
            </a:pPr>
            <a:r>
              <a:rPr lang="en-US" sz="1100" b="1" dirty="0">
                <a:solidFill>
                  <a:srgbClr val="C0392B"/>
                </a:solidFill>
              </a:rPr>
              <a:t>🚫 Annulation (décision du juge)</a:t>
            </a:r>
            <a:endParaRPr lang="en-US" sz="1100" dirty="0"/>
          </a:p>
        </p:txBody>
      </p:sp>
      <p:sp>
        <p:nvSpPr>
          <p:cNvPr id="9" name="Text 6"/>
          <p:cNvSpPr/>
          <p:nvPr/>
        </p:nvSpPr>
        <p:spPr>
          <a:xfrm>
            <a:off x="4800600" y="1755648"/>
            <a:ext cx="3840480" cy="777240"/>
          </a:xfrm>
          <a:prstGeom prst="rect">
            <a:avLst/>
          </a:prstGeom>
          <a:noFill/>
          <a:ln/>
        </p:spPr>
        <p:txBody>
          <a:bodyPr wrap="square" rtlCol="0" anchor="ctr"/>
          <a:lstStyle/>
          <a:p>
            <a:pPr marL="0" indent="0">
              <a:buNone/>
            </a:pPr>
            <a:r>
              <a:rPr lang="en-US" sz="900" dirty="0">
                <a:solidFill>
                  <a:srgbClr val="1C2833"/>
                </a:solidFill>
              </a:rPr>
              <a:t>Pour reconduire : examen psychotechnique + visite médicale + code de la route. Code + conduite si &gt; 1 an ou période probatoire. → Permis PROBATOIRE en cas de réussite.</a:t>
            </a:r>
            <a:endParaRPr lang="en-US" sz="900" dirty="0"/>
          </a:p>
        </p:txBody>
      </p:sp>
      <p:sp>
        <p:nvSpPr>
          <p:cNvPr id="10" name="Text 7"/>
          <p:cNvSpPr/>
          <p:nvPr/>
        </p:nvSpPr>
        <p:spPr>
          <a:xfrm>
            <a:off x="4800600" y="2596896"/>
            <a:ext cx="3840480" cy="320040"/>
          </a:xfrm>
          <a:prstGeom prst="rect">
            <a:avLst/>
          </a:prstGeom>
          <a:noFill/>
          <a:ln/>
        </p:spPr>
        <p:txBody>
          <a:bodyPr wrap="square" rtlCol="0" anchor="ctr"/>
          <a:lstStyle/>
          <a:p>
            <a:pPr marL="0" indent="0">
              <a:buNone/>
            </a:pPr>
            <a:r>
              <a:rPr lang="en-US" sz="1100" b="1" dirty="0">
                <a:solidFill>
                  <a:srgbClr val="D35400"/>
                </a:solidFill>
              </a:rPr>
              <a:t>❌ Invalidation (solde nul de points)</a:t>
            </a:r>
            <a:endParaRPr lang="en-US" sz="1100" dirty="0"/>
          </a:p>
        </p:txBody>
      </p:sp>
      <p:sp>
        <p:nvSpPr>
          <p:cNvPr id="11" name="Text 8"/>
          <p:cNvSpPr/>
          <p:nvPr/>
        </p:nvSpPr>
        <p:spPr>
          <a:xfrm>
            <a:off x="4800600" y="2962656"/>
            <a:ext cx="3840480" cy="685800"/>
          </a:xfrm>
          <a:prstGeom prst="rect">
            <a:avLst/>
          </a:prstGeom>
          <a:noFill/>
          <a:ln/>
        </p:spPr>
        <p:txBody>
          <a:bodyPr wrap="square" rtlCol="0" anchor="ctr"/>
          <a:lstStyle/>
          <a:p>
            <a:pPr marL="0" indent="0">
              <a:buNone/>
            </a:pPr>
            <a:r>
              <a:rPr lang="en-US" sz="900" dirty="0">
                <a:solidFill>
                  <a:srgbClr val="1C2833"/>
                </a:solidFill>
              </a:rPr>
              <a:t>Attendre 6 mois (ou 1 an si déjà invalidé dans les 5 dernières années).</a:t>
            </a:r>
            <a:endParaRPr lang="en-US" sz="900" dirty="0"/>
          </a:p>
          <a:p>
            <a:pPr marL="0" indent="0">
              <a:buNone/>
            </a:pPr>
            <a:r>
              <a:rPr lang="en-US" sz="900" dirty="0">
                <a:solidFill>
                  <a:srgbClr val="1C2833"/>
                </a:solidFill>
              </a:rPr>
              <a:t>Mêmes étapes que l'annulation.</a:t>
            </a:r>
            <a:endParaRPr lang="en-US" sz="900" dirty="0"/>
          </a:p>
          <a:p>
            <a:pPr marL="0" indent="0">
              <a:buNone/>
            </a:pPr>
            <a:r>
              <a:rPr lang="en-US" sz="900" dirty="0">
                <a:solidFill>
                  <a:srgbClr val="1C2833"/>
                </a:solidFill>
              </a:rPr>
              <a:t>→ Permis PROBATOIRE en cas de réussite.</a:t>
            </a:r>
            <a:endParaRPr lang="en-US" sz="900" dirty="0"/>
          </a:p>
        </p:txBody>
      </p:sp>
      <p:sp>
        <p:nvSpPr>
          <p:cNvPr id="12" name="Text 9"/>
          <p:cNvSpPr/>
          <p:nvPr/>
        </p:nvSpPr>
        <p:spPr>
          <a:xfrm>
            <a:off x="4800600" y="3712464"/>
            <a:ext cx="3840480" cy="292608"/>
          </a:xfrm>
          <a:prstGeom prst="rect">
            <a:avLst/>
          </a:prstGeom>
          <a:noFill/>
          <a:ln/>
        </p:spPr>
        <p:txBody>
          <a:bodyPr wrap="square" rtlCol="0" anchor="ctr"/>
          <a:lstStyle/>
          <a:p>
            <a:pPr marL="0" indent="0">
              <a:buNone/>
            </a:pPr>
            <a:r>
              <a:rPr lang="en-US" sz="1100" b="1" dirty="0">
                <a:solidFill>
                  <a:srgbClr val="D35400"/>
                </a:solidFill>
              </a:rPr>
              <a:t>🎓 Stage de récupération</a:t>
            </a:r>
            <a:endParaRPr lang="en-US" sz="1100" dirty="0"/>
          </a:p>
        </p:txBody>
      </p:sp>
      <p:sp>
        <p:nvSpPr>
          <p:cNvPr id="13" name="Text 10"/>
          <p:cNvSpPr/>
          <p:nvPr/>
        </p:nvSpPr>
        <p:spPr>
          <a:xfrm>
            <a:off x="4800600" y="4041648"/>
            <a:ext cx="3840480" cy="658368"/>
          </a:xfrm>
          <a:prstGeom prst="rect">
            <a:avLst/>
          </a:prstGeom>
          <a:noFill/>
          <a:ln/>
        </p:spPr>
        <p:txBody>
          <a:bodyPr wrap="square" rtlCol="0" anchor="ctr"/>
          <a:lstStyle/>
          <a:p>
            <a:pPr marL="0" indent="0">
              <a:buNone/>
            </a:pPr>
            <a:r>
              <a:rPr lang="en-US" sz="850" dirty="0">
                <a:solidFill>
                  <a:srgbClr val="1C2833"/>
                </a:solidFill>
              </a:rPr>
              <a:t>Stage de 2 jours → +4 points maximum. 1 seul stage par an.</a:t>
            </a:r>
            <a:endParaRPr lang="en-US" sz="850" dirty="0"/>
          </a:p>
          <a:p>
            <a:pPr marL="0" indent="0">
              <a:buNone/>
            </a:pPr>
            <a:r>
              <a:rPr lang="en-US" sz="850" dirty="0">
                <a:solidFill>
                  <a:srgbClr val="1C2833"/>
                </a:solidFill>
              </a:rPr>
              <a:t>Solde à 0 = stage impossible.</a:t>
            </a:r>
            <a:endParaRPr lang="en-US" sz="850" dirty="0"/>
          </a:p>
          <a:p>
            <a:pPr marL="0" indent="0">
              <a:buNone/>
            </a:pPr>
            <a:r>
              <a:rPr lang="en-US" sz="850" dirty="0">
                <a:solidFill>
                  <a:srgbClr val="1C2833"/>
                </a:solidFill>
              </a:rPr>
              <a:t>Après ≥ 3 pts retirés en une infraction (probatoire) = stage obligatoire.</a:t>
            </a:r>
            <a:endParaRPr lang="en-US" sz="850" dirty="0"/>
          </a:p>
        </p:txBody>
      </p:sp>
      <p:sp>
        <p:nvSpPr>
          <p:cNvPr id="14" name="Shape 11"/>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5" name="Text 12"/>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6" name="Text 13"/>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7"/>
        </a:solidFill>
        <a:effectLst/>
      </p:bgPr>
    </p:bg>
    <p:spTree>
      <p:nvGrpSpPr>
        <p:cNvPr id="1" name=""/>
        <p:cNvGrpSpPr/>
        <p:nvPr/>
      </p:nvGrpSpPr>
      <p:grpSpPr>
        <a:xfrm>
          <a:off x="0" y="0"/>
          <a:ext cx="0" cy="0"/>
          <a:chOff x="0" y="0"/>
          <a:chExt cx="0" cy="0"/>
        </a:xfrm>
      </p:grpSpPr>
      <p:sp>
        <p:nvSpPr>
          <p:cNvPr id="2" name="Shape 0"/>
          <p:cNvSpPr/>
          <p:nvPr/>
        </p:nvSpPr>
        <p:spPr>
          <a:xfrm>
            <a:off x="320040" y="91440"/>
            <a:ext cx="2286000" cy="338328"/>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20040" y="91440"/>
            <a:ext cx="2286000" cy="338328"/>
          </a:xfrm>
          <a:prstGeom prst="rect">
            <a:avLst/>
          </a:prstGeom>
          <a:noFill/>
          <a:ln/>
        </p:spPr>
        <p:txBody>
          <a:bodyPr wrap="square" lIns="0" tIns="0" rIns="0" bIns="0" rtlCol="0" anchor="ctr"/>
          <a:lstStyle/>
          <a:p>
            <a:pPr marL="0" indent="0" algn="ctr">
              <a:buNone/>
            </a:pPr>
            <a:r>
              <a:rPr lang="en-US" sz="850" b="1" dirty="0">
                <a:solidFill>
                  <a:srgbClr val="FFFFFF"/>
                </a:solidFill>
              </a:rPr>
              <a:t>PARTIE 3 — COURS</a:t>
            </a:r>
            <a:endParaRPr lang="en-US" sz="850" dirty="0"/>
          </a:p>
        </p:txBody>
      </p:sp>
      <p:sp>
        <p:nvSpPr>
          <p:cNvPr id="4" name="Shape 2"/>
          <p:cNvSpPr/>
          <p:nvPr/>
        </p:nvSpPr>
        <p:spPr>
          <a:xfrm>
            <a:off x="0" y="512064"/>
            <a:ext cx="118872" cy="685800"/>
          </a:xfrm>
          <a:prstGeom prst="rect">
            <a:avLst/>
          </a:prstGeom>
          <a:solidFill>
            <a:srgbClr val="D35400"/>
          </a:solidFill>
          <a:ln w="12700">
            <a:solidFill>
              <a:srgbClr val="D35400"/>
            </a:solidFill>
            <a:prstDash val="solid"/>
          </a:ln>
        </p:spPr>
        <p:txBody>
          <a:bodyPr/>
          <a:lstStyle/>
          <a:p>
            <a:endParaRPr lang="fr-FR"/>
          </a:p>
        </p:txBody>
      </p:sp>
      <p:sp>
        <p:nvSpPr>
          <p:cNvPr id="5" name="Text 3"/>
          <p:cNvSpPr/>
          <p:nvPr/>
        </p:nvSpPr>
        <p:spPr>
          <a:xfrm>
            <a:off x="201168" y="512064"/>
            <a:ext cx="8732520" cy="685800"/>
          </a:xfrm>
          <a:prstGeom prst="rect">
            <a:avLst/>
          </a:prstGeom>
          <a:noFill/>
          <a:ln/>
        </p:spPr>
        <p:txBody>
          <a:bodyPr wrap="square" lIns="0" tIns="0" rIns="0" bIns="0" rtlCol="0" anchor="ctr"/>
          <a:lstStyle/>
          <a:p>
            <a:pPr marL="0" indent="0">
              <a:buNone/>
            </a:pPr>
            <a:r>
              <a:rPr lang="en-US" sz="2000" b="1" dirty="0">
                <a:solidFill>
                  <a:srgbClr val="1C2833"/>
                </a:solidFill>
              </a:rPr>
              <a:t>Récupération automatique des points</a:t>
            </a:r>
            <a:endParaRPr lang="en-US" sz="2000" dirty="0"/>
          </a:p>
        </p:txBody>
      </p:sp>
      <p:pic>
        <p:nvPicPr>
          <p:cNvPr id="6" name="Image 0" descr="preencoded.png"/>
          <p:cNvPicPr>
            <a:picLocks noChangeAspect="1"/>
          </p:cNvPicPr>
          <p:nvPr/>
        </p:nvPicPr>
        <p:blipFill>
          <a:blip r:embed="rId3"/>
          <a:stretch>
            <a:fillRect/>
          </a:stretch>
        </p:blipFill>
        <p:spPr>
          <a:xfrm>
            <a:off x="1078078" y="1298448"/>
            <a:ext cx="2598725" cy="1645920"/>
          </a:xfrm>
          <a:prstGeom prst="rect">
            <a:avLst/>
          </a:prstGeom>
        </p:spPr>
      </p:pic>
      <p:sp>
        <p:nvSpPr>
          <p:cNvPr id="7" name="Shape 4"/>
          <p:cNvSpPr/>
          <p:nvPr/>
        </p:nvSpPr>
        <p:spPr>
          <a:xfrm>
            <a:off x="4663440" y="1298448"/>
            <a:ext cx="4206240" cy="1645920"/>
          </a:xfrm>
          <a:prstGeom prst="rect">
            <a:avLst/>
          </a:prstGeom>
          <a:solidFill>
            <a:srgbClr val="FFFFFF"/>
          </a:solidFill>
          <a:ln w="12700">
            <a:solidFill>
              <a:srgbClr val="D5D8DC"/>
            </a:solidFill>
            <a:prstDash val="solid"/>
          </a:ln>
        </p:spPr>
        <p:txBody>
          <a:bodyPr/>
          <a:lstStyle/>
          <a:p>
            <a:endParaRPr lang="fr-FR"/>
          </a:p>
        </p:txBody>
      </p:sp>
      <p:sp>
        <p:nvSpPr>
          <p:cNvPr id="8" name="Text 5"/>
          <p:cNvSpPr/>
          <p:nvPr/>
        </p:nvSpPr>
        <p:spPr>
          <a:xfrm>
            <a:off x="4800600" y="1389888"/>
            <a:ext cx="3840480" cy="274320"/>
          </a:xfrm>
          <a:prstGeom prst="rect">
            <a:avLst/>
          </a:prstGeom>
          <a:noFill/>
          <a:ln/>
        </p:spPr>
        <p:txBody>
          <a:bodyPr wrap="square" rtlCol="0" anchor="ctr"/>
          <a:lstStyle/>
          <a:p>
            <a:pPr marL="0" indent="0">
              <a:buNone/>
            </a:pPr>
            <a:r>
              <a:rPr lang="en-US" sz="1000" b="1" dirty="0">
                <a:solidFill>
                  <a:srgbClr val="D35400"/>
                </a:solidFill>
              </a:rPr>
              <a:t>Règle générale :</a:t>
            </a:r>
            <a:endParaRPr lang="en-US" sz="1000" dirty="0"/>
          </a:p>
        </p:txBody>
      </p:sp>
      <p:sp>
        <p:nvSpPr>
          <p:cNvPr id="9" name="Text 6"/>
          <p:cNvSpPr/>
          <p:nvPr/>
        </p:nvSpPr>
        <p:spPr>
          <a:xfrm>
            <a:off x="4800600" y="1700784"/>
            <a:ext cx="3840480" cy="804672"/>
          </a:xfrm>
          <a:prstGeom prst="rect">
            <a:avLst/>
          </a:prstGeom>
          <a:noFill/>
          <a:ln/>
        </p:spPr>
        <p:txBody>
          <a:bodyPr wrap="square" rtlCol="0" anchor="ctr"/>
          <a:lstStyle/>
          <a:p>
            <a:pPr marL="0" indent="0">
              <a:buNone/>
            </a:pPr>
            <a:r>
              <a:rPr lang="en-US" sz="900" dirty="0">
                <a:solidFill>
                  <a:srgbClr val="1C2833"/>
                </a:solidFill>
              </a:rPr>
              <a:t>Plus la classe de l'infraction est élevée, plus le délai avant récupération est long. Au bout de 10 ans, tous les points sont récupérés même si d'autres infractions ont eu lieu entre temps.</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74320" y="3035808"/>
          <a:ext cx="859536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11480">
                <a:tc>
                  <a:txBody>
                    <a:bodyPr/>
                    <a:lstStyle/>
                    <a:p>
                      <a:pPr marL="0" indent="0">
                        <a:buNone/>
                      </a:pPr>
                      <a:r>
                        <a:rPr lang="en-US" sz="800" b="1" dirty="0">
                          <a:solidFill>
                            <a:srgbClr val="FFFFFF"/>
                          </a:solidFill>
                        </a:rPr>
                        <a:t>Type d'infraction</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6 mois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2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3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tc>
                  <a:txBody>
                    <a:bodyPr/>
                    <a:lstStyle/>
                    <a:p>
                      <a:pPr marL="0" indent="0">
                        <a:buNone/>
                      </a:pPr>
                      <a:r>
                        <a:rPr lang="en-US" sz="800" b="1" dirty="0">
                          <a:solidFill>
                            <a:srgbClr val="FFFFFF"/>
                          </a:solidFill>
                        </a:rPr>
                        <a:t>10 ans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D35400"/>
                    </a:solidFill>
                  </a:tcPr>
                </a:tc>
                <a:extLst>
                  <a:ext uri="{0D108BD9-81ED-4DB2-BD59-A6C34878D82A}">
                    <a16:rowId xmlns:a16="http://schemas.microsoft.com/office/drawing/2014/main" val="10000"/>
                  </a:ext>
                </a:extLst>
              </a:tr>
              <a:tr h="411480">
                <a:tc>
                  <a:txBody>
                    <a:bodyPr/>
                    <a:lstStyle/>
                    <a:p>
                      <a:pPr marL="0" indent="0">
                        <a:buNone/>
                      </a:pPr>
                      <a:r>
                        <a:rPr lang="en-US" sz="800" dirty="0">
                          <a:solidFill>
                            <a:srgbClr val="1C2833"/>
                          </a:solidFill>
                        </a:rPr>
                        <a:t>Retrait d'1 seul point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Récupéré si aucune infraction dans les 6 mois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2 ans → 12 pts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1"/>
                  </a:ext>
                </a:extLst>
              </a:tr>
              <a:tr h="411480">
                <a:tc>
                  <a:txBody>
                    <a:bodyPr/>
                    <a:lstStyle/>
                    <a:p>
                      <a:pPr marL="0" indent="0">
                        <a:buNone/>
                      </a:pPr>
                      <a:r>
                        <a:rPr lang="en-US" sz="800" dirty="0">
                          <a:solidFill>
                            <a:srgbClr val="1C2833"/>
                          </a:solidFill>
                        </a:rPr>
                        <a:t>Classe 2 ou 3 (hors 1 pt)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2 ans → 12 pts. Sinon recommencer.</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11480">
                <a:tc>
                  <a:txBody>
                    <a:bodyPr/>
                    <a:lstStyle/>
                    <a:p>
                      <a:pPr marL="0" indent="0">
                        <a:buNone/>
                      </a:pPr>
                      <a:r>
                        <a:rPr lang="en-US" sz="800" dirty="0">
                          <a:solidFill>
                            <a:srgbClr val="1C2833"/>
                          </a:solidFill>
                        </a:rPr>
                        <a:t>Classe 4 ou 5 / Délit (hors 1 pt)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Si aucune infraction en 3 ans → 12 pts. Sinon recommencer.</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800" dirty="0">
                          <a:solidFill>
                            <a:srgbClr val="1C2833"/>
                          </a:solidFill>
                        </a:rPr>
                        <a:t>Points récupérés même avec d'autres infractions</a:t>
                      </a:r>
                      <a:endParaRPr lang="en-US" sz="800" dirty="0"/>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3"/>
                  </a:ext>
                </a:extLst>
              </a:tr>
            </a:tbl>
          </a:graphicData>
        </a:graphic>
      </p:graphicFrame>
      <p:sp>
        <p:nvSpPr>
          <p:cNvPr id="11" name="Shape 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12" name="Text 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13" name="Text 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D35400"/>
          </a:solidFill>
          <a:ln w="12700">
            <a:solidFill>
              <a:srgbClr val="D35400"/>
            </a:solidFill>
            <a:prstDash val="solid"/>
          </a:ln>
        </p:spPr>
        <p:txBody>
          <a:bodyPr/>
          <a:lstStyle/>
          <a:p>
            <a:endParaRPr lang="fr-FR"/>
          </a:p>
        </p:txBody>
      </p:sp>
      <p:sp>
        <p:nvSpPr>
          <p:cNvPr id="3" name="Text 1"/>
          <p:cNvSpPr/>
          <p:nvPr/>
        </p:nvSpPr>
        <p:spPr>
          <a:xfrm>
            <a:off x="365760" y="45720"/>
            <a:ext cx="7315200" cy="411480"/>
          </a:xfrm>
          <a:prstGeom prst="rect">
            <a:avLst/>
          </a:prstGeom>
          <a:noFill/>
          <a:ln/>
        </p:spPr>
        <p:txBody>
          <a:bodyPr wrap="square" rtlCol="0" anchor="ctr"/>
          <a:lstStyle/>
          <a:p>
            <a:pPr marL="0" indent="0">
              <a:buNone/>
            </a:pPr>
            <a:r>
              <a:rPr lang="en-US" sz="1400" b="1" kern="0" spc="500" dirty="0">
                <a:solidFill>
                  <a:srgbClr val="FFFFFF"/>
                </a:solidFill>
              </a:rPr>
              <a:t>SYNTHÈSE — PARTIE 3</a:t>
            </a:r>
            <a:endParaRPr lang="en-US" sz="1400" dirty="0"/>
          </a:p>
        </p:txBody>
      </p:sp>
      <p:sp>
        <p:nvSpPr>
          <p:cNvPr id="4" name="Text 2"/>
          <p:cNvSpPr/>
          <p:nvPr/>
        </p:nvSpPr>
        <p:spPr>
          <a:xfrm>
            <a:off x="365760" y="457200"/>
            <a:ext cx="7315200" cy="438912"/>
          </a:xfrm>
          <a:prstGeom prst="rect">
            <a:avLst/>
          </a:prstGeom>
          <a:noFill/>
          <a:ln/>
        </p:spPr>
        <p:txBody>
          <a:bodyPr wrap="square" rtlCol="0" anchor="ctr"/>
          <a:lstStyle/>
          <a:p>
            <a:pPr marL="0" indent="0">
              <a:buNone/>
            </a:pPr>
            <a:r>
              <a:rPr lang="en-US" sz="1600" i="1" dirty="0">
                <a:solidFill>
                  <a:srgbClr val="FFFFFF"/>
                </a:solidFill>
              </a:rPr>
              <a:t>Sanctions, Éco-conduite, CT &amp; Permis — Points clés</a:t>
            </a:r>
            <a:endParaRPr lang="en-US" sz="1600" dirty="0"/>
          </a:p>
        </p:txBody>
      </p:sp>
      <p:sp>
        <p:nvSpPr>
          <p:cNvPr id="5" name="Shape 3"/>
          <p:cNvSpPr/>
          <p:nvPr/>
        </p:nvSpPr>
        <p:spPr>
          <a:xfrm>
            <a:off x="274320" y="1097280"/>
            <a:ext cx="4206240" cy="841248"/>
          </a:xfrm>
          <a:prstGeom prst="rect">
            <a:avLst/>
          </a:prstGeom>
          <a:solidFill>
            <a:srgbClr val="22303C"/>
          </a:solidFill>
          <a:ln w="12700">
            <a:solidFill>
              <a:srgbClr val="D35400"/>
            </a:solidFill>
            <a:prstDash val="solid"/>
          </a:ln>
        </p:spPr>
        <p:txBody>
          <a:bodyPr/>
          <a:lstStyle/>
          <a:p>
            <a:endParaRPr lang="fr-FR"/>
          </a:p>
        </p:txBody>
      </p:sp>
      <p:sp>
        <p:nvSpPr>
          <p:cNvPr id="6" name="Shape 4"/>
          <p:cNvSpPr/>
          <p:nvPr/>
        </p:nvSpPr>
        <p:spPr>
          <a:xfrm>
            <a:off x="274320" y="1097280"/>
            <a:ext cx="109728" cy="841248"/>
          </a:xfrm>
          <a:prstGeom prst="rect">
            <a:avLst/>
          </a:prstGeom>
          <a:solidFill>
            <a:srgbClr val="D35400"/>
          </a:solidFill>
          <a:ln w="12700">
            <a:solidFill>
              <a:srgbClr val="D35400"/>
            </a:solidFill>
            <a:prstDash val="solid"/>
          </a:ln>
        </p:spPr>
        <p:txBody>
          <a:bodyPr/>
          <a:lstStyle/>
          <a:p>
            <a:endParaRPr lang="fr-FR"/>
          </a:p>
        </p:txBody>
      </p:sp>
      <p:sp>
        <p:nvSpPr>
          <p:cNvPr id="7" name="Text 5"/>
          <p:cNvSpPr/>
          <p:nvPr/>
        </p:nvSpPr>
        <p:spPr>
          <a:xfrm>
            <a:off x="475488" y="1133856"/>
            <a:ext cx="3886200" cy="274320"/>
          </a:xfrm>
          <a:prstGeom prst="rect">
            <a:avLst/>
          </a:prstGeom>
          <a:noFill/>
          <a:ln/>
        </p:spPr>
        <p:txBody>
          <a:bodyPr wrap="square" rtlCol="0" anchor="ctr"/>
          <a:lstStyle/>
          <a:p>
            <a:pPr marL="0" indent="0">
              <a:buNone/>
            </a:pPr>
            <a:r>
              <a:rPr lang="en-US" sz="1000" b="1" dirty="0">
                <a:solidFill>
                  <a:srgbClr val="D35400"/>
                </a:solidFill>
              </a:rPr>
              <a:t>Alcool ≥ 0,8 g/l (délit)</a:t>
            </a:r>
            <a:endParaRPr lang="en-US" sz="1000" dirty="0"/>
          </a:p>
        </p:txBody>
      </p:sp>
      <p:sp>
        <p:nvSpPr>
          <p:cNvPr id="8" name="Text 6"/>
          <p:cNvSpPr/>
          <p:nvPr/>
        </p:nvSpPr>
        <p:spPr>
          <a:xfrm>
            <a:off x="475488" y="1426464"/>
            <a:ext cx="3886200" cy="457200"/>
          </a:xfrm>
          <a:prstGeom prst="rect">
            <a:avLst/>
          </a:prstGeom>
          <a:noFill/>
          <a:ln/>
        </p:spPr>
        <p:txBody>
          <a:bodyPr wrap="square" rtlCol="0" anchor="ctr"/>
          <a:lstStyle/>
          <a:p>
            <a:pPr marL="0" indent="0">
              <a:buNone/>
            </a:pPr>
            <a:r>
              <a:rPr lang="en-US" sz="850" dirty="0">
                <a:solidFill>
                  <a:srgbClr val="D5D8DC"/>
                </a:solidFill>
              </a:rPr>
              <a:t>6 pts + amende 4 500€ + prison 2 ans + annulation permis</a:t>
            </a:r>
            <a:endParaRPr lang="en-US" sz="850" dirty="0"/>
          </a:p>
        </p:txBody>
      </p:sp>
      <p:sp>
        <p:nvSpPr>
          <p:cNvPr id="9" name="Shape 7"/>
          <p:cNvSpPr/>
          <p:nvPr/>
        </p:nvSpPr>
        <p:spPr>
          <a:xfrm>
            <a:off x="4754880" y="1097280"/>
            <a:ext cx="4206240" cy="841248"/>
          </a:xfrm>
          <a:prstGeom prst="rect">
            <a:avLst/>
          </a:prstGeom>
          <a:solidFill>
            <a:srgbClr val="22303C"/>
          </a:solidFill>
          <a:ln w="12700">
            <a:solidFill>
              <a:srgbClr val="D35400"/>
            </a:solidFill>
            <a:prstDash val="solid"/>
          </a:ln>
        </p:spPr>
        <p:txBody>
          <a:bodyPr/>
          <a:lstStyle/>
          <a:p>
            <a:endParaRPr lang="fr-FR"/>
          </a:p>
        </p:txBody>
      </p:sp>
      <p:sp>
        <p:nvSpPr>
          <p:cNvPr id="10" name="Shape 8"/>
          <p:cNvSpPr/>
          <p:nvPr/>
        </p:nvSpPr>
        <p:spPr>
          <a:xfrm>
            <a:off x="4754880" y="1097280"/>
            <a:ext cx="109728" cy="841248"/>
          </a:xfrm>
          <a:prstGeom prst="rect">
            <a:avLst/>
          </a:prstGeom>
          <a:solidFill>
            <a:srgbClr val="D35400"/>
          </a:solidFill>
          <a:ln w="12700">
            <a:solidFill>
              <a:srgbClr val="D35400"/>
            </a:solidFill>
            <a:prstDash val="solid"/>
          </a:ln>
        </p:spPr>
        <p:txBody>
          <a:bodyPr/>
          <a:lstStyle/>
          <a:p>
            <a:endParaRPr lang="fr-FR"/>
          </a:p>
        </p:txBody>
      </p:sp>
      <p:sp>
        <p:nvSpPr>
          <p:cNvPr id="11" name="Text 9"/>
          <p:cNvSpPr/>
          <p:nvPr/>
        </p:nvSpPr>
        <p:spPr>
          <a:xfrm>
            <a:off x="4956048" y="1133856"/>
            <a:ext cx="3886200" cy="274320"/>
          </a:xfrm>
          <a:prstGeom prst="rect">
            <a:avLst/>
          </a:prstGeom>
          <a:noFill/>
          <a:ln/>
        </p:spPr>
        <p:txBody>
          <a:bodyPr wrap="square" rtlCol="0" anchor="ctr"/>
          <a:lstStyle/>
          <a:p>
            <a:pPr marL="0" indent="0">
              <a:buNone/>
            </a:pPr>
            <a:r>
              <a:rPr lang="en-US" sz="1000" b="1" dirty="0">
                <a:solidFill>
                  <a:srgbClr val="D35400"/>
                </a:solidFill>
              </a:rPr>
              <a:t>Alcool + Stupéfiants</a:t>
            </a:r>
            <a:endParaRPr lang="en-US" sz="1000" dirty="0"/>
          </a:p>
        </p:txBody>
      </p:sp>
      <p:sp>
        <p:nvSpPr>
          <p:cNvPr id="12" name="Text 10"/>
          <p:cNvSpPr/>
          <p:nvPr/>
        </p:nvSpPr>
        <p:spPr>
          <a:xfrm>
            <a:off x="4956048" y="1426464"/>
            <a:ext cx="3886200" cy="457200"/>
          </a:xfrm>
          <a:prstGeom prst="rect">
            <a:avLst/>
          </a:prstGeom>
          <a:noFill/>
          <a:ln/>
        </p:spPr>
        <p:txBody>
          <a:bodyPr wrap="square" rtlCol="0" anchor="ctr"/>
          <a:lstStyle/>
          <a:p>
            <a:pPr marL="0" indent="0">
              <a:buNone/>
            </a:pPr>
            <a:r>
              <a:rPr lang="en-US" sz="850" dirty="0">
                <a:solidFill>
                  <a:srgbClr val="D5D8DC"/>
                </a:solidFill>
              </a:rPr>
              <a:t>6 pts + 9 000€ + prison + confiscation véhicule possible</a:t>
            </a:r>
            <a:endParaRPr lang="en-US" sz="850" dirty="0"/>
          </a:p>
        </p:txBody>
      </p:sp>
      <p:sp>
        <p:nvSpPr>
          <p:cNvPr id="13" name="Shape 11"/>
          <p:cNvSpPr/>
          <p:nvPr/>
        </p:nvSpPr>
        <p:spPr>
          <a:xfrm>
            <a:off x="274320" y="2057400"/>
            <a:ext cx="4206240" cy="841248"/>
          </a:xfrm>
          <a:prstGeom prst="rect">
            <a:avLst/>
          </a:prstGeom>
          <a:solidFill>
            <a:srgbClr val="22303C"/>
          </a:solidFill>
          <a:ln w="12700">
            <a:solidFill>
              <a:srgbClr val="D35400"/>
            </a:solidFill>
            <a:prstDash val="solid"/>
          </a:ln>
        </p:spPr>
        <p:txBody>
          <a:bodyPr/>
          <a:lstStyle/>
          <a:p>
            <a:endParaRPr lang="fr-FR"/>
          </a:p>
        </p:txBody>
      </p:sp>
      <p:sp>
        <p:nvSpPr>
          <p:cNvPr id="14" name="Shape 12"/>
          <p:cNvSpPr/>
          <p:nvPr/>
        </p:nvSpPr>
        <p:spPr>
          <a:xfrm>
            <a:off x="274320" y="2057400"/>
            <a:ext cx="109728" cy="841248"/>
          </a:xfrm>
          <a:prstGeom prst="rect">
            <a:avLst/>
          </a:prstGeom>
          <a:solidFill>
            <a:srgbClr val="D35400"/>
          </a:solidFill>
          <a:ln w="12700">
            <a:solidFill>
              <a:srgbClr val="D35400"/>
            </a:solidFill>
            <a:prstDash val="solid"/>
          </a:ln>
        </p:spPr>
        <p:txBody>
          <a:bodyPr/>
          <a:lstStyle/>
          <a:p>
            <a:endParaRPr lang="fr-FR"/>
          </a:p>
        </p:txBody>
      </p:sp>
      <p:sp>
        <p:nvSpPr>
          <p:cNvPr id="15" name="Text 13"/>
          <p:cNvSpPr/>
          <p:nvPr/>
        </p:nvSpPr>
        <p:spPr>
          <a:xfrm>
            <a:off x="475488" y="2093976"/>
            <a:ext cx="3886200" cy="274320"/>
          </a:xfrm>
          <a:prstGeom prst="rect">
            <a:avLst/>
          </a:prstGeom>
          <a:noFill/>
          <a:ln/>
        </p:spPr>
        <p:txBody>
          <a:bodyPr wrap="square" rtlCol="0" anchor="ctr"/>
          <a:lstStyle/>
          <a:p>
            <a:pPr marL="0" indent="0">
              <a:buNone/>
            </a:pPr>
            <a:r>
              <a:rPr lang="en-US" sz="1000" b="1" dirty="0">
                <a:solidFill>
                  <a:srgbClr val="D35400"/>
                </a:solidFill>
              </a:rPr>
              <a:t>CT transport de personnes</a:t>
            </a:r>
            <a:endParaRPr lang="en-US" sz="1000" dirty="0"/>
          </a:p>
        </p:txBody>
      </p:sp>
      <p:sp>
        <p:nvSpPr>
          <p:cNvPr id="16" name="Text 14"/>
          <p:cNvSpPr/>
          <p:nvPr/>
        </p:nvSpPr>
        <p:spPr>
          <a:xfrm>
            <a:off x="475488" y="2386584"/>
            <a:ext cx="3886200" cy="457200"/>
          </a:xfrm>
          <a:prstGeom prst="rect">
            <a:avLst/>
          </a:prstGeom>
          <a:noFill/>
          <a:ln/>
        </p:spPr>
        <p:txBody>
          <a:bodyPr wrap="square" rtlCol="0" anchor="ctr"/>
          <a:lstStyle/>
          <a:p>
            <a:pPr marL="0" indent="0">
              <a:buNone/>
            </a:pPr>
            <a:r>
              <a:rPr lang="en-US" sz="850" dirty="0">
                <a:solidFill>
                  <a:srgbClr val="D5D8DC"/>
                </a:solidFill>
              </a:rPr>
              <a:t>1er CT ≤ 1 an après MEC, puis TOUS LES ANS — 10 fonctions / 100+ points</a:t>
            </a:r>
            <a:endParaRPr lang="en-US" sz="850" dirty="0"/>
          </a:p>
        </p:txBody>
      </p:sp>
      <p:sp>
        <p:nvSpPr>
          <p:cNvPr id="17" name="Shape 15"/>
          <p:cNvSpPr/>
          <p:nvPr/>
        </p:nvSpPr>
        <p:spPr>
          <a:xfrm>
            <a:off x="4754880" y="2057400"/>
            <a:ext cx="4206240" cy="841248"/>
          </a:xfrm>
          <a:prstGeom prst="rect">
            <a:avLst/>
          </a:prstGeom>
          <a:solidFill>
            <a:srgbClr val="22303C"/>
          </a:solidFill>
          <a:ln w="12700">
            <a:solidFill>
              <a:srgbClr val="D35400"/>
            </a:solidFill>
            <a:prstDash val="solid"/>
          </a:ln>
        </p:spPr>
        <p:txBody>
          <a:bodyPr/>
          <a:lstStyle/>
          <a:p>
            <a:endParaRPr lang="fr-FR"/>
          </a:p>
        </p:txBody>
      </p:sp>
      <p:sp>
        <p:nvSpPr>
          <p:cNvPr id="18" name="Shape 16"/>
          <p:cNvSpPr/>
          <p:nvPr/>
        </p:nvSpPr>
        <p:spPr>
          <a:xfrm>
            <a:off x="4754880" y="2057400"/>
            <a:ext cx="109728" cy="841248"/>
          </a:xfrm>
          <a:prstGeom prst="rect">
            <a:avLst/>
          </a:prstGeom>
          <a:solidFill>
            <a:srgbClr val="D35400"/>
          </a:solidFill>
          <a:ln w="12700">
            <a:solidFill>
              <a:srgbClr val="D35400"/>
            </a:solidFill>
            <a:prstDash val="solid"/>
          </a:ln>
        </p:spPr>
        <p:txBody>
          <a:bodyPr/>
          <a:lstStyle/>
          <a:p>
            <a:endParaRPr lang="fr-FR"/>
          </a:p>
        </p:txBody>
      </p:sp>
      <p:sp>
        <p:nvSpPr>
          <p:cNvPr id="19" name="Text 17"/>
          <p:cNvSpPr/>
          <p:nvPr/>
        </p:nvSpPr>
        <p:spPr>
          <a:xfrm>
            <a:off x="4956048" y="2093976"/>
            <a:ext cx="3886200" cy="274320"/>
          </a:xfrm>
          <a:prstGeom prst="rect">
            <a:avLst/>
          </a:prstGeom>
          <a:noFill/>
          <a:ln/>
        </p:spPr>
        <p:txBody>
          <a:bodyPr wrap="square" rtlCol="0" anchor="ctr"/>
          <a:lstStyle/>
          <a:p>
            <a:pPr marL="0" indent="0">
              <a:buNone/>
            </a:pPr>
            <a:r>
              <a:rPr lang="en-US" sz="1000" b="1" dirty="0">
                <a:solidFill>
                  <a:srgbClr val="D35400"/>
                </a:solidFill>
              </a:rPr>
              <a:t>Défaillance critique</a:t>
            </a:r>
            <a:endParaRPr lang="en-US" sz="1000" dirty="0"/>
          </a:p>
        </p:txBody>
      </p:sp>
      <p:sp>
        <p:nvSpPr>
          <p:cNvPr id="20" name="Text 18"/>
          <p:cNvSpPr/>
          <p:nvPr/>
        </p:nvSpPr>
        <p:spPr>
          <a:xfrm>
            <a:off x="4956048" y="2386584"/>
            <a:ext cx="3886200" cy="457200"/>
          </a:xfrm>
          <a:prstGeom prst="rect">
            <a:avLst/>
          </a:prstGeom>
          <a:noFill/>
          <a:ln/>
        </p:spPr>
        <p:txBody>
          <a:bodyPr wrap="square" rtlCol="0" anchor="ctr"/>
          <a:lstStyle/>
          <a:p>
            <a:pPr marL="0" indent="0">
              <a:buNone/>
            </a:pPr>
            <a:r>
              <a:rPr lang="en-US" sz="850" dirty="0">
                <a:solidFill>
                  <a:srgbClr val="D5D8DC"/>
                </a:solidFill>
              </a:rPr>
              <a:t>Circulation autorisée UNIQUEMENT le jour du CT pour effectuer les réparations</a:t>
            </a:r>
            <a:endParaRPr lang="en-US" sz="850" dirty="0"/>
          </a:p>
        </p:txBody>
      </p:sp>
      <p:sp>
        <p:nvSpPr>
          <p:cNvPr id="21" name="Shape 19"/>
          <p:cNvSpPr/>
          <p:nvPr/>
        </p:nvSpPr>
        <p:spPr>
          <a:xfrm>
            <a:off x="274320" y="3017520"/>
            <a:ext cx="4206240" cy="841248"/>
          </a:xfrm>
          <a:prstGeom prst="rect">
            <a:avLst/>
          </a:prstGeom>
          <a:solidFill>
            <a:srgbClr val="22303C"/>
          </a:solidFill>
          <a:ln w="12700">
            <a:solidFill>
              <a:srgbClr val="D35400"/>
            </a:solidFill>
            <a:prstDash val="solid"/>
          </a:ln>
        </p:spPr>
        <p:txBody>
          <a:bodyPr/>
          <a:lstStyle/>
          <a:p>
            <a:endParaRPr lang="fr-FR"/>
          </a:p>
        </p:txBody>
      </p:sp>
      <p:sp>
        <p:nvSpPr>
          <p:cNvPr id="22" name="Shape 20"/>
          <p:cNvSpPr/>
          <p:nvPr/>
        </p:nvSpPr>
        <p:spPr>
          <a:xfrm>
            <a:off x="274320" y="3017520"/>
            <a:ext cx="109728" cy="841248"/>
          </a:xfrm>
          <a:prstGeom prst="rect">
            <a:avLst/>
          </a:prstGeom>
          <a:solidFill>
            <a:srgbClr val="D35400"/>
          </a:solidFill>
          <a:ln w="12700">
            <a:solidFill>
              <a:srgbClr val="D35400"/>
            </a:solidFill>
            <a:prstDash val="solid"/>
          </a:ln>
        </p:spPr>
        <p:txBody>
          <a:bodyPr/>
          <a:lstStyle/>
          <a:p>
            <a:endParaRPr lang="fr-FR"/>
          </a:p>
        </p:txBody>
      </p:sp>
      <p:sp>
        <p:nvSpPr>
          <p:cNvPr id="23" name="Text 21"/>
          <p:cNvSpPr/>
          <p:nvPr/>
        </p:nvSpPr>
        <p:spPr>
          <a:xfrm>
            <a:off x="475488" y="3054096"/>
            <a:ext cx="3886200" cy="274320"/>
          </a:xfrm>
          <a:prstGeom prst="rect">
            <a:avLst/>
          </a:prstGeom>
          <a:noFill/>
          <a:ln/>
        </p:spPr>
        <p:txBody>
          <a:bodyPr wrap="square" rtlCol="0" anchor="ctr"/>
          <a:lstStyle/>
          <a:p>
            <a:pPr marL="0" indent="0">
              <a:buNone/>
            </a:pPr>
            <a:r>
              <a:rPr lang="en-US" sz="1000" b="1" dirty="0">
                <a:solidFill>
                  <a:srgbClr val="D35400"/>
                </a:solidFill>
              </a:rPr>
              <a:t>P.A.S.</a:t>
            </a:r>
            <a:endParaRPr lang="en-US" sz="1000" dirty="0"/>
          </a:p>
        </p:txBody>
      </p:sp>
      <p:sp>
        <p:nvSpPr>
          <p:cNvPr id="24" name="Text 22"/>
          <p:cNvSpPr/>
          <p:nvPr/>
        </p:nvSpPr>
        <p:spPr>
          <a:xfrm>
            <a:off x="475488" y="3346704"/>
            <a:ext cx="3886200" cy="457200"/>
          </a:xfrm>
          <a:prstGeom prst="rect">
            <a:avLst/>
          </a:prstGeom>
          <a:noFill/>
          <a:ln/>
        </p:spPr>
        <p:txBody>
          <a:bodyPr wrap="square" rtlCol="0" anchor="ctr"/>
          <a:lstStyle/>
          <a:p>
            <a:pPr marL="0" indent="0">
              <a:buNone/>
            </a:pPr>
            <a:r>
              <a:rPr lang="en-US" sz="850" dirty="0">
                <a:solidFill>
                  <a:srgbClr val="D5D8DC"/>
                </a:solidFill>
              </a:rPr>
              <a:t>Protéger (détresse+triangle+gilet) → Alerter (15/17/18) → Secourir (ne pas déplacer)</a:t>
            </a:r>
            <a:endParaRPr lang="en-US" sz="850" dirty="0"/>
          </a:p>
        </p:txBody>
      </p:sp>
      <p:sp>
        <p:nvSpPr>
          <p:cNvPr id="25" name="Shape 23"/>
          <p:cNvSpPr/>
          <p:nvPr/>
        </p:nvSpPr>
        <p:spPr>
          <a:xfrm>
            <a:off x="4754880" y="3017520"/>
            <a:ext cx="4206240" cy="841248"/>
          </a:xfrm>
          <a:prstGeom prst="rect">
            <a:avLst/>
          </a:prstGeom>
          <a:solidFill>
            <a:srgbClr val="22303C"/>
          </a:solidFill>
          <a:ln w="12700">
            <a:solidFill>
              <a:srgbClr val="D35400"/>
            </a:solidFill>
            <a:prstDash val="solid"/>
          </a:ln>
        </p:spPr>
        <p:txBody>
          <a:bodyPr/>
          <a:lstStyle/>
          <a:p>
            <a:endParaRPr lang="fr-FR"/>
          </a:p>
        </p:txBody>
      </p:sp>
      <p:sp>
        <p:nvSpPr>
          <p:cNvPr id="26" name="Shape 24"/>
          <p:cNvSpPr/>
          <p:nvPr/>
        </p:nvSpPr>
        <p:spPr>
          <a:xfrm>
            <a:off x="4754880" y="3017520"/>
            <a:ext cx="109728" cy="841248"/>
          </a:xfrm>
          <a:prstGeom prst="rect">
            <a:avLst/>
          </a:prstGeom>
          <a:solidFill>
            <a:srgbClr val="D35400"/>
          </a:solidFill>
          <a:ln w="12700">
            <a:solidFill>
              <a:srgbClr val="D35400"/>
            </a:solidFill>
            <a:prstDash val="solid"/>
          </a:ln>
        </p:spPr>
        <p:txBody>
          <a:bodyPr/>
          <a:lstStyle/>
          <a:p>
            <a:endParaRPr lang="fr-FR"/>
          </a:p>
        </p:txBody>
      </p:sp>
      <p:sp>
        <p:nvSpPr>
          <p:cNvPr id="27" name="Text 25"/>
          <p:cNvSpPr/>
          <p:nvPr/>
        </p:nvSpPr>
        <p:spPr>
          <a:xfrm>
            <a:off x="4956048" y="3054096"/>
            <a:ext cx="3886200" cy="274320"/>
          </a:xfrm>
          <a:prstGeom prst="rect">
            <a:avLst/>
          </a:prstGeom>
          <a:noFill/>
          <a:ln/>
        </p:spPr>
        <p:txBody>
          <a:bodyPr wrap="square" rtlCol="0" anchor="ctr"/>
          <a:lstStyle/>
          <a:p>
            <a:pPr marL="0" indent="0">
              <a:buNone/>
            </a:pPr>
            <a:r>
              <a:rPr lang="en-US" sz="1000" b="1" dirty="0">
                <a:solidFill>
                  <a:srgbClr val="D35400"/>
                </a:solidFill>
              </a:rPr>
              <a:t>Récupération de points</a:t>
            </a:r>
            <a:endParaRPr lang="en-US" sz="1000" dirty="0"/>
          </a:p>
        </p:txBody>
      </p:sp>
      <p:sp>
        <p:nvSpPr>
          <p:cNvPr id="28" name="Text 26"/>
          <p:cNvSpPr/>
          <p:nvPr/>
        </p:nvSpPr>
        <p:spPr>
          <a:xfrm>
            <a:off x="4956048" y="3346704"/>
            <a:ext cx="3886200" cy="457200"/>
          </a:xfrm>
          <a:prstGeom prst="rect">
            <a:avLst/>
          </a:prstGeom>
          <a:noFill/>
          <a:ln/>
        </p:spPr>
        <p:txBody>
          <a:bodyPr wrap="square" rtlCol="0" anchor="ctr"/>
          <a:lstStyle/>
          <a:p>
            <a:pPr marL="0" indent="0">
              <a:buNone/>
            </a:pPr>
            <a:r>
              <a:rPr lang="en-US" sz="850" dirty="0">
                <a:solidFill>
                  <a:srgbClr val="D5D8DC"/>
                </a:solidFill>
              </a:rPr>
              <a:t>1 pt → 6 mois | Cl.2-3 → 2 ans | Cl.4-5 → 3 ans | Stage = max 4 pts/an</a:t>
            </a:r>
            <a:endParaRPr lang="en-US" sz="850" dirty="0"/>
          </a:p>
        </p:txBody>
      </p:sp>
      <p:sp>
        <p:nvSpPr>
          <p:cNvPr id="29" name="Shape 27"/>
          <p:cNvSpPr/>
          <p:nvPr/>
        </p:nvSpPr>
        <p:spPr>
          <a:xfrm>
            <a:off x="0" y="4818888"/>
            <a:ext cx="9144000" cy="324612"/>
          </a:xfrm>
          <a:prstGeom prst="rect">
            <a:avLst/>
          </a:prstGeom>
          <a:solidFill>
            <a:srgbClr val="1C2833"/>
          </a:solidFill>
          <a:ln w="12700">
            <a:solidFill>
              <a:srgbClr val="1C2833"/>
            </a:solidFill>
            <a:prstDash val="solid"/>
          </a:ln>
        </p:spPr>
        <p:txBody>
          <a:bodyPr/>
          <a:lstStyle/>
          <a:p>
            <a:endParaRPr lang="fr-FR"/>
          </a:p>
        </p:txBody>
      </p:sp>
      <p:sp>
        <p:nvSpPr>
          <p:cNvPr id="30" name="Text 28"/>
          <p:cNvSpPr/>
          <p:nvPr/>
        </p:nvSpPr>
        <p:spPr>
          <a:xfrm>
            <a:off x="274320" y="4828032"/>
            <a:ext cx="7772400" cy="301752"/>
          </a:xfrm>
          <a:prstGeom prst="rect">
            <a:avLst/>
          </a:prstGeom>
          <a:noFill/>
          <a:ln/>
        </p:spPr>
        <p:txBody>
          <a:bodyPr wrap="square" lIns="0" tIns="0" rIns="0" bIns="0" rtlCol="0" anchor="ctr"/>
          <a:lstStyle/>
          <a:p>
            <a:pPr marL="0" indent="0">
              <a:buNone/>
            </a:pPr>
            <a:r>
              <a:rPr lang="en-US" sz="750" dirty="0">
                <a:solidFill>
                  <a:srgbClr val="FFFFFF"/>
                </a:solidFill>
              </a:rPr>
              <a:t>FTRANSPORT - SERVICES PRO  •  Formation certifiée Qualiopi  •  Éligible CPF  •  Lyon</a:t>
            </a:r>
            <a:endParaRPr lang="en-US" sz="750" dirty="0"/>
          </a:p>
        </p:txBody>
      </p:sp>
      <p:sp>
        <p:nvSpPr>
          <p:cNvPr id="31" name="Text 29"/>
          <p:cNvSpPr/>
          <p:nvPr/>
        </p:nvSpPr>
        <p:spPr>
          <a:xfrm>
            <a:off x="8503920" y="4828032"/>
            <a:ext cx="457200" cy="301752"/>
          </a:xfrm>
          <a:prstGeom prst="rect">
            <a:avLst/>
          </a:prstGeom>
          <a:noFill/>
          <a:ln/>
        </p:spPr>
        <p:txBody>
          <a:bodyPr wrap="square" lIns="0" tIns="0" rIns="0" bIns="0" rtlCol="0" anchor="ctr"/>
          <a:lstStyle/>
          <a:p>
            <a:pPr marL="0" indent="0" algn="r">
              <a:buNone/>
            </a:pPr>
            <a:r>
              <a:rPr lang="en-US" sz="800" dirty="0">
                <a:solidFill>
                  <a:srgbClr val="ABB2B9"/>
                </a:solidFill>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2833"/>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0392B"/>
          </a:solidFill>
          <a:ln w="12700">
            <a:solidFill>
              <a:srgbClr val="C0392B"/>
            </a:solidFill>
            <a:prstDash val="solid"/>
          </a:ln>
        </p:spPr>
        <p:txBody>
          <a:bodyPr/>
          <a:lstStyle/>
          <a:p>
            <a:endParaRPr lang="fr-FR"/>
          </a:p>
        </p:txBody>
      </p:sp>
      <p:sp>
        <p:nvSpPr>
          <p:cNvPr id="3" name="Text 1"/>
          <p:cNvSpPr/>
          <p:nvPr/>
        </p:nvSpPr>
        <p:spPr>
          <a:xfrm>
            <a:off x="548640" y="822960"/>
            <a:ext cx="8229600" cy="502920"/>
          </a:xfrm>
          <a:prstGeom prst="rect">
            <a:avLst/>
          </a:prstGeom>
          <a:noFill/>
          <a:ln/>
        </p:spPr>
        <p:txBody>
          <a:bodyPr wrap="square" rtlCol="0" anchor="ctr"/>
          <a:lstStyle/>
          <a:p>
            <a:pPr marL="0" indent="0">
              <a:buNone/>
            </a:pPr>
            <a:r>
              <a:rPr lang="en-US" sz="1400" b="1" kern="0" spc="900" dirty="0">
                <a:solidFill>
                  <a:srgbClr val="D35400"/>
                </a:solidFill>
              </a:rPr>
              <a:t>FORMATION</a:t>
            </a:r>
            <a:endParaRPr lang="en-US" sz="1400" dirty="0"/>
          </a:p>
        </p:txBody>
      </p:sp>
      <p:sp>
        <p:nvSpPr>
          <p:cNvPr id="4" name="Text 2"/>
          <p:cNvSpPr/>
          <p:nvPr/>
        </p:nvSpPr>
        <p:spPr>
          <a:xfrm>
            <a:off x="548640" y="1325880"/>
            <a:ext cx="8229600" cy="1005840"/>
          </a:xfrm>
          <a:prstGeom prst="rect">
            <a:avLst/>
          </a:prstGeom>
          <a:noFill/>
          <a:ln/>
        </p:spPr>
        <p:txBody>
          <a:bodyPr wrap="square" rtlCol="0" anchor="ctr"/>
          <a:lstStyle/>
          <a:p>
            <a:pPr marL="0" indent="0">
              <a:buNone/>
            </a:pPr>
            <a:r>
              <a:rPr lang="en-US" sz="4400" b="1" dirty="0">
                <a:solidFill>
                  <a:srgbClr val="FFFFFF"/>
                </a:solidFill>
              </a:rPr>
              <a:t>Sécurité Routière</a:t>
            </a:r>
            <a:endParaRPr lang="en-US" sz="4400" dirty="0"/>
          </a:p>
        </p:txBody>
      </p:sp>
      <p:sp>
        <p:nvSpPr>
          <p:cNvPr id="5" name="Text 3"/>
          <p:cNvSpPr/>
          <p:nvPr/>
        </p:nvSpPr>
        <p:spPr>
          <a:xfrm>
            <a:off x="548640" y="2377440"/>
            <a:ext cx="8229600" cy="502920"/>
          </a:xfrm>
          <a:prstGeom prst="rect">
            <a:avLst/>
          </a:prstGeom>
          <a:noFill/>
          <a:ln/>
        </p:spPr>
        <p:txBody>
          <a:bodyPr wrap="square" rtlCol="0" anchor="ctr"/>
          <a:lstStyle/>
          <a:p>
            <a:pPr marL="0" indent="0">
              <a:buNone/>
            </a:pPr>
            <a:r>
              <a:rPr lang="en-US" sz="1800" i="1" dirty="0">
                <a:solidFill>
                  <a:srgbClr val="D35400"/>
                </a:solidFill>
              </a:rPr>
              <a:t>Merci pour votre attention !</a:t>
            </a:r>
            <a:endParaRPr lang="en-US" sz="1800" dirty="0"/>
          </a:p>
        </p:txBody>
      </p:sp>
      <p:sp>
        <p:nvSpPr>
          <p:cNvPr id="6" name="Shape 4"/>
          <p:cNvSpPr/>
          <p:nvPr/>
        </p:nvSpPr>
        <p:spPr>
          <a:xfrm>
            <a:off x="548640" y="3017520"/>
            <a:ext cx="7315200" cy="402336"/>
          </a:xfrm>
          <a:prstGeom prst="rect">
            <a:avLst/>
          </a:prstGeom>
          <a:solidFill>
            <a:srgbClr val="22303C"/>
          </a:solidFill>
          <a:ln w="12700">
            <a:solidFill>
              <a:srgbClr val="C0392B"/>
            </a:solidFill>
            <a:prstDash val="solid"/>
          </a:ln>
        </p:spPr>
        <p:txBody>
          <a:bodyPr/>
          <a:lstStyle/>
          <a:p>
            <a:endParaRPr lang="fr-FR"/>
          </a:p>
        </p:txBody>
      </p:sp>
      <p:sp>
        <p:nvSpPr>
          <p:cNvPr id="7" name="Shape 5"/>
          <p:cNvSpPr/>
          <p:nvPr/>
        </p:nvSpPr>
        <p:spPr>
          <a:xfrm>
            <a:off x="548640" y="3017520"/>
            <a:ext cx="91440" cy="402336"/>
          </a:xfrm>
          <a:prstGeom prst="rect">
            <a:avLst/>
          </a:prstGeom>
          <a:solidFill>
            <a:srgbClr val="C0392B"/>
          </a:solidFill>
          <a:ln w="12700">
            <a:solidFill>
              <a:srgbClr val="C0392B"/>
            </a:solidFill>
            <a:prstDash val="solid"/>
          </a:ln>
        </p:spPr>
        <p:txBody>
          <a:bodyPr/>
          <a:lstStyle/>
          <a:p>
            <a:endParaRPr lang="fr-FR"/>
          </a:p>
        </p:txBody>
      </p:sp>
      <p:sp>
        <p:nvSpPr>
          <p:cNvPr id="8" name="Text 6"/>
          <p:cNvSpPr/>
          <p:nvPr/>
        </p:nvSpPr>
        <p:spPr>
          <a:xfrm>
            <a:off x="731520" y="3017520"/>
            <a:ext cx="7040880" cy="402336"/>
          </a:xfrm>
          <a:prstGeom prst="rect">
            <a:avLst/>
          </a:prstGeom>
          <a:noFill/>
          <a:ln/>
        </p:spPr>
        <p:txBody>
          <a:bodyPr wrap="square" rtlCol="0" anchor="ctr"/>
          <a:lstStyle/>
          <a:p>
            <a:pPr marL="0" indent="0">
              <a:buNone/>
            </a:pPr>
            <a:r>
              <a:rPr lang="en-US" sz="1000" dirty="0">
                <a:solidFill>
                  <a:srgbClr val="FFFFFF"/>
                </a:solidFill>
              </a:rPr>
              <a:t>Partie 1  —  Signalisation, Marquages &amp; Priorités</a:t>
            </a:r>
            <a:endParaRPr lang="en-US" sz="1000" dirty="0"/>
          </a:p>
        </p:txBody>
      </p:sp>
      <p:sp>
        <p:nvSpPr>
          <p:cNvPr id="9" name="Shape 7"/>
          <p:cNvSpPr/>
          <p:nvPr/>
        </p:nvSpPr>
        <p:spPr>
          <a:xfrm>
            <a:off x="548640" y="3493008"/>
            <a:ext cx="7315200" cy="402336"/>
          </a:xfrm>
          <a:prstGeom prst="rect">
            <a:avLst/>
          </a:prstGeom>
          <a:solidFill>
            <a:srgbClr val="22303C"/>
          </a:solidFill>
          <a:ln w="12700">
            <a:solidFill>
              <a:srgbClr val="922B21"/>
            </a:solidFill>
            <a:prstDash val="solid"/>
          </a:ln>
        </p:spPr>
        <p:txBody>
          <a:bodyPr/>
          <a:lstStyle/>
          <a:p>
            <a:endParaRPr lang="fr-FR"/>
          </a:p>
        </p:txBody>
      </p:sp>
      <p:sp>
        <p:nvSpPr>
          <p:cNvPr id="10" name="Shape 8"/>
          <p:cNvSpPr/>
          <p:nvPr/>
        </p:nvSpPr>
        <p:spPr>
          <a:xfrm>
            <a:off x="548640" y="3493008"/>
            <a:ext cx="91440" cy="402336"/>
          </a:xfrm>
          <a:prstGeom prst="rect">
            <a:avLst/>
          </a:prstGeom>
          <a:solidFill>
            <a:srgbClr val="922B21"/>
          </a:solidFill>
          <a:ln w="12700">
            <a:solidFill>
              <a:srgbClr val="922B21"/>
            </a:solidFill>
            <a:prstDash val="solid"/>
          </a:ln>
        </p:spPr>
        <p:txBody>
          <a:bodyPr/>
          <a:lstStyle/>
          <a:p>
            <a:endParaRPr lang="fr-FR"/>
          </a:p>
        </p:txBody>
      </p:sp>
      <p:sp>
        <p:nvSpPr>
          <p:cNvPr id="11" name="Text 9"/>
          <p:cNvSpPr/>
          <p:nvPr/>
        </p:nvSpPr>
        <p:spPr>
          <a:xfrm>
            <a:off x="731520" y="3493008"/>
            <a:ext cx="7040880" cy="402336"/>
          </a:xfrm>
          <a:prstGeom prst="rect">
            <a:avLst/>
          </a:prstGeom>
          <a:noFill/>
          <a:ln/>
        </p:spPr>
        <p:txBody>
          <a:bodyPr wrap="square" rtlCol="0" anchor="ctr"/>
          <a:lstStyle/>
          <a:p>
            <a:pPr marL="0" indent="0">
              <a:buNone/>
            </a:pPr>
            <a:r>
              <a:rPr lang="en-US" sz="1000" dirty="0">
                <a:solidFill>
                  <a:srgbClr val="FFFFFF"/>
                </a:solidFill>
              </a:rPr>
              <a:t>Partie 2  —  Distances, Priorités avancées &amp; Alcool</a:t>
            </a:r>
            <a:endParaRPr lang="en-US" sz="1000" dirty="0"/>
          </a:p>
        </p:txBody>
      </p:sp>
      <p:sp>
        <p:nvSpPr>
          <p:cNvPr id="12" name="Shape 10"/>
          <p:cNvSpPr/>
          <p:nvPr/>
        </p:nvSpPr>
        <p:spPr>
          <a:xfrm>
            <a:off x="548640" y="3968496"/>
            <a:ext cx="7315200" cy="402336"/>
          </a:xfrm>
          <a:prstGeom prst="rect">
            <a:avLst/>
          </a:prstGeom>
          <a:solidFill>
            <a:srgbClr val="22303C"/>
          </a:solidFill>
          <a:ln w="12700">
            <a:solidFill>
              <a:srgbClr val="D35400"/>
            </a:solidFill>
            <a:prstDash val="solid"/>
          </a:ln>
        </p:spPr>
        <p:txBody>
          <a:bodyPr/>
          <a:lstStyle/>
          <a:p>
            <a:endParaRPr lang="fr-FR"/>
          </a:p>
        </p:txBody>
      </p:sp>
      <p:sp>
        <p:nvSpPr>
          <p:cNvPr id="13" name="Shape 11"/>
          <p:cNvSpPr/>
          <p:nvPr/>
        </p:nvSpPr>
        <p:spPr>
          <a:xfrm>
            <a:off x="548640" y="3968496"/>
            <a:ext cx="91440" cy="402336"/>
          </a:xfrm>
          <a:prstGeom prst="rect">
            <a:avLst/>
          </a:prstGeom>
          <a:solidFill>
            <a:srgbClr val="D35400"/>
          </a:solidFill>
          <a:ln w="12700">
            <a:solidFill>
              <a:srgbClr val="D35400"/>
            </a:solidFill>
            <a:prstDash val="solid"/>
          </a:ln>
        </p:spPr>
        <p:txBody>
          <a:bodyPr/>
          <a:lstStyle/>
          <a:p>
            <a:endParaRPr lang="fr-FR"/>
          </a:p>
        </p:txBody>
      </p:sp>
      <p:sp>
        <p:nvSpPr>
          <p:cNvPr id="14" name="Text 12"/>
          <p:cNvSpPr/>
          <p:nvPr/>
        </p:nvSpPr>
        <p:spPr>
          <a:xfrm>
            <a:off x="731520" y="3968496"/>
            <a:ext cx="7040880" cy="402336"/>
          </a:xfrm>
          <a:prstGeom prst="rect">
            <a:avLst/>
          </a:prstGeom>
          <a:noFill/>
          <a:ln/>
        </p:spPr>
        <p:txBody>
          <a:bodyPr wrap="square" rtlCol="0" anchor="ctr"/>
          <a:lstStyle/>
          <a:p>
            <a:pPr marL="0" indent="0">
              <a:buNone/>
            </a:pPr>
            <a:r>
              <a:rPr lang="en-US" sz="1000" dirty="0">
                <a:solidFill>
                  <a:srgbClr val="FFFFFF"/>
                </a:solidFill>
              </a:rPr>
              <a:t>Partie 3  —  Sanctions, Éco-conduite, CT, Accident &amp; Permis</a:t>
            </a:r>
            <a:endParaRPr lang="en-US" sz="1000" dirty="0"/>
          </a:p>
        </p:txBody>
      </p:sp>
      <p:sp>
        <p:nvSpPr>
          <p:cNvPr id="15" name="Text 13"/>
          <p:cNvSpPr/>
          <p:nvPr/>
        </p:nvSpPr>
        <p:spPr>
          <a:xfrm>
            <a:off x="548640" y="4754880"/>
            <a:ext cx="8229600" cy="274320"/>
          </a:xfrm>
          <a:prstGeom prst="rect">
            <a:avLst/>
          </a:prstGeom>
          <a:noFill/>
          <a:ln/>
        </p:spPr>
        <p:txBody>
          <a:bodyPr wrap="square" rtlCol="0" anchor="ctr"/>
          <a:lstStyle/>
          <a:p>
            <a:pPr marL="0" indent="0">
              <a:buNone/>
            </a:pPr>
            <a:r>
              <a:rPr lang="en-US" sz="800" dirty="0">
                <a:solidFill>
                  <a:srgbClr val="ABB2B9"/>
                </a:solidFill>
              </a:rPr>
              <a:t>FTRANSPORT - SERVICES PRO  •  Déclaration n° 84 69 15114 69  •  Lyon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3447</Words>
  <Application>Microsoft Office PowerPoint</Application>
  <PresentationFormat>Affichage à l'écran (16:9)</PresentationFormat>
  <Paragraphs>553</Paragraphs>
  <Slides>32</Slides>
  <Notes>32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32</vt:i4>
      </vt:variant>
    </vt:vector>
  </HeadingPairs>
  <TitlesOfParts>
    <vt:vector size="34"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Sécurité Routière — Formation complète</dc:title>
  <dc:subject>PptxGenJS Presentation</dc:subject>
  <dc:creator>PptxGenJS</dc:creator>
  <cp:lastModifiedBy>naoufal guenichi</cp:lastModifiedBy>
  <cp:revision>1</cp:revision>
  <dcterms:created xsi:type="dcterms:W3CDTF">2026-02-24T16:38:49Z</dcterms:created>
  <dcterms:modified xsi:type="dcterms:W3CDTF">2026-02-24T16:57:30Z</dcterms:modified>
</cp:coreProperties>
</file>