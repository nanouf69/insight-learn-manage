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ufal guenichi" userId="858fd4b3-0f44-4d07-ab42-9c2b2bf873b3" providerId="ADAL" clId="{5ADB1776-59AF-4A69-8422-CB66C8AF09C6}"/>
    <pc:docChg chg="delSld">
      <pc:chgData name="naoufal guenichi" userId="858fd4b3-0f44-4d07-ab42-9c2b2bf873b3" providerId="ADAL" clId="{5ADB1776-59AF-4A69-8422-CB66C8AF09C6}" dt="2026-02-26T21:36:31.351" v="28" actId="47"/>
      <pc:docMkLst>
        <pc:docMk/>
      </pc:docMkLst>
      <pc:sldChg chg="del">
        <pc:chgData name="naoufal guenichi" userId="858fd4b3-0f44-4d07-ab42-9c2b2bf873b3" providerId="ADAL" clId="{5ADB1776-59AF-4A69-8422-CB66C8AF09C6}" dt="2026-02-26T21:36:31.351" v="28" actId="47"/>
        <pc:sldMkLst>
          <pc:docMk/>
          <pc:sldMk cId="0" sldId="282"/>
        </pc:sldMkLst>
      </pc:sldChg>
      <pc:sldChg chg="del">
        <pc:chgData name="naoufal guenichi" userId="858fd4b3-0f44-4d07-ab42-9c2b2bf873b3" providerId="ADAL" clId="{5ADB1776-59AF-4A69-8422-CB66C8AF09C6}" dt="2026-02-26T21:36:30.392" v="27" actId="47"/>
        <pc:sldMkLst>
          <pc:docMk/>
          <pc:sldMk cId="0" sldId="283"/>
        </pc:sldMkLst>
      </pc:sldChg>
      <pc:sldChg chg="del">
        <pc:chgData name="naoufal guenichi" userId="858fd4b3-0f44-4d07-ab42-9c2b2bf873b3" providerId="ADAL" clId="{5ADB1776-59AF-4A69-8422-CB66C8AF09C6}" dt="2026-02-26T21:36:27.956" v="26" actId="47"/>
        <pc:sldMkLst>
          <pc:docMk/>
          <pc:sldMk cId="0" sldId="284"/>
        </pc:sldMkLst>
      </pc:sldChg>
      <pc:sldChg chg="del">
        <pc:chgData name="naoufal guenichi" userId="858fd4b3-0f44-4d07-ab42-9c2b2bf873b3" providerId="ADAL" clId="{5ADB1776-59AF-4A69-8422-CB66C8AF09C6}" dt="2026-02-26T21:36:27.531" v="25" actId="47"/>
        <pc:sldMkLst>
          <pc:docMk/>
          <pc:sldMk cId="0" sldId="285"/>
        </pc:sldMkLst>
      </pc:sldChg>
      <pc:sldChg chg="del">
        <pc:chgData name="naoufal guenichi" userId="858fd4b3-0f44-4d07-ab42-9c2b2bf873b3" providerId="ADAL" clId="{5ADB1776-59AF-4A69-8422-CB66C8AF09C6}" dt="2026-02-26T21:36:26.990" v="24" actId="47"/>
        <pc:sldMkLst>
          <pc:docMk/>
          <pc:sldMk cId="0" sldId="286"/>
        </pc:sldMkLst>
      </pc:sldChg>
      <pc:sldChg chg="del">
        <pc:chgData name="naoufal guenichi" userId="858fd4b3-0f44-4d07-ab42-9c2b2bf873b3" providerId="ADAL" clId="{5ADB1776-59AF-4A69-8422-CB66C8AF09C6}" dt="2026-02-26T21:36:26.487" v="23" actId="47"/>
        <pc:sldMkLst>
          <pc:docMk/>
          <pc:sldMk cId="0" sldId="287"/>
        </pc:sldMkLst>
      </pc:sldChg>
      <pc:sldChg chg="del">
        <pc:chgData name="naoufal guenichi" userId="858fd4b3-0f44-4d07-ab42-9c2b2bf873b3" providerId="ADAL" clId="{5ADB1776-59AF-4A69-8422-CB66C8AF09C6}" dt="2026-02-26T21:36:25.984" v="22" actId="47"/>
        <pc:sldMkLst>
          <pc:docMk/>
          <pc:sldMk cId="0" sldId="288"/>
        </pc:sldMkLst>
      </pc:sldChg>
      <pc:sldChg chg="del">
        <pc:chgData name="naoufal guenichi" userId="858fd4b3-0f44-4d07-ab42-9c2b2bf873b3" providerId="ADAL" clId="{5ADB1776-59AF-4A69-8422-CB66C8AF09C6}" dt="2026-02-26T21:36:25.315" v="21" actId="47"/>
        <pc:sldMkLst>
          <pc:docMk/>
          <pc:sldMk cId="0" sldId="289"/>
        </pc:sldMkLst>
      </pc:sldChg>
      <pc:sldChg chg="del">
        <pc:chgData name="naoufal guenichi" userId="858fd4b3-0f44-4d07-ab42-9c2b2bf873b3" providerId="ADAL" clId="{5ADB1776-59AF-4A69-8422-CB66C8AF09C6}" dt="2026-02-26T21:36:24.979" v="20" actId="47"/>
        <pc:sldMkLst>
          <pc:docMk/>
          <pc:sldMk cId="0" sldId="290"/>
        </pc:sldMkLst>
      </pc:sldChg>
      <pc:sldChg chg="del">
        <pc:chgData name="naoufal guenichi" userId="858fd4b3-0f44-4d07-ab42-9c2b2bf873b3" providerId="ADAL" clId="{5ADB1776-59AF-4A69-8422-CB66C8AF09C6}" dt="2026-02-26T21:36:24.162" v="19" actId="47"/>
        <pc:sldMkLst>
          <pc:docMk/>
          <pc:sldMk cId="0" sldId="291"/>
        </pc:sldMkLst>
      </pc:sldChg>
      <pc:sldChg chg="del">
        <pc:chgData name="naoufal guenichi" userId="858fd4b3-0f44-4d07-ab42-9c2b2bf873b3" providerId="ADAL" clId="{5ADB1776-59AF-4A69-8422-CB66C8AF09C6}" dt="2026-02-26T21:36:23.688" v="18" actId="47"/>
        <pc:sldMkLst>
          <pc:docMk/>
          <pc:sldMk cId="0" sldId="292"/>
        </pc:sldMkLst>
      </pc:sldChg>
      <pc:sldChg chg="del">
        <pc:chgData name="naoufal guenichi" userId="858fd4b3-0f44-4d07-ab42-9c2b2bf873b3" providerId="ADAL" clId="{5ADB1776-59AF-4A69-8422-CB66C8AF09C6}" dt="2026-02-26T21:36:23.458" v="17" actId="47"/>
        <pc:sldMkLst>
          <pc:docMk/>
          <pc:sldMk cId="0" sldId="293"/>
        </pc:sldMkLst>
      </pc:sldChg>
      <pc:sldChg chg="del">
        <pc:chgData name="naoufal guenichi" userId="858fd4b3-0f44-4d07-ab42-9c2b2bf873b3" providerId="ADAL" clId="{5ADB1776-59AF-4A69-8422-CB66C8AF09C6}" dt="2026-02-26T21:36:23.229" v="16" actId="47"/>
        <pc:sldMkLst>
          <pc:docMk/>
          <pc:sldMk cId="0" sldId="294"/>
        </pc:sldMkLst>
      </pc:sldChg>
      <pc:sldChg chg="del">
        <pc:chgData name="naoufal guenichi" userId="858fd4b3-0f44-4d07-ab42-9c2b2bf873b3" providerId="ADAL" clId="{5ADB1776-59AF-4A69-8422-CB66C8AF09C6}" dt="2026-02-26T21:36:22.943" v="15" actId="47"/>
        <pc:sldMkLst>
          <pc:docMk/>
          <pc:sldMk cId="0" sldId="295"/>
        </pc:sldMkLst>
      </pc:sldChg>
      <pc:sldChg chg="del">
        <pc:chgData name="naoufal guenichi" userId="858fd4b3-0f44-4d07-ab42-9c2b2bf873b3" providerId="ADAL" clId="{5ADB1776-59AF-4A69-8422-CB66C8AF09C6}" dt="2026-02-26T21:36:22.720" v="14" actId="47"/>
        <pc:sldMkLst>
          <pc:docMk/>
          <pc:sldMk cId="0" sldId="296"/>
        </pc:sldMkLst>
      </pc:sldChg>
      <pc:sldChg chg="del">
        <pc:chgData name="naoufal guenichi" userId="858fd4b3-0f44-4d07-ab42-9c2b2bf873b3" providerId="ADAL" clId="{5ADB1776-59AF-4A69-8422-CB66C8AF09C6}" dt="2026-02-26T21:36:22.498" v="13" actId="47"/>
        <pc:sldMkLst>
          <pc:docMk/>
          <pc:sldMk cId="0" sldId="297"/>
        </pc:sldMkLst>
      </pc:sldChg>
      <pc:sldChg chg="del">
        <pc:chgData name="naoufal guenichi" userId="858fd4b3-0f44-4d07-ab42-9c2b2bf873b3" providerId="ADAL" clId="{5ADB1776-59AF-4A69-8422-CB66C8AF09C6}" dt="2026-02-26T21:36:22.294" v="12" actId="47"/>
        <pc:sldMkLst>
          <pc:docMk/>
          <pc:sldMk cId="0" sldId="298"/>
        </pc:sldMkLst>
      </pc:sldChg>
      <pc:sldChg chg="del">
        <pc:chgData name="naoufal guenichi" userId="858fd4b3-0f44-4d07-ab42-9c2b2bf873b3" providerId="ADAL" clId="{5ADB1776-59AF-4A69-8422-CB66C8AF09C6}" dt="2026-02-26T21:36:21.586" v="11" actId="47"/>
        <pc:sldMkLst>
          <pc:docMk/>
          <pc:sldMk cId="0" sldId="299"/>
        </pc:sldMkLst>
      </pc:sldChg>
      <pc:sldChg chg="del">
        <pc:chgData name="naoufal guenichi" userId="858fd4b3-0f44-4d07-ab42-9c2b2bf873b3" providerId="ADAL" clId="{5ADB1776-59AF-4A69-8422-CB66C8AF09C6}" dt="2026-02-26T21:36:21.389" v="10" actId="47"/>
        <pc:sldMkLst>
          <pc:docMk/>
          <pc:sldMk cId="0" sldId="300"/>
        </pc:sldMkLst>
      </pc:sldChg>
      <pc:sldChg chg="del">
        <pc:chgData name="naoufal guenichi" userId="858fd4b3-0f44-4d07-ab42-9c2b2bf873b3" providerId="ADAL" clId="{5ADB1776-59AF-4A69-8422-CB66C8AF09C6}" dt="2026-02-26T21:36:21.142" v="9" actId="47"/>
        <pc:sldMkLst>
          <pc:docMk/>
          <pc:sldMk cId="0" sldId="301"/>
        </pc:sldMkLst>
      </pc:sldChg>
      <pc:sldChg chg="del">
        <pc:chgData name="naoufal guenichi" userId="858fd4b3-0f44-4d07-ab42-9c2b2bf873b3" providerId="ADAL" clId="{5ADB1776-59AF-4A69-8422-CB66C8AF09C6}" dt="2026-02-26T21:36:20.935" v="8" actId="47"/>
        <pc:sldMkLst>
          <pc:docMk/>
          <pc:sldMk cId="0" sldId="302"/>
        </pc:sldMkLst>
      </pc:sldChg>
      <pc:sldChg chg="del">
        <pc:chgData name="naoufal guenichi" userId="858fd4b3-0f44-4d07-ab42-9c2b2bf873b3" providerId="ADAL" clId="{5ADB1776-59AF-4A69-8422-CB66C8AF09C6}" dt="2026-02-26T21:36:20.569" v="7" actId="47"/>
        <pc:sldMkLst>
          <pc:docMk/>
          <pc:sldMk cId="0" sldId="303"/>
        </pc:sldMkLst>
      </pc:sldChg>
      <pc:sldChg chg="del">
        <pc:chgData name="naoufal guenichi" userId="858fd4b3-0f44-4d07-ab42-9c2b2bf873b3" providerId="ADAL" clId="{5ADB1776-59AF-4A69-8422-CB66C8AF09C6}" dt="2026-02-26T21:36:20.382" v="6" actId="47"/>
        <pc:sldMkLst>
          <pc:docMk/>
          <pc:sldMk cId="0" sldId="304"/>
        </pc:sldMkLst>
      </pc:sldChg>
      <pc:sldChg chg="del">
        <pc:chgData name="naoufal guenichi" userId="858fd4b3-0f44-4d07-ab42-9c2b2bf873b3" providerId="ADAL" clId="{5ADB1776-59AF-4A69-8422-CB66C8AF09C6}" dt="2026-02-26T21:36:20.050" v="5" actId="47"/>
        <pc:sldMkLst>
          <pc:docMk/>
          <pc:sldMk cId="0" sldId="305"/>
        </pc:sldMkLst>
      </pc:sldChg>
      <pc:sldChg chg="del">
        <pc:chgData name="naoufal guenichi" userId="858fd4b3-0f44-4d07-ab42-9c2b2bf873b3" providerId="ADAL" clId="{5ADB1776-59AF-4A69-8422-CB66C8AF09C6}" dt="2026-02-26T21:36:19.864" v="4" actId="47"/>
        <pc:sldMkLst>
          <pc:docMk/>
          <pc:sldMk cId="0" sldId="306"/>
        </pc:sldMkLst>
      </pc:sldChg>
      <pc:sldChg chg="del">
        <pc:chgData name="naoufal guenichi" userId="858fd4b3-0f44-4d07-ab42-9c2b2bf873b3" providerId="ADAL" clId="{5ADB1776-59AF-4A69-8422-CB66C8AF09C6}" dt="2026-02-26T21:36:19.599" v="3" actId="47"/>
        <pc:sldMkLst>
          <pc:docMk/>
          <pc:sldMk cId="0" sldId="307"/>
        </pc:sldMkLst>
      </pc:sldChg>
      <pc:sldChg chg="del">
        <pc:chgData name="naoufal guenichi" userId="858fd4b3-0f44-4d07-ab42-9c2b2bf873b3" providerId="ADAL" clId="{5ADB1776-59AF-4A69-8422-CB66C8AF09C6}" dt="2026-02-26T21:36:19.265" v="2" actId="47"/>
        <pc:sldMkLst>
          <pc:docMk/>
          <pc:sldMk cId="0" sldId="308"/>
        </pc:sldMkLst>
      </pc:sldChg>
      <pc:sldChg chg="del">
        <pc:chgData name="naoufal guenichi" userId="858fd4b3-0f44-4d07-ab42-9c2b2bf873b3" providerId="ADAL" clId="{5ADB1776-59AF-4A69-8422-CB66C8AF09C6}" dt="2026-02-26T21:36:18.974" v="1" actId="47"/>
        <pc:sldMkLst>
          <pc:docMk/>
          <pc:sldMk cId="0" sldId="309"/>
        </pc:sldMkLst>
      </pc:sldChg>
      <pc:sldChg chg="del">
        <pc:chgData name="naoufal guenichi" userId="858fd4b3-0f44-4d07-ab42-9c2b2bf873b3" providerId="ADAL" clId="{5ADB1776-59AF-4A69-8422-CB66C8AF09C6}" dt="2026-02-26T21:36:18.426" v="0" actId="47"/>
        <pc:sldMkLst>
          <pc:docMk/>
          <pc:sldMk cId="0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60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417320"/>
            <a:ext cx="9144000" cy="2194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91440" cy="21945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· Formes juridiques · Comptabilité · Fiscalité · Régimes sociaux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parties — Formation certifiée Qualiopi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Déclaration n° 84 69 15114 69  •  Lyon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GÉNÉRAL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parties — Formation Gestion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42416"/>
            <a:ext cx="8631936" cy="1225296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56032" y="1042416"/>
            <a:ext cx="1371600" cy="12252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56032" y="11338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160934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formes juridiques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19072" y="1115568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719072" y="1115568"/>
            <a:ext cx="1700784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773936" y="111556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d'entrepreneurs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73936" y="1389888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Artisan, libéral, agriculteur, commerçant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11296" y="1115568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511296" y="1115568"/>
            <a:ext cx="1700784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566160" y="111556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importantes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66160" y="1389888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 des Métiers vs Chambre du Commerce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0" y="1115568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303520" y="1115568"/>
            <a:ext cx="1700784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58384" y="111556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physique / morale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58384" y="1389888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 confondu vs séparé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95744" y="1115568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095744" y="1115568"/>
            <a:ext cx="1700784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150608" y="111556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formes juridiques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50608" y="1389888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EI, EURL, SARL, SASU, SAS, SA…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2359152"/>
            <a:ext cx="8631936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56032" y="2359152"/>
            <a:ext cx="1371600" cy="12252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56032" y="24505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6032" y="29260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Amortissements, coût de revient, TVA, fiscalité, régimes sociaux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719072" y="2432304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719072" y="2432304"/>
            <a:ext cx="1700784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773936" y="24323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73936" y="2706624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Linéaire, dégressif, exceptionnel, valeur résiduelle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11296" y="2432304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511296" y="2432304"/>
            <a:ext cx="1700784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566160" y="24323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revient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66160" y="2706624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fixes/variables, formule monôme &amp; binôme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03520" y="2432304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5303520" y="2432304"/>
            <a:ext cx="1700784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358384" y="24323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&amp; régimes d'imposition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58384" y="2706624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Taux, collectée/déductible, réel simplifié/normal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095744" y="2432304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7095744" y="2432304"/>
            <a:ext cx="1700784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7150608" y="24323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sociaux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50608" y="2706624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vs assimilé salarié, CSG, CRDS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56032" y="3675888"/>
            <a:ext cx="8631936" cy="1225296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256032" y="3675888"/>
            <a:ext cx="1371600" cy="1225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56032" y="3767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56032" y="424281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Dividendes, statuts, CMA, CGA, paiements, SIG, FR, BFR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719072" y="3749040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1719072" y="3749040"/>
            <a:ext cx="170078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1773936" y="3749040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Dividendes &amp; statuts du conjoint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773936" y="402336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Collaborateur, associé, salarié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511296" y="3749040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3511296" y="3749040"/>
            <a:ext cx="170078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566160" y="3749040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CMA, CGA &amp; expert-comptable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0" y="402336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Missions, hiérarchie, rôles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03520" y="3749040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5303520" y="3749040"/>
            <a:ext cx="170078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358384" y="3749040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Moyens de paiement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58384" y="402336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Chèque, carte, espèces — obligations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095744" y="3749040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7095744" y="3749040"/>
            <a:ext cx="170078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7150608" y="3749040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SIG, Fonds de roulement, BFR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150608" y="402336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gestion financière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1737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71907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9689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Formes Juridiques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— Partie 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Formes juridiques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" y="1078992"/>
            <a:ext cx="8101584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11338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 d'entrepreneurs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40817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· Libéral · Agriculteur · Commerçant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9222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" y="1792224"/>
            <a:ext cx="8101584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14400" y="18470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connaître sa catégorie 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1214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 de création &amp; caisse sociale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05456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50545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8096" y="2505456"/>
            <a:ext cx="8101584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25603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physique ou morale 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834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 · Droits et devoirs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218688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8096" y="3218688"/>
            <a:ext cx="8101584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14400" y="32735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Différences physique / morale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5478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 · Abus de bien social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931920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393192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8096" y="3931920"/>
            <a:ext cx="8101584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914400" y="39867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formes juridiques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26110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 EI → SA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 d'entrepreneurs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entrepreneur est une personne qui crée une entreprise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60520" cy="175564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416052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47472" y="1051560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L'artisan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380744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Exerce un métier manuel selon des normes traditionnelles. Moins de 11 salariés à la création.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boulanger, maçon, chauffeur VTC/taxi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S'immatricule à la Chambre des Métiers et de l'Artisanat (CMA)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4160520" cy="175564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2953512"/>
            <a:ext cx="416052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7472" y="29535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La profession libérale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282696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Exercée à titre personnel, sous sa responsabilité, de façon indépendante. Services intellectuels.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avocat, médecin, expert-comptable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Qualifications appropriées requises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160520" cy="175564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4160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82312" y="1051560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L'agriculteur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380744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culture de la terre et/ou élevage d'animaux à des fins de production.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éleveur, ingénieur agronome, auxiliaire vétérinaire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709160" y="2953512"/>
            <a:ext cx="4160520" cy="175564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2953512"/>
            <a:ext cx="41605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82312" y="29535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Le commerçant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282696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Exerce des actes de commerce à titre habituel. Tous les métiers non artisanaux/agricoles.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S'immatricule au Registre du Commerce et des Sociétés (RCS)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connaître sa catégorie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catégorie détermine deux choses essentielles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que vous soyez artisan ou commerçant, vous ne créerez pas votre entreprise au même endroit et vous ne dépendrez pas de la même caisse sociale.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Lieu de création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→ Chambre des Métiers et de l'Artisanat (CMA)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Commerçant → Chambre de Commerce et d'Industrie (CCI)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Libéral → Ordre professionnel ou URSSAF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Agriculteur → Chambre d'Agriculture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Caisse sociale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catégorie relève d'une caisse sociale différente.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régime de protection sociale (maladie, retraite, maternité) varie selon que vous êtes artisan, commerçant ou libéral.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: cela impacte directement le montant de vos cotisations.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physique ou morale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choix fondamental lors de la création d'entreprise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160520" cy="3730752"/>
          </a:xfrm>
          <a:prstGeom prst="rect">
            <a:avLst/>
          </a:prstGeom>
          <a:solidFill>
            <a:srgbClr val="FFF8F0"/>
          </a:solidFill>
          <a:ln w="1524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4241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PERSONNE PHYSIQUE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37360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et professionnel CONFONDUS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des biens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37360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achetez pour l'activité pro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servir à l'activité perso et vice versa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dettes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peut saisir vos biens personnels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71216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37360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EI, Micro-entreprise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37360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Régulière, sincère et fidèle à la réalité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1042416"/>
            <a:ext cx="4160520" cy="3730752"/>
          </a:xfrm>
          <a:prstGeom prst="rect">
            <a:avLst/>
          </a:prstGeom>
          <a:solidFill>
            <a:srgbClr val="EBF4FC"/>
          </a:solidFill>
          <a:ln w="1524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9160" y="104241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PERSONNE MORALE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1888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90488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et professionnel SÉPARÉS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1920240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1888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des biens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0488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biens pro ne peuvent pas servir à l'activité perso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Abus de bien social = forte amende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1888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dettes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0488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ne peut saisir que les biens pro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hauteur du capital social déclaré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871216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1888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0488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EURL, SARL, SASU, SAS, SA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1888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0488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Régulière, sincère et fidèle à la réalité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formes juridiques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 complet — régimes fiscal, social, cotisations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005840"/>
          <a:ext cx="8924544" cy="3913632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Micro-Ent.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associés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social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1 €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(libéré 5 ans)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1 €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(libéré 5 ans)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(libéré 5 ans)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37 000 €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libéré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à la création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sur 5 ans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à la création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sur 5 ans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à la création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sur 5 ans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à la création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sur 5 ans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Responsabilité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 fiscal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micro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(abatt. 50%)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BIC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(BIC − charges)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ou IS*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(option 5 ans)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ou IS*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(option 5 ans)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de droit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(option IR 5 ans)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de droit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(option IR 5 ans)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de droit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 social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SARL maj. → TNS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Égalit./minor. → Assim.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Assimilé salarié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Assimilé salarié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Assimilé salarié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 de paie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(TNS)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(TNS)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(TNS)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 → Non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Assim. → Oui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cotisations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~22% du CA 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 du BIC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 du BIC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TNS: 45% BIC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Assim: 75% sal. brut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 sal. brut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 sal. brut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 sal. brut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max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77 700€ 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219456" y="4974336"/>
            <a:ext cx="8924544" cy="164592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74320" y="4974336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Option IS : irrévocable après 5 ans  |  IS : 15% jusqu'à 42 500€, 25% au-delà  |  SARL égalitaire = 50%/50% → assimilé salarié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SARL — Régime social selon la gérance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Majoritaire, égalitaire, minoritaire : 3 situations différentes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816352" cy="3785616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2816352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9184" y="98755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Gérant MAJORITAIRE (&gt; 50%)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316736"/>
            <a:ext cx="2633472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social : TNS (Travailleur Non Salarié)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: ~45% du BIC (bénéfice imposable)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 : NON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 : IR (BIC) ou option IS pendant 5 ans max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 : ~45% du dernier revenu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: ❌ pas couvert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: vous détenez 51% des parts → vous êtes TNS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154680" y="987552"/>
            <a:ext cx="2816352" cy="3785616"/>
          </a:xfrm>
          <a:prstGeom prst="rect">
            <a:avLst/>
          </a:prstGeom>
          <a:solidFill>
            <a:srgbClr val="F0EAF8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54680" y="987552"/>
            <a:ext cx="2816352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27832" y="98755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Gérant ÉGALITAIRE (50%)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1316736"/>
            <a:ext cx="2633472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social : ASSIMILÉ SALARIÉ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: ~75% du salaire BRUT versé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 : OUI — obligatoire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 : IR (BIC) ou option IS pendant 5 ans max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 : ~75% du dernier salaire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: ❌ pas couvert (dirigeant)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: 2 associés à 50%/50% → tous deux assimilés salariés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53328" y="987552"/>
            <a:ext cx="2816352" cy="3785616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53328" y="987552"/>
            <a:ext cx="2816352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26480" y="98755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Gérant MINORITAIRE (&lt; 50%)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44768" y="1316736"/>
            <a:ext cx="2633472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social : ASSIMILÉ SALARIÉ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: ~75% du salaire BRUT versé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 : OUI — obligatoire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 : IR (BIC) ou option IS pendant 5 ans max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 : ~75% du dernier salaire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: ❌ pas couvert (dirigeant)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: vous détenez 30% des parts → assimilé salarié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56032" y="4828032"/>
            <a:ext cx="8631936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7472" y="4828032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ou IS ? IR = bénéfice intégré dans vos revenus personnels (barème progressif). IS = société paie l'impôt séparément (15% &lt; 42 500€ / 25% au-delà). Option IS irrévocable après 5 ans.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d'exploitation &amp; formes spéciales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directe · Location-gérance · SCOP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MODES D'EXPLOITATION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16736"/>
            <a:ext cx="2816352" cy="182880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2816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9184" y="1316736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Exploitation directe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1627632"/>
            <a:ext cx="2633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L'entrepreneur exploite lui-même l'entreprise.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gère au quotidien et assume tous les risques.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perçoit tous les bénéfices.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le plus courant : EI, EURL, SASU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 : un chauffeur VTC qui gère seul sa SASU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154680" y="1316736"/>
            <a:ext cx="2816352" cy="1828800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154680" y="1316736"/>
            <a:ext cx="2816352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27832" y="1316736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Location-gérance (gérance libre)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27632"/>
            <a:ext cx="2633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propriétaire d'un fonds de commerce le LOUE à un gérant.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locataire exploite à ses risques et périls.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verse une redevance (loyer) au propriétaire.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Doit être immatriculé au RCS ou RM.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 : louer une licence taxi à un autre chauffeur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053328" y="1316736"/>
            <a:ext cx="2816352" cy="1828800"/>
          </a:xfrm>
          <a:prstGeom prst="rect">
            <a:avLst/>
          </a:prstGeom>
          <a:solidFill>
            <a:srgbClr val="F0EAF8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053328" y="1316736"/>
            <a:ext cx="2816352" cy="274320"/>
          </a:xfrm>
          <a:prstGeom prst="rect">
            <a:avLst/>
          </a:prstGeom>
          <a:solidFill>
            <a:srgbClr val="555F6D"/>
          </a:solidFill>
          <a:ln w="12700">
            <a:solidFill>
              <a:srgbClr val="555F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126480" y="1316736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Autres modes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44768" y="1627632"/>
            <a:ext cx="2633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Gérance salariée : gérant = salarié du propriétaire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Franchise : exploitation sous enseigne contre redevance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Concession : exclusivité territoriale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Sous-location : le locataire-gérant sous-loue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74320" y="3218688"/>
            <a:ext cx="859536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32186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🤜 LA SCOP — Société Coopérative et Participative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47872"/>
            <a:ext cx="4160520" cy="621792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3547872"/>
            <a:ext cx="100584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9184" y="3547872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53312" y="3602736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où les salariés sont associés MAJORITAIRES (≥51% capital, ≥65% droits de vote). Peut être constituée en SARL ou SA coopérative.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547872"/>
            <a:ext cx="41605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09160" y="3547872"/>
            <a:ext cx="1005840" cy="62179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64024" y="3547872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88152" y="3602736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Dirigeants élus par les salariés-associés. 1 associé = 1 voix, quelque soit sa participation au capital.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224528"/>
            <a:ext cx="4160520" cy="621792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" y="4224528"/>
            <a:ext cx="1005840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9184" y="4224528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53312" y="4279392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Partagés entre : réserves impartageables (≥16%), parts travail (salariés), dividendes (associés). Les réserves restent dans l'entreprise.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4224528"/>
            <a:ext cx="41605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709160" y="4224528"/>
            <a:ext cx="1005840" cy="6217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64024" y="4224528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88152" y="4279392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des salariés. Pérennité grâce aux réserves. Exonérations fiscales partielles. Idéal pour reprises d'entreprises par les salariés.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différents apports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en nature · Apport numéraire · Apport en industrie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2816352" cy="3547872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2816352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9184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Apport en nature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26334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apport de biens AUTRES que de l'argent, pouvant être évalués pécuniairement et cédés.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Véhicule, matériel, local, fonds de commerce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commissaire aux apports peut être nécessaire pour évaluer la valeur.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024128"/>
            <a:ext cx="2816352" cy="3547872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54680" y="1024128"/>
            <a:ext cx="2816352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27832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Apport numéraire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1371600"/>
            <a:ext cx="26334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apport D'ARGENT.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Forme la plus courante d'apport.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Versé sur le compte de la société à la création ou lors d'une augmentation de capital.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1024128"/>
            <a:ext cx="2816352" cy="3547872"/>
          </a:xfrm>
          <a:prstGeom prst="rect">
            <a:avLst/>
          </a:prstGeom>
          <a:solidFill>
            <a:srgbClr val="E8F5E9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53328" y="1024128"/>
            <a:ext cx="2816352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26480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Apport en industrie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44768" y="1371600"/>
            <a:ext cx="26334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Connaissances techniques, travail, services, compétences.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 PEUT PAS être intégré dans le capital social.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Donne droit à des parts sociales SANS valeur nominale au bilan.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4645152"/>
            <a:ext cx="8631936" cy="402336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84048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Le commissaire aux apports est un professionnel (commissaire aux comptes) chargé d'évaluer les apports en nature ou en industrie pour certifier leur valeur réelle auprès des associés.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responsabilité limitée aux apports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fondamental des sociétés à responsabilité limitée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L'associé risque de ne pas pouvoir récupérer les sommes qu'il a apportées lors de la création de la société. En revanche, il ne sera pas tenu de verser plus que ce qu'il a déjà versé.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416052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554480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Risque de l'associé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83664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L'associé risque de NE PAS RÉCUPÉRER les sommes apportées lors de la création.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société fait faillite, les apports peuvent être perdus.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risque de l'investisseur.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554480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09160" y="1554480"/>
            <a:ext cx="4160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82312" y="1554480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Protection de l'associé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1883664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sera PAS TENU DE VERSER PLUS que ce qu'il a déjà versé.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une société à responsabilité limitée, la responsabilité est limitée aux apports déjà effectués.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saisie sur les biens personnels au-delà du capital social.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944368"/>
            <a:ext cx="41605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294436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Définition d'un apport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73552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« apport », il convient d'entendre non seulement les apports en numéraires, mais également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biens apportés en nature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apports en numéraire ou en nature effectués lors d'une augmentation de capital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944368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709160" y="2944368"/>
            <a:ext cx="416052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82312" y="294436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Pourquoi c'est important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règle distingue fondamentalement la personne morale de la personne physique.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EI : responsabilité ILLIMITÉE (biens perso saisissables)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EURL/SARL/SASU : responsabilité LIMITÉE aux apports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Êtes-vous obligé d'adhérer à un expert-comptable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obligatoire — mais qui doit la faire 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NON — Les entreprises peuvent tenir elles-mêmes leur comptabilité.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24358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revanche, lorsqu'elles décident de la confier à un professionnel, elles doivent obligatoirement s'adresser à un expert-comptable inscrit au tableau de l'ordre.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41605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57276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Tenir sa comptabilité soi-même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1901952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légalement autorisé. L'entrepreneur peut tenir lui-même ses livres comptables.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: respecter les règles du Plan Comptable Général (PCG).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Adapté surtout aux micro-entreprises et petites structures.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572768"/>
            <a:ext cx="416052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82312" y="157276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Faire appel à un expert-comptable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901952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si vous déléguez à un tiers : il doit être inscrit au tableau de l'Ordre des experts-comptables.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tient, contrôle, certifie la comptabilité et établit les déclarations fiscales et sociales.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Recommandé dès que l'activité se développe.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62656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2962656"/>
            <a:ext cx="416052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7472" y="296265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L'Ordre des experts-comptables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professionnelle qui réglemente la profession.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un expert-comptable inscrit peut légalement exercer cette activité.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engage sa responsabilité professionnelle sur les comptes qu'il certifie.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962656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709160" y="2962656"/>
            <a:ext cx="4160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82312" y="296265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Conseil pratique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291840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d'un expert-comptable peut sembler élevé, mais il permet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D'éviter les erreurs fiscales (redressements)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 gagner du temps sur l'administratif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D'optimiser légalement votre fiscalité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obligations de l'entrepreneur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L'entrepreneur ou son expert-comptable doivent...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29184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L'entrepreneur, ou son expert-comptable, doivent respecter les obligations comptables suivantes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8595360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1408176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" y="1481328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de façon chronologique les mouvements (achats, ventes, encaissements, décaissements…)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66544"/>
            <a:ext cx="859536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2066544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" y="2139696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une facturation dans certains cas (obligation légale entre professionnels)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724912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" y="2798064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Procéder à un inventaire, obligatoire au moins 1 fois par 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859536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3383280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" y="3456432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les comptes annuels à la fin de chaque exercice (comptes sociaux, bilan, compte de résultat et annexe)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041648"/>
            <a:ext cx="8595360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4041648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041648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" y="4114800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Détenir un compte bancaire dédié à l'activité : les travailleurs indépendants ont l'obligation de créer un compte dédié si le CA dépasse 10 000 € pendant 2 années civiles consécutives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02336" y="4754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Un compte bancaire dédié n'est pas un compte professionnel — c'est simplement un compte séparé de l'usage personnel.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comptes sociaux (comptes annuels)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· Compte de résultat · Annexe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comptes annuels (ou comptes sociaux) comprennent 3 documents obligatoires qui dressent le bilan complet de l'activité de l'entreprise.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2798064" cy="349300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2798064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426464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Le bilan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10512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 les éléments ACTIFS et PASSIFS de l'entreprise.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Fait apparaître de façon distincte les capitaux propres.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Photographie patrimoniale à un instant donné.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ACTIF = TOTAL PASSIF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1426464"/>
            <a:ext cx="2798064" cy="349300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64408" y="1426464"/>
            <a:ext cx="2798064" cy="3291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37560" y="1426464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Le compte de résultat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55848" y="1810512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 les PRODUITS (ventes, intérêts…) et les CHARGES (achats, salaires, impôts…).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Fait apparaître le bénéfice ou la perte de l'exercice.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Après déduction des amortissements et des provisions.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54496" y="1426464"/>
            <a:ext cx="2798064" cy="349300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254496" y="1426464"/>
            <a:ext cx="2798064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327648" y="1426464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L'annexe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45936" y="1810512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 et complète le bilan et le compte de résultat.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Précise les méthodes comptables utilisées.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Indique le montant des pensions et compléments de retraite.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Contient toute information utile à la compréhension des comptes.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de résultat — À quoi ça sert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PERFORMANCE de l'entreprise sur une période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5852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Le compte de résultat = FILM de l'activité de l'entreprise sur 1 an (12 mois). Il répond à la question : l'entreprise a-t-elle GAGNÉ ou PERDU de l'argent sur l'exercice 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4160520" cy="804672"/>
          </a:xfrm>
          <a:prstGeom prst="rect">
            <a:avLst/>
          </a:prstGeom>
          <a:solidFill>
            <a:srgbClr val="E8F5E9"/>
          </a:solidFill>
          <a:ln w="10160">
            <a:solidFill>
              <a:srgbClr val="A8D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4160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À quoi ça sert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920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Calculer le bénéfice (ou la perte) de l'année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Servir de base pour calculer l'impôt (IS ou IR)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Analyser la rentabilité de l'activité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627632"/>
            <a:ext cx="4160520" cy="804672"/>
          </a:xfrm>
          <a:prstGeom prst="rect">
            <a:avLst/>
          </a:prstGeom>
          <a:solidFill>
            <a:srgbClr val="FFF3E6"/>
          </a:solidFill>
          <a:ln w="1016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09160" y="1627632"/>
            <a:ext cx="416052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00600" y="16276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Quand 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920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Établi à la fin de chaque exercice comptable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exercice = généralement du 1er janvier au 31 décembre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Peut couvrir une autre période de 12 mois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8595360" cy="256032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2487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BILAN vs COMPTE DE RÉSULTAT — quelle différence 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4160520" cy="2066544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4160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27797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Le BILAN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090672"/>
            <a:ext cx="39319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Photographie à une DATE précise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que l'entreprise POSSÈDE (actif)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que l'entreprise DOIT (passif)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Santé financière à l'instant 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Pour les banquiers, associés, investisseurs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779776"/>
            <a:ext cx="4160520" cy="2066544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2779776"/>
            <a:ext cx="416052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00600" y="27797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Le COMPTE DE RÉSULTAT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3090672"/>
            <a:ext cx="39319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sur toute une PÉRIODE (1 an)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que l'entreprise a GAGNÉ (produits)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que l'entreprise a DÉPENSÉ (charges)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Performance économique de l'année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Pour calculer l'impôt et analyser la rentabilité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487168"/>
            <a:ext cx="4160520" cy="2414016"/>
          </a:xfrm>
          <a:prstGeom prst="rect">
            <a:avLst/>
          </a:prstGeom>
          <a:solidFill>
            <a:srgbClr val="FDECEA"/>
          </a:solidFill>
          <a:ln w="1016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2487168"/>
            <a:ext cx="4160520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65760" y="248716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Les Charges — tout ce qui appauvrit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" y="2834640"/>
            <a:ext cx="393192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d'exploitation : leasing, carburant, assurance…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financières : intérêts d'emprunts, agios…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exceptionnelles : pénalités fiscales, créances non recouvrables…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487168"/>
            <a:ext cx="4160520" cy="2414016"/>
          </a:xfrm>
          <a:prstGeom prst="rect">
            <a:avLst/>
          </a:prstGeom>
          <a:solidFill>
            <a:srgbClr val="E8F5E9"/>
          </a:solidFill>
          <a:ln w="10160">
            <a:solidFill>
              <a:srgbClr val="A8D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709160" y="2487168"/>
            <a:ext cx="416052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00600" y="248716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Les Produits — tout ce qui enrichit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18888" y="2834640"/>
            <a:ext cx="393192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d'exploitation : chiffre d'affaires (prestation de transport)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financiers : intérêts de placements, revenus de prêts…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exceptionnels : créances recouvrées, reprises sur provisions…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956048"/>
            <a:ext cx="8595360" cy="14630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65760" y="4956048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 + RÉSULTAT = TOTAL PRODUITS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compte de résultat — en SASU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par Actions Simplifiée Unipersonnelle — IS à 15%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405993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d'affaires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Amortissement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Entretien véhicule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téléphone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Expert-comptable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 foncière des entreprises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 (1 500€/mois)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8 640 €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39 580 €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d'exploitation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20 420 €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 sur les sociétés 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3 063 € (20 420 × 0,15)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Bénéfices ou pertes / Dividendes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17 357 €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du compte de résultat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niveaux de charges et 3 niveaux de produits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composé de deux parties, les Charges et les Produits. On distingue 3 niveaux 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35024"/>
            <a:ext cx="237744" cy="11338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48640" y="1335024"/>
            <a:ext cx="3931920" cy="1133856"/>
          </a:xfrm>
          <a:prstGeom prst="rect">
            <a:avLst/>
          </a:prstGeom>
          <a:solidFill>
            <a:srgbClr val="FDECEA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d'exploitation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62763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tous les éléments qui ont un rapport direct à l'exploitation 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Leasing, carburant, assurance, matières premières, salaires, dotations aux amortissements…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335024"/>
            <a:ext cx="4206240" cy="1133856"/>
          </a:xfrm>
          <a:prstGeom prst="rect">
            <a:avLst/>
          </a:prstGeom>
          <a:solidFill>
            <a:srgbClr val="E8F5E9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d'exploitation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62763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Prestation de transport (CA principal)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produits (CA activité secondaire)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sur amortissements et provisions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237744" cy="1133856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48640" y="2578608"/>
            <a:ext cx="3931920" cy="1133856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" y="26151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financières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871216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tout ce qui a trait à l'activité financière de l'entreprise 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Intérêts et charges assimilées (intérêts d'emprunts, agios…)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578608"/>
            <a:ext cx="4206240" cy="1133856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754880" y="26151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financiers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71216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et produits assimilées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(revenus de prêts, intérêts reçus…)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822192"/>
            <a:ext cx="237744" cy="113385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48640" y="3822192"/>
            <a:ext cx="3931920" cy="1133856"/>
          </a:xfrm>
          <a:prstGeom prst="rect">
            <a:avLst/>
          </a:prstGeom>
          <a:solidFill>
            <a:srgbClr val="FDECEA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3858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exceptionnelles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les éléments qui ne font pas partie de l'activité courante 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Appel de taxes non prévues, pénalités fiscales, créances non recouvrables, opérations de capital, dotations aux amortissements dérogatoires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4206240" cy="1133856"/>
          </a:xfrm>
          <a:prstGeom prst="rect">
            <a:avLst/>
          </a:prstGeom>
          <a:solidFill>
            <a:srgbClr val="E8F5E9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54880" y="3858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exceptionnels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114800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Créances considérées non recouvrables finalement recouvrées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de capital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sur amortissements dérogatoires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— À quoi ça sert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SANTÉ FINANCIÈRE de l'entreprise à un instant 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585216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est une PHOTOGRAPHIE PATRIMONIALE de l'entreprise à une date précise (31/12 en général). Il sert à mesurer la santé financière : ce que l'entreprise POSSÈDE (actif) et ce qu'elle DOIT (passif). Il permet aux banques, associés et investisseurs d'évaluer la solidité de l'entreprise. TOTAL ACTIF = TOTAL PASSIF.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160520" cy="3200400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416052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L'actif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938528"/>
            <a:ext cx="393192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actifs sont les éléments en POSSESSION de l'entreprise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Immobilisations, bien stocks, créances sur débiteurs…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L'actif se décompose en 2 parties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Actif immobilisé (durée min. 1 an) : éléments destinés à servir de façon durable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Actif circulant : stocks, créances clients, disponibilités (banque)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709160" y="1572768"/>
            <a:ext cx="4160520" cy="3200400"/>
          </a:xfrm>
          <a:prstGeom prst="rect">
            <a:avLst/>
          </a:prstGeom>
          <a:solidFill>
            <a:srgbClr val="FFF8F0"/>
          </a:solidFill>
          <a:ln w="1016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4160520" cy="3291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Le passif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1938528"/>
            <a:ext cx="393192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passif est composé des RESSOURCES de l'entreprise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Apports, dettes, bénéfices…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Capitaux propres : capital social + résultat de l'exercice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Dettes : fournisseurs, emprunts, dettes fiscales et sociales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capital social est effectivement une dette pour l'entreprise car il appartient aux associés.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passif finance l'actif. C'est pour cela que TOTAL ACTIF = TOTAL PASSIF (toujours équilibré).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— Exemple chiffré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(Emplois) vs Passif (Ressources)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76732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 (Emplois)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PASSIF (Ressources)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 immobilisé (emplois stables)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Capitaux propres (ressources stables)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Véhicule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Téléphone portable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de l'exercice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 circulant (emplois d'exploitation)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Dettes (ressources d'exploitation)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Créances client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Dettes fournisseurs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18 800 €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L'actif du bilan en détail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immobilisé · Actif circulant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L'actif se décompose en 2 parties principales 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4160520" cy="292608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40817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Actif immobilisé (durée min. 1 an)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160520" cy="53035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02336" y="175564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Incorporelles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73936" y="175564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commercial, brevets, licences, logiciels, droit au bail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4160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02336" y="23225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Corporelles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73936" y="232257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Véhicules, matériels, mobilier, bâtiments, terrain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160520" cy="53035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02336" y="2889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Financières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73936" y="2889504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de participation, dépôts et cautionnements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408176"/>
            <a:ext cx="416052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00600" y="140817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Actif circulant (éléments renouvelables)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737360"/>
            <a:ext cx="4160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37176" y="175564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et en-cours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08776" y="175564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 premières, produits finis, marchandises en attente de vente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304288"/>
            <a:ext cx="4160520" cy="53035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37176" y="23225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Créances clients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08776" y="232257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émises non encore réglées par les clients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71216"/>
            <a:ext cx="4160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37176" y="2889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08776" y="2889504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Banque, caisse, valeurs mobilières de placement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474720"/>
            <a:ext cx="8595360" cy="1280160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DU BILAN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2336" y="3785616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: M2 Actif immobilisé (R21 Imm. en valeur | R22 Imm. corporelles | R23 Imm. incorporelles | R24 Imm. financières | R31 Stocks) + M3 ACHT (R34 Créances de l'actif circulant)   ||   PASSIF : M1 Financement permanent (R11 Capitaux propres | R13 Capa propres s22 | R14 Dettes de financement | R15 Provisions risques et charges) + M4 PCHT (R45 Autres provisions actif circulant)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comptables obligatoires à conserver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sous forme électronique ou papier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29184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peuvent apparaître sous forme électronique ou papier. Il s'agit des éléments suivants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8595360" cy="1078992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408176"/>
            <a:ext cx="8485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📔 Le livre-journal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719072"/>
            <a:ext cx="8430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CHRONOLOGIQUE (opération par opération et jour par jour) de tous les mouvements affectant le patrimoine de l'entreprise : achats, ventes, encaissements…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8595360" cy="1078992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859536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7472" y="2578608"/>
            <a:ext cx="8485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Le grand livre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89504"/>
            <a:ext cx="8430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 TOUS les comptes. Les écritures du livre-journal sont portées sur le grand livre et ventilées selon le plan comptable. S'ils sont sous format électronique, ces documents n'ont pas à être numérotés dès lors qu'ils sont simplement identifiés et datés.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8595360" cy="1078992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3749040"/>
            <a:ext cx="8485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Les comptes sociaux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059936"/>
            <a:ext cx="8430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+ le compte de résultat. Documents de synthèse annuels obligatoires. Permettent de dresser la situation patrimoniale et le résultat de l'exercice.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livre-journal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chronologique de TOUTES les opérations — image réelle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50292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📔 Journal Achats 11/18 — SERVICES PRO</a:t>
            </a:r>
            <a:endParaRPr lang="en-US" sz="900" dirty="0"/>
          </a:p>
        </p:txBody>
      </p:sp>
      <p:pic>
        <p:nvPicPr>
          <p:cNvPr id="9" name="Image 0" descr="/mnt/user-data/uploads/177187540047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5029200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68112" y="987552"/>
            <a:ext cx="3401568" cy="4041648"/>
          </a:xfrm>
          <a:prstGeom prst="rect">
            <a:avLst/>
          </a:prstGeom>
          <a:solidFill>
            <a:srgbClr val="EBF4FC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468112" y="987552"/>
            <a:ext cx="340156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559552" y="98755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Comment lire un livre-journal 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59552" y="1298448"/>
            <a:ext cx="32186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= 1 opération comptable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de l'opération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N° de compte (PCG)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Pièce justificative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Libellé (description)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Débit en euros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Crédit en euros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visible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CARREFOUR, AMAZON, McDONALD'S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chaque achat enregistré chronologiquement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total DÉBIT doit toujours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égaler le total CRÉDIT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(principe de la partie double)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grand livre général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de toutes les opérations par compte — image réelle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502920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Grand Livre Général — SERVICES PRO (période 01/11/2018 au 31/10/2019)</a:t>
            </a:r>
            <a:endParaRPr lang="en-US" sz="850" dirty="0"/>
          </a:p>
        </p:txBody>
      </p:sp>
      <p:pic>
        <p:nvPicPr>
          <p:cNvPr id="9" name="Image 0" descr="/mnt/user-data/uploads/177187541717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5029200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68112" y="987552"/>
            <a:ext cx="3401568" cy="4041648"/>
          </a:xfrm>
          <a:prstGeom prst="rect">
            <a:avLst/>
          </a:prstGeom>
          <a:solidFill>
            <a:srgbClr val="FFF8F0"/>
          </a:solidFill>
          <a:ln w="1270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468112" y="987552"/>
            <a:ext cx="3401568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559552" y="98755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Comment lire le grand livre 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59552" y="1298448"/>
            <a:ext cx="32186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écritures du livre-journal sont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reportées dans le grand livre 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classées par COMPTE 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 401100 : FOURNIS ACHATS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(Loyer, McDonald's, Péage, OVH…)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 404100 : FOURNIS IMMOBIL.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(Véhicule, matériel…)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 408100 : FOURNIS FACT. NON PARV.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compte montre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DÉBIT (colonne gauche)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CRÉDIT (colonne droite)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SOLDE (différence débit-crédit)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à préparer pour un contrôle fiscal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et sanctions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29184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à présenter lors d'un contrôle fiscal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8595360" cy="731520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02336" y="14630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📒 Le grand livre et journaux comptables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175564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livres comptables tenus chronologiquement.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9536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02336" y="22677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Le registre d'assemblée générale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256032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sociétés et associations uniquement.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8595360" cy="731520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02336" y="307238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La totalité des pièces comptables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2336" y="33649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d'achats et de ventes, relevés bancaires, tableau d'amortissement des emprunts bancaires, liste des immobilisations et amortissements liés.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859536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38587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LES SANCTIONS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FDECEA"/>
          </a:solidFill>
          <a:ln w="1016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02336" y="4224528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des documents comptables inexacts ou fictifs est sanctionné pénalement :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chef d'entreprise encourt une amende de 500 000 € ET 5 ans d'emprisonnement.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PARTIE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37744" cy="12618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39496" y="914400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d'entrepreneurs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9496" y="1207008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(CMA) · Libéral · Agriculteur · Commerçant (CCI). La catégorie détermine le lieu de création ET la caisse sociale.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237744" cy="1261872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974336" y="914400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physique vs morale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74336" y="1207008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Phys. : patrimoine perso+pro CONFONDUS, biens perso saisissables.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 : patrimoine SÉPARÉ, responsabilité limitée aux apports.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2231136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2231136"/>
            <a:ext cx="237744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39496" y="2304288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juridiques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9496" y="2596896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EI/Micro → TNS, ~45% BIC. SARL maj → TNS. SARL égalit./minor., SASU, SAS → Assimilé salarié ~75% sal. brut.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libéré : 20% EURL/SARL, 50% SASU/SA à la création, solde sur 5 ans.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231136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63440" y="2231136"/>
            <a:ext cx="237744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974336" y="2304288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vs Assimilé salarié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74336" y="2596896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~45% du BIC : EI, gérant maj. SARL. Pas de fiche de paie. Retraite ~45%.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Assimilé ~75% du salaire BRUT : Président SASU/SAS. Fiche de paie obligatoire.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3621024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28600" y="3621024"/>
            <a:ext cx="237744" cy="12618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39496" y="3694176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Le BILAN — santé financière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9496" y="3986784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Photographie à une DATE précise (ex. 31/12). Montre ce que l'entreprise POSSÈDE (actif) et ce qu'elle DOIT (passif). Utile pour les banquiers et investisseurs. TOTAL ACTIF = TOTAL PASSIF.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621024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63440" y="3621024"/>
            <a:ext cx="237744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974336" y="3694176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Le COMPTE DE RÉSULTAT — performance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74336" y="3986784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sur 1 AN. Recense tous les PRODUITS (ce qui rentre) et toutes les CHARGES (ce qui sort). Calcule le bénéfice ou la perte. Sert de base pour calculer l'impôt (IS ou IR).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4487</Words>
  <Application>Microsoft Office PowerPoint</Application>
  <PresentationFormat>Affichage à l'écran (16:9)</PresentationFormat>
  <Paragraphs>653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naoufal guenichi</cp:lastModifiedBy>
  <cp:revision>1</cp:revision>
  <dcterms:created xsi:type="dcterms:W3CDTF">2026-02-23T20:28:12Z</dcterms:created>
  <dcterms:modified xsi:type="dcterms:W3CDTF">2026-02-26T21:36:33Z</dcterms:modified>
</cp:coreProperties>
</file>