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46" d="100"/>
          <a:sy n="146" d="100"/>
        </p:scale>
        <p:origin x="594"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oufal guenichi" userId="858fd4b3-0f44-4d07-ab42-9c2b2bf873b3" providerId="ADAL" clId="{F93C6F2D-346B-4B0C-B880-14B939F4D1D8}"/>
    <pc:docChg chg="modSld">
      <pc:chgData name="naoufal guenichi" userId="858fd4b3-0f44-4d07-ab42-9c2b2bf873b3" providerId="ADAL" clId="{F93C6F2D-346B-4B0C-B880-14B939F4D1D8}" dt="2026-02-26T16:59:51.279" v="0" actId="1076"/>
      <pc:docMkLst>
        <pc:docMk/>
      </pc:docMkLst>
      <pc:sldChg chg="modSp mod">
        <pc:chgData name="naoufal guenichi" userId="858fd4b3-0f44-4d07-ab42-9c2b2bf873b3" providerId="ADAL" clId="{F93C6F2D-346B-4B0C-B880-14B939F4D1D8}" dt="2026-02-26T16:59:51.279" v="0" actId="1076"/>
        <pc:sldMkLst>
          <pc:docMk/>
          <pc:sldMk cId="0" sldId="276"/>
        </pc:sldMkLst>
        <pc:spChg chg="mod">
          <ac:chgData name="naoufal guenichi" userId="858fd4b3-0f44-4d07-ab42-9c2b2bf873b3" providerId="ADAL" clId="{F93C6F2D-346B-4B0C-B880-14B939F4D1D8}" dt="2026-02-26T16:59:51.279" v="0" actId="1076"/>
          <ac:spMkLst>
            <pc:docMk/>
            <pc:sldMk cId="0" sldId="276"/>
            <ac:spMk id="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84678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1.png"/><Relationship Id="rId7"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22.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F2E"/>
        </a:solidFill>
        <a:effectLst/>
      </p:bgPr>
    </p:bg>
    <p:spTree>
      <p:nvGrpSpPr>
        <p:cNvPr id="1" name=""/>
        <p:cNvGrpSpPr/>
        <p:nvPr/>
      </p:nvGrpSpPr>
      <p:grpSpPr>
        <a:xfrm>
          <a:off x="0" y="0"/>
          <a:ext cx="0" cy="0"/>
          <a:chOff x="0" y="0"/>
          <a:chExt cx="0" cy="0"/>
        </a:xfrm>
      </p:grpSpPr>
      <p:sp>
        <p:nvSpPr>
          <p:cNvPr id="2" name="Shape 0"/>
          <p:cNvSpPr/>
          <p:nvPr/>
        </p:nvSpPr>
        <p:spPr>
          <a:xfrm>
            <a:off x="731520" y="548640"/>
            <a:ext cx="2743200" cy="27432"/>
          </a:xfrm>
          <a:prstGeom prst="rect">
            <a:avLst/>
          </a:prstGeom>
          <a:solidFill>
            <a:srgbClr val="E8A838"/>
          </a:solidFill>
          <a:ln/>
        </p:spPr>
        <p:txBody>
          <a:bodyPr/>
          <a:lstStyle/>
          <a:p>
            <a:endParaRPr lang="fr-FR"/>
          </a:p>
        </p:txBody>
      </p:sp>
      <p:sp>
        <p:nvSpPr>
          <p:cNvPr id="3" name="Text 1"/>
          <p:cNvSpPr/>
          <p:nvPr/>
        </p:nvSpPr>
        <p:spPr>
          <a:xfrm>
            <a:off x="731520" y="685800"/>
            <a:ext cx="7315200" cy="457200"/>
          </a:xfrm>
          <a:prstGeom prst="rect">
            <a:avLst/>
          </a:prstGeom>
          <a:noFill/>
          <a:ln/>
        </p:spPr>
        <p:txBody>
          <a:bodyPr wrap="square" rtlCol="0" anchor="ctr"/>
          <a:lstStyle/>
          <a:p>
            <a:pPr marL="0" indent="0">
              <a:buNone/>
            </a:pPr>
            <a:r>
              <a:rPr lang="en-US" sz="1400" b="1" kern="0" spc="400" dirty="0">
                <a:solidFill>
                  <a:srgbClr val="E8A838"/>
                </a:solidFill>
                <a:latin typeface="Calibri" pitchFamily="34" charset="0"/>
                <a:ea typeface="Calibri" pitchFamily="34" charset="-122"/>
                <a:cs typeface="Calibri" pitchFamily="34" charset="-120"/>
              </a:rPr>
              <a:t>DÉVELOPPEMENT COMMERCIAL</a:t>
            </a:r>
            <a:endParaRPr lang="en-US" sz="1400" dirty="0"/>
          </a:p>
        </p:txBody>
      </p:sp>
      <p:sp>
        <p:nvSpPr>
          <p:cNvPr id="4" name="Text 2"/>
          <p:cNvSpPr/>
          <p:nvPr/>
        </p:nvSpPr>
        <p:spPr>
          <a:xfrm>
            <a:off x="731520" y="1188720"/>
            <a:ext cx="7315200" cy="822960"/>
          </a:xfrm>
          <a:prstGeom prst="rect">
            <a:avLst/>
          </a:prstGeom>
          <a:noFill/>
          <a:ln/>
        </p:spPr>
        <p:txBody>
          <a:bodyPr wrap="square"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Marketing &amp; VTC</a:t>
            </a:r>
            <a:endParaRPr lang="en-US" sz="4400" dirty="0"/>
          </a:p>
        </p:txBody>
      </p:sp>
      <p:sp>
        <p:nvSpPr>
          <p:cNvPr id="5" name="Text 3"/>
          <p:cNvSpPr/>
          <p:nvPr/>
        </p:nvSpPr>
        <p:spPr>
          <a:xfrm>
            <a:off x="731520" y="2103120"/>
            <a:ext cx="6400800" cy="457200"/>
          </a:xfrm>
          <a:prstGeom prst="rect">
            <a:avLst/>
          </a:prstGeom>
          <a:noFill/>
          <a:ln/>
        </p:spPr>
        <p:txBody>
          <a:bodyPr wrap="square" rtlCol="0" anchor="ctr"/>
          <a:lstStyle/>
          <a:p>
            <a:pPr marL="0" indent="0">
              <a:buNone/>
            </a:pPr>
            <a:r>
              <a:rPr lang="en-US" sz="1000" dirty="0">
                <a:solidFill>
                  <a:srgbClr val="718096"/>
                </a:solidFill>
                <a:latin typeface="Calibri" pitchFamily="34" charset="0"/>
                <a:ea typeface="Calibri" pitchFamily="34" charset="-122"/>
                <a:cs typeface="Calibri" pitchFamily="34" charset="-120"/>
              </a:rPr>
              <a:t>Principes marketing · Valorisation prestation VTC · Fidélisation &amp; prospection · Communication numérique · Réseau de partenaires</a:t>
            </a:r>
            <a:endParaRPr lang="en-US" sz="1000" dirty="0"/>
          </a:p>
        </p:txBody>
      </p:sp>
      <p:sp>
        <p:nvSpPr>
          <p:cNvPr id="6" name="Text 4"/>
          <p:cNvSpPr/>
          <p:nvPr/>
        </p:nvSpPr>
        <p:spPr>
          <a:xfrm>
            <a:off x="731520" y="2926080"/>
            <a:ext cx="7315200" cy="2743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OBJECTIFS DU PROGRAMME</a:t>
            </a:r>
            <a:endParaRPr lang="en-US" sz="900" dirty="0"/>
          </a:p>
        </p:txBody>
      </p:sp>
      <p:sp>
        <p:nvSpPr>
          <p:cNvPr id="7" name="Text 5"/>
          <p:cNvSpPr/>
          <p:nvPr/>
        </p:nvSpPr>
        <p:spPr>
          <a:xfrm>
            <a:off x="731520" y="3246120"/>
            <a:ext cx="7772400" cy="256032"/>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1. Connaître les principes généraux du marketing (analyse marché, ciblage, compétitivité, prix)</a:t>
            </a:r>
            <a:endParaRPr lang="en-US" sz="850" dirty="0"/>
          </a:p>
        </p:txBody>
      </p:sp>
      <p:sp>
        <p:nvSpPr>
          <p:cNvPr id="8" name="Text 6"/>
          <p:cNvSpPr/>
          <p:nvPr/>
        </p:nvSpPr>
        <p:spPr>
          <a:xfrm>
            <a:off x="731520" y="3520440"/>
            <a:ext cx="7772400" cy="256032"/>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2. Savoir valoriser les qualités de la prestation commerciale VTC</a:t>
            </a:r>
            <a:endParaRPr lang="en-US" sz="850" dirty="0"/>
          </a:p>
        </p:txBody>
      </p:sp>
      <p:sp>
        <p:nvSpPr>
          <p:cNvPr id="9" name="Text 7"/>
          <p:cNvSpPr/>
          <p:nvPr/>
        </p:nvSpPr>
        <p:spPr>
          <a:xfrm>
            <a:off x="731520" y="3794760"/>
            <a:ext cx="7772400" cy="256032"/>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3. Savoir fidéliser ses clients et prospecter un marché</a:t>
            </a:r>
            <a:endParaRPr lang="en-US" sz="850" dirty="0"/>
          </a:p>
        </p:txBody>
      </p:sp>
      <p:sp>
        <p:nvSpPr>
          <p:cNvPr id="10" name="Text 8"/>
          <p:cNvSpPr/>
          <p:nvPr/>
        </p:nvSpPr>
        <p:spPr>
          <a:xfrm>
            <a:off x="731520" y="4069080"/>
            <a:ext cx="7772400" cy="256032"/>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4. Savoir mener des actions de communication, notamment par internet et les moyens numériques</a:t>
            </a:r>
            <a:endParaRPr lang="en-US" sz="850" dirty="0"/>
          </a:p>
        </p:txBody>
      </p:sp>
      <p:sp>
        <p:nvSpPr>
          <p:cNvPr id="11" name="Text 9"/>
          <p:cNvSpPr/>
          <p:nvPr/>
        </p:nvSpPr>
        <p:spPr>
          <a:xfrm>
            <a:off x="731520" y="4343400"/>
            <a:ext cx="7772400" cy="256032"/>
          </a:xfrm>
          <a:prstGeom prst="rect">
            <a:avLst/>
          </a:prstGeom>
          <a:noFill/>
          <a:ln/>
        </p:spPr>
        <p:txBody>
          <a:bodyPr wrap="square" rtlCol="0" anchor="ctr"/>
          <a:lstStyle/>
          <a:p>
            <a:pPr marL="0" indent="0">
              <a:buNone/>
            </a:pPr>
            <a:r>
              <a:rPr lang="en-US" sz="850" dirty="0">
                <a:solidFill>
                  <a:srgbClr val="FFFFFF"/>
                </a:solidFill>
                <a:latin typeface="Calibri" pitchFamily="34" charset="0"/>
                <a:ea typeface="Calibri" pitchFamily="34" charset="-122"/>
                <a:cs typeface="Calibri" pitchFamily="34" charset="-120"/>
              </a:rPr>
              <a:t>5. Savoir développer un réseau de partenaires (hôtels, entreprises, plateformes, etc.)</a:t>
            </a:r>
            <a:endParaRPr lang="en-US" sz="850" dirty="0"/>
          </a:p>
        </p:txBody>
      </p:sp>
      <p:sp>
        <p:nvSpPr>
          <p:cNvPr id="12" name="Text 10"/>
          <p:cNvSpPr/>
          <p:nvPr/>
        </p:nvSpPr>
        <p:spPr>
          <a:xfrm>
            <a:off x="731520" y="4709160"/>
            <a:ext cx="7315200" cy="18288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Déclaration n° 84 69 15114 69  •  Qualiopi</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7FA"/>
        </a:solidFill>
        <a:effectLst/>
      </p:bgPr>
    </p:bg>
    <p:spTree>
      <p:nvGrpSpPr>
        <p:cNvPr id="1" name=""/>
        <p:cNvGrpSpPr/>
        <p:nvPr/>
      </p:nvGrpSpPr>
      <p:grpSpPr>
        <a:xfrm>
          <a:off x="0" y="0"/>
          <a:ext cx="0" cy="0"/>
          <a:chOff x="0" y="0"/>
          <a:chExt cx="0" cy="0"/>
        </a:xfrm>
      </p:grpSpPr>
      <p:sp>
        <p:nvSpPr>
          <p:cNvPr id="2" name="Text 0"/>
          <p:cNvSpPr/>
          <p:nvPr/>
        </p:nvSpPr>
        <p:spPr>
          <a:xfrm>
            <a:off x="640080" y="137160"/>
            <a:ext cx="7315200" cy="411480"/>
          </a:xfrm>
          <a:prstGeom prst="rect">
            <a:avLst/>
          </a:prstGeom>
          <a:noFill/>
          <a:ln/>
        </p:spPr>
        <p:txBody>
          <a:bodyPr wrap="square" rtlCol="0" anchor="ctr"/>
          <a:lstStyle/>
          <a:p>
            <a:pPr marL="0" indent="0">
              <a:buNone/>
            </a:pPr>
            <a:r>
              <a:rPr lang="en-US" sz="2400" b="1" dirty="0">
                <a:solidFill>
                  <a:srgbClr val="1A202C"/>
                </a:solidFill>
                <a:latin typeface="Georgia" pitchFamily="34" charset="0"/>
                <a:ea typeface="Georgia" pitchFamily="34" charset="-122"/>
                <a:cs typeface="Georgia" pitchFamily="34" charset="-120"/>
              </a:rPr>
              <a:t>Sommaire</a:t>
            </a:r>
            <a:endParaRPr lang="en-US" sz="2400" dirty="0"/>
          </a:p>
        </p:txBody>
      </p:sp>
      <p:sp>
        <p:nvSpPr>
          <p:cNvPr id="3" name="Shape 1"/>
          <p:cNvSpPr/>
          <p:nvPr/>
        </p:nvSpPr>
        <p:spPr>
          <a:xfrm>
            <a:off x="640080" y="722376"/>
            <a:ext cx="292608" cy="292608"/>
          </a:xfrm>
          <a:prstGeom prst="ellipse">
            <a:avLst/>
          </a:prstGeom>
          <a:solidFill>
            <a:srgbClr val="0B5563"/>
          </a:solidFill>
          <a:ln/>
        </p:spPr>
        <p:txBody>
          <a:bodyPr/>
          <a:lstStyle/>
          <a:p>
            <a:endParaRPr lang="fr-FR"/>
          </a:p>
        </p:txBody>
      </p:sp>
      <p:sp>
        <p:nvSpPr>
          <p:cNvPr id="4" name="Text 2"/>
          <p:cNvSpPr/>
          <p:nvPr/>
        </p:nvSpPr>
        <p:spPr>
          <a:xfrm>
            <a:off x="640080" y="722376"/>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5" name="Text 3"/>
          <p:cNvSpPr/>
          <p:nvPr/>
        </p:nvSpPr>
        <p:spPr>
          <a:xfrm>
            <a:off x="1051560" y="667512"/>
            <a:ext cx="4572000" cy="219456"/>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La mercatique : principes fondamentaux</a:t>
            </a:r>
            <a:endParaRPr lang="en-US" sz="1000" dirty="0"/>
          </a:p>
        </p:txBody>
      </p:sp>
      <p:sp>
        <p:nvSpPr>
          <p:cNvPr id="6" name="Text 4"/>
          <p:cNvSpPr/>
          <p:nvPr/>
        </p:nvSpPr>
        <p:spPr>
          <a:xfrm>
            <a:off x="1051560" y="886968"/>
            <a:ext cx="7589520" cy="1828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Définition · Démarche · Stratégique &amp; opérationnel · 4P · Cohérence du mix · Contrôle</a:t>
            </a:r>
            <a:endParaRPr lang="en-US" sz="750" dirty="0"/>
          </a:p>
        </p:txBody>
      </p:sp>
      <p:sp>
        <p:nvSpPr>
          <p:cNvPr id="7" name="Shape 5"/>
          <p:cNvSpPr/>
          <p:nvPr/>
        </p:nvSpPr>
        <p:spPr>
          <a:xfrm>
            <a:off x="1051560" y="1115568"/>
            <a:ext cx="7589520" cy="0"/>
          </a:xfrm>
          <a:prstGeom prst="line">
            <a:avLst/>
          </a:prstGeom>
          <a:noFill/>
          <a:ln w="6350">
            <a:solidFill>
              <a:srgbClr val="E2E8F0"/>
            </a:solidFill>
            <a:prstDash val="solid"/>
          </a:ln>
        </p:spPr>
        <p:txBody>
          <a:bodyPr/>
          <a:lstStyle/>
          <a:p>
            <a:endParaRPr lang="fr-FR"/>
          </a:p>
        </p:txBody>
      </p:sp>
      <p:sp>
        <p:nvSpPr>
          <p:cNvPr id="8" name="Shape 6"/>
          <p:cNvSpPr/>
          <p:nvPr/>
        </p:nvSpPr>
        <p:spPr>
          <a:xfrm>
            <a:off x="640080" y="1197864"/>
            <a:ext cx="292608" cy="292608"/>
          </a:xfrm>
          <a:prstGeom prst="ellipse">
            <a:avLst/>
          </a:prstGeom>
          <a:solidFill>
            <a:srgbClr val="0B5563"/>
          </a:solidFill>
          <a:ln/>
        </p:spPr>
        <p:txBody>
          <a:bodyPr/>
          <a:lstStyle/>
          <a:p>
            <a:endParaRPr lang="fr-FR"/>
          </a:p>
        </p:txBody>
      </p:sp>
      <p:sp>
        <p:nvSpPr>
          <p:cNvPr id="9" name="Text 7"/>
          <p:cNvSpPr/>
          <p:nvPr/>
        </p:nvSpPr>
        <p:spPr>
          <a:xfrm>
            <a:off x="640080" y="1197864"/>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p:nvPr/>
        </p:nvSpPr>
        <p:spPr>
          <a:xfrm>
            <a:off x="1051560" y="1143000"/>
            <a:ext cx="4572000" cy="219456"/>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Outils d'analyse stratégique</a:t>
            </a:r>
            <a:endParaRPr lang="en-US" sz="1000" dirty="0"/>
          </a:p>
        </p:txBody>
      </p:sp>
      <p:sp>
        <p:nvSpPr>
          <p:cNvPr id="11" name="Text 9"/>
          <p:cNvSpPr/>
          <p:nvPr/>
        </p:nvSpPr>
        <p:spPr>
          <a:xfrm>
            <a:off x="1051560" y="1362456"/>
            <a:ext cx="7589520" cy="1828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SWOT · PESTEL · 5 forces de Porter · Étude de marché · Zone de chalandise</a:t>
            </a:r>
            <a:endParaRPr lang="en-US" sz="750" dirty="0"/>
          </a:p>
        </p:txBody>
      </p:sp>
      <p:sp>
        <p:nvSpPr>
          <p:cNvPr id="12" name="Shape 10"/>
          <p:cNvSpPr/>
          <p:nvPr/>
        </p:nvSpPr>
        <p:spPr>
          <a:xfrm>
            <a:off x="1051560" y="1591056"/>
            <a:ext cx="7589520" cy="0"/>
          </a:xfrm>
          <a:prstGeom prst="line">
            <a:avLst/>
          </a:prstGeom>
          <a:noFill/>
          <a:ln w="6350">
            <a:solidFill>
              <a:srgbClr val="E2E8F0"/>
            </a:solidFill>
            <a:prstDash val="solid"/>
          </a:ln>
        </p:spPr>
        <p:txBody>
          <a:bodyPr/>
          <a:lstStyle/>
          <a:p>
            <a:endParaRPr lang="fr-FR"/>
          </a:p>
        </p:txBody>
      </p:sp>
      <p:sp>
        <p:nvSpPr>
          <p:cNvPr id="13" name="Shape 11"/>
          <p:cNvSpPr/>
          <p:nvPr/>
        </p:nvSpPr>
        <p:spPr>
          <a:xfrm>
            <a:off x="640080" y="1673352"/>
            <a:ext cx="292608" cy="292608"/>
          </a:xfrm>
          <a:prstGeom prst="ellipse">
            <a:avLst/>
          </a:prstGeom>
          <a:solidFill>
            <a:srgbClr val="0B5563"/>
          </a:solidFill>
          <a:ln/>
        </p:spPr>
        <p:txBody>
          <a:bodyPr/>
          <a:lstStyle/>
          <a:p>
            <a:endParaRPr lang="fr-FR"/>
          </a:p>
        </p:txBody>
      </p:sp>
      <p:sp>
        <p:nvSpPr>
          <p:cNvPr id="14" name="Text 12"/>
          <p:cNvSpPr/>
          <p:nvPr/>
        </p:nvSpPr>
        <p:spPr>
          <a:xfrm>
            <a:off x="640080" y="1673352"/>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5" name="Text 13"/>
          <p:cNvSpPr/>
          <p:nvPr/>
        </p:nvSpPr>
        <p:spPr>
          <a:xfrm>
            <a:off x="1051560" y="1618488"/>
            <a:ext cx="4572000" cy="219456"/>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Définitions essentielles du marketing</a:t>
            </a:r>
            <a:endParaRPr lang="en-US" sz="1000" dirty="0"/>
          </a:p>
        </p:txBody>
      </p:sp>
      <p:sp>
        <p:nvSpPr>
          <p:cNvPr id="16" name="Text 14"/>
          <p:cNvSpPr/>
          <p:nvPr/>
        </p:nvSpPr>
        <p:spPr>
          <a:xfrm>
            <a:off x="1051560" y="1837944"/>
            <a:ext cx="7589520" cy="1828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Prix psychologique · Marketing direct · B2B · B2C · Notoriété · Packaging · Street marketing</a:t>
            </a:r>
            <a:endParaRPr lang="en-US" sz="750" dirty="0"/>
          </a:p>
        </p:txBody>
      </p:sp>
      <p:sp>
        <p:nvSpPr>
          <p:cNvPr id="17" name="Shape 15"/>
          <p:cNvSpPr/>
          <p:nvPr/>
        </p:nvSpPr>
        <p:spPr>
          <a:xfrm>
            <a:off x="1051560" y="2066544"/>
            <a:ext cx="7589520" cy="0"/>
          </a:xfrm>
          <a:prstGeom prst="line">
            <a:avLst/>
          </a:prstGeom>
          <a:noFill/>
          <a:ln w="6350">
            <a:solidFill>
              <a:srgbClr val="E2E8F0"/>
            </a:solidFill>
            <a:prstDash val="solid"/>
          </a:ln>
        </p:spPr>
        <p:txBody>
          <a:bodyPr/>
          <a:lstStyle/>
          <a:p>
            <a:endParaRPr lang="fr-FR"/>
          </a:p>
        </p:txBody>
      </p:sp>
      <p:sp>
        <p:nvSpPr>
          <p:cNvPr id="18" name="Shape 16"/>
          <p:cNvSpPr/>
          <p:nvPr/>
        </p:nvSpPr>
        <p:spPr>
          <a:xfrm>
            <a:off x="640080" y="2148840"/>
            <a:ext cx="292608" cy="292608"/>
          </a:xfrm>
          <a:prstGeom prst="ellipse">
            <a:avLst/>
          </a:prstGeom>
          <a:solidFill>
            <a:srgbClr val="0B5563"/>
          </a:solidFill>
          <a:ln/>
        </p:spPr>
        <p:txBody>
          <a:bodyPr/>
          <a:lstStyle/>
          <a:p>
            <a:endParaRPr lang="fr-FR"/>
          </a:p>
        </p:txBody>
      </p:sp>
      <p:sp>
        <p:nvSpPr>
          <p:cNvPr id="19" name="Text 17"/>
          <p:cNvSpPr/>
          <p:nvPr/>
        </p:nvSpPr>
        <p:spPr>
          <a:xfrm>
            <a:off x="640080" y="214884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0" name="Text 18"/>
          <p:cNvSpPr/>
          <p:nvPr/>
        </p:nvSpPr>
        <p:spPr>
          <a:xfrm>
            <a:off x="1051560" y="2093976"/>
            <a:ext cx="4572000" cy="219456"/>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Segmentation, ciblage, positionnement</a:t>
            </a:r>
            <a:endParaRPr lang="en-US" sz="1000" dirty="0"/>
          </a:p>
        </p:txBody>
      </p:sp>
      <p:sp>
        <p:nvSpPr>
          <p:cNvPr id="21" name="Text 19"/>
          <p:cNvSpPr/>
          <p:nvPr/>
        </p:nvSpPr>
        <p:spPr>
          <a:xfrm>
            <a:off x="1051560" y="2313432"/>
            <a:ext cx="7589520" cy="1828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Cible · Segmentation · Positionnement · Marché de niche · Service premium</a:t>
            </a:r>
            <a:endParaRPr lang="en-US" sz="750" dirty="0"/>
          </a:p>
        </p:txBody>
      </p:sp>
      <p:sp>
        <p:nvSpPr>
          <p:cNvPr id="22" name="Shape 20"/>
          <p:cNvSpPr/>
          <p:nvPr/>
        </p:nvSpPr>
        <p:spPr>
          <a:xfrm>
            <a:off x="1051560" y="2542032"/>
            <a:ext cx="7589520" cy="0"/>
          </a:xfrm>
          <a:prstGeom prst="line">
            <a:avLst/>
          </a:prstGeom>
          <a:noFill/>
          <a:ln w="6350">
            <a:solidFill>
              <a:srgbClr val="E2E8F0"/>
            </a:solidFill>
            <a:prstDash val="solid"/>
          </a:ln>
        </p:spPr>
        <p:txBody>
          <a:bodyPr/>
          <a:lstStyle/>
          <a:p>
            <a:endParaRPr lang="fr-FR"/>
          </a:p>
        </p:txBody>
      </p:sp>
      <p:sp>
        <p:nvSpPr>
          <p:cNvPr id="23" name="Shape 21"/>
          <p:cNvSpPr/>
          <p:nvPr/>
        </p:nvSpPr>
        <p:spPr>
          <a:xfrm>
            <a:off x="640080" y="2624328"/>
            <a:ext cx="292608" cy="292608"/>
          </a:xfrm>
          <a:prstGeom prst="ellipse">
            <a:avLst/>
          </a:prstGeom>
          <a:solidFill>
            <a:srgbClr val="0B5563"/>
          </a:solidFill>
          <a:ln/>
        </p:spPr>
        <p:txBody>
          <a:bodyPr/>
          <a:lstStyle/>
          <a:p>
            <a:endParaRPr lang="fr-FR"/>
          </a:p>
        </p:txBody>
      </p:sp>
      <p:sp>
        <p:nvSpPr>
          <p:cNvPr id="24" name="Text 22"/>
          <p:cNvSpPr/>
          <p:nvPr/>
        </p:nvSpPr>
        <p:spPr>
          <a:xfrm>
            <a:off x="640080" y="2624328"/>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3"/>
          <p:cNvSpPr/>
          <p:nvPr/>
        </p:nvSpPr>
        <p:spPr>
          <a:xfrm>
            <a:off x="1051560" y="2569464"/>
            <a:ext cx="4572000" cy="219456"/>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Valoriser la prestation VTC</a:t>
            </a:r>
            <a:endParaRPr lang="en-US" sz="1000" dirty="0"/>
          </a:p>
        </p:txBody>
      </p:sp>
      <p:sp>
        <p:nvSpPr>
          <p:cNvPr id="26" name="Text 24"/>
          <p:cNvSpPr/>
          <p:nvPr/>
        </p:nvSpPr>
        <p:spPr>
          <a:xfrm>
            <a:off x="1051560" y="2788920"/>
            <a:ext cx="7589520" cy="1828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Qualités du chauffeur · Différenciation · Stratégie de prix · Service à bord</a:t>
            </a:r>
            <a:endParaRPr lang="en-US" sz="750" dirty="0"/>
          </a:p>
        </p:txBody>
      </p:sp>
      <p:sp>
        <p:nvSpPr>
          <p:cNvPr id="27" name="Shape 25"/>
          <p:cNvSpPr/>
          <p:nvPr/>
        </p:nvSpPr>
        <p:spPr>
          <a:xfrm>
            <a:off x="1051560" y="3017520"/>
            <a:ext cx="7589520" cy="0"/>
          </a:xfrm>
          <a:prstGeom prst="line">
            <a:avLst/>
          </a:prstGeom>
          <a:noFill/>
          <a:ln w="6350">
            <a:solidFill>
              <a:srgbClr val="E2E8F0"/>
            </a:solidFill>
            <a:prstDash val="solid"/>
          </a:ln>
        </p:spPr>
        <p:txBody>
          <a:bodyPr/>
          <a:lstStyle/>
          <a:p>
            <a:endParaRPr lang="fr-FR"/>
          </a:p>
        </p:txBody>
      </p:sp>
      <p:sp>
        <p:nvSpPr>
          <p:cNvPr id="28" name="Shape 26"/>
          <p:cNvSpPr/>
          <p:nvPr/>
        </p:nvSpPr>
        <p:spPr>
          <a:xfrm>
            <a:off x="640080" y="3099816"/>
            <a:ext cx="292608" cy="292608"/>
          </a:xfrm>
          <a:prstGeom prst="ellipse">
            <a:avLst/>
          </a:prstGeom>
          <a:solidFill>
            <a:srgbClr val="0B5563"/>
          </a:solidFill>
          <a:ln/>
        </p:spPr>
        <p:txBody>
          <a:bodyPr/>
          <a:lstStyle/>
          <a:p>
            <a:endParaRPr lang="fr-FR"/>
          </a:p>
        </p:txBody>
      </p:sp>
      <p:sp>
        <p:nvSpPr>
          <p:cNvPr id="29" name="Text 27"/>
          <p:cNvSpPr/>
          <p:nvPr/>
        </p:nvSpPr>
        <p:spPr>
          <a:xfrm>
            <a:off x="640080" y="3099816"/>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0" name="Text 28"/>
          <p:cNvSpPr/>
          <p:nvPr/>
        </p:nvSpPr>
        <p:spPr>
          <a:xfrm>
            <a:off x="1051560" y="3044952"/>
            <a:ext cx="4572000" cy="219456"/>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Fidélisation &amp; prospection</a:t>
            </a:r>
            <a:endParaRPr lang="en-US" sz="1000" dirty="0"/>
          </a:p>
        </p:txBody>
      </p:sp>
      <p:sp>
        <p:nvSpPr>
          <p:cNvPr id="31" name="Text 29"/>
          <p:cNvSpPr/>
          <p:nvPr/>
        </p:nvSpPr>
        <p:spPr>
          <a:xfrm>
            <a:off x="1051560" y="3264408"/>
            <a:ext cx="7589520" cy="1828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Définitions · Techniques de fidélisation · Prospection traditionnelle &amp; numérique · Facteurs de réussite</a:t>
            </a:r>
            <a:endParaRPr lang="en-US" sz="750" dirty="0"/>
          </a:p>
        </p:txBody>
      </p:sp>
      <p:sp>
        <p:nvSpPr>
          <p:cNvPr id="32" name="Shape 30"/>
          <p:cNvSpPr/>
          <p:nvPr/>
        </p:nvSpPr>
        <p:spPr>
          <a:xfrm>
            <a:off x="1051560" y="3493008"/>
            <a:ext cx="7589520" cy="0"/>
          </a:xfrm>
          <a:prstGeom prst="line">
            <a:avLst/>
          </a:prstGeom>
          <a:noFill/>
          <a:ln w="6350">
            <a:solidFill>
              <a:srgbClr val="E2E8F0"/>
            </a:solidFill>
            <a:prstDash val="solid"/>
          </a:ln>
        </p:spPr>
        <p:txBody>
          <a:bodyPr/>
          <a:lstStyle/>
          <a:p>
            <a:endParaRPr lang="fr-FR"/>
          </a:p>
        </p:txBody>
      </p:sp>
      <p:sp>
        <p:nvSpPr>
          <p:cNvPr id="33" name="Shape 31"/>
          <p:cNvSpPr/>
          <p:nvPr/>
        </p:nvSpPr>
        <p:spPr>
          <a:xfrm>
            <a:off x="640080" y="3575304"/>
            <a:ext cx="292608" cy="292608"/>
          </a:xfrm>
          <a:prstGeom prst="ellipse">
            <a:avLst/>
          </a:prstGeom>
          <a:solidFill>
            <a:srgbClr val="0B5563"/>
          </a:solidFill>
          <a:ln/>
        </p:spPr>
        <p:txBody>
          <a:bodyPr/>
          <a:lstStyle/>
          <a:p>
            <a:endParaRPr lang="fr-FR"/>
          </a:p>
        </p:txBody>
      </p:sp>
      <p:sp>
        <p:nvSpPr>
          <p:cNvPr id="34" name="Text 32"/>
          <p:cNvSpPr/>
          <p:nvPr/>
        </p:nvSpPr>
        <p:spPr>
          <a:xfrm>
            <a:off x="640080" y="3575304"/>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35" name="Text 33"/>
          <p:cNvSpPr/>
          <p:nvPr/>
        </p:nvSpPr>
        <p:spPr>
          <a:xfrm>
            <a:off x="1051560" y="3520440"/>
            <a:ext cx="4572000" cy="219456"/>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Communication &amp; présence numérique</a:t>
            </a:r>
            <a:endParaRPr lang="en-US" sz="1000" dirty="0"/>
          </a:p>
        </p:txBody>
      </p:sp>
      <p:sp>
        <p:nvSpPr>
          <p:cNvPr id="36" name="Text 34"/>
          <p:cNvSpPr/>
          <p:nvPr/>
        </p:nvSpPr>
        <p:spPr>
          <a:xfrm>
            <a:off x="1051560" y="3739896"/>
            <a:ext cx="7589520" cy="1828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Média / Hors média · Site web · Réseaux sociaux · Google My Business · SEO · Avis en ligne</a:t>
            </a:r>
            <a:endParaRPr lang="en-US" sz="750" dirty="0"/>
          </a:p>
        </p:txBody>
      </p:sp>
      <p:sp>
        <p:nvSpPr>
          <p:cNvPr id="37" name="Shape 35"/>
          <p:cNvSpPr/>
          <p:nvPr/>
        </p:nvSpPr>
        <p:spPr>
          <a:xfrm>
            <a:off x="1051560" y="3968496"/>
            <a:ext cx="7589520" cy="0"/>
          </a:xfrm>
          <a:prstGeom prst="line">
            <a:avLst/>
          </a:prstGeom>
          <a:noFill/>
          <a:ln w="6350">
            <a:solidFill>
              <a:srgbClr val="E2E8F0"/>
            </a:solidFill>
            <a:prstDash val="solid"/>
          </a:ln>
        </p:spPr>
        <p:txBody>
          <a:bodyPr/>
          <a:lstStyle/>
          <a:p>
            <a:endParaRPr lang="fr-FR"/>
          </a:p>
        </p:txBody>
      </p:sp>
      <p:sp>
        <p:nvSpPr>
          <p:cNvPr id="38" name="Shape 36"/>
          <p:cNvSpPr/>
          <p:nvPr/>
        </p:nvSpPr>
        <p:spPr>
          <a:xfrm>
            <a:off x="640080" y="4050792"/>
            <a:ext cx="292608" cy="292608"/>
          </a:xfrm>
          <a:prstGeom prst="ellipse">
            <a:avLst/>
          </a:prstGeom>
          <a:solidFill>
            <a:srgbClr val="0B5563"/>
          </a:solidFill>
          <a:ln/>
        </p:spPr>
        <p:txBody>
          <a:bodyPr/>
          <a:lstStyle/>
          <a:p>
            <a:endParaRPr lang="fr-FR"/>
          </a:p>
        </p:txBody>
      </p:sp>
      <p:sp>
        <p:nvSpPr>
          <p:cNvPr id="39" name="Text 37"/>
          <p:cNvSpPr/>
          <p:nvPr/>
        </p:nvSpPr>
        <p:spPr>
          <a:xfrm>
            <a:off x="640080" y="4050792"/>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40" name="Text 38"/>
          <p:cNvSpPr/>
          <p:nvPr/>
        </p:nvSpPr>
        <p:spPr>
          <a:xfrm>
            <a:off x="1051560" y="3995928"/>
            <a:ext cx="4572000" cy="219456"/>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Réseau de partenaires &amp; plateformes</a:t>
            </a:r>
            <a:endParaRPr lang="en-US" sz="1000" dirty="0"/>
          </a:p>
        </p:txBody>
      </p:sp>
      <p:sp>
        <p:nvSpPr>
          <p:cNvPr id="41" name="Text 39"/>
          <p:cNvSpPr/>
          <p:nvPr/>
        </p:nvSpPr>
        <p:spPr>
          <a:xfrm>
            <a:off x="1051560" y="4215384"/>
            <a:ext cx="7589520" cy="1828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Hôtels · Entreprises · Conciergeries · Plateformes VTC · Cliniques · Agences</a:t>
            </a:r>
            <a:endParaRPr lang="en-US" sz="750" dirty="0"/>
          </a:p>
        </p:txBody>
      </p:sp>
      <p:sp>
        <p:nvSpPr>
          <p:cNvPr id="42" name="Shape 40"/>
          <p:cNvSpPr/>
          <p:nvPr/>
        </p:nvSpPr>
        <p:spPr>
          <a:xfrm>
            <a:off x="1051560" y="4443984"/>
            <a:ext cx="7589520" cy="0"/>
          </a:xfrm>
          <a:prstGeom prst="line">
            <a:avLst/>
          </a:prstGeom>
          <a:noFill/>
          <a:ln w="6350">
            <a:solidFill>
              <a:srgbClr val="E2E8F0"/>
            </a:solidFill>
            <a:prstDash val="solid"/>
          </a:ln>
        </p:spPr>
        <p:txBody>
          <a:bodyPr/>
          <a:lstStyle/>
          <a:p>
            <a:endParaRPr lang="fr-FR"/>
          </a:p>
        </p:txBody>
      </p:sp>
      <p:sp>
        <p:nvSpPr>
          <p:cNvPr id="43" name="Shape 41"/>
          <p:cNvSpPr/>
          <p:nvPr/>
        </p:nvSpPr>
        <p:spPr>
          <a:xfrm>
            <a:off x="640080" y="4526280"/>
            <a:ext cx="292608" cy="292608"/>
          </a:xfrm>
          <a:prstGeom prst="ellipse">
            <a:avLst/>
          </a:prstGeom>
          <a:solidFill>
            <a:srgbClr val="0B5563"/>
          </a:solidFill>
          <a:ln/>
        </p:spPr>
        <p:txBody>
          <a:bodyPr/>
          <a:lstStyle/>
          <a:p>
            <a:endParaRPr lang="fr-FR"/>
          </a:p>
        </p:txBody>
      </p:sp>
      <p:sp>
        <p:nvSpPr>
          <p:cNvPr id="44" name="Text 42"/>
          <p:cNvSpPr/>
          <p:nvPr/>
        </p:nvSpPr>
        <p:spPr>
          <a:xfrm>
            <a:off x="640080" y="4526280"/>
            <a:ext cx="292608"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
        <p:nvSpPr>
          <p:cNvPr id="45" name="Text 43"/>
          <p:cNvSpPr/>
          <p:nvPr/>
        </p:nvSpPr>
        <p:spPr>
          <a:xfrm>
            <a:off x="1051560" y="4471416"/>
            <a:ext cx="4572000" cy="219456"/>
          </a:xfrm>
          <a:prstGeom prst="rect">
            <a:avLst/>
          </a:prstGeom>
          <a:noFill/>
          <a:ln/>
        </p:spPr>
        <p:txBody>
          <a:bodyPr wrap="square" lIns="0" tIns="0" rIns="0" bIns="0" rtlCol="0" anchor="ctr"/>
          <a:lstStyle/>
          <a:p>
            <a:pPr marL="0" indent="0">
              <a:buNone/>
            </a:pPr>
            <a:r>
              <a:rPr lang="en-US" sz="1000" b="1" dirty="0">
                <a:solidFill>
                  <a:srgbClr val="1A202C"/>
                </a:solidFill>
                <a:latin typeface="Calibri" pitchFamily="34" charset="0"/>
                <a:ea typeface="Calibri" pitchFamily="34" charset="-122"/>
                <a:cs typeface="Calibri" pitchFamily="34" charset="-120"/>
              </a:rPr>
              <a:t>Devis &amp; facture VTC</a:t>
            </a:r>
            <a:endParaRPr lang="en-US" sz="1000" dirty="0"/>
          </a:p>
        </p:txBody>
      </p:sp>
      <p:sp>
        <p:nvSpPr>
          <p:cNvPr id="46" name="Text 44"/>
          <p:cNvSpPr/>
          <p:nvPr/>
        </p:nvSpPr>
        <p:spPr>
          <a:xfrm>
            <a:off x="1051560" y="4690872"/>
            <a:ext cx="7589520" cy="1828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11 mentions obligatoires · Facture · Capital social non obligatoire</a:t>
            </a:r>
            <a:endParaRPr lang="en-US" sz="750" dirty="0"/>
          </a:p>
        </p:txBody>
      </p:sp>
      <p:sp>
        <p:nvSpPr>
          <p:cNvPr id="47" name="Shape 45"/>
          <p:cNvSpPr/>
          <p:nvPr/>
        </p:nvSpPr>
        <p:spPr>
          <a:xfrm>
            <a:off x="0" y="4823460"/>
            <a:ext cx="9144000" cy="320040"/>
          </a:xfrm>
          <a:prstGeom prst="rect">
            <a:avLst/>
          </a:prstGeom>
          <a:solidFill>
            <a:srgbClr val="1A1F2E"/>
          </a:solidFill>
          <a:ln/>
        </p:spPr>
        <p:txBody>
          <a:bodyPr/>
          <a:lstStyle/>
          <a:p>
            <a:endParaRPr lang="fr-FR"/>
          </a:p>
        </p:txBody>
      </p:sp>
      <p:sp>
        <p:nvSpPr>
          <p:cNvPr id="48" name="Text 46"/>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49" name="Text 47"/>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MODULE 1 — LA MERCATIQUE</a:t>
            </a:r>
            <a:endParaRPr lang="en-US" sz="9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1800" b="1" dirty="0">
                <a:solidFill>
                  <a:srgbClr val="1A202C"/>
                </a:solidFill>
                <a:latin typeface="Georgia" pitchFamily="34" charset="0"/>
                <a:ea typeface="Georgia" pitchFamily="34" charset="-122"/>
                <a:cs typeface="Georgia" pitchFamily="34" charset="-120"/>
              </a:rPr>
              <a:t>Qu'est-ce que la mercatique ?</a:t>
            </a:r>
            <a:endParaRPr lang="en-US" sz="1800" dirty="0"/>
          </a:p>
        </p:txBody>
      </p:sp>
      <p:sp>
        <p:nvSpPr>
          <p:cNvPr id="5" name="Shape 3"/>
          <p:cNvSpPr/>
          <p:nvPr/>
        </p:nvSpPr>
        <p:spPr>
          <a:xfrm>
            <a:off x="457200" y="1234440"/>
            <a:ext cx="822960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640080" y="1371600"/>
            <a:ext cx="274320" cy="274320"/>
          </a:xfrm>
          <a:prstGeom prst="rect">
            <a:avLst/>
          </a:prstGeom>
        </p:spPr>
      </p:pic>
      <p:sp>
        <p:nvSpPr>
          <p:cNvPr id="7" name="Text 4"/>
          <p:cNvSpPr/>
          <p:nvPr/>
        </p:nvSpPr>
        <p:spPr>
          <a:xfrm>
            <a:off x="1005840" y="1325880"/>
            <a:ext cx="3200400" cy="274320"/>
          </a:xfrm>
          <a:prstGeom prst="rect">
            <a:avLst/>
          </a:prstGeom>
          <a:noFill/>
          <a:ln/>
        </p:spPr>
        <p:txBody>
          <a:bodyPr wrap="square" lIns="0" tIns="0" rIns="0" bIns="0" rtlCol="0" anchor="ctr"/>
          <a:lstStyle/>
          <a:p>
            <a:pPr marL="0" indent="0">
              <a:buNone/>
            </a:pPr>
            <a:r>
              <a:rPr lang="en-US" sz="1200" b="1" dirty="0">
                <a:solidFill>
                  <a:srgbClr val="0B5563"/>
                </a:solidFill>
                <a:latin typeface="Calibri" pitchFamily="34" charset="0"/>
                <a:ea typeface="Calibri" pitchFamily="34" charset="-122"/>
                <a:cs typeface="Calibri" pitchFamily="34" charset="-120"/>
              </a:rPr>
              <a:t>Définition</a:t>
            </a:r>
            <a:endParaRPr lang="en-US" sz="1200" dirty="0"/>
          </a:p>
        </p:txBody>
      </p:sp>
      <p:sp>
        <p:nvSpPr>
          <p:cNvPr id="8" name="Text 5"/>
          <p:cNvSpPr/>
          <p:nvPr/>
        </p:nvSpPr>
        <p:spPr>
          <a:xfrm>
            <a:off x="640080" y="1691640"/>
            <a:ext cx="7863840" cy="822960"/>
          </a:xfrm>
          <a:prstGeom prst="rect">
            <a:avLst/>
          </a:prstGeom>
          <a:noFill/>
          <a:ln/>
        </p:spPr>
        <p:txBody>
          <a:bodyPr wrap="square" rtlCol="0" anchor="ctr"/>
          <a:lstStyle/>
          <a:p>
            <a:pPr marL="0" indent="0">
              <a:buNone/>
            </a:pPr>
            <a:r>
              <a:rPr lang="en-US" sz="850" dirty="0">
                <a:solidFill>
                  <a:srgbClr val="1A202C"/>
                </a:solidFill>
                <a:latin typeface="Calibri" pitchFamily="34" charset="0"/>
                <a:ea typeface="Calibri" pitchFamily="34" charset="-122"/>
                <a:cs typeface="Calibri" pitchFamily="34" charset="-120"/>
              </a:rPr>
              <a:t>Le marketing peut être défini comme l'ensemble des actions ayant pour objectifs d'étudier et d'influencer les besoins et comportements des consommateurs et de réaliser en continu les adaptations de la production et de l'appareil commercial en fonction des besoins et comportements précédemment identifiés.</a:t>
            </a:r>
            <a:endParaRPr lang="en-US" sz="850" dirty="0"/>
          </a:p>
          <a:p>
            <a:pPr marL="0" indent="0">
              <a:buNone/>
            </a:pP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Plus précisément, ce sont toutes les techniques utilisées pour connaître les besoins du consommateur, créer le produit, le communiquer, le distribuer et effectuer tout le contrôle de ces actions.</a:t>
            </a:r>
            <a:endParaRPr lang="en-US" sz="850" dirty="0"/>
          </a:p>
        </p:txBody>
      </p:sp>
      <p:sp>
        <p:nvSpPr>
          <p:cNvPr id="9" name="Shape 6"/>
          <p:cNvSpPr/>
          <p:nvPr/>
        </p:nvSpPr>
        <p:spPr>
          <a:xfrm>
            <a:off x="457200" y="2788920"/>
            <a:ext cx="3931920" cy="18288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0" name="Image 1" descr="preencoded.png"/>
          <p:cNvPicPr>
            <a:picLocks noChangeAspect="1"/>
          </p:cNvPicPr>
          <p:nvPr/>
        </p:nvPicPr>
        <p:blipFill>
          <a:blip r:embed="rId4"/>
          <a:stretch>
            <a:fillRect/>
          </a:stretch>
        </p:blipFill>
        <p:spPr>
          <a:xfrm>
            <a:off x="640080" y="2926080"/>
            <a:ext cx="256032" cy="256032"/>
          </a:xfrm>
          <a:prstGeom prst="rect">
            <a:avLst/>
          </a:prstGeom>
        </p:spPr>
      </p:pic>
      <p:sp>
        <p:nvSpPr>
          <p:cNvPr id="11" name="Text 7"/>
          <p:cNvSpPr/>
          <p:nvPr/>
        </p:nvSpPr>
        <p:spPr>
          <a:xfrm>
            <a:off x="960120" y="2880360"/>
            <a:ext cx="3200400" cy="274320"/>
          </a:xfrm>
          <a:prstGeom prst="rect">
            <a:avLst/>
          </a:prstGeom>
          <a:noFill/>
          <a:ln/>
        </p:spPr>
        <p:txBody>
          <a:bodyPr wrap="square" lIns="0" tIns="0" rIns="0" bIns="0" rtlCol="0" anchor="ctr"/>
          <a:lstStyle/>
          <a:p>
            <a:pPr marL="0" indent="0">
              <a:buNone/>
            </a:pPr>
            <a:r>
              <a:rPr lang="en-US" sz="1100" b="1" dirty="0">
                <a:solidFill>
                  <a:srgbClr val="C05621"/>
                </a:solidFill>
                <a:latin typeface="Calibri" pitchFamily="34" charset="0"/>
                <a:ea typeface="Calibri" pitchFamily="34" charset="-122"/>
                <a:cs typeface="Calibri" pitchFamily="34" charset="-120"/>
              </a:rPr>
              <a:t>La démarche mercatique</a:t>
            </a:r>
            <a:endParaRPr lang="en-US" sz="1100" dirty="0"/>
          </a:p>
        </p:txBody>
      </p:sp>
      <p:sp>
        <p:nvSpPr>
          <p:cNvPr id="12" name="Text 8"/>
          <p:cNvSpPr/>
          <p:nvPr/>
        </p:nvSpPr>
        <p:spPr>
          <a:xfrm>
            <a:off x="640080" y="3246120"/>
            <a:ext cx="3566160" cy="1188720"/>
          </a:xfrm>
          <a:prstGeom prst="rect">
            <a:avLst/>
          </a:prstGeom>
          <a:noFill/>
          <a:ln/>
        </p:spPr>
        <p:txBody>
          <a:bodyPr wrap="square" rtlCol="0" anchor="ctr"/>
          <a:lstStyle/>
          <a:p>
            <a:pPr marL="0" indent="0">
              <a:buNone/>
            </a:pPr>
            <a:r>
              <a:rPr lang="en-US" sz="850" dirty="0">
                <a:solidFill>
                  <a:srgbClr val="1A202C"/>
                </a:solidFill>
                <a:latin typeface="Calibri" pitchFamily="34" charset="0"/>
                <a:ea typeface="Calibri" pitchFamily="34" charset="-122"/>
                <a:cs typeface="Calibri" pitchFamily="34" charset="-120"/>
              </a:rPr>
              <a:t>Consiste, à partir de l'analyse des attentes des consommateurs, à définir l'offre de biens et de services avec leurs moyens de commercialisation.</a:t>
            </a:r>
            <a:endParaRPr lang="en-US" sz="850" dirty="0"/>
          </a:p>
          <a:p>
            <a:pPr marL="0" indent="0">
              <a:buNone/>
            </a:pP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Elle est composée du marketing stratégique et opérationnel.</a:t>
            </a:r>
            <a:endParaRPr lang="en-US" sz="850" dirty="0"/>
          </a:p>
        </p:txBody>
      </p:sp>
      <p:sp>
        <p:nvSpPr>
          <p:cNvPr id="13" name="Shape 9"/>
          <p:cNvSpPr/>
          <p:nvPr/>
        </p:nvSpPr>
        <p:spPr>
          <a:xfrm>
            <a:off x="4663440" y="2788920"/>
            <a:ext cx="4023360" cy="18288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4" name="Image 2" descr="preencoded.png"/>
          <p:cNvPicPr>
            <a:picLocks noChangeAspect="1"/>
          </p:cNvPicPr>
          <p:nvPr/>
        </p:nvPicPr>
        <p:blipFill>
          <a:blip r:embed="rId5"/>
          <a:stretch>
            <a:fillRect/>
          </a:stretch>
        </p:blipFill>
        <p:spPr>
          <a:xfrm>
            <a:off x="4846320" y="2926080"/>
            <a:ext cx="256032" cy="256032"/>
          </a:xfrm>
          <a:prstGeom prst="rect">
            <a:avLst/>
          </a:prstGeom>
        </p:spPr>
      </p:pic>
      <p:sp>
        <p:nvSpPr>
          <p:cNvPr id="15" name="Text 10"/>
          <p:cNvSpPr/>
          <p:nvPr/>
        </p:nvSpPr>
        <p:spPr>
          <a:xfrm>
            <a:off x="5166360" y="2880360"/>
            <a:ext cx="3291840" cy="274320"/>
          </a:xfrm>
          <a:prstGeom prst="rect">
            <a:avLst/>
          </a:prstGeom>
          <a:noFill/>
          <a:ln/>
        </p:spPr>
        <p:txBody>
          <a:bodyPr wrap="square" lIns="0" tIns="0" rIns="0" bIns="0" rtlCol="0" anchor="ctr"/>
          <a:lstStyle/>
          <a:p>
            <a:pPr marL="0" indent="0">
              <a:buNone/>
            </a:pPr>
            <a:r>
              <a:rPr lang="en-US" sz="1100" b="1" dirty="0">
                <a:solidFill>
                  <a:srgbClr val="2B6CB0"/>
                </a:solidFill>
                <a:latin typeface="Calibri" pitchFamily="34" charset="0"/>
                <a:ea typeface="Calibri" pitchFamily="34" charset="-122"/>
                <a:cs typeface="Calibri" pitchFamily="34" charset="-120"/>
              </a:rPr>
              <a:t>Marketing stratégique vs opérationnel</a:t>
            </a:r>
            <a:endParaRPr lang="en-US" sz="1100" dirty="0"/>
          </a:p>
        </p:txBody>
      </p:sp>
      <p:sp>
        <p:nvSpPr>
          <p:cNvPr id="16" name="Text 11"/>
          <p:cNvSpPr/>
          <p:nvPr/>
        </p:nvSpPr>
        <p:spPr>
          <a:xfrm>
            <a:off x="4846320" y="3246120"/>
            <a:ext cx="3657600" cy="1188720"/>
          </a:xfrm>
          <a:prstGeom prst="rect">
            <a:avLst/>
          </a:prstGeom>
          <a:noFill/>
          <a:ln/>
        </p:spPr>
        <p:txBody>
          <a:bodyPr wrap="square" rtlCol="0" anchor="ctr"/>
          <a:lstStyle/>
          <a:p>
            <a:pPr marL="0" indent="0">
              <a:buNone/>
            </a:pPr>
            <a:r>
              <a:rPr lang="en-US" sz="850" dirty="0">
                <a:solidFill>
                  <a:srgbClr val="1A202C"/>
                </a:solidFill>
                <a:latin typeface="Calibri" pitchFamily="34" charset="0"/>
                <a:ea typeface="Calibri" pitchFamily="34" charset="-122"/>
                <a:cs typeface="Calibri" pitchFamily="34" charset="-120"/>
              </a:rPr>
              <a:t>Marketing stratégique : analyse externe (marché, demande, offre, environnement) + analyse interne (forces et faiblesses de l'entreprise).</a:t>
            </a:r>
            <a:endParaRPr lang="en-US" sz="850" dirty="0"/>
          </a:p>
          <a:p>
            <a:pPr marL="0" indent="0">
              <a:buNone/>
            </a:pP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Marketing opérationnel : les 4P (Produit, Prix, Communication, Distribution). Actions à court terme pour atteindre les objectifs stratégiques.</a:t>
            </a:r>
            <a:endParaRPr lang="en-US" sz="850" dirty="0"/>
          </a:p>
        </p:txBody>
      </p:sp>
      <p:sp>
        <p:nvSpPr>
          <p:cNvPr id="17" name="Shape 12"/>
          <p:cNvSpPr/>
          <p:nvPr/>
        </p:nvSpPr>
        <p:spPr>
          <a:xfrm>
            <a:off x="0" y="4823460"/>
            <a:ext cx="9144000" cy="320040"/>
          </a:xfrm>
          <a:prstGeom prst="rect">
            <a:avLst/>
          </a:prstGeom>
          <a:solidFill>
            <a:srgbClr val="1A1F2E"/>
          </a:solidFill>
          <a:ln/>
        </p:spPr>
        <p:txBody>
          <a:bodyPr/>
          <a:lstStyle/>
          <a:p>
            <a:endParaRPr lang="fr-FR"/>
          </a:p>
        </p:txBody>
      </p:sp>
      <p:sp>
        <p:nvSpPr>
          <p:cNvPr id="18" name="Text 13"/>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19" name="Text 14"/>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MODULE 1 — LA MERCATIQUE</a:t>
            </a:r>
            <a:endParaRPr lang="en-US" sz="9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1800" b="1" dirty="0">
                <a:solidFill>
                  <a:srgbClr val="1A202C"/>
                </a:solidFill>
                <a:latin typeface="Georgia" pitchFamily="34" charset="0"/>
                <a:ea typeface="Georgia" pitchFamily="34" charset="-122"/>
                <a:cs typeface="Georgia" pitchFamily="34" charset="-120"/>
              </a:rPr>
              <a:t>Les analyses externe et interne</a:t>
            </a:r>
            <a:endParaRPr lang="en-US" sz="1800" dirty="0"/>
          </a:p>
        </p:txBody>
      </p:sp>
      <p:sp>
        <p:nvSpPr>
          <p:cNvPr id="5" name="Shape 3"/>
          <p:cNvSpPr/>
          <p:nvPr/>
        </p:nvSpPr>
        <p:spPr>
          <a:xfrm>
            <a:off x="457200" y="1234440"/>
            <a:ext cx="3931920" cy="21031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6" name="Shape 4"/>
          <p:cNvSpPr/>
          <p:nvPr/>
        </p:nvSpPr>
        <p:spPr>
          <a:xfrm>
            <a:off x="457200" y="1234440"/>
            <a:ext cx="3931920" cy="54864"/>
          </a:xfrm>
          <a:prstGeom prst="rect">
            <a:avLst/>
          </a:prstGeom>
          <a:solidFill>
            <a:srgbClr val="2B6CB0"/>
          </a:solidFill>
          <a:ln/>
        </p:spPr>
        <p:txBody>
          <a:bodyPr/>
          <a:lstStyle/>
          <a:p>
            <a:endParaRPr lang="fr-FR"/>
          </a:p>
        </p:txBody>
      </p:sp>
      <p:sp>
        <p:nvSpPr>
          <p:cNvPr id="7" name="Text 5"/>
          <p:cNvSpPr/>
          <p:nvPr/>
        </p:nvSpPr>
        <p:spPr>
          <a:xfrm>
            <a:off x="640080" y="1371600"/>
            <a:ext cx="3566160" cy="274320"/>
          </a:xfrm>
          <a:prstGeom prst="rect">
            <a:avLst/>
          </a:prstGeom>
          <a:noFill/>
          <a:ln/>
        </p:spPr>
        <p:txBody>
          <a:bodyPr wrap="square" rtlCol="0" anchor="ctr"/>
          <a:lstStyle/>
          <a:p>
            <a:pPr marL="0" indent="0">
              <a:buNone/>
            </a:pPr>
            <a:r>
              <a:rPr lang="en-US" sz="1200" b="1" dirty="0">
                <a:solidFill>
                  <a:srgbClr val="2B6CB0"/>
                </a:solidFill>
                <a:latin typeface="Calibri" pitchFamily="34" charset="0"/>
                <a:ea typeface="Calibri" pitchFamily="34" charset="-122"/>
                <a:cs typeface="Calibri" pitchFamily="34" charset="-120"/>
              </a:rPr>
              <a:t>Analyse externe</a:t>
            </a:r>
            <a:endParaRPr lang="en-US" sz="1200" dirty="0"/>
          </a:p>
        </p:txBody>
      </p:sp>
      <p:sp>
        <p:nvSpPr>
          <p:cNvPr id="8" name="Text 6"/>
          <p:cNvSpPr/>
          <p:nvPr/>
        </p:nvSpPr>
        <p:spPr>
          <a:xfrm>
            <a:off x="640080" y="1691640"/>
            <a:ext cx="3566160" cy="1463040"/>
          </a:xfrm>
          <a:prstGeom prst="rect">
            <a:avLst/>
          </a:prstGeom>
          <a:noFill/>
          <a:ln/>
        </p:spPr>
        <p:txBody>
          <a:bodyPr wrap="square" rtlCol="0" anchor="ctr"/>
          <a:lstStyle/>
          <a:p>
            <a:pPr marL="0" indent="0">
              <a:buNone/>
            </a:pPr>
            <a:r>
              <a:rPr lang="en-US" sz="850" dirty="0">
                <a:solidFill>
                  <a:srgbClr val="1A202C"/>
                </a:solidFill>
                <a:latin typeface="Calibri" pitchFamily="34" charset="0"/>
                <a:ea typeface="Calibri" pitchFamily="34" charset="-122"/>
                <a:cs typeface="Calibri" pitchFamily="34" charset="-120"/>
              </a:rPr>
              <a:t>Consiste à connaître le marché au travers de l'étude de :</a:t>
            </a: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 La demande (goûts des consommateurs, besoins…)</a:t>
            </a: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 L'offre (concurrence, producteurs…)</a:t>
            </a: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 L'environnement (économique, socioculturel, écologique, juridique…) dans lequel l'entreprise évolue.</a:t>
            </a:r>
            <a:endParaRPr lang="en-US" sz="850" dirty="0"/>
          </a:p>
        </p:txBody>
      </p:sp>
      <p:sp>
        <p:nvSpPr>
          <p:cNvPr id="9" name="Shape 7"/>
          <p:cNvSpPr/>
          <p:nvPr/>
        </p:nvSpPr>
        <p:spPr>
          <a:xfrm>
            <a:off x="4663440" y="1234440"/>
            <a:ext cx="4023360" cy="21031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0" name="Shape 8"/>
          <p:cNvSpPr/>
          <p:nvPr/>
        </p:nvSpPr>
        <p:spPr>
          <a:xfrm>
            <a:off x="4663440" y="1234440"/>
            <a:ext cx="4023360" cy="54864"/>
          </a:xfrm>
          <a:prstGeom prst="rect">
            <a:avLst/>
          </a:prstGeom>
          <a:solidFill>
            <a:srgbClr val="0D9488"/>
          </a:solidFill>
          <a:ln/>
        </p:spPr>
        <p:txBody>
          <a:bodyPr/>
          <a:lstStyle/>
          <a:p>
            <a:endParaRPr lang="fr-FR"/>
          </a:p>
        </p:txBody>
      </p:sp>
      <p:sp>
        <p:nvSpPr>
          <p:cNvPr id="11" name="Text 9"/>
          <p:cNvSpPr/>
          <p:nvPr/>
        </p:nvSpPr>
        <p:spPr>
          <a:xfrm>
            <a:off x="4846320" y="1371600"/>
            <a:ext cx="3657600" cy="274320"/>
          </a:xfrm>
          <a:prstGeom prst="rect">
            <a:avLst/>
          </a:prstGeom>
          <a:noFill/>
          <a:ln/>
        </p:spPr>
        <p:txBody>
          <a:bodyPr wrap="square"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Analyse interne</a:t>
            </a:r>
            <a:endParaRPr lang="en-US" sz="1200" dirty="0"/>
          </a:p>
        </p:txBody>
      </p:sp>
      <p:sp>
        <p:nvSpPr>
          <p:cNvPr id="12" name="Text 10"/>
          <p:cNvSpPr/>
          <p:nvPr/>
        </p:nvSpPr>
        <p:spPr>
          <a:xfrm>
            <a:off x="4846320" y="1691640"/>
            <a:ext cx="3657600" cy="1463040"/>
          </a:xfrm>
          <a:prstGeom prst="rect">
            <a:avLst/>
          </a:prstGeom>
          <a:noFill/>
          <a:ln/>
        </p:spPr>
        <p:txBody>
          <a:bodyPr wrap="square" rtlCol="0" anchor="ctr"/>
          <a:lstStyle/>
          <a:p>
            <a:pPr marL="0" indent="0">
              <a:buNone/>
            </a:pPr>
            <a:r>
              <a:rPr lang="en-US" sz="850" dirty="0">
                <a:solidFill>
                  <a:srgbClr val="1A202C"/>
                </a:solidFill>
                <a:latin typeface="Calibri" pitchFamily="34" charset="0"/>
                <a:ea typeface="Calibri" pitchFamily="34" charset="-122"/>
                <a:cs typeface="Calibri" pitchFamily="34" charset="-120"/>
              </a:rPr>
              <a:t>Met en évidence les forces de l'entreprise sur lesquelles elle peut s'appuyer et les faiblesses qu'elle doit pallier.</a:t>
            </a:r>
            <a:endParaRPr lang="en-US" sz="850" dirty="0"/>
          </a:p>
          <a:p>
            <a:pPr marL="0" indent="0">
              <a:buNone/>
            </a:pP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C'est à ce niveau également que l'on mesure l'efficacité des politiques mercatiques mises en œuvre précédemment.</a:t>
            </a:r>
            <a:endParaRPr lang="en-US" sz="850" dirty="0"/>
          </a:p>
        </p:txBody>
      </p:sp>
      <p:sp>
        <p:nvSpPr>
          <p:cNvPr id="13" name="Shape 11"/>
          <p:cNvSpPr/>
          <p:nvPr/>
        </p:nvSpPr>
        <p:spPr>
          <a:xfrm>
            <a:off x="457200" y="3520440"/>
            <a:ext cx="8229600" cy="11887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4" name="Text 12"/>
          <p:cNvSpPr/>
          <p:nvPr/>
        </p:nvSpPr>
        <p:spPr>
          <a:xfrm>
            <a:off x="640080" y="3566160"/>
            <a:ext cx="7863840" cy="274320"/>
          </a:xfrm>
          <a:prstGeom prst="rect">
            <a:avLst/>
          </a:prstGeom>
          <a:noFill/>
          <a:ln/>
        </p:spPr>
        <p:txBody>
          <a:bodyPr wrap="square" rtlCol="0" anchor="ctr"/>
          <a:lstStyle/>
          <a:p>
            <a:pPr marL="0" indent="0">
              <a:buNone/>
            </a:pPr>
            <a:r>
              <a:rPr lang="en-US" sz="1100" b="1" dirty="0">
                <a:solidFill>
                  <a:srgbClr val="0B5563"/>
                </a:solidFill>
                <a:latin typeface="Calibri" pitchFamily="34" charset="0"/>
                <a:ea typeface="Calibri" pitchFamily="34" charset="-122"/>
                <a:cs typeface="Calibri" pitchFamily="34" charset="-120"/>
              </a:rPr>
              <a:t>Marketing opérationnel : les 4P du Mix Marketing</a:t>
            </a:r>
            <a:endParaRPr lang="en-US" sz="1100" dirty="0"/>
          </a:p>
        </p:txBody>
      </p:sp>
      <p:sp>
        <p:nvSpPr>
          <p:cNvPr id="15" name="Shape 13"/>
          <p:cNvSpPr/>
          <p:nvPr/>
        </p:nvSpPr>
        <p:spPr>
          <a:xfrm>
            <a:off x="548640" y="3931920"/>
            <a:ext cx="1874520" cy="640080"/>
          </a:xfrm>
          <a:prstGeom prst="rect">
            <a:avLst/>
          </a:prstGeom>
          <a:solidFill>
            <a:srgbClr val="EBF8FF"/>
          </a:solidFill>
          <a:ln/>
        </p:spPr>
        <p:txBody>
          <a:bodyPr/>
          <a:lstStyle/>
          <a:p>
            <a:endParaRPr lang="fr-FR"/>
          </a:p>
        </p:txBody>
      </p:sp>
      <p:sp>
        <p:nvSpPr>
          <p:cNvPr id="16" name="Text 14"/>
          <p:cNvSpPr/>
          <p:nvPr/>
        </p:nvSpPr>
        <p:spPr>
          <a:xfrm>
            <a:off x="640080" y="3959352"/>
            <a:ext cx="1691640" cy="201168"/>
          </a:xfrm>
          <a:prstGeom prst="rect">
            <a:avLst/>
          </a:prstGeom>
          <a:noFill/>
          <a:ln/>
        </p:spPr>
        <p:txBody>
          <a:bodyPr wrap="square" lIns="0" tIns="0" rIns="0" bIns="0" rtlCol="0" anchor="ctr"/>
          <a:lstStyle/>
          <a:p>
            <a:pPr marL="0" indent="0">
              <a:buNone/>
            </a:pPr>
            <a:r>
              <a:rPr lang="en-US" sz="1000" b="1" dirty="0">
                <a:solidFill>
                  <a:srgbClr val="0B5563"/>
                </a:solidFill>
                <a:latin typeface="Calibri" pitchFamily="34" charset="0"/>
                <a:ea typeface="Calibri" pitchFamily="34" charset="-122"/>
                <a:cs typeface="Calibri" pitchFamily="34" charset="-120"/>
              </a:rPr>
              <a:t>Produit</a:t>
            </a:r>
            <a:endParaRPr lang="en-US" sz="1000" dirty="0"/>
          </a:p>
        </p:txBody>
      </p:sp>
      <p:sp>
        <p:nvSpPr>
          <p:cNvPr id="17" name="Text 15"/>
          <p:cNvSpPr/>
          <p:nvPr/>
        </p:nvSpPr>
        <p:spPr>
          <a:xfrm>
            <a:off x="640080" y="4178808"/>
            <a:ext cx="1691640" cy="32004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Quel service VTC proposer ?</a:t>
            </a:r>
            <a:endParaRPr lang="en-US" sz="750" dirty="0"/>
          </a:p>
        </p:txBody>
      </p:sp>
      <p:sp>
        <p:nvSpPr>
          <p:cNvPr id="18" name="Shape 16"/>
          <p:cNvSpPr/>
          <p:nvPr/>
        </p:nvSpPr>
        <p:spPr>
          <a:xfrm>
            <a:off x="2606040" y="3931920"/>
            <a:ext cx="1874520" cy="640080"/>
          </a:xfrm>
          <a:prstGeom prst="rect">
            <a:avLst/>
          </a:prstGeom>
          <a:solidFill>
            <a:srgbClr val="EBF8FF"/>
          </a:solidFill>
          <a:ln/>
        </p:spPr>
        <p:txBody>
          <a:bodyPr/>
          <a:lstStyle/>
          <a:p>
            <a:endParaRPr lang="fr-FR"/>
          </a:p>
        </p:txBody>
      </p:sp>
      <p:sp>
        <p:nvSpPr>
          <p:cNvPr id="19" name="Text 17"/>
          <p:cNvSpPr/>
          <p:nvPr/>
        </p:nvSpPr>
        <p:spPr>
          <a:xfrm>
            <a:off x="2697480" y="3959352"/>
            <a:ext cx="1691640" cy="201168"/>
          </a:xfrm>
          <a:prstGeom prst="rect">
            <a:avLst/>
          </a:prstGeom>
          <a:noFill/>
          <a:ln/>
        </p:spPr>
        <p:txBody>
          <a:bodyPr wrap="square" lIns="0" tIns="0" rIns="0" bIns="0" rtlCol="0" anchor="ctr"/>
          <a:lstStyle/>
          <a:p>
            <a:pPr marL="0" indent="0">
              <a:buNone/>
            </a:pPr>
            <a:r>
              <a:rPr lang="en-US" sz="1000" b="1" dirty="0">
                <a:solidFill>
                  <a:srgbClr val="276749"/>
                </a:solidFill>
                <a:latin typeface="Calibri" pitchFamily="34" charset="0"/>
                <a:ea typeface="Calibri" pitchFamily="34" charset="-122"/>
                <a:cs typeface="Calibri" pitchFamily="34" charset="-120"/>
              </a:rPr>
              <a:t>Prix</a:t>
            </a:r>
            <a:endParaRPr lang="en-US" sz="1000" dirty="0"/>
          </a:p>
        </p:txBody>
      </p:sp>
      <p:sp>
        <p:nvSpPr>
          <p:cNvPr id="20" name="Text 18"/>
          <p:cNvSpPr/>
          <p:nvPr/>
        </p:nvSpPr>
        <p:spPr>
          <a:xfrm>
            <a:off x="2697480" y="4178808"/>
            <a:ext cx="1691640" cy="32004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À quel tarif ? (prix psychologique, forfaits, grille tarifaire)</a:t>
            </a:r>
            <a:endParaRPr lang="en-US" sz="750" dirty="0"/>
          </a:p>
        </p:txBody>
      </p:sp>
      <p:sp>
        <p:nvSpPr>
          <p:cNvPr id="21" name="Shape 19"/>
          <p:cNvSpPr/>
          <p:nvPr/>
        </p:nvSpPr>
        <p:spPr>
          <a:xfrm>
            <a:off x="4663440" y="3931920"/>
            <a:ext cx="1874520" cy="640080"/>
          </a:xfrm>
          <a:prstGeom prst="rect">
            <a:avLst/>
          </a:prstGeom>
          <a:solidFill>
            <a:srgbClr val="EBF8FF"/>
          </a:solidFill>
          <a:ln/>
        </p:spPr>
        <p:txBody>
          <a:bodyPr/>
          <a:lstStyle/>
          <a:p>
            <a:endParaRPr lang="fr-FR"/>
          </a:p>
        </p:txBody>
      </p:sp>
      <p:sp>
        <p:nvSpPr>
          <p:cNvPr id="22" name="Text 20"/>
          <p:cNvSpPr/>
          <p:nvPr/>
        </p:nvSpPr>
        <p:spPr>
          <a:xfrm>
            <a:off x="4754880" y="3959352"/>
            <a:ext cx="1691640" cy="201168"/>
          </a:xfrm>
          <a:prstGeom prst="rect">
            <a:avLst/>
          </a:prstGeom>
          <a:noFill/>
          <a:ln/>
        </p:spPr>
        <p:txBody>
          <a:bodyPr wrap="square" lIns="0" tIns="0" rIns="0" bIns="0" rtlCol="0" anchor="ctr"/>
          <a:lstStyle/>
          <a:p>
            <a:pPr marL="0" indent="0">
              <a:buNone/>
            </a:pPr>
            <a:r>
              <a:rPr lang="en-US" sz="1000" b="1" dirty="0">
                <a:solidFill>
                  <a:srgbClr val="2B6CB0"/>
                </a:solidFill>
                <a:latin typeface="Calibri" pitchFamily="34" charset="0"/>
                <a:ea typeface="Calibri" pitchFamily="34" charset="-122"/>
                <a:cs typeface="Calibri" pitchFamily="34" charset="-120"/>
              </a:rPr>
              <a:t>Communication</a:t>
            </a:r>
            <a:endParaRPr lang="en-US" sz="1000" dirty="0"/>
          </a:p>
        </p:txBody>
      </p:sp>
      <p:sp>
        <p:nvSpPr>
          <p:cNvPr id="23" name="Text 21"/>
          <p:cNvSpPr/>
          <p:nvPr/>
        </p:nvSpPr>
        <p:spPr>
          <a:xfrm>
            <a:off x="4754880" y="4178808"/>
            <a:ext cx="1691640" cy="32004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Comment se faire connaître ? (pub, réseaux, partenariats)</a:t>
            </a:r>
            <a:endParaRPr lang="en-US" sz="750" dirty="0"/>
          </a:p>
        </p:txBody>
      </p:sp>
      <p:sp>
        <p:nvSpPr>
          <p:cNvPr id="24" name="Shape 22"/>
          <p:cNvSpPr/>
          <p:nvPr/>
        </p:nvSpPr>
        <p:spPr>
          <a:xfrm>
            <a:off x="6720840" y="3931920"/>
            <a:ext cx="1874520" cy="640080"/>
          </a:xfrm>
          <a:prstGeom prst="rect">
            <a:avLst/>
          </a:prstGeom>
          <a:solidFill>
            <a:srgbClr val="EBF8FF"/>
          </a:solidFill>
          <a:ln/>
        </p:spPr>
        <p:txBody>
          <a:bodyPr/>
          <a:lstStyle/>
          <a:p>
            <a:endParaRPr lang="fr-FR"/>
          </a:p>
        </p:txBody>
      </p:sp>
      <p:sp>
        <p:nvSpPr>
          <p:cNvPr id="25" name="Text 23"/>
          <p:cNvSpPr/>
          <p:nvPr/>
        </p:nvSpPr>
        <p:spPr>
          <a:xfrm>
            <a:off x="6812280" y="3959352"/>
            <a:ext cx="1691640" cy="201168"/>
          </a:xfrm>
          <a:prstGeom prst="rect">
            <a:avLst/>
          </a:prstGeom>
          <a:noFill/>
          <a:ln/>
        </p:spPr>
        <p:txBody>
          <a:bodyPr wrap="square" lIns="0" tIns="0" rIns="0" bIns="0" rtlCol="0" anchor="ctr"/>
          <a:lstStyle/>
          <a:p>
            <a:pPr marL="0" indent="0">
              <a:buNone/>
            </a:pPr>
            <a:r>
              <a:rPr lang="en-US" sz="1000" b="1" dirty="0">
                <a:solidFill>
                  <a:srgbClr val="C05621"/>
                </a:solidFill>
                <a:latin typeface="Calibri" pitchFamily="34" charset="0"/>
                <a:ea typeface="Calibri" pitchFamily="34" charset="-122"/>
                <a:cs typeface="Calibri" pitchFamily="34" charset="-120"/>
              </a:rPr>
              <a:t>Distribution</a:t>
            </a:r>
            <a:endParaRPr lang="en-US" sz="1000" dirty="0"/>
          </a:p>
        </p:txBody>
      </p:sp>
      <p:sp>
        <p:nvSpPr>
          <p:cNvPr id="26" name="Text 24"/>
          <p:cNvSpPr/>
          <p:nvPr/>
        </p:nvSpPr>
        <p:spPr>
          <a:xfrm>
            <a:off x="6812280" y="4178808"/>
            <a:ext cx="1691640" cy="32004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Comment accéder au client ? (applis, plateformes, direct)</a:t>
            </a:r>
            <a:endParaRPr lang="en-US" sz="750" dirty="0"/>
          </a:p>
        </p:txBody>
      </p:sp>
      <p:sp>
        <p:nvSpPr>
          <p:cNvPr id="27" name="Shape 25"/>
          <p:cNvSpPr/>
          <p:nvPr/>
        </p:nvSpPr>
        <p:spPr>
          <a:xfrm>
            <a:off x="0" y="4823460"/>
            <a:ext cx="9144000" cy="320040"/>
          </a:xfrm>
          <a:prstGeom prst="rect">
            <a:avLst/>
          </a:prstGeom>
          <a:solidFill>
            <a:srgbClr val="1A1F2E"/>
          </a:solidFill>
          <a:ln/>
        </p:spPr>
        <p:txBody>
          <a:bodyPr/>
          <a:lstStyle/>
          <a:p>
            <a:endParaRPr lang="fr-FR"/>
          </a:p>
        </p:txBody>
      </p:sp>
      <p:sp>
        <p:nvSpPr>
          <p:cNvPr id="28" name="Text 26"/>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29" name="Text 27"/>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MODULE 1 — LA MERCATIQUE</a:t>
            </a:r>
            <a:endParaRPr lang="en-US" sz="9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1800" b="1" dirty="0">
                <a:solidFill>
                  <a:srgbClr val="1A202C"/>
                </a:solidFill>
                <a:latin typeface="Georgia" pitchFamily="34" charset="0"/>
                <a:ea typeface="Georgia" pitchFamily="34" charset="-122"/>
                <a:cs typeface="Georgia" pitchFamily="34" charset="-120"/>
              </a:rPr>
              <a:t>Cohérence du plan de marchéage &amp; contrôle</a:t>
            </a:r>
            <a:endParaRPr lang="en-US" sz="1800" dirty="0"/>
          </a:p>
        </p:txBody>
      </p:sp>
      <p:sp>
        <p:nvSpPr>
          <p:cNvPr id="5" name="Shape 3"/>
          <p:cNvSpPr/>
          <p:nvPr/>
        </p:nvSpPr>
        <p:spPr>
          <a:xfrm>
            <a:off x="457200" y="1234440"/>
            <a:ext cx="8229600" cy="7772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6" name="Shape 4"/>
          <p:cNvSpPr/>
          <p:nvPr/>
        </p:nvSpPr>
        <p:spPr>
          <a:xfrm>
            <a:off x="457200" y="1234440"/>
            <a:ext cx="54864" cy="777240"/>
          </a:xfrm>
          <a:prstGeom prst="rect">
            <a:avLst/>
          </a:prstGeom>
          <a:solidFill>
            <a:srgbClr val="0B5563"/>
          </a:solidFill>
          <a:ln/>
        </p:spPr>
        <p:txBody>
          <a:bodyPr/>
          <a:lstStyle/>
          <a:p>
            <a:endParaRPr lang="fr-FR"/>
          </a:p>
        </p:txBody>
      </p:sp>
      <p:sp>
        <p:nvSpPr>
          <p:cNvPr id="7" name="Text 5"/>
          <p:cNvSpPr/>
          <p:nvPr/>
        </p:nvSpPr>
        <p:spPr>
          <a:xfrm>
            <a:off x="685800" y="1307592"/>
            <a:ext cx="7772400" cy="228600"/>
          </a:xfrm>
          <a:prstGeom prst="rect">
            <a:avLst/>
          </a:prstGeom>
          <a:noFill/>
          <a:ln/>
        </p:spPr>
        <p:txBody>
          <a:bodyPr wrap="square" lIns="0" tIns="0" rIns="0" bIns="0" rtlCol="0" anchor="ctr"/>
          <a:lstStyle/>
          <a:p>
            <a:pPr marL="0" indent="0">
              <a:buNone/>
            </a:pPr>
            <a:r>
              <a:rPr lang="en-US" sz="1100" b="1" dirty="0">
                <a:solidFill>
                  <a:srgbClr val="0B5563"/>
                </a:solidFill>
                <a:latin typeface="Calibri" pitchFamily="34" charset="0"/>
                <a:ea typeface="Calibri" pitchFamily="34" charset="-122"/>
                <a:cs typeface="Calibri" pitchFamily="34" charset="-120"/>
              </a:rPr>
              <a:t>Cohérence interne</a:t>
            </a:r>
            <a:endParaRPr lang="en-US" sz="1100" dirty="0"/>
          </a:p>
        </p:txBody>
      </p:sp>
      <p:sp>
        <p:nvSpPr>
          <p:cNvPr id="8" name="Text 6"/>
          <p:cNvSpPr/>
          <p:nvPr/>
        </p:nvSpPr>
        <p:spPr>
          <a:xfrm>
            <a:off x="685800" y="1581912"/>
            <a:ext cx="7772400" cy="365760"/>
          </a:xfrm>
          <a:prstGeom prst="rect">
            <a:avLst/>
          </a:prstGeom>
          <a:noFill/>
          <a:ln/>
        </p:spPr>
        <p:txBody>
          <a:bodyPr wrap="square" lIns="0" tIns="0" rIns="0" bIns="0" rtlCol="0" anchor="ctr"/>
          <a:lstStyle/>
          <a:p>
            <a:pPr marL="0" indent="0">
              <a:buNone/>
            </a:pPr>
            <a:r>
              <a:rPr lang="en-US" sz="850" dirty="0">
                <a:solidFill>
                  <a:srgbClr val="1A202C"/>
                </a:solidFill>
                <a:latin typeface="Calibri" pitchFamily="34" charset="0"/>
                <a:ea typeface="Calibri" pitchFamily="34" charset="-122"/>
                <a:cs typeface="Calibri" pitchFamily="34" charset="-120"/>
              </a:rPr>
              <a:t>Prix élevé = produit de qualité = communication ciblée = distribution sélective.</a:t>
            </a:r>
            <a:endParaRPr lang="en-US" sz="850" dirty="0"/>
          </a:p>
        </p:txBody>
      </p:sp>
      <p:sp>
        <p:nvSpPr>
          <p:cNvPr id="9" name="Shape 7"/>
          <p:cNvSpPr/>
          <p:nvPr/>
        </p:nvSpPr>
        <p:spPr>
          <a:xfrm>
            <a:off x="457200" y="2148840"/>
            <a:ext cx="8229600" cy="7772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0" name="Shape 8"/>
          <p:cNvSpPr/>
          <p:nvPr/>
        </p:nvSpPr>
        <p:spPr>
          <a:xfrm>
            <a:off x="457200" y="2148840"/>
            <a:ext cx="54864" cy="777240"/>
          </a:xfrm>
          <a:prstGeom prst="rect">
            <a:avLst/>
          </a:prstGeom>
          <a:solidFill>
            <a:srgbClr val="2B6CB0"/>
          </a:solidFill>
          <a:ln/>
        </p:spPr>
        <p:txBody>
          <a:bodyPr/>
          <a:lstStyle/>
          <a:p>
            <a:endParaRPr lang="fr-FR"/>
          </a:p>
        </p:txBody>
      </p:sp>
      <p:sp>
        <p:nvSpPr>
          <p:cNvPr id="11" name="Text 9"/>
          <p:cNvSpPr/>
          <p:nvPr/>
        </p:nvSpPr>
        <p:spPr>
          <a:xfrm>
            <a:off x="685800" y="2221992"/>
            <a:ext cx="7772400" cy="228600"/>
          </a:xfrm>
          <a:prstGeom prst="rect">
            <a:avLst/>
          </a:prstGeom>
          <a:noFill/>
          <a:ln/>
        </p:spPr>
        <p:txBody>
          <a:bodyPr wrap="square" lIns="0" tIns="0" rIns="0" bIns="0" rtlCol="0" anchor="ctr"/>
          <a:lstStyle/>
          <a:p>
            <a:pPr marL="0" indent="0">
              <a:buNone/>
            </a:pPr>
            <a:r>
              <a:rPr lang="en-US" sz="1100" b="1" dirty="0">
                <a:solidFill>
                  <a:srgbClr val="2B6CB0"/>
                </a:solidFill>
                <a:latin typeface="Calibri" pitchFamily="34" charset="0"/>
                <a:ea typeface="Calibri" pitchFamily="34" charset="-122"/>
                <a:cs typeface="Calibri" pitchFamily="34" charset="-120"/>
              </a:rPr>
              <a:t>Cohérence externe</a:t>
            </a:r>
            <a:endParaRPr lang="en-US" sz="1100" dirty="0"/>
          </a:p>
        </p:txBody>
      </p:sp>
      <p:sp>
        <p:nvSpPr>
          <p:cNvPr id="12" name="Text 10"/>
          <p:cNvSpPr/>
          <p:nvPr/>
        </p:nvSpPr>
        <p:spPr>
          <a:xfrm>
            <a:off x="685800" y="2496312"/>
            <a:ext cx="7772400" cy="365760"/>
          </a:xfrm>
          <a:prstGeom prst="rect">
            <a:avLst/>
          </a:prstGeom>
          <a:noFill/>
          <a:ln/>
        </p:spPr>
        <p:txBody>
          <a:bodyPr wrap="square" lIns="0" tIns="0" rIns="0" bIns="0" rtlCol="0" anchor="ctr"/>
          <a:lstStyle/>
          <a:p>
            <a:pPr marL="0" indent="0">
              <a:buNone/>
            </a:pPr>
            <a:r>
              <a:rPr lang="en-US" sz="850" dirty="0">
                <a:solidFill>
                  <a:srgbClr val="1A202C"/>
                </a:solidFill>
                <a:latin typeface="Calibri" pitchFamily="34" charset="0"/>
                <a:ea typeface="Calibri" pitchFamily="34" charset="-122"/>
                <a:cs typeface="Calibri" pitchFamily="34" charset="-120"/>
              </a:rPr>
              <a:t>Le plan doit être en cohérence avec les capacités financières et techniques de l'entreprise.</a:t>
            </a:r>
            <a:endParaRPr lang="en-US" sz="850" dirty="0"/>
          </a:p>
        </p:txBody>
      </p:sp>
      <p:sp>
        <p:nvSpPr>
          <p:cNvPr id="13" name="Shape 11"/>
          <p:cNvSpPr/>
          <p:nvPr/>
        </p:nvSpPr>
        <p:spPr>
          <a:xfrm>
            <a:off x="457200" y="3063240"/>
            <a:ext cx="8229600" cy="7772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4" name="Shape 12"/>
          <p:cNvSpPr/>
          <p:nvPr/>
        </p:nvSpPr>
        <p:spPr>
          <a:xfrm>
            <a:off x="457200" y="3063240"/>
            <a:ext cx="54864" cy="777240"/>
          </a:xfrm>
          <a:prstGeom prst="rect">
            <a:avLst/>
          </a:prstGeom>
          <a:solidFill>
            <a:srgbClr val="0D9488"/>
          </a:solidFill>
          <a:ln/>
        </p:spPr>
        <p:txBody>
          <a:bodyPr/>
          <a:lstStyle/>
          <a:p>
            <a:endParaRPr lang="fr-FR"/>
          </a:p>
        </p:txBody>
      </p:sp>
      <p:sp>
        <p:nvSpPr>
          <p:cNvPr id="15" name="Text 13"/>
          <p:cNvSpPr/>
          <p:nvPr/>
        </p:nvSpPr>
        <p:spPr>
          <a:xfrm>
            <a:off x="685800" y="3136392"/>
            <a:ext cx="7772400" cy="228600"/>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Cohérence temporelle</a:t>
            </a:r>
            <a:endParaRPr lang="en-US" sz="1100" dirty="0"/>
          </a:p>
        </p:txBody>
      </p:sp>
      <p:sp>
        <p:nvSpPr>
          <p:cNvPr id="16" name="Text 14"/>
          <p:cNvSpPr/>
          <p:nvPr/>
        </p:nvSpPr>
        <p:spPr>
          <a:xfrm>
            <a:off x="685800" y="3410712"/>
            <a:ext cx="7772400" cy="365760"/>
          </a:xfrm>
          <a:prstGeom prst="rect">
            <a:avLst/>
          </a:prstGeom>
          <a:noFill/>
          <a:ln/>
        </p:spPr>
        <p:txBody>
          <a:bodyPr wrap="square" lIns="0" tIns="0" rIns="0" bIns="0" rtlCol="0" anchor="ctr"/>
          <a:lstStyle/>
          <a:p>
            <a:pPr marL="0" indent="0">
              <a:buNone/>
            </a:pPr>
            <a:r>
              <a:rPr lang="en-US" sz="850" dirty="0">
                <a:solidFill>
                  <a:srgbClr val="1A202C"/>
                </a:solidFill>
                <a:latin typeface="Calibri" pitchFamily="34" charset="0"/>
                <a:ea typeface="Calibri" pitchFamily="34" charset="-122"/>
                <a:cs typeface="Calibri" pitchFamily="34" charset="-120"/>
              </a:rPr>
              <a:t>Certaines actions sont temporaires (ex : promotion). Les promotions doivent être temporaires sinon ce ne sont plus des promotions.</a:t>
            </a:r>
            <a:endParaRPr lang="en-US" sz="850" dirty="0"/>
          </a:p>
        </p:txBody>
      </p:sp>
      <p:sp>
        <p:nvSpPr>
          <p:cNvPr id="17" name="Shape 15"/>
          <p:cNvSpPr/>
          <p:nvPr/>
        </p:nvSpPr>
        <p:spPr>
          <a:xfrm>
            <a:off x="457200" y="3977640"/>
            <a:ext cx="8229600" cy="7772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8" name="Shape 16"/>
          <p:cNvSpPr/>
          <p:nvPr/>
        </p:nvSpPr>
        <p:spPr>
          <a:xfrm>
            <a:off x="457200" y="3977640"/>
            <a:ext cx="54864" cy="777240"/>
          </a:xfrm>
          <a:prstGeom prst="rect">
            <a:avLst/>
          </a:prstGeom>
          <a:solidFill>
            <a:srgbClr val="C05621"/>
          </a:solidFill>
          <a:ln/>
        </p:spPr>
        <p:txBody>
          <a:bodyPr/>
          <a:lstStyle/>
          <a:p>
            <a:endParaRPr lang="fr-FR"/>
          </a:p>
        </p:txBody>
      </p:sp>
      <p:sp>
        <p:nvSpPr>
          <p:cNvPr id="19" name="Text 17"/>
          <p:cNvSpPr/>
          <p:nvPr/>
        </p:nvSpPr>
        <p:spPr>
          <a:xfrm>
            <a:off x="685800" y="4050792"/>
            <a:ext cx="7772400" cy="228600"/>
          </a:xfrm>
          <a:prstGeom prst="rect">
            <a:avLst/>
          </a:prstGeom>
          <a:noFill/>
          <a:ln/>
        </p:spPr>
        <p:txBody>
          <a:bodyPr wrap="square" lIns="0" tIns="0" rIns="0" bIns="0" rtlCol="0" anchor="ctr"/>
          <a:lstStyle/>
          <a:p>
            <a:pPr marL="0" indent="0">
              <a:buNone/>
            </a:pPr>
            <a:r>
              <a:rPr lang="en-US" sz="1100" b="1" dirty="0">
                <a:solidFill>
                  <a:srgbClr val="C05621"/>
                </a:solidFill>
                <a:latin typeface="Calibri" pitchFamily="34" charset="0"/>
                <a:ea typeface="Calibri" pitchFamily="34" charset="-122"/>
                <a:cs typeface="Calibri" pitchFamily="34" charset="-120"/>
              </a:rPr>
              <a:t>Le contrôle</a:t>
            </a:r>
            <a:endParaRPr lang="en-US" sz="1100" dirty="0"/>
          </a:p>
        </p:txBody>
      </p:sp>
      <p:sp>
        <p:nvSpPr>
          <p:cNvPr id="20" name="Text 18"/>
          <p:cNvSpPr/>
          <p:nvPr/>
        </p:nvSpPr>
        <p:spPr>
          <a:xfrm>
            <a:off x="685800" y="4325112"/>
            <a:ext cx="7772400" cy="365760"/>
          </a:xfrm>
          <a:prstGeom prst="rect">
            <a:avLst/>
          </a:prstGeom>
          <a:noFill/>
          <a:ln/>
        </p:spPr>
        <p:txBody>
          <a:bodyPr wrap="square" lIns="0" tIns="0" rIns="0" bIns="0" rtlCol="0" anchor="ctr"/>
          <a:lstStyle/>
          <a:p>
            <a:pPr marL="0" indent="0">
              <a:buNone/>
            </a:pPr>
            <a:r>
              <a:rPr lang="en-US" sz="850" dirty="0">
                <a:solidFill>
                  <a:srgbClr val="1A202C"/>
                </a:solidFill>
                <a:latin typeface="Calibri" pitchFamily="34" charset="0"/>
                <a:ea typeface="Calibri" pitchFamily="34" charset="-122"/>
                <a:cs typeface="Calibri" pitchFamily="34" charset="-120"/>
              </a:rPr>
              <a:t>Afin de s'assurer de la bonne conduite des opérations et de l'atteinte des objectifs, l'entreprise doit contrôler ce qui a été mis en place. Elle va comparer les résultats et les prévisions, et ajuster ses actions si nécessaire.</a:t>
            </a:r>
            <a:endParaRPr lang="en-US" sz="850" dirty="0"/>
          </a:p>
        </p:txBody>
      </p:sp>
      <p:sp>
        <p:nvSpPr>
          <p:cNvPr id="21" name="Shape 19"/>
          <p:cNvSpPr/>
          <p:nvPr/>
        </p:nvSpPr>
        <p:spPr>
          <a:xfrm>
            <a:off x="0" y="4823460"/>
            <a:ext cx="9144000" cy="320040"/>
          </a:xfrm>
          <a:prstGeom prst="rect">
            <a:avLst/>
          </a:prstGeom>
          <a:solidFill>
            <a:srgbClr val="1A1F2E"/>
          </a:solidFill>
          <a:ln/>
        </p:spPr>
        <p:txBody>
          <a:bodyPr/>
          <a:lstStyle/>
          <a:p>
            <a:endParaRPr lang="fr-FR"/>
          </a:p>
        </p:txBody>
      </p:sp>
      <p:sp>
        <p:nvSpPr>
          <p:cNvPr id="22" name="Text 20"/>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23" name="Text 21"/>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MODULE 2 — OUTILS D'ANALYSE</a:t>
            </a:r>
            <a:endParaRPr lang="en-US" sz="9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1800" b="1" dirty="0">
                <a:solidFill>
                  <a:srgbClr val="1A202C"/>
                </a:solidFill>
                <a:latin typeface="Georgia" pitchFamily="34" charset="0"/>
                <a:ea typeface="Georgia" pitchFamily="34" charset="-122"/>
                <a:cs typeface="Georgia" pitchFamily="34" charset="-120"/>
              </a:rPr>
              <a:t>Qu'est-ce que l'analyse SWOT ?</a:t>
            </a:r>
            <a:endParaRPr lang="en-US" sz="1800" dirty="0"/>
          </a:p>
        </p:txBody>
      </p:sp>
      <p:sp>
        <p:nvSpPr>
          <p:cNvPr id="5" name="Shape 3"/>
          <p:cNvSpPr/>
          <p:nvPr/>
        </p:nvSpPr>
        <p:spPr>
          <a:xfrm>
            <a:off x="457200" y="1234440"/>
            <a:ext cx="8229600" cy="10972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6" name="Text 4"/>
          <p:cNvSpPr/>
          <p:nvPr/>
        </p:nvSpPr>
        <p:spPr>
          <a:xfrm>
            <a:off x="640080" y="1280160"/>
            <a:ext cx="7863840" cy="228600"/>
          </a:xfrm>
          <a:prstGeom prst="rect">
            <a:avLst/>
          </a:prstGeom>
          <a:noFill/>
          <a:ln/>
        </p:spPr>
        <p:txBody>
          <a:bodyPr wrap="square" rtlCol="0" anchor="ctr"/>
          <a:lstStyle/>
          <a:p>
            <a:pPr marL="0" indent="0">
              <a:buNone/>
            </a:pPr>
            <a:r>
              <a:rPr lang="en-US" sz="1000" b="1" i="1" dirty="0">
                <a:solidFill>
                  <a:srgbClr val="E8A838"/>
                </a:solidFill>
                <a:latin typeface="Calibri" pitchFamily="34" charset="0"/>
                <a:ea typeface="Calibri" pitchFamily="34" charset="-122"/>
                <a:cs typeface="Calibri" pitchFamily="34" charset="-120"/>
              </a:rPr>
              <a:t>Strengths – Weaknesses – Opportunities – Threats</a:t>
            </a:r>
            <a:endParaRPr lang="en-US" sz="1000" dirty="0"/>
          </a:p>
        </p:txBody>
      </p:sp>
      <p:sp>
        <p:nvSpPr>
          <p:cNvPr id="7" name="Text 5"/>
          <p:cNvSpPr/>
          <p:nvPr/>
        </p:nvSpPr>
        <p:spPr>
          <a:xfrm>
            <a:off x="640080" y="1554480"/>
            <a:ext cx="7863840" cy="640080"/>
          </a:xfrm>
          <a:prstGeom prst="rect">
            <a:avLst/>
          </a:prstGeom>
          <a:noFill/>
          <a:ln/>
        </p:spPr>
        <p:txBody>
          <a:bodyPr wrap="square" rtlCol="0" anchor="ctr"/>
          <a:lstStyle/>
          <a:p>
            <a:pPr marL="0" indent="0">
              <a:buNone/>
            </a:pPr>
            <a:r>
              <a:rPr lang="en-US" sz="850" dirty="0">
                <a:solidFill>
                  <a:srgbClr val="1A202C"/>
                </a:solidFill>
                <a:latin typeface="Calibri" pitchFamily="34" charset="0"/>
                <a:ea typeface="Calibri" pitchFamily="34" charset="-122"/>
                <a:cs typeface="Calibri" pitchFamily="34" charset="-120"/>
              </a:rPr>
              <a:t>L'analyse SWOT permet de connaître les forces et les faiblesses de votre entreprise ou de vos produits/services et de savoir quelles sont les opportunités et les menaces (externes) qui peuvent nuire au marché. Le SWOT peut être utilisé avant de lancer un produit/service sur le marché OU après pour développer et améliorer son activité.</a:t>
            </a:r>
            <a:endParaRPr lang="en-US" sz="850" dirty="0"/>
          </a:p>
        </p:txBody>
      </p:sp>
      <p:sp>
        <p:nvSpPr>
          <p:cNvPr id="8" name="Shape 6"/>
          <p:cNvSpPr/>
          <p:nvPr/>
        </p:nvSpPr>
        <p:spPr>
          <a:xfrm>
            <a:off x="457200" y="2514600"/>
            <a:ext cx="4023360" cy="9601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9" name="Shape 7"/>
          <p:cNvSpPr/>
          <p:nvPr/>
        </p:nvSpPr>
        <p:spPr>
          <a:xfrm>
            <a:off x="457200" y="2514600"/>
            <a:ext cx="4023360" cy="54864"/>
          </a:xfrm>
          <a:prstGeom prst="rect">
            <a:avLst/>
          </a:prstGeom>
          <a:solidFill>
            <a:srgbClr val="276749"/>
          </a:solidFill>
          <a:ln/>
        </p:spPr>
        <p:txBody>
          <a:bodyPr/>
          <a:lstStyle/>
          <a:p>
            <a:endParaRPr lang="fr-FR"/>
          </a:p>
        </p:txBody>
      </p:sp>
      <p:sp>
        <p:nvSpPr>
          <p:cNvPr id="10" name="Text 8"/>
          <p:cNvSpPr/>
          <p:nvPr/>
        </p:nvSpPr>
        <p:spPr>
          <a:xfrm>
            <a:off x="594360" y="2624328"/>
            <a:ext cx="3749040" cy="228600"/>
          </a:xfrm>
          <a:prstGeom prst="rect">
            <a:avLst/>
          </a:prstGeom>
          <a:noFill/>
          <a:ln/>
        </p:spPr>
        <p:txBody>
          <a:bodyPr wrap="square" lIns="0" tIns="0" rIns="0" bIns="0" rtlCol="0" anchor="ctr"/>
          <a:lstStyle/>
          <a:p>
            <a:pPr marL="0" indent="0">
              <a:buNone/>
            </a:pPr>
            <a:r>
              <a:rPr lang="en-US" sz="1000" b="1" dirty="0">
                <a:solidFill>
                  <a:srgbClr val="276749"/>
                </a:solidFill>
                <a:latin typeface="Calibri" pitchFamily="34" charset="0"/>
                <a:ea typeface="Calibri" pitchFamily="34" charset="-122"/>
                <a:cs typeface="Calibri" pitchFamily="34" charset="-120"/>
              </a:rPr>
              <a:t>S — Forces</a:t>
            </a:r>
            <a:endParaRPr lang="en-US" sz="1000" dirty="0"/>
          </a:p>
        </p:txBody>
      </p:sp>
      <p:sp>
        <p:nvSpPr>
          <p:cNvPr id="11" name="Text 9"/>
          <p:cNvSpPr/>
          <p:nvPr/>
        </p:nvSpPr>
        <p:spPr>
          <a:xfrm>
            <a:off x="594360" y="2898648"/>
            <a:ext cx="3749040" cy="45720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Ex. VTC : véhicule premium, service personnalisé, ponctualité, connaissance terrain</a:t>
            </a:r>
            <a:endParaRPr lang="en-US" sz="800" dirty="0"/>
          </a:p>
        </p:txBody>
      </p:sp>
      <p:sp>
        <p:nvSpPr>
          <p:cNvPr id="12" name="Shape 10"/>
          <p:cNvSpPr/>
          <p:nvPr/>
        </p:nvSpPr>
        <p:spPr>
          <a:xfrm>
            <a:off x="4754880" y="2514600"/>
            <a:ext cx="4023360" cy="9601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3" name="Shape 11"/>
          <p:cNvSpPr/>
          <p:nvPr/>
        </p:nvSpPr>
        <p:spPr>
          <a:xfrm>
            <a:off x="4754880" y="2514600"/>
            <a:ext cx="4023360" cy="54864"/>
          </a:xfrm>
          <a:prstGeom prst="rect">
            <a:avLst/>
          </a:prstGeom>
          <a:solidFill>
            <a:srgbClr val="C53030"/>
          </a:solidFill>
          <a:ln/>
        </p:spPr>
        <p:txBody>
          <a:bodyPr/>
          <a:lstStyle/>
          <a:p>
            <a:endParaRPr lang="fr-FR"/>
          </a:p>
        </p:txBody>
      </p:sp>
      <p:sp>
        <p:nvSpPr>
          <p:cNvPr id="14" name="Text 12"/>
          <p:cNvSpPr/>
          <p:nvPr/>
        </p:nvSpPr>
        <p:spPr>
          <a:xfrm>
            <a:off x="4892040" y="2624328"/>
            <a:ext cx="3749040" cy="228600"/>
          </a:xfrm>
          <a:prstGeom prst="rect">
            <a:avLst/>
          </a:prstGeom>
          <a:noFill/>
          <a:ln/>
        </p:spPr>
        <p:txBody>
          <a:bodyPr wrap="square" lIns="0" tIns="0" rIns="0" bIns="0" rtlCol="0" anchor="ctr"/>
          <a:lstStyle/>
          <a:p>
            <a:pPr marL="0" indent="0">
              <a:buNone/>
            </a:pPr>
            <a:r>
              <a:rPr lang="en-US" sz="1000" b="1" dirty="0">
                <a:solidFill>
                  <a:srgbClr val="C53030"/>
                </a:solidFill>
                <a:latin typeface="Calibri" pitchFamily="34" charset="0"/>
                <a:ea typeface="Calibri" pitchFamily="34" charset="-122"/>
                <a:cs typeface="Calibri" pitchFamily="34" charset="-120"/>
              </a:rPr>
              <a:t>W — Faiblesses</a:t>
            </a:r>
            <a:endParaRPr lang="en-US" sz="1000" dirty="0"/>
          </a:p>
        </p:txBody>
      </p:sp>
      <p:sp>
        <p:nvSpPr>
          <p:cNvPr id="15" name="Text 13"/>
          <p:cNvSpPr/>
          <p:nvPr/>
        </p:nvSpPr>
        <p:spPr>
          <a:xfrm>
            <a:off x="4892040" y="2898648"/>
            <a:ext cx="3749040" cy="45720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Ex. VTC : coûts fixes élevés, dépendance aux plateformes, travail seul</a:t>
            </a:r>
            <a:endParaRPr lang="en-US" sz="800" dirty="0"/>
          </a:p>
        </p:txBody>
      </p:sp>
      <p:sp>
        <p:nvSpPr>
          <p:cNvPr id="16" name="Shape 14"/>
          <p:cNvSpPr/>
          <p:nvPr/>
        </p:nvSpPr>
        <p:spPr>
          <a:xfrm>
            <a:off x="457200" y="3611880"/>
            <a:ext cx="4023360" cy="9601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7" name="Shape 15"/>
          <p:cNvSpPr/>
          <p:nvPr/>
        </p:nvSpPr>
        <p:spPr>
          <a:xfrm>
            <a:off x="457200" y="3611880"/>
            <a:ext cx="4023360" cy="54864"/>
          </a:xfrm>
          <a:prstGeom prst="rect">
            <a:avLst/>
          </a:prstGeom>
          <a:solidFill>
            <a:srgbClr val="2B6CB0"/>
          </a:solidFill>
          <a:ln/>
        </p:spPr>
        <p:txBody>
          <a:bodyPr/>
          <a:lstStyle/>
          <a:p>
            <a:endParaRPr lang="fr-FR"/>
          </a:p>
        </p:txBody>
      </p:sp>
      <p:sp>
        <p:nvSpPr>
          <p:cNvPr id="18" name="Text 16"/>
          <p:cNvSpPr/>
          <p:nvPr/>
        </p:nvSpPr>
        <p:spPr>
          <a:xfrm>
            <a:off x="594360" y="3721608"/>
            <a:ext cx="3749040" cy="228600"/>
          </a:xfrm>
          <a:prstGeom prst="rect">
            <a:avLst/>
          </a:prstGeom>
          <a:noFill/>
          <a:ln/>
        </p:spPr>
        <p:txBody>
          <a:bodyPr wrap="square" lIns="0" tIns="0" rIns="0" bIns="0" rtlCol="0" anchor="ctr"/>
          <a:lstStyle/>
          <a:p>
            <a:pPr marL="0" indent="0">
              <a:buNone/>
            </a:pPr>
            <a:r>
              <a:rPr lang="en-US" sz="1000" b="1" dirty="0">
                <a:solidFill>
                  <a:srgbClr val="2B6CB0"/>
                </a:solidFill>
                <a:latin typeface="Calibri" pitchFamily="34" charset="0"/>
                <a:ea typeface="Calibri" pitchFamily="34" charset="-122"/>
                <a:cs typeface="Calibri" pitchFamily="34" charset="-120"/>
              </a:rPr>
              <a:t>O — Opportunités</a:t>
            </a:r>
            <a:endParaRPr lang="en-US" sz="1000" dirty="0"/>
          </a:p>
        </p:txBody>
      </p:sp>
      <p:sp>
        <p:nvSpPr>
          <p:cNvPr id="19" name="Text 17"/>
          <p:cNvSpPr/>
          <p:nvPr/>
        </p:nvSpPr>
        <p:spPr>
          <a:xfrm>
            <a:off x="594360" y="3995928"/>
            <a:ext cx="3749040" cy="45720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Ex. VTC : tourisme croissant, événementiel, partenariats entreprises, transport PMR</a:t>
            </a:r>
            <a:endParaRPr lang="en-US" sz="800" dirty="0"/>
          </a:p>
        </p:txBody>
      </p:sp>
      <p:sp>
        <p:nvSpPr>
          <p:cNvPr id="20" name="Shape 18"/>
          <p:cNvSpPr/>
          <p:nvPr/>
        </p:nvSpPr>
        <p:spPr>
          <a:xfrm>
            <a:off x="4754880" y="3611880"/>
            <a:ext cx="4023360" cy="9601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21" name="Shape 19"/>
          <p:cNvSpPr/>
          <p:nvPr/>
        </p:nvSpPr>
        <p:spPr>
          <a:xfrm>
            <a:off x="4754880" y="3611880"/>
            <a:ext cx="4023360" cy="54864"/>
          </a:xfrm>
          <a:prstGeom prst="rect">
            <a:avLst/>
          </a:prstGeom>
          <a:solidFill>
            <a:srgbClr val="C05621"/>
          </a:solidFill>
          <a:ln/>
        </p:spPr>
        <p:txBody>
          <a:bodyPr/>
          <a:lstStyle/>
          <a:p>
            <a:endParaRPr lang="fr-FR"/>
          </a:p>
        </p:txBody>
      </p:sp>
      <p:sp>
        <p:nvSpPr>
          <p:cNvPr id="22" name="Text 20"/>
          <p:cNvSpPr/>
          <p:nvPr/>
        </p:nvSpPr>
        <p:spPr>
          <a:xfrm>
            <a:off x="4892040" y="3721608"/>
            <a:ext cx="3749040" cy="228600"/>
          </a:xfrm>
          <a:prstGeom prst="rect">
            <a:avLst/>
          </a:prstGeom>
          <a:noFill/>
          <a:ln/>
        </p:spPr>
        <p:txBody>
          <a:bodyPr wrap="square" lIns="0" tIns="0" rIns="0" bIns="0" rtlCol="0" anchor="ctr"/>
          <a:lstStyle/>
          <a:p>
            <a:pPr marL="0" indent="0">
              <a:buNone/>
            </a:pPr>
            <a:r>
              <a:rPr lang="en-US" sz="1000" b="1" dirty="0">
                <a:solidFill>
                  <a:srgbClr val="C05621"/>
                </a:solidFill>
                <a:latin typeface="Calibri" pitchFamily="34" charset="0"/>
                <a:ea typeface="Calibri" pitchFamily="34" charset="-122"/>
                <a:cs typeface="Calibri" pitchFamily="34" charset="-120"/>
              </a:rPr>
              <a:t>T — Menaces</a:t>
            </a:r>
            <a:endParaRPr lang="en-US" sz="1000" dirty="0"/>
          </a:p>
        </p:txBody>
      </p:sp>
      <p:sp>
        <p:nvSpPr>
          <p:cNvPr id="23" name="Text 21"/>
          <p:cNvSpPr/>
          <p:nvPr/>
        </p:nvSpPr>
        <p:spPr>
          <a:xfrm>
            <a:off x="4892040" y="3995928"/>
            <a:ext cx="3749040" cy="45720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Ex. VTC : concurrence plateformes, hausse carburant, réglementation changeante</a:t>
            </a:r>
            <a:endParaRPr lang="en-US" sz="800" dirty="0"/>
          </a:p>
        </p:txBody>
      </p:sp>
      <p:sp>
        <p:nvSpPr>
          <p:cNvPr id="24" name="Shape 22"/>
          <p:cNvSpPr/>
          <p:nvPr/>
        </p:nvSpPr>
        <p:spPr>
          <a:xfrm>
            <a:off x="0" y="4823460"/>
            <a:ext cx="9144000" cy="320040"/>
          </a:xfrm>
          <a:prstGeom prst="rect">
            <a:avLst/>
          </a:prstGeom>
          <a:solidFill>
            <a:srgbClr val="1A1F2E"/>
          </a:solidFill>
          <a:ln/>
        </p:spPr>
        <p:txBody>
          <a:bodyPr/>
          <a:lstStyle/>
          <a:p>
            <a:endParaRPr lang="fr-FR"/>
          </a:p>
        </p:txBody>
      </p:sp>
      <p:sp>
        <p:nvSpPr>
          <p:cNvPr id="25" name="Text 23"/>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26" name="Text 24"/>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MODULE 2 — OUTILS D'ANALYSE</a:t>
            </a:r>
            <a:endParaRPr lang="en-US" sz="9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1800" b="1" dirty="0">
                <a:solidFill>
                  <a:srgbClr val="1A202C"/>
                </a:solidFill>
                <a:latin typeface="Georgia" pitchFamily="34" charset="0"/>
                <a:ea typeface="Georgia" pitchFamily="34" charset="-122"/>
                <a:cs typeface="Georgia" pitchFamily="34" charset="-120"/>
              </a:rPr>
              <a:t>Les 5 forces de Porter</a:t>
            </a:r>
            <a:endParaRPr lang="en-US" sz="1800" dirty="0"/>
          </a:p>
        </p:txBody>
      </p:sp>
      <p:sp>
        <p:nvSpPr>
          <p:cNvPr id="5" name="Shape 3"/>
          <p:cNvSpPr/>
          <p:nvPr/>
        </p:nvSpPr>
        <p:spPr>
          <a:xfrm>
            <a:off x="457200" y="1234440"/>
            <a:ext cx="8229600" cy="822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6" name="Text 4"/>
          <p:cNvSpPr/>
          <p:nvPr/>
        </p:nvSpPr>
        <p:spPr>
          <a:xfrm>
            <a:off x="640080" y="1280160"/>
            <a:ext cx="7863840" cy="685800"/>
          </a:xfrm>
          <a:prstGeom prst="rect">
            <a:avLst/>
          </a:prstGeom>
          <a:noFill/>
          <a:ln/>
        </p:spPr>
        <p:txBody>
          <a:bodyPr wrap="square" rtlCol="0" anchor="ctr"/>
          <a:lstStyle/>
          <a:p>
            <a:pPr marL="0" indent="0">
              <a:buNone/>
            </a:pPr>
            <a:r>
              <a:rPr lang="en-US" sz="850" dirty="0">
                <a:solidFill>
                  <a:srgbClr val="1A202C"/>
                </a:solidFill>
                <a:latin typeface="Calibri" pitchFamily="34" charset="0"/>
                <a:ea typeface="Calibri" pitchFamily="34" charset="-122"/>
                <a:cs typeface="Calibri" pitchFamily="34" charset="-120"/>
              </a:rPr>
              <a:t>Le modèle des 5 forces de Porter est un outil d'analyse de l'environnement concurrentiel de l'entreprise. Avant de créer un produit ou service, il est important d'analyser les 5 forces : cela va permettre de connaître les risques et les avantages du marché, de s'adapter et ajuster sa stratégie et d'obtenir des avantages par rapport à la concurrence.</a:t>
            </a:r>
            <a:endParaRPr lang="en-US" sz="850" dirty="0"/>
          </a:p>
        </p:txBody>
      </p:sp>
      <p:sp>
        <p:nvSpPr>
          <p:cNvPr id="7" name="Shape 5"/>
          <p:cNvSpPr/>
          <p:nvPr/>
        </p:nvSpPr>
        <p:spPr>
          <a:xfrm>
            <a:off x="457200" y="2240280"/>
            <a:ext cx="8229600" cy="457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8" name="Shape 6"/>
          <p:cNvSpPr/>
          <p:nvPr/>
        </p:nvSpPr>
        <p:spPr>
          <a:xfrm>
            <a:off x="457200" y="2240280"/>
            <a:ext cx="54864" cy="457200"/>
          </a:xfrm>
          <a:prstGeom prst="rect">
            <a:avLst/>
          </a:prstGeom>
          <a:solidFill>
            <a:srgbClr val="0B5563"/>
          </a:solidFill>
          <a:ln/>
        </p:spPr>
        <p:txBody>
          <a:bodyPr/>
          <a:lstStyle/>
          <a:p>
            <a:endParaRPr lang="fr-FR"/>
          </a:p>
        </p:txBody>
      </p:sp>
      <p:sp>
        <p:nvSpPr>
          <p:cNvPr id="9" name="Text 7"/>
          <p:cNvSpPr/>
          <p:nvPr/>
        </p:nvSpPr>
        <p:spPr>
          <a:xfrm>
            <a:off x="685800" y="2258568"/>
            <a:ext cx="3200400" cy="201168"/>
          </a:xfrm>
          <a:prstGeom prst="rect">
            <a:avLst/>
          </a:prstGeom>
          <a:noFill/>
          <a:ln/>
        </p:spPr>
        <p:txBody>
          <a:bodyPr wrap="square" lIns="0" tIns="0" rIns="0" bIns="0" rtlCol="0" anchor="ctr"/>
          <a:lstStyle/>
          <a:p>
            <a:pPr marL="0" indent="0">
              <a:buNone/>
            </a:pPr>
            <a:r>
              <a:rPr lang="en-US" sz="950" b="1" dirty="0">
                <a:solidFill>
                  <a:srgbClr val="0B5563"/>
                </a:solidFill>
                <a:latin typeface="Calibri" pitchFamily="34" charset="0"/>
                <a:ea typeface="Calibri" pitchFamily="34" charset="-122"/>
                <a:cs typeface="Calibri" pitchFamily="34" charset="-120"/>
              </a:rPr>
              <a:t>1. Concurrents actuels</a:t>
            </a:r>
            <a:endParaRPr lang="en-US" sz="950" dirty="0"/>
          </a:p>
        </p:txBody>
      </p:sp>
      <p:sp>
        <p:nvSpPr>
          <p:cNvPr id="10" name="Text 8"/>
          <p:cNvSpPr/>
          <p:nvPr/>
        </p:nvSpPr>
        <p:spPr>
          <a:xfrm>
            <a:off x="685800" y="2468880"/>
            <a:ext cx="7772400" cy="201168"/>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Regarder l'état de la concurrence actuelle, quels sont leurs moyens ?</a:t>
            </a:r>
            <a:endParaRPr lang="en-US" sz="800" dirty="0"/>
          </a:p>
        </p:txBody>
      </p:sp>
      <p:sp>
        <p:nvSpPr>
          <p:cNvPr id="11" name="Shape 9"/>
          <p:cNvSpPr/>
          <p:nvPr/>
        </p:nvSpPr>
        <p:spPr>
          <a:xfrm>
            <a:off x="457200" y="2788920"/>
            <a:ext cx="8229600" cy="457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2" name="Shape 10"/>
          <p:cNvSpPr/>
          <p:nvPr/>
        </p:nvSpPr>
        <p:spPr>
          <a:xfrm>
            <a:off x="457200" y="2788920"/>
            <a:ext cx="54864" cy="457200"/>
          </a:xfrm>
          <a:prstGeom prst="rect">
            <a:avLst/>
          </a:prstGeom>
          <a:solidFill>
            <a:srgbClr val="C53030"/>
          </a:solidFill>
          <a:ln/>
        </p:spPr>
        <p:txBody>
          <a:bodyPr/>
          <a:lstStyle/>
          <a:p>
            <a:endParaRPr lang="fr-FR"/>
          </a:p>
        </p:txBody>
      </p:sp>
      <p:sp>
        <p:nvSpPr>
          <p:cNvPr id="13" name="Text 11"/>
          <p:cNvSpPr/>
          <p:nvPr/>
        </p:nvSpPr>
        <p:spPr>
          <a:xfrm>
            <a:off x="685800" y="2807208"/>
            <a:ext cx="3200400" cy="201168"/>
          </a:xfrm>
          <a:prstGeom prst="rect">
            <a:avLst/>
          </a:prstGeom>
          <a:noFill/>
          <a:ln/>
        </p:spPr>
        <p:txBody>
          <a:bodyPr wrap="square" lIns="0" tIns="0" rIns="0" bIns="0" rtlCol="0" anchor="ctr"/>
          <a:lstStyle/>
          <a:p>
            <a:pPr marL="0" indent="0">
              <a:buNone/>
            </a:pPr>
            <a:r>
              <a:rPr lang="en-US" sz="950" b="1" dirty="0">
                <a:solidFill>
                  <a:srgbClr val="C53030"/>
                </a:solidFill>
                <a:latin typeface="Calibri" pitchFamily="34" charset="0"/>
                <a:ea typeface="Calibri" pitchFamily="34" charset="-122"/>
                <a:cs typeface="Calibri" pitchFamily="34" charset="-120"/>
              </a:rPr>
              <a:t>2. Menace des nouveaux entrants</a:t>
            </a:r>
            <a:endParaRPr lang="en-US" sz="950" dirty="0"/>
          </a:p>
        </p:txBody>
      </p:sp>
      <p:sp>
        <p:nvSpPr>
          <p:cNvPr id="14" name="Text 12"/>
          <p:cNvSpPr/>
          <p:nvPr/>
        </p:nvSpPr>
        <p:spPr>
          <a:xfrm>
            <a:off x="685800" y="3017520"/>
            <a:ext cx="7772400" cy="201168"/>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Des entreprises concurrentes peuvent venir par la suite, il est important d'anticiper ces menaces.</a:t>
            </a:r>
            <a:endParaRPr lang="en-US" sz="800" dirty="0"/>
          </a:p>
        </p:txBody>
      </p:sp>
      <p:sp>
        <p:nvSpPr>
          <p:cNvPr id="15" name="Shape 13"/>
          <p:cNvSpPr/>
          <p:nvPr/>
        </p:nvSpPr>
        <p:spPr>
          <a:xfrm>
            <a:off x="457200" y="3337560"/>
            <a:ext cx="8229600" cy="457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6" name="Shape 14"/>
          <p:cNvSpPr/>
          <p:nvPr/>
        </p:nvSpPr>
        <p:spPr>
          <a:xfrm>
            <a:off x="457200" y="3337560"/>
            <a:ext cx="54864" cy="457200"/>
          </a:xfrm>
          <a:prstGeom prst="rect">
            <a:avLst/>
          </a:prstGeom>
          <a:solidFill>
            <a:srgbClr val="C05621"/>
          </a:solidFill>
          <a:ln/>
        </p:spPr>
        <p:txBody>
          <a:bodyPr/>
          <a:lstStyle/>
          <a:p>
            <a:endParaRPr lang="fr-FR"/>
          </a:p>
        </p:txBody>
      </p:sp>
      <p:sp>
        <p:nvSpPr>
          <p:cNvPr id="17" name="Text 15"/>
          <p:cNvSpPr/>
          <p:nvPr/>
        </p:nvSpPr>
        <p:spPr>
          <a:xfrm>
            <a:off x="685800" y="3355848"/>
            <a:ext cx="3200400" cy="201168"/>
          </a:xfrm>
          <a:prstGeom prst="rect">
            <a:avLst/>
          </a:prstGeom>
          <a:noFill/>
          <a:ln/>
        </p:spPr>
        <p:txBody>
          <a:bodyPr wrap="square" lIns="0" tIns="0" rIns="0" bIns="0" rtlCol="0" anchor="ctr"/>
          <a:lstStyle/>
          <a:p>
            <a:pPr marL="0" indent="0">
              <a:buNone/>
            </a:pPr>
            <a:r>
              <a:rPr lang="en-US" sz="950" b="1" dirty="0">
                <a:solidFill>
                  <a:srgbClr val="C05621"/>
                </a:solidFill>
                <a:latin typeface="Calibri" pitchFamily="34" charset="0"/>
                <a:ea typeface="Calibri" pitchFamily="34" charset="-122"/>
                <a:cs typeface="Calibri" pitchFamily="34" charset="-120"/>
              </a:rPr>
              <a:t>3. Menace des produits de substitution</a:t>
            </a:r>
            <a:endParaRPr lang="en-US" sz="950" dirty="0"/>
          </a:p>
        </p:txBody>
      </p:sp>
      <p:sp>
        <p:nvSpPr>
          <p:cNvPr id="18" name="Text 16"/>
          <p:cNvSpPr/>
          <p:nvPr/>
        </p:nvSpPr>
        <p:spPr>
          <a:xfrm>
            <a:off x="685800" y="3566160"/>
            <a:ext cx="7772400" cy="201168"/>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Des produits concurrents peuvent apparaître (covoiturage, trottinettes…), il faut anticiper.</a:t>
            </a:r>
            <a:endParaRPr lang="en-US" sz="800" dirty="0"/>
          </a:p>
        </p:txBody>
      </p:sp>
      <p:sp>
        <p:nvSpPr>
          <p:cNvPr id="19" name="Shape 17"/>
          <p:cNvSpPr/>
          <p:nvPr/>
        </p:nvSpPr>
        <p:spPr>
          <a:xfrm>
            <a:off x="457200" y="3886200"/>
            <a:ext cx="8229600" cy="457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20" name="Shape 18"/>
          <p:cNvSpPr/>
          <p:nvPr/>
        </p:nvSpPr>
        <p:spPr>
          <a:xfrm>
            <a:off x="457200" y="3886200"/>
            <a:ext cx="54864" cy="457200"/>
          </a:xfrm>
          <a:prstGeom prst="rect">
            <a:avLst/>
          </a:prstGeom>
          <a:solidFill>
            <a:srgbClr val="2B6CB0"/>
          </a:solidFill>
          <a:ln/>
        </p:spPr>
        <p:txBody>
          <a:bodyPr/>
          <a:lstStyle/>
          <a:p>
            <a:endParaRPr lang="fr-FR"/>
          </a:p>
        </p:txBody>
      </p:sp>
      <p:sp>
        <p:nvSpPr>
          <p:cNvPr id="21" name="Text 19"/>
          <p:cNvSpPr/>
          <p:nvPr/>
        </p:nvSpPr>
        <p:spPr>
          <a:xfrm>
            <a:off x="685800" y="3904488"/>
            <a:ext cx="3200400" cy="201168"/>
          </a:xfrm>
          <a:prstGeom prst="rect">
            <a:avLst/>
          </a:prstGeom>
          <a:noFill/>
          <a:ln/>
        </p:spPr>
        <p:txBody>
          <a:bodyPr wrap="square" lIns="0" tIns="0" rIns="0" bIns="0" rtlCol="0" anchor="ctr"/>
          <a:lstStyle/>
          <a:p>
            <a:pPr marL="0" indent="0">
              <a:buNone/>
            </a:pPr>
            <a:r>
              <a:rPr lang="en-US" sz="950" b="1" dirty="0">
                <a:solidFill>
                  <a:srgbClr val="2B6CB0"/>
                </a:solidFill>
                <a:latin typeface="Calibri" pitchFamily="34" charset="0"/>
                <a:ea typeface="Calibri" pitchFamily="34" charset="-122"/>
                <a:cs typeface="Calibri" pitchFamily="34" charset="-120"/>
              </a:rPr>
              <a:t>4. Pouvoir des fournisseurs</a:t>
            </a:r>
            <a:endParaRPr lang="en-US" sz="950" dirty="0"/>
          </a:p>
        </p:txBody>
      </p:sp>
      <p:sp>
        <p:nvSpPr>
          <p:cNvPr id="22" name="Text 20"/>
          <p:cNvSpPr/>
          <p:nvPr/>
        </p:nvSpPr>
        <p:spPr>
          <a:xfrm>
            <a:off x="685800" y="4114800"/>
            <a:ext cx="7772400" cy="201168"/>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S'il n'y a pas beaucoup de fournisseurs, on aura des difficultés à négocier tarifs et volumes. Le fournisseur est en position de force.</a:t>
            </a:r>
            <a:endParaRPr lang="en-US" sz="800" dirty="0"/>
          </a:p>
        </p:txBody>
      </p:sp>
      <p:sp>
        <p:nvSpPr>
          <p:cNvPr id="23" name="Shape 21"/>
          <p:cNvSpPr/>
          <p:nvPr/>
        </p:nvSpPr>
        <p:spPr>
          <a:xfrm>
            <a:off x="457200" y="4434840"/>
            <a:ext cx="8229600" cy="457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24" name="Shape 22"/>
          <p:cNvSpPr/>
          <p:nvPr/>
        </p:nvSpPr>
        <p:spPr>
          <a:xfrm>
            <a:off x="457200" y="4434840"/>
            <a:ext cx="54864" cy="457200"/>
          </a:xfrm>
          <a:prstGeom prst="rect">
            <a:avLst/>
          </a:prstGeom>
          <a:solidFill>
            <a:srgbClr val="0D9488"/>
          </a:solidFill>
          <a:ln/>
        </p:spPr>
        <p:txBody>
          <a:bodyPr/>
          <a:lstStyle/>
          <a:p>
            <a:endParaRPr lang="fr-FR"/>
          </a:p>
        </p:txBody>
      </p:sp>
      <p:sp>
        <p:nvSpPr>
          <p:cNvPr id="25" name="Text 23"/>
          <p:cNvSpPr/>
          <p:nvPr/>
        </p:nvSpPr>
        <p:spPr>
          <a:xfrm>
            <a:off x="685800" y="4453128"/>
            <a:ext cx="3200400" cy="201168"/>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5. Pouvoir des clients</a:t>
            </a:r>
            <a:endParaRPr lang="en-US" sz="950" dirty="0"/>
          </a:p>
        </p:txBody>
      </p:sp>
      <p:sp>
        <p:nvSpPr>
          <p:cNvPr id="26" name="Text 24"/>
          <p:cNvSpPr/>
          <p:nvPr/>
        </p:nvSpPr>
        <p:spPr>
          <a:xfrm>
            <a:off x="685800" y="4663440"/>
            <a:ext cx="7772400" cy="201168"/>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Quelles sont les conditions et exigences des clients ? Le client peut imposer ses conditions (comparaison via applis, sensibilité au prix).</a:t>
            </a:r>
            <a:endParaRPr lang="en-US" sz="800" dirty="0"/>
          </a:p>
        </p:txBody>
      </p:sp>
      <p:sp>
        <p:nvSpPr>
          <p:cNvPr id="27" name="Shape 25"/>
          <p:cNvSpPr/>
          <p:nvPr/>
        </p:nvSpPr>
        <p:spPr>
          <a:xfrm>
            <a:off x="0" y="4823460"/>
            <a:ext cx="9144000" cy="320040"/>
          </a:xfrm>
          <a:prstGeom prst="rect">
            <a:avLst/>
          </a:prstGeom>
          <a:solidFill>
            <a:srgbClr val="1A1F2E"/>
          </a:solidFill>
          <a:ln/>
        </p:spPr>
        <p:txBody>
          <a:bodyPr/>
          <a:lstStyle/>
          <a:p>
            <a:endParaRPr lang="fr-FR"/>
          </a:p>
        </p:txBody>
      </p:sp>
      <p:sp>
        <p:nvSpPr>
          <p:cNvPr id="28" name="Text 26"/>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29" name="Text 27"/>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MODULE 2 — OUTILS D'ANALYSE</a:t>
            </a:r>
            <a:endParaRPr lang="en-US" sz="9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1800" b="1" dirty="0">
                <a:solidFill>
                  <a:srgbClr val="1A202C"/>
                </a:solidFill>
                <a:latin typeface="Georgia" pitchFamily="34" charset="0"/>
                <a:ea typeface="Georgia" pitchFamily="34" charset="-122"/>
                <a:cs typeface="Georgia" pitchFamily="34" charset="-120"/>
              </a:rPr>
              <a:t>L'analyse PESTEL</a:t>
            </a:r>
            <a:endParaRPr lang="en-US" sz="1800" dirty="0"/>
          </a:p>
        </p:txBody>
      </p:sp>
      <p:sp>
        <p:nvSpPr>
          <p:cNvPr id="5" name="Shape 3"/>
          <p:cNvSpPr/>
          <p:nvPr/>
        </p:nvSpPr>
        <p:spPr>
          <a:xfrm>
            <a:off x="457200" y="1234440"/>
            <a:ext cx="265176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6" name="Shape 4"/>
          <p:cNvSpPr/>
          <p:nvPr/>
        </p:nvSpPr>
        <p:spPr>
          <a:xfrm>
            <a:off x="594360" y="1371600"/>
            <a:ext cx="365760" cy="365760"/>
          </a:xfrm>
          <a:prstGeom prst="ellipse">
            <a:avLst/>
          </a:prstGeom>
          <a:solidFill>
            <a:srgbClr val="C53030"/>
          </a:solidFill>
          <a:ln/>
        </p:spPr>
        <p:txBody>
          <a:bodyPr/>
          <a:lstStyle/>
          <a:p>
            <a:endParaRPr lang="fr-FR"/>
          </a:p>
        </p:txBody>
      </p:sp>
      <p:sp>
        <p:nvSpPr>
          <p:cNvPr id="7" name="Text 5"/>
          <p:cNvSpPr/>
          <p:nvPr/>
        </p:nvSpPr>
        <p:spPr>
          <a:xfrm>
            <a:off x="594360" y="1371600"/>
            <a:ext cx="365760" cy="36576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P</a:t>
            </a:r>
            <a:endParaRPr lang="en-US" sz="1600" dirty="0"/>
          </a:p>
        </p:txBody>
      </p:sp>
      <p:sp>
        <p:nvSpPr>
          <p:cNvPr id="8" name="Text 6"/>
          <p:cNvSpPr/>
          <p:nvPr/>
        </p:nvSpPr>
        <p:spPr>
          <a:xfrm>
            <a:off x="1051560" y="1371600"/>
            <a:ext cx="1828800" cy="274320"/>
          </a:xfrm>
          <a:prstGeom prst="rect">
            <a:avLst/>
          </a:prstGeom>
          <a:noFill/>
          <a:ln/>
        </p:spPr>
        <p:txBody>
          <a:bodyPr wrap="square" lIns="0" tIns="0" rIns="0" bIns="0" rtlCol="0" anchor="ctr"/>
          <a:lstStyle/>
          <a:p>
            <a:pPr marL="0" indent="0">
              <a:buNone/>
            </a:pPr>
            <a:r>
              <a:rPr lang="en-US" sz="1000" b="1" dirty="0">
                <a:solidFill>
                  <a:srgbClr val="C53030"/>
                </a:solidFill>
                <a:latin typeface="Calibri" pitchFamily="34" charset="0"/>
                <a:ea typeface="Calibri" pitchFamily="34" charset="-122"/>
                <a:cs typeface="Calibri" pitchFamily="34" charset="-120"/>
              </a:rPr>
              <a:t>Politique</a:t>
            </a:r>
            <a:endParaRPr lang="en-US" sz="1000" dirty="0"/>
          </a:p>
        </p:txBody>
      </p:sp>
      <p:sp>
        <p:nvSpPr>
          <p:cNvPr id="9" name="Text 7"/>
          <p:cNvSpPr/>
          <p:nvPr/>
        </p:nvSpPr>
        <p:spPr>
          <a:xfrm>
            <a:off x="594360" y="1828800"/>
            <a:ext cx="2377440" cy="6400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Réglementation politique (lois VTC, carte professionnelle, ZUPC…)</a:t>
            </a:r>
            <a:endParaRPr lang="en-US" sz="750" dirty="0"/>
          </a:p>
        </p:txBody>
      </p:sp>
      <p:sp>
        <p:nvSpPr>
          <p:cNvPr id="10" name="Shape 8"/>
          <p:cNvSpPr/>
          <p:nvPr/>
        </p:nvSpPr>
        <p:spPr>
          <a:xfrm>
            <a:off x="3291840" y="1234440"/>
            <a:ext cx="265176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1" name="Shape 9"/>
          <p:cNvSpPr/>
          <p:nvPr/>
        </p:nvSpPr>
        <p:spPr>
          <a:xfrm>
            <a:off x="3429000" y="1371600"/>
            <a:ext cx="365760" cy="365760"/>
          </a:xfrm>
          <a:prstGeom prst="ellipse">
            <a:avLst/>
          </a:prstGeom>
          <a:solidFill>
            <a:srgbClr val="276749"/>
          </a:solidFill>
          <a:ln/>
        </p:spPr>
        <p:txBody>
          <a:bodyPr/>
          <a:lstStyle/>
          <a:p>
            <a:endParaRPr lang="fr-FR"/>
          </a:p>
        </p:txBody>
      </p:sp>
      <p:sp>
        <p:nvSpPr>
          <p:cNvPr id="12" name="Text 10"/>
          <p:cNvSpPr/>
          <p:nvPr/>
        </p:nvSpPr>
        <p:spPr>
          <a:xfrm>
            <a:off x="3429000" y="1371600"/>
            <a:ext cx="365760" cy="36576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E</a:t>
            </a:r>
            <a:endParaRPr lang="en-US" sz="1600" dirty="0"/>
          </a:p>
        </p:txBody>
      </p:sp>
      <p:sp>
        <p:nvSpPr>
          <p:cNvPr id="13" name="Text 11"/>
          <p:cNvSpPr/>
          <p:nvPr/>
        </p:nvSpPr>
        <p:spPr>
          <a:xfrm>
            <a:off x="3886200" y="1371600"/>
            <a:ext cx="1828800" cy="274320"/>
          </a:xfrm>
          <a:prstGeom prst="rect">
            <a:avLst/>
          </a:prstGeom>
          <a:noFill/>
          <a:ln/>
        </p:spPr>
        <p:txBody>
          <a:bodyPr wrap="square" lIns="0" tIns="0" rIns="0" bIns="0" rtlCol="0" anchor="ctr"/>
          <a:lstStyle/>
          <a:p>
            <a:pPr marL="0" indent="0">
              <a:buNone/>
            </a:pPr>
            <a:r>
              <a:rPr lang="en-US" sz="1000" b="1" dirty="0">
                <a:solidFill>
                  <a:srgbClr val="276749"/>
                </a:solidFill>
                <a:latin typeface="Calibri" pitchFamily="34" charset="0"/>
                <a:ea typeface="Calibri" pitchFamily="34" charset="-122"/>
                <a:cs typeface="Calibri" pitchFamily="34" charset="-120"/>
              </a:rPr>
              <a:t>Économique</a:t>
            </a:r>
            <a:endParaRPr lang="en-US" sz="1000" dirty="0"/>
          </a:p>
        </p:txBody>
      </p:sp>
      <p:sp>
        <p:nvSpPr>
          <p:cNvPr id="14" name="Text 12"/>
          <p:cNvSpPr/>
          <p:nvPr/>
        </p:nvSpPr>
        <p:spPr>
          <a:xfrm>
            <a:off x="3429000" y="1828800"/>
            <a:ext cx="2377440" cy="6400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État de santé macro-économique (taux de croissance, confiance des consommateurs, inflation…)</a:t>
            </a:r>
            <a:endParaRPr lang="en-US" sz="750" dirty="0"/>
          </a:p>
        </p:txBody>
      </p:sp>
      <p:sp>
        <p:nvSpPr>
          <p:cNvPr id="15" name="Shape 13"/>
          <p:cNvSpPr/>
          <p:nvPr/>
        </p:nvSpPr>
        <p:spPr>
          <a:xfrm>
            <a:off x="6126480" y="1234440"/>
            <a:ext cx="265176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6" name="Shape 14"/>
          <p:cNvSpPr/>
          <p:nvPr/>
        </p:nvSpPr>
        <p:spPr>
          <a:xfrm>
            <a:off x="6263640" y="1371600"/>
            <a:ext cx="365760" cy="365760"/>
          </a:xfrm>
          <a:prstGeom prst="ellipse">
            <a:avLst/>
          </a:prstGeom>
          <a:solidFill>
            <a:srgbClr val="2B6CB0"/>
          </a:solidFill>
          <a:ln/>
        </p:spPr>
        <p:txBody>
          <a:bodyPr/>
          <a:lstStyle/>
          <a:p>
            <a:endParaRPr lang="fr-FR"/>
          </a:p>
        </p:txBody>
      </p:sp>
      <p:sp>
        <p:nvSpPr>
          <p:cNvPr id="17" name="Text 15"/>
          <p:cNvSpPr/>
          <p:nvPr/>
        </p:nvSpPr>
        <p:spPr>
          <a:xfrm>
            <a:off x="6263640" y="1371600"/>
            <a:ext cx="365760" cy="36576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S</a:t>
            </a:r>
            <a:endParaRPr lang="en-US" sz="1600" dirty="0"/>
          </a:p>
        </p:txBody>
      </p:sp>
      <p:sp>
        <p:nvSpPr>
          <p:cNvPr id="18" name="Text 16"/>
          <p:cNvSpPr/>
          <p:nvPr/>
        </p:nvSpPr>
        <p:spPr>
          <a:xfrm>
            <a:off x="6720840" y="1371600"/>
            <a:ext cx="1828800" cy="274320"/>
          </a:xfrm>
          <a:prstGeom prst="rect">
            <a:avLst/>
          </a:prstGeom>
          <a:noFill/>
          <a:ln/>
        </p:spPr>
        <p:txBody>
          <a:bodyPr wrap="square" lIns="0" tIns="0" rIns="0" bIns="0" rtlCol="0" anchor="ctr"/>
          <a:lstStyle/>
          <a:p>
            <a:pPr marL="0" indent="0">
              <a:buNone/>
            </a:pPr>
            <a:r>
              <a:rPr lang="en-US" sz="1000" b="1" dirty="0">
                <a:solidFill>
                  <a:srgbClr val="2B6CB0"/>
                </a:solidFill>
                <a:latin typeface="Calibri" pitchFamily="34" charset="0"/>
                <a:ea typeface="Calibri" pitchFamily="34" charset="-122"/>
                <a:cs typeface="Calibri" pitchFamily="34" charset="-120"/>
              </a:rPr>
              <a:t>Social</a:t>
            </a:r>
            <a:endParaRPr lang="en-US" sz="1000" dirty="0"/>
          </a:p>
        </p:txBody>
      </p:sp>
      <p:sp>
        <p:nvSpPr>
          <p:cNvPr id="19" name="Text 17"/>
          <p:cNvSpPr/>
          <p:nvPr/>
        </p:nvSpPr>
        <p:spPr>
          <a:xfrm>
            <a:off x="6263640" y="1828800"/>
            <a:ext cx="2377440" cy="6400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Évolution de la population et de ses caractéristiques (démographie, pyramide des âges, nouveaux comportements socioculturels…) générant de nouveaux comportements d'achats.</a:t>
            </a:r>
            <a:endParaRPr lang="en-US" sz="750" dirty="0"/>
          </a:p>
        </p:txBody>
      </p:sp>
      <p:sp>
        <p:nvSpPr>
          <p:cNvPr id="20" name="Shape 18"/>
          <p:cNvSpPr/>
          <p:nvPr/>
        </p:nvSpPr>
        <p:spPr>
          <a:xfrm>
            <a:off x="457200" y="2788920"/>
            <a:ext cx="265176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21" name="Shape 19"/>
          <p:cNvSpPr/>
          <p:nvPr/>
        </p:nvSpPr>
        <p:spPr>
          <a:xfrm>
            <a:off x="594360" y="2926080"/>
            <a:ext cx="365760" cy="365760"/>
          </a:xfrm>
          <a:prstGeom prst="ellipse">
            <a:avLst/>
          </a:prstGeom>
          <a:solidFill>
            <a:srgbClr val="0D9488"/>
          </a:solidFill>
          <a:ln/>
        </p:spPr>
        <p:txBody>
          <a:bodyPr/>
          <a:lstStyle/>
          <a:p>
            <a:endParaRPr lang="fr-FR"/>
          </a:p>
        </p:txBody>
      </p:sp>
      <p:sp>
        <p:nvSpPr>
          <p:cNvPr id="22" name="Text 20"/>
          <p:cNvSpPr/>
          <p:nvPr/>
        </p:nvSpPr>
        <p:spPr>
          <a:xfrm>
            <a:off x="594360" y="2926080"/>
            <a:ext cx="365760" cy="36576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T</a:t>
            </a:r>
            <a:endParaRPr lang="en-US" sz="1600" dirty="0"/>
          </a:p>
        </p:txBody>
      </p:sp>
      <p:sp>
        <p:nvSpPr>
          <p:cNvPr id="23" name="Text 21"/>
          <p:cNvSpPr/>
          <p:nvPr/>
        </p:nvSpPr>
        <p:spPr>
          <a:xfrm>
            <a:off x="1051560" y="2926080"/>
            <a:ext cx="1828800" cy="27432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Technologique</a:t>
            </a:r>
            <a:endParaRPr lang="en-US" sz="1000" dirty="0"/>
          </a:p>
        </p:txBody>
      </p:sp>
      <p:sp>
        <p:nvSpPr>
          <p:cNvPr id="24" name="Text 22"/>
          <p:cNvSpPr/>
          <p:nvPr/>
        </p:nvSpPr>
        <p:spPr>
          <a:xfrm>
            <a:off x="594360" y="3383280"/>
            <a:ext cx="2377440" cy="6400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Avancées et innovations technologiques qui viennent fragiliser le leadership technique des acteurs en présence (applis, GPS, véhicules électriques…).</a:t>
            </a:r>
            <a:endParaRPr lang="en-US" sz="750" dirty="0"/>
          </a:p>
        </p:txBody>
      </p:sp>
      <p:sp>
        <p:nvSpPr>
          <p:cNvPr id="25" name="Shape 23"/>
          <p:cNvSpPr/>
          <p:nvPr/>
        </p:nvSpPr>
        <p:spPr>
          <a:xfrm>
            <a:off x="3291840" y="2788920"/>
            <a:ext cx="265176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26" name="Shape 24"/>
          <p:cNvSpPr/>
          <p:nvPr/>
        </p:nvSpPr>
        <p:spPr>
          <a:xfrm>
            <a:off x="3429000" y="2926080"/>
            <a:ext cx="365760" cy="365760"/>
          </a:xfrm>
          <a:prstGeom prst="ellipse">
            <a:avLst/>
          </a:prstGeom>
          <a:solidFill>
            <a:srgbClr val="276749"/>
          </a:solidFill>
          <a:ln/>
        </p:spPr>
        <p:txBody>
          <a:bodyPr/>
          <a:lstStyle/>
          <a:p>
            <a:endParaRPr lang="fr-FR"/>
          </a:p>
        </p:txBody>
      </p:sp>
      <p:sp>
        <p:nvSpPr>
          <p:cNvPr id="27" name="Text 25"/>
          <p:cNvSpPr/>
          <p:nvPr/>
        </p:nvSpPr>
        <p:spPr>
          <a:xfrm>
            <a:off x="3429000" y="2926080"/>
            <a:ext cx="365760" cy="36576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E</a:t>
            </a:r>
            <a:endParaRPr lang="en-US" sz="1600" dirty="0"/>
          </a:p>
        </p:txBody>
      </p:sp>
      <p:sp>
        <p:nvSpPr>
          <p:cNvPr id="28" name="Text 26"/>
          <p:cNvSpPr/>
          <p:nvPr/>
        </p:nvSpPr>
        <p:spPr>
          <a:xfrm>
            <a:off x="3886200" y="2926080"/>
            <a:ext cx="1828800" cy="274320"/>
          </a:xfrm>
          <a:prstGeom prst="rect">
            <a:avLst/>
          </a:prstGeom>
          <a:noFill/>
          <a:ln/>
        </p:spPr>
        <p:txBody>
          <a:bodyPr wrap="square" lIns="0" tIns="0" rIns="0" bIns="0" rtlCol="0" anchor="ctr"/>
          <a:lstStyle/>
          <a:p>
            <a:pPr marL="0" indent="0">
              <a:buNone/>
            </a:pPr>
            <a:r>
              <a:rPr lang="en-US" sz="1000" b="1" dirty="0">
                <a:solidFill>
                  <a:srgbClr val="276749"/>
                </a:solidFill>
                <a:latin typeface="Calibri" pitchFamily="34" charset="0"/>
                <a:ea typeface="Calibri" pitchFamily="34" charset="-122"/>
                <a:cs typeface="Calibri" pitchFamily="34" charset="-120"/>
              </a:rPr>
              <a:t>Écologique</a:t>
            </a:r>
            <a:endParaRPr lang="en-US" sz="1000" dirty="0"/>
          </a:p>
        </p:txBody>
      </p:sp>
      <p:sp>
        <p:nvSpPr>
          <p:cNvPr id="29" name="Text 27"/>
          <p:cNvSpPr/>
          <p:nvPr/>
        </p:nvSpPr>
        <p:spPr>
          <a:xfrm>
            <a:off x="3429000" y="3383280"/>
            <a:ext cx="2377440" cy="6400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Réglementations et contraintes écologiques, nouvelles normes édictées par les positions prises en matière de développement durable (ZFE, CRIT'AIR…).</a:t>
            </a:r>
            <a:endParaRPr lang="en-US" sz="750" dirty="0"/>
          </a:p>
        </p:txBody>
      </p:sp>
      <p:sp>
        <p:nvSpPr>
          <p:cNvPr id="30" name="Shape 28"/>
          <p:cNvSpPr/>
          <p:nvPr/>
        </p:nvSpPr>
        <p:spPr>
          <a:xfrm>
            <a:off x="6126480" y="2788920"/>
            <a:ext cx="2651760" cy="13716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31" name="Shape 29"/>
          <p:cNvSpPr/>
          <p:nvPr/>
        </p:nvSpPr>
        <p:spPr>
          <a:xfrm>
            <a:off x="6263640" y="2926080"/>
            <a:ext cx="365760" cy="365760"/>
          </a:xfrm>
          <a:prstGeom prst="ellipse">
            <a:avLst/>
          </a:prstGeom>
          <a:solidFill>
            <a:srgbClr val="C05621"/>
          </a:solidFill>
          <a:ln/>
        </p:spPr>
        <p:txBody>
          <a:bodyPr/>
          <a:lstStyle/>
          <a:p>
            <a:endParaRPr lang="fr-FR"/>
          </a:p>
        </p:txBody>
      </p:sp>
      <p:sp>
        <p:nvSpPr>
          <p:cNvPr id="32" name="Text 30"/>
          <p:cNvSpPr/>
          <p:nvPr/>
        </p:nvSpPr>
        <p:spPr>
          <a:xfrm>
            <a:off x="6263640" y="2926080"/>
            <a:ext cx="365760" cy="365760"/>
          </a:xfrm>
          <a:prstGeom prst="rect">
            <a:avLst/>
          </a:prstGeom>
          <a:noFill/>
          <a:ln/>
        </p:spPr>
        <p:txBody>
          <a:bodyPr wrap="square"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L</a:t>
            </a:r>
            <a:endParaRPr lang="en-US" sz="1600" dirty="0"/>
          </a:p>
        </p:txBody>
      </p:sp>
      <p:sp>
        <p:nvSpPr>
          <p:cNvPr id="33" name="Text 31"/>
          <p:cNvSpPr/>
          <p:nvPr/>
        </p:nvSpPr>
        <p:spPr>
          <a:xfrm>
            <a:off x="6720840" y="2926080"/>
            <a:ext cx="1828800" cy="274320"/>
          </a:xfrm>
          <a:prstGeom prst="rect">
            <a:avLst/>
          </a:prstGeom>
          <a:noFill/>
          <a:ln/>
        </p:spPr>
        <p:txBody>
          <a:bodyPr wrap="square" lIns="0" tIns="0" rIns="0" bIns="0" rtlCol="0" anchor="ctr"/>
          <a:lstStyle/>
          <a:p>
            <a:pPr marL="0" indent="0">
              <a:buNone/>
            </a:pPr>
            <a:r>
              <a:rPr lang="en-US" sz="1000" b="1" dirty="0">
                <a:solidFill>
                  <a:srgbClr val="C05621"/>
                </a:solidFill>
                <a:latin typeface="Calibri" pitchFamily="34" charset="0"/>
                <a:ea typeface="Calibri" pitchFamily="34" charset="-122"/>
                <a:cs typeface="Calibri" pitchFamily="34" charset="-120"/>
              </a:rPr>
              <a:t>Légal</a:t>
            </a:r>
            <a:endParaRPr lang="en-US" sz="1000" dirty="0"/>
          </a:p>
        </p:txBody>
      </p:sp>
      <p:sp>
        <p:nvSpPr>
          <p:cNvPr id="34" name="Text 32"/>
          <p:cNvSpPr/>
          <p:nvPr/>
        </p:nvSpPr>
        <p:spPr>
          <a:xfrm>
            <a:off x="6263640" y="3383280"/>
            <a:ext cx="2377440" cy="6400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Code des transports, RGPD, obligations fiscales, conditions générales de vente.</a:t>
            </a:r>
            <a:endParaRPr lang="en-US" sz="750" dirty="0"/>
          </a:p>
        </p:txBody>
      </p:sp>
      <p:sp>
        <p:nvSpPr>
          <p:cNvPr id="35" name="Shape 33"/>
          <p:cNvSpPr/>
          <p:nvPr/>
        </p:nvSpPr>
        <p:spPr>
          <a:xfrm>
            <a:off x="0" y="4823460"/>
            <a:ext cx="9144000" cy="320040"/>
          </a:xfrm>
          <a:prstGeom prst="rect">
            <a:avLst/>
          </a:prstGeom>
          <a:solidFill>
            <a:srgbClr val="1A1F2E"/>
          </a:solidFill>
          <a:ln/>
        </p:spPr>
        <p:txBody>
          <a:bodyPr/>
          <a:lstStyle/>
          <a:p>
            <a:endParaRPr lang="fr-FR"/>
          </a:p>
        </p:txBody>
      </p:sp>
      <p:sp>
        <p:nvSpPr>
          <p:cNvPr id="36" name="Text 34"/>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37" name="Text 35"/>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MODULE 3 — DÉFINITIONS ESSENTIELLES</a:t>
            </a:r>
            <a:endParaRPr lang="en-US" sz="9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1800" b="1" dirty="0">
                <a:solidFill>
                  <a:srgbClr val="1A202C"/>
                </a:solidFill>
                <a:latin typeface="Georgia" pitchFamily="34" charset="0"/>
                <a:ea typeface="Georgia" pitchFamily="34" charset="-122"/>
                <a:cs typeface="Georgia" pitchFamily="34" charset="-120"/>
              </a:rPr>
              <a:t>Définitions : étude de marché, zone de chalandise, prix psychologique</a:t>
            </a:r>
            <a:endParaRPr lang="en-US" sz="1800" dirty="0"/>
          </a:p>
        </p:txBody>
      </p:sp>
      <p:sp>
        <p:nvSpPr>
          <p:cNvPr id="5" name="Shape 3"/>
          <p:cNvSpPr/>
          <p:nvPr/>
        </p:nvSpPr>
        <p:spPr>
          <a:xfrm>
            <a:off x="457200" y="1234440"/>
            <a:ext cx="8229600" cy="10515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640080" y="1508760"/>
            <a:ext cx="320040" cy="320040"/>
          </a:xfrm>
          <a:prstGeom prst="rect">
            <a:avLst/>
          </a:prstGeom>
        </p:spPr>
      </p:pic>
      <p:sp>
        <p:nvSpPr>
          <p:cNvPr id="7" name="Text 4"/>
          <p:cNvSpPr/>
          <p:nvPr/>
        </p:nvSpPr>
        <p:spPr>
          <a:xfrm>
            <a:off x="1097280" y="1325880"/>
            <a:ext cx="7315200" cy="274320"/>
          </a:xfrm>
          <a:prstGeom prst="rect">
            <a:avLst/>
          </a:prstGeom>
          <a:noFill/>
          <a:ln/>
        </p:spPr>
        <p:txBody>
          <a:bodyPr wrap="square" lIns="0" tIns="0" rIns="0" bIns="0" rtlCol="0" anchor="ctr"/>
          <a:lstStyle/>
          <a:p>
            <a:pPr marL="0" indent="0">
              <a:buNone/>
            </a:pPr>
            <a:r>
              <a:rPr lang="en-US" sz="1200" b="1" dirty="0">
                <a:solidFill>
                  <a:srgbClr val="0B5563"/>
                </a:solidFill>
                <a:latin typeface="Calibri" pitchFamily="34" charset="0"/>
                <a:ea typeface="Calibri" pitchFamily="34" charset="-122"/>
                <a:cs typeface="Calibri" pitchFamily="34" charset="-120"/>
              </a:rPr>
              <a:t>Étude de marché</a:t>
            </a:r>
            <a:endParaRPr lang="en-US" sz="1200" dirty="0"/>
          </a:p>
        </p:txBody>
      </p:sp>
      <p:sp>
        <p:nvSpPr>
          <p:cNvPr id="8" name="Text 5"/>
          <p:cNvSpPr/>
          <p:nvPr/>
        </p:nvSpPr>
        <p:spPr>
          <a:xfrm>
            <a:off x="1097280" y="1645920"/>
            <a:ext cx="7315200" cy="548640"/>
          </a:xfrm>
          <a:prstGeom prst="rect">
            <a:avLst/>
          </a:prstGeom>
          <a:noFill/>
          <a:ln/>
        </p:spPr>
        <p:txBody>
          <a:bodyPr wrap="square" lIns="0" tIns="0" rIns="0" bIns="0" rtlCol="0" anchor="ctr"/>
          <a:lstStyle/>
          <a:p>
            <a:pPr marL="0" indent="0">
              <a:buNone/>
            </a:pPr>
            <a:r>
              <a:rPr lang="en-US" sz="850" dirty="0">
                <a:solidFill>
                  <a:srgbClr val="1A202C"/>
                </a:solidFill>
                <a:latin typeface="Calibri" pitchFamily="34" charset="0"/>
                <a:ea typeface="Calibri" pitchFamily="34" charset="-122"/>
                <a:cs typeface="Calibri" pitchFamily="34" charset="-120"/>
              </a:rPr>
              <a:t>L'étude de marché c'est rechercher des informations sur le secteur d'activité dans lequel on souhaite se lancer. Notamment nous allons rechercher des informations sur l'offre et la demande et la réglementation du marché concerné.</a:t>
            </a:r>
            <a:endParaRPr lang="en-US" sz="850" dirty="0"/>
          </a:p>
        </p:txBody>
      </p:sp>
      <p:sp>
        <p:nvSpPr>
          <p:cNvPr id="9" name="Shape 6"/>
          <p:cNvSpPr/>
          <p:nvPr/>
        </p:nvSpPr>
        <p:spPr>
          <a:xfrm>
            <a:off x="457200" y="2423160"/>
            <a:ext cx="8229600" cy="10515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0" name="Image 1" descr="preencoded.png"/>
          <p:cNvPicPr>
            <a:picLocks noChangeAspect="1"/>
          </p:cNvPicPr>
          <p:nvPr/>
        </p:nvPicPr>
        <p:blipFill>
          <a:blip r:embed="rId4"/>
          <a:stretch>
            <a:fillRect/>
          </a:stretch>
        </p:blipFill>
        <p:spPr>
          <a:xfrm>
            <a:off x="640080" y="2697480"/>
            <a:ext cx="320040" cy="320040"/>
          </a:xfrm>
          <a:prstGeom prst="rect">
            <a:avLst/>
          </a:prstGeom>
        </p:spPr>
      </p:pic>
      <p:sp>
        <p:nvSpPr>
          <p:cNvPr id="11" name="Text 7"/>
          <p:cNvSpPr/>
          <p:nvPr/>
        </p:nvSpPr>
        <p:spPr>
          <a:xfrm>
            <a:off x="1097280" y="2514600"/>
            <a:ext cx="7315200" cy="274320"/>
          </a:xfrm>
          <a:prstGeom prst="rect">
            <a:avLst/>
          </a:prstGeom>
          <a:noFill/>
          <a:ln/>
        </p:spPr>
        <p:txBody>
          <a:bodyPr wrap="square" lIns="0" tIns="0" rIns="0" bIns="0" rtlCol="0" anchor="ctr"/>
          <a:lstStyle/>
          <a:p>
            <a:pPr marL="0" indent="0">
              <a:buNone/>
            </a:pPr>
            <a:r>
              <a:rPr lang="en-US" sz="1200" b="1" dirty="0">
                <a:solidFill>
                  <a:srgbClr val="C53030"/>
                </a:solidFill>
                <a:latin typeface="Calibri" pitchFamily="34" charset="0"/>
                <a:ea typeface="Calibri" pitchFamily="34" charset="-122"/>
                <a:cs typeface="Calibri" pitchFamily="34" charset="-120"/>
              </a:rPr>
              <a:t>Zone de chalandise</a:t>
            </a:r>
            <a:endParaRPr lang="en-US" sz="1200" dirty="0"/>
          </a:p>
        </p:txBody>
      </p:sp>
      <p:sp>
        <p:nvSpPr>
          <p:cNvPr id="12" name="Text 8"/>
          <p:cNvSpPr/>
          <p:nvPr/>
        </p:nvSpPr>
        <p:spPr>
          <a:xfrm>
            <a:off x="1097280" y="2834640"/>
            <a:ext cx="7315200" cy="548640"/>
          </a:xfrm>
          <a:prstGeom prst="rect">
            <a:avLst/>
          </a:prstGeom>
          <a:noFill/>
          <a:ln/>
        </p:spPr>
        <p:txBody>
          <a:bodyPr wrap="square" lIns="0" tIns="0" rIns="0" bIns="0" rtlCol="0" anchor="ctr"/>
          <a:lstStyle/>
          <a:p>
            <a:pPr marL="0" indent="0">
              <a:buNone/>
            </a:pPr>
            <a:r>
              <a:rPr lang="en-US" sz="850" dirty="0">
                <a:solidFill>
                  <a:srgbClr val="1A202C"/>
                </a:solidFill>
                <a:latin typeface="Calibri" pitchFamily="34" charset="0"/>
                <a:ea typeface="Calibri" pitchFamily="34" charset="-122"/>
                <a:cs typeface="Calibri" pitchFamily="34" charset="-120"/>
              </a:rPr>
              <a:t>La zone de chalandise d'un point de vente est la zone habituelle ou prévisionnelle de provenance de l'essentiel des clients de ce point de vente. On peut aussi dire que c'est la zone dans laquelle se trouve la clientèle potentielle.</a:t>
            </a:r>
            <a:endParaRPr lang="en-US" sz="850" dirty="0"/>
          </a:p>
        </p:txBody>
      </p:sp>
      <p:sp>
        <p:nvSpPr>
          <p:cNvPr id="13" name="Shape 9"/>
          <p:cNvSpPr/>
          <p:nvPr/>
        </p:nvSpPr>
        <p:spPr>
          <a:xfrm>
            <a:off x="457200" y="3611880"/>
            <a:ext cx="8229600" cy="10515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4" name="Image 2" descr="preencoded.png"/>
          <p:cNvPicPr>
            <a:picLocks noChangeAspect="1"/>
          </p:cNvPicPr>
          <p:nvPr/>
        </p:nvPicPr>
        <p:blipFill>
          <a:blip r:embed="rId5"/>
          <a:stretch>
            <a:fillRect/>
          </a:stretch>
        </p:blipFill>
        <p:spPr>
          <a:xfrm>
            <a:off x="640080" y="3886200"/>
            <a:ext cx="320040" cy="320040"/>
          </a:xfrm>
          <a:prstGeom prst="rect">
            <a:avLst/>
          </a:prstGeom>
        </p:spPr>
      </p:pic>
      <p:sp>
        <p:nvSpPr>
          <p:cNvPr id="15" name="Text 10"/>
          <p:cNvSpPr/>
          <p:nvPr/>
        </p:nvSpPr>
        <p:spPr>
          <a:xfrm>
            <a:off x="1097280" y="3703320"/>
            <a:ext cx="7315200" cy="274320"/>
          </a:xfrm>
          <a:prstGeom prst="rect">
            <a:avLst/>
          </a:prstGeom>
          <a:noFill/>
          <a:ln/>
        </p:spPr>
        <p:txBody>
          <a:bodyPr wrap="square" lIns="0" tIns="0" rIns="0" bIns="0" rtlCol="0" anchor="ctr"/>
          <a:lstStyle/>
          <a:p>
            <a:pPr marL="0" indent="0">
              <a:buNone/>
            </a:pPr>
            <a:r>
              <a:rPr lang="en-US" sz="1200" b="1" dirty="0">
                <a:solidFill>
                  <a:srgbClr val="276749"/>
                </a:solidFill>
                <a:latin typeface="Calibri" pitchFamily="34" charset="0"/>
                <a:ea typeface="Calibri" pitchFamily="34" charset="-122"/>
                <a:cs typeface="Calibri" pitchFamily="34" charset="-120"/>
              </a:rPr>
              <a:t>Prix psychologique (prix d'acceptabilité)</a:t>
            </a:r>
            <a:endParaRPr lang="en-US" sz="1200" dirty="0"/>
          </a:p>
        </p:txBody>
      </p:sp>
      <p:sp>
        <p:nvSpPr>
          <p:cNvPr id="16" name="Text 11"/>
          <p:cNvSpPr/>
          <p:nvPr/>
        </p:nvSpPr>
        <p:spPr>
          <a:xfrm>
            <a:off x="1097280" y="4023360"/>
            <a:ext cx="7315200" cy="548640"/>
          </a:xfrm>
          <a:prstGeom prst="rect">
            <a:avLst/>
          </a:prstGeom>
          <a:noFill/>
          <a:ln/>
        </p:spPr>
        <p:txBody>
          <a:bodyPr wrap="square" lIns="0" tIns="0" rIns="0" bIns="0" rtlCol="0" anchor="ctr"/>
          <a:lstStyle/>
          <a:p>
            <a:pPr marL="0" indent="0">
              <a:buNone/>
            </a:pPr>
            <a:r>
              <a:rPr lang="en-US" sz="850" dirty="0">
                <a:solidFill>
                  <a:srgbClr val="1A202C"/>
                </a:solidFill>
                <a:latin typeface="Calibri" pitchFamily="34" charset="0"/>
                <a:ea typeface="Calibri" pitchFamily="34" charset="-122"/>
                <a:cs typeface="Calibri" pitchFamily="34" charset="-120"/>
              </a:rPr>
              <a:t>Le prix psychologique, également appelé le prix d'acceptabilité, est le prix qui a la chance d'être accepté par le plus grand nombre de consommateurs selon les caractéristiques du produit/service (qualité, design, robustesse…).</a:t>
            </a:r>
            <a:endParaRPr lang="en-US" sz="850" dirty="0"/>
          </a:p>
        </p:txBody>
      </p:sp>
      <p:sp>
        <p:nvSpPr>
          <p:cNvPr id="17" name="Shape 12"/>
          <p:cNvSpPr/>
          <p:nvPr/>
        </p:nvSpPr>
        <p:spPr>
          <a:xfrm>
            <a:off x="0" y="4823460"/>
            <a:ext cx="9144000" cy="320040"/>
          </a:xfrm>
          <a:prstGeom prst="rect">
            <a:avLst/>
          </a:prstGeom>
          <a:solidFill>
            <a:srgbClr val="1A1F2E"/>
          </a:solidFill>
          <a:ln/>
        </p:spPr>
        <p:txBody>
          <a:bodyPr/>
          <a:lstStyle/>
          <a:p>
            <a:endParaRPr lang="fr-FR"/>
          </a:p>
        </p:txBody>
      </p:sp>
      <p:sp>
        <p:nvSpPr>
          <p:cNvPr id="18" name="Text 13"/>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19" name="Text 14"/>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MODULE 3 — DÉFINITIONS ESSENTIELLES</a:t>
            </a:r>
            <a:endParaRPr lang="en-US" sz="9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1800" b="1" dirty="0">
                <a:solidFill>
                  <a:srgbClr val="1A202C"/>
                </a:solidFill>
                <a:latin typeface="Georgia" pitchFamily="34" charset="0"/>
                <a:ea typeface="Georgia" pitchFamily="34" charset="-122"/>
                <a:cs typeface="Georgia" pitchFamily="34" charset="-120"/>
              </a:rPr>
              <a:t>Définitions : marketing direct, B2B, B2C, notoriété</a:t>
            </a:r>
            <a:endParaRPr lang="en-US" sz="1800" dirty="0"/>
          </a:p>
        </p:txBody>
      </p:sp>
      <p:sp>
        <p:nvSpPr>
          <p:cNvPr id="5" name="Shape 3"/>
          <p:cNvSpPr/>
          <p:nvPr/>
        </p:nvSpPr>
        <p:spPr>
          <a:xfrm>
            <a:off x="457200" y="1234440"/>
            <a:ext cx="8229600" cy="7772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640080" y="1417320"/>
            <a:ext cx="274320" cy="274320"/>
          </a:xfrm>
          <a:prstGeom prst="rect">
            <a:avLst/>
          </a:prstGeom>
        </p:spPr>
      </p:pic>
      <p:sp>
        <p:nvSpPr>
          <p:cNvPr id="7" name="Text 4"/>
          <p:cNvSpPr/>
          <p:nvPr/>
        </p:nvSpPr>
        <p:spPr>
          <a:xfrm>
            <a:off x="1051560" y="1280160"/>
            <a:ext cx="7315200" cy="228600"/>
          </a:xfrm>
          <a:prstGeom prst="rect">
            <a:avLst/>
          </a:prstGeom>
          <a:noFill/>
          <a:ln/>
        </p:spPr>
        <p:txBody>
          <a:bodyPr wrap="square" lIns="0" tIns="0" rIns="0" bIns="0" rtlCol="0" anchor="ctr"/>
          <a:lstStyle/>
          <a:p>
            <a:pPr marL="0" indent="0">
              <a:buNone/>
            </a:pPr>
            <a:r>
              <a:rPr lang="en-US" sz="1050" b="1" dirty="0">
                <a:solidFill>
                  <a:srgbClr val="0B5563"/>
                </a:solidFill>
                <a:latin typeface="Calibri" pitchFamily="34" charset="0"/>
                <a:ea typeface="Calibri" pitchFamily="34" charset="-122"/>
                <a:cs typeface="Calibri" pitchFamily="34" charset="-120"/>
              </a:rPr>
              <a:t>Marketing direct</a:t>
            </a:r>
            <a:endParaRPr lang="en-US" sz="1050" dirty="0"/>
          </a:p>
        </p:txBody>
      </p:sp>
      <p:sp>
        <p:nvSpPr>
          <p:cNvPr id="8" name="Text 5"/>
          <p:cNvSpPr/>
          <p:nvPr/>
        </p:nvSpPr>
        <p:spPr>
          <a:xfrm>
            <a:off x="1051560" y="1527048"/>
            <a:ext cx="7406640" cy="438912"/>
          </a:xfrm>
          <a:prstGeom prst="rect">
            <a:avLst/>
          </a:prstGeom>
          <a:noFill/>
          <a:ln/>
        </p:spPr>
        <p:txBody>
          <a:bodyPr wrap="square" lIns="0" tIns="0" rIns="0" bIns="0" rtlCol="0" anchor="ctr"/>
          <a:lstStyle/>
          <a:p>
            <a:pPr marL="0" indent="0">
              <a:buNone/>
            </a:pPr>
            <a:r>
              <a:rPr lang="en-US" sz="750" dirty="0">
                <a:solidFill>
                  <a:srgbClr val="1A202C"/>
                </a:solidFill>
                <a:latin typeface="Calibri" pitchFamily="34" charset="0"/>
                <a:ea typeface="Calibri" pitchFamily="34" charset="-122"/>
                <a:cs typeface="Calibri" pitchFamily="34" charset="-120"/>
              </a:rPr>
              <a:t>C'est une démarche commerciale qui se caractérise par une approche du client sans intermédiaire, personnalisée et à distance. Cette démarche doit permettre d'obtenir un résultat rapide et mesurable.</a:t>
            </a:r>
            <a:endParaRPr lang="en-US" sz="750" dirty="0"/>
          </a:p>
          <a:p>
            <a:pPr marL="0" indent="0">
              <a:buNone/>
            </a:pPr>
            <a:r>
              <a:rPr lang="en-US" sz="750" dirty="0">
                <a:solidFill>
                  <a:srgbClr val="1A202C"/>
                </a:solidFill>
                <a:latin typeface="Calibri" pitchFamily="34" charset="0"/>
                <a:ea typeface="Calibri" pitchFamily="34" charset="-122"/>
                <a:cs typeface="Calibri" pitchFamily="34" charset="-120"/>
              </a:rPr>
              <a:t>Le marketing direct est à la fois : un mode de distribution (absence d'intermédiaires), un mode de communication (personnalisé), un mode de vente (à distance), un mode de stratégie (la cible est le consommateur et non le marché entier).</a:t>
            </a:r>
            <a:endParaRPr lang="en-US" sz="750" dirty="0"/>
          </a:p>
        </p:txBody>
      </p:sp>
      <p:sp>
        <p:nvSpPr>
          <p:cNvPr id="9" name="Shape 6"/>
          <p:cNvSpPr/>
          <p:nvPr/>
        </p:nvSpPr>
        <p:spPr>
          <a:xfrm>
            <a:off x="457200" y="2130552"/>
            <a:ext cx="8229600" cy="7772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0" name="Image 1" descr="preencoded.png"/>
          <p:cNvPicPr>
            <a:picLocks noChangeAspect="1"/>
          </p:cNvPicPr>
          <p:nvPr/>
        </p:nvPicPr>
        <p:blipFill>
          <a:blip r:embed="rId4"/>
          <a:stretch>
            <a:fillRect/>
          </a:stretch>
        </p:blipFill>
        <p:spPr>
          <a:xfrm>
            <a:off x="640080" y="2313432"/>
            <a:ext cx="274320" cy="274320"/>
          </a:xfrm>
          <a:prstGeom prst="rect">
            <a:avLst/>
          </a:prstGeom>
        </p:spPr>
      </p:pic>
      <p:sp>
        <p:nvSpPr>
          <p:cNvPr id="11" name="Text 7"/>
          <p:cNvSpPr/>
          <p:nvPr/>
        </p:nvSpPr>
        <p:spPr>
          <a:xfrm>
            <a:off x="1051560" y="2176272"/>
            <a:ext cx="7315200" cy="228600"/>
          </a:xfrm>
          <a:prstGeom prst="rect">
            <a:avLst/>
          </a:prstGeom>
          <a:noFill/>
          <a:ln/>
        </p:spPr>
        <p:txBody>
          <a:bodyPr wrap="square" lIns="0" tIns="0" rIns="0" bIns="0" rtlCol="0" anchor="ctr"/>
          <a:lstStyle/>
          <a:p>
            <a:pPr marL="0" indent="0">
              <a:buNone/>
            </a:pPr>
            <a:r>
              <a:rPr lang="en-US" sz="1050" b="1" dirty="0">
                <a:solidFill>
                  <a:srgbClr val="2B6CB0"/>
                </a:solidFill>
                <a:latin typeface="Calibri" pitchFamily="34" charset="0"/>
                <a:ea typeface="Calibri" pitchFamily="34" charset="-122"/>
                <a:cs typeface="Calibri" pitchFamily="34" charset="-120"/>
              </a:rPr>
              <a:t>B to B (Business to Business)</a:t>
            </a:r>
            <a:endParaRPr lang="en-US" sz="1050" dirty="0"/>
          </a:p>
        </p:txBody>
      </p:sp>
      <p:sp>
        <p:nvSpPr>
          <p:cNvPr id="12" name="Text 8"/>
          <p:cNvSpPr/>
          <p:nvPr/>
        </p:nvSpPr>
        <p:spPr>
          <a:xfrm>
            <a:off x="1051560" y="2423160"/>
            <a:ext cx="7406640" cy="438912"/>
          </a:xfrm>
          <a:prstGeom prst="rect">
            <a:avLst/>
          </a:prstGeom>
          <a:noFill/>
          <a:ln/>
        </p:spPr>
        <p:txBody>
          <a:bodyPr wrap="square" lIns="0" tIns="0" rIns="0" bIns="0" rtlCol="0" anchor="ctr"/>
          <a:lstStyle/>
          <a:p>
            <a:pPr marL="0" indent="0">
              <a:buNone/>
            </a:pPr>
            <a:r>
              <a:rPr lang="en-US" sz="750" dirty="0">
                <a:solidFill>
                  <a:srgbClr val="1A202C"/>
                </a:solidFill>
                <a:latin typeface="Calibri" pitchFamily="34" charset="0"/>
                <a:ea typeface="Calibri" pitchFamily="34" charset="-122"/>
                <a:cs typeface="Calibri" pitchFamily="34" charset="-120"/>
              </a:rPr>
              <a:t>Marketing des entreprises qui vendent à des professionnels (entreprises, artisans, professions libérales), par opposition au B to C. Ce sont des activités commerciales réalisées entre professionnels uniquement.</a:t>
            </a:r>
            <a:endParaRPr lang="en-US" sz="750" dirty="0"/>
          </a:p>
        </p:txBody>
      </p:sp>
      <p:sp>
        <p:nvSpPr>
          <p:cNvPr id="13" name="Shape 9"/>
          <p:cNvSpPr/>
          <p:nvPr/>
        </p:nvSpPr>
        <p:spPr>
          <a:xfrm>
            <a:off x="457200" y="3026664"/>
            <a:ext cx="8229600" cy="7772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4" name="Image 2" descr="preencoded.png"/>
          <p:cNvPicPr>
            <a:picLocks noChangeAspect="1"/>
          </p:cNvPicPr>
          <p:nvPr/>
        </p:nvPicPr>
        <p:blipFill>
          <a:blip r:embed="rId5"/>
          <a:stretch>
            <a:fillRect/>
          </a:stretch>
        </p:blipFill>
        <p:spPr>
          <a:xfrm>
            <a:off x="640080" y="3209544"/>
            <a:ext cx="274320" cy="274320"/>
          </a:xfrm>
          <a:prstGeom prst="rect">
            <a:avLst/>
          </a:prstGeom>
        </p:spPr>
      </p:pic>
      <p:sp>
        <p:nvSpPr>
          <p:cNvPr id="15" name="Text 10"/>
          <p:cNvSpPr/>
          <p:nvPr/>
        </p:nvSpPr>
        <p:spPr>
          <a:xfrm>
            <a:off x="1051560" y="3072384"/>
            <a:ext cx="7315200" cy="228600"/>
          </a:xfrm>
          <a:prstGeom prst="rect">
            <a:avLst/>
          </a:prstGeom>
          <a:noFill/>
          <a:ln/>
        </p:spPr>
        <p:txBody>
          <a:bodyPr wrap="square" lIns="0" tIns="0" rIns="0" bIns="0" rtlCol="0" anchor="ctr"/>
          <a:lstStyle/>
          <a:p>
            <a:pPr marL="0" indent="0">
              <a:buNone/>
            </a:pPr>
            <a:r>
              <a:rPr lang="en-US" sz="1050" b="1" dirty="0">
                <a:solidFill>
                  <a:srgbClr val="0D9488"/>
                </a:solidFill>
                <a:latin typeface="Calibri" pitchFamily="34" charset="0"/>
                <a:ea typeface="Calibri" pitchFamily="34" charset="-122"/>
                <a:cs typeface="Calibri" pitchFamily="34" charset="-120"/>
              </a:rPr>
              <a:t>B to C (Business to Consumer)</a:t>
            </a:r>
            <a:endParaRPr lang="en-US" sz="1050" dirty="0"/>
          </a:p>
        </p:txBody>
      </p:sp>
      <p:sp>
        <p:nvSpPr>
          <p:cNvPr id="16" name="Text 11"/>
          <p:cNvSpPr/>
          <p:nvPr/>
        </p:nvSpPr>
        <p:spPr>
          <a:xfrm>
            <a:off x="1051560" y="3319272"/>
            <a:ext cx="7406640" cy="438912"/>
          </a:xfrm>
          <a:prstGeom prst="rect">
            <a:avLst/>
          </a:prstGeom>
          <a:noFill/>
          <a:ln/>
        </p:spPr>
        <p:txBody>
          <a:bodyPr wrap="square" lIns="0" tIns="0" rIns="0" bIns="0" rtlCol="0" anchor="ctr"/>
          <a:lstStyle/>
          <a:p>
            <a:pPr marL="0" indent="0">
              <a:buNone/>
            </a:pPr>
            <a:r>
              <a:rPr lang="en-US" sz="750" dirty="0">
                <a:solidFill>
                  <a:srgbClr val="1A202C"/>
                </a:solidFill>
                <a:latin typeface="Calibri" pitchFamily="34" charset="0"/>
                <a:ea typeface="Calibri" pitchFamily="34" charset="-122"/>
                <a:cs typeface="Calibri" pitchFamily="34" charset="-120"/>
              </a:rPr>
              <a:t>Marketing des entreprises qui s'adressent aux consommateurs (individus et familles), par opposition au B to B. Ce sont des activités commerciales réalisées par des entreprises pour des particuliers.</a:t>
            </a:r>
            <a:endParaRPr lang="en-US" sz="750" dirty="0"/>
          </a:p>
        </p:txBody>
      </p:sp>
      <p:sp>
        <p:nvSpPr>
          <p:cNvPr id="17" name="Shape 12"/>
          <p:cNvSpPr/>
          <p:nvPr/>
        </p:nvSpPr>
        <p:spPr>
          <a:xfrm>
            <a:off x="457200" y="3922776"/>
            <a:ext cx="8229600" cy="7772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8" name="Image 3" descr="preencoded.png"/>
          <p:cNvPicPr>
            <a:picLocks noChangeAspect="1"/>
          </p:cNvPicPr>
          <p:nvPr/>
        </p:nvPicPr>
        <p:blipFill>
          <a:blip r:embed="rId6"/>
          <a:stretch>
            <a:fillRect/>
          </a:stretch>
        </p:blipFill>
        <p:spPr>
          <a:xfrm>
            <a:off x="640080" y="4105656"/>
            <a:ext cx="274320" cy="274320"/>
          </a:xfrm>
          <a:prstGeom prst="rect">
            <a:avLst/>
          </a:prstGeom>
        </p:spPr>
      </p:pic>
      <p:sp>
        <p:nvSpPr>
          <p:cNvPr id="19" name="Text 13"/>
          <p:cNvSpPr/>
          <p:nvPr/>
        </p:nvSpPr>
        <p:spPr>
          <a:xfrm>
            <a:off x="1051560" y="3968496"/>
            <a:ext cx="7315200" cy="228600"/>
          </a:xfrm>
          <a:prstGeom prst="rect">
            <a:avLst/>
          </a:prstGeom>
          <a:noFill/>
          <a:ln/>
        </p:spPr>
        <p:txBody>
          <a:bodyPr wrap="square" lIns="0" tIns="0" rIns="0" bIns="0" rtlCol="0" anchor="ctr"/>
          <a:lstStyle/>
          <a:p>
            <a:pPr marL="0" indent="0">
              <a:buNone/>
            </a:pPr>
            <a:r>
              <a:rPr lang="en-US" sz="1050" b="1" dirty="0">
                <a:solidFill>
                  <a:srgbClr val="E8A838"/>
                </a:solidFill>
                <a:latin typeface="Calibri" pitchFamily="34" charset="0"/>
                <a:ea typeface="Calibri" pitchFamily="34" charset="-122"/>
                <a:cs typeface="Calibri" pitchFamily="34" charset="-120"/>
              </a:rPr>
              <a:t>Notoriété</a:t>
            </a:r>
            <a:endParaRPr lang="en-US" sz="1050" dirty="0"/>
          </a:p>
        </p:txBody>
      </p:sp>
      <p:sp>
        <p:nvSpPr>
          <p:cNvPr id="20" name="Text 14"/>
          <p:cNvSpPr/>
          <p:nvPr/>
        </p:nvSpPr>
        <p:spPr>
          <a:xfrm>
            <a:off x="1051560" y="4215384"/>
            <a:ext cx="7406640" cy="438912"/>
          </a:xfrm>
          <a:prstGeom prst="rect">
            <a:avLst/>
          </a:prstGeom>
          <a:noFill/>
          <a:ln/>
        </p:spPr>
        <p:txBody>
          <a:bodyPr wrap="square" lIns="0" tIns="0" rIns="0" bIns="0" rtlCol="0" anchor="ctr"/>
          <a:lstStyle/>
          <a:p>
            <a:pPr marL="0" indent="0">
              <a:buNone/>
            </a:pPr>
            <a:r>
              <a:rPr lang="en-US" sz="750" dirty="0">
                <a:solidFill>
                  <a:srgbClr val="1A202C"/>
                </a:solidFill>
                <a:latin typeface="Calibri" pitchFamily="34" charset="0"/>
                <a:ea typeface="Calibri" pitchFamily="34" charset="-122"/>
                <a:cs typeface="Calibri" pitchFamily="34" charset="-120"/>
              </a:rPr>
              <a:t>C'est le nombre de personnes qui connaissent telle ou telle marque, personne ou autre. Pour un VTC : combien de personnes connaissent votre service dans votre zone.</a:t>
            </a:r>
            <a:endParaRPr lang="en-US" sz="750" dirty="0"/>
          </a:p>
        </p:txBody>
      </p:sp>
      <p:sp>
        <p:nvSpPr>
          <p:cNvPr id="21" name="Shape 15"/>
          <p:cNvSpPr/>
          <p:nvPr/>
        </p:nvSpPr>
        <p:spPr>
          <a:xfrm>
            <a:off x="0" y="4823460"/>
            <a:ext cx="9144000" cy="320040"/>
          </a:xfrm>
          <a:prstGeom prst="rect">
            <a:avLst/>
          </a:prstGeom>
          <a:solidFill>
            <a:srgbClr val="1A1F2E"/>
          </a:solidFill>
          <a:ln/>
        </p:spPr>
        <p:txBody>
          <a:bodyPr/>
          <a:lstStyle/>
          <a:p>
            <a:endParaRPr lang="fr-FR"/>
          </a:p>
        </p:txBody>
      </p:sp>
      <p:sp>
        <p:nvSpPr>
          <p:cNvPr id="22" name="Text 16"/>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23" name="Text 17"/>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MODULE 3 — DÉFINITIONS ESSENTIELLES</a:t>
            </a:r>
            <a:endParaRPr lang="en-US" sz="9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1800" b="1" dirty="0">
                <a:solidFill>
                  <a:srgbClr val="1A202C"/>
                </a:solidFill>
                <a:latin typeface="Georgia" pitchFamily="34" charset="0"/>
                <a:ea typeface="Georgia" pitchFamily="34" charset="-122"/>
                <a:cs typeface="Georgia" pitchFamily="34" charset="-120"/>
              </a:rPr>
              <a:t>Définitions : packaging, street marketing, niche, premium</a:t>
            </a:r>
            <a:endParaRPr lang="en-US" sz="1800" dirty="0"/>
          </a:p>
        </p:txBody>
      </p:sp>
      <p:sp>
        <p:nvSpPr>
          <p:cNvPr id="5" name="Shape 3"/>
          <p:cNvSpPr/>
          <p:nvPr/>
        </p:nvSpPr>
        <p:spPr>
          <a:xfrm>
            <a:off x="457200" y="1234440"/>
            <a:ext cx="8229600" cy="7772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640080" y="1417320"/>
            <a:ext cx="274320" cy="274320"/>
          </a:xfrm>
          <a:prstGeom prst="rect">
            <a:avLst/>
          </a:prstGeom>
        </p:spPr>
      </p:pic>
      <p:sp>
        <p:nvSpPr>
          <p:cNvPr id="7" name="Text 4"/>
          <p:cNvSpPr/>
          <p:nvPr/>
        </p:nvSpPr>
        <p:spPr>
          <a:xfrm>
            <a:off x="1051560" y="1280160"/>
            <a:ext cx="7315200" cy="228600"/>
          </a:xfrm>
          <a:prstGeom prst="rect">
            <a:avLst/>
          </a:prstGeom>
          <a:noFill/>
          <a:ln/>
        </p:spPr>
        <p:txBody>
          <a:bodyPr wrap="square" lIns="0" tIns="0" rIns="0" bIns="0" rtlCol="0" anchor="ctr"/>
          <a:lstStyle/>
          <a:p>
            <a:pPr marL="0" indent="0">
              <a:buNone/>
            </a:pPr>
            <a:r>
              <a:rPr lang="en-US" sz="1050" b="1" dirty="0">
                <a:solidFill>
                  <a:srgbClr val="C05621"/>
                </a:solidFill>
                <a:latin typeface="Calibri" pitchFamily="34" charset="0"/>
                <a:ea typeface="Calibri" pitchFamily="34" charset="-122"/>
                <a:cs typeface="Calibri" pitchFamily="34" charset="-120"/>
              </a:rPr>
              <a:t>Packaging</a:t>
            </a:r>
            <a:endParaRPr lang="en-US" sz="1050" dirty="0"/>
          </a:p>
        </p:txBody>
      </p:sp>
      <p:sp>
        <p:nvSpPr>
          <p:cNvPr id="8" name="Text 5"/>
          <p:cNvSpPr/>
          <p:nvPr/>
        </p:nvSpPr>
        <p:spPr>
          <a:xfrm>
            <a:off x="1051560" y="1527048"/>
            <a:ext cx="7406640" cy="438912"/>
          </a:xfrm>
          <a:prstGeom prst="rect">
            <a:avLst/>
          </a:prstGeom>
          <a:noFill/>
          <a:ln/>
        </p:spPr>
        <p:txBody>
          <a:bodyPr wrap="square" lIns="0" tIns="0" rIns="0" bIns="0" rtlCol="0" anchor="ctr"/>
          <a:lstStyle/>
          <a:p>
            <a:pPr marL="0" indent="0">
              <a:buNone/>
            </a:pPr>
            <a:r>
              <a:rPr lang="en-US" sz="750" dirty="0">
                <a:solidFill>
                  <a:srgbClr val="1A202C"/>
                </a:solidFill>
                <a:latin typeface="Calibri" pitchFamily="34" charset="0"/>
                <a:ea typeface="Calibri" pitchFamily="34" charset="-122"/>
                <a:cs typeface="Calibri" pitchFamily="34" charset="-120"/>
              </a:rPr>
              <a:t>Le packaging désigne normalement l'emballage extérieur ou le conditionnement visible du produit. Pour un VTC : l'apparence globale du service (véhicule, tenue du chauffeur, carte de visite, site web…).</a:t>
            </a:r>
            <a:endParaRPr lang="en-US" sz="750" dirty="0"/>
          </a:p>
        </p:txBody>
      </p:sp>
      <p:sp>
        <p:nvSpPr>
          <p:cNvPr id="9" name="Shape 6"/>
          <p:cNvSpPr/>
          <p:nvPr/>
        </p:nvSpPr>
        <p:spPr>
          <a:xfrm>
            <a:off x="457200" y="2130552"/>
            <a:ext cx="8229600" cy="7772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0" name="Image 1" descr="preencoded.png"/>
          <p:cNvPicPr>
            <a:picLocks noChangeAspect="1"/>
          </p:cNvPicPr>
          <p:nvPr/>
        </p:nvPicPr>
        <p:blipFill>
          <a:blip r:embed="rId4"/>
          <a:stretch>
            <a:fillRect/>
          </a:stretch>
        </p:blipFill>
        <p:spPr>
          <a:xfrm>
            <a:off x="640080" y="2313432"/>
            <a:ext cx="274320" cy="274320"/>
          </a:xfrm>
          <a:prstGeom prst="rect">
            <a:avLst/>
          </a:prstGeom>
        </p:spPr>
      </p:pic>
      <p:sp>
        <p:nvSpPr>
          <p:cNvPr id="11" name="Text 7"/>
          <p:cNvSpPr/>
          <p:nvPr/>
        </p:nvSpPr>
        <p:spPr>
          <a:xfrm>
            <a:off x="1051560" y="2176272"/>
            <a:ext cx="7315200" cy="228600"/>
          </a:xfrm>
          <a:prstGeom prst="rect">
            <a:avLst/>
          </a:prstGeom>
          <a:noFill/>
          <a:ln/>
        </p:spPr>
        <p:txBody>
          <a:bodyPr wrap="square" lIns="0" tIns="0" rIns="0" bIns="0" rtlCol="0" anchor="ctr"/>
          <a:lstStyle/>
          <a:p>
            <a:pPr marL="0" indent="0">
              <a:buNone/>
            </a:pPr>
            <a:r>
              <a:rPr lang="en-US" sz="1050" b="1" dirty="0">
                <a:solidFill>
                  <a:srgbClr val="C53030"/>
                </a:solidFill>
                <a:latin typeface="Calibri" pitchFamily="34" charset="0"/>
                <a:ea typeface="Calibri" pitchFamily="34" charset="-122"/>
                <a:cs typeface="Calibri" pitchFamily="34" charset="-120"/>
              </a:rPr>
              <a:t>Street marketing</a:t>
            </a:r>
            <a:endParaRPr lang="en-US" sz="1050" dirty="0"/>
          </a:p>
        </p:txBody>
      </p:sp>
      <p:sp>
        <p:nvSpPr>
          <p:cNvPr id="12" name="Text 8"/>
          <p:cNvSpPr/>
          <p:nvPr/>
        </p:nvSpPr>
        <p:spPr>
          <a:xfrm>
            <a:off x="1051560" y="2423160"/>
            <a:ext cx="7406640" cy="438912"/>
          </a:xfrm>
          <a:prstGeom prst="rect">
            <a:avLst/>
          </a:prstGeom>
          <a:noFill/>
          <a:ln/>
        </p:spPr>
        <p:txBody>
          <a:bodyPr wrap="square" lIns="0" tIns="0" rIns="0" bIns="0" rtlCol="0" anchor="ctr"/>
          <a:lstStyle/>
          <a:p>
            <a:pPr marL="0" indent="0">
              <a:buNone/>
            </a:pPr>
            <a:r>
              <a:rPr lang="en-US" sz="750" dirty="0">
                <a:solidFill>
                  <a:srgbClr val="1A202C"/>
                </a:solidFill>
                <a:latin typeface="Calibri" pitchFamily="34" charset="0"/>
                <a:ea typeface="Calibri" pitchFamily="34" charset="-122"/>
                <a:cs typeface="Calibri" pitchFamily="34" charset="-120"/>
              </a:rPr>
              <a:t>Tactique promotionnelle consistant à distribuer de la main à la main des échantillons de produit ou du matériel publicitaire dans un espace public, afin de créer un bouche-à-oreille (buzz) favorable.</a:t>
            </a:r>
            <a:endParaRPr lang="en-US" sz="750" dirty="0"/>
          </a:p>
        </p:txBody>
      </p:sp>
      <p:sp>
        <p:nvSpPr>
          <p:cNvPr id="13" name="Shape 9"/>
          <p:cNvSpPr/>
          <p:nvPr/>
        </p:nvSpPr>
        <p:spPr>
          <a:xfrm>
            <a:off x="457200" y="3026664"/>
            <a:ext cx="8229600" cy="7772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4" name="Image 2" descr="preencoded.png"/>
          <p:cNvPicPr>
            <a:picLocks noChangeAspect="1"/>
          </p:cNvPicPr>
          <p:nvPr/>
        </p:nvPicPr>
        <p:blipFill>
          <a:blip r:embed="rId5"/>
          <a:stretch>
            <a:fillRect/>
          </a:stretch>
        </p:blipFill>
        <p:spPr>
          <a:xfrm>
            <a:off x="640080" y="3209544"/>
            <a:ext cx="274320" cy="274320"/>
          </a:xfrm>
          <a:prstGeom prst="rect">
            <a:avLst/>
          </a:prstGeom>
        </p:spPr>
      </p:pic>
      <p:sp>
        <p:nvSpPr>
          <p:cNvPr id="15" name="Text 10"/>
          <p:cNvSpPr/>
          <p:nvPr/>
        </p:nvSpPr>
        <p:spPr>
          <a:xfrm>
            <a:off x="1051560" y="3072384"/>
            <a:ext cx="7315200" cy="228600"/>
          </a:xfrm>
          <a:prstGeom prst="rect">
            <a:avLst/>
          </a:prstGeom>
          <a:noFill/>
          <a:ln/>
        </p:spPr>
        <p:txBody>
          <a:bodyPr wrap="square" lIns="0" tIns="0" rIns="0" bIns="0" rtlCol="0" anchor="ctr"/>
          <a:lstStyle/>
          <a:p>
            <a:pPr marL="0" indent="0">
              <a:buNone/>
            </a:pPr>
            <a:r>
              <a:rPr lang="en-US" sz="1050" b="1" dirty="0">
                <a:solidFill>
                  <a:srgbClr val="0B5563"/>
                </a:solidFill>
                <a:latin typeface="Calibri" pitchFamily="34" charset="0"/>
                <a:ea typeface="Calibri" pitchFamily="34" charset="-122"/>
                <a:cs typeface="Calibri" pitchFamily="34" charset="-120"/>
              </a:rPr>
              <a:t>Marché de niche</a:t>
            </a:r>
            <a:endParaRPr lang="en-US" sz="1050" dirty="0"/>
          </a:p>
        </p:txBody>
      </p:sp>
      <p:sp>
        <p:nvSpPr>
          <p:cNvPr id="16" name="Text 11"/>
          <p:cNvSpPr/>
          <p:nvPr/>
        </p:nvSpPr>
        <p:spPr>
          <a:xfrm>
            <a:off x="1051560" y="3319272"/>
            <a:ext cx="7406640" cy="438912"/>
          </a:xfrm>
          <a:prstGeom prst="rect">
            <a:avLst/>
          </a:prstGeom>
          <a:noFill/>
          <a:ln/>
        </p:spPr>
        <p:txBody>
          <a:bodyPr wrap="square" lIns="0" tIns="0" rIns="0" bIns="0" rtlCol="0" anchor="ctr"/>
          <a:lstStyle/>
          <a:p>
            <a:pPr marL="0" indent="0">
              <a:buNone/>
            </a:pPr>
            <a:r>
              <a:rPr lang="en-US" sz="750" dirty="0">
                <a:solidFill>
                  <a:srgbClr val="1A202C"/>
                </a:solidFill>
                <a:latin typeface="Calibri" pitchFamily="34" charset="0"/>
                <a:ea typeface="Calibri" pitchFamily="34" charset="-122"/>
                <a:cs typeface="Calibri" pitchFamily="34" charset="-120"/>
              </a:rPr>
              <a:t>Un marché de niche est un marché très étroit correspondant à un produit/service très spécialisé. Ex. VTC : transport PMR, VTC luxe, navettes entreprise, circuits touristiques haut de gamme.</a:t>
            </a:r>
            <a:endParaRPr lang="en-US" sz="750" dirty="0"/>
          </a:p>
        </p:txBody>
      </p:sp>
      <p:sp>
        <p:nvSpPr>
          <p:cNvPr id="17" name="Shape 12"/>
          <p:cNvSpPr/>
          <p:nvPr/>
        </p:nvSpPr>
        <p:spPr>
          <a:xfrm>
            <a:off x="457200" y="3922776"/>
            <a:ext cx="8229600" cy="7772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8" name="Image 3" descr="preencoded.png"/>
          <p:cNvPicPr>
            <a:picLocks noChangeAspect="1"/>
          </p:cNvPicPr>
          <p:nvPr/>
        </p:nvPicPr>
        <p:blipFill>
          <a:blip r:embed="rId6"/>
          <a:stretch>
            <a:fillRect/>
          </a:stretch>
        </p:blipFill>
        <p:spPr>
          <a:xfrm>
            <a:off x="640080" y="4105656"/>
            <a:ext cx="274320" cy="274320"/>
          </a:xfrm>
          <a:prstGeom prst="rect">
            <a:avLst/>
          </a:prstGeom>
        </p:spPr>
      </p:pic>
      <p:sp>
        <p:nvSpPr>
          <p:cNvPr id="19" name="Text 13"/>
          <p:cNvSpPr/>
          <p:nvPr/>
        </p:nvSpPr>
        <p:spPr>
          <a:xfrm>
            <a:off x="1051560" y="3968496"/>
            <a:ext cx="7315200" cy="228600"/>
          </a:xfrm>
          <a:prstGeom prst="rect">
            <a:avLst/>
          </a:prstGeom>
          <a:noFill/>
          <a:ln/>
        </p:spPr>
        <p:txBody>
          <a:bodyPr wrap="square" lIns="0" tIns="0" rIns="0" bIns="0" rtlCol="0" anchor="ctr"/>
          <a:lstStyle/>
          <a:p>
            <a:pPr marL="0" indent="0">
              <a:buNone/>
            </a:pPr>
            <a:r>
              <a:rPr lang="en-US" sz="1050" b="1" dirty="0">
                <a:solidFill>
                  <a:srgbClr val="E8A838"/>
                </a:solidFill>
                <a:latin typeface="Calibri" pitchFamily="34" charset="0"/>
                <a:ea typeface="Calibri" pitchFamily="34" charset="-122"/>
                <a:cs typeface="Calibri" pitchFamily="34" charset="-120"/>
              </a:rPr>
              <a:t>Service premium</a:t>
            </a:r>
            <a:endParaRPr lang="en-US" sz="1050" dirty="0"/>
          </a:p>
        </p:txBody>
      </p:sp>
      <p:sp>
        <p:nvSpPr>
          <p:cNvPr id="20" name="Text 14"/>
          <p:cNvSpPr/>
          <p:nvPr/>
        </p:nvSpPr>
        <p:spPr>
          <a:xfrm>
            <a:off x="1051560" y="4215384"/>
            <a:ext cx="7406640" cy="438912"/>
          </a:xfrm>
          <a:prstGeom prst="rect">
            <a:avLst/>
          </a:prstGeom>
          <a:noFill/>
          <a:ln/>
        </p:spPr>
        <p:txBody>
          <a:bodyPr wrap="square" lIns="0" tIns="0" rIns="0" bIns="0" rtlCol="0" anchor="ctr"/>
          <a:lstStyle/>
          <a:p>
            <a:pPr marL="0" indent="0">
              <a:buNone/>
            </a:pPr>
            <a:r>
              <a:rPr lang="en-US" sz="750" dirty="0">
                <a:solidFill>
                  <a:srgbClr val="1A202C"/>
                </a:solidFill>
                <a:latin typeface="Calibri" pitchFamily="34" charset="0"/>
                <a:ea typeface="Calibri" pitchFamily="34" charset="-122"/>
                <a:cs typeface="Calibri" pitchFamily="34" charset="-120"/>
              </a:rPr>
              <a:t>C'est un service haut de gamme. Pour un VTC : véhicule haut de gamme, eau/bonbons/chargeurs, tenue soignée, service personnalisé, tarif justifié par la qualité.</a:t>
            </a:r>
            <a:endParaRPr lang="en-US" sz="750" dirty="0"/>
          </a:p>
        </p:txBody>
      </p:sp>
      <p:sp>
        <p:nvSpPr>
          <p:cNvPr id="21" name="Shape 15"/>
          <p:cNvSpPr/>
          <p:nvPr/>
        </p:nvSpPr>
        <p:spPr>
          <a:xfrm>
            <a:off x="0" y="4823460"/>
            <a:ext cx="9144000" cy="320040"/>
          </a:xfrm>
          <a:prstGeom prst="rect">
            <a:avLst/>
          </a:prstGeom>
          <a:solidFill>
            <a:srgbClr val="1A1F2E"/>
          </a:solidFill>
          <a:ln/>
        </p:spPr>
        <p:txBody>
          <a:bodyPr/>
          <a:lstStyle/>
          <a:p>
            <a:endParaRPr lang="fr-FR"/>
          </a:p>
        </p:txBody>
      </p:sp>
      <p:sp>
        <p:nvSpPr>
          <p:cNvPr id="22" name="Text 16"/>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23" name="Text 17"/>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MODULE 4 — SEGMENTATION, CIBLAGE, POSITIONNEMENT</a:t>
            </a:r>
            <a:endParaRPr lang="en-US" sz="9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1800" b="1" dirty="0">
                <a:solidFill>
                  <a:srgbClr val="1A202C"/>
                </a:solidFill>
                <a:latin typeface="Georgia" pitchFamily="34" charset="0"/>
                <a:ea typeface="Georgia" pitchFamily="34" charset="-122"/>
                <a:cs typeface="Georgia" pitchFamily="34" charset="-120"/>
              </a:rPr>
              <a:t>Cible, segmentation et positionnement</a:t>
            </a:r>
            <a:endParaRPr lang="en-US" sz="1800" dirty="0"/>
          </a:p>
        </p:txBody>
      </p:sp>
      <p:sp>
        <p:nvSpPr>
          <p:cNvPr id="5" name="Shape 3"/>
          <p:cNvSpPr/>
          <p:nvPr/>
        </p:nvSpPr>
        <p:spPr>
          <a:xfrm>
            <a:off x="457200" y="1234440"/>
            <a:ext cx="8229600" cy="10515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640080" y="1508760"/>
            <a:ext cx="320040" cy="320040"/>
          </a:xfrm>
          <a:prstGeom prst="rect">
            <a:avLst/>
          </a:prstGeom>
        </p:spPr>
      </p:pic>
      <p:sp>
        <p:nvSpPr>
          <p:cNvPr id="7" name="Text 4"/>
          <p:cNvSpPr/>
          <p:nvPr/>
        </p:nvSpPr>
        <p:spPr>
          <a:xfrm>
            <a:off x="1097280" y="1325880"/>
            <a:ext cx="7315200" cy="274320"/>
          </a:xfrm>
          <a:prstGeom prst="rect">
            <a:avLst/>
          </a:prstGeom>
          <a:noFill/>
          <a:ln/>
        </p:spPr>
        <p:txBody>
          <a:bodyPr wrap="square" lIns="0" tIns="0" rIns="0" bIns="0" rtlCol="0" anchor="ctr"/>
          <a:lstStyle/>
          <a:p>
            <a:pPr marL="0" indent="0">
              <a:buNone/>
            </a:pPr>
            <a:r>
              <a:rPr lang="en-US" sz="1200" b="1" dirty="0">
                <a:solidFill>
                  <a:srgbClr val="C53030"/>
                </a:solidFill>
                <a:latin typeface="Calibri" pitchFamily="34" charset="0"/>
                <a:ea typeface="Calibri" pitchFamily="34" charset="-122"/>
                <a:cs typeface="Calibri" pitchFamily="34" charset="-120"/>
              </a:rPr>
              <a:t>Qu'est-ce qu'une cible ?</a:t>
            </a:r>
            <a:endParaRPr lang="en-US" sz="1200" dirty="0"/>
          </a:p>
        </p:txBody>
      </p:sp>
      <p:sp>
        <p:nvSpPr>
          <p:cNvPr id="8" name="Text 5"/>
          <p:cNvSpPr/>
          <p:nvPr/>
        </p:nvSpPr>
        <p:spPr>
          <a:xfrm>
            <a:off x="1097280" y="1645920"/>
            <a:ext cx="7315200" cy="548640"/>
          </a:xfrm>
          <a:prstGeom prst="rect">
            <a:avLst/>
          </a:prstGeom>
          <a:noFill/>
          <a:ln/>
        </p:spPr>
        <p:txBody>
          <a:bodyPr wrap="square" lIns="0" tIns="0" rIns="0" bIns="0" rtlCol="0" anchor="ctr"/>
          <a:lstStyle/>
          <a:p>
            <a:pPr marL="0" indent="0">
              <a:buNone/>
            </a:pPr>
            <a:r>
              <a:rPr lang="en-US" sz="850" dirty="0">
                <a:solidFill>
                  <a:srgbClr val="1A202C"/>
                </a:solidFill>
                <a:latin typeface="Calibri" pitchFamily="34" charset="0"/>
                <a:ea typeface="Calibri" pitchFamily="34" charset="-122"/>
                <a:cs typeface="Calibri" pitchFamily="34" charset="-120"/>
              </a:rPr>
              <a:t>La cible correspond à la clientèle à qui nous allons vendre le produit ou le service. Ex. VTC : particuliers, entreprises, touristes, patients médicaux…</a:t>
            </a:r>
            <a:endParaRPr lang="en-US" sz="850" dirty="0"/>
          </a:p>
        </p:txBody>
      </p:sp>
      <p:sp>
        <p:nvSpPr>
          <p:cNvPr id="9" name="Shape 6"/>
          <p:cNvSpPr/>
          <p:nvPr/>
        </p:nvSpPr>
        <p:spPr>
          <a:xfrm>
            <a:off x="457200" y="2423160"/>
            <a:ext cx="8229600" cy="10515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0" name="Image 1" descr="preencoded.png"/>
          <p:cNvPicPr>
            <a:picLocks noChangeAspect="1"/>
          </p:cNvPicPr>
          <p:nvPr/>
        </p:nvPicPr>
        <p:blipFill>
          <a:blip r:embed="rId4"/>
          <a:stretch>
            <a:fillRect/>
          </a:stretch>
        </p:blipFill>
        <p:spPr>
          <a:xfrm>
            <a:off x="640080" y="2697480"/>
            <a:ext cx="320040" cy="320040"/>
          </a:xfrm>
          <a:prstGeom prst="rect">
            <a:avLst/>
          </a:prstGeom>
        </p:spPr>
      </p:pic>
      <p:sp>
        <p:nvSpPr>
          <p:cNvPr id="11" name="Text 7"/>
          <p:cNvSpPr/>
          <p:nvPr/>
        </p:nvSpPr>
        <p:spPr>
          <a:xfrm>
            <a:off x="1097280" y="2514600"/>
            <a:ext cx="7315200" cy="274320"/>
          </a:xfrm>
          <a:prstGeom prst="rect">
            <a:avLst/>
          </a:prstGeom>
          <a:noFill/>
          <a:ln/>
        </p:spPr>
        <p:txBody>
          <a:bodyPr wrap="square" lIns="0" tIns="0" rIns="0" bIns="0" rtlCol="0" anchor="ctr"/>
          <a:lstStyle/>
          <a:p>
            <a:pPr marL="0" indent="0">
              <a:buNone/>
            </a:pPr>
            <a:r>
              <a:rPr lang="en-US" sz="1200" b="1" dirty="0">
                <a:solidFill>
                  <a:srgbClr val="2B6CB0"/>
                </a:solidFill>
                <a:latin typeface="Calibri" pitchFamily="34" charset="0"/>
                <a:ea typeface="Calibri" pitchFamily="34" charset="-122"/>
                <a:cs typeface="Calibri" pitchFamily="34" charset="-120"/>
              </a:rPr>
              <a:t>Qu'est-ce que la segmentation ?</a:t>
            </a:r>
            <a:endParaRPr lang="en-US" sz="1200" dirty="0"/>
          </a:p>
        </p:txBody>
      </p:sp>
      <p:sp>
        <p:nvSpPr>
          <p:cNvPr id="12" name="Text 8"/>
          <p:cNvSpPr/>
          <p:nvPr/>
        </p:nvSpPr>
        <p:spPr>
          <a:xfrm>
            <a:off x="1097280" y="2834640"/>
            <a:ext cx="7315200" cy="548640"/>
          </a:xfrm>
          <a:prstGeom prst="rect">
            <a:avLst/>
          </a:prstGeom>
          <a:noFill/>
          <a:ln/>
        </p:spPr>
        <p:txBody>
          <a:bodyPr wrap="square" lIns="0" tIns="0" rIns="0" bIns="0" rtlCol="0" anchor="ctr"/>
          <a:lstStyle/>
          <a:p>
            <a:pPr marL="0" indent="0">
              <a:buNone/>
            </a:pPr>
            <a:r>
              <a:rPr lang="en-US" sz="850" dirty="0">
                <a:solidFill>
                  <a:srgbClr val="1A202C"/>
                </a:solidFill>
                <a:latin typeface="Calibri" pitchFamily="34" charset="0"/>
                <a:ea typeface="Calibri" pitchFamily="34" charset="-122"/>
                <a:cs typeface="Calibri" pitchFamily="34" charset="-120"/>
              </a:rPr>
              <a:t>La segmentation consiste à diviser le marché en plusieurs sous-groupes, chaque groupe rassemble des personnes ayant les mêmes caractéristiques et comportements vis-à-vis du produit ou service.</a:t>
            </a:r>
            <a:endParaRPr lang="en-US" sz="850" dirty="0"/>
          </a:p>
        </p:txBody>
      </p:sp>
      <p:sp>
        <p:nvSpPr>
          <p:cNvPr id="13" name="Shape 9"/>
          <p:cNvSpPr/>
          <p:nvPr/>
        </p:nvSpPr>
        <p:spPr>
          <a:xfrm>
            <a:off x="457200" y="3611880"/>
            <a:ext cx="8229600" cy="10515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4" name="Image 2" descr="preencoded.png"/>
          <p:cNvPicPr>
            <a:picLocks noChangeAspect="1"/>
          </p:cNvPicPr>
          <p:nvPr/>
        </p:nvPicPr>
        <p:blipFill>
          <a:blip r:embed="rId5"/>
          <a:stretch>
            <a:fillRect/>
          </a:stretch>
        </p:blipFill>
        <p:spPr>
          <a:xfrm>
            <a:off x="640080" y="3886200"/>
            <a:ext cx="320040" cy="320040"/>
          </a:xfrm>
          <a:prstGeom prst="rect">
            <a:avLst/>
          </a:prstGeom>
        </p:spPr>
      </p:pic>
      <p:sp>
        <p:nvSpPr>
          <p:cNvPr id="15" name="Text 10"/>
          <p:cNvSpPr/>
          <p:nvPr/>
        </p:nvSpPr>
        <p:spPr>
          <a:xfrm>
            <a:off x="1097280" y="3703320"/>
            <a:ext cx="7315200" cy="274320"/>
          </a:xfrm>
          <a:prstGeom prst="rect">
            <a:avLst/>
          </a:prstGeom>
          <a:noFill/>
          <a:ln/>
        </p:spPr>
        <p:txBody>
          <a:bodyPr wrap="square" lIns="0" tIns="0" rIns="0" bIns="0" rtlCol="0" anchor="ctr"/>
          <a:lstStyle/>
          <a:p>
            <a:pPr marL="0" indent="0">
              <a:buNone/>
            </a:pPr>
            <a:r>
              <a:rPr lang="en-US" sz="1200" b="1" dirty="0">
                <a:solidFill>
                  <a:srgbClr val="0B5563"/>
                </a:solidFill>
                <a:latin typeface="Calibri" pitchFamily="34" charset="0"/>
                <a:ea typeface="Calibri" pitchFamily="34" charset="-122"/>
                <a:cs typeface="Calibri" pitchFamily="34" charset="-120"/>
              </a:rPr>
              <a:t>Qu'est-ce que le positionnement ?</a:t>
            </a:r>
            <a:endParaRPr lang="en-US" sz="1200" dirty="0"/>
          </a:p>
        </p:txBody>
      </p:sp>
      <p:sp>
        <p:nvSpPr>
          <p:cNvPr id="16" name="Text 11"/>
          <p:cNvSpPr/>
          <p:nvPr/>
        </p:nvSpPr>
        <p:spPr>
          <a:xfrm>
            <a:off x="1097280" y="4023360"/>
            <a:ext cx="7315200" cy="548640"/>
          </a:xfrm>
          <a:prstGeom prst="rect">
            <a:avLst/>
          </a:prstGeom>
          <a:noFill/>
          <a:ln/>
        </p:spPr>
        <p:txBody>
          <a:bodyPr wrap="square" lIns="0" tIns="0" rIns="0" bIns="0" rtlCol="0" anchor="ctr"/>
          <a:lstStyle/>
          <a:p>
            <a:pPr marL="0" indent="0">
              <a:buNone/>
            </a:pPr>
            <a:r>
              <a:rPr lang="en-US" sz="850" dirty="0">
                <a:solidFill>
                  <a:srgbClr val="1A202C"/>
                </a:solidFill>
                <a:latin typeface="Calibri" pitchFamily="34" charset="0"/>
                <a:ea typeface="Calibri" pitchFamily="34" charset="-122"/>
                <a:cs typeface="Calibri" pitchFamily="34" charset="-120"/>
              </a:rPr>
              <a:t>Le positionnement répond à la question : quel produit ou service allons-nous proposer ?</a:t>
            </a: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 Service haut de gamme</a:t>
            </a: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 Moyen de gamme</a:t>
            </a: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 Entrée de gamme</a:t>
            </a:r>
            <a:endParaRPr lang="en-US" sz="850" dirty="0"/>
          </a:p>
        </p:txBody>
      </p:sp>
      <p:sp>
        <p:nvSpPr>
          <p:cNvPr id="17" name="Shape 12"/>
          <p:cNvSpPr/>
          <p:nvPr/>
        </p:nvSpPr>
        <p:spPr>
          <a:xfrm>
            <a:off x="0" y="4823460"/>
            <a:ext cx="9144000" cy="320040"/>
          </a:xfrm>
          <a:prstGeom prst="rect">
            <a:avLst/>
          </a:prstGeom>
          <a:solidFill>
            <a:srgbClr val="1A1F2E"/>
          </a:solidFill>
          <a:ln/>
        </p:spPr>
        <p:txBody>
          <a:bodyPr/>
          <a:lstStyle/>
          <a:p>
            <a:endParaRPr lang="fr-FR"/>
          </a:p>
        </p:txBody>
      </p:sp>
      <p:sp>
        <p:nvSpPr>
          <p:cNvPr id="18" name="Text 13"/>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19" name="Text 14"/>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MODULE 5 — VALORISER LA PRESTATION VTC</a:t>
            </a:r>
            <a:endParaRPr lang="en-US" sz="9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1800" b="1" dirty="0">
                <a:solidFill>
                  <a:srgbClr val="1A202C"/>
                </a:solidFill>
                <a:latin typeface="Georgia" pitchFamily="34" charset="0"/>
                <a:ea typeface="Georgia" pitchFamily="34" charset="-122"/>
                <a:cs typeface="Georgia" pitchFamily="34" charset="-120"/>
              </a:rPr>
              <a:t>Qualités du chauffeur VTC &amp; différenciation</a:t>
            </a:r>
            <a:endParaRPr lang="en-US" sz="1800" dirty="0"/>
          </a:p>
        </p:txBody>
      </p:sp>
      <p:sp>
        <p:nvSpPr>
          <p:cNvPr id="5" name="Shape 3"/>
          <p:cNvSpPr/>
          <p:nvPr/>
        </p:nvSpPr>
        <p:spPr>
          <a:xfrm>
            <a:off x="457200" y="1234440"/>
            <a:ext cx="3931920" cy="3200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640080" y="1371600"/>
            <a:ext cx="274320" cy="274320"/>
          </a:xfrm>
          <a:prstGeom prst="rect">
            <a:avLst/>
          </a:prstGeom>
        </p:spPr>
      </p:pic>
      <p:sp>
        <p:nvSpPr>
          <p:cNvPr id="7" name="Text 4"/>
          <p:cNvSpPr/>
          <p:nvPr/>
        </p:nvSpPr>
        <p:spPr>
          <a:xfrm>
            <a:off x="1005840" y="1325880"/>
            <a:ext cx="3200400" cy="320040"/>
          </a:xfrm>
          <a:prstGeom prst="rect">
            <a:avLst/>
          </a:prstGeom>
          <a:noFill/>
          <a:ln/>
        </p:spPr>
        <p:txBody>
          <a:bodyPr wrap="square" lIns="0" tIns="0" rIns="0" bIns="0" rtlCol="0" anchor="ctr"/>
          <a:lstStyle/>
          <a:p>
            <a:pPr marL="0" indent="0">
              <a:buNone/>
            </a:pPr>
            <a:r>
              <a:rPr lang="en-US" sz="950" b="1" dirty="0">
                <a:solidFill>
                  <a:srgbClr val="0B5563"/>
                </a:solidFill>
                <a:latin typeface="Calibri" pitchFamily="34" charset="0"/>
                <a:ea typeface="Calibri" pitchFamily="34" charset="-122"/>
                <a:cs typeface="Calibri" pitchFamily="34" charset="-120"/>
              </a:rPr>
              <a:t>Un chauffeur VTC est plus qu'un simple chauffeur</a:t>
            </a:r>
            <a:endParaRPr lang="en-US" sz="950" dirty="0"/>
          </a:p>
        </p:txBody>
      </p:sp>
      <p:sp>
        <p:nvSpPr>
          <p:cNvPr id="8" name="Text 5"/>
          <p:cNvSpPr/>
          <p:nvPr/>
        </p:nvSpPr>
        <p:spPr>
          <a:xfrm>
            <a:off x="640080" y="1691640"/>
            <a:ext cx="3566160" cy="274320"/>
          </a:xfrm>
          <a:prstGeom prst="rect">
            <a:avLst/>
          </a:prstGeom>
          <a:noFill/>
          <a:ln/>
        </p:spPr>
        <p:txBody>
          <a:bodyPr wrap="square" rtlCol="0" anchor="ctr"/>
          <a:lstStyle/>
          <a:p>
            <a:pPr marL="0" indent="0">
              <a:buNone/>
            </a:pPr>
            <a:r>
              <a:rPr lang="en-US" sz="800" dirty="0">
                <a:solidFill>
                  <a:srgbClr val="1A202C"/>
                </a:solidFill>
                <a:latin typeface="Calibri" pitchFamily="34" charset="0"/>
                <a:ea typeface="Calibri" pitchFamily="34" charset="-122"/>
                <a:cs typeface="Calibri" pitchFamily="34" charset="-120"/>
              </a:rPr>
              <a:t>✓  Bonne présentation vestimentaire</a:t>
            </a:r>
            <a:endParaRPr lang="en-US" sz="800" dirty="0"/>
          </a:p>
        </p:txBody>
      </p:sp>
      <p:sp>
        <p:nvSpPr>
          <p:cNvPr id="9" name="Text 6"/>
          <p:cNvSpPr/>
          <p:nvPr/>
        </p:nvSpPr>
        <p:spPr>
          <a:xfrm>
            <a:off x="640080" y="2011680"/>
            <a:ext cx="3566160" cy="274320"/>
          </a:xfrm>
          <a:prstGeom prst="rect">
            <a:avLst/>
          </a:prstGeom>
          <a:noFill/>
          <a:ln/>
        </p:spPr>
        <p:txBody>
          <a:bodyPr wrap="square" rtlCol="0" anchor="ctr"/>
          <a:lstStyle/>
          <a:p>
            <a:pPr marL="0" indent="0">
              <a:buNone/>
            </a:pPr>
            <a:r>
              <a:rPr lang="en-US" sz="800" dirty="0">
                <a:solidFill>
                  <a:srgbClr val="1A202C"/>
                </a:solidFill>
                <a:latin typeface="Calibri" pitchFamily="34" charset="0"/>
                <a:ea typeface="Calibri" pitchFamily="34" charset="-122"/>
                <a:cs typeface="Calibri" pitchFamily="34" charset="-120"/>
              </a:rPr>
              <a:t>✓  Courtois, serviable, chaleureux</a:t>
            </a:r>
            <a:endParaRPr lang="en-US" sz="800" dirty="0"/>
          </a:p>
        </p:txBody>
      </p:sp>
      <p:sp>
        <p:nvSpPr>
          <p:cNvPr id="10" name="Text 7"/>
          <p:cNvSpPr/>
          <p:nvPr/>
        </p:nvSpPr>
        <p:spPr>
          <a:xfrm>
            <a:off x="640080" y="2331720"/>
            <a:ext cx="3566160" cy="274320"/>
          </a:xfrm>
          <a:prstGeom prst="rect">
            <a:avLst/>
          </a:prstGeom>
          <a:noFill/>
          <a:ln/>
        </p:spPr>
        <p:txBody>
          <a:bodyPr wrap="square" rtlCol="0" anchor="ctr"/>
          <a:lstStyle/>
          <a:p>
            <a:pPr marL="0" indent="0">
              <a:buNone/>
            </a:pPr>
            <a:r>
              <a:rPr lang="en-US" sz="800" dirty="0">
                <a:solidFill>
                  <a:srgbClr val="1A202C"/>
                </a:solidFill>
                <a:latin typeface="Calibri" pitchFamily="34" charset="0"/>
                <a:ea typeface="Calibri" pitchFamily="34" charset="-122"/>
                <a:cs typeface="Calibri" pitchFamily="34" charset="-120"/>
              </a:rPr>
              <a:t>✓  Véhicule de qualité (&lt; 7 ans, ≥ 4m50 de long)</a:t>
            </a:r>
            <a:endParaRPr lang="en-US" sz="800" dirty="0"/>
          </a:p>
        </p:txBody>
      </p:sp>
      <p:sp>
        <p:nvSpPr>
          <p:cNvPr id="11" name="Text 8"/>
          <p:cNvSpPr/>
          <p:nvPr/>
        </p:nvSpPr>
        <p:spPr>
          <a:xfrm>
            <a:off x="640080" y="2651760"/>
            <a:ext cx="3566160" cy="274320"/>
          </a:xfrm>
          <a:prstGeom prst="rect">
            <a:avLst/>
          </a:prstGeom>
          <a:noFill/>
          <a:ln/>
        </p:spPr>
        <p:txBody>
          <a:bodyPr wrap="square" rtlCol="0" anchor="ctr"/>
          <a:lstStyle/>
          <a:p>
            <a:pPr marL="0" indent="0">
              <a:buNone/>
            </a:pPr>
            <a:r>
              <a:rPr lang="en-US" sz="800" dirty="0">
                <a:solidFill>
                  <a:srgbClr val="1A202C"/>
                </a:solidFill>
                <a:latin typeface="Calibri" pitchFamily="34" charset="0"/>
                <a:ea typeface="Calibri" pitchFamily="34" charset="-122"/>
                <a:cs typeface="Calibri" pitchFamily="34" charset="-120"/>
              </a:rPr>
              <a:t>✓  Bouteilles d'eau, bonbons, chargeurs à disposition</a:t>
            </a:r>
            <a:endParaRPr lang="en-US" sz="800" dirty="0"/>
          </a:p>
        </p:txBody>
      </p:sp>
      <p:sp>
        <p:nvSpPr>
          <p:cNvPr id="12" name="Text 9"/>
          <p:cNvSpPr/>
          <p:nvPr/>
        </p:nvSpPr>
        <p:spPr>
          <a:xfrm>
            <a:off x="640080" y="2971800"/>
            <a:ext cx="3566160" cy="274320"/>
          </a:xfrm>
          <a:prstGeom prst="rect">
            <a:avLst/>
          </a:prstGeom>
          <a:noFill/>
          <a:ln/>
        </p:spPr>
        <p:txBody>
          <a:bodyPr wrap="square" rtlCol="0" anchor="ctr"/>
          <a:lstStyle/>
          <a:p>
            <a:pPr marL="0" indent="0">
              <a:buNone/>
            </a:pPr>
            <a:r>
              <a:rPr lang="en-US" sz="800" dirty="0">
                <a:solidFill>
                  <a:srgbClr val="1A202C"/>
                </a:solidFill>
                <a:latin typeface="Calibri" pitchFamily="34" charset="0"/>
                <a:ea typeface="Calibri" pitchFamily="34" charset="-122"/>
                <a:cs typeface="Calibri" pitchFamily="34" charset="-120"/>
              </a:rPr>
              <a:t>✓  Ponctualité irréprochable</a:t>
            </a:r>
            <a:endParaRPr lang="en-US" sz="800" dirty="0"/>
          </a:p>
        </p:txBody>
      </p:sp>
      <p:sp>
        <p:nvSpPr>
          <p:cNvPr id="13" name="Text 10"/>
          <p:cNvSpPr/>
          <p:nvPr/>
        </p:nvSpPr>
        <p:spPr>
          <a:xfrm>
            <a:off x="640080" y="3291840"/>
            <a:ext cx="3566160" cy="274320"/>
          </a:xfrm>
          <a:prstGeom prst="rect">
            <a:avLst/>
          </a:prstGeom>
          <a:noFill/>
          <a:ln/>
        </p:spPr>
        <p:txBody>
          <a:bodyPr wrap="square" rtlCol="0" anchor="ctr"/>
          <a:lstStyle/>
          <a:p>
            <a:pPr marL="0" indent="0">
              <a:buNone/>
            </a:pPr>
            <a:r>
              <a:rPr lang="en-US" sz="800" dirty="0">
                <a:solidFill>
                  <a:srgbClr val="1A202C"/>
                </a:solidFill>
                <a:latin typeface="Calibri" pitchFamily="34" charset="0"/>
                <a:ea typeface="Calibri" pitchFamily="34" charset="-122"/>
                <a:cs typeface="Calibri" pitchFamily="34" charset="-120"/>
              </a:rPr>
              <a:t>✓  Discrétion et adaptation au client</a:t>
            </a:r>
            <a:endParaRPr lang="en-US" sz="800" dirty="0"/>
          </a:p>
        </p:txBody>
      </p:sp>
      <p:sp>
        <p:nvSpPr>
          <p:cNvPr id="14" name="Text 11"/>
          <p:cNvSpPr/>
          <p:nvPr/>
        </p:nvSpPr>
        <p:spPr>
          <a:xfrm>
            <a:off x="640080" y="3611880"/>
            <a:ext cx="3566160" cy="274320"/>
          </a:xfrm>
          <a:prstGeom prst="rect">
            <a:avLst/>
          </a:prstGeom>
          <a:noFill/>
          <a:ln/>
        </p:spPr>
        <p:txBody>
          <a:bodyPr wrap="square" rtlCol="0" anchor="ctr"/>
          <a:lstStyle/>
          <a:p>
            <a:pPr marL="0" indent="0">
              <a:buNone/>
            </a:pPr>
            <a:r>
              <a:rPr lang="en-US" sz="800" dirty="0">
                <a:solidFill>
                  <a:srgbClr val="1A202C"/>
                </a:solidFill>
                <a:latin typeface="Calibri" pitchFamily="34" charset="0"/>
                <a:ea typeface="Calibri" pitchFamily="34" charset="-122"/>
                <a:cs typeface="Calibri" pitchFamily="34" charset="-120"/>
              </a:rPr>
              <a:t>✓  Véhicule toujours propre (pas de désodorisant)</a:t>
            </a:r>
            <a:endParaRPr lang="en-US" sz="800" dirty="0"/>
          </a:p>
        </p:txBody>
      </p:sp>
      <p:sp>
        <p:nvSpPr>
          <p:cNvPr id="15" name="Text 12"/>
          <p:cNvSpPr/>
          <p:nvPr/>
        </p:nvSpPr>
        <p:spPr>
          <a:xfrm>
            <a:off x="640080" y="3931920"/>
            <a:ext cx="3566160" cy="274320"/>
          </a:xfrm>
          <a:prstGeom prst="rect">
            <a:avLst/>
          </a:prstGeom>
          <a:noFill/>
          <a:ln/>
        </p:spPr>
        <p:txBody>
          <a:bodyPr wrap="square" rtlCol="0" anchor="ctr"/>
          <a:lstStyle/>
          <a:p>
            <a:pPr marL="0" indent="0">
              <a:buNone/>
            </a:pPr>
            <a:r>
              <a:rPr lang="en-US" sz="800" dirty="0">
                <a:solidFill>
                  <a:srgbClr val="1A202C"/>
                </a:solidFill>
                <a:latin typeface="Calibri" pitchFamily="34" charset="0"/>
                <a:ea typeface="Calibri" pitchFamily="34" charset="-122"/>
                <a:cs typeface="Calibri" pitchFamily="34" charset="-120"/>
              </a:rPr>
              <a:t>✓  Pas de sujets politiques ou religieux</a:t>
            </a:r>
            <a:endParaRPr lang="en-US" sz="800" dirty="0"/>
          </a:p>
        </p:txBody>
      </p:sp>
      <p:sp>
        <p:nvSpPr>
          <p:cNvPr id="16" name="Shape 13"/>
          <p:cNvSpPr/>
          <p:nvPr/>
        </p:nvSpPr>
        <p:spPr>
          <a:xfrm>
            <a:off x="4663440" y="1234440"/>
            <a:ext cx="4023360" cy="3200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7" name="Image 1" descr="preencoded.png"/>
          <p:cNvPicPr>
            <a:picLocks noChangeAspect="1"/>
          </p:cNvPicPr>
          <p:nvPr/>
        </p:nvPicPr>
        <p:blipFill>
          <a:blip r:embed="rId4"/>
          <a:stretch>
            <a:fillRect/>
          </a:stretch>
        </p:blipFill>
        <p:spPr>
          <a:xfrm>
            <a:off x="4846320" y="1371600"/>
            <a:ext cx="274320" cy="274320"/>
          </a:xfrm>
          <a:prstGeom prst="rect">
            <a:avLst/>
          </a:prstGeom>
        </p:spPr>
      </p:pic>
      <p:sp>
        <p:nvSpPr>
          <p:cNvPr id="18" name="Text 14"/>
          <p:cNvSpPr/>
          <p:nvPr/>
        </p:nvSpPr>
        <p:spPr>
          <a:xfrm>
            <a:off x="5212080" y="1325880"/>
            <a:ext cx="3200400" cy="320040"/>
          </a:xfrm>
          <a:prstGeom prst="rect">
            <a:avLst/>
          </a:prstGeom>
          <a:noFill/>
          <a:ln/>
        </p:spPr>
        <p:txBody>
          <a:bodyPr wrap="square" lIns="0" tIns="0" rIns="0" bIns="0" rtlCol="0" anchor="ctr"/>
          <a:lstStyle/>
          <a:p>
            <a:pPr marL="0" indent="0">
              <a:buNone/>
            </a:pPr>
            <a:r>
              <a:rPr lang="en-US" sz="950" b="1" dirty="0">
                <a:solidFill>
                  <a:srgbClr val="C05621"/>
                </a:solidFill>
                <a:latin typeface="Calibri" pitchFamily="34" charset="0"/>
                <a:ea typeface="Calibri" pitchFamily="34" charset="-122"/>
                <a:cs typeface="Calibri" pitchFamily="34" charset="-120"/>
              </a:rPr>
              <a:t>Stratégie de différenciation tarifaire</a:t>
            </a:r>
            <a:endParaRPr lang="en-US" sz="950" dirty="0"/>
          </a:p>
        </p:txBody>
      </p:sp>
      <p:sp>
        <p:nvSpPr>
          <p:cNvPr id="19" name="Shape 15"/>
          <p:cNvSpPr/>
          <p:nvPr/>
        </p:nvSpPr>
        <p:spPr>
          <a:xfrm>
            <a:off x="4846320" y="1737360"/>
            <a:ext cx="36576" cy="411480"/>
          </a:xfrm>
          <a:prstGeom prst="rect">
            <a:avLst/>
          </a:prstGeom>
          <a:solidFill>
            <a:srgbClr val="C05621"/>
          </a:solidFill>
          <a:ln/>
        </p:spPr>
        <p:txBody>
          <a:bodyPr/>
          <a:lstStyle/>
          <a:p>
            <a:endParaRPr lang="fr-FR"/>
          </a:p>
        </p:txBody>
      </p:sp>
      <p:sp>
        <p:nvSpPr>
          <p:cNvPr id="20" name="Text 16"/>
          <p:cNvSpPr/>
          <p:nvPr/>
        </p:nvSpPr>
        <p:spPr>
          <a:xfrm>
            <a:off x="5029200" y="1737360"/>
            <a:ext cx="3474720" cy="182880"/>
          </a:xfrm>
          <a:prstGeom prst="rect">
            <a:avLst/>
          </a:prstGeom>
          <a:noFill/>
          <a:ln/>
        </p:spPr>
        <p:txBody>
          <a:bodyPr wrap="square" lIns="0" tIns="0" rIns="0" bIns="0" rtlCol="0" anchor="ctr"/>
          <a:lstStyle/>
          <a:p>
            <a:pPr marL="0" indent="0">
              <a:buNone/>
            </a:pPr>
            <a:r>
              <a:rPr lang="en-US" sz="900" b="1" dirty="0">
                <a:solidFill>
                  <a:srgbClr val="1A202C"/>
                </a:solidFill>
                <a:latin typeface="Calibri" pitchFamily="34" charset="0"/>
                <a:ea typeface="Calibri" pitchFamily="34" charset="-122"/>
                <a:cs typeface="Calibri" pitchFamily="34" charset="-120"/>
              </a:rPr>
              <a:t>Forfait aéroport/gare</a:t>
            </a:r>
            <a:endParaRPr lang="en-US" sz="900" dirty="0"/>
          </a:p>
        </p:txBody>
      </p:sp>
      <p:sp>
        <p:nvSpPr>
          <p:cNvPr id="21" name="Text 17"/>
          <p:cNvSpPr/>
          <p:nvPr/>
        </p:nvSpPr>
        <p:spPr>
          <a:xfrm>
            <a:off x="5029200" y="1938528"/>
            <a:ext cx="3474720" cy="1828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Prix fixe rassurant, facile à communiquer</a:t>
            </a:r>
            <a:endParaRPr lang="en-US" sz="750" dirty="0"/>
          </a:p>
        </p:txBody>
      </p:sp>
      <p:sp>
        <p:nvSpPr>
          <p:cNvPr id="22" name="Shape 18"/>
          <p:cNvSpPr/>
          <p:nvPr/>
        </p:nvSpPr>
        <p:spPr>
          <a:xfrm>
            <a:off x="4846320" y="2240280"/>
            <a:ext cx="36576" cy="411480"/>
          </a:xfrm>
          <a:prstGeom prst="rect">
            <a:avLst/>
          </a:prstGeom>
          <a:solidFill>
            <a:srgbClr val="C05621"/>
          </a:solidFill>
          <a:ln/>
        </p:spPr>
        <p:txBody>
          <a:bodyPr/>
          <a:lstStyle/>
          <a:p>
            <a:endParaRPr lang="fr-FR"/>
          </a:p>
        </p:txBody>
      </p:sp>
      <p:sp>
        <p:nvSpPr>
          <p:cNvPr id="23" name="Text 19"/>
          <p:cNvSpPr/>
          <p:nvPr/>
        </p:nvSpPr>
        <p:spPr>
          <a:xfrm>
            <a:off x="5029200" y="2240280"/>
            <a:ext cx="3474720" cy="182880"/>
          </a:xfrm>
          <a:prstGeom prst="rect">
            <a:avLst/>
          </a:prstGeom>
          <a:noFill/>
          <a:ln/>
        </p:spPr>
        <p:txBody>
          <a:bodyPr wrap="square" lIns="0" tIns="0" rIns="0" bIns="0" rtlCol="0" anchor="ctr"/>
          <a:lstStyle/>
          <a:p>
            <a:pPr marL="0" indent="0">
              <a:buNone/>
            </a:pPr>
            <a:r>
              <a:rPr lang="en-US" sz="900" b="1" dirty="0">
                <a:solidFill>
                  <a:srgbClr val="1A202C"/>
                </a:solidFill>
                <a:latin typeface="Calibri" pitchFamily="34" charset="0"/>
                <a:ea typeface="Calibri" pitchFamily="34" charset="-122"/>
                <a:cs typeface="Calibri" pitchFamily="34" charset="-120"/>
              </a:rPr>
              <a:t>Tarif horaire (mise à disposition)</a:t>
            </a:r>
            <a:endParaRPr lang="en-US" sz="900" dirty="0"/>
          </a:p>
        </p:txBody>
      </p:sp>
      <p:sp>
        <p:nvSpPr>
          <p:cNvPr id="24" name="Text 20"/>
          <p:cNvSpPr/>
          <p:nvPr/>
        </p:nvSpPr>
        <p:spPr>
          <a:xfrm>
            <a:off x="5029200" y="2441448"/>
            <a:ext cx="3474720" cy="1828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Événements, mariages, journées business</a:t>
            </a:r>
            <a:endParaRPr lang="en-US" sz="750" dirty="0"/>
          </a:p>
        </p:txBody>
      </p:sp>
      <p:sp>
        <p:nvSpPr>
          <p:cNvPr id="25" name="Shape 21"/>
          <p:cNvSpPr/>
          <p:nvPr/>
        </p:nvSpPr>
        <p:spPr>
          <a:xfrm>
            <a:off x="4846320" y="2743200"/>
            <a:ext cx="36576" cy="411480"/>
          </a:xfrm>
          <a:prstGeom prst="rect">
            <a:avLst/>
          </a:prstGeom>
          <a:solidFill>
            <a:srgbClr val="C05621"/>
          </a:solidFill>
          <a:ln/>
        </p:spPr>
        <p:txBody>
          <a:bodyPr/>
          <a:lstStyle/>
          <a:p>
            <a:endParaRPr lang="fr-FR"/>
          </a:p>
        </p:txBody>
      </p:sp>
      <p:sp>
        <p:nvSpPr>
          <p:cNvPr id="26" name="Text 22"/>
          <p:cNvSpPr/>
          <p:nvPr/>
        </p:nvSpPr>
        <p:spPr>
          <a:xfrm>
            <a:off x="5029200" y="2743200"/>
            <a:ext cx="3474720" cy="182880"/>
          </a:xfrm>
          <a:prstGeom prst="rect">
            <a:avLst/>
          </a:prstGeom>
          <a:noFill/>
          <a:ln/>
        </p:spPr>
        <p:txBody>
          <a:bodyPr wrap="square" lIns="0" tIns="0" rIns="0" bIns="0" rtlCol="0" anchor="ctr"/>
          <a:lstStyle/>
          <a:p>
            <a:pPr marL="0" indent="0">
              <a:buNone/>
            </a:pPr>
            <a:r>
              <a:rPr lang="en-US" sz="900" b="1" dirty="0">
                <a:solidFill>
                  <a:srgbClr val="1A202C"/>
                </a:solidFill>
                <a:latin typeface="Calibri" pitchFamily="34" charset="0"/>
                <a:ea typeface="Calibri" pitchFamily="34" charset="-122"/>
                <a:cs typeface="Calibri" pitchFamily="34" charset="-120"/>
              </a:rPr>
              <a:t>Abonnement entreprise</a:t>
            </a:r>
            <a:endParaRPr lang="en-US" sz="900" dirty="0"/>
          </a:p>
        </p:txBody>
      </p:sp>
      <p:sp>
        <p:nvSpPr>
          <p:cNvPr id="27" name="Text 23"/>
          <p:cNvSpPr/>
          <p:nvPr/>
        </p:nvSpPr>
        <p:spPr>
          <a:xfrm>
            <a:off x="5029200" y="2944368"/>
            <a:ext cx="3474720" cy="1828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Contrat mensuel, tarifs négociés, facturation</a:t>
            </a:r>
            <a:endParaRPr lang="en-US" sz="750" dirty="0"/>
          </a:p>
        </p:txBody>
      </p:sp>
      <p:sp>
        <p:nvSpPr>
          <p:cNvPr id="28" name="Shape 24"/>
          <p:cNvSpPr/>
          <p:nvPr/>
        </p:nvSpPr>
        <p:spPr>
          <a:xfrm>
            <a:off x="4846320" y="3246120"/>
            <a:ext cx="36576" cy="411480"/>
          </a:xfrm>
          <a:prstGeom prst="rect">
            <a:avLst/>
          </a:prstGeom>
          <a:solidFill>
            <a:srgbClr val="C05621"/>
          </a:solidFill>
          <a:ln/>
        </p:spPr>
        <p:txBody>
          <a:bodyPr/>
          <a:lstStyle/>
          <a:p>
            <a:endParaRPr lang="fr-FR"/>
          </a:p>
        </p:txBody>
      </p:sp>
      <p:sp>
        <p:nvSpPr>
          <p:cNvPr id="29" name="Text 25"/>
          <p:cNvSpPr/>
          <p:nvPr/>
        </p:nvSpPr>
        <p:spPr>
          <a:xfrm>
            <a:off x="5029200" y="3246120"/>
            <a:ext cx="3474720" cy="182880"/>
          </a:xfrm>
          <a:prstGeom prst="rect">
            <a:avLst/>
          </a:prstGeom>
          <a:noFill/>
          <a:ln/>
        </p:spPr>
        <p:txBody>
          <a:bodyPr wrap="square" lIns="0" tIns="0" rIns="0" bIns="0" rtlCol="0" anchor="ctr"/>
          <a:lstStyle/>
          <a:p>
            <a:pPr marL="0" indent="0">
              <a:buNone/>
            </a:pPr>
            <a:r>
              <a:rPr lang="en-US" sz="900" b="1" dirty="0">
                <a:solidFill>
                  <a:srgbClr val="1A202C"/>
                </a:solidFill>
                <a:latin typeface="Calibri" pitchFamily="34" charset="0"/>
                <a:ea typeface="Calibri" pitchFamily="34" charset="-122"/>
                <a:cs typeface="Calibri" pitchFamily="34" charset="-120"/>
              </a:rPr>
              <a:t>Tarif premium</a:t>
            </a:r>
            <a:endParaRPr lang="en-US" sz="900" dirty="0"/>
          </a:p>
        </p:txBody>
      </p:sp>
      <p:sp>
        <p:nvSpPr>
          <p:cNvPr id="30" name="Text 26"/>
          <p:cNvSpPr/>
          <p:nvPr/>
        </p:nvSpPr>
        <p:spPr>
          <a:xfrm>
            <a:off x="5029200" y="3447288"/>
            <a:ext cx="3474720" cy="1828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Véhicule haut de gamme, services VIP inclus</a:t>
            </a:r>
            <a:endParaRPr lang="en-US" sz="750" dirty="0"/>
          </a:p>
        </p:txBody>
      </p:sp>
      <p:sp>
        <p:nvSpPr>
          <p:cNvPr id="31" name="Shape 27"/>
          <p:cNvSpPr/>
          <p:nvPr/>
        </p:nvSpPr>
        <p:spPr>
          <a:xfrm>
            <a:off x="4846320" y="3749040"/>
            <a:ext cx="36576" cy="411480"/>
          </a:xfrm>
          <a:prstGeom prst="rect">
            <a:avLst/>
          </a:prstGeom>
          <a:solidFill>
            <a:srgbClr val="C05621"/>
          </a:solidFill>
          <a:ln/>
        </p:spPr>
        <p:txBody>
          <a:bodyPr/>
          <a:lstStyle/>
          <a:p>
            <a:endParaRPr lang="fr-FR"/>
          </a:p>
        </p:txBody>
      </p:sp>
      <p:sp>
        <p:nvSpPr>
          <p:cNvPr id="32" name="Text 28"/>
          <p:cNvSpPr/>
          <p:nvPr/>
        </p:nvSpPr>
        <p:spPr>
          <a:xfrm>
            <a:off x="5029200" y="3749040"/>
            <a:ext cx="3474720" cy="182880"/>
          </a:xfrm>
          <a:prstGeom prst="rect">
            <a:avLst/>
          </a:prstGeom>
          <a:noFill/>
          <a:ln/>
        </p:spPr>
        <p:txBody>
          <a:bodyPr wrap="square" lIns="0" tIns="0" rIns="0" bIns="0" rtlCol="0" anchor="ctr"/>
          <a:lstStyle/>
          <a:p>
            <a:pPr marL="0" indent="0">
              <a:buNone/>
            </a:pPr>
            <a:r>
              <a:rPr lang="en-US" sz="900" b="1" dirty="0">
                <a:solidFill>
                  <a:srgbClr val="1A202C"/>
                </a:solidFill>
                <a:latin typeface="Calibri" pitchFamily="34" charset="0"/>
                <a:ea typeface="Calibri" pitchFamily="34" charset="-122"/>
                <a:cs typeface="Calibri" pitchFamily="34" charset="-120"/>
              </a:rPr>
              <a:t>Réductions fidélité</a:t>
            </a:r>
            <a:endParaRPr lang="en-US" sz="900" dirty="0"/>
          </a:p>
        </p:txBody>
      </p:sp>
      <p:sp>
        <p:nvSpPr>
          <p:cNvPr id="33" name="Text 29"/>
          <p:cNvSpPr/>
          <p:nvPr/>
        </p:nvSpPr>
        <p:spPr>
          <a:xfrm>
            <a:off x="5029200" y="3950208"/>
            <a:ext cx="3474720" cy="18288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Petite remise pour client régulier (pas excessive)</a:t>
            </a:r>
            <a:endParaRPr lang="en-US" sz="750" dirty="0"/>
          </a:p>
        </p:txBody>
      </p:sp>
      <p:sp>
        <p:nvSpPr>
          <p:cNvPr id="34" name="Shape 30"/>
          <p:cNvSpPr/>
          <p:nvPr/>
        </p:nvSpPr>
        <p:spPr>
          <a:xfrm>
            <a:off x="0" y="4823460"/>
            <a:ext cx="9144000" cy="320040"/>
          </a:xfrm>
          <a:prstGeom prst="rect">
            <a:avLst/>
          </a:prstGeom>
          <a:solidFill>
            <a:srgbClr val="1A1F2E"/>
          </a:solidFill>
          <a:ln/>
        </p:spPr>
        <p:txBody>
          <a:bodyPr/>
          <a:lstStyle/>
          <a:p>
            <a:endParaRPr lang="fr-FR"/>
          </a:p>
        </p:txBody>
      </p:sp>
      <p:sp>
        <p:nvSpPr>
          <p:cNvPr id="35" name="Text 31"/>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36" name="Text 32"/>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MODULE 6 — FIDÉLISATION &amp; PROSPECTION</a:t>
            </a:r>
            <a:endParaRPr lang="en-US" sz="9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1800" b="1" dirty="0">
                <a:solidFill>
                  <a:srgbClr val="1A202C"/>
                </a:solidFill>
                <a:latin typeface="Georgia" pitchFamily="34" charset="0"/>
                <a:ea typeface="Georgia" pitchFamily="34" charset="-122"/>
                <a:cs typeface="Georgia" pitchFamily="34" charset="-120"/>
              </a:rPr>
              <a:t>Fidélisation et prospection : définitions</a:t>
            </a:r>
            <a:endParaRPr lang="en-US" sz="1800" dirty="0"/>
          </a:p>
        </p:txBody>
      </p:sp>
      <p:sp>
        <p:nvSpPr>
          <p:cNvPr id="5" name="Shape 3"/>
          <p:cNvSpPr/>
          <p:nvPr/>
        </p:nvSpPr>
        <p:spPr>
          <a:xfrm>
            <a:off x="457200" y="1234440"/>
            <a:ext cx="393192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640080" y="1371600"/>
            <a:ext cx="274320" cy="274320"/>
          </a:xfrm>
          <a:prstGeom prst="rect">
            <a:avLst/>
          </a:prstGeom>
        </p:spPr>
      </p:pic>
      <p:sp>
        <p:nvSpPr>
          <p:cNvPr id="7" name="Text 4"/>
          <p:cNvSpPr/>
          <p:nvPr/>
        </p:nvSpPr>
        <p:spPr>
          <a:xfrm>
            <a:off x="1005840" y="1325880"/>
            <a:ext cx="3200400" cy="274320"/>
          </a:xfrm>
          <a:prstGeom prst="rect">
            <a:avLst/>
          </a:prstGeom>
          <a:noFill/>
          <a:ln/>
        </p:spPr>
        <p:txBody>
          <a:bodyPr wrap="square" lIns="0" tIns="0" rIns="0" bIns="0" rtlCol="0" anchor="ctr"/>
          <a:lstStyle/>
          <a:p>
            <a:pPr marL="0" indent="0">
              <a:buNone/>
            </a:pPr>
            <a:r>
              <a:rPr lang="en-US" sz="1100" b="1" dirty="0">
                <a:solidFill>
                  <a:srgbClr val="0B5563"/>
                </a:solidFill>
                <a:latin typeface="Calibri" pitchFamily="34" charset="0"/>
                <a:ea typeface="Calibri" pitchFamily="34" charset="-122"/>
                <a:cs typeface="Calibri" pitchFamily="34" charset="-120"/>
              </a:rPr>
              <a:t>Qu'est-ce que la fidélisation ?</a:t>
            </a:r>
            <a:endParaRPr lang="en-US" sz="1100" dirty="0"/>
          </a:p>
        </p:txBody>
      </p:sp>
      <p:sp>
        <p:nvSpPr>
          <p:cNvPr id="8" name="Text 5"/>
          <p:cNvSpPr/>
          <p:nvPr/>
        </p:nvSpPr>
        <p:spPr>
          <a:xfrm>
            <a:off x="640080" y="1691640"/>
            <a:ext cx="3566160" cy="1005840"/>
          </a:xfrm>
          <a:prstGeom prst="rect">
            <a:avLst/>
          </a:prstGeom>
          <a:noFill/>
          <a:ln/>
        </p:spPr>
        <p:txBody>
          <a:bodyPr wrap="square" rtlCol="0" anchor="ctr"/>
          <a:lstStyle/>
          <a:p>
            <a:pPr marL="0" indent="0">
              <a:buNone/>
            </a:pPr>
            <a:r>
              <a:rPr lang="en-US" sz="850" dirty="0">
                <a:solidFill>
                  <a:srgbClr val="1A202C"/>
                </a:solidFill>
                <a:latin typeface="Calibri" pitchFamily="34" charset="0"/>
                <a:ea typeface="Calibri" pitchFamily="34" charset="-122"/>
                <a:cs typeface="Calibri" pitchFamily="34" charset="-120"/>
              </a:rPr>
              <a:t>La fidélisation d'un client regroupe l'ensemble des actions mises en place par une entreprise pour faire en sorte que ses clients lui restent fidèles, continuent à consommer ses produits ou services.</a:t>
            </a:r>
            <a:endParaRPr lang="en-US" sz="850" dirty="0"/>
          </a:p>
        </p:txBody>
      </p:sp>
      <p:sp>
        <p:nvSpPr>
          <p:cNvPr id="9" name="Shape 6"/>
          <p:cNvSpPr/>
          <p:nvPr/>
        </p:nvSpPr>
        <p:spPr>
          <a:xfrm>
            <a:off x="4663440" y="1234440"/>
            <a:ext cx="40233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0" name="Image 1" descr="preencoded.png"/>
          <p:cNvPicPr>
            <a:picLocks noChangeAspect="1"/>
          </p:cNvPicPr>
          <p:nvPr/>
        </p:nvPicPr>
        <p:blipFill>
          <a:blip r:embed="rId4"/>
          <a:stretch>
            <a:fillRect/>
          </a:stretch>
        </p:blipFill>
        <p:spPr>
          <a:xfrm>
            <a:off x="4846320" y="1371600"/>
            <a:ext cx="274320" cy="274320"/>
          </a:xfrm>
          <a:prstGeom prst="rect">
            <a:avLst/>
          </a:prstGeom>
        </p:spPr>
      </p:pic>
      <p:sp>
        <p:nvSpPr>
          <p:cNvPr id="11" name="Text 7"/>
          <p:cNvSpPr/>
          <p:nvPr/>
        </p:nvSpPr>
        <p:spPr>
          <a:xfrm>
            <a:off x="5212080" y="1325880"/>
            <a:ext cx="3200400" cy="274320"/>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Qu'est-ce qu'un prospect ?</a:t>
            </a:r>
            <a:endParaRPr lang="en-US" sz="1100" dirty="0"/>
          </a:p>
        </p:txBody>
      </p:sp>
      <p:sp>
        <p:nvSpPr>
          <p:cNvPr id="12" name="Text 8"/>
          <p:cNvSpPr/>
          <p:nvPr/>
        </p:nvSpPr>
        <p:spPr>
          <a:xfrm>
            <a:off x="4846320" y="1691640"/>
            <a:ext cx="3657600" cy="1005840"/>
          </a:xfrm>
          <a:prstGeom prst="rect">
            <a:avLst/>
          </a:prstGeom>
          <a:noFill/>
          <a:ln/>
        </p:spPr>
        <p:txBody>
          <a:bodyPr wrap="square" rtlCol="0" anchor="ctr"/>
          <a:lstStyle/>
          <a:p>
            <a:pPr marL="0" indent="0">
              <a:buNone/>
            </a:pPr>
            <a:r>
              <a:rPr lang="en-US" sz="850" dirty="0">
                <a:solidFill>
                  <a:srgbClr val="1A202C"/>
                </a:solidFill>
                <a:latin typeface="Calibri" pitchFamily="34" charset="0"/>
                <a:ea typeface="Calibri" pitchFamily="34" charset="-122"/>
                <a:cs typeface="Calibri" pitchFamily="34" charset="-120"/>
              </a:rPr>
              <a:t>Un prospect est un client potentiel. La prospection regroupe l'ensemble des actions qui vise à identifier et contacter de nouveaux clients.</a:t>
            </a:r>
            <a:endParaRPr lang="en-US" sz="850" dirty="0"/>
          </a:p>
          <a:p>
            <a:pPr marL="0" indent="0">
              <a:buNone/>
            </a:pP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 Prospection traditionnelle (porte à porte, téléphone)</a:t>
            </a: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 Prospection numérique (site web, mailing, réseaux sociaux, centrales de réservations)</a:t>
            </a:r>
            <a:endParaRPr lang="en-US" sz="850" dirty="0"/>
          </a:p>
        </p:txBody>
      </p:sp>
      <p:sp>
        <p:nvSpPr>
          <p:cNvPr id="13" name="Shape 9"/>
          <p:cNvSpPr/>
          <p:nvPr/>
        </p:nvSpPr>
        <p:spPr>
          <a:xfrm>
            <a:off x="457200" y="3063240"/>
            <a:ext cx="822960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4" name="Text 10"/>
          <p:cNvSpPr/>
          <p:nvPr/>
        </p:nvSpPr>
        <p:spPr>
          <a:xfrm>
            <a:off x="640080" y="3108960"/>
            <a:ext cx="7863840" cy="274320"/>
          </a:xfrm>
          <a:prstGeom prst="rect">
            <a:avLst/>
          </a:prstGeom>
          <a:noFill/>
          <a:ln/>
        </p:spPr>
        <p:txBody>
          <a:bodyPr wrap="square" rtlCol="0" anchor="ctr"/>
          <a:lstStyle/>
          <a:p>
            <a:pPr marL="0" indent="0">
              <a:buNone/>
            </a:pPr>
            <a:r>
              <a:rPr lang="en-US" sz="1100" b="1" dirty="0">
                <a:solidFill>
                  <a:srgbClr val="E8A838"/>
                </a:solidFill>
                <a:latin typeface="Calibri" pitchFamily="34" charset="0"/>
                <a:ea typeface="Calibri" pitchFamily="34" charset="-122"/>
                <a:cs typeface="Calibri" pitchFamily="34" charset="-120"/>
              </a:rPr>
              <a:t>💡 Comment fidéliser une clientèle VTC ?</a:t>
            </a:r>
            <a:endParaRPr lang="en-US" sz="1100" dirty="0"/>
          </a:p>
        </p:txBody>
      </p:sp>
      <p:sp>
        <p:nvSpPr>
          <p:cNvPr id="15" name="Text 11"/>
          <p:cNvSpPr/>
          <p:nvPr/>
        </p:nvSpPr>
        <p:spPr>
          <a:xfrm>
            <a:off x="640080" y="3429000"/>
            <a:ext cx="7863840" cy="182880"/>
          </a:xfrm>
          <a:prstGeom prst="rect">
            <a:avLst/>
          </a:prstGeom>
          <a:noFill/>
          <a:ln/>
        </p:spPr>
        <p:txBody>
          <a:bodyPr wrap="square" rtlCol="0" anchor="ctr"/>
          <a:lstStyle/>
          <a:p>
            <a:pPr marL="0" indent="0">
              <a:buNone/>
            </a:pPr>
            <a:r>
              <a:rPr lang="en-US" sz="800" dirty="0">
                <a:solidFill>
                  <a:srgbClr val="1A202C"/>
                </a:solidFill>
                <a:latin typeface="Calibri" pitchFamily="34" charset="0"/>
                <a:ea typeface="Calibri" pitchFamily="34" charset="-122"/>
                <a:cs typeface="Calibri" pitchFamily="34" charset="-120"/>
              </a:rPr>
              <a:t>•  Être disponible et réactif (téléphone, mail, WhatsApp)</a:t>
            </a:r>
            <a:endParaRPr lang="en-US" sz="800" dirty="0"/>
          </a:p>
        </p:txBody>
      </p:sp>
      <p:sp>
        <p:nvSpPr>
          <p:cNvPr id="16" name="Text 12"/>
          <p:cNvSpPr/>
          <p:nvPr/>
        </p:nvSpPr>
        <p:spPr>
          <a:xfrm>
            <a:off x="640080" y="3630168"/>
            <a:ext cx="7863840" cy="182880"/>
          </a:xfrm>
          <a:prstGeom prst="rect">
            <a:avLst/>
          </a:prstGeom>
          <a:noFill/>
          <a:ln/>
        </p:spPr>
        <p:txBody>
          <a:bodyPr wrap="square" rtlCol="0" anchor="ctr"/>
          <a:lstStyle/>
          <a:p>
            <a:pPr marL="0" indent="0">
              <a:buNone/>
            </a:pPr>
            <a:r>
              <a:rPr lang="en-US" sz="800" dirty="0">
                <a:solidFill>
                  <a:srgbClr val="1A202C"/>
                </a:solidFill>
                <a:latin typeface="Calibri" pitchFamily="34" charset="0"/>
                <a:ea typeface="Calibri" pitchFamily="34" charset="-122"/>
                <a:cs typeface="Calibri" pitchFamily="34" charset="-120"/>
              </a:rPr>
              <a:t>•  Envoyer régulièrement (1× toutes les 2 semaines min.) des courriels ou SMS avec offres et promotions</a:t>
            </a:r>
            <a:endParaRPr lang="en-US" sz="800" dirty="0"/>
          </a:p>
        </p:txBody>
      </p:sp>
      <p:sp>
        <p:nvSpPr>
          <p:cNvPr id="17" name="Text 13"/>
          <p:cNvSpPr/>
          <p:nvPr/>
        </p:nvSpPr>
        <p:spPr>
          <a:xfrm>
            <a:off x="640080" y="3831336"/>
            <a:ext cx="7863840" cy="182880"/>
          </a:xfrm>
          <a:prstGeom prst="rect">
            <a:avLst/>
          </a:prstGeom>
          <a:noFill/>
          <a:ln/>
        </p:spPr>
        <p:txBody>
          <a:bodyPr wrap="square" rtlCol="0" anchor="ctr"/>
          <a:lstStyle/>
          <a:p>
            <a:pPr marL="0" indent="0">
              <a:buNone/>
            </a:pPr>
            <a:r>
              <a:rPr lang="en-US" sz="800" dirty="0">
                <a:solidFill>
                  <a:srgbClr val="1A202C"/>
                </a:solidFill>
                <a:latin typeface="Calibri" pitchFamily="34" charset="0"/>
                <a:ea typeface="Calibri" pitchFamily="34" charset="-122"/>
                <a:cs typeface="Calibri" pitchFamily="34" charset="-120"/>
              </a:rPr>
              <a:t>•  Laisser PLUSIEURS cartes de visite au client pour qu'il puisse les donner à d'autres</a:t>
            </a:r>
            <a:endParaRPr lang="en-US" sz="800" dirty="0"/>
          </a:p>
        </p:txBody>
      </p:sp>
      <p:sp>
        <p:nvSpPr>
          <p:cNvPr id="18" name="Text 14"/>
          <p:cNvSpPr/>
          <p:nvPr/>
        </p:nvSpPr>
        <p:spPr>
          <a:xfrm>
            <a:off x="640080" y="4032504"/>
            <a:ext cx="7863840" cy="182880"/>
          </a:xfrm>
          <a:prstGeom prst="rect">
            <a:avLst/>
          </a:prstGeom>
          <a:noFill/>
          <a:ln/>
        </p:spPr>
        <p:txBody>
          <a:bodyPr wrap="square" rtlCol="0" anchor="ctr"/>
          <a:lstStyle/>
          <a:p>
            <a:pPr marL="0" indent="0">
              <a:buNone/>
            </a:pPr>
            <a:r>
              <a:rPr lang="en-US" sz="800" dirty="0">
                <a:solidFill>
                  <a:srgbClr val="1A202C"/>
                </a:solidFill>
                <a:latin typeface="Calibri" pitchFamily="34" charset="0"/>
                <a:ea typeface="Calibri" pitchFamily="34" charset="-122"/>
                <a:cs typeface="Calibri" pitchFamily="34" charset="-120"/>
              </a:rPr>
              <a:t>•  Avoir une prestation irréprochable à chaque course</a:t>
            </a:r>
            <a:endParaRPr lang="en-US" sz="800" dirty="0"/>
          </a:p>
        </p:txBody>
      </p:sp>
      <p:sp>
        <p:nvSpPr>
          <p:cNvPr id="19" name="Text 15"/>
          <p:cNvSpPr/>
          <p:nvPr/>
        </p:nvSpPr>
        <p:spPr>
          <a:xfrm>
            <a:off x="640080" y="4233672"/>
            <a:ext cx="7863840" cy="182880"/>
          </a:xfrm>
          <a:prstGeom prst="rect">
            <a:avLst/>
          </a:prstGeom>
          <a:noFill/>
          <a:ln/>
        </p:spPr>
        <p:txBody>
          <a:bodyPr wrap="square" rtlCol="0" anchor="ctr"/>
          <a:lstStyle/>
          <a:p>
            <a:pPr marL="0" indent="0">
              <a:buNone/>
            </a:pPr>
            <a:r>
              <a:rPr lang="en-US" sz="800" dirty="0">
                <a:solidFill>
                  <a:srgbClr val="1A202C"/>
                </a:solidFill>
                <a:latin typeface="Calibri" pitchFamily="34" charset="0"/>
                <a:ea typeface="Calibri" pitchFamily="34" charset="-122"/>
                <a:cs typeface="Calibri" pitchFamily="34" charset="-120"/>
              </a:rPr>
              <a:t>•  Se distinguer : journaux, chargeurs, tablettes, eau, bonbons, gâteaux…</a:t>
            </a:r>
            <a:endParaRPr lang="en-US" sz="800" dirty="0"/>
          </a:p>
        </p:txBody>
      </p:sp>
      <p:sp>
        <p:nvSpPr>
          <p:cNvPr id="20" name="Text 16"/>
          <p:cNvSpPr/>
          <p:nvPr/>
        </p:nvSpPr>
        <p:spPr>
          <a:xfrm>
            <a:off x="640080" y="4434840"/>
            <a:ext cx="7863840" cy="182880"/>
          </a:xfrm>
          <a:prstGeom prst="rect">
            <a:avLst/>
          </a:prstGeom>
          <a:noFill/>
          <a:ln/>
        </p:spPr>
        <p:txBody>
          <a:bodyPr wrap="square" rtlCol="0" anchor="ctr"/>
          <a:lstStyle/>
          <a:p>
            <a:pPr marL="0" indent="0">
              <a:buNone/>
            </a:pPr>
            <a:r>
              <a:rPr lang="en-US" sz="800" dirty="0">
                <a:solidFill>
                  <a:srgbClr val="1A202C"/>
                </a:solidFill>
                <a:latin typeface="Calibri" pitchFamily="34" charset="0"/>
                <a:ea typeface="Calibri" pitchFamily="34" charset="-122"/>
                <a:cs typeface="Calibri" pitchFamily="34" charset="-120"/>
              </a:rPr>
              <a:t>•  Proposer de petites réductions fidélité (pas de remise importante, le client se sentira privilégié)</a:t>
            </a:r>
            <a:endParaRPr lang="en-US" sz="800" dirty="0"/>
          </a:p>
        </p:txBody>
      </p:sp>
      <p:sp>
        <p:nvSpPr>
          <p:cNvPr id="21" name="Shape 17"/>
          <p:cNvSpPr/>
          <p:nvPr/>
        </p:nvSpPr>
        <p:spPr>
          <a:xfrm>
            <a:off x="0" y="4823460"/>
            <a:ext cx="9144000" cy="320040"/>
          </a:xfrm>
          <a:prstGeom prst="rect">
            <a:avLst/>
          </a:prstGeom>
          <a:solidFill>
            <a:srgbClr val="1A1F2E"/>
          </a:solidFill>
          <a:ln/>
        </p:spPr>
        <p:txBody>
          <a:bodyPr/>
          <a:lstStyle/>
          <a:p>
            <a:endParaRPr lang="fr-FR"/>
          </a:p>
        </p:txBody>
      </p:sp>
      <p:sp>
        <p:nvSpPr>
          <p:cNvPr id="22" name="Text 18"/>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23" name="Text 19"/>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MODULE 6 — FIDÉLISATION &amp; PROSPECTION</a:t>
            </a:r>
            <a:endParaRPr lang="en-US" sz="9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1800" b="1" dirty="0">
                <a:solidFill>
                  <a:srgbClr val="1A202C"/>
                </a:solidFill>
                <a:latin typeface="Georgia" pitchFamily="34" charset="0"/>
                <a:ea typeface="Georgia" pitchFamily="34" charset="-122"/>
                <a:cs typeface="Georgia" pitchFamily="34" charset="-120"/>
              </a:rPr>
              <a:t>Facteurs de réussite &amp; prospection</a:t>
            </a:r>
            <a:endParaRPr lang="en-US" sz="1800" dirty="0"/>
          </a:p>
        </p:txBody>
      </p:sp>
      <p:sp>
        <p:nvSpPr>
          <p:cNvPr id="5" name="Shape 3"/>
          <p:cNvSpPr/>
          <p:nvPr/>
        </p:nvSpPr>
        <p:spPr>
          <a:xfrm>
            <a:off x="457200" y="1234440"/>
            <a:ext cx="3931920" cy="3200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640080" y="1371600"/>
            <a:ext cx="274320" cy="274320"/>
          </a:xfrm>
          <a:prstGeom prst="rect">
            <a:avLst/>
          </a:prstGeom>
        </p:spPr>
      </p:pic>
      <p:sp>
        <p:nvSpPr>
          <p:cNvPr id="7" name="Text 4"/>
          <p:cNvSpPr/>
          <p:nvPr/>
        </p:nvSpPr>
        <p:spPr>
          <a:xfrm>
            <a:off x="1005840" y="1325880"/>
            <a:ext cx="3200400" cy="274320"/>
          </a:xfrm>
          <a:prstGeom prst="rect">
            <a:avLst/>
          </a:prstGeom>
          <a:noFill/>
          <a:ln/>
        </p:spPr>
        <p:txBody>
          <a:bodyPr wrap="square" lIns="0" tIns="0" rIns="0" bIns="0" rtlCol="0" anchor="ctr"/>
          <a:lstStyle/>
          <a:p>
            <a:pPr marL="0" indent="0">
              <a:buNone/>
            </a:pPr>
            <a:r>
              <a:rPr lang="en-US" sz="1000" b="1" dirty="0">
                <a:solidFill>
                  <a:srgbClr val="E8A838"/>
                </a:solidFill>
                <a:latin typeface="Calibri" pitchFamily="34" charset="0"/>
                <a:ea typeface="Calibri" pitchFamily="34" charset="-122"/>
                <a:cs typeface="Calibri" pitchFamily="34" charset="-120"/>
              </a:rPr>
              <a:t>Facteurs de réussite du chauffeur VTC</a:t>
            </a:r>
            <a:endParaRPr lang="en-US" sz="1000" dirty="0"/>
          </a:p>
        </p:txBody>
      </p:sp>
      <p:sp>
        <p:nvSpPr>
          <p:cNvPr id="8" name="Text 5"/>
          <p:cNvSpPr/>
          <p:nvPr/>
        </p:nvSpPr>
        <p:spPr>
          <a:xfrm>
            <a:off x="640080" y="1691640"/>
            <a:ext cx="3566160" cy="27432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  Être respectueux, courtois et serviable</a:t>
            </a:r>
            <a:endParaRPr lang="en-US" sz="750" dirty="0"/>
          </a:p>
        </p:txBody>
      </p:sp>
      <p:sp>
        <p:nvSpPr>
          <p:cNvPr id="9" name="Text 6"/>
          <p:cNvSpPr/>
          <p:nvPr/>
        </p:nvSpPr>
        <p:spPr>
          <a:xfrm>
            <a:off x="640080" y="2011680"/>
            <a:ext cx="3566160" cy="27432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  Le sourire est toujours plus agréable qu'une personne énervée</a:t>
            </a:r>
            <a:endParaRPr lang="en-US" sz="750" dirty="0"/>
          </a:p>
        </p:txBody>
      </p:sp>
      <p:sp>
        <p:nvSpPr>
          <p:cNvPr id="10" name="Text 7"/>
          <p:cNvSpPr/>
          <p:nvPr/>
        </p:nvSpPr>
        <p:spPr>
          <a:xfrm>
            <a:off x="640080" y="2331720"/>
            <a:ext cx="3566160" cy="27432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  Apprendre à connaître le client, utiliser son langage</a:t>
            </a:r>
            <a:endParaRPr lang="en-US" sz="750" dirty="0"/>
          </a:p>
        </p:txBody>
      </p:sp>
      <p:sp>
        <p:nvSpPr>
          <p:cNvPr id="11" name="Text 8"/>
          <p:cNvSpPr/>
          <p:nvPr/>
        </p:nvSpPr>
        <p:spPr>
          <a:xfrm>
            <a:off x="640080" y="2651760"/>
            <a:ext cx="3566160" cy="27432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  Ne pas parler s'il n'a pas envie, parler s'il a envie</a:t>
            </a:r>
            <a:endParaRPr lang="en-US" sz="750" dirty="0"/>
          </a:p>
        </p:txBody>
      </p:sp>
      <p:sp>
        <p:nvSpPr>
          <p:cNvPr id="12" name="Text 9"/>
          <p:cNvSpPr/>
          <p:nvPr/>
        </p:nvSpPr>
        <p:spPr>
          <a:xfrm>
            <a:off x="640080" y="2971800"/>
            <a:ext cx="3566160" cy="27432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  Éviter les débats politiques, religieux ou vexants</a:t>
            </a:r>
            <a:endParaRPr lang="en-US" sz="750" dirty="0"/>
          </a:p>
        </p:txBody>
      </p:sp>
      <p:sp>
        <p:nvSpPr>
          <p:cNvPr id="13" name="Text 10"/>
          <p:cNvSpPr/>
          <p:nvPr/>
        </p:nvSpPr>
        <p:spPr>
          <a:xfrm>
            <a:off x="640080" y="3291840"/>
            <a:ext cx="3566160" cy="27432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  Être au besoin du client, repérer ses besoins</a:t>
            </a:r>
            <a:endParaRPr lang="en-US" sz="750" dirty="0"/>
          </a:p>
        </p:txBody>
      </p:sp>
      <p:sp>
        <p:nvSpPr>
          <p:cNvPr id="14" name="Text 11"/>
          <p:cNvSpPr/>
          <p:nvPr/>
        </p:nvSpPr>
        <p:spPr>
          <a:xfrm>
            <a:off x="640080" y="3611880"/>
            <a:ext cx="3566160" cy="27432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  Montrer que vous êtes à sa disposition</a:t>
            </a:r>
            <a:endParaRPr lang="en-US" sz="750" dirty="0"/>
          </a:p>
        </p:txBody>
      </p:sp>
      <p:sp>
        <p:nvSpPr>
          <p:cNvPr id="15" name="Text 12"/>
          <p:cNvSpPr/>
          <p:nvPr/>
        </p:nvSpPr>
        <p:spPr>
          <a:xfrm>
            <a:off x="640080" y="3931920"/>
            <a:ext cx="3566160" cy="27432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  Voiture toujours propre, pas d'odeurs, pas de désodorisant</a:t>
            </a:r>
            <a:endParaRPr lang="en-US" sz="750" dirty="0"/>
          </a:p>
        </p:txBody>
      </p:sp>
      <p:sp>
        <p:nvSpPr>
          <p:cNvPr id="16" name="Shape 13"/>
          <p:cNvSpPr/>
          <p:nvPr/>
        </p:nvSpPr>
        <p:spPr>
          <a:xfrm>
            <a:off x="457200" y="4160520"/>
            <a:ext cx="3931920" cy="457200"/>
          </a:xfrm>
          <a:prstGeom prst="rect">
            <a:avLst/>
          </a:prstGeom>
          <a:solidFill>
            <a:srgbClr val="FFF5F5"/>
          </a:solidFill>
          <a:ln/>
        </p:spPr>
        <p:txBody>
          <a:bodyPr/>
          <a:lstStyle/>
          <a:p>
            <a:endParaRPr lang="fr-FR"/>
          </a:p>
        </p:txBody>
      </p:sp>
      <p:sp>
        <p:nvSpPr>
          <p:cNvPr id="17" name="Text 14"/>
          <p:cNvSpPr/>
          <p:nvPr/>
        </p:nvSpPr>
        <p:spPr>
          <a:xfrm>
            <a:off x="594360" y="4160520"/>
            <a:ext cx="3657600" cy="457200"/>
          </a:xfrm>
          <a:prstGeom prst="rect">
            <a:avLst/>
          </a:prstGeom>
          <a:noFill/>
          <a:ln/>
        </p:spPr>
        <p:txBody>
          <a:bodyPr wrap="square" rtlCol="0" anchor="ctr"/>
          <a:lstStyle/>
          <a:p>
            <a:pPr marL="0" indent="0">
              <a:buNone/>
            </a:pPr>
            <a:r>
              <a:rPr lang="en-US" sz="850" b="1" dirty="0">
                <a:solidFill>
                  <a:srgbClr val="C53030"/>
                </a:solidFill>
                <a:latin typeface="Calibri" pitchFamily="34" charset="0"/>
                <a:ea typeface="Calibri" pitchFamily="34" charset="-122"/>
                <a:cs typeface="Calibri" pitchFamily="34" charset="-120"/>
              </a:rPr>
              <a:t>⚠️ Un client insatisfait le dira à 10 personnes, un client satisfait le dira à 2 personnes !</a:t>
            </a:r>
            <a:endParaRPr lang="en-US" sz="850" dirty="0"/>
          </a:p>
        </p:txBody>
      </p:sp>
      <p:sp>
        <p:nvSpPr>
          <p:cNvPr id="18" name="Shape 15"/>
          <p:cNvSpPr/>
          <p:nvPr/>
        </p:nvSpPr>
        <p:spPr>
          <a:xfrm>
            <a:off x="4663440" y="1234440"/>
            <a:ext cx="4023360" cy="33832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9" name="Image 1" descr="preencoded.png"/>
          <p:cNvPicPr>
            <a:picLocks noChangeAspect="1"/>
          </p:cNvPicPr>
          <p:nvPr/>
        </p:nvPicPr>
        <p:blipFill>
          <a:blip r:embed="rId4"/>
          <a:stretch>
            <a:fillRect/>
          </a:stretch>
        </p:blipFill>
        <p:spPr>
          <a:xfrm>
            <a:off x="4846320" y="1371600"/>
            <a:ext cx="274320" cy="274320"/>
          </a:xfrm>
          <a:prstGeom prst="rect">
            <a:avLst/>
          </a:prstGeom>
        </p:spPr>
      </p:pic>
      <p:sp>
        <p:nvSpPr>
          <p:cNvPr id="20" name="Text 16"/>
          <p:cNvSpPr/>
          <p:nvPr/>
        </p:nvSpPr>
        <p:spPr>
          <a:xfrm>
            <a:off x="5212080" y="1325880"/>
            <a:ext cx="3200400" cy="274320"/>
          </a:xfrm>
          <a:prstGeom prst="rect">
            <a:avLst/>
          </a:prstGeom>
          <a:noFill/>
          <a:ln/>
        </p:spPr>
        <p:txBody>
          <a:bodyPr wrap="square" lIns="0" tIns="0" rIns="0" bIns="0" rtlCol="0" anchor="ctr"/>
          <a:lstStyle/>
          <a:p>
            <a:pPr marL="0" indent="0">
              <a:buNone/>
            </a:pPr>
            <a:r>
              <a:rPr lang="en-US" sz="1000" b="1" dirty="0">
                <a:solidFill>
                  <a:srgbClr val="0D9488"/>
                </a:solidFill>
                <a:latin typeface="Calibri" pitchFamily="34" charset="0"/>
                <a:ea typeface="Calibri" pitchFamily="34" charset="-122"/>
                <a:cs typeface="Calibri" pitchFamily="34" charset="-120"/>
              </a:rPr>
              <a:t>Prospecter un marché VTC</a:t>
            </a:r>
            <a:endParaRPr lang="en-US" sz="1000" dirty="0"/>
          </a:p>
        </p:txBody>
      </p:sp>
      <p:sp>
        <p:nvSpPr>
          <p:cNvPr id="21" name="Text 17"/>
          <p:cNvSpPr/>
          <p:nvPr/>
        </p:nvSpPr>
        <p:spPr>
          <a:xfrm>
            <a:off x="4846320" y="1691640"/>
            <a:ext cx="3657600" cy="201168"/>
          </a:xfrm>
          <a:prstGeom prst="rect">
            <a:avLst/>
          </a:prstGeom>
          <a:noFill/>
          <a:ln/>
        </p:spPr>
        <p:txBody>
          <a:bodyPr wrap="square" rtlCol="0" anchor="ctr"/>
          <a:lstStyle/>
          <a:p>
            <a:pPr marL="0" indent="0">
              <a:buNone/>
            </a:pPr>
            <a:r>
              <a:rPr lang="en-US" sz="900" b="1" dirty="0">
                <a:solidFill>
                  <a:srgbClr val="1A202C"/>
                </a:solidFill>
                <a:latin typeface="Calibri" pitchFamily="34" charset="0"/>
                <a:ea typeface="Calibri" pitchFamily="34" charset="-122"/>
                <a:cs typeface="Calibri" pitchFamily="34" charset="-120"/>
              </a:rPr>
              <a:t>Prospection traditionnelle :</a:t>
            </a:r>
            <a:endParaRPr lang="en-US" sz="900" dirty="0"/>
          </a:p>
        </p:txBody>
      </p:sp>
      <p:sp>
        <p:nvSpPr>
          <p:cNvPr id="22" name="Text 18"/>
          <p:cNvSpPr/>
          <p:nvPr/>
        </p:nvSpPr>
        <p:spPr>
          <a:xfrm>
            <a:off x="4846320" y="1920240"/>
            <a:ext cx="3657600" cy="731520"/>
          </a:xfrm>
          <a:prstGeom prst="rect">
            <a:avLst/>
          </a:prstGeom>
          <a:noFill/>
          <a:ln/>
        </p:spPr>
        <p:txBody>
          <a:bodyPr wrap="square" rtlCol="0" anchor="ctr"/>
          <a:lstStyle/>
          <a:p>
            <a:pPr marL="0" indent="0">
              <a:buNone/>
            </a:pPr>
            <a:r>
              <a:rPr lang="en-US" sz="800" dirty="0">
                <a:solidFill>
                  <a:srgbClr val="4A5568"/>
                </a:solidFill>
                <a:latin typeface="Calibri" pitchFamily="34" charset="0"/>
                <a:ea typeface="Calibri" pitchFamily="34" charset="-122"/>
                <a:cs typeface="Calibri" pitchFamily="34" charset="-120"/>
              </a:rPr>
              <a:t>• Porte à porte (hôtels, restaurants, entreprises)</a:t>
            </a:r>
            <a:endParaRPr lang="en-US" sz="800" dirty="0"/>
          </a:p>
          <a:p>
            <a:pPr marL="0" indent="0">
              <a:buNone/>
            </a:pPr>
            <a:r>
              <a:rPr lang="en-US" sz="800" dirty="0">
                <a:solidFill>
                  <a:srgbClr val="4A5568"/>
                </a:solidFill>
                <a:latin typeface="Calibri" pitchFamily="34" charset="0"/>
                <a:ea typeface="Calibri" pitchFamily="34" charset="-122"/>
                <a:cs typeface="Calibri" pitchFamily="34" charset="-120"/>
              </a:rPr>
              <a:t>• Téléphone (prise de contact, relance)</a:t>
            </a:r>
            <a:endParaRPr lang="en-US" sz="800" dirty="0"/>
          </a:p>
          <a:p>
            <a:pPr marL="0" indent="0">
              <a:buNone/>
            </a:pPr>
            <a:r>
              <a:rPr lang="en-US" sz="800" dirty="0">
                <a:solidFill>
                  <a:srgbClr val="4A5568"/>
                </a:solidFill>
                <a:latin typeface="Calibri" pitchFamily="34" charset="0"/>
                <a:ea typeface="Calibri" pitchFamily="34" charset="-122"/>
                <a:cs typeface="Calibri" pitchFamily="34" charset="-120"/>
              </a:rPr>
              <a:t>• Cartes de visite et flyers</a:t>
            </a:r>
            <a:endParaRPr lang="en-US" sz="800" dirty="0"/>
          </a:p>
          <a:p>
            <a:pPr marL="0" indent="0">
              <a:buNone/>
            </a:pPr>
            <a:r>
              <a:rPr lang="en-US" sz="800" dirty="0">
                <a:solidFill>
                  <a:srgbClr val="4A5568"/>
                </a:solidFill>
                <a:latin typeface="Calibri" pitchFamily="34" charset="0"/>
                <a:ea typeface="Calibri" pitchFamily="34" charset="-122"/>
                <a:cs typeface="Calibri" pitchFamily="34" charset="-120"/>
              </a:rPr>
              <a:t>• Événements locaux, salons professionnels</a:t>
            </a:r>
            <a:endParaRPr lang="en-US" sz="800" dirty="0"/>
          </a:p>
        </p:txBody>
      </p:sp>
      <p:sp>
        <p:nvSpPr>
          <p:cNvPr id="23" name="Text 19"/>
          <p:cNvSpPr/>
          <p:nvPr/>
        </p:nvSpPr>
        <p:spPr>
          <a:xfrm>
            <a:off x="4846320" y="2697480"/>
            <a:ext cx="3657600" cy="201168"/>
          </a:xfrm>
          <a:prstGeom prst="rect">
            <a:avLst/>
          </a:prstGeom>
          <a:noFill/>
          <a:ln/>
        </p:spPr>
        <p:txBody>
          <a:bodyPr wrap="square" rtlCol="0" anchor="ctr"/>
          <a:lstStyle/>
          <a:p>
            <a:pPr marL="0" indent="0">
              <a:buNone/>
            </a:pPr>
            <a:r>
              <a:rPr lang="en-US" sz="900" b="1" dirty="0">
                <a:solidFill>
                  <a:srgbClr val="1A202C"/>
                </a:solidFill>
                <a:latin typeface="Calibri" pitchFamily="34" charset="0"/>
                <a:ea typeface="Calibri" pitchFamily="34" charset="-122"/>
                <a:cs typeface="Calibri" pitchFamily="34" charset="-120"/>
              </a:rPr>
              <a:t>Prospection numérique :</a:t>
            </a:r>
            <a:endParaRPr lang="en-US" sz="900" dirty="0"/>
          </a:p>
        </p:txBody>
      </p:sp>
      <p:sp>
        <p:nvSpPr>
          <p:cNvPr id="24" name="Text 20"/>
          <p:cNvSpPr/>
          <p:nvPr/>
        </p:nvSpPr>
        <p:spPr>
          <a:xfrm>
            <a:off x="4846320" y="2926080"/>
            <a:ext cx="3657600" cy="914400"/>
          </a:xfrm>
          <a:prstGeom prst="rect">
            <a:avLst/>
          </a:prstGeom>
          <a:noFill/>
          <a:ln/>
        </p:spPr>
        <p:txBody>
          <a:bodyPr wrap="square" rtlCol="0" anchor="ctr"/>
          <a:lstStyle/>
          <a:p>
            <a:pPr marL="0" indent="0">
              <a:buNone/>
            </a:pPr>
            <a:r>
              <a:rPr lang="en-US" sz="800" dirty="0">
                <a:solidFill>
                  <a:srgbClr val="4A5568"/>
                </a:solidFill>
                <a:latin typeface="Calibri" pitchFamily="34" charset="0"/>
                <a:ea typeface="Calibri" pitchFamily="34" charset="-122"/>
                <a:cs typeface="Calibri" pitchFamily="34" charset="-120"/>
              </a:rPr>
              <a:t>• Site web professionnel avec réservation</a:t>
            </a:r>
            <a:endParaRPr lang="en-US" sz="800" dirty="0"/>
          </a:p>
          <a:p>
            <a:pPr marL="0" indent="0">
              <a:buNone/>
            </a:pPr>
            <a:r>
              <a:rPr lang="en-US" sz="800" dirty="0">
                <a:solidFill>
                  <a:srgbClr val="4A5568"/>
                </a:solidFill>
                <a:latin typeface="Calibri" pitchFamily="34" charset="0"/>
                <a:ea typeface="Calibri" pitchFamily="34" charset="-122"/>
                <a:cs typeface="Calibri" pitchFamily="34" charset="-120"/>
              </a:rPr>
              <a:t>• Réseaux sociaux (Instagram, Facebook, LinkedIn)</a:t>
            </a:r>
            <a:endParaRPr lang="en-US" sz="800" dirty="0"/>
          </a:p>
          <a:p>
            <a:pPr marL="0" indent="0">
              <a:buNone/>
            </a:pPr>
            <a:r>
              <a:rPr lang="en-US" sz="800" dirty="0">
                <a:solidFill>
                  <a:srgbClr val="4A5568"/>
                </a:solidFill>
                <a:latin typeface="Calibri" pitchFamily="34" charset="0"/>
                <a:ea typeface="Calibri" pitchFamily="34" charset="-122"/>
                <a:cs typeface="Calibri" pitchFamily="34" charset="-120"/>
              </a:rPr>
              <a:t>• Emailing / campagnes SMS</a:t>
            </a:r>
            <a:endParaRPr lang="en-US" sz="800" dirty="0"/>
          </a:p>
          <a:p>
            <a:pPr marL="0" indent="0">
              <a:buNone/>
            </a:pPr>
            <a:r>
              <a:rPr lang="en-US" sz="800" dirty="0">
                <a:solidFill>
                  <a:srgbClr val="4A5568"/>
                </a:solidFill>
                <a:latin typeface="Calibri" pitchFamily="34" charset="0"/>
                <a:ea typeface="Calibri" pitchFamily="34" charset="-122"/>
                <a:cs typeface="Calibri" pitchFamily="34" charset="-120"/>
              </a:rPr>
              <a:t>• Google My Business (référencement local)</a:t>
            </a:r>
            <a:endParaRPr lang="en-US" sz="800" dirty="0"/>
          </a:p>
          <a:p>
            <a:pPr marL="0" indent="0">
              <a:buNone/>
            </a:pPr>
            <a:r>
              <a:rPr lang="en-US" sz="800" dirty="0">
                <a:solidFill>
                  <a:srgbClr val="4A5568"/>
                </a:solidFill>
                <a:latin typeface="Calibri" pitchFamily="34" charset="0"/>
                <a:ea typeface="Calibri" pitchFamily="34" charset="-122"/>
                <a:cs typeface="Calibri" pitchFamily="34" charset="-120"/>
              </a:rPr>
              <a:t>• Plateformes VTC (Uber, Bolt, Marcel, Heetch)</a:t>
            </a:r>
            <a:endParaRPr lang="en-US" sz="800" dirty="0"/>
          </a:p>
        </p:txBody>
      </p:sp>
      <p:sp>
        <p:nvSpPr>
          <p:cNvPr id="25" name="Text 21"/>
          <p:cNvSpPr/>
          <p:nvPr/>
        </p:nvSpPr>
        <p:spPr>
          <a:xfrm>
            <a:off x="4846320" y="3931920"/>
            <a:ext cx="3657600" cy="457200"/>
          </a:xfrm>
          <a:prstGeom prst="rect">
            <a:avLst/>
          </a:prstGeom>
          <a:noFill/>
          <a:ln/>
        </p:spPr>
        <p:txBody>
          <a:bodyPr wrap="square" rtlCol="0" anchor="ctr"/>
          <a:lstStyle/>
          <a:p>
            <a:pPr marL="0" indent="0">
              <a:buNone/>
            </a:pPr>
            <a:r>
              <a:rPr lang="en-US" sz="800" b="1" dirty="0">
                <a:solidFill>
                  <a:srgbClr val="0B5563"/>
                </a:solidFill>
                <a:latin typeface="Calibri" pitchFamily="34" charset="0"/>
                <a:ea typeface="Calibri" pitchFamily="34" charset="-122"/>
                <a:cs typeface="Calibri" pitchFamily="34" charset="-120"/>
              </a:rPr>
              <a:t>Clés : écouter les besoins, préparer un argumentaire, être toujours joignable (mail, téléphone).</a:t>
            </a:r>
            <a:endParaRPr lang="en-US" sz="800" dirty="0"/>
          </a:p>
        </p:txBody>
      </p:sp>
      <p:sp>
        <p:nvSpPr>
          <p:cNvPr id="26" name="Shape 22"/>
          <p:cNvSpPr/>
          <p:nvPr/>
        </p:nvSpPr>
        <p:spPr>
          <a:xfrm>
            <a:off x="0" y="4823460"/>
            <a:ext cx="9144000" cy="320040"/>
          </a:xfrm>
          <a:prstGeom prst="rect">
            <a:avLst/>
          </a:prstGeom>
          <a:solidFill>
            <a:srgbClr val="1A1F2E"/>
          </a:solidFill>
          <a:ln/>
        </p:spPr>
        <p:txBody>
          <a:bodyPr/>
          <a:lstStyle/>
          <a:p>
            <a:endParaRPr lang="fr-FR"/>
          </a:p>
        </p:txBody>
      </p:sp>
      <p:sp>
        <p:nvSpPr>
          <p:cNvPr id="27" name="Text 23"/>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28" name="Text 24"/>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MODULE 7 — COMMUNICATION &amp; NUMÉRIQUE</a:t>
            </a:r>
            <a:endParaRPr lang="en-US" sz="9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1800" b="1" dirty="0">
                <a:solidFill>
                  <a:srgbClr val="1A202C"/>
                </a:solidFill>
                <a:latin typeface="Georgia" pitchFamily="34" charset="0"/>
                <a:ea typeface="Georgia" pitchFamily="34" charset="-122"/>
                <a:cs typeface="Georgia" pitchFamily="34" charset="-120"/>
              </a:rPr>
              <a:t>Présence numérique : les indispensables</a:t>
            </a:r>
            <a:endParaRPr lang="en-US" sz="1800" dirty="0"/>
          </a:p>
        </p:txBody>
      </p:sp>
      <p:sp>
        <p:nvSpPr>
          <p:cNvPr id="5" name="Shape 3"/>
          <p:cNvSpPr/>
          <p:nvPr/>
        </p:nvSpPr>
        <p:spPr>
          <a:xfrm>
            <a:off x="457200" y="1234440"/>
            <a:ext cx="4023360" cy="14630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6" name="Shape 4"/>
          <p:cNvSpPr/>
          <p:nvPr/>
        </p:nvSpPr>
        <p:spPr>
          <a:xfrm>
            <a:off x="457200" y="1234440"/>
            <a:ext cx="4023360" cy="54864"/>
          </a:xfrm>
          <a:prstGeom prst="rect">
            <a:avLst/>
          </a:prstGeom>
          <a:solidFill>
            <a:srgbClr val="2B6CB0"/>
          </a:solidFill>
          <a:ln/>
        </p:spPr>
        <p:txBody>
          <a:bodyPr/>
          <a:lstStyle/>
          <a:p>
            <a:endParaRPr lang="fr-FR"/>
          </a:p>
        </p:txBody>
      </p:sp>
      <p:pic>
        <p:nvPicPr>
          <p:cNvPr id="7" name="Image 0" descr="preencoded.png"/>
          <p:cNvPicPr>
            <a:picLocks noChangeAspect="1"/>
          </p:cNvPicPr>
          <p:nvPr/>
        </p:nvPicPr>
        <p:blipFill>
          <a:blip r:embed="rId3"/>
          <a:stretch>
            <a:fillRect/>
          </a:stretch>
        </p:blipFill>
        <p:spPr>
          <a:xfrm>
            <a:off x="594360" y="1417320"/>
            <a:ext cx="274320" cy="274320"/>
          </a:xfrm>
          <a:prstGeom prst="rect">
            <a:avLst/>
          </a:prstGeom>
        </p:spPr>
      </p:pic>
      <p:sp>
        <p:nvSpPr>
          <p:cNvPr id="8" name="Text 5"/>
          <p:cNvSpPr/>
          <p:nvPr/>
        </p:nvSpPr>
        <p:spPr>
          <a:xfrm>
            <a:off x="960120" y="1371600"/>
            <a:ext cx="3291840" cy="274320"/>
          </a:xfrm>
          <a:prstGeom prst="rect">
            <a:avLst/>
          </a:prstGeom>
          <a:noFill/>
          <a:ln/>
        </p:spPr>
        <p:txBody>
          <a:bodyPr wrap="square" lIns="0" tIns="0" rIns="0" bIns="0" rtlCol="0" anchor="ctr"/>
          <a:lstStyle/>
          <a:p>
            <a:pPr marL="0" indent="0">
              <a:buNone/>
            </a:pPr>
            <a:r>
              <a:rPr lang="en-US" sz="1100" b="1" dirty="0">
                <a:solidFill>
                  <a:srgbClr val="2B6CB0"/>
                </a:solidFill>
                <a:latin typeface="Calibri" pitchFamily="34" charset="0"/>
                <a:ea typeface="Calibri" pitchFamily="34" charset="-122"/>
                <a:cs typeface="Calibri" pitchFamily="34" charset="-120"/>
              </a:rPr>
              <a:t>Site web professionnel</a:t>
            </a:r>
            <a:endParaRPr lang="en-US" sz="1100" dirty="0"/>
          </a:p>
        </p:txBody>
      </p:sp>
      <p:sp>
        <p:nvSpPr>
          <p:cNvPr id="9" name="Text 6"/>
          <p:cNvSpPr/>
          <p:nvPr/>
        </p:nvSpPr>
        <p:spPr>
          <a:xfrm>
            <a:off x="594360" y="1737360"/>
            <a:ext cx="3749040" cy="82296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Page d'accueil, services, tarifs, réservation en ligne, mentions légales. Responsive mobile obligatoire. Nom de domaine professionnel.</a:t>
            </a:r>
            <a:endParaRPr lang="en-US" sz="800" dirty="0"/>
          </a:p>
        </p:txBody>
      </p:sp>
      <p:sp>
        <p:nvSpPr>
          <p:cNvPr id="10" name="Shape 7"/>
          <p:cNvSpPr/>
          <p:nvPr/>
        </p:nvSpPr>
        <p:spPr>
          <a:xfrm>
            <a:off x="4754880" y="1234440"/>
            <a:ext cx="4023360" cy="14630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1" name="Shape 8"/>
          <p:cNvSpPr/>
          <p:nvPr/>
        </p:nvSpPr>
        <p:spPr>
          <a:xfrm>
            <a:off x="4754880" y="1234440"/>
            <a:ext cx="4023360" cy="54864"/>
          </a:xfrm>
          <a:prstGeom prst="rect">
            <a:avLst/>
          </a:prstGeom>
          <a:solidFill>
            <a:srgbClr val="276749"/>
          </a:solidFill>
          <a:ln/>
        </p:spPr>
        <p:txBody>
          <a:bodyPr/>
          <a:lstStyle/>
          <a:p>
            <a:endParaRPr lang="fr-FR"/>
          </a:p>
        </p:txBody>
      </p:sp>
      <p:pic>
        <p:nvPicPr>
          <p:cNvPr id="12" name="Image 1" descr="preencoded.png"/>
          <p:cNvPicPr>
            <a:picLocks noChangeAspect="1"/>
          </p:cNvPicPr>
          <p:nvPr/>
        </p:nvPicPr>
        <p:blipFill>
          <a:blip r:embed="rId4"/>
          <a:stretch>
            <a:fillRect/>
          </a:stretch>
        </p:blipFill>
        <p:spPr>
          <a:xfrm>
            <a:off x="4892040" y="1417320"/>
            <a:ext cx="274320" cy="274320"/>
          </a:xfrm>
          <a:prstGeom prst="rect">
            <a:avLst/>
          </a:prstGeom>
        </p:spPr>
      </p:pic>
      <p:sp>
        <p:nvSpPr>
          <p:cNvPr id="13" name="Text 9"/>
          <p:cNvSpPr/>
          <p:nvPr/>
        </p:nvSpPr>
        <p:spPr>
          <a:xfrm>
            <a:off x="5257800" y="1371600"/>
            <a:ext cx="3291840" cy="274320"/>
          </a:xfrm>
          <a:prstGeom prst="rect">
            <a:avLst/>
          </a:prstGeom>
          <a:noFill/>
          <a:ln/>
        </p:spPr>
        <p:txBody>
          <a:bodyPr wrap="square" lIns="0" tIns="0" rIns="0" bIns="0" rtlCol="0" anchor="ctr"/>
          <a:lstStyle/>
          <a:p>
            <a:pPr marL="0" indent="0">
              <a:buNone/>
            </a:pPr>
            <a:r>
              <a:rPr lang="en-US" sz="1100" b="1" dirty="0">
                <a:solidFill>
                  <a:srgbClr val="276749"/>
                </a:solidFill>
                <a:latin typeface="Calibri" pitchFamily="34" charset="0"/>
                <a:ea typeface="Calibri" pitchFamily="34" charset="-122"/>
                <a:cs typeface="Calibri" pitchFamily="34" charset="-120"/>
              </a:rPr>
              <a:t>Google My Business</a:t>
            </a:r>
            <a:endParaRPr lang="en-US" sz="1100" dirty="0"/>
          </a:p>
        </p:txBody>
      </p:sp>
      <p:sp>
        <p:nvSpPr>
          <p:cNvPr id="14" name="Text 10"/>
          <p:cNvSpPr/>
          <p:nvPr/>
        </p:nvSpPr>
        <p:spPr>
          <a:xfrm>
            <a:off x="4892040" y="1737360"/>
            <a:ext cx="3749040" cy="82296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Fiche gratuite sur Google. Apparaître dans les recherches locales ("VTC Lyon"). Photos, horaires, avis, lien de réservation.</a:t>
            </a:r>
            <a:endParaRPr lang="en-US" sz="800" dirty="0"/>
          </a:p>
        </p:txBody>
      </p:sp>
      <p:sp>
        <p:nvSpPr>
          <p:cNvPr id="15" name="Shape 11"/>
          <p:cNvSpPr/>
          <p:nvPr/>
        </p:nvSpPr>
        <p:spPr>
          <a:xfrm>
            <a:off x="457200" y="2880360"/>
            <a:ext cx="4023360" cy="14630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6" name="Shape 12"/>
          <p:cNvSpPr/>
          <p:nvPr/>
        </p:nvSpPr>
        <p:spPr>
          <a:xfrm>
            <a:off x="457200" y="2880360"/>
            <a:ext cx="4023360" cy="54864"/>
          </a:xfrm>
          <a:prstGeom prst="rect">
            <a:avLst/>
          </a:prstGeom>
          <a:solidFill>
            <a:srgbClr val="0D9488"/>
          </a:solidFill>
          <a:ln/>
        </p:spPr>
        <p:txBody>
          <a:bodyPr/>
          <a:lstStyle/>
          <a:p>
            <a:endParaRPr lang="fr-FR"/>
          </a:p>
        </p:txBody>
      </p:sp>
      <p:pic>
        <p:nvPicPr>
          <p:cNvPr id="17" name="Image 2" descr="preencoded.png"/>
          <p:cNvPicPr>
            <a:picLocks noChangeAspect="1"/>
          </p:cNvPicPr>
          <p:nvPr/>
        </p:nvPicPr>
        <p:blipFill>
          <a:blip r:embed="rId5"/>
          <a:stretch>
            <a:fillRect/>
          </a:stretch>
        </p:blipFill>
        <p:spPr>
          <a:xfrm>
            <a:off x="594360" y="3063240"/>
            <a:ext cx="274320" cy="274320"/>
          </a:xfrm>
          <a:prstGeom prst="rect">
            <a:avLst/>
          </a:prstGeom>
        </p:spPr>
      </p:pic>
      <p:sp>
        <p:nvSpPr>
          <p:cNvPr id="18" name="Text 13"/>
          <p:cNvSpPr/>
          <p:nvPr/>
        </p:nvSpPr>
        <p:spPr>
          <a:xfrm>
            <a:off x="960120" y="3017520"/>
            <a:ext cx="3291840" cy="274320"/>
          </a:xfrm>
          <a:prstGeom prst="rect">
            <a:avLst/>
          </a:prstGeom>
          <a:noFill/>
          <a:ln/>
        </p:spPr>
        <p:txBody>
          <a:bodyPr wrap="square" lIns="0" tIns="0" rIns="0" bIns="0" rtlCol="0" anchor="ctr"/>
          <a:lstStyle/>
          <a:p>
            <a:pPr marL="0" indent="0">
              <a:buNone/>
            </a:pPr>
            <a:r>
              <a:rPr lang="en-US" sz="1100" b="1" dirty="0">
                <a:solidFill>
                  <a:srgbClr val="0D9488"/>
                </a:solidFill>
                <a:latin typeface="Calibri" pitchFamily="34" charset="0"/>
                <a:ea typeface="Calibri" pitchFamily="34" charset="-122"/>
                <a:cs typeface="Calibri" pitchFamily="34" charset="-120"/>
              </a:rPr>
              <a:t>Réseaux sociaux</a:t>
            </a:r>
            <a:endParaRPr lang="en-US" sz="1100" dirty="0"/>
          </a:p>
        </p:txBody>
      </p:sp>
      <p:sp>
        <p:nvSpPr>
          <p:cNvPr id="19" name="Text 14"/>
          <p:cNvSpPr/>
          <p:nvPr/>
        </p:nvSpPr>
        <p:spPr>
          <a:xfrm>
            <a:off x="594360" y="3383280"/>
            <a:ext cx="3749040" cy="82296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Instagram : photos véhicule, stories. Facebook : page pro, avis. LinkedIn : clients B2B. Publication régulière (2-3/semaine).</a:t>
            </a:r>
            <a:endParaRPr lang="en-US" sz="800" dirty="0"/>
          </a:p>
        </p:txBody>
      </p:sp>
      <p:sp>
        <p:nvSpPr>
          <p:cNvPr id="20" name="Shape 15"/>
          <p:cNvSpPr/>
          <p:nvPr/>
        </p:nvSpPr>
        <p:spPr>
          <a:xfrm>
            <a:off x="4754880" y="2880360"/>
            <a:ext cx="4023360" cy="14630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21" name="Shape 16"/>
          <p:cNvSpPr/>
          <p:nvPr/>
        </p:nvSpPr>
        <p:spPr>
          <a:xfrm>
            <a:off x="4754880" y="2880360"/>
            <a:ext cx="4023360" cy="54864"/>
          </a:xfrm>
          <a:prstGeom prst="rect">
            <a:avLst/>
          </a:prstGeom>
          <a:solidFill>
            <a:srgbClr val="C05621"/>
          </a:solidFill>
          <a:ln/>
        </p:spPr>
        <p:txBody>
          <a:bodyPr/>
          <a:lstStyle/>
          <a:p>
            <a:endParaRPr lang="fr-FR"/>
          </a:p>
        </p:txBody>
      </p:sp>
      <p:pic>
        <p:nvPicPr>
          <p:cNvPr id="22" name="Image 3" descr="preencoded.png"/>
          <p:cNvPicPr>
            <a:picLocks noChangeAspect="1"/>
          </p:cNvPicPr>
          <p:nvPr/>
        </p:nvPicPr>
        <p:blipFill>
          <a:blip r:embed="rId6"/>
          <a:stretch>
            <a:fillRect/>
          </a:stretch>
        </p:blipFill>
        <p:spPr>
          <a:xfrm>
            <a:off x="4892040" y="3063240"/>
            <a:ext cx="274320" cy="274320"/>
          </a:xfrm>
          <a:prstGeom prst="rect">
            <a:avLst/>
          </a:prstGeom>
        </p:spPr>
      </p:pic>
      <p:sp>
        <p:nvSpPr>
          <p:cNvPr id="23" name="Text 17"/>
          <p:cNvSpPr/>
          <p:nvPr/>
        </p:nvSpPr>
        <p:spPr>
          <a:xfrm>
            <a:off x="5257800" y="3017520"/>
            <a:ext cx="3291840" cy="274320"/>
          </a:xfrm>
          <a:prstGeom prst="rect">
            <a:avLst/>
          </a:prstGeom>
          <a:noFill/>
          <a:ln/>
        </p:spPr>
        <p:txBody>
          <a:bodyPr wrap="square" lIns="0" tIns="0" rIns="0" bIns="0" rtlCol="0" anchor="ctr"/>
          <a:lstStyle/>
          <a:p>
            <a:pPr marL="0" indent="0">
              <a:buNone/>
            </a:pPr>
            <a:r>
              <a:rPr lang="en-US" sz="1100" b="1" dirty="0">
                <a:solidFill>
                  <a:srgbClr val="C05621"/>
                </a:solidFill>
                <a:latin typeface="Calibri" pitchFamily="34" charset="0"/>
                <a:ea typeface="Calibri" pitchFamily="34" charset="-122"/>
                <a:cs typeface="Calibri" pitchFamily="34" charset="-120"/>
              </a:rPr>
              <a:t>Avis en ligne</a:t>
            </a:r>
            <a:endParaRPr lang="en-US" sz="1100" dirty="0"/>
          </a:p>
        </p:txBody>
      </p:sp>
      <p:sp>
        <p:nvSpPr>
          <p:cNvPr id="24" name="Text 18"/>
          <p:cNvSpPr/>
          <p:nvPr/>
        </p:nvSpPr>
        <p:spPr>
          <a:xfrm>
            <a:off x="4892040" y="3383280"/>
            <a:ext cx="3749040" cy="822960"/>
          </a:xfrm>
          <a:prstGeom prst="rect">
            <a:avLst/>
          </a:prstGeom>
          <a:noFill/>
          <a:ln/>
        </p:spPr>
        <p:txBody>
          <a:bodyPr wrap="square" lIns="0" tIns="0" rIns="0" bIns="0" rtlCol="0" anchor="ctr"/>
          <a:lstStyle/>
          <a:p>
            <a:pPr marL="0" indent="0">
              <a:buNone/>
            </a:pPr>
            <a:r>
              <a:rPr lang="en-US" sz="800" dirty="0">
                <a:solidFill>
                  <a:srgbClr val="4A5568"/>
                </a:solidFill>
                <a:latin typeface="Calibri" pitchFamily="34" charset="0"/>
                <a:ea typeface="Calibri" pitchFamily="34" charset="-122"/>
                <a:cs typeface="Calibri" pitchFamily="34" charset="-120"/>
              </a:rPr>
              <a:t>Demander un avis après chaque course. Répondre à TOUS les avis. 90% des clients consultent les avis avant de réserver.</a:t>
            </a:r>
            <a:endParaRPr lang="en-US" sz="800" dirty="0"/>
          </a:p>
        </p:txBody>
      </p:sp>
      <p:sp>
        <p:nvSpPr>
          <p:cNvPr id="25" name="Shape 19"/>
          <p:cNvSpPr/>
          <p:nvPr/>
        </p:nvSpPr>
        <p:spPr>
          <a:xfrm>
            <a:off x="0" y="4823460"/>
            <a:ext cx="9144000" cy="320040"/>
          </a:xfrm>
          <a:prstGeom prst="rect">
            <a:avLst/>
          </a:prstGeom>
          <a:solidFill>
            <a:srgbClr val="1A1F2E"/>
          </a:solidFill>
          <a:ln/>
        </p:spPr>
        <p:txBody>
          <a:bodyPr/>
          <a:lstStyle/>
          <a:p>
            <a:endParaRPr lang="fr-FR"/>
          </a:p>
        </p:txBody>
      </p:sp>
      <p:sp>
        <p:nvSpPr>
          <p:cNvPr id="26" name="Text 20"/>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27" name="Text 21"/>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MODULE 7 — COMMUNICATION &amp; NUMÉRIQUE</a:t>
            </a:r>
            <a:endParaRPr lang="en-US" sz="9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1800" b="1" dirty="0">
                <a:solidFill>
                  <a:srgbClr val="1A202C"/>
                </a:solidFill>
                <a:latin typeface="Georgia" pitchFamily="34" charset="0"/>
                <a:ea typeface="Georgia" pitchFamily="34" charset="-122"/>
                <a:cs typeface="Georgia" pitchFamily="34" charset="-120"/>
              </a:rPr>
              <a:t>Communication média &amp; hors média</a:t>
            </a:r>
            <a:endParaRPr lang="en-US" sz="1800" dirty="0"/>
          </a:p>
        </p:txBody>
      </p:sp>
      <p:sp>
        <p:nvSpPr>
          <p:cNvPr id="5" name="Shape 3"/>
          <p:cNvSpPr/>
          <p:nvPr/>
        </p:nvSpPr>
        <p:spPr>
          <a:xfrm>
            <a:off x="457200" y="1234440"/>
            <a:ext cx="3931920" cy="22860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6" name="Shape 4"/>
          <p:cNvSpPr/>
          <p:nvPr/>
        </p:nvSpPr>
        <p:spPr>
          <a:xfrm>
            <a:off x="457200" y="1234440"/>
            <a:ext cx="3931920" cy="54864"/>
          </a:xfrm>
          <a:prstGeom prst="rect">
            <a:avLst/>
          </a:prstGeom>
          <a:solidFill>
            <a:srgbClr val="2B6CB0"/>
          </a:solidFill>
          <a:ln/>
        </p:spPr>
        <p:txBody>
          <a:bodyPr/>
          <a:lstStyle/>
          <a:p>
            <a:endParaRPr lang="fr-FR"/>
          </a:p>
        </p:txBody>
      </p:sp>
      <p:sp>
        <p:nvSpPr>
          <p:cNvPr id="7" name="Text 5"/>
          <p:cNvSpPr/>
          <p:nvPr/>
        </p:nvSpPr>
        <p:spPr>
          <a:xfrm>
            <a:off x="640080" y="1371600"/>
            <a:ext cx="3566160" cy="274320"/>
          </a:xfrm>
          <a:prstGeom prst="rect">
            <a:avLst/>
          </a:prstGeom>
          <a:noFill/>
          <a:ln/>
        </p:spPr>
        <p:txBody>
          <a:bodyPr wrap="square" rtlCol="0" anchor="ctr"/>
          <a:lstStyle/>
          <a:p>
            <a:pPr marL="0" indent="0">
              <a:buNone/>
            </a:pPr>
            <a:r>
              <a:rPr lang="en-US" sz="1200" b="1" dirty="0">
                <a:solidFill>
                  <a:srgbClr val="2B6CB0"/>
                </a:solidFill>
                <a:latin typeface="Calibri" pitchFamily="34" charset="0"/>
                <a:ea typeface="Calibri" pitchFamily="34" charset="-122"/>
                <a:cs typeface="Calibri" pitchFamily="34" charset="-120"/>
              </a:rPr>
              <a:t>📺 Communication MÉDIA</a:t>
            </a:r>
            <a:endParaRPr lang="en-US" sz="1200" dirty="0"/>
          </a:p>
        </p:txBody>
      </p:sp>
      <p:sp>
        <p:nvSpPr>
          <p:cNvPr id="8" name="Text 6"/>
          <p:cNvSpPr/>
          <p:nvPr/>
        </p:nvSpPr>
        <p:spPr>
          <a:xfrm>
            <a:off x="640080" y="1691640"/>
            <a:ext cx="3566160" cy="1645920"/>
          </a:xfrm>
          <a:prstGeom prst="rect">
            <a:avLst/>
          </a:prstGeom>
          <a:noFill/>
          <a:ln/>
        </p:spPr>
        <p:txBody>
          <a:bodyPr wrap="square" rtlCol="0" anchor="ctr"/>
          <a:lstStyle/>
          <a:p>
            <a:pPr marL="0" indent="0">
              <a:buNone/>
            </a:pPr>
            <a:r>
              <a:rPr lang="en-US" sz="850" dirty="0">
                <a:solidFill>
                  <a:srgbClr val="1A202C"/>
                </a:solidFill>
                <a:latin typeface="Calibri" pitchFamily="34" charset="0"/>
                <a:ea typeface="Calibri" pitchFamily="34" charset="-122"/>
                <a:cs typeface="Calibri" pitchFamily="34" charset="-120"/>
              </a:rPr>
              <a:t>C'est une communication qui touche une cible large et importante au niveau national ou international.</a:t>
            </a:r>
            <a:endParaRPr lang="en-US" sz="850" dirty="0"/>
          </a:p>
          <a:p>
            <a:pPr marL="0" indent="0">
              <a:buNone/>
            </a:pP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 Publicité en ligne (Google Ads, Facebook Ads)</a:t>
            </a: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 Référencement naturel (SEO) sur Google</a:t>
            </a: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 Articles sponsorisés, communiqués de presse</a:t>
            </a: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 Vidéos YouTube / TikTok</a:t>
            </a:r>
            <a:endParaRPr lang="en-US" sz="850" dirty="0"/>
          </a:p>
        </p:txBody>
      </p:sp>
      <p:sp>
        <p:nvSpPr>
          <p:cNvPr id="9" name="Shape 7"/>
          <p:cNvSpPr/>
          <p:nvPr/>
        </p:nvSpPr>
        <p:spPr>
          <a:xfrm>
            <a:off x="4663440" y="1234440"/>
            <a:ext cx="4023360" cy="22860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0" name="Shape 8"/>
          <p:cNvSpPr/>
          <p:nvPr/>
        </p:nvSpPr>
        <p:spPr>
          <a:xfrm>
            <a:off x="4663440" y="1234440"/>
            <a:ext cx="4023360" cy="54864"/>
          </a:xfrm>
          <a:prstGeom prst="rect">
            <a:avLst/>
          </a:prstGeom>
          <a:solidFill>
            <a:srgbClr val="0D9488"/>
          </a:solidFill>
          <a:ln/>
        </p:spPr>
        <p:txBody>
          <a:bodyPr/>
          <a:lstStyle/>
          <a:p>
            <a:endParaRPr lang="fr-FR"/>
          </a:p>
        </p:txBody>
      </p:sp>
      <p:sp>
        <p:nvSpPr>
          <p:cNvPr id="11" name="Text 9"/>
          <p:cNvSpPr/>
          <p:nvPr/>
        </p:nvSpPr>
        <p:spPr>
          <a:xfrm>
            <a:off x="4846320" y="1371600"/>
            <a:ext cx="3657600" cy="274320"/>
          </a:xfrm>
          <a:prstGeom prst="rect">
            <a:avLst/>
          </a:prstGeom>
          <a:noFill/>
          <a:ln/>
        </p:spPr>
        <p:txBody>
          <a:bodyPr wrap="square"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 Communication HORS MÉDIA</a:t>
            </a:r>
            <a:endParaRPr lang="en-US" sz="1200" dirty="0"/>
          </a:p>
        </p:txBody>
      </p:sp>
      <p:sp>
        <p:nvSpPr>
          <p:cNvPr id="12" name="Text 10"/>
          <p:cNvSpPr/>
          <p:nvPr/>
        </p:nvSpPr>
        <p:spPr>
          <a:xfrm>
            <a:off x="4846320" y="1691640"/>
            <a:ext cx="3657600" cy="1645920"/>
          </a:xfrm>
          <a:prstGeom prst="rect">
            <a:avLst/>
          </a:prstGeom>
          <a:noFill/>
          <a:ln/>
        </p:spPr>
        <p:txBody>
          <a:bodyPr wrap="square" rtlCol="0" anchor="ctr"/>
          <a:lstStyle/>
          <a:p>
            <a:pPr marL="0" indent="0">
              <a:buNone/>
            </a:pPr>
            <a:r>
              <a:rPr lang="en-US" sz="850" dirty="0">
                <a:solidFill>
                  <a:srgbClr val="1A202C"/>
                </a:solidFill>
                <a:latin typeface="Calibri" pitchFamily="34" charset="0"/>
                <a:ea typeface="Calibri" pitchFamily="34" charset="-122"/>
                <a:cs typeface="Calibri" pitchFamily="34" charset="-120"/>
              </a:rPr>
              <a:t>C'est une communication qui touche une clientèle précise.</a:t>
            </a:r>
            <a:endParaRPr lang="en-US" sz="850" dirty="0"/>
          </a:p>
          <a:p>
            <a:pPr marL="0" indent="0">
              <a:buNone/>
            </a:pP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 Carte de visite et flyers</a:t>
            </a: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 Emailing / SMS personnalisés</a:t>
            </a: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 Parrainage client</a:t>
            </a: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 Partenariats locaux (hôtels, restaurants)</a:t>
            </a: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 Événementiel (salons, networking)</a:t>
            </a:r>
            <a:endParaRPr lang="en-US" sz="850" dirty="0"/>
          </a:p>
        </p:txBody>
      </p:sp>
      <p:sp>
        <p:nvSpPr>
          <p:cNvPr id="13" name="Shape 11"/>
          <p:cNvSpPr/>
          <p:nvPr/>
        </p:nvSpPr>
        <p:spPr>
          <a:xfrm>
            <a:off x="457200" y="3749040"/>
            <a:ext cx="8229600"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4" name="Text 12"/>
          <p:cNvSpPr/>
          <p:nvPr/>
        </p:nvSpPr>
        <p:spPr>
          <a:xfrm>
            <a:off x="640080" y="3794760"/>
            <a:ext cx="7863840" cy="228600"/>
          </a:xfrm>
          <a:prstGeom prst="rect">
            <a:avLst/>
          </a:prstGeom>
          <a:noFill/>
          <a:ln/>
        </p:spPr>
        <p:txBody>
          <a:bodyPr wrap="square" rtlCol="0" anchor="ctr"/>
          <a:lstStyle/>
          <a:p>
            <a:pPr marL="0" indent="0">
              <a:buNone/>
            </a:pPr>
            <a:r>
              <a:rPr lang="en-US" sz="1000" b="1" dirty="0">
                <a:solidFill>
                  <a:srgbClr val="0B5563"/>
                </a:solidFill>
                <a:latin typeface="Calibri" pitchFamily="34" charset="0"/>
                <a:ea typeface="Calibri" pitchFamily="34" charset="-122"/>
                <a:cs typeface="Calibri" pitchFamily="34" charset="-120"/>
              </a:rPr>
              <a:t>💡 Astuces SEO pour VTC</a:t>
            </a:r>
            <a:endParaRPr lang="en-US" sz="1000" dirty="0"/>
          </a:p>
        </p:txBody>
      </p:sp>
      <p:sp>
        <p:nvSpPr>
          <p:cNvPr id="15" name="Text 13"/>
          <p:cNvSpPr/>
          <p:nvPr/>
        </p:nvSpPr>
        <p:spPr>
          <a:xfrm>
            <a:off x="640080" y="4069080"/>
            <a:ext cx="7863840" cy="457200"/>
          </a:xfrm>
          <a:prstGeom prst="rect">
            <a:avLst/>
          </a:prstGeom>
          <a:noFill/>
          <a:ln/>
        </p:spPr>
        <p:txBody>
          <a:bodyPr wrap="square" rtlCol="0" anchor="ctr"/>
          <a:lstStyle/>
          <a:p>
            <a:pPr marL="0" indent="0">
              <a:buNone/>
            </a:pPr>
            <a:r>
              <a:rPr lang="en-US" sz="800" dirty="0">
                <a:solidFill>
                  <a:srgbClr val="4A5568"/>
                </a:solidFill>
                <a:latin typeface="Calibri" pitchFamily="34" charset="0"/>
                <a:ea typeface="Calibri" pitchFamily="34" charset="-122"/>
                <a:cs typeface="Calibri" pitchFamily="34" charset="-120"/>
              </a:rPr>
              <a:t>Mots-clés locaux : "VTC Lyon", "chauffeur privé Lyon", "navette aéroport Saint-Exupéry". Créer du contenu utile (blog). Optimiser images et vitesse du site. Annuaires locaux (PagesJaunes, CityGo…).</a:t>
            </a:r>
            <a:endParaRPr lang="en-US" sz="800" dirty="0"/>
          </a:p>
        </p:txBody>
      </p:sp>
      <p:sp>
        <p:nvSpPr>
          <p:cNvPr id="16" name="Shape 14"/>
          <p:cNvSpPr/>
          <p:nvPr/>
        </p:nvSpPr>
        <p:spPr>
          <a:xfrm>
            <a:off x="0" y="4823460"/>
            <a:ext cx="9144000" cy="320040"/>
          </a:xfrm>
          <a:prstGeom prst="rect">
            <a:avLst/>
          </a:prstGeom>
          <a:solidFill>
            <a:srgbClr val="1A1F2E"/>
          </a:solidFill>
          <a:ln/>
        </p:spPr>
        <p:txBody>
          <a:bodyPr/>
          <a:lstStyle/>
          <a:p>
            <a:endParaRPr lang="fr-FR"/>
          </a:p>
        </p:txBody>
      </p:sp>
      <p:sp>
        <p:nvSpPr>
          <p:cNvPr id="17" name="Text 15"/>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18" name="Text 16"/>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MODULE 8 — RÉSEAU DE PARTENAIRES</a:t>
            </a:r>
            <a:endParaRPr lang="en-US" sz="9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1800" b="1" dirty="0">
                <a:solidFill>
                  <a:srgbClr val="1A202C"/>
                </a:solidFill>
                <a:latin typeface="Georgia" pitchFamily="34" charset="0"/>
                <a:ea typeface="Georgia" pitchFamily="34" charset="-122"/>
                <a:cs typeface="Georgia" pitchFamily="34" charset="-120"/>
              </a:rPr>
              <a:t>Développer un réseau de partenaires</a:t>
            </a:r>
            <a:endParaRPr lang="en-US" sz="1800" dirty="0"/>
          </a:p>
        </p:txBody>
      </p:sp>
      <p:sp>
        <p:nvSpPr>
          <p:cNvPr id="5" name="Shape 3"/>
          <p:cNvSpPr/>
          <p:nvPr/>
        </p:nvSpPr>
        <p:spPr>
          <a:xfrm>
            <a:off x="457200" y="1234440"/>
            <a:ext cx="4023360" cy="8686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566928" y="1435608"/>
            <a:ext cx="256032" cy="256032"/>
          </a:xfrm>
          <a:prstGeom prst="rect">
            <a:avLst/>
          </a:prstGeom>
        </p:spPr>
      </p:pic>
      <p:sp>
        <p:nvSpPr>
          <p:cNvPr id="7" name="Text 4"/>
          <p:cNvSpPr/>
          <p:nvPr/>
        </p:nvSpPr>
        <p:spPr>
          <a:xfrm>
            <a:off x="896112" y="1289304"/>
            <a:ext cx="3383280" cy="201168"/>
          </a:xfrm>
          <a:prstGeom prst="rect">
            <a:avLst/>
          </a:prstGeom>
          <a:noFill/>
          <a:ln/>
        </p:spPr>
        <p:txBody>
          <a:bodyPr wrap="square" lIns="0" tIns="0" rIns="0" bIns="0" rtlCol="0" anchor="ctr"/>
          <a:lstStyle/>
          <a:p>
            <a:pPr marL="0" indent="0">
              <a:buNone/>
            </a:pPr>
            <a:r>
              <a:rPr lang="en-US" sz="950" b="1" dirty="0">
                <a:solidFill>
                  <a:srgbClr val="0B5563"/>
                </a:solidFill>
                <a:latin typeface="Calibri" pitchFamily="34" charset="0"/>
                <a:ea typeface="Calibri" pitchFamily="34" charset="-122"/>
                <a:cs typeface="Calibri" pitchFamily="34" charset="-120"/>
              </a:rPr>
              <a:t>Hôtels &amp; restaurants</a:t>
            </a:r>
            <a:endParaRPr lang="en-US" sz="950" dirty="0"/>
          </a:p>
        </p:txBody>
      </p:sp>
      <p:sp>
        <p:nvSpPr>
          <p:cNvPr id="8" name="Text 5"/>
          <p:cNvSpPr/>
          <p:nvPr/>
        </p:nvSpPr>
        <p:spPr>
          <a:xfrm>
            <a:off x="896112" y="1508760"/>
            <a:ext cx="3383280" cy="50292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Tarif préférentiel. Cartes à la réception. Commission sur course recommandée. Cibler le haut de gamme.</a:t>
            </a:r>
            <a:endParaRPr lang="en-US" sz="750" dirty="0"/>
          </a:p>
        </p:txBody>
      </p:sp>
      <p:sp>
        <p:nvSpPr>
          <p:cNvPr id="9" name="Shape 6"/>
          <p:cNvSpPr/>
          <p:nvPr/>
        </p:nvSpPr>
        <p:spPr>
          <a:xfrm>
            <a:off x="4754880" y="1234440"/>
            <a:ext cx="4023360" cy="8686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0" name="Image 1" descr="preencoded.png"/>
          <p:cNvPicPr>
            <a:picLocks noChangeAspect="1"/>
          </p:cNvPicPr>
          <p:nvPr/>
        </p:nvPicPr>
        <p:blipFill>
          <a:blip r:embed="rId4"/>
          <a:stretch>
            <a:fillRect/>
          </a:stretch>
        </p:blipFill>
        <p:spPr>
          <a:xfrm>
            <a:off x="4864608" y="1435608"/>
            <a:ext cx="256032" cy="256032"/>
          </a:xfrm>
          <a:prstGeom prst="rect">
            <a:avLst/>
          </a:prstGeom>
        </p:spPr>
      </p:pic>
      <p:sp>
        <p:nvSpPr>
          <p:cNvPr id="11" name="Text 7"/>
          <p:cNvSpPr/>
          <p:nvPr/>
        </p:nvSpPr>
        <p:spPr>
          <a:xfrm>
            <a:off x="5193792" y="1289304"/>
            <a:ext cx="3383280" cy="201168"/>
          </a:xfrm>
          <a:prstGeom prst="rect">
            <a:avLst/>
          </a:prstGeom>
          <a:noFill/>
          <a:ln/>
        </p:spPr>
        <p:txBody>
          <a:bodyPr wrap="square" lIns="0" tIns="0" rIns="0" bIns="0" rtlCol="0" anchor="ctr"/>
          <a:lstStyle/>
          <a:p>
            <a:pPr marL="0" indent="0">
              <a:buNone/>
            </a:pPr>
            <a:r>
              <a:rPr lang="en-US" sz="950" b="1" dirty="0">
                <a:solidFill>
                  <a:srgbClr val="2B6CB0"/>
                </a:solidFill>
                <a:latin typeface="Calibri" pitchFamily="34" charset="0"/>
                <a:ea typeface="Calibri" pitchFamily="34" charset="-122"/>
                <a:cs typeface="Calibri" pitchFamily="34" charset="-120"/>
              </a:rPr>
              <a:t>Entreprises &amp; CE</a:t>
            </a:r>
            <a:endParaRPr lang="en-US" sz="950" dirty="0"/>
          </a:p>
        </p:txBody>
      </p:sp>
      <p:sp>
        <p:nvSpPr>
          <p:cNvPr id="12" name="Text 8"/>
          <p:cNvSpPr/>
          <p:nvPr/>
        </p:nvSpPr>
        <p:spPr>
          <a:xfrm>
            <a:off x="5193792" y="1508760"/>
            <a:ext cx="3383280" cy="50292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Contrats mensuels. Navettes salariés, clients VIP, séminaires. Facturation sur compte.</a:t>
            </a:r>
            <a:endParaRPr lang="en-US" sz="750" dirty="0"/>
          </a:p>
        </p:txBody>
      </p:sp>
      <p:sp>
        <p:nvSpPr>
          <p:cNvPr id="13" name="Shape 9"/>
          <p:cNvSpPr/>
          <p:nvPr/>
        </p:nvSpPr>
        <p:spPr>
          <a:xfrm>
            <a:off x="457200" y="2240280"/>
            <a:ext cx="4023360" cy="8686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4" name="Image 2" descr="preencoded.png"/>
          <p:cNvPicPr>
            <a:picLocks noChangeAspect="1"/>
          </p:cNvPicPr>
          <p:nvPr/>
        </p:nvPicPr>
        <p:blipFill>
          <a:blip r:embed="rId5"/>
          <a:stretch>
            <a:fillRect/>
          </a:stretch>
        </p:blipFill>
        <p:spPr>
          <a:xfrm>
            <a:off x="566928" y="2441448"/>
            <a:ext cx="256032" cy="256032"/>
          </a:xfrm>
          <a:prstGeom prst="rect">
            <a:avLst/>
          </a:prstGeom>
        </p:spPr>
      </p:pic>
      <p:sp>
        <p:nvSpPr>
          <p:cNvPr id="15" name="Text 10"/>
          <p:cNvSpPr/>
          <p:nvPr/>
        </p:nvSpPr>
        <p:spPr>
          <a:xfrm>
            <a:off x="896112" y="2295144"/>
            <a:ext cx="3383280" cy="201168"/>
          </a:xfrm>
          <a:prstGeom prst="rect">
            <a:avLst/>
          </a:prstGeom>
          <a:noFill/>
          <a:ln/>
        </p:spPr>
        <p:txBody>
          <a:bodyPr wrap="square" lIns="0" tIns="0" rIns="0" bIns="0" rtlCol="0" anchor="ctr"/>
          <a:lstStyle/>
          <a:p>
            <a:pPr marL="0" indent="0">
              <a:buNone/>
            </a:pPr>
            <a:r>
              <a:rPr lang="en-US" sz="950" b="1" dirty="0">
                <a:solidFill>
                  <a:srgbClr val="0D9488"/>
                </a:solidFill>
                <a:latin typeface="Calibri" pitchFamily="34" charset="0"/>
                <a:ea typeface="Calibri" pitchFamily="34" charset="-122"/>
                <a:cs typeface="Calibri" pitchFamily="34" charset="-120"/>
              </a:rPr>
              <a:t>Plateformes VTC</a:t>
            </a:r>
            <a:endParaRPr lang="en-US" sz="950" dirty="0"/>
          </a:p>
        </p:txBody>
      </p:sp>
      <p:sp>
        <p:nvSpPr>
          <p:cNvPr id="16" name="Text 11"/>
          <p:cNvSpPr/>
          <p:nvPr/>
        </p:nvSpPr>
        <p:spPr>
          <a:xfrm>
            <a:off x="896112" y="2514600"/>
            <a:ext cx="3383280" cy="50292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Uber, Bolt, Marcel, Heetch, LeCab. Diversifier les sources. Commissions 20-25%. Complément, pas dépendance.</a:t>
            </a:r>
            <a:endParaRPr lang="en-US" sz="750" dirty="0"/>
          </a:p>
        </p:txBody>
      </p:sp>
      <p:sp>
        <p:nvSpPr>
          <p:cNvPr id="17" name="Shape 12"/>
          <p:cNvSpPr/>
          <p:nvPr/>
        </p:nvSpPr>
        <p:spPr>
          <a:xfrm>
            <a:off x="4754880" y="2240280"/>
            <a:ext cx="4023360" cy="8686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18" name="Image 3" descr="preencoded.png"/>
          <p:cNvPicPr>
            <a:picLocks noChangeAspect="1"/>
          </p:cNvPicPr>
          <p:nvPr/>
        </p:nvPicPr>
        <p:blipFill>
          <a:blip r:embed="rId6"/>
          <a:stretch>
            <a:fillRect/>
          </a:stretch>
        </p:blipFill>
        <p:spPr>
          <a:xfrm>
            <a:off x="4864608" y="2441448"/>
            <a:ext cx="256032" cy="256032"/>
          </a:xfrm>
          <a:prstGeom prst="rect">
            <a:avLst/>
          </a:prstGeom>
        </p:spPr>
      </p:pic>
      <p:sp>
        <p:nvSpPr>
          <p:cNvPr id="19" name="Text 13"/>
          <p:cNvSpPr/>
          <p:nvPr/>
        </p:nvSpPr>
        <p:spPr>
          <a:xfrm>
            <a:off x="5193792" y="2295144"/>
            <a:ext cx="3383280" cy="201168"/>
          </a:xfrm>
          <a:prstGeom prst="rect">
            <a:avLst/>
          </a:prstGeom>
          <a:noFill/>
          <a:ln/>
        </p:spPr>
        <p:txBody>
          <a:bodyPr wrap="square" lIns="0" tIns="0" rIns="0" bIns="0" rtlCol="0" anchor="ctr"/>
          <a:lstStyle/>
          <a:p>
            <a:pPr marL="0" indent="0">
              <a:buNone/>
            </a:pPr>
            <a:r>
              <a:rPr lang="en-US" sz="950" b="1" dirty="0">
                <a:solidFill>
                  <a:srgbClr val="E8A838"/>
                </a:solidFill>
                <a:latin typeface="Calibri" pitchFamily="34" charset="0"/>
                <a:ea typeface="Calibri" pitchFamily="34" charset="-122"/>
                <a:cs typeface="Calibri" pitchFamily="34" charset="-120"/>
              </a:rPr>
              <a:t>Conciergeries &amp; événementiel</a:t>
            </a:r>
            <a:endParaRPr lang="en-US" sz="950" dirty="0"/>
          </a:p>
        </p:txBody>
      </p:sp>
      <p:sp>
        <p:nvSpPr>
          <p:cNvPr id="20" name="Text 14"/>
          <p:cNvSpPr/>
          <p:nvPr/>
        </p:nvSpPr>
        <p:spPr>
          <a:xfrm>
            <a:off x="5193792" y="2514600"/>
            <a:ext cx="3383280" cy="50292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Mariages, événements d'entreprise, tourisme premium. Marge plus élevée. Confiance à construire.</a:t>
            </a:r>
            <a:endParaRPr lang="en-US" sz="750" dirty="0"/>
          </a:p>
        </p:txBody>
      </p:sp>
      <p:sp>
        <p:nvSpPr>
          <p:cNvPr id="21" name="Shape 15"/>
          <p:cNvSpPr/>
          <p:nvPr/>
        </p:nvSpPr>
        <p:spPr>
          <a:xfrm>
            <a:off x="457200" y="3246120"/>
            <a:ext cx="4023360" cy="8686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22" name="Image 4" descr="preencoded.png"/>
          <p:cNvPicPr>
            <a:picLocks noChangeAspect="1"/>
          </p:cNvPicPr>
          <p:nvPr/>
        </p:nvPicPr>
        <p:blipFill>
          <a:blip r:embed="rId7"/>
          <a:stretch>
            <a:fillRect/>
          </a:stretch>
        </p:blipFill>
        <p:spPr>
          <a:xfrm>
            <a:off x="566928" y="3447288"/>
            <a:ext cx="256032" cy="256032"/>
          </a:xfrm>
          <a:prstGeom prst="rect">
            <a:avLst/>
          </a:prstGeom>
        </p:spPr>
      </p:pic>
      <p:sp>
        <p:nvSpPr>
          <p:cNvPr id="23" name="Text 16"/>
          <p:cNvSpPr/>
          <p:nvPr/>
        </p:nvSpPr>
        <p:spPr>
          <a:xfrm>
            <a:off x="896112" y="3300984"/>
            <a:ext cx="3383280" cy="201168"/>
          </a:xfrm>
          <a:prstGeom prst="rect">
            <a:avLst/>
          </a:prstGeom>
          <a:noFill/>
          <a:ln/>
        </p:spPr>
        <p:txBody>
          <a:bodyPr wrap="square" lIns="0" tIns="0" rIns="0" bIns="0" rtlCol="0" anchor="ctr"/>
          <a:lstStyle/>
          <a:p>
            <a:pPr marL="0" indent="0">
              <a:buNone/>
            </a:pPr>
            <a:r>
              <a:rPr lang="en-US" sz="950" b="1" dirty="0">
                <a:solidFill>
                  <a:srgbClr val="276749"/>
                </a:solidFill>
                <a:latin typeface="Calibri" pitchFamily="34" charset="0"/>
                <a:ea typeface="Calibri" pitchFamily="34" charset="-122"/>
                <a:cs typeface="Calibri" pitchFamily="34" charset="-120"/>
              </a:rPr>
              <a:t>Cliniques, hôpitaux, CPAM</a:t>
            </a:r>
            <a:endParaRPr lang="en-US" sz="950" dirty="0"/>
          </a:p>
        </p:txBody>
      </p:sp>
      <p:sp>
        <p:nvSpPr>
          <p:cNvPr id="24" name="Text 17"/>
          <p:cNvSpPr/>
          <p:nvPr/>
        </p:nvSpPr>
        <p:spPr>
          <a:xfrm>
            <a:off x="896112" y="3520440"/>
            <a:ext cx="3383280" cy="50292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Transport médical conventionné. Régulier et prévisible. Conventionnement CPAM nécessaire.</a:t>
            </a:r>
            <a:endParaRPr lang="en-US" sz="750" dirty="0"/>
          </a:p>
        </p:txBody>
      </p:sp>
      <p:sp>
        <p:nvSpPr>
          <p:cNvPr id="25" name="Shape 18"/>
          <p:cNvSpPr/>
          <p:nvPr/>
        </p:nvSpPr>
        <p:spPr>
          <a:xfrm>
            <a:off x="4754880" y="3246120"/>
            <a:ext cx="4023360" cy="8686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26" name="Image 5" descr="preencoded.png"/>
          <p:cNvPicPr>
            <a:picLocks noChangeAspect="1"/>
          </p:cNvPicPr>
          <p:nvPr/>
        </p:nvPicPr>
        <p:blipFill>
          <a:blip r:embed="rId8"/>
          <a:stretch>
            <a:fillRect/>
          </a:stretch>
        </p:blipFill>
        <p:spPr>
          <a:xfrm>
            <a:off x="4864608" y="3447288"/>
            <a:ext cx="256032" cy="256032"/>
          </a:xfrm>
          <a:prstGeom prst="rect">
            <a:avLst/>
          </a:prstGeom>
        </p:spPr>
      </p:pic>
      <p:sp>
        <p:nvSpPr>
          <p:cNvPr id="27" name="Text 19"/>
          <p:cNvSpPr/>
          <p:nvPr/>
        </p:nvSpPr>
        <p:spPr>
          <a:xfrm>
            <a:off x="5193792" y="3300984"/>
            <a:ext cx="3383280" cy="201168"/>
          </a:xfrm>
          <a:prstGeom prst="rect">
            <a:avLst/>
          </a:prstGeom>
          <a:noFill/>
          <a:ln/>
        </p:spPr>
        <p:txBody>
          <a:bodyPr wrap="square" lIns="0" tIns="0" rIns="0" bIns="0" rtlCol="0" anchor="ctr"/>
          <a:lstStyle/>
          <a:p>
            <a:pPr marL="0" indent="0">
              <a:buNone/>
            </a:pPr>
            <a:r>
              <a:rPr lang="en-US" sz="950" b="1" dirty="0">
                <a:solidFill>
                  <a:srgbClr val="C05621"/>
                </a:solidFill>
                <a:latin typeface="Calibri" pitchFamily="34" charset="0"/>
                <a:ea typeface="Calibri" pitchFamily="34" charset="-122"/>
                <a:cs typeface="Calibri" pitchFamily="34" charset="-120"/>
              </a:rPr>
              <a:t>Agences de voyage &amp; tours</a:t>
            </a:r>
            <a:endParaRPr lang="en-US" sz="950" dirty="0"/>
          </a:p>
        </p:txBody>
      </p:sp>
      <p:sp>
        <p:nvSpPr>
          <p:cNvPr id="28" name="Text 20"/>
          <p:cNvSpPr/>
          <p:nvPr/>
        </p:nvSpPr>
        <p:spPr>
          <a:xfrm>
            <a:off x="5193792" y="3520440"/>
            <a:ext cx="3383280" cy="502920"/>
          </a:xfrm>
          <a:prstGeom prst="rect">
            <a:avLst/>
          </a:prstGeom>
          <a:noFill/>
          <a:ln/>
        </p:spPr>
        <p:txBody>
          <a:bodyPr wrap="square" lIns="0" tIns="0" rIns="0" bIns="0" rtlCol="0" anchor="ctr"/>
          <a:lstStyle/>
          <a:p>
            <a:pPr marL="0" indent="0">
              <a:buNone/>
            </a:pPr>
            <a:r>
              <a:rPr lang="en-US" sz="750" dirty="0">
                <a:solidFill>
                  <a:srgbClr val="4A5568"/>
                </a:solidFill>
                <a:latin typeface="Calibri" pitchFamily="34" charset="0"/>
                <a:ea typeface="Calibri" pitchFamily="34" charset="-122"/>
                <a:cs typeface="Calibri" pitchFamily="34" charset="-120"/>
              </a:rPr>
              <a:t>Transferts aéroport/gare. Circuits touristiques. Service multilingue. Contrats annuels.</a:t>
            </a:r>
            <a:endParaRPr lang="en-US" sz="750" dirty="0"/>
          </a:p>
        </p:txBody>
      </p:sp>
      <p:sp>
        <p:nvSpPr>
          <p:cNvPr id="29" name="Shape 21"/>
          <p:cNvSpPr/>
          <p:nvPr/>
        </p:nvSpPr>
        <p:spPr>
          <a:xfrm>
            <a:off x="457200" y="4343400"/>
            <a:ext cx="8229600" cy="320040"/>
          </a:xfrm>
          <a:prstGeom prst="rect">
            <a:avLst/>
          </a:prstGeom>
          <a:solidFill>
            <a:srgbClr val="0B5563"/>
          </a:solidFill>
          <a:ln/>
        </p:spPr>
        <p:txBody>
          <a:bodyPr/>
          <a:lstStyle/>
          <a:p>
            <a:endParaRPr lang="fr-FR"/>
          </a:p>
        </p:txBody>
      </p:sp>
      <p:sp>
        <p:nvSpPr>
          <p:cNvPr id="30" name="Text 22"/>
          <p:cNvSpPr/>
          <p:nvPr/>
        </p:nvSpPr>
        <p:spPr>
          <a:xfrm>
            <a:off x="548640" y="4343400"/>
            <a:ext cx="8046720" cy="320040"/>
          </a:xfrm>
          <a:prstGeom prst="rect">
            <a:avLst/>
          </a:prstGeom>
          <a:noFill/>
          <a:ln/>
        </p:spPr>
        <p:txBody>
          <a:bodyPr wrap="square" rtlCol="0" anchor="ctr"/>
          <a:lstStyle/>
          <a:p>
            <a:pPr marL="0" indent="0">
              <a:buNone/>
            </a:pPr>
            <a:r>
              <a:rPr lang="en-US" sz="850" b="1" dirty="0">
                <a:solidFill>
                  <a:srgbClr val="FFFFFF"/>
                </a:solidFill>
                <a:latin typeface="Calibri" pitchFamily="34" charset="0"/>
                <a:ea typeface="Calibri" pitchFamily="34" charset="-122"/>
                <a:cs typeface="Calibri" pitchFamily="34" charset="-120"/>
              </a:rPr>
              <a:t>🤝 Un partenaire vous recommande si VOTRE qualité de service le fait bien paraître auprès de SES clients</a:t>
            </a:r>
            <a:endParaRPr lang="en-US" sz="850" dirty="0"/>
          </a:p>
        </p:txBody>
      </p:sp>
      <p:sp>
        <p:nvSpPr>
          <p:cNvPr id="31" name="Shape 23"/>
          <p:cNvSpPr/>
          <p:nvPr/>
        </p:nvSpPr>
        <p:spPr>
          <a:xfrm>
            <a:off x="0" y="4823460"/>
            <a:ext cx="9144000" cy="320040"/>
          </a:xfrm>
          <a:prstGeom prst="rect">
            <a:avLst/>
          </a:prstGeom>
          <a:solidFill>
            <a:srgbClr val="1A1F2E"/>
          </a:solidFill>
          <a:ln/>
        </p:spPr>
        <p:txBody>
          <a:bodyPr/>
          <a:lstStyle/>
          <a:p>
            <a:endParaRPr lang="fr-FR"/>
          </a:p>
        </p:txBody>
      </p:sp>
      <p:sp>
        <p:nvSpPr>
          <p:cNvPr id="32" name="Text 24"/>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33" name="Text 25"/>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MODULE 9 — DEVIS &amp; FACTURE VTC</a:t>
            </a:r>
            <a:endParaRPr lang="en-US" sz="900" dirty="0"/>
          </a:p>
        </p:txBody>
      </p:sp>
      <p:sp>
        <p:nvSpPr>
          <p:cNvPr id="4" name="Text 2"/>
          <p:cNvSpPr/>
          <p:nvPr/>
        </p:nvSpPr>
        <p:spPr>
          <a:xfrm>
            <a:off x="457200" y="640080"/>
            <a:ext cx="8229600" cy="457200"/>
          </a:xfrm>
          <a:prstGeom prst="rect">
            <a:avLst/>
          </a:prstGeom>
          <a:noFill/>
          <a:ln/>
        </p:spPr>
        <p:txBody>
          <a:bodyPr wrap="square" rtlCol="0" anchor="ctr"/>
          <a:lstStyle/>
          <a:p>
            <a:pPr marL="0" indent="0">
              <a:buNone/>
            </a:pPr>
            <a:r>
              <a:rPr lang="en-US" sz="1800" b="1" dirty="0">
                <a:solidFill>
                  <a:srgbClr val="1A202C"/>
                </a:solidFill>
                <a:latin typeface="Georgia" pitchFamily="34" charset="0"/>
                <a:ea typeface="Georgia" pitchFamily="34" charset="-122"/>
                <a:cs typeface="Georgia" pitchFamily="34" charset="-120"/>
              </a:rPr>
              <a:t>Le devis VTC : 11 mentions obligatoires</a:t>
            </a:r>
            <a:endParaRPr lang="en-US" sz="1800" dirty="0"/>
          </a:p>
        </p:txBody>
      </p:sp>
      <p:sp>
        <p:nvSpPr>
          <p:cNvPr id="5" name="Shape 3"/>
          <p:cNvSpPr/>
          <p:nvPr/>
        </p:nvSpPr>
        <p:spPr>
          <a:xfrm>
            <a:off x="457200" y="1234440"/>
            <a:ext cx="5303520" cy="33832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pic>
        <p:nvPicPr>
          <p:cNvPr id="6" name="Image 0" descr="preencoded.png"/>
          <p:cNvPicPr>
            <a:picLocks noChangeAspect="1"/>
          </p:cNvPicPr>
          <p:nvPr/>
        </p:nvPicPr>
        <p:blipFill>
          <a:blip r:embed="rId3"/>
          <a:stretch>
            <a:fillRect/>
          </a:stretch>
        </p:blipFill>
        <p:spPr>
          <a:xfrm>
            <a:off x="640080" y="1371600"/>
            <a:ext cx="274320" cy="274320"/>
          </a:xfrm>
          <a:prstGeom prst="rect">
            <a:avLst/>
          </a:prstGeom>
        </p:spPr>
      </p:pic>
      <p:sp>
        <p:nvSpPr>
          <p:cNvPr id="7" name="Text 4"/>
          <p:cNvSpPr/>
          <p:nvPr/>
        </p:nvSpPr>
        <p:spPr>
          <a:xfrm>
            <a:off x="1005840" y="1325880"/>
            <a:ext cx="4114800" cy="274320"/>
          </a:xfrm>
          <a:prstGeom prst="rect">
            <a:avLst/>
          </a:prstGeom>
          <a:noFill/>
          <a:ln/>
        </p:spPr>
        <p:txBody>
          <a:bodyPr wrap="square" lIns="0" tIns="0" rIns="0" bIns="0" rtlCol="0" anchor="ctr"/>
          <a:lstStyle/>
          <a:p>
            <a:pPr marL="0" indent="0">
              <a:buNone/>
            </a:pPr>
            <a:r>
              <a:rPr lang="en-US" sz="1200" b="1" dirty="0">
                <a:solidFill>
                  <a:srgbClr val="C05621"/>
                </a:solidFill>
                <a:latin typeface="Calibri" pitchFamily="34" charset="0"/>
                <a:ea typeface="Calibri" pitchFamily="34" charset="-122"/>
                <a:cs typeface="Calibri" pitchFamily="34" charset="-120"/>
              </a:rPr>
              <a:t>Mentions obligatoires du devis</a:t>
            </a:r>
            <a:endParaRPr lang="en-US" sz="1200" dirty="0"/>
          </a:p>
        </p:txBody>
      </p:sp>
      <p:sp>
        <p:nvSpPr>
          <p:cNvPr id="8" name="Text 5"/>
          <p:cNvSpPr/>
          <p:nvPr/>
        </p:nvSpPr>
        <p:spPr>
          <a:xfrm>
            <a:off x="640080" y="1691640"/>
            <a:ext cx="4937760" cy="22860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1. Date du devis et durée de validité de l'offre</a:t>
            </a:r>
            <a:endParaRPr lang="en-US" sz="750" dirty="0"/>
          </a:p>
        </p:txBody>
      </p:sp>
      <p:sp>
        <p:nvSpPr>
          <p:cNvPr id="9" name="Text 6"/>
          <p:cNvSpPr/>
          <p:nvPr/>
        </p:nvSpPr>
        <p:spPr>
          <a:xfrm>
            <a:off x="640080" y="1938528"/>
            <a:ext cx="4937760" cy="22860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2. Nom, raison sociale et adresse de l'entreprise (n° de tél. et adresse email)</a:t>
            </a:r>
            <a:endParaRPr lang="en-US" sz="750" dirty="0"/>
          </a:p>
        </p:txBody>
      </p:sp>
      <p:sp>
        <p:nvSpPr>
          <p:cNvPr id="10" name="Text 7"/>
          <p:cNvSpPr/>
          <p:nvPr/>
        </p:nvSpPr>
        <p:spPr>
          <a:xfrm>
            <a:off x="640080" y="2185416"/>
            <a:ext cx="4937760" cy="22860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3. Statut et forme juridique de l'entreprise</a:t>
            </a:r>
            <a:endParaRPr lang="en-US" sz="750" dirty="0"/>
          </a:p>
        </p:txBody>
      </p:sp>
      <p:sp>
        <p:nvSpPr>
          <p:cNvPr id="11" name="Text 8"/>
          <p:cNvSpPr/>
          <p:nvPr/>
        </p:nvSpPr>
        <p:spPr>
          <a:xfrm>
            <a:off x="640080" y="2432304"/>
            <a:ext cx="4937760" cy="22860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4. Pour un artisan : n° au Répertoire des métiers (n° Siren + RM + n° département)</a:t>
            </a:r>
            <a:endParaRPr lang="en-US" sz="750" dirty="0"/>
          </a:p>
        </p:txBody>
      </p:sp>
      <p:sp>
        <p:nvSpPr>
          <p:cNvPr id="12" name="Text 9"/>
          <p:cNvSpPr/>
          <p:nvPr/>
        </p:nvSpPr>
        <p:spPr>
          <a:xfrm>
            <a:off x="640080" y="2679192"/>
            <a:ext cx="4937760" cy="22860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5. Numéro individuel d'identification à la TVA</a:t>
            </a:r>
            <a:endParaRPr lang="en-US" sz="750" dirty="0"/>
          </a:p>
        </p:txBody>
      </p:sp>
      <p:sp>
        <p:nvSpPr>
          <p:cNvPr id="13" name="Text 10"/>
          <p:cNvSpPr/>
          <p:nvPr/>
        </p:nvSpPr>
        <p:spPr>
          <a:xfrm>
            <a:off x="640080" y="2926080"/>
            <a:ext cx="4937760" cy="22860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6. Nom et adresse du client</a:t>
            </a:r>
            <a:endParaRPr lang="en-US" sz="750" dirty="0"/>
          </a:p>
        </p:txBody>
      </p:sp>
      <p:sp>
        <p:nvSpPr>
          <p:cNvPr id="14" name="Text 11"/>
          <p:cNvSpPr/>
          <p:nvPr/>
        </p:nvSpPr>
        <p:spPr>
          <a:xfrm>
            <a:off x="640080" y="3172968"/>
            <a:ext cx="4937760" cy="22860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7. Date de début et durée estimée de la prestation</a:t>
            </a:r>
            <a:endParaRPr lang="en-US" sz="750" dirty="0"/>
          </a:p>
        </p:txBody>
      </p:sp>
      <p:sp>
        <p:nvSpPr>
          <p:cNvPr id="15" name="Text 12"/>
          <p:cNvSpPr/>
          <p:nvPr/>
        </p:nvSpPr>
        <p:spPr>
          <a:xfrm>
            <a:off x="640080" y="3419856"/>
            <a:ext cx="4937760" cy="22860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8. Décompte détaillé de chaque prestation, en quantité et en prix unitaire</a:t>
            </a:r>
            <a:endParaRPr lang="en-US" sz="750" dirty="0"/>
          </a:p>
        </p:txBody>
      </p:sp>
      <p:sp>
        <p:nvSpPr>
          <p:cNvPr id="16" name="Text 13"/>
          <p:cNvSpPr/>
          <p:nvPr/>
        </p:nvSpPr>
        <p:spPr>
          <a:xfrm>
            <a:off x="640080" y="3666744"/>
            <a:ext cx="4937760" cy="22860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9. Prix horaire ou forfaitaire de main d'œuvre</a:t>
            </a:r>
            <a:endParaRPr lang="en-US" sz="750" dirty="0"/>
          </a:p>
        </p:txBody>
      </p:sp>
      <p:sp>
        <p:nvSpPr>
          <p:cNvPr id="17" name="Text 14"/>
          <p:cNvSpPr/>
          <p:nvPr/>
        </p:nvSpPr>
        <p:spPr>
          <a:xfrm>
            <a:off x="640080" y="3913632"/>
            <a:ext cx="4937760" cy="22860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10. Modalités de paiement, de livraison et d'exécution du contrat ; modalités des réclamations et conditions du SAV</a:t>
            </a:r>
            <a:endParaRPr lang="en-US" sz="750" dirty="0"/>
          </a:p>
        </p:txBody>
      </p:sp>
      <p:sp>
        <p:nvSpPr>
          <p:cNvPr id="18" name="Text 15"/>
          <p:cNvSpPr/>
          <p:nvPr/>
        </p:nvSpPr>
        <p:spPr>
          <a:xfrm>
            <a:off x="640080" y="4160520"/>
            <a:ext cx="4937760" cy="228600"/>
          </a:xfrm>
          <a:prstGeom prst="rect">
            <a:avLst/>
          </a:prstGeom>
          <a:noFill/>
          <a:ln/>
        </p:spPr>
        <p:txBody>
          <a:bodyPr wrap="square" rtlCol="0" anchor="ctr"/>
          <a:lstStyle/>
          <a:p>
            <a:pPr marL="0" indent="0">
              <a:buNone/>
            </a:pPr>
            <a:r>
              <a:rPr lang="en-US" sz="750" dirty="0">
                <a:solidFill>
                  <a:srgbClr val="1A202C"/>
                </a:solidFill>
                <a:latin typeface="Calibri" pitchFamily="34" charset="0"/>
                <a:ea typeface="Calibri" pitchFamily="34" charset="-122"/>
                <a:cs typeface="Calibri" pitchFamily="34" charset="-120"/>
              </a:rPr>
              <a:t>11. Somme globale à payer HT et TTC, en précisant les taux de TVA applicables</a:t>
            </a:r>
            <a:endParaRPr lang="en-US" sz="750" dirty="0"/>
          </a:p>
        </p:txBody>
      </p:sp>
      <p:sp>
        <p:nvSpPr>
          <p:cNvPr id="19" name="Shape 16"/>
          <p:cNvSpPr/>
          <p:nvPr/>
        </p:nvSpPr>
        <p:spPr>
          <a:xfrm>
            <a:off x="6035040" y="1234440"/>
            <a:ext cx="2651760" cy="18288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20" name="Shape 17"/>
          <p:cNvSpPr/>
          <p:nvPr/>
        </p:nvSpPr>
        <p:spPr>
          <a:xfrm>
            <a:off x="6035040" y="1234440"/>
            <a:ext cx="2651760" cy="54864"/>
          </a:xfrm>
          <a:prstGeom prst="rect">
            <a:avLst/>
          </a:prstGeom>
          <a:solidFill>
            <a:srgbClr val="276749"/>
          </a:solidFill>
          <a:ln/>
        </p:spPr>
        <p:txBody>
          <a:bodyPr/>
          <a:lstStyle/>
          <a:p>
            <a:endParaRPr lang="fr-FR"/>
          </a:p>
        </p:txBody>
      </p:sp>
      <p:sp>
        <p:nvSpPr>
          <p:cNvPr id="21" name="Text 18"/>
          <p:cNvSpPr/>
          <p:nvPr/>
        </p:nvSpPr>
        <p:spPr>
          <a:xfrm>
            <a:off x="6217920" y="1371600"/>
            <a:ext cx="2286000" cy="274320"/>
          </a:xfrm>
          <a:prstGeom prst="rect">
            <a:avLst/>
          </a:prstGeom>
          <a:noFill/>
          <a:ln/>
        </p:spPr>
        <p:txBody>
          <a:bodyPr wrap="square" rtlCol="0" anchor="ctr"/>
          <a:lstStyle/>
          <a:p>
            <a:pPr marL="0" indent="0">
              <a:buNone/>
            </a:pPr>
            <a:r>
              <a:rPr lang="en-US" sz="1100" b="1" dirty="0">
                <a:solidFill>
                  <a:srgbClr val="276749"/>
                </a:solidFill>
                <a:latin typeface="Calibri" pitchFamily="34" charset="0"/>
                <a:ea typeface="Calibri" pitchFamily="34" charset="-122"/>
                <a:cs typeface="Calibri" pitchFamily="34" charset="-120"/>
              </a:rPr>
              <a:t>📄 La facture</a:t>
            </a:r>
            <a:endParaRPr lang="en-US" sz="1100" dirty="0"/>
          </a:p>
        </p:txBody>
      </p:sp>
      <p:sp>
        <p:nvSpPr>
          <p:cNvPr id="22" name="Text 19"/>
          <p:cNvSpPr/>
          <p:nvPr/>
        </p:nvSpPr>
        <p:spPr>
          <a:xfrm>
            <a:off x="6217920" y="1691640"/>
            <a:ext cx="2286000" cy="1097280"/>
          </a:xfrm>
          <a:prstGeom prst="rect">
            <a:avLst/>
          </a:prstGeom>
          <a:noFill/>
          <a:ln/>
        </p:spPr>
        <p:txBody>
          <a:bodyPr wrap="square" rtlCol="0" anchor="ctr"/>
          <a:lstStyle/>
          <a:p>
            <a:pPr marL="0" indent="0">
              <a:buNone/>
            </a:pPr>
            <a:r>
              <a:rPr lang="en-US" sz="850" dirty="0">
                <a:solidFill>
                  <a:srgbClr val="1A202C"/>
                </a:solidFill>
                <a:latin typeface="Calibri" pitchFamily="34" charset="0"/>
                <a:ea typeface="Calibri" pitchFamily="34" charset="-122"/>
                <a:cs typeface="Calibri" pitchFamily="34" charset="-120"/>
              </a:rPr>
              <a:t>La facture reprend toutes les mentions du devis.</a:t>
            </a:r>
            <a:endParaRPr lang="en-US" sz="850" dirty="0"/>
          </a:p>
          <a:p>
            <a:pPr marL="0" indent="0">
              <a:buNone/>
            </a:pP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À rajouter en plus du devis :</a:t>
            </a:r>
            <a:endParaRPr lang="en-US" sz="850" dirty="0"/>
          </a:p>
          <a:p>
            <a:pPr marL="0" indent="0">
              <a:buNone/>
            </a:pPr>
            <a:r>
              <a:rPr lang="en-US" sz="850" dirty="0">
                <a:solidFill>
                  <a:srgbClr val="1A202C"/>
                </a:solidFill>
                <a:latin typeface="Calibri" pitchFamily="34" charset="0"/>
                <a:ea typeface="Calibri" pitchFamily="34" charset="-122"/>
                <a:cs typeface="Calibri" pitchFamily="34" charset="-120"/>
              </a:rPr>
              <a:t>Le numéro de la facture (unique et chronologique).</a:t>
            </a:r>
            <a:endParaRPr lang="en-US" sz="850" dirty="0"/>
          </a:p>
        </p:txBody>
      </p:sp>
      <p:sp>
        <p:nvSpPr>
          <p:cNvPr id="23" name="Shape 20"/>
          <p:cNvSpPr/>
          <p:nvPr/>
        </p:nvSpPr>
        <p:spPr>
          <a:xfrm>
            <a:off x="6035040" y="3291840"/>
            <a:ext cx="2651760" cy="11887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24" name="Shape 21"/>
          <p:cNvSpPr/>
          <p:nvPr/>
        </p:nvSpPr>
        <p:spPr>
          <a:xfrm>
            <a:off x="6035040" y="3291840"/>
            <a:ext cx="2651760" cy="54864"/>
          </a:xfrm>
          <a:prstGeom prst="rect">
            <a:avLst/>
          </a:prstGeom>
          <a:solidFill>
            <a:srgbClr val="C53030"/>
          </a:solidFill>
          <a:ln/>
        </p:spPr>
        <p:txBody>
          <a:bodyPr/>
          <a:lstStyle/>
          <a:p>
            <a:endParaRPr lang="fr-FR"/>
          </a:p>
        </p:txBody>
      </p:sp>
      <p:sp>
        <p:nvSpPr>
          <p:cNvPr id="25" name="Text 22"/>
          <p:cNvSpPr/>
          <p:nvPr/>
        </p:nvSpPr>
        <p:spPr>
          <a:xfrm>
            <a:off x="6217920" y="3429000"/>
            <a:ext cx="2286000" cy="228600"/>
          </a:xfrm>
          <a:prstGeom prst="rect">
            <a:avLst/>
          </a:prstGeom>
          <a:noFill/>
          <a:ln/>
        </p:spPr>
        <p:txBody>
          <a:bodyPr wrap="square" rtlCol="0" anchor="ctr"/>
          <a:lstStyle/>
          <a:p>
            <a:pPr marL="0" indent="0">
              <a:buNone/>
            </a:pPr>
            <a:r>
              <a:rPr lang="en-US" sz="1000" b="1" dirty="0">
                <a:solidFill>
                  <a:srgbClr val="C53030"/>
                </a:solidFill>
                <a:latin typeface="Calibri" pitchFamily="34" charset="0"/>
                <a:ea typeface="Calibri" pitchFamily="34" charset="-122"/>
                <a:cs typeface="Calibri" pitchFamily="34" charset="-120"/>
              </a:rPr>
              <a:t>⚠️ Attention</a:t>
            </a:r>
            <a:endParaRPr lang="en-US" sz="1000" dirty="0"/>
          </a:p>
        </p:txBody>
      </p:sp>
      <p:sp>
        <p:nvSpPr>
          <p:cNvPr id="26" name="Text 23"/>
          <p:cNvSpPr/>
          <p:nvPr/>
        </p:nvSpPr>
        <p:spPr>
          <a:xfrm>
            <a:off x="6217920" y="3703320"/>
            <a:ext cx="2286000" cy="640080"/>
          </a:xfrm>
          <a:prstGeom prst="rect">
            <a:avLst/>
          </a:prstGeom>
          <a:noFill/>
          <a:ln/>
        </p:spPr>
        <p:txBody>
          <a:bodyPr wrap="square" rtlCol="0" anchor="ctr"/>
          <a:lstStyle/>
          <a:p>
            <a:pPr marL="0" indent="0">
              <a:buNone/>
            </a:pPr>
            <a:r>
              <a:rPr lang="en-US" sz="800" dirty="0">
                <a:solidFill>
                  <a:srgbClr val="1A202C"/>
                </a:solidFill>
                <a:latin typeface="Calibri" pitchFamily="34" charset="0"/>
                <a:ea typeface="Calibri" pitchFamily="34" charset="-122"/>
                <a:cs typeface="Calibri" pitchFamily="34" charset="-120"/>
              </a:rPr>
              <a:t>Le capital social n'est PAS obligatoire sur le devis VTC.</a:t>
            </a:r>
            <a:endParaRPr lang="en-US" sz="800" dirty="0"/>
          </a:p>
          <a:p>
            <a:pPr marL="0" indent="0">
              <a:buNone/>
            </a:pPr>
            <a:endParaRPr lang="en-US" sz="800" dirty="0"/>
          </a:p>
          <a:p>
            <a:pPr marL="0" indent="0">
              <a:buNone/>
            </a:pPr>
            <a:r>
              <a:rPr lang="en-US" sz="800" dirty="0">
                <a:solidFill>
                  <a:srgbClr val="1A202C"/>
                </a:solidFill>
                <a:latin typeface="Calibri" pitchFamily="34" charset="0"/>
                <a:ea typeface="Calibri" pitchFamily="34" charset="-122"/>
                <a:cs typeface="Calibri" pitchFamily="34" charset="-120"/>
              </a:rPr>
              <a:t>Conservation : 10 ans minimum.</a:t>
            </a:r>
            <a:endParaRPr lang="en-US" sz="800" dirty="0"/>
          </a:p>
        </p:txBody>
      </p:sp>
      <p:sp>
        <p:nvSpPr>
          <p:cNvPr id="27" name="Shape 24"/>
          <p:cNvSpPr/>
          <p:nvPr/>
        </p:nvSpPr>
        <p:spPr>
          <a:xfrm>
            <a:off x="0" y="4823460"/>
            <a:ext cx="9144000" cy="320040"/>
          </a:xfrm>
          <a:prstGeom prst="rect">
            <a:avLst/>
          </a:prstGeom>
          <a:solidFill>
            <a:srgbClr val="1A1F2E"/>
          </a:solidFill>
          <a:ln/>
        </p:spPr>
        <p:txBody>
          <a:bodyPr/>
          <a:lstStyle/>
          <a:p>
            <a:endParaRPr lang="fr-FR"/>
          </a:p>
        </p:txBody>
      </p:sp>
      <p:sp>
        <p:nvSpPr>
          <p:cNvPr id="28" name="Text 25"/>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29" name="Text 26"/>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5F7FA"/>
        </a:solidFill>
        <a:effectLst/>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0B5563"/>
          </a:solidFill>
          <a:ln/>
        </p:spPr>
        <p:txBody>
          <a:bodyPr/>
          <a:lstStyle/>
          <a:p>
            <a:endParaRPr lang="fr-FR"/>
          </a:p>
        </p:txBody>
      </p:sp>
      <p:sp>
        <p:nvSpPr>
          <p:cNvPr id="3" name="Text 1"/>
          <p:cNvSpPr/>
          <p:nvPr/>
        </p:nvSpPr>
        <p:spPr>
          <a:xfrm>
            <a:off x="457200" y="0"/>
            <a:ext cx="8229600" cy="502920"/>
          </a:xfrm>
          <a:prstGeom prst="rect">
            <a:avLst/>
          </a:prstGeom>
          <a:noFill/>
          <a:ln/>
        </p:spPr>
        <p:txBody>
          <a:bodyPr wrap="square" rtlCol="0" anchor="ctr"/>
          <a:lstStyle/>
          <a:p>
            <a:pPr marL="0" indent="0">
              <a:buNone/>
            </a:pPr>
            <a:r>
              <a:rPr lang="en-US" sz="900" b="1" kern="0" spc="200" dirty="0">
                <a:solidFill>
                  <a:srgbClr val="E8A838"/>
                </a:solidFill>
                <a:latin typeface="Calibri" pitchFamily="34" charset="0"/>
                <a:ea typeface="Calibri" pitchFamily="34" charset="-122"/>
                <a:cs typeface="Calibri" pitchFamily="34" charset="-120"/>
              </a:rPr>
              <a:t>SYNTHÈSE — MARKETING &amp; DÉVELOPPEMENT COMMERCIAL VTC</a:t>
            </a:r>
            <a:endParaRPr lang="en-US" sz="900" dirty="0"/>
          </a:p>
        </p:txBody>
      </p:sp>
      <p:sp>
        <p:nvSpPr>
          <p:cNvPr id="4" name="Shape 2"/>
          <p:cNvSpPr/>
          <p:nvPr/>
        </p:nvSpPr>
        <p:spPr>
          <a:xfrm>
            <a:off x="457200" y="640080"/>
            <a:ext cx="4023360"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5" name="Text 3"/>
          <p:cNvSpPr/>
          <p:nvPr/>
        </p:nvSpPr>
        <p:spPr>
          <a:xfrm>
            <a:off x="566928" y="685800"/>
            <a:ext cx="3794760" cy="201168"/>
          </a:xfrm>
          <a:prstGeom prst="rect">
            <a:avLst/>
          </a:prstGeom>
          <a:noFill/>
          <a:ln/>
        </p:spPr>
        <p:txBody>
          <a:bodyPr wrap="square" lIns="0" tIns="0" rIns="0" bIns="0" rtlCol="0" anchor="ctr"/>
          <a:lstStyle/>
          <a:p>
            <a:pPr marL="0" indent="0">
              <a:buNone/>
            </a:pPr>
            <a:r>
              <a:rPr lang="en-US" sz="900" b="1" dirty="0">
                <a:solidFill>
                  <a:srgbClr val="0B5563"/>
                </a:solidFill>
                <a:latin typeface="Calibri" pitchFamily="34" charset="0"/>
                <a:ea typeface="Calibri" pitchFamily="34" charset="-122"/>
                <a:cs typeface="Calibri" pitchFamily="34" charset="-120"/>
              </a:rPr>
              <a:t>Mercatique &amp; 4P</a:t>
            </a:r>
            <a:endParaRPr lang="en-US" sz="900" dirty="0"/>
          </a:p>
        </p:txBody>
      </p:sp>
      <p:sp>
        <p:nvSpPr>
          <p:cNvPr id="6" name="Text 4"/>
          <p:cNvSpPr/>
          <p:nvPr/>
        </p:nvSpPr>
        <p:spPr>
          <a:xfrm>
            <a:off x="566928" y="914400"/>
            <a:ext cx="3794760" cy="548640"/>
          </a:xfrm>
          <a:prstGeom prst="rect">
            <a:avLst/>
          </a:prstGeom>
          <a:noFill/>
          <a:ln/>
        </p:spPr>
        <p:txBody>
          <a:bodyPr wrap="square" lIns="0" tIns="0" rIns="0" bIns="0" rtlCol="0" anchor="ctr"/>
          <a:lstStyle/>
          <a:p>
            <a:pPr marL="0" indent="0">
              <a:buNone/>
            </a:pPr>
            <a:r>
              <a:rPr lang="en-US" sz="700" dirty="0">
                <a:solidFill>
                  <a:srgbClr val="4A5568"/>
                </a:solidFill>
                <a:latin typeface="Calibri" pitchFamily="34" charset="0"/>
                <a:ea typeface="Calibri" pitchFamily="34" charset="-122"/>
                <a:cs typeface="Calibri" pitchFamily="34" charset="-120"/>
              </a:rPr>
              <a:t>Connaître, créer, communiquer, distribuer, contrôler. Stratégique (analyse) + Opérationnel (4P). Cohérence interne, externe, temporelle.</a:t>
            </a:r>
            <a:endParaRPr lang="en-US" sz="700" dirty="0"/>
          </a:p>
        </p:txBody>
      </p:sp>
      <p:sp>
        <p:nvSpPr>
          <p:cNvPr id="7" name="Shape 5"/>
          <p:cNvSpPr/>
          <p:nvPr/>
        </p:nvSpPr>
        <p:spPr>
          <a:xfrm>
            <a:off x="4754880" y="640080"/>
            <a:ext cx="4023360"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8" name="Text 6"/>
          <p:cNvSpPr/>
          <p:nvPr/>
        </p:nvSpPr>
        <p:spPr>
          <a:xfrm>
            <a:off x="4864608" y="685800"/>
            <a:ext cx="3794760" cy="201168"/>
          </a:xfrm>
          <a:prstGeom prst="rect">
            <a:avLst/>
          </a:prstGeom>
          <a:noFill/>
          <a:ln/>
        </p:spPr>
        <p:txBody>
          <a:bodyPr wrap="square" lIns="0" tIns="0" rIns="0" bIns="0" rtlCol="0" anchor="ctr"/>
          <a:lstStyle/>
          <a:p>
            <a:pPr marL="0" indent="0">
              <a:buNone/>
            </a:pPr>
            <a:r>
              <a:rPr lang="en-US" sz="900" b="1" dirty="0">
                <a:solidFill>
                  <a:srgbClr val="0B5563"/>
                </a:solidFill>
                <a:latin typeface="Calibri" pitchFamily="34" charset="0"/>
                <a:ea typeface="Calibri" pitchFamily="34" charset="-122"/>
                <a:cs typeface="Calibri" pitchFamily="34" charset="-120"/>
              </a:rPr>
              <a:t>Outils d'analyse</a:t>
            </a:r>
            <a:endParaRPr lang="en-US" sz="900" dirty="0"/>
          </a:p>
        </p:txBody>
      </p:sp>
      <p:sp>
        <p:nvSpPr>
          <p:cNvPr id="9" name="Text 7"/>
          <p:cNvSpPr/>
          <p:nvPr/>
        </p:nvSpPr>
        <p:spPr>
          <a:xfrm>
            <a:off x="4864608" y="914400"/>
            <a:ext cx="3794760" cy="548640"/>
          </a:xfrm>
          <a:prstGeom prst="rect">
            <a:avLst/>
          </a:prstGeom>
          <a:noFill/>
          <a:ln/>
        </p:spPr>
        <p:txBody>
          <a:bodyPr wrap="square" lIns="0" tIns="0" rIns="0" bIns="0" rtlCol="0" anchor="ctr"/>
          <a:lstStyle/>
          <a:p>
            <a:pPr marL="0" indent="0">
              <a:buNone/>
            </a:pPr>
            <a:r>
              <a:rPr lang="en-US" sz="700" dirty="0">
                <a:solidFill>
                  <a:srgbClr val="4A5568"/>
                </a:solidFill>
                <a:latin typeface="Calibri" pitchFamily="34" charset="0"/>
                <a:ea typeface="Calibri" pitchFamily="34" charset="-122"/>
                <a:cs typeface="Calibri" pitchFamily="34" charset="-120"/>
              </a:rPr>
              <a:t>SWOT (forces/faiblesses/opportunités/menaces). Porter (5 forces). PESTEL (6 facteurs macro). Étude de marché + zone de chalandise.</a:t>
            </a:r>
            <a:endParaRPr lang="en-US" sz="700" dirty="0"/>
          </a:p>
        </p:txBody>
      </p:sp>
      <p:sp>
        <p:nvSpPr>
          <p:cNvPr id="10" name="Shape 8"/>
          <p:cNvSpPr/>
          <p:nvPr/>
        </p:nvSpPr>
        <p:spPr>
          <a:xfrm>
            <a:off x="457200" y="1691640"/>
            <a:ext cx="4023360"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1" name="Text 9"/>
          <p:cNvSpPr/>
          <p:nvPr/>
        </p:nvSpPr>
        <p:spPr>
          <a:xfrm>
            <a:off x="566928" y="1737360"/>
            <a:ext cx="3794760" cy="201168"/>
          </a:xfrm>
          <a:prstGeom prst="rect">
            <a:avLst/>
          </a:prstGeom>
          <a:noFill/>
          <a:ln/>
        </p:spPr>
        <p:txBody>
          <a:bodyPr wrap="square" lIns="0" tIns="0" rIns="0" bIns="0" rtlCol="0" anchor="ctr"/>
          <a:lstStyle/>
          <a:p>
            <a:pPr marL="0" indent="0">
              <a:buNone/>
            </a:pPr>
            <a:r>
              <a:rPr lang="en-US" sz="900" b="1" dirty="0">
                <a:solidFill>
                  <a:srgbClr val="0B5563"/>
                </a:solidFill>
                <a:latin typeface="Calibri" pitchFamily="34" charset="0"/>
                <a:ea typeface="Calibri" pitchFamily="34" charset="-122"/>
                <a:cs typeface="Calibri" pitchFamily="34" charset="-120"/>
              </a:rPr>
              <a:t>Définitions essentielles</a:t>
            </a:r>
            <a:endParaRPr lang="en-US" sz="900" dirty="0"/>
          </a:p>
        </p:txBody>
      </p:sp>
      <p:sp>
        <p:nvSpPr>
          <p:cNvPr id="12" name="Text 10"/>
          <p:cNvSpPr/>
          <p:nvPr/>
        </p:nvSpPr>
        <p:spPr>
          <a:xfrm>
            <a:off x="566928" y="1965960"/>
            <a:ext cx="3794760" cy="548640"/>
          </a:xfrm>
          <a:prstGeom prst="rect">
            <a:avLst/>
          </a:prstGeom>
          <a:noFill/>
          <a:ln/>
        </p:spPr>
        <p:txBody>
          <a:bodyPr wrap="square" lIns="0" tIns="0" rIns="0" bIns="0" rtlCol="0" anchor="ctr"/>
          <a:lstStyle/>
          <a:p>
            <a:pPr marL="0" indent="0">
              <a:buNone/>
            </a:pPr>
            <a:r>
              <a:rPr lang="en-US" sz="700" dirty="0">
                <a:solidFill>
                  <a:srgbClr val="4A5568"/>
                </a:solidFill>
                <a:latin typeface="Calibri" pitchFamily="34" charset="0"/>
                <a:ea typeface="Calibri" pitchFamily="34" charset="-122"/>
                <a:cs typeface="Calibri" pitchFamily="34" charset="-120"/>
              </a:rPr>
              <a:t>Prix psychologique, marketing direct (4 modes), B2B/B2C, notoriété, packaging, street marketing, marché de niche, service premium.</a:t>
            </a:r>
            <a:endParaRPr lang="en-US" sz="700" dirty="0"/>
          </a:p>
        </p:txBody>
      </p:sp>
      <p:sp>
        <p:nvSpPr>
          <p:cNvPr id="13" name="Shape 11"/>
          <p:cNvSpPr/>
          <p:nvPr/>
        </p:nvSpPr>
        <p:spPr>
          <a:xfrm>
            <a:off x="4754880" y="1691640"/>
            <a:ext cx="4023360"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4" name="Text 12"/>
          <p:cNvSpPr/>
          <p:nvPr/>
        </p:nvSpPr>
        <p:spPr>
          <a:xfrm>
            <a:off x="4864608" y="1737360"/>
            <a:ext cx="3794760" cy="201168"/>
          </a:xfrm>
          <a:prstGeom prst="rect">
            <a:avLst/>
          </a:prstGeom>
          <a:noFill/>
          <a:ln/>
        </p:spPr>
        <p:txBody>
          <a:bodyPr wrap="square" lIns="0" tIns="0" rIns="0" bIns="0" rtlCol="0" anchor="ctr"/>
          <a:lstStyle/>
          <a:p>
            <a:pPr marL="0" indent="0">
              <a:buNone/>
            </a:pPr>
            <a:r>
              <a:rPr lang="en-US" sz="900" b="1" dirty="0">
                <a:solidFill>
                  <a:srgbClr val="0B5563"/>
                </a:solidFill>
                <a:latin typeface="Calibri" pitchFamily="34" charset="0"/>
                <a:ea typeface="Calibri" pitchFamily="34" charset="-122"/>
                <a:cs typeface="Calibri" pitchFamily="34" charset="-120"/>
              </a:rPr>
              <a:t>Segmentation / Ciblage / Positionnement</a:t>
            </a:r>
            <a:endParaRPr lang="en-US" sz="900" dirty="0"/>
          </a:p>
        </p:txBody>
      </p:sp>
      <p:sp>
        <p:nvSpPr>
          <p:cNvPr id="15" name="Text 13"/>
          <p:cNvSpPr/>
          <p:nvPr/>
        </p:nvSpPr>
        <p:spPr>
          <a:xfrm>
            <a:off x="4864608" y="1965960"/>
            <a:ext cx="3794760" cy="548640"/>
          </a:xfrm>
          <a:prstGeom prst="rect">
            <a:avLst/>
          </a:prstGeom>
          <a:noFill/>
          <a:ln/>
        </p:spPr>
        <p:txBody>
          <a:bodyPr wrap="square" lIns="0" tIns="0" rIns="0" bIns="0" rtlCol="0" anchor="ctr"/>
          <a:lstStyle/>
          <a:p>
            <a:pPr marL="0" indent="0">
              <a:buNone/>
            </a:pPr>
            <a:r>
              <a:rPr lang="en-US" sz="700" dirty="0">
                <a:solidFill>
                  <a:srgbClr val="4A5568"/>
                </a:solidFill>
                <a:latin typeface="Calibri" pitchFamily="34" charset="0"/>
                <a:ea typeface="Calibri" pitchFamily="34" charset="-122"/>
                <a:cs typeface="Calibri" pitchFamily="34" charset="-120"/>
              </a:rPr>
              <a:t>Cible = clientèle visée. Segmentation = diviser le marché. Positionnement = gamme choisie (haut/moyen/entrée).</a:t>
            </a:r>
            <a:endParaRPr lang="en-US" sz="700" dirty="0"/>
          </a:p>
        </p:txBody>
      </p:sp>
      <p:sp>
        <p:nvSpPr>
          <p:cNvPr id="16" name="Shape 14"/>
          <p:cNvSpPr/>
          <p:nvPr/>
        </p:nvSpPr>
        <p:spPr>
          <a:xfrm>
            <a:off x="457200" y="2743200"/>
            <a:ext cx="4023360"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17" name="Text 15"/>
          <p:cNvSpPr/>
          <p:nvPr/>
        </p:nvSpPr>
        <p:spPr>
          <a:xfrm>
            <a:off x="566928" y="2788920"/>
            <a:ext cx="3794760" cy="201168"/>
          </a:xfrm>
          <a:prstGeom prst="rect">
            <a:avLst/>
          </a:prstGeom>
          <a:noFill/>
          <a:ln/>
        </p:spPr>
        <p:txBody>
          <a:bodyPr wrap="square" lIns="0" tIns="0" rIns="0" bIns="0" rtlCol="0" anchor="ctr"/>
          <a:lstStyle/>
          <a:p>
            <a:pPr marL="0" indent="0">
              <a:buNone/>
            </a:pPr>
            <a:r>
              <a:rPr lang="en-US" sz="900" b="1" dirty="0">
                <a:solidFill>
                  <a:srgbClr val="0B5563"/>
                </a:solidFill>
                <a:latin typeface="Calibri" pitchFamily="34" charset="0"/>
                <a:ea typeface="Calibri" pitchFamily="34" charset="-122"/>
                <a:cs typeface="Calibri" pitchFamily="34" charset="-120"/>
              </a:rPr>
              <a:t>Prestation VTC</a:t>
            </a:r>
            <a:endParaRPr lang="en-US" sz="900" dirty="0"/>
          </a:p>
        </p:txBody>
      </p:sp>
      <p:sp>
        <p:nvSpPr>
          <p:cNvPr id="18" name="Text 16"/>
          <p:cNvSpPr/>
          <p:nvPr/>
        </p:nvSpPr>
        <p:spPr>
          <a:xfrm>
            <a:off x="566928" y="3017520"/>
            <a:ext cx="3794760" cy="548640"/>
          </a:xfrm>
          <a:prstGeom prst="rect">
            <a:avLst/>
          </a:prstGeom>
          <a:noFill/>
          <a:ln/>
        </p:spPr>
        <p:txBody>
          <a:bodyPr wrap="square" lIns="0" tIns="0" rIns="0" bIns="0" rtlCol="0" anchor="ctr"/>
          <a:lstStyle/>
          <a:p>
            <a:pPr marL="0" indent="0">
              <a:buNone/>
            </a:pPr>
            <a:r>
              <a:rPr lang="en-US" sz="700" dirty="0">
                <a:solidFill>
                  <a:srgbClr val="4A5568"/>
                </a:solidFill>
                <a:latin typeface="Calibri" pitchFamily="34" charset="0"/>
                <a:ea typeface="Calibri" pitchFamily="34" charset="-122"/>
                <a:cs typeface="Calibri" pitchFamily="34" charset="-120"/>
              </a:rPr>
              <a:t>Présentation, courtoisie, ponctualité. Véhicule &lt; 7 ans, ≥ 4m50. Services à bord. Différenciation tarifaire : forfaits, premium, fidélité.</a:t>
            </a:r>
            <a:endParaRPr lang="en-US" sz="700" dirty="0"/>
          </a:p>
        </p:txBody>
      </p:sp>
      <p:sp>
        <p:nvSpPr>
          <p:cNvPr id="19" name="Shape 17"/>
          <p:cNvSpPr/>
          <p:nvPr/>
        </p:nvSpPr>
        <p:spPr>
          <a:xfrm>
            <a:off x="4754880" y="2743200"/>
            <a:ext cx="4023360"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20" name="Text 18"/>
          <p:cNvSpPr/>
          <p:nvPr/>
        </p:nvSpPr>
        <p:spPr>
          <a:xfrm>
            <a:off x="4864608" y="2788920"/>
            <a:ext cx="3794760" cy="201168"/>
          </a:xfrm>
          <a:prstGeom prst="rect">
            <a:avLst/>
          </a:prstGeom>
          <a:noFill/>
          <a:ln/>
        </p:spPr>
        <p:txBody>
          <a:bodyPr wrap="square" lIns="0" tIns="0" rIns="0" bIns="0" rtlCol="0" anchor="ctr"/>
          <a:lstStyle/>
          <a:p>
            <a:pPr marL="0" indent="0">
              <a:buNone/>
            </a:pPr>
            <a:r>
              <a:rPr lang="en-US" sz="900" b="1" dirty="0">
                <a:solidFill>
                  <a:srgbClr val="0B5563"/>
                </a:solidFill>
                <a:latin typeface="Calibri" pitchFamily="34" charset="0"/>
                <a:ea typeface="Calibri" pitchFamily="34" charset="-122"/>
                <a:cs typeface="Calibri" pitchFamily="34" charset="-120"/>
              </a:rPr>
              <a:t>Fidélisation &amp; prospection</a:t>
            </a:r>
            <a:endParaRPr lang="en-US" sz="900" dirty="0"/>
          </a:p>
        </p:txBody>
      </p:sp>
      <p:sp>
        <p:nvSpPr>
          <p:cNvPr id="21" name="Text 19"/>
          <p:cNvSpPr/>
          <p:nvPr/>
        </p:nvSpPr>
        <p:spPr>
          <a:xfrm>
            <a:off x="4864608" y="3017520"/>
            <a:ext cx="3794760" cy="548640"/>
          </a:xfrm>
          <a:prstGeom prst="rect">
            <a:avLst/>
          </a:prstGeom>
          <a:noFill/>
          <a:ln/>
        </p:spPr>
        <p:txBody>
          <a:bodyPr wrap="square" lIns="0" tIns="0" rIns="0" bIns="0" rtlCol="0" anchor="ctr"/>
          <a:lstStyle/>
          <a:p>
            <a:pPr marL="0" indent="0">
              <a:buNone/>
            </a:pPr>
            <a:r>
              <a:rPr lang="en-US" sz="700" dirty="0">
                <a:solidFill>
                  <a:srgbClr val="4A5568"/>
                </a:solidFill>
                <a:latin typeface="Calibri" pitchFamily="34" charset="0"/>
                <a:ea typeface="Calibri" pitchFamily="34" charset="-122"/>
                <a:cs typeface="Calibri" pitchFamily="34" charset="-120"/>
              </a:rPr>
              <a:t>Prospect = client potentiel. SMS/email réguliers. Cartes de visite multiples. Client insatisfait = 10 personnes. Argumentation + écoute.</a:t>
            </a:r>
            <a:endParaRPr lang="en-US" sz="700" dirty="0"/>
          </a:p>
        </p:txBody>
      </p:sp>
      <p:sp>
        <p:nvSpPr>
          <p:cNvPr id="22" name="Shape 20"/>
          <p:cNvSpPr/>
          <p:nvPr/>
        </p:nvSpPr>
        <p:spPr>
          <a:xfrm>
            <a:off x="457200" y="3794760"/>
            <a:ext cx="4023360"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23" name="Text 21"/>
          <p:cNvSpPr/>
          <p:nvPr/>
        </p:nvSpPr>
        <p:spPr>
          <a:xfrm>
            <a:off x="566928" y="3840480"/>
            <a:ext cx="3794760" cy="201168"/>
          </a:xfrm>
          <a:prstGeom prst="rect">
            <a:avLst/>
          </a:prstGeom>
          <a:noFill/>
          <a:ln/>
        </p:spPr>
        <p:txBody>
          <a:bodyPr wrap="square" lIns="0" tIns="0" rIns="0" bIns="0" rtlCol="0" anchor="ctr"/>
          <a:lstStyle/>
          <a:p>
            <a:pPr marL="0" indent="0">
              <a:buNone/>
            </a:pPr>
            <a:r>
              <a:rPr lang="en-US" sz="900" b="1" dirty="0">
                <a:solidFill>
                  <a:srgbClr val="0B5563"/>
                </a:solidFill>
                <a:latin typeface="Calibri" pitchFamily="34" charset="0"/>
                <a:ea typeface="Calibri" pitchFamily="34" charset="-122"/>
                <a:cs typeface="Calibri" pitchFamily="34" charset="-120"/>
              </a:rPr>
              <a:t>Communication numérique</a:t>
            </a:r>
            <a:endParaRPr lang="en-US" sz="900" dirty="0"/>
          </a:p>
        </p:txBody>
      </p:sp>
      <p:sp>
        <p:nvSpPr>
          <p:cNvPr id="24" name="Text 22"/>
          <p:cNvSpPr/>
          <p:nvPr/>
        </p:nvSpPr>
        <p:spPr>
          <a:xfrm>
            <a:off x="566928" y="4069080"/>
            <a:ext cx="3794760" cy="548640"/>
          </a:xfrm>
          <a:prstGeom prst="rect">
            <a:avLst/>
          </a:prstGeom>
          <a:noFill/>
          <a:ln/>
        </p:spPr>
        <p:txBody>
          <a:bodyPr wrap="square" lIns="0" tIns="0" rIns="0" bIns="0" rtlCol="0" anchor="ctr"/>
          <a:lstStyle/>
          <a:p>
            <a:pPr marL="0" indent="0">
              <a:buNone/>
            </a:pPr>
            <a:r>
              <a:rPr lang="en-US" sz="700" dirty="0">
                <a:solidFill>
                  <a:srgbClr val="4A5568"/>
                </a:solidFill>
                <a:latin typeface="Calibri" pitchFamily="34" charset="0"/>
                <a:ea typeface="Calibri" pitchFamily="34" charset="-122"/>
                <a:cs typeface="Calibri" pitchFamily="34" charset="-120"/>
              </a:rPr>
              <a:t>Site web responsive. Google My Business. Réseaux sociaux (2-3/sem.). Avis en ligne. SEO local. Média (cible large) / Hors média (cible précise).</a:t>
            </a:r>
            <a:endParaRPr lang="en-US" sz="700" dirty="0"/>
          </a:p>
        </p:txBody>
      </p:sp>
      <p:sp>
        <p:nvSpPr>
          <p:cNvPr id="25" name="Shape 23"/>
          <p:cNvSpPr/>
          <p:nvPr/>
        </p:nvSpPr>
        <p:spPr>
          <a:xfrm>
            <a:off x="4754880" y="3794760"/>
            <a:ext cx="4023360"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fr-FR"/>
          </a:p>
        </p:txBody>
      </p:sp>
      <p:sp>
        <p:nvSpPr>
          <p:cNvPr id="26" name="Text 24"/>
          <p:cNvSpPr/>
          <p:nvPr/>
        </p:nvSpPr>
        <p:spPr>
          <a:xfrm>
            <a:off x="4864608" y="3840480"/>
            <a:ext cx="3794760" cy="201168"/>
          </a:xfrm>
          <a:prstGeom prst="rect">
            <a:avLst/>
          </a:prstGeom>
          <a:noFill/>
          <a:ln/>
        </p:spPr>
        <p:txBody>
          <a:bodyPr wrap="square" lIns="0" tIns="0" rIns="0" bIns="0" rtlCol="0" anchor="ctr"/>
          <a:lstStyle/>
          <a:p>
            <a:pPr marL="0" indent="0">
              <a:buNone/>
            </a:pPr>
            <a:r>
              <a:rPr lang="en-US" sz="900" b="1" dirty="0">
                <a:solidFill>
                  <a:srgbClr val="0B5563"/>
                </a:solidFill>
                <a:latin typeface="Calibri" pitchFamily="34" charset="0"/>
                <a:ea typeface="Calibri" pitchFamily="34" charset="-122"/>
                <a:cs typeface="Calibri" pitchFamily="34" charset="-120"/>
              </a:rPr>
              <a:t>Partenaires &amp; devis</a:t>
            </a:r>
            <a:endParaRPr lang="en-US" sz="900" dirty="0"/>
          </a:p>
        </p:txBody>
      </p:sp>
      <p:sp>
        <p:nvSpPr>
          <p:cNvPr id="27" name="Text 25"/>
          <p:cNvSpPr/>
          <p:nvPr/>
        </p:nvSpPr>
        <p:spPr>
          <a:xfrm>
            <a:off x="4864608" y="4069080"/>
            <a:ext cx="3794760" cy="548640"/>
          </a:xfrm>
          <a:prstGeom prst="rect">
            <a:avLst/>
          </a:prstGeom>
          <a:noFill/>
          <a:ln/>
        </p:spPr>
        <p:txBody>
          <a:bodyPr wrap="square" lIns="0" tIns="0" rIns="0" bIns="0" rtlCol="0" anchor="ctr"/>
          <a:lstStyle/>
          <a:p>
            <a:pPr marL="0" indent="0">
              <a:buNone/>
            </a:pPr>
            <a:r>
              <a:rPr lang="en-US" sz="700" dirty="0">
                <a:solidFill>
                  <a:srgbClr val="4A5568"/>
                </a:solidFill>
                <a:latin typeface="Calibri" pitchFamily="34" charset="0"/>
                <a:ea typeface="Calibri" pitchFamily="34" charset="-122"/>
                <a:cs typeface="Calibri" pitchFamily="34" charset="-120"/>
              </a:rPr>
              <a:t>Hôtels, entreprises, conciergeries, cliniques, agences, plateformes VTC. Devis = 11 mentions. Facture = devis + n° facture.</a:t>
            </a:r>
            <a:endParaRPr lang="en-US" sz="700" dirty="0"/>
          </a:p>
        </p:txBody>
      </p:sp>
      <p:sp>
        <p:nvSpPr>
          <p:cNvPr id="28" name="Shape 26"/>
          <p:cNvSpPr/>
          <p:nvPr/>
        </p:nvSpPr>
        <p:spPr>
          <a:xfrm>
            <a:off x="0" y="4823460"/>
            <a:ext cx="9144000" cy="320040"/>
          </a:xfrm>
          <a:prstGeom prst="rect">
            <a:avLst/>
          </a:prstGeom>
          <a:solidFill>
            <a:srgbClr val="1A1F2E"/>
          </a:solidFill>
          <a:ln/>
        </p:spPr>
        <p:txBody>
          <a:bodyPr/>
          <a:lstStyle/>
          <a:p>
            <a:endParaRPr lang="fr-FR"/>
          </a:p>
        </p:txBody>
      </p:sp>
      <p:sp>
        <p:nvSpPr>
          <p:cNvPr id="29" name="Text 27"/>
          <p:cNvSpPr/>
          <p:nvPr/>
        </p:nvSpPr>
        <p:spPr>
          <a:xfrm>
            <a:off x="457200" y="4823460"/>
            <a:ext cx="7315200" cy="32004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Marketing &amp; Développement commercial VTC  •  Qualiopi</a:t>
            </a:r>
            <a:endParaRPr lang="en-US" sz="700" dirty="0"/>
          </a:p>
        </p:txBody>
      </p:sp>
      <p:sp>
        <p:nvSpPr>
          <p:cNvPr id="30" name="Text 28"/>
          <p:cNvSpPr/>
          <p:nvPr/>
        </p:nvSpPr>
        <p:spPr>
          <a:xfrm>
            <a:off x="8229600" y="4823460"/>
            <a:ext cx="640080" cy="320040"/>
          </a:xfrm>
          <a:prstGeom prst="rect">
            <a:avLst/>
          </a:prstGeom>
          <a:noFill/>
          <a:ln/>
        </p:spPr>
        <p:txBody>
          <a:bodyPr wrap="square" rtlCol="0" anchor="ctr"/>
          <a:lstStyle/>
          <a:p>
            <a:pPr marL="0" indent="0" algn="r">
              <a:buNone/>
            </a:pPr>
            <a:r>
              <a:rPr lang="en-US" sz="800" b="1" dirty="0">
                <a:solidFill>
                  <a:srgbClr val="FFFFFF"/>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1F2E"/>
        </a:solidFill>
        <a:effectLst/>
      </p:bgPr>
    </p:bg>
    <p:spTree>
      <p:nvGrpSpPr>
        <p:cNvPr id="1" name=""/>
        <p:cNvGrpSpPr/>
        <p:nvPr/>
      </p:nvGrpSpPr>
      <p:grpSpPr>
        <a:xfrm>
          <a:off x="0" y="0"/>
          <a:ext cx="0" cy="0"/>
          <a:chOff x="0" y="0"/>
          <a:chExt cx="0" cy="0"/>
        </a:xfrm>
      </p:grpSpPr>
      <p:sp>
        <p:nvSpPr>
          <p:cNvPr id="2" name="Text 0"/>
          <p:cNvSpPr/>
          <p:nvPr/>
        </p:nvSpPr>
        <p:spPr>
          <a:xfrm>
            <a:off x="731520" y="1097280"/>
            <a:ext cx="7315200" cy="365760"/>
          </a:xfrm>
          <a:prstGeom prst="rect">
            <a:avLst/>
          </a:prstGeom>
          <a:noFill/>
          <a:ln/>
        </p:spPr>
        <p:txBody>
          <a:bodyPr wrap="square" rtlCol="0" anchor="ctr"/>
          <a:lstStyle/>
          <a:p>
            <a:pPr marL="0" indent="0">
              <a:buNone/>
            </a:pPr>
            <a:r>
              <a:rPr lang="en-US" sz="1100" kern="0" spc="300" dirty="0">
                <a:solidFill>
                  <a:srgbClr val="718096"/>
                </a:solidFill>
                <a:latin typeface="Calibri" pitchFamily="34" charset="0"/>
                <a:ea typeface="Calibri" pitchFamily="34" charset="-122"/>
                <a:cs typeface="Calibri" pitchFamily="34" charset="-120"/>
              </a:rPr>
              <a:t>F I N   D U   M O D U L E</a:t>
            </a:r>
            <a:endParaRPr lang="en-US" sz="1100" dirty="0"/>
          </a:p>
        </p:txBody>
      </p:sp>
      <p:sp>
        <p:nvSpPr>
          <p:cNvPr id="3" name="Text 1"/>
          <p:cNvSpPr/>
          <p:nvPr/>
        </p:nvSpPr>
        <p:spPr>
          <a:xfrm>
            <a:off x="731520" y="1554480"/>
            <a:ext cx="7315200" cy="1097280"/>
          </a:xfrm>
          <a:prstGeom prst="rect">
            <a:avLst/>
          </a:prstGeom>
          <a:noFill/>
          <a:ln/>
        </p:spPr>
        <p:txBody>
          <a:bodyPr wrap="square" rtlCol="0" anchor="ctr"/>
          <a:lstStyle/>
          <a:p>
            <a:pPr marL="0" indent="0">
              <a:buNone/>
            </a:pPr>
            <a:r>
              <a:rPr lang="en-US" sz="3600" b="1" dirty="0">
                <a:solidFill>
                  <a:srgbClr val="FFFFFF"/>
                </a:solidFill>
                <a:latin typeface="Georgia" pitchFamily="34" charset="0"/>
                <a:ea typeface="Georgia" pitchFamily="34" charset="-122"/>
                <a:cs typeface="Georgia" pitchFamily="34" charset="-120"/>
              </a:rPr>
              <a:t>Marketing &amp;</a:t>
            </a:r>
            <a:endParaRPr lang="en-US" sz="3600" dirty="0"/>
          </a:p>
          <a:p>
            <a:pPr marL="0" indent="0">
              <a:buNone/>
            </a:pPr>
            <a:r>
              <a:rPr lang="en-US" sz="3600" b="1" dirty="0">
                <a:solidFill>
                  <a:srgbClr val="FFFFFF"/>
                </a:solidFill>
                <a:latin typeface="Georgia" pitchFamily="34" charset="0"/>
                <a:ea typeface="Georgia" pitchFamily="34" charset="-122"/>
                <a:cs typeface="Georgia" pitchFamily="34" charset="-120"/>
              </a:rPr>
              <a:t>Développement commercial</a:t>
            </a:r>
            <a:endParaRPr lang="en-US" sz="3600" dirty="0"/>
          </a:p>
        </p:txBody>
      </p:sp>
      <p:sp>
        <p:nvSpPr>
          <p:cNvPr id="4" name="Text 2"/>
          <p:cNvSpPr/>
          <p:nvPr/>
        </p:nvSpPr>
        <p:spPr>
          <a:xfrm>
            <a:off x="731520" y="2651760"/>
            <a:ext cx="7315200" cy="365760"/>
          </a:xfrm>
          <a:prstGeom prst="rect">
            <a:avLst/>
          </a:prstGeom>
          <a:noFill/>
          <a:ln/>
        </p:spPr>
        <p:txBody>
          <a:bodyPr wrap="square" rtlCol="0" anchor="ctr"/>
          <a:lstStyle/>
          <a:p>
            <a:pPr marL="0" indent="0">
              <a:buNone/>
            </a:pPr>
            <a:r>
              <a:rPr lang="en-US" sz="1400" i="1" dirty="0">
                <a:solidFill>
                  <a:srgbClr val="E8A838"/>
                </a:solidFill>
                <a:latin typeface="Calibri" pitchFamily="34" charset="0"/>
                <a:ea typeface="Calibri" pitchFamily="34" charset="-122"/>
                <a:cs typeface="Calibri" pitchFamily="34" charset="-120"/>
              </a:rPr>
              <a:t>Merci pour votre attention !</a:t>
            </a:r>
            <a:endParaRPr lang="en-US" sz="1400" dirty="0"/>
          </a:p>
        </p:txBody>
      </p:sp>
      <p:sp>
        <p:nvSpPr>
          <p:cNvPr id="5" name="Shape 3"/>
          <p:cNvSpPr/>
          <p:nvPr/>
        </p:nvSpPr>
        <p:spPr>
          <a:xfrm>
            <a:off x="822960" y="3072384"/>
            <a:ext cx="6400800" cy="27432"/>
          </a:xfrm>
          <a:prstGeom prst="rect">
            <a:avLst/>
          </a:prstGeom>
          <a:solidFill>
            <a:srgbClr val="E8A838"/>
          </a:solidFill>
          <a:ln/>
        </p:spPr>
        <p:txBody>
          <a:bodyPr/>
          <a:lstStyle/>
          <a:p>
            <a:endParaRPr lang="fr-FR"/>
          </a:p>
        </p:txBody>
      </p:sp>
      <p:sp>
        <p:nvSpPr>
          <p:cNvPr id="6" name="Text 4"/>
          <p:cNvSpPr/>
          <p:nvPr/>
        </p:nvSpPr>
        <p:spPr>
          <a:xfrm>
            <a:off x="731520" y="3383280"/>
            <a:ext cx="7315200" cy="1371600"/>
          </a:xfrm>
          <a:prstGeom prst="rect">
            <a:avLst/>
          </a:prstGeom>
          <a:noFill/>
          <a:ln/>
        </p:spPr>
        <p:txBody>
          <a:bodyPr wrap="square" rtlCol="0" anchor="ctr"/>
          <a:lstStyle/>
          <a:p>
            <a:pPr marL="0" indent="0">
              <a:spcAft>
                <a:spcPts val="300"/>
              </a:spcAft>
              <a:buNone/>
            </a:pPr>
            <a:r>
              <a:rPr lang="en-US" sz="1000" b="1" dirty="0">
                <a:solidFill>
                  <a:srgbClr val="FFFFFF"/>
                </a:solidFill>
                <a:latin typeface="Calibri" pitchFamily="34" charset="0"/>
                <a:ea typeface="Calibri" pitchFamily="34" charset="-122"/>
                <a:cs typeface="Calibri" pitchFamily="34" charset="-120"/>
              </a:rPr>
              <a:t>5 objectifs couverts :
</a:t>
            </a:r>
            <a:endParaRPr lang="en-US" sz="1000" dirty="0"/>
          </a:p>
          <a:p>
            <a:pPr marL="0" indent="0">
              <a:spcAft>
                <a:spcPts val="300"/>
              </a:spcAft>
              <a:buNone/>
            </a:pPr>
            <a:r>
              <a:rPr lang="en-US" sz="850" dirty="0">
                <a:solidFill>
                  <a:srgbClr val="718096"/>
                </a:solidFill>
                <a:latin typeface="Calibri" pitchFamily="34" charset="0"/>
                <a:ea typeface="Calibri" pitchFamily="34" charset="-122"/>
                <a:cs typeface="Calibri" pitchFamily="34" charset="-120"/>
              </a:rPr>
              <a:t>✓ Principes généraux du marketing (analyse marché, ciblage, compétitivité, prix)
</a:t>
            </a:r>
            <a:endParaRPr lang="en-US" sz="1000" dirty="0"/>
          </a:p>
          <a:p>
            <a:pPr marL="0" indent="0">
              <a:spcAft>
                <a:spcPts val="300"/>
              </a:spcAft>
              <a:buNone/>
            </a:pPr>
            <a:r>
              <a:rPr lang="en-US" sz="850" dirty="0">
                <a:solidFill>
                  <a:srgbClr val="718096"/>
                </a:solidFill>
                <a:latin typeface="Calibri" pitchFamily="34" charset="0"/>
                <a:ea typeface="Calibri" pitchFamily="34" charset="-122"/>
                <a:cs typeface="Calibri" pitchFamily="34" charset="-120"/>
              </a:rPr>
              <a:t>✓ Valorisation de la prestation commerciale VTC
</a:t>
            </a:r>
            <a:endParaRPr lang="en-US" sz="1000" dirty="0"/>
          </a:p>
          <a:p>
            <a:pPr marL="0" indent="0">
              <a:spcAft>
                <a:spcPts val="300"/>
              </a:spcAft>
              <a:buNone/>
            </a:pPr>
            <a:r>
              <a:rPr lang="en-US" sz="850" dirty="0">
                <a:solidFill>
                  <a:srgbClr val="718096"/>
                </a:solidFill>
                <a:latin typeface="Calibri" pitchFamily="34" charset="0"/>
                <a:ea typeface="Calibri" pitchFamily="34" charset="-122"/>
                <a:cs typeface="Calibri" pitchFamily="34" charset="-120"/>
              </a:rPr>
              <a:t>✓ Fidélisation clients &amp; prospection de marché
</a:t>
            </a:r>
            <a:endParaRPr lang="en-US" sz="1000" dirty="0"/>
          </a:p>
          <a:p>
            <a:pPr marL="0" indent="0">
              <a:spcAft>
                <a:spcPts val="300"/>
              </a:spcAft>
              <a:buNone/>
            </a:pPr>
            <a:r>
              <a:rPr lang="en-US" sz="850" dirty="0">
                <a:solidFill>
                  <a:srgbClr val="718096"/>
                </a:solidFill>
                <a:latin typeface="Calibri" pitchFamily="34" charset="0"/>
                <a:ea typeface="Calibri" pitchFamily="34" charset="-122"/>
                <a:cs typeface="Calibri" pitchFamily="34" charset="-120"/>
              </a:rPr>
              <a:t>✓ Actions de communication, notamment par internet et moyens numériques
</a:t>
            </a:r>
            <a:endParaRPr lang="en-US" sz="1000" dirty="0"/>
          </a:p>
          <a:p>
            <a:pPr marL="0" indent="0">
              <a:spcAft>
                <a:spcPts val="300"/>
              </a:spcAft>
              <a:buNone/>
            </a:pPr>
            <a:r>
              <a:rPr lang="en-US" sz="850" dirty="0">
                <a:solidFill>
                  <a:srgbClr val="718096"/>
                </a:solidFill>
                <a:latin typeface="Calibri" pitchFamily="34" charset="0"/>
                <a:ea typeface="Calibri" pitchFamily="34" charset="-122"/>
                <a:cs typeface="Calibri" pitchFamily="34" charset="-120"/>
              </a:rPr>
              <a:t>✓ Réseau de partenaires (hôtels, entreprises, plateformes)</a:t>
            </a:r>
            <a:endParaRPr lang="en-US" sz="1000" dirty="0"/>
          </a:p>
        </p:txBody>
      </p:sp>
      <p:sp>
        <p:nvSpPr>
          <p:cNvPr id="7" name="Text 5"/>
          <p:cNvSpPr/>
          <p:nvPr/>
        </p:nvSpPr>
        <p:spPr>
          <a:xfrm>
            <a:off x="731520" y="4709160"/>
            <a:ext cx="7315200" cy="182880"/>
          </a:xfrm>
          <a:prstGeom prst="rect">
            <a:avLst/>
          </a:prstGeom>
          <a:noFill/>
          <a:ln/>
        </p:spPr>
        <p:txBody>
          <a:bodyPr wrap="square" rtlCol="0" anchor="ctr"/>
          <a:lstStyle/>
          <a:p>
            <a:pPr marL="0" indent="0">
              <a:buNone/>
            </a:pPr>
            <a:r>
              <a:rPr lang="en-US" sz="700" dirty="0">
                <a:solidFill>
                  <a:srgbClr val="718096"/>
                </a:solidFill>
                <a:latin typeface="Calibri" pitchFamily="34" charset="0"/>
                <a:ea typeface="Calibri" pitchFamily="34" charset="-122"/>
                <a:cs typeface="Calibri" pitchFamily="34" charset="-120"/>
              </a:rPr>
              <a:t>FTRANSPORT - SERVICES PRO  •  Formation certifiée Qualiopi  •  Éligible CPF  •  Lyon</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3599</Words>
  <Application>Microsoft Office PowerPoint</Application>
  <PresentationFormat>Affichage à l'écran (16:9)</PresentationFormat>
  <Paragraphs>384</Paragraphs>
  <Slides>21</Slides>
  <Notes>21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21</vt:i4>
      </vt:variant>
    </vt:vector>
  </HeadingPairs>
  <TitlesOfParts>
    <vt:vector size="25" baseType="lpstr">
      <vt:lpstr>Arial</vt:lpstr>
      <vt:lpstr>Calibri</vt:lpstr>
      <vt:lpstr>Georgia</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Marketing &amp; Développement commercial VTC</dc:title>
  <dc:subject>PptxGenJS Presentation</dc:subject>
  <dc:creator>FTRANSPORT - SERVICES PRO</dc:creator>
  <cp:lastModifiedBy>naoufal guenichi</cp:lastModifiedBy>
  <cp:revision>1</cp:revision>
  <dcterms:created xsi:type="dcterms:W3CDTF">2026-02-26T09:02:06Z</dcterms:created>
  <dcterms:modified xsi:type="dcterms:W3CDTF">2026-02-26T16:59:52Z</dcterms:modified>
</cp:coreProperties>
</file>