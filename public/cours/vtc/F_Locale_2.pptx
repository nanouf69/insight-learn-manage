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08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RÉGLEMENTATION LOCALE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Partie 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Taximètre hors ZUPC · Affichette · Notes · Mise à jour tarifaire · IMC · ADS · Justificatif d'exploitation · Obligations conducteur · Véhicule · Remplacement · Listes d'attente · Droits de stationnement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PÉDAGOGIQUES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les règles du taximètre hors ZUPC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les mentions obligatoires (affichette et notes)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rôle de l'IMC et de la Métropole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les obligations ADS et le justificatif d'exploitation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les caractéristiques véhicule et obligations conducteur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les listes d'attente et droits de stationnement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310896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Taximètre hors ZUPC &amp; affichette taxi &amp; notes de course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tarifaire annuelle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— Instance Métropolitaine de Concertation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— Obligations, exploitation, justificatif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conducteur &amp; caractéristiques véhicule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 de remplacement &amp; listes d'attente &amp; droits de stationnement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n° 84 69 15114 69  •  Qualiopi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 — Partie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Taximètre · Affichette · Notes · IMC · ADS · Justificatif d'exploitation · Conducteur · Véhicule · Remplacement · Listes d'attente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47472" cy="347472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Taximètre hors ZUPC &amp; affichette taxi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453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marche hors ZUPC · Tarif A/B · 6 mentions obligatoires affichette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172821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47472" cy="347472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de course &amp; mise à jour tarifaire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00253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imprimées/manuscrites · Seuil 25€ · Conservation 2 ans · Lettre E · Délai 2 mois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227685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347472" cy="347472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" y="2377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331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— Instance Métropolitaine de Concertation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5511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· Présidence · Réunion trimestrielle · Attribution ADS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43000" y="282549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40080" y="2926080"/>
            <a:ext cx="347472" cy="347472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2926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— Obligations d'exploitation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09981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continue · Retrait 12 mois · Pas de bissage · Location-gérance · Salariés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43000" y="337413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40080" y="3474720"/>
            <a:ext cx="347472" cy="347472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008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Justificatif d'exploitation &amp; obligations titulaire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64845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Déclarations fiscales/avis d'imposition · Exception aéroport · Contrôle Métropole/Préfet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143000" y="392277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40080" y="4023360"/>
            <a:ext cx="347472" cy="347472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40080" y="4023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conducteur &amp; caractéristiques véhicule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" y="41970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Tenue · Interdictions · Handicap · Objets trouvés · Couleur · Coffre · CRIT'AIR · Covering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43000" y="4471416"/>
            <a:ext cx="7315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40080" y="4572000"/>
            <a:ext cx="347472" cy="347472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40080" y="4572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4300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 de remplacement (annulé), listes d'attente &amp; droits de stationnement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" y="474573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annulé CAA 19/01/2024 · Inscription · Renouvellement · Droits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COURS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Taximètre hors ZUPC &amp; affichette taxi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Taximètre hors ZUPC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marche taximètre : dernière station ZUPC (ou équidistance), ou dernière station commune de rattachement.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3566160" cy="411480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31520" y="2487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A (ou B de 19h à 7h) pendant la course d'approche. Pas de supplément réservation.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258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de l'affichette taxi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92040" y="1728216"/>
            <a:ext cx="164592" cy="164592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4892040" y="172821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516636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horaires et kilométriques en vigueur + conditions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892040" y="2075688"/>
            <a:ext cx="164592" cy="164592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4892040" y="20756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5166360" y="2039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et conditions de la prise en charge et suppléments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892040" y="2423160"/>
            <a:ext cx="164592" cy="164592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4892040" y="24231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5166360" y="2386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de délivrance de la note (obligatoire/facultative)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892040" y="2770632"/>
            <a:ext cx="164592" cy="164592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4892040" y="277063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5166360" y="2734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peut demander nom + lieux départ/arrivée sur la note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892040" y="3118104"/>
            <a:ext cx="164592" cy="164592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3"/>
          <p:cNvSpPr/>
          <p:nvPr/>
        </p:nvSpPr>
        <p:spPr>
          <a:xfrm>
            <a:off x="4892040" y="311810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5166360" y="3081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sur le paiement par carte bancaire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4892040" y="3465576"/>
            <a:ext cx="164592" cy="164592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4892040" y="346557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5166360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de réclamation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9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COURS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 de course — Mentions obligatoires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06040" cy="36576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imprimées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rédaction
</a:t>
            </a:r>
            <a:endParaRPr lang="en-US" sz="8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début et fin de course
</a:t>
            </a:r>
            <a:endParaRPr lang="en-US" sz="8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Nom/dénomination sociale
</a:t>
            </a:r>
            <a:endParaRPr lang="en-US" sz="8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immatriculation véhicule
</a:t>
            </a:r>
            <a:endParaRPr lang="en-US" sz="8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de réclamation
</a:t>
            </a:r>
            <a:endParaRPr lang="en-US" sz="8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course minimum
</a:t>
            </a:r>
            <a:endParaRPr lang="en-US" sz="8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TTC hors suppléments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06040" cy="36576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46120" y="1188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Imprimées ou manuscrites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totale TTC
</a:t>
            </a:r>
            <a:endParaRPr lang="en-US" sz="8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(inclut les suppléments)
</a:t>
            </a:r>
            <a:endParaRPr lang="en-US" sz="8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 chaque supplément
</a:t>
            </a:r>
            <a:endParaRPr lang="en-US" sz="8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Précédé de la mention « supplément(s) »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36576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03504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demande du client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16916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client
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 de départ et lieu d'arrivée de la course
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Remise obligatoire :
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25€ TTC → obligatoire
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25€ TTC → sur demande
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conservé 2 ans par le prestataire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COURS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 à jour tarifaire &amp; IMC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tarifaire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Lettre L verte sur cadran taximètre après adaptation tarifs 2026 (arrêté 19/02/2026).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: 2 mois 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modifier la table tarifaire.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Entre-temps : hausse plafonnée à la variation du tarif course-type, via tableau de correspondance (hors supplément).
</a:t>
            </a:r>
            <a:endParaRPr lang="en-US" sz="900" dirty="0"/>
          </a:p>
          <a:p>
            <a:pPr marL="0" indent="0">
              <a:buNone/>
            </a:pPr>
            <a:r>
              <a:rPr lang="en-US" sz="8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suppléments sont appliqués sans recourir au taximètre. Mention manuscrite sur la note.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25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 — Instance Métropolitaine de Concertation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173736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: organisation, fonctionnement, réglementation de la profession taxi — Métropole de Lyon.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Présidence : 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Président de la Métropole de Lyon (ou par délégation, son représentant / Vice-président).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: 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par trimestre (séance ordinaire), modifiable.
</a:t>
            </a:r>
            <a:endParaRPr lang="en-US" sz="900" dirty="0"/>
          </a:p>
          <a:p>
            <a:pPr marL="0" indent="0">
              <a:buNone/>
            </a:pPr>
            <a:r>
              <a:rPr lang="en-US" sz="8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Attributions de nouvelles ADS et conditions techniques : présentées en IMC.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COURS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Rôle de la Métropole &amp; obligations ADS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4864" cy="11887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du Président de la Métropole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554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autorité habilitée (Métropole) : gestion, attribution, suspension, retrait des ADS. Nouvelles ADS : caractéristiques possibles (taille, couleur, PMR, motorisation), présentées en IMC, précisées dans l'arrêté d'attribution.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2651760" cy="54864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74320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continue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9436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exploitées de manière effective et continue. Non-exploitation &gt; 12 mois = retrait définitif. Justifiée par déclarations de revenus ou avis d'imposition.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291840" y="256032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3291840" y="2560320"/>
            <a:ext cx="2651760" cy="54864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74320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9476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bissage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42900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attribuées avant le 1er octobre 2014 : un seul contrat de location-gérance à un seul locataire-gérant. Pas de bissage (2 entreprises sur une même licence).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126480" y="256032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6126480" y="2560320"/>
            <a:ext cx="2651760" cy="54864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74320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2940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26364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ADS par salarié : carte pro + conditions réglementaires requises. Contrat de travail à fournir lors de tout contrôle.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COURS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Justificatif d'exploitation — ADS &amp; cas de l'aéroport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pièce unique imposée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43000" y="15361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permis de circuler » créé par arrêté métropolitain a été annulé par la CAA de Lyon (19/01/2024) : la Métropole ne peut imposer une pièce unique obligatoire.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2767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860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Moyens de preuve admis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143000" y="2450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continue et effective justifiée par copie des déclarations de revenus ou des avis d'imposition (art. R.3121-6 code des transports) — la Métropole peut ajouter un moyen alternatif par arrêté, mais pas le rendre exclusif.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004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090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: aéroport St Exupéry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143000" y="33649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ADS de l'aéroport Lyon-Saint Exupéry uniquement, un permis de circuler distinct reste exigé, délivré par la Préfecture (démarche annuelle en ligne).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1148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partagé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3000" y="42793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respect de la réglementation par les conducteurs de taxi reste contrôlé conjointement par le Président de la Métropole et le Préfet.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COURS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Obligations du conducteur de taxi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Tenue &amp; interdictions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Tenue convenable et propre
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message politique, religieux ou social ostentatoire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Interdictions formelles :
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Fumer dans le véhicule (y compris cigarette électronique, même vitre ouverte et/ou à l'arrêt en station)
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accompagné par une personne autre que le client
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Accueillir un animal lui appartenant
</a:t>
            </a:r>
            <a:endParaRPr lang="en-US" sz="900" dirty="0"/>
          </a:p>
          <a:p>
            <a:pPr marL="0" indent="0">
              <a:buNone/>
            </a:pPr>
            <a:r>
              <a:rPr lang="en-US" sz="80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conducteur peut refuser un client avec animal (sauf chien guide d'aveugle). Aucun supplément « animal ».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25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handicapées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4632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obligatoire : personnes handicapées (montée/descente avec aide, sans portage), fauteuil pliable sans équipement médical. Manquement → conseil de discipline préfectorale.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663440" y="28346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9718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course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846320" y="3337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endParaRPr lang="en-US" sz="85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</a:t>
            </a: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objets oubliés avant que le client s'éloigne
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trouvés → dépôt sous 72h au Service Taxis Métropole
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un passager supplémentaire sur l'itinéraire (demande du client) mais ne peut imposer un autre client
</a:t>
            </a:r>
            <a:endParaRPr lang="en-US" sz="8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complète obligatoire ≥ 25€ TTC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3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COURS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Caractéristiques du véhicule taxi &amp; interdictions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obligatoires (depuis janv. 2020)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1737360"/>
            <a:ext cx="35661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31520" y="1783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" y="19933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places assises max (+ siège conducteur)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0080" y="2331720"/>
            <a:ext cx="3566160" cy="502920"/>
          </a:xfrm>
          <a:prstGeom prst="rect">
            <a:avLst/>
          </a:prstGeom>
          <a:solidFill>
            <a:srgbClr val="EBF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731520" y="2377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31520" y="25877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litres min (thermique) / 300 litres (faibles émissions)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0080" y="2926080"/>
            <a:ext cx="35661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731520" y="2971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31520" y="31821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CRIT'AIR 2 requis en pratique (ZFE Lyon : CRIT'AIR 3 interdit dans le périmètre depuis le 01/01/2025, hors dérogation limitée)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2588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1208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Interdictions &amp; covering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46320" y="173736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Aucun message politique ou religieux
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 extérieur ni intérieur)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Covering publicitaire :
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 sans autorisation écrite du Service Taxis Métropole. Demande avec photo montage du projet.
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: grille tarifaire lisible, visibilité vitrages non gênée.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Covering de protection </a:t>
            </a:r>
            <a:r>
              <a:rPr lang="en-US" sz="8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 modifiant pas l'aspect) autorisé sans restriction.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1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COURS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Véhicules de remplacement — dispositif annulé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juridique depuis 2024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annulé par la justice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 de Lyon, 19/01/2024 : le président de la Métropole n'avait pas compétence pour créer ce dispositif de prêt (paragraphe 6-1 de l'arrêté annulé).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91840" y="16916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91840" y="1691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42900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cadre métropolitain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2900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Métropole ne peut plus organiser ni encadrer un système de prêt de véhicules de remplacement entre professionnels.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126480" y="16916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6126480" y="1691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26364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hors cadre réglementaire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6364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professionnels peuvent recourir à des arrangements privés (location, entraide entre confrères) hors de tout dispositif métropolitain organisé.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7200" y="288036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1752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058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40080" y="3383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endParaRPr lang="en-US" sz="900" b="1" dirty="0">
              <a:solidFill>
                <a:srgbClr val="C530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annulé : la Métropole ne peut plus imposer ni encadrer </a:t>
            </a: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quotas de véhicules de remplacement.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 système (avant 2024, à titre historique) : 26 véhicules max au total, 4 par bénéficiaire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autorisation ni inscription auprès du Service Taxis Métropole n'est plus requise pour ce type de prêt
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vérifier : un nouveau dispositif légal pourrait être recréé ultérieurement par une autre voie réglementaire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COURS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Listes d'attente — Inscription &amp; renouvellement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sur liste d'attente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d'attente gérées par Service Taxis Métropole. Une liste/commune. Attestation valable 1 an. Demandes simultanées : tirage au sort.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3566160" cy="32004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31520" y="25786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Condition : exercice de conducteur de taxi ≥ 2 ans sur les 5 dernières années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258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Renouvellement (3 mois avant échéance)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846320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Lettre recommandée AR au Service Taxis Métropole
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Courriel à taximetropole@grandlyon.com (récépissé)
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direct sur RDV (récépissé)
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commune : uniquement au renouvellement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832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pour 1ère inscription (ADS gratuite)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0080" y="3749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sur l'honneur de non-détention d'ADS sur le territoire national
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de la carte professionnelle en cours de validité
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du certificat de capacité ou formation continue en cours de validité
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de l'attestation préfectorale d'aptitude physique en cours de validité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COURS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Droits de stationnement &amp; défaut d'exploitation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 stationnement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 stationnement dus par le titulaire ADS. Fixés/perçus par la commune de rattachement, conditions propres à chaque commune.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356616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31520" y="2514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Défaut de paiement = incident d'exploitation → sanction administrative possible.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258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 d'exploitation d'une ADS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46320" y="17373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non utilisées dans 12 mois </a:t>
            </a:r>
            <a:r>
              <a:rPr lang="en-US" sz="8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retirées au titulaire. L'IMC informée de chaque retrait.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justificatif d'exploitation valide (déclarations de revenus/avis d'imposition) 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incident d'exploitation tant que non régularisé.
</a:t>
            </a:r>
            <a:endParaRPr lang="en-US" sz="900" dirty="0"/>
          </a:p>
          <a:p>
            <a:pPr marL="0" indent="0">
              <a:buNone/>
            </a:pPr>
            <a:r>
              <a:rPr lang="en-US" sz="8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Location-gérance : ne dispense pas le titulaire ADS de sa responsabilité d'exploitation.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83A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PARTIE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Taximètre · Affichette · Notes · IMC · ADS · Justificatif d'exploitation · Conducteur · Véhicule · Remplacement · Listes d'attente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Taximètre hors ZUPC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1612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marche au passage de la dernière station ZUPC ou commune de rattachement. Tarif A/B. Pas de supplément réservation.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92040" y="914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Affichette &amp; Notes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92040" y="11612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mentions affichette. 7 mentions imprimées sur la note. Seuil 25€ TTC = note obligatoire. Double conservé 2 ans.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tarifaire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1671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Lettre L verte. 2 mois pour modifier la table tarifaire. Tableau de correspondance entre-temps. Suppléments sans taximètre.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54880" y="18745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21671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Métropolitaine de Concertation. Présidée par la Métropole. Trimestrielle. Attributions ADS présentées en IMC.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&amp; justificatif d'exploitation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172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continue obligatoire. Retrait si &gt; 12 mois. Pas de bissage. Preuve par déclarations de revenus/avis d'imposition (permis de circuler annulé en 2024, sauf aéroport).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92040" y="2926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conducteur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3172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Tenue propre. Interdiction fumer/accompagnant/animal. Handicap : obligation d'admission. Objets trouvés 72h. Note ≥ 25€.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94360" y="3931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1788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places max. Coffre 400L (300L faibles émissions). CRIT'AIR 2. Covering soumis à autorisation.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54880" y="388620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92040" y="3931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&amp; Listes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41788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26 véhicules / 4 par bénéficiaire : dispositif annulé (CAA 19/01/2024), sans valeur juridique. Inscription liste d'attente 1 an renouvelable. Droits de stationnement obligatoires.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48234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229600" y="48234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 N   D E   L A   F O R M A T I O 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Réglementation Locale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64008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le transport · Documents · Refus · Trajet · Stations · Équipements · ZUPC · Tarification
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Taximètre hors ZUPC · Affichette · Notes · IMC · ADS · Justificatif d'exploitation · Conducteur · Véhicule · Remplacement · Listes d'attente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2226</Words>
  <Application>Microsoft Office PowerPoint</Application>
  <PresentationFormat>Affichage à l'écran (16:9)</PresentationFormat>
  <Paragraphs>250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Réglementation Locale - Partie 2</dc:title>
  <dc:subject>PptxGenJS Presentation</dc:subject>
  <dc:creator>FTRANSPORT - SERVICES PRO</dc:creator>
  <cp:lastModifiedBy>naoufal guenichi</cp:lastModifiedBy>
  <cp:revision>2</cp:revision>
  <dcterms:created xsi:type="dcterms:W3CDTF">2026-02-25T05:13:39Z</dcterms:created>
  <dcterms:modified xsi:type="dcterms:W3CDTF">2026-09-08T09:59:43Z</dcterms:modified>
</cp:coreProperties>
</file>