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2D2C08-D73C-42D8-A573-76CD642E5A69}" v="2" dt="2026-05-05T16:25:10.2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3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oufal guenichi" userId="858fd4b3-0f44-4d07-ab42-9c2b2bf873b3" providerId="ADAL" clId="{F93C6F2D-346B-4B0C-B880-14B939F4D1D8}"/>
    <pc:docChg chg="undo custSel modSld">
      <pc:chgData name="naoufal guenichi" userId="858fd4b3-0f44-4d07-ab42-9c2b2bf873b3" providerId="ADAL" clId="{F93C6F2D-346B-4B0C-B880-14B939F4D1D8}" dt="2026-05-05T16:25:10.200" v="79"/>
      <pc:docMkLst>
        <pc:docMk/>
      </pc:docMkLst>
      <pc:sldChg chg="modSp mod">
        <pc:chgData name="naoufal guenichi" userId="858fd4b3-0f44-4d07-ab42-9c2b2bf873b3" providerId="ADAL" clId="{F93C6F2D-346B-4B0C-B880-14B939F4D1D8}" dt="2026-05-05T16:15:06.450" v="57" actId="14100"/>
        <pc:sldMkLst>
          <pc:docMk/>
          <pc:sldMk cId="0" sldId="258"/>
        </pc:sldMkLst>
        <pc:spChg chg="mod">
          <ac:chgData name="naoufal guenichi" userId="858fd4b3-0f44-4d07-ab42-9c2b2bf873b3" providerId="ADAL" clId="{F93C6F2D-346B-4B0C-B880-14B939F4D1D8}" dt="2026-05-05T16:15:06.450" v="57" actId="14100"/>
          <ac:spMkLst>
            <pc:docMk/>
            <pc:sldMk cId="0" sldId="258"/>
            <ac:spMk id="11" creationId="{00000000-0000-0000-0000-000000000000}"/>
          </ac:spMkLst>
        </pc:spChg>
      </pc:sldChg>
      <pc:sldChg chg="modSp mod">
        <pc:chgData name="naoufal guenichi" userId="858fd4b3-0f44-4d07-ab42-9c2b2bf873b3" providerId="ADAL" clId="{F93C6F2D-346B-4B0C-B880-14B939F4D1D8}" dt="2026-05-05T16:15:22.579" v="64" actId="20577"/>
        <pc:sldMkLst>
          <pc:docMk/>
          <pc:sldMk cId="0" sldId="260"/>
        </pc:sldMkLst>
        <pc:spChg chg="mod">
          <ac:chgData name="naoufal guenichi" userId="858fd4b3-0f44-4d07-ab42-9c2b2bf873b3" providerId="ADAL" clId="{F93C6F2D-346B-4B0C-B880-14B939F4D1D8}" dt="2026-05-05T16:15:22.579" v="64" actId="20577"/>
          <ac:spMkLst>
            <pc:docMk/>
            <pc:sldMk cId="0" sldId="260"/>
            <ac:spMk id="8" creationId="{00000000-0000-0000-0000-000000000000}"/>
          </ac:spMkLst>
        </pc:spChg>
      </pc:sldChg>
      <pc:sldChg chg="modSp mod">
        <pc:chgData name="naoufal guenichi" userId="858fd4b3-0f44-4d07-ab42-9c2b2bf873b3" providerId="ADAL" clId="{F93C6F2D-346B-4B0C-B880-14B939F4D1D8}" dt="2026-05-05T16:16:14.196" v="65" actId="14100"/>
        <pc:sldMkLst>
          <pc:docMk/>
          <pc:sldMk cId="0" sldId="263"/>
        </pc:sldMkLst>
        <pc:spChg chg="mod">
          <ac:chgData name="naoufal guenichi" userId="858fd4b3-0f44-4d07-ab42-9c2b2bf873b3" providerId="ADAL" clId="{F93C6F2D-346B-4B0C-B880-14B939F4D1D8}" dt="2026-05-05T16:16:14.196" v="65" actId="14100"/>
          <ac:spMkLst>
            <pc:docMk/>
            <pc:sldMk cId="0" sldId="263"/>
            <ac:spMk id="13" creationId="{00000000-0000-0000-0000-000000000000}"/>
          </ac:spMkLst>
        </pc:spChg>
        <pc:spChg chg="mod">
          <ac:chgData name="naoufal guenichi" userId="858fd4b3-0f44-4d07-ab42-9c2b2bf873b3" providerId="ADAL" clId="{F93C6F2D-346B-4B0C-B880-14B939F4D1D8}" dt="2026-05-05T16:12:10.061" v="0" actId="20577"/>
          <ac:spMkLst>
            <pc:docMk/>
            <pc:sldMk cId="0" sldId="263"/>
            <ac:spMk id="16" creationId="{00000000-0000-0000-0000-000000000000}"/>
          </ac:spMkLst>
        </pc:spChg>
      </pc:sldChg>
      <pc:sldChg chg="delSp modSp mod">
        <pc:chgData name="naoufal guenichi" userId="858fd4b3-0f44-4d07-ab42-9c2b2bf873b3" providerId="ADAL" clId="{F93C6F2D-346B-4B0C-B880-14B939F4D1D8}" dt="2026-05-05T16:16:43.647" v="69" actId="478"/>
        <pc:sldMkLst>
          <pc:docMk/>
          <pc:sldMk cId="0" sldId="264"/>
        </pc:sldMkLst>
        <pc:spChg chg="mod">
          <ac:chgData name="naoufal guenichi" userId="858fd4b3-0f44-4d07-ab42-9c2b2bf873b3" providerId="ADAL" clId="{F93C6F2D-346B-4B0C-B880-14B939F4D1D8}" dt="2026-05-05T16:16:41.426" v="68" actId="1076"/>
          <ac:spMkLst>
            <pc:docMk/>
            <pc:sldMk cId="0" sldId="264"/>
            <ac:spMk id="5" creationId="{00000000-0000-0000-0000-000000000000}"/>
          </ac:spMkLst>
        </pc:spChg>
        <pc:spChg chg="del">
          <ac:chgData name="naoufal guenichi" userId="858fd4b3-0f44-4d07-ab42-9c2b2bf873b3" providerId="ADAL" clId="{F93C6F2D-346B-4B0C-B880-14B939F4D1D8}" dt="2026-05-05T16:16:36.058" v="66" actId="478"/>
          <ac:spMkLst>
            <pc:docMk/>
            <pc:sldMk cId="0" sldId="264"/>
            <ac:spMk id="17" creationId="{00000000-0000-0000-0000-000000000000}"/>
          </ac:spMkLst>
        </pc:spChg>
        <pc:spChg chg="del">
          <ac:chgData name="naoufal guenichi" userId="858fd4b3-0f44-4d07-ab42-9c2b2bf873b3" providerId="ADAL" clId="{F93C6F2D-346B-4B0C-B880-14B939F4D1D8}" dt="2026-05-05T16:16:43.647" v="69" actId="478"/>
          <ac:spMkLst>
            <pc:docMk/>
            <pc:sldMk cId="0" sldId="264"/>
            <ac:spMk id="18" creationId="{00000000-0000-0000-0000-000000000000}"/>
          </ac:spMkLst>
        </pc:spChg>
        <pc:spChg chg="mod">
          <ac:chgData name="naoufal guenichi" userId="858fd4b3-0f44-4d07-ab42-9c2b2bf873b3" providerId="ADAL" clId="{F93C6F2D-346B-4B0C-B880-14B939F4D1D8}" dt="2026-05-05T16:16:40.088" v="67" actId="20577"/>
          <ac:spMkLst>
            <pc:docMk/>
            <pc:sldMk cId="0" sldId="264"/>
            <ac:spMk id="19" creationId="{00000000-0000-0000-0000-000000000000}"/>
          </ac:spMkLst>
        </pc:spChg>
      </pc:sldChg>
      <pc:sldChg chg="modSp mod">
        <pc:chgData name="naoufal guenichi" userId="858fd4b3-0f44-4d07-ab42-9c2b2bf873b3" providerId="ADAL" clId="{F93C6F2D-346B-4B0C-B880-14B939F4D1D8}" dt="2026-05-05T16:14:51.539" v="55" actId="1076"/>
        <pc:sldMkLst>
          <pc:docMk/>
          <pc:sldMk cId="0" sldId="265"/>
        </pc:sldMkLst>
        <pc:spChg chg="mod">
          <ac:chgData name="naoufal guenichi" userId="858fd4b3-0f44-4d07-ab42-9c2b2bf873b3" providerId="ADAL" clId="{F93C6F2D-346B-4B0C-B880-14B939F4D1D8}" dt="2026-05-05T16:14:51.539" v="55" actId="1076"/>
          <ac:spMkLst>
            <pc:docMk/>
            <pc:sldMk cId="0" sldId="265"/>
            <ac:spMk id="2" creationId="{00000000-0000-0000-0000-000000000000}"/>
          </ac:spMkLst>
        </pc:spChg>
        <pc:spChg chg="mod">
          <ac:chgData name="naoufal guenichi" userId="858fd4b3-0f44-4d07-ab42-9c2b2bf873b3" providerId="ADAL" clId="{F93C6F2D-346B-4B0C-B880-14B939F4D1D8}" dt="2026-05-05T16:14:17.742" v="46" actId="20577"/>
          <ac:spMkLst>
            <pc:docMk/>
            <pc:sldMk cId="0" sldId="265"/>
            <ac:spMk id="22" creationId="{00000000-0000-0000-0000-000000000000}"/>
          </ac:spMkLst>
        </pc:spChg>
      </pc:sldChg>
      <pc:sldChg chg="modSp mod">
        <pc:chgData name="naoufal guenichi" userId="858fd4b3-0f44-4d07-ab42-9c2b2bf873b3" providerId="ADAL" clId="{F93C6F2D-346B-4B0C-B880-14B939F4D1D8}" dt="2026-05-05T16:16:56.337" v="70" actId="20577"/>
        <pc:sldMkLst>
          <pc:docMk/>
          <pc:sldMk cId="0" sldId="266"/>
        </pc:sldMkLst>
        <pc:spChg chg="mod">
          <ac:chgData name="naoufal guenichi" userId="858fd4b3-0f44-4d07-ab42-9c2b2bf873b3" providerId="ADAL" clId="{F93C6F2D-346B-4B0C-B880-14B939F4D1D8}" dt="2026-05-05T16:13:43.468" v="43" actId="20577"/>
          <ac:spMkLst>
            <pc:docMk/>
            <pc:sldMk cId="0" sldId="266"/>
            <ac:spMk id="13" creationId="{00000000-0000-0000-0000-000000000000}"/>
          </ac:spMkLst>
        </pc:spChg>
        <pc:spChg chg="mod">
          <ac:chgData name="naoufal guenichi" userId="858fd4b3-0f44-4d07-ab42-9c2b2bf873b3" providerId="ADAL" clId="{F93C6F2D-346B-4B0C-B880-14B939F4D1D8}" dt="2026-05-05T16:16:56.337" v="70" actId="20577"/>
          <ac:spMkLst>
            <pc:docMk/>
            <pc:sldMk cId="0" sldId="266"/>
            <ac:spMk id="18" creationId="{00000000-0000-0000-0000-000000000000}"/>
          </ac:spMkLst>
        </pc:spChg>
      </pc:sldChg>
      <pc:sldChg chg="modSp mod">
        <pc:chgData name="naoufal guenichi" userId="858fd4b3-0f44-4d07-ab42-9c2b2bf873b3" providerId="ADAL" clId="{F93C6F2D-346B-4B0C-B880-14B939F4D1D8}" dt="2026-05-05T16:25:10.200" v="79"/>
        <pc:sldMkLst>
          <pc:docMk/>
          <pc:sldMk cId="0" sldId="268"/>
        </pc:sldMkLst>
        <pc:spChg chg="mod">
          <ac:chgData name="naoufal guenichi" userId="858fd4b3-0f44-4d07-ab42-9c2b2bf873b3" providerId="ADAL" clId="{F93C6F2D-346B-4B0C-B880-14B939F4D1D8}" dt="2026-05-05T16:19:50.081" v="76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naoufal guenichi" userId="858fd4b3-0f44-4d07-ab42-9c2b2bf873b3" providerId="ADAL" clId="{F93C6F2D-346B-4B0C-B880-14B939F4D1D8}" dt="2026-05-05T16:17:32.563" v="73" actId="20577"/>
          <ac:spMkLst>
            <pc:docMk/>
            <pc:sldMk cId="0" sldId="268"/>
            <ac:spMk id="25" creationId="{00000000-0000-0000-0000-000000000000}"/>
          </ac:spMkLst>
        </pc:spChg>
        <pc:spChg chg="mod">
          <ac:chgData name="naoufal guenichi" userId="858fd4b3-0f44-4d07-ab42-9c2b2bf873b3" providerId="ADAL" clId="{F93C6F2D-346B-4B0C-B880-14B939F4D1D8}" dt="2026-05-05T16:25:10.200" v="79"/>
          <ac:spMkLst>
            <pc:docMk/>
            <pc:sldMk cId="0" sldId="268"/>
            <ac:spMk id="2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0085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2743200" cy="27432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RÉGLEMENTATION LOCALE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Partie 2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Taximètre hors ZUPC · Affichette · Notes · Mise à jour tarifaire · IMC · ADS · Permis de circuler · Obligations conducteur · Véhicule · Remplacement · Listes d'attente · Droits de stationnement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PÉDAGOGIQUES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Connaître les règles du taximètre hors ZUPC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Maîtriser les mentions obligatoires (affichette et notes)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 rôle de l'IMC et de la Métropole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Connaître les obligations ADS et attestation de conformité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Maîtriser les caractéristiques véhicule et obligations conducteur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Connaître les listes d'attente et droits de stationnement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0" y="2834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46320" y="31089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Taximètre hors ZUPC &amp; affichette taxi &amp; notes de course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jour tarifaire annuelle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IMC — Instance Métropolitaine de Concertation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— Obligations, exploitation, attestation de conformité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Obligations conducteur &amp; caractéristiques véhicule</a:t>
            </a:r>
            <a:endParaRPr lang="en-US" sz="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Véhicules de remplacement &amp; listes d'attente &amp; droits de stationnement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47091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 n° 84 69 15114 69  •  Qualiopi</a:t>
            </a:r>
            <a:endParaRPr lang="en-US" sz="700" dirty="0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Sommaire — Partie 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Taximètre · Affichette · Notes · IMC · ADS · Permis de circuler · Conducteur · Véhicule · Remplacement · Listes d'attente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47472" cy="347472"/>
          </a:xfrm>
          <a:prstGeom prst="ellipse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1234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Taximètre hors ZUPC &amp; affichette taxi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43000" y="145389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marche hors ZUPC · Tarif A/B · 6 mentions obligatoires affichette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1728216"/>
            <a:ext cx="731520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347472" cy="347472"/>
          </a:xfrm>
          <a:prstGeom prst="ellipse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640080" y="18288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de course &amp; mise à jour tarifaire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43000" y="200253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Mentions imprimées/manuscrites · Seuil 25€ · Conservation 2 ans · Lettre E · Délai 2 mois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143000" y="2276856"/>
            <a:ext cx="731520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40080" y="2377440"/>
            <a:ext cx="347472" cy="347472"/>
          </a:xfrm>
          <a:prstGeom prst="ellipse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43000" y="2331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IMC — Instance Métropolitaine de Concertation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255117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· Présidence · Réunion trimestrielle · Attribution ADS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43000" y="2825496"/>
            <a:ext cx="731520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640080" y="2926080"/>
            <a:ext cx="347472" cy="347472"/>
          </a:xfrm>
          <a:prstGeom prst="ellipse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2926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2880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— Obligations d'exploitation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43000" y="309981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continue · Retrait 12 mois · Pas de bissage · Location-gérance · Salariés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43000" y="3374136"/>
            <a:ext cx="731520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640080" y="3474720"/>
            <a:ext cx="347472" cy="347472"/>
          </a:xfrm>
          <a:prstGeom prst="ellipse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640080" y="34747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3000" y="3429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de conformité &amp; obligations titulaire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43000" y="364845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Hologramme · Validité 1 an · Signalement 3 jours · Incident d'exploitation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143000" y="3922776"/>
            <a:ext cx="731520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640080" y="4023360"/>
            <a:ext cx="347472" cy="347472"/>
          </a:xfrm>
          <a:prstGeom prst="ellipse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640080" y="40233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43000" y="3977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Obligations conducteur &amp; caractéristiques véhicule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43000" y="419709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Tenue · Interdictions · Handicap · Objets trouvés · Couleur · Coffre · CRIT'AIR · Covering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43000" y="4471416"/>
            <a:ext cx="731520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640080" y="4572000"/>
            <a:ext cx="347472" cy="347472"/>
          </a:xfrm>
          <a:prstGeom prst="ellipse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640080" y="45720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143000" y="4526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Remplacement, listes d'attente &amp; droits de stationnement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143000" y="474573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ADS / 50 affiliés / 150 adhérents · Max 26 véhicules · Inscription · Renouvellement · Droits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Taximètre hors ZUPC &amp; affichette taxi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Taximètre hors ZUPC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7373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mise en marche du taximètre peut se faire soit au passage (ou à équidistance) de la dernière station de la ZUPC, soit à la dernière station de la commune de rattachement du taxi.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0080" y="2468880"/>
            <a:ext cx="3566160" cy="41148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731520" y="248716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 A (ou B de 19h à 7h) pendant la course d'approche. Pas de supplément réservation.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663440" y="1051560"/>
            <a:ext cx="4023360" cy="28117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2588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208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Mentions de l'affichette taxi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892040" y="1728216"/>
            <a:ext cx="164592" cy="164592"/>
          </a:xfrm>
          <a:prstGeom prst="ellipse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4892040" y="1728216"/>
            <a:ext cx="1645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51663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horaires et kilométriques en vigueur + conditions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4892040" y="2075688"/>
            <a:ext cx="164592" cy="164592"/>
          </a:xfrm>
          <a:prstGeom prst="ellipse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4892040" y="2075688"/>
            <a:ext cx="1645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19" name="Text 15"/>
          <p:cNvSpPr/>
          <p:nvPr/>
        </p:nvSpPr>
        <p:spPr>
          <a:xfrm>
            <a:off x="5166360" y="203911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Montants et conditions de la prise en charge et suppléments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892040" y="2423160"/>
            <a:ext cx="164592" cy="164592"/>
          </a:xfrm>
          <a:prstGeom prst="ellipse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4892040" y="2423160"/>
            <a:ext cx="1645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22" name="Text 18"/>
          <p:cNvSpPr/>
          <p:nvPr/>
        </p:nvSpPr>
        <p:spPr>
          <a:xfrm>
            <a:off x="5166360" y="238658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de délivrance de la note (obligatoire/facultative)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4892040" y="2770632"/>
            <a:ext cx="164592" cy="164592"/>
          </a:xfrm>
          <a:prstGeom prst="ellipse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4892040" y="2770632"/>
            <a:ext cx="1645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25" name="Text 21"/>
          <p:cNvSpPr/>
          <p:nvPr/>
        </p:nvSpPr>
        <p:spPr>
          <a:xfrm>
            <a:off x="5166360" y="27340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peut demander nom + lieux départ/arrivée sur la note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4892040" y="3118104"/>
            <a:ext cx="164592" cy="164592"/>
          </a:xfrm>
          <a:prstGeom prst="ellipse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3"/>
          <p:cNvSpPr/>
          <p:nvPr/>
        </p:nvSpPr>
        <p:spPr>
          <a:xfrm>
            <a:off x="4892040" y="3118104"/>
            <a:ext cx="1645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28" name="Text 24"/>
          <p:cNvSpPr/>
          <p:nvPr/>
        </p:nvSpPr>
        <p:spPr>
          <a:xfrm>
            <a:off x="5166360" y="30815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sur le paiement par carte bancaire</a:t>
            </a:r>
            <a:endParaRPr lang="en-US" sz="800" dirty="0"/>
          </a:p>
        </p:txBody>
      </p:sp>
      <p:sp>
        <p:nvSpPr>
          <p:cNvPr id="29" name="Shape 25"/>
          <p:cNvSpPr/>
          <p:nvPr/>
        </p:nvSpPr>
        <p:spPr>
          <a:xfrm>
            <a:off x="4892040" y="3465576"/>
            <a:ext cx="164592" cy="164592"/>
          </a:xfrm>
          <a:prstGeom prst="ellipse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6"/>
          <p:cNvSpPr/>
          <p:nvPr/>
        </p:nvSpPr>
        <p:spPr>
          <a:xfrm>
            <a:off x="4892040" y="3465576"/>
            <a:ext cx="1645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31" name="Text 27"/>
          <p:cNvSpPr/>
          <p:nvPr/>
        </p:nvSpPr>
        <p:spPr>
          <a:xfrm>
            <a:off x="5166360" y="34290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Adresse de réclamation</a:t>
            </a:r>
            <a:endParaRPr lang="en-US" sz="800" dirty="0"/>
          </a:p>
        </p:txBody>
      </p:sp>
      <p:sp>
        <p:nvSpPr>
          <p:cNvPr id="32" name="Shape 28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29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34" name="Text 30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Notes de course — Mentions obligatoires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606040" cy="365760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Mentions imprimées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2331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 rédaction
</a:t>
            </a:r>
            <a:endParaRPr lang="en-US" sz="8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 début et fin de course
</a:t>
            </a:r>
            <a:endParaRPr lang="en-US" sz="8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Nom/dénomination sociale
</a:t>
            </a:r>
            <a:endParaRPr lang="en-US" sz="8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immatriculation véhicule
</a:t>
            </a:r>
            <a:endParaRPr lang="en-US" sz="8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Adresse de réclamation
</a:t>
            </a:r>
            <a:endParaRPr lang="en-US" sz="8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course minimum
</a:t>
            </a:r>
            <a:endParaRPr lang="en-US" sz="8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TTC hors suppléments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46120" y="1188720"/>
            <a:ext cx="260604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246120" y="1188720"/>
            <a:ext cx="2606040" cy="365760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246120" y="11887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Imprimées ou manuscrites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0" y="1691640"/>
            <a:ext cx="2331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Somme totale TTC
</a:t>
            </a:r>
            <a:endParaRPr lang="en-US" sz="8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(inclut les suppléments)
</a:t>
            </a:r>
            <a:endParaRPr lang="en-US" sz="8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Détail de chaque supplément
</a:t>
            </a:r>
            <a:endParaRPr lang="en-US" sz="8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Précédé de la mention « supplément(s) »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517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035040" y="1188720"/>
            <a:ext cx="2651760" cy="365760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350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demande du client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72200" y="1691640"/>
            <a:ext cx="23774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du client
</a:t>
            </a:r>
            <a:endParaRPr lang="en-US" sz="8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 de départ et lieu d'arrivée de la course
</a:t>
            </a:r>
            <a:endParaRPr lang="en-US" sz="8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Remise obligatoire :
</a:t>
            </a:r>
            <a:endParaRPr lang="en-US" sz="8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25€ TTC → obligatoire
</a:t>
            </a:r>
            <a:endParaRPr lang="en-US" sz="8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25€ TTC → sur demande
</a:t>
            </a:r>
            <a:endParaRPr lang="en-US" sz="8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conservé 2 ans par le prestataire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Mise à jour tarifaire &amp; IMC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jour tarifaire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737360"/>
            <a:ext cx="35661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Lettre</a:t>
            </a: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 de couleur verte </a:t>
            </a: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apposée sur le cadran du taximètre après adaptation aux tarifs.
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: 2 mois </a:t>
            </a: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modifier la table tarifaire.
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Entre-temps : </a:t>
            </a: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hausse ne pouvant excéder la variation du tarif de la course-type, appliquée au montant affiché (hors supplément) via un tableau de correspondance.
</a:t>
            </a:r>
            <a:endParaRPr lang="en-US" sz="900" dirty="0"/>
          </a:p>
          <a:p>
            <a:pPr marL="0" indent="0"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suppléments sont appliqués sans recourir au taximètre. Mention manuscrite sur la note.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258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212080" y="1280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IMC — Instance Métropolitaine de Concertation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4846320" y="1737360"/>
            <a:ext cx="36576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 : </a:t>
            </a: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traiter de l'ensemble des questions relatives à l'organisation, au fonctionnement et à la réglementation de la profession taxi sur le territoire de la Métropole de Lyon.
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Présidence : </a:t>
            </a: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Président de la Métropole de Lyon (ou par délégation, son représentant / Vice-président).
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Fréquence : </a:t>
            </a: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par trimestre (séance ordinaire), modifiable.
</a:t>
            </a:r>
            <a:endParaRPr lang="en-US" sz="900" dirty="0"/>
          </a:p>
          <a:p>
            <a:pPr marL="0" indent="0"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L'IMC émet un avis simple et consultatif sur la délivrance de nouvelles ADS et les retraits d'ADS. Elle est informée des transactions et transferts d'ADS.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15" name="Text 11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Rôle de la Métropole &amp; obligations ADS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54864" cy="11887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du Président de la Métropole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" y="15544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 habilité sur les communes de la Métropole à gérer, attribuer, suspendre ou retirer les ADS. Les nouvelles ADS peuvent être assujetties à des caractéristiques particulières (taille, couleur, équipements PMR, motorisation…), présentées en IMC et précisées dans l'arrêté d'attribution.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56032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57200" y="2560320"/>
            <a:ext cx="2651760" cy="5486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2743200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60120" y="2697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continue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94360" y="30632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exploitées de manière effective et continue. Non-exploitation &gt; 12 mois = retrait définitif. Le Permis de Circuler fait foi.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3291840" y="256032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3291840" y="2560320"/>
            <a:ext cx="2651760" cy="5486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743200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794760" y="2697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bissage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3429000" y="30632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ADS délivrées après le 1er octobre 2014 sont individuelles, nominatives, incessibles, valables pour un seul véhicule. Le titulaire en est le conducteur exclusif (Art. 4-2 — Arrêté du 27/11/2024).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6126480" y="256032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6"/>
          <p:cNvSpPr/>
          <p:nvPr/>
        </p:nvSpPr>
        <p:spPr>
          <a:xfrm>
            <a:off x="6126480" y="2560320"/>
            <a:ext cx="2651760" cy="5486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2743200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629400" y="2697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Salariés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6263640" y="30632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Société/titulaire peut faire exploiter ses ADS par n'importe quel salarié ayant carte pro et conditions réglementaires. Le salarié doit fournir son contrat de travail lors de tout contrôle.</a:t>
            </a:r>
            <a:endParaRPr lang="en-US" sz="800" dirty="0"/>
          </a:p>
        </p:txBody>
      </p:sp>
      <p:sp>
        <p:nvSpPr>
          <p:cNvPr id="25" name="Shape 19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0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27" name="Text 21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Attestation de conformité — Obligations &amp; validité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4864" cy="777240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261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 par la Métropole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43000" y="153619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L'attestation de conformité est délivrée par le guichet de l'unité taxis de la Métropole. Elle est valable 1 an ou jusqu'au changement de situation du conducteur ou du véhicule.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57200" y="2103120"/>
            <a:ext cx="54864" cy="777240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28600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43000" y="2176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 principale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43000" y="245059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Atteste l'exploitation de l'ADS et garantit le contrôle administratif du chauffeur et du véhicule. Aucun véhicule taxi n'est autorisé à circuler sans l'original.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457200" y="30175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457200" y="3017520"/>
            <a:ext cx="54864" cy="777240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20040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43000" y="3090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Validité : 1 an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143000" y="336499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Valable 1 an à compter de sa date de délivrance (hors modification d'un élément lié au contrat ou au véhicule). Tout dépassement = incident d'exploitation.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6"/>
          <p:cNvSpPr/>
          <p:nvPr/>
        </p:nvSpPr>
        <p:spPr>
          <a:xfrm>
            <a:off x="457200" y="3931920"/>
            <a:ext cx="54864" cy="777240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11480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43000" y="4005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annuel obligatoire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1143000" y="427939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par an, le conducteur se présente au guichet de l'unité taxis avec les documents relatifs au conducteur et au véhicule pour renouveler l'attestation de conformité (Art. 8 de l'arrêté métropolitain du 27/11/2024).</a:t>
            </a:r>
            <a:endParaRPr lang="en-US" sz="850" dirty="0"/>
          </a:p>
        </p:txBody>
      </p:sp>
      <p:sp>
        <p:nvSpPr>
          <p:cNvPr id="25" name="Shape 19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0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27" name="Text 21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Obligations du conducteur de taxi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Tenue &amp; interdictions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737360"/>
            <a:ext cx="35661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Tenue convenable et propre
</a:t>
            </a:r>
            <a:endParaRPr lang="en-US" sz="900" dirty="0"/>
          </a:p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message politique, religieux ou social ostentatoire
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Interdictions formelles :
</a:t>
            </a:r>
            <a:endParaRPr lang="en-US" sz="900" dirty="0"/>
          </a:p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Fumer dans le véhicule (y compris cigarette électronique, même vitre ouverte et/ou à l'arrêt en station)
</a:t>
            </a:r>
            <a:endParaRPr lang="en-US" sz="900" dirty="0"/>
          </a:p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accompagné par une personne autre que le client
</a:t>
            </a:r>
            <a:endParaRPr lang="en-US" sz="900" dirty="0"/>
          </a:p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Accueillir un animal lui appartenant
</a:t>
            </a:r>
            <a:endParaRPr lang="en-US" sz="900" dirty="0"/>
          </a:p>
          <a:p>
            <a:pPr marL="0" indent="0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conducteur peut refuser un client avec animal (sauf chien guide d'aveugle). Aucun supplément « animal ».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63440" y="1188720"/>
            <a:ext cx="40233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258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21208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Personnes handicapées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846320" y="16916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conducteur doit admettre les personnes handicapées pouvant monter/descendre avec l'aide du conducteur (sans portage). Fauteuil roulant pliable sans équipements médicaux complémentaires. Tout manquement → convocation en conseil de discipline préfectorale.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663440" y="2834640"/>
            <a:ext cx="4023360" cy="18516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29718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12080" y="2926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course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4846320" y="33375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endParaRPr lang="en-US" sz="85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85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</a:t>
            </a: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objets oubliés avant que le client s'éloigne
</a:t>
            </a:r>
            <a:endParaRPr lang="en-US" sz="8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trouvés → dépôt sous 72h au Service Taxis Métropole
</a:t>
            </a:r>
            <a:endParaRPr lang="en-US" sz="8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Accepter un passager supplémentaire sur l'itinéraire (demande du client) mais ne peut imposer un autre client
</a:t>
            </a:r>
            <a:endParaRPr lang="en-US" sz="8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complète obligatoire ≥ 25€ TTC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3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19" name="Text 14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Caractéristiques du véhicule taxi &amp; interdictions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7145" y="1184148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Caractéristiques obligatoires (arrêté du 27/11/2024)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40080" y="1737360"/>
            <a:ext cx="3566160" cy="50292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731520" y="178308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Couleur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31520" y="199339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réglementée dans l'arrêté du 27/11/2024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40080" y="2331720"/>
            <a:ext cx="356616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31520" y="258775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places assises max (+ siège conducteur)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40080" y="2926080"/>
            <a:ext cx="3566160" cy="50292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731520" y="29718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Coffre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31520" y="318211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litres min (thermique) / 300 litres (faibles émissions)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731520" y="377647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25880"/>
            <a:ext cx="274320" cy="2743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21208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Interdictions &amp; covering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846320" y="1737360"/>
            <a:ext cx="36576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Aucun message politique ou religieux
</a:t>
            </a:r>
            <a:endParaRPr lang="en-US" sz="900" dirty="0"/>
          </a:p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 extérieur ni intérieur)
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ℹ️ Covering :
</a:t>
            </a:r>
            <a:endParaRPr lang="en-US" sz="900" dirty="0"/>
          </a:p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covering ne modifiant pas l'aspect du véhicule est autorisé. (Art. 7 — Arrêté du 27/11/2024)
</a:t>
            </a:r>
            <a:endParaRPr lang="en-US" sz="900" dirty="0"/>
          </a:p>
          <a:p>
            <a:pPr marL="0" indent="0">
              <a:buNone/>
            </a:pP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covering ne doit pas empêcher la lecture de la grille tarifaire ni contrarier la visibilité des surfaces vitrées.
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Covering de protection </a:t>
            </a:r>
            <a:r>
              <a:rPr lang="en-US" sz="8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 modifiant pas l'aspect) autorisé sans restriction.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1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26" name="Text 22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Véhicules de remplacement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188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peut en disposer ?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1691640"/>
            <a:ext cx="26517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2651760" cy="5486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94360" y="1783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d'immobilisation pour réparation du véhicule,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9436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ses équipements spécifiques, ou en cas de vol,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291840" y="1691640"/>
            <a:ext cx="26517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3291840" y="1691640"/>
            <a:ext cx="2651760" cy="5486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3429000" y="1783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taxi peut être remplacé temporairement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42900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un véhicule dénommé taxi-relais.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6126480" y="1691640"/>
            <a:ext cx="26517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6126480" y="1691640"/>
            <a:ext cx="2651760" cy="5486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263640" y="1783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taxi-relais doit disposer des équipements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26364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taxis énumérés à l'art. R 3121-1 du code des transports.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57200" y="2880360"/>
            <a:ext cx="822960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01752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00584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&amp; procédure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40080" y="338328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endParaRPr lang="en-US" sz="900" b="1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gestion des taxis-relais est de compétence préfectorale. </a:t>
            </a: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l'ensemble du territoire de la </a:t>
            </a:r>
            <a:r>
              <a:rPr lang="en-US" sz="85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Métropole</a:t>
            </a:r>
            <a:endParaRPr lang="en-US" sz="9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demande se fait sur le site officiel mesads.beta.gouv.fr</a:t>
            </a:r>
            <a:endParaRPr lang="en-US" sz="9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(Art. 10 — Arrêté métropolitain du 27/11/2024)
</a:t>
            </a:r>
            <a:endParaRPr lang="en-US" sz="9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 sur mesads.beta.gouv.fr (site officiel de l'État)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25" name="Text 21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26" name="Rectangle 25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Listes d'attente — Inscription &amp; renouvellement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 sur liste d'attente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173736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Service Taxis Métropole gère l'ensemble des listes d'attente. Une liste par commune. Attestation d'inscription valable 1 an. En cas de demandes simultanées : tirage au sort.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640080" y="2560320"/>
            <a:ext cx="3566160" cy="32004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731520" y="257860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Condition : exercice de conducteur de taxi ≥ 2 ans sur les 5 dernières années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63440" y="1188720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2588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2080" y="12801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Renouvellement</a:t>
            </a:r>
            <a:r>
              <a:rPr lang="en-US" sz="10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(à la date </a:t>
            </a:r>
            <a:r>
              <a:rPr lang="en-US" sz="1050" b="1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d’anniversaire</a:t>
            </a:r>
            <a:r>
              <a:rPr lang="en-US" sz="10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846320" y="173736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Lettre recommandée AR au Service Taxis Métropole
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Courriel à taximetropole@grandlyon.com (récépissé)
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Accueil direct sur RDV (récépissé)
</a:t>
            </a:r>
            <a:endParaRPr lang="en-US" sz="8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Changement de commune : uniquement au renouvellement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457200" y="324612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38328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05840" y="3337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pour 1ère inscription (ADS gratuite)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40080" y="374904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sz="85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sur l'honneur de non-détention d'ADS sur le </a:t>
            </a:r>
            <a:r>
              <a:rPr lang="en-US" sz="85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territoire</a:t>
            </a: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national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 de la carte professionnelle en cours de </a:t>
            </a:r>
            <a:r>
              <a:rPr lang="en-US" sz="85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validité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 du certificat de capacité ou formation continue en cours de </a:t>
            </a:r>
            <a:r>
              <a:rPr lang="en-US" sz="85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validité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 de l'attestation préfectorale d'aptitude physique en cours de validité</a:t>
            </a:r>
            <a:endParaRPr lang="en-US" sz="850" dirty="0"/>
          </a:p>
        </p:txBody>
      </p:sp>
      <p:sp>
        <p:nvSpPr>
          <p:cNvPr id="19" name="Shape 1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5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21" name="Text 16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COURS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Droits de stationnement &amp; défaut d'exploitation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stationnement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7373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titulaire de l'ADS doit s'acquitter des droits de stationnement. Ils sont fixés et perçus par la commune de rattachement de l'ADS, dans les conditions propres à chaque commune de la Métropole.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0080" y="2468880"/>
            <a:ext cx="3566160" cy="5943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731520" y="251460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Tout défaut de paiement est considéré comme un incident d'exploitation de l'ADS et pourra entraîner une sanction administrative.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663440" y="1188720"/>
            <a:ext cx="40233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2588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208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Défaut d'exploitation d'une ADS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846320" y="173736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non utilisées dans 12 mois </a:t>
            </a: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retirées au titulaire. L'IMC informée de chaque retrait.
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de Permis de Circuler sécurisé en cours de validité </a:t>
            </a: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incident d'exploitation tant que non régularisé.
</a:t>
            </a:r>
            <a:endParaRPr lang="en-US" sz="900" dirty="0"/>
          </a:p>
          <a:p>
            <a:pPr marL="0" indent="0">
              <a:buNone/>
            </a:pPr>
            <a:r>
              <a:rPr lang="en-US" sz="8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location-gérance n'exonère pas le titulaire de l'ADS de sa responsabilité sur l'exploitation.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2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17" name="Text 13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— PARTIE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Taximètre · Affichette · Notes · IMC · ADS · Permis de circuler · Conducteur · Véhicule · Remplacement · Listes d'attente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94360" y="9144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Taximètre hors ZUPC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94360" y="11612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marche au passage de la dernière station ZUPC ou commune de rattachement. Tarif A/B. Pas de supplément réservation.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892040" y="9144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Affichette &amp; Notes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92040" y="11612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mentions affichette. 7 mentions imprimées sur la note. Seuil 25€ TTC = note obligatoire. Double conservé 2 ans.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94360" y="19202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jour tarifaire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16712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Lettre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 verte . 2 mois pour modifier la table tarifaire. Tableau de correspondance entre-temps. Suppléments sans taximètre.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754880" y="187452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892040" y="19202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IMC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92040" y="216712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Métropolitaine de Concertation. Présidée par la Métropole. Trimestrielle. Attributions ADS présentées en IMC.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94360" y="292608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&amp; Attestation de conformité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4360" y="31729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continue obligatoire. Retrait si &gt; 12 mois. Pas de bissage. Permis de circuler : hologramme, validité 1 an, signalement 3 jours.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754880" y="288036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892040" y="292608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Obligations conducteur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92040" y="31729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Tenue propre. Interdiction fumer/accompagnant/animal. Handicap : obligation d'admission. Objets trouvés 72h. Note ≥ 25€.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57200" y="388620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594360" y="39319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Véhicule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417880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places max. Coffre 400L (300L faibles </a:t>
            </a:r>
            <a:r>
              <a:rPr lang="en-US" sz="7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émissions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Covering soumis à autorisation.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54880" y="388620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892040" y="39319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Remplacement &amp; Listes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92040" y="417880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800" dirty="0"/>
              <a:t>Lorsqu'un taxi est immobilisé en raison d'une réparation du véhicule ou de ses équipements spécifiques, ou en cas de vol, il est possible de le remplacer temporairement par un </a:t>
            </a:r>
            <a:r>
              <a:rPr lang="fr-FR" sz="800" b="1" dirty="0"/>
              <a:t>véhicule de substitution appelé taxi-relais</a:t>
            </a: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fr-FR" sz="800" dirty="0"/>
              <a:t>La gestion des taxis-relais relève de la </a:t>
            </a:r>
            <a:r>
              <a:rPr lang="fr-FR" sz="800" b="1" dirty="0"/>
              <a:t>compétence préfectorale</a:t>
            </a:r>
            <a:r>
              <a:rPr lang="fr-FR" sz="800" dirty="0"/>
              <a:t> : la déclaration s'effectue exclusivement en ligne sur le site officiel </a:t>
            </a:r>
            <a:r>
              <a:rPr lang="fr-FR" sz="800" b="1" dirty="0"/>
              <a:t>mesads.beta.gouv.fr</a:t>
            </a:r>
            <a:r>
              <a:rPr lang="fr-FR" sz="800" dirty="0"/>
              <a:t>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457200" y="48234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229600" y="48234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I N   D E   L A   F O R M A T I O 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Réglementation Locale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6400800" cy="27432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le transport · Documents · Refus · Trajet · Stations · Équipements · ZUPC · Tarification
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Taximètre hors ZUPC · Affichette · Notes · IMC · ADS · Permis de circuler · Conducteur · Véhicule · Remplacement · Listes d'attente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4572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A202C"/>
                </a:solidFill>
              </a:rPr>
              <a:t>ÉPREUVE RÉGLEMENTATION LOCALE — Partie 2 sur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2427</Words>
  <Application>Microsoft Office PowerPoint</Application>
  <PresentationFormat>Affichage à l'écran (16:9)</PresentationFormat>
  <Paragraphs>265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Réglementation Locale - Partie 2</dc:title>
  <dc:subject>PptxGenJS Presentation</dc:subject>
  <dc:creator>FTRANSPORT - SERVICES PRO</dc:creator>
  <cp:lastModifiedBy>naoufal guenichi</cp:lastModifiedBy>
  <cp:revision>2</cp:revision>
  <dcterms:created xsi:type="dcterms:W3CDTF">2026-02-25T05:13:39Z</dcterms:created>
  <dcterms:modified xsi:type="dcterms:W3CDTF">2026-05-05T16:25:15Z</dcterms:modified>
</cp:coreProperties>
</file>