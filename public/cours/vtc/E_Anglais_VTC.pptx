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3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oufal guenichi" userId="858fd4b3-0f44-4d07-ab42-9c2b2bf873b3" providerId="ADAL" clId="{5ADB1776-59AF-4A69-8422-CB66C8AF09C6}"/>
    <pc:docChg chg="custSel modSld">
      <pc:chgData name="naoufal guenichi" userId="858fd4b3-0f44-4d07-ab42-9c2b2bf873b3" providerId="ADAL" clId="{5ADB1776-59AF-4A69-8422-CB66C8AF09C6}" dt="2026-02-26T22:44:12.243" v="0" actId="478"/>
      <pc:docMkLst>
        <pc:docMk/>
      </pc:docMkLst>
      <pc:sldChg chg="delSp mod">
        <pc:chgData name="naoufal guenichi" userId="858fd4b3-0f44-4d07-ab42-9c2b2bf873b3" providerId="ADAL" clId="{5ADB1776-59AF-4A69-8422-CB66C8AF09C6}" dt="2026-02-26T22:44:12.243" v="0" actId="478"/>
        <pc:sldMkLst>
          <pc:docMk/>
          <pc:sldMk cId="0" sldId="256"/>
        </pc:sldMkLst>
        <pc:spChg chg="del">
          <ac:chgData name="naoufal guenichi" userId="858fd4b3-0f44-4d07-ab42-9c2b2bf873b3" providerId="ADAL" clId="{5ADB1776-59AF-4A69-8422-CB66C8AF09C6}" dt="2026-02-26T22:44:12.243" v="0" actId="478"/>
          <ac:spMkLst>
            <pc:docMk/>
            <pc:sldMk cId="0" sldId="256"/>
            <ac:spMk id="1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552453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2743200" cy="27432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O U R S   D '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English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A2 — Cadre Européen Commun de Référence pour les Langues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2651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2971800"/>
            <a:ext cx="7772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 — Vocabulaire : gare, aéroport, véhicule, météo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3209544"/>
            <a:ext cx="7772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2 — Vocabulaire : verbes, mots divers, prépositions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3447288"/>
            <a:ext cx="7772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3 — Grammaire : temps, modaux, quantifieurs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3685032"/>
            <a:ext cx="7772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4 — Grammaire : comparatifs, heure, pluriel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3922776"/>
            <a:ext cx="7772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5 — Accueillir la clientèle + Directions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" y="4160520"/>
            <a:ext cx="7772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6 — Durant une course : confort &amp; conversation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31520" y="4398264"/>
            <a:ext cx="7772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7 — Parler de Lyon + Prendre congé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31520" y="4636008"/>
            <a:ext cx="7772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8 — Les questionneurs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 — VOCABULAIRE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20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 the station &amp; Airport (1/2)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54864" cy="3474720"/>
          </a:xfrm>
          <a:prstGeom prst="rect">
            <a:avLst/>
          </a:prstGeom>
          <a:solidFill>
            <a:srgbClr val="C05621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115568"/>
            <a:ext cx="201168" cy="2011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41248" y="1078992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5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 vocabulary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94360" y="1371600"/>
            <a:ext cx="198653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train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2580894" y="1371600"/>
            <a:ext cx="162534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train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94360" y="1591056"/>
            <a:ext cx="198653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2580894" y="1591056"/>
            <a:ext cx="162534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quai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94360" y="1810512"/>
            <a:ext cx="198653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passenger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2580894" y="1810512"/>
            <a:ext cx="162534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voyageur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594360" y="2029968"/>
            <a:ext cx="198653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(railway) station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2580894" y="2029968"/>
            <a:ext cx="162534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gare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594360" y="2249424"/>
            <a:ext cx="198653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ticket inspector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2580894" y="2249424"/>
            <a:ext cx="162534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contrôleur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594360" y="2468880"/>
            <a:ext cx="198653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ticket office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2580894" y="2468880"/>
            <a:ext cx="162534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guichet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594360" y="2688336"/>
            <a:ext cx="198653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ticket machine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2580894" y="2688336"/>
            <a:ext cx="162534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Billetterie auto.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594360" y="2907792"/>
            <a:ext cx="198653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desk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2580894" y="2907792"/>
            <a:ext cx="162534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Renseignements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594360" y="3127248"/>
            <a:ext cx="198653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property office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2580894" y="3127248"/>
            <a:ext cx="162534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Objets trouvés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594360" y="3346704"/>
            <a:ext cx="198653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Arrival/departure board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2580894" y="3346704"/>
            <a:ext cx="162534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Panneau d'affichage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594360" y="3566160"/>
            <a:ext cx="198653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waiting room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2580894" y="3566160"/>
            <a:ext cx="162534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Salle d'attente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594360" y="3785616"/>
            <a:ext cx="198653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ticket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2580894" y="3785616"/>
            <a:ext cx="162534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Aller simple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594360" y="4005072"/>
            <a:ext cx="198653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return ticket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2580894" y="4005072"/>
            <a:ext cx="162534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Aller-retour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594360" y="4224528"/>
            <a:ext cx="198653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season ticket</a:t>
            </a:r>
            <a:endParaRPr lang="en-US" sz="950" dirty="0"/>
          </a:p>
        </p:txBody>
      </p:sp>
      <p:sp>
        <p:nvSpPr>
          <p:cNvPr id="36" name="Text 33"/>
          <p:cNvSpPr/>
          <p:nvPr/>
        </p:nvSpPr>
        <p:spPr>
          <a:xfrm>
            <a:off x="2580894" y="4224528"/>
            <a:ext cx="162534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 d'abonnement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594360" y="4443984"/>
            <a:ext cx="198653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punch</a:t>
            </a:r>
            <a:endParaRPr lang="en-US" sz="950" dirty="0"/>
          </a:p>
        </p:txBody>
      </p:sp>
      <p:sp>
        <p:nvSpPr>
          <p:cNvPr id="38" name="Text 35"/>
          <p:cNvSpPr/>
          <p:nvPr/>
        </p:nvSpPr>
        <p:spPr>
          <a:xfrm>
            <a:off x="2580894" y="4443984"/>
            <a:ext cx="162534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Composter</a:t>
            </a:r>
            <a:endParaRPr lang="en-US" sz="900" dirty="0"/>
          </a:p>
        </p:txBody>
      </p:sp>
      <p:sp>
        <p:nvSpPr>
          <p:cNvPr id="39" name="Shape 36"/>
          <p:cNvSpPr/>
          <p:nvPr/>
        </p:nvSpPr>
        <p:spPr>
          <a:xfrm>
            <a:off x="4663440" y="1051560"/>
            <a:ext cx="402336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0" name="Shape 37"/>
          <p:cNvSpPr/>
          <p:nvPr/>
        </p:nvSpPr>
        <p:spPr>
          <a:xfrm>
            <a:off x="4663440" y="1051560"/>
            <a:ext cx="54864" cy="3474720"/>
          </a:xfrm>
          <a:prstGeom prst="rect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4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1115568"/>
            <a:ext cx="201168" cy="201168"/>
          </a:xfrm>
          <a:prstGeom prst="rect">
            <a:avLst/>
          </a:prstGeom>
        </p:spPr>
      </p:pic>
      <p:sp>
        <p:nvSpPr>
          <p:cNvPr id="42" name="Text 38"/>
          <p:cNvSpPr/>
          <p:nvPr/>
        </p:nvSpPr>
        <p:spPr>
          <a:xfrm>
            <a:off x="5047488" y="1078992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Airport (1/2)</a:t>
            </a:r>
            <a:endParaRPr lang="en-US" sz="1200" dirty="0"/>
          </a:p>
        </p:txBody>
      </p:sp>
      <p:sp>
        <p:nvSpPr>
          <p:cNvPr id="43" name="Text 39"/>
          <p:cNvSpPr/>
          <p:nvPr/>
        </p:nvSpPr>
        <p:spPr>
          <a:xfrm>
            <a:off x="4800600" y="1371600"/>
            <a:ext cx="20619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Departures / Arrivals</a:t>
            </a:r>
            <a:endParaRPr lang="en-US" sz="950" dirty="0"/>
          </a:p>
        </p:txBody>
      </p:sp>
      <p:sp>
        <p:nvSpPr>
          <p:cNvPr id="44" name="Text 40"/>
          <p:cNvSpPr/>
          <p:nvPr/>
        </p:nvSpPr>
        <p:spPr>
          <a:xfrm>
            <a:off x="6862572" y="1371600"/>
            <a:ext cx="16870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Départs / Arrivées</a:t>
            </a:r>
            <a:endParaRPr lang="en-US" sz="900" dirty="0"/>
          </a:p>
        </p:txBody>
      </p:sp>
      <p:sp>
        <p:nvSpPr>
          <p:cNvPr id="45" name="Text 41"/>
          <p:cNvSpPr/>
          <p:nvPr/>
        </p:nvSpPr>
        <p:spPr>
          <a:xfrm>
            <a:off x="4800600" y="1591056"/>
            <a:ext cx="20619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airport terminal</a:t>
            </a:r>
            <a:endParaRPr lang="en-US" sz="950" dirty="0"/>
          </a:p>
        </p:txBody>
      </p:sp>
      <p:sp>
        <p:nvSpPr>
          <p:cNvPr id="46" name="Text 42"/>
          <p:cNvSpPr/>
          <p:nvPr/>
        </p:nvSpPr>
        <p:spPr>
          <a:xfrm>
            <a:off x="6862572" y="1591056"/>
            <a:ext cx="16870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terminal</a:t>
            </a:r>
            <a:endParaRPr lang="en-US" sz="900" dirty="0"/>
          </a:p>
        </p:txBody>
      </p:sp>
      <p:sp>
        <p:nvSpPr>
          <p:cNvPr id="47" name="Text 43"/>
          <p:cNvSpPr/>
          <p:nvPr/>
        </p:nvSpPr>
        <p:spPr>
          <a:xfrm>
            <a:off x="4800600" y="1810512"/>
            <a:ext cx="20619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arrival time</a:t>
            </a:r>
            <a:endParaRPr lang="en-US" sz="950" dirty="0"/>
          </a:p>
        </p:txBody>
      </p:sp>
      <p:sp>
        <p:nvSpPr>
          <p:cNvPr id="48" name="Text 44"/>
          <p:cNvSpPr/>
          <p:nvPr/>
        </p:nvSpPr>
        <p:spPr>
          <a:xfrm>
            <a:off x="6862572" y="1810512"/>
            <a:ext cx="16870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Heure d'arrivée</a:t>
            </a:r>
            <a:endParaRPr lang="en-US" sz="900" dirty="0"/>
          </a:p>
        </p:txBody>
      </p:sp>
      <p:sp>
        <p:nvSpPr>
          <p:cNvPr id="49" name="Text 45"/>
          <p:cNvSpPr/>
          <p:nvPr/>
        </p:nvSpPr>
        <p:spPr>
          <a:xfrm>
            <a:off x="4800600" y="2029968"/>
            <a:ext cx="20619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departure time</a:t>
            </a:r>
            <a:endParaRPr lang="en-US" sz="950" dirty="0"/>
          </a:p>
        </p:txBody>
      </p:sp>
      <p:sp>
        <p:nvSpPr>
          <p:cNvPr id="50" name="Text 46"/>
          <p:cNvSpPr/>
          <p:nvPr/>
        </p:nvSpPr>
        <p:spPr>
          <a:xfrm>
            <a:off x="6862572" y="2029968"/>
            <a:ext cx="16870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Heure de départ</a:t>
            </a:r>
            <a:endParaRPr lang="en-US" sz="900" dirty="0"/>
          </a:p>
        </p:txBody>
      </p:sp>
      <p:sp>
        <p:nvSpPr>
          <p:cNvPr id="51" name="Text 47"/>
          <p:cNvSpPr/>
          <p:nvPr/>
        </p:nvSpPr>
        <p:spPr>
          <a:xfrm>
            <a:off x="4800600" y="2249424"/>
            <a:ext cx="20619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miss the plane</a:t>
            </a:r>
            <a:endParaRPr lang="en-US" sz="950" dirty="0"/>
          </a:p>
        </p:txBody>
      </p:sp>
      <p:sp>
        <p:nvSpPr>
          <p:cNvPr id="52" name="Text 48"/>
          <p:cNvSpPr/>
          <p:nvPr/>
        </p:nvSpPr>
        <p:spPr>
          <a:xfrm>
            <a:off x="6862572" y="2249424"/>
            <a:ext cx="16870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Rater l'avion</a:t>
            </a:r>
            <a:endParaRPr lang="en-US" sz="900" dirty="0"/>
          </a:p>
        </p:txBody>
      </p:sp>
      <p:sp>
        <p:nvSpPr>
          <p:cNvPr id="53" name="Text 49"/>
          <p:cNvSpPr/>
          <p:nvPr/>
        </p:nvSpPr>
        <p:spPr>
          <a:xfrm>
            <a:off x="4800600" y="2468880"/>
            <a:ext cx="20619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check-in counter</a:t>
            </a:r>
            <a:endParaRPr lang="en-US" sz="950" dirty="0"/>
          </a:p>
        </p:txBody>
      </p:sp>
      <p:sp>
        <p:nvSpPr>
          <p:cNvPr id="54" name="Text 50"/>
          <p:cNvSpPr/>
          <p:nvPr/>
        </p:nvSpPr>
        <p:spPr>
          <a:xfrm>
            <a:off x="6862572" y="2468880"/>
            <a:ext cx="16870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Guichet d'enregistrement</a:t>
            </a:r>
            <a:endParaRPr lang="en-US" sz="900" dirty="0"/>
          </a:p>
        </p:txBody>
      </p:sp>
      <p:sp>
        <p:nvSpPr>
          <p:cNvPr id="55" name="Text 51"/>
          <p:cNvSpPr/>
          <p:nvPr/>
        </p:nvSpPr>
        <p:spPr>
          <a:xfrm>
            <a:off x="4800600" y="2688336"/>
            <a:ext cx="20619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check in luggage</a:t>
            </a:r>
            <a:endParaRPr lang="en-US" sz="950" dirty="0"/>
          </a:p>
        </p:txBody>
      </p:sp>
      <p:sp>
        <p:nvSpPr>
          <p:cNvPr id="56" name="Text 52"/>
          <p:cNvSpPr/>
          <p:nvPr/>
        </p:nvSpPr>
        <p:spPr>
          <a:xfrm>
            <a:off x="6862572" y="2688336"/>
            <a:ext cx="16870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Enregistrer les bagages</a:t>
            </a:r>
            <a:endParaRPr lang="en-US" sz="900" dirty="0"/>
          </a:p>
        </p:txBody>
      </p:sp>
      <p:sp>
        <p:nvSpPr>
          <p:cNvPr id="57" name="Text 53"/>
          <p:cNvSpPr/>
          <p:nvPr/>
        </p:nvSpPr>
        <p:spPr>
          <a:xfrm>
            <a:off x="4800600" y="2907792"/>
            <a:ext cx="20619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luggage / baggage</a:t>
            </a:r>
            <a:endParaRPr lang="en-US" sz="950" dirty="0"/>
          </a:p>
        </p:txBody>
      </p:sp>
      <p:sp>
        <p:nvSpPr>
          <p:cNvPr id="58" name="Text 54"/>
          <p:cNvSpPr/>
          <p:nvPr/>
        </p:nvSpPr>
        <p:spPr>
          <a:xfrm>
            <a:off x="6862572" y="2907792"/>
            <a:ext cx="16870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bagage</a:t>
            </a:r>
            <a:endParaRPr lang="en-US" sz="900" dirty="0"/>
          </a:p>
        </p:txBody>
      </p:sp>
      <p:sp>
        <p:nvSpPr>
          <p:cNvPr id="59" name="Text 55"/>
          <p:cNvSpPr/>
          <p:nvPr/>
        </p:nvSpPr>
        <p:spPr>
          <a:xfrm>
            <a:off x="4800600" y="3127248"/>
            <a:ext cx="20619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Carry-on luggage</a:t>
            </a:r>
            <a:endParaRPr lang="en-US" sz="950" dirty="0"/>
          </a:p>
        </p:txBody>
      </p:sp>
      <p:sp>
        <p:nvSpPr>
          <p:cNvPr id="60" name="Text 56"/>
          <p:cNvSpPr/>
          <p:nvPr/>
        </p:nvSpPr>
        <p:spPr>
          <a:xfrm>
            <a:off x="6862572" y="3127248"/>
            <a:ext cx="16870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Bagage à main</a:t>
            </a:r>
            <a:endParaRPr lang="en-US" sz="900" dirty="0"/>
          </a:p>
        </p:txBody>
      </p:sp>
      <p:sp>
        <p:nvSpPr>
          <p:cNvPr id="61" name="Text 57"/>
          <p:cNvSpPr/>
          <p:nvPr/>
        </p:nvSpPr>
        <p:spPr>
          <a:xfrm>
            <a:off x="4800600" y="3346704"/>
            <a:ext cx="20619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bag / A suitcase</a:t>
            </a:r>
            <a:endParaRPr lang="en-US" sz="950" dirty="0"/>
          </a:p>
        </p:txBody>
      </p:sp>
      <p:sp>
        <p:nvSpPr>
          <p:cNvPr id="62" name="Text 58"/>
          <p:cNvSpPr/>
          <p:nvPr/>
        </p:nvSpPr>
        <p:spPr>
          <a:xfrm>
            <a:off x="6862572" y="3346704"/>
            <a:ext cx="16870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Sac / Valise</a:t>
            </a:r>
            <a:endParaRPr lang="en-US" sz="900" dirty="0"/>
          </a:p>
        </p:txBody>
      </p:sp>
      <p:sp>
        <p:nvSpPr>
          <p:cNvPr id="63" name="Text 59"/>
          <p:cNvSpPr/>
          <p:nvPr/>
        </p:nvSpPr>
        <p:spPr>
          <a:xfrm>
            <a:off x="4800600" y="3566160"/>
            <a:ext cx="20619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flight</a:t>
            </a:r>
            <a:endParaRPr lang="en-US" sz="950" dirty="0"/>
          </a:p>
        </p:txBody>
      </p:sp>
      <p:sp>
        <p:nvSpPr>
          <p:cNvPr id="64" name="Text 60"/>
          <p:cNvSpPr/>
          <p:nvPr/>
        </p:nvSpPr>
        <p:spPr>
          <a:xfrm>
            <a:off x="6862572" y="3566160"/>
            <a:ext cx="16870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vol</a:t>
            </a:r>
            <a:endParaRPr lang="en-US" sz="900" dirty="0"/>
          </a:p>
        </p:txBody>
      </p:sp>
      <p:sp>
        <p:nvSpPr>
          <p:cNvPr id="65" name="Text 61"/>
          <p:cNvSpPr/>
          <p:nvPr/>
        </p:nvSpPr>
        <p:spPr>
          <a:xfrm>
            <a:off x="4800600" y="3785616"/>
            <a:ext cx="20619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direct flight</a:t>
            </a:r>
            <a:endParaRPr lang="en-US" sz="950" dirty="0"/>
          </a:p>
        </p:txBody>
      </p:sp>
      <p:sp>
        <p:nvSpPr>
          <p:cNvPr id="66" name="Text 62"/>
          <p:cNvSpPr/>
          <p:nvPr/>
        </p:nvSpPr>
        <p:spPr>
          <a:xfrm>
            <a:off x="6862572" y="3785616"/>
            <a:ext cx="16870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 direct</a:t>
            </a:r>
            <a:endParaRPr lang="en-US" sz="900" dirty="0"/>
          </a:p>
        </p:txBody>
      </p:sp>
      <p:sp>
        <p:nvSpPr>
          <p:cNvPr id="67" name="Text 63"/>
          <p:cNvSpPr/>
          <p:nvPr/>
        </p:nvSpPr>
        <p:spPr>
          <a:xfrm>
            <a:off x="4800600" y="4005072"/>
            <a:ext cx="20619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Boarding</a:t>
            </a:r>
            <a:endParaRPr lang="en-US" sz="950" dirty="0"/>
          </a:p>
        </p:txBody>
      </p:sp>
      <p:sp>
        <p:nvSpPr>
          <p:cNvPr id="68" name="Text 64"/>
          <p:cNvSpPr/>
          <p:nvPr/>
        </p:nvSpPr>
        <p:spPr>
          <a:xfrm>
            <a:off x="6862572" y="4005072"/>
            <a:ext cx="16870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Embarquement</a:t>
            </a:r>
            <a:endParaRPr lang="en-US" sz="900" dirty="0"/>
          </a:p>
        </p:txBody>
      </p:sp>
      <p:sp>
        <p:nvSpPr>
          <p:cNvPr id="69" name="Text 65"/>
          <p:cNvSpPr/>
          <p:nvPr/>
        </p:nvSpPr>
        <p:spPr>
          <a:xfrm>
            <a:off x="4800600" y="4224528"/>
            <a:ext cx="20619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Customs</a:t>
            </a:r>
            <a:endParaRPr lang="en-US" sz="950" dirty="0"/>
          </a:p>
        </p:txBody>
      </p:sp>
      <p:sp>
        <p:nvSpPr>
          <p:cNvPr id="70" name="Text 66"/>
          <p:cNvSpPr/>
          <p:nvPr/>
        </p:nvSpPr>
        <p:spPr>
          <a:xfrm>
            <a:off x="6862572" y="4224528"/>
            <a:ext cx="16870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douane</a:t>
            </a:r>
            <a:endParaRPr lang="en-US" sz="900" dirty="0"/>
          </a:p>
        </p:txBody>
      </p:sp>
      <p:sp>
        <p:nvSpPr>
          <p:cNvPr id="71" name="Text 67"/>
          <p:cNvSpPr/>
          <p:nvPr/>
        </p:nvSpPr>
        <p:spPr>
          <a:xfrm>
            <a:off x="4800600" y="4443984"/>
            <a:ext cx="20619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customs officer</a:t>
            </a:r>
            <a:endParaRPr lang="en-US" sz="950" dirty="0"/>
          </a:p>
        </p:txBody>
      </p:sp>
      <p:sp>
        <p:nvSpPr>
          <p:cNvPr id="72" name="Text 68"/>
          <p:cNvSpPr/>
          <p:nvPr/>
        </p:nvSpPr>
        <p:spPr>
          <a:xfrm>
            <a:off x="6862572" y="4443984"/>
            <a:ext cx="16870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douanier</a:t>
            </a:r>
            <a:endParaRPr lang="en-US" sz="900" dirty="0"/>
          </a:p>
        </p:txBody>
      </p:sp>
      <p:sp>
        <p:nvSpPr>
          <p:cNvPr id="73" name="Shape 69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4" name="Text 70"/>
          <p:cNvSpPr/>
          <p:nvPr/>
        </p:nvSpPr>
        <p:spPr>
          <a:xfrm>
            <a:off x="457200" y="48234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FTRANSPORT - SERVICES PRO  •  English  •  Qualiopi</a:t>
            </a:r>
            <a:endParaRPr lang="en-US" sz="800" dirty="0"/>
          </a:p>
        </p:txBody>
      </p:sp>
      <p:sp>
        <p:nvSpPr>
          <p:cNvPr id="75" name="Text 71"/>
          <p:cNvSpPr/>
          <p:nvPr/>
        </p:nvSpPr>
        <p:spPr>
          <a:xfrm>
            <a:off x="8229600" y="48234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 — VOCABULAIRE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20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Airport (2/2) &amp; Vehicle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54864" cy="3474720"/>
          </a:xfrm>
          <a:prstGeom prst="rect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594360" y="107899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Airport (suite)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1371600"/>
            <a:ext cx="198653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go through customs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580894" y="1371600"/>
            <a:ext cx="162534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Passer la douane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94360" y="1591056"/>
            <a:ext cx="198653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fly / To board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580894" y="1591056"/>
            <a:ext cx="162534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Voler / Embarquer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810512"/>
            <a:ext cx="198653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travel agency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580894" y="1810512"/>
            <a:ext cx="162534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Agence de voyages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94360" y="2029968"/>
            <a:ext cx="198653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airline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580894" y="2029968"/>
            <a:ext cx="162534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Compagnie aérienne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94360" y="2249424"/>
            <a:ext cx="198653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buy a ticket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580894" y="2249424"/>
            <a:ext cx="162534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Acheter un billet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94360" y="2468880"/>
            <a:ext cx="198653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reserve a seat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580894" y="2468880"/>
            <a:ext cx="162534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Réserver une place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94360" y="2688336"/>
            <a:ext cx="198653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airline ticket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580894" y="2688336"/>
            <a:ext cx="162534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Billet d'avion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94360" y="2907792"/>
            <a:ext cx="198653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flight number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580894" y="2907792"/>
            <a:ext cx="162534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Numéro de vol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94360" y="3127248"/>
            <a:ext cx="198653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Jetlag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580894" y="3127248"/>
            <a:ext cx="162534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Décalage horaire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94360" y="3346704"/>
            <a:ext cx="198653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pilot / The crew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2580894" y="3346704"/>
            <a:ext cx="162534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Pilote / Équipage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94360" y="3566160"/>
            <a:ext cx="198653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air hostess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2580894" y="3566160"/>
            <a:ext cx="162534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Hôtesse de l'air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94360" y="3785616"/>
            <a:ext cx="198653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/ Economy class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2580894" y="3785616"/>
            <a:ext cx="162534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 affaires / Éco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94360" y="4005072"/>
            <a:ext cx="198653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take off / To land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2580894" y="4005072"/>
            <a:ext cx="162534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Décoller / Atterrir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94360" y="4224528"/>
            <a:ext cx="198653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seat belt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2580894" y="4224528"/>
            <a:ext cx="162534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Ceinture de sécurité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94360" y="4443984"/>
            <a:ext cx="198653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disembark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2580894" y="4443984"/>
            <a:ext cx="162534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Débarquer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663440" y="1051560"/>
            <a:ext cx="402336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9" name="Shape 37"/>
          <p:cNvSpPr/>
          <p:nvPr/>
        </p:nvSpPr>
        <p:spPr>
          <a:xfrm>
            <a:off x="4663440" y="1051560"/>
            <a:ext cx="54864" cy="347472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4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1115568"/>
            <a:ext cx="201168" cy="201168"/>
          </a:xfrm>
          <a:prstGeom prst="rect">
            <a:avLst/>
          </a:prstGeom>
        </p:spPr>
      </p:pic>
      <p:sp>
        <p:nvSpPr>
          <p:cNvPr id="41" name="Text 38"/>
          <p:cNvSpPr/>
          <p:nvPr/>
        </p:nvSpPr>
        <p:spPr>
          <a:xfrm>
            <a:off x="5047488" y="1078992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vehicle</a:t>
            </a:r>
            <a:endParaRPr lang="en-US" sz="1200" dirty="0"/>
          </a:p>
        </p:txBody>
      </p:sp>
      <p:sp>
        <p:nvSpPr>
          <p:cNvPr id="42" name="Text 39"/>
          <p:cNvSpPr/>
          <p:nvPr/>
        </p:nvSpPr>
        <p:spPr>
          <a:xfrm>
            <a:off x="4800600" y="1371600"/>
            <a:ext cx="20619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seat / Front seat</a:t>
            </a:r>
            <a:endParaRPr lang="en-US" sz="950" dirty="0"/>
          </a:p>
        </p:txBody>
      </p:sp>
      <p:sp>
        <p:nvSpPr>
          <p:cNvPr id="43" name="Text 40"/>
          <p:cNvSpPr/>
          <p:nvPr/>
        </p:nvSpPr>
        <p:spPr>
          <a:xfrm>
            <a:off x="6862572" y="1371600"/>
            <a:ext cx="16870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Siège arrière / avant</a:t>
            </a:r>
            <a:endParaRPr lang="en-US" sz="900" dirty="0"/>
          </a:p>
        </p:txBody>
      </p:sp>
      <p:sp>
        <p:nvSpPr>
          <p:cNvPr id="44" name="Text 41"/>
          <p:cNvSpPr/>
          <p:nvPr/>
        </p:nvSpPr>
        <p:spPr>
          <a:xfrm>
            <a:off x="4800600" y="1591056"/>
            <a:ext cx="20619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/ Engine</a:t>
            </a:r>
            <a:endParaRPr lang="en-US" sz="950" dirty="0"/>
          </a:p>
        </p:txBody>
      </p:sp>
      <p:sp>
        <p:nvSpPr>
          <p:cNvPr id="45" name="Text 42"/>
          <p:cNvSpPr/>
          <p:nvPr/>
        </p:nvSpPr>
        <p:spPr>
          <a:xfrm>
            <a:off x="6862572" y="1591056"/>
            <a:ext cx="16870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Batterie / Moteur</a:t>
            </a:r>
            <a:endParaRPr lang="en-US" sz="900" dirty="0"/>
          </a:p>
        </p:txBody>
      </p:sp>
      <p:sp>
        <p:nvSpPr>
          <p:cNvPr id="46" name="Text 43"/>
          <p:cNvSpPr/>
          <p:nvPr/>
        </p:nvSpPr>
        <p:spPr>
          <a:xfrm>
            <a:off x="4800600" y="1810512"/>
            <a:ext cx="20619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 (GB) / Trunk (US)</a:t>
            </a:r>
            <a:endParaRPr lang="en-US" sz="950" dirty="0"/>
          </a:p>
        </p:txBody>
      </p:sp>
      <p:sp>
        <p:nvSpPr>
          <p:cNvPr id="47" name="Text 44"/>
          <p:cNvSpPr/>
          <p:nvPr/>
        </p:nvSpPr>
        <p:spPr>
          <a:xfrm>
            <a:off x="6862572" y="1810512"/>
            <a:ext cx="16870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Coffre</a:t>
            </a:r>
            <a:endParaRPr lang="en-US" sz="900" dirty="0"/>
          </a:p>
        </p:txBody>
      </p:sp>
      <p:sp>
        <p:nvSpPr>
          <p:cNvPr id="48" name="Text 45"/>
          <p:cNvSpPr/>
          <p:nvPr/>
        </p:nvSpPr>
        <p:spPr>
          <a:xfrm>
            <a:off x="4800600" y="2029968"/>
            <a:ext cx="20619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Brake / Clutch</a:t>
            </a:r>
            <a:endParaRPr lang="en-US" sz="950" dirty="0"/>
          </a:p>
        </p:txBody>
      </p:sp>
      <p:sp>
        <p:nvSpPr>
          <p:cNvPr id="49" name="Text 46"/>
          <p:cNvSpPr/>
          <p:nvPr/>
        </p:nvSpPr>
        <p:spPr>
          <a:xfrm>
            <a:off x="6862572" y="2029968"/>
            <a:ext cx="16870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Frein / Embrayage</a:t>
            </a:r>
            <a:endParaRPr lang="en-US" sz="900" dirty="0"/>
          </a:p>
        </p:txBody>
      </p:sp>
      <p:sp>
        <p:nvSpPr>
          <p:cNvPr id="50" name="Text 47"/>
          <p:cNvSpPr/>
          <p:nvPr/>
        </p:nvSpPr>
        <p:spPr>
          <a:xfrm>
            <a:off x="4800600" y="2249424"/>
            <a:ext cx="20619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950" dirty="0"/>
          </a:p>
        </p:txBody>
      </p:sp>
      <p:sp>
        <p:nvSpPr>
          <p:cNvPr id="51" name="Text 48"/>
          <p:cNvSpPr/>
          <p:nvPr/>
        </p:nvSpPr>
        <p:spPr>
          <a:xfrm>
            <a:off x="6862572" y="2249424"/>
            <a:ext cx="16870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de bord</a:t>
            </a:r>
            <a:endParaRPr lang="en-US" sz="900" dirty="0"/>
          </a:p>
        </p:txBody>
      </p:sp>
      <p:sp>
        <p:nvSpPr>
          <p:cNvPr id="52" name="Text 49"/>
          <p:cNvSpPr/>
          <p:nvPr/>
        </p:nvSpPr>
        <p:spPr>
          <a:xfrm>
            <a:off x="4800600" y="2468880"/>
            <a:ext cx="20619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Doors / Gears</a:t>
            </a:r>
            <a:endParaRPr lang="en-US" sz="950" dirty="0"/>
          </a:p>
        </p:txBody>
      </p:sp>
      <p:sp>
        <p:nvSpPr>
          <p:cNvPr id="53" name="Text 50"/>
          <p:cNvSpPr/>
          <p:nvPr/>
        </p:nvSpPr>
        <p:spPr>
          <a:xfrm>
            <a:off x="6862572" y="2468880"/>
            <a:ext cx="16870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Portières / Vitesses</a:t>
            </a:r>
            <a:endParaRPr lang="en-US" sz="900" dirty="0"/>
          </a:p>
        </p:txBody>
      </p:sp>
      <p:sp>
        <p:nvSpPr>
          <p:cNvPr id="54" name="Text 51"/>
          <p:cNvSpPr/>
          <p:nvPr/>
        </p:nvSpPr>
        <p:spPr>
          <a:xfrm>
            <a:off x="4800600" y="2688336"/>
            <a:ext cx="20619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Lights / Indicator</a:t>
            </a:r>
            <a:endParaRPr lang="en-US" sz="950" dirty="0"/>
          </a:p>
        </p:txBody>
      </p:sp>
      <p:sp>
        <p:nvSpPr>
          <p:cNvPr id="55" name="Text 52"/>
          <p:cNvSpPr/>
          <p:nvPr/>
        </p:nvSpPr>
        <p:spPr>
          <a:xfrm>
            <a:off x="6862572" y="2688336"/>
            <a:ext cx="16870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Phares / Clignotants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4800600" y="2907792"/>
            <a:ext cx="20619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/ Bumper</a:t>
            </a:r>
            <a:endParaRPr lang="en-US" sz="950" dirty="0"/>
          </a:p>
        </p:txBody>
      </p:sp>
      <p:sp>
        <p:nvSpPr>
          <p:cNvPr id="57" name="Text 54"/>
          <p:cNvSpPr/>
          <p:nvPr/>
        </p:nvSpPr>
        <p:spPr>
          <a:xfrm>
            <a:off x="6862572" y="2907792"/>
            <a:ext cx="16870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Serrure / Pare-chocs</a:t>
            </a:r>
            <a:endParaRPr lang="en-US" sz="900" dirty="0"/>
          </a:p>
        </p:txBody>
      </p:sp>
      <p:sp>
        <p:nvSpPr>
          <p:cNvPr id="58" name="Text 55"/>
          <p:cNvSpPr/>
          <p:nvPr/>
        </p:nvSpPr>
        <p:spPr>
          <a:xfrm>
            <a:off x="4800600" y="3127248"/>
            <a:ext cx="20619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Pedal / Windshield</a:t>
            </a:r>
            <a:endParaRPr lang="en-US" sz="950" dirty="0"/>
          </a:p>
        </p:txBody>
      </p:sp>
      <p:sp>
        <p:nvSpPr>
          <p:cNvPr id="59" name="Text 56"/>
          <p:cNvSpPr/>
          <p:nvPr/>
        </p:nvSpPr>
        <p:spPr>
          <a:xfrm>
            <a:off x="6862572" y="3127248"/>
            <a:ext cx="16870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Pédale / Pare-brise</a:t>
            </a:r>
            <a:endParaRPr lang="en-US" sz="900" dirty="0"/>
          </a:p>
        </p:txBody>
      </p:sp>
      <p:sp>
        <p:nvSpPr>
          <p:cNvPr id="60" name="Text 57"/>
          <p:cNvSpPr/>
          <p:nvPr/>
        </p:nvSpPr>
        <p:spPr>
          <a:xfrm>
            <a:off x="4800600" y="3346704"/>
            <a:ext cx="20619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 belt</a:t>
            </a:r>
            <a:endParaRPr lang="en-US" sz="950" dirty="0"/>
          </a:p>
        </p:txBody>
      </p:sp>
      <p:sp>
        <p:nvSpPr>
          <p:cNvPr id="61" name="Text 58"/>
          <p:cNvSpPr/>
          <p:nvPr/>
        </p:nvSpPr>
        <p:spPr>
          <a:xfrm>
            <a:off x="6862572" y="3346704"/>
            <a:ext cx="16870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Ceinture de sécurité</a:t>
            </a:r>
            <a:endParaRPr lang="en-US" sz="900" dirty="0"/>
          </a:p>
        </p:txBody>
      </p:sp>
      <p:sp>
        <p:nvSpPr>
          <p:cNvPr id="62" name="Text 59"/>
          <p:cNvSpPr/>
          <p:nvPr/>
        </p:nvSpPr>
        <p:spPr>
          <a:xfrm>
            <a:off x="4800600" y="3566160"/>
            <a:ext cx="20619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Steering wheel</a:t>
            </a:r>
            <a:endParaRPr lang="en-US" sz="950" dirty="0"/>
          </a:p>
        </p:txBody>
      </p:sp>
      <p:sp>
        <p:nvSpPr>
          <p:cNvPr id="63" name="Text 60"/>
          <p:cNvSpPr/>
          <p:nvPr/>
        </p:nvSpPr>
        <p:spPr>
          <a:xfrm>
            <a:off x="6862572" y="3566160"/>
            <a:ext cx="16870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Volant</a:t>
            </a:r>
            <a:endParaRPr lang="en-US" sz="900" dirty="0"/>
          </a:p>
        </p:txBody>
      </p:sp>
      <p:sp>
        <p:nvSpPr>
          <p:cNvPr id="64" name="Text 61"/>
          <p:cNvSpPr/>
          <p:nvPr/>
        </p:nvSpPr>
        <p:spPr>
          <a:xfrm>
            <a:off x="4800600" y="3785616"/>
            <a:ext cx="20619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Tire / Wheel</a:t>
            </a:r>
            <a:endParaRPr lang="en-US" sz="950" dirty="0"/>
          </a:p>
        </p:txBody>
      </p:sp>
      <p:sp>
        <p:nvSpPr>
          <p:cNvPr id="65" name="Text 62"/>
          <p:cNvSpPr/>
          <p:nvPr/>
        </p:nvSpPr>
        <p:spPr>
          <a:xfrm>
            <a:off x="6862572" y="3785616"/>
            <a:ext cx="16870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Pneu / Roue</a:t>
            </a:r>
            <a:endParaRPr lang="en-US" sz="900" dirty="0"/>
          </a:p>
        </p:txBody>
      </p:sp>
      <p:sp>
        <p:nvSpPr>
          <p:cNvPr id="66" name="Text 63"/>
          <p:cNvSpPr/>
          <p:nvPr/>
        </p:nvSpPr>
        <p:spPr>
          <a:xfrm>
            <a:off x="4800600" y="4005072"/>
            <a:ext cx="20619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conditioned</a:t>
            </a:r>
            <a:endParaRPr lang="en-US" sz="950" dirty="0"/>
          </a:p>
        </p:txBody>
      </p:sp>
      <p:sp>
        <p:nvSpPr>
          <p:cNvPr id="67" name="Text 64"/>
          <p:cNvSpPr/>
          <p:nvPr/>
        </p:nvSpPr>
        <p:spPr>
          <a:xfrm>
            <a:off x="6862572" y="4005072"/>
            <a:ext cx="16870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Climatisé</a:t>
            </a:r>
            <a:endParaRPr lang="en-US" sz="900" dirty="0"/>
          </a:p>
        </p:txBody>
      </p:sp>
      <p:sp>
        <p:nvSpPr>
          <p:cNvPr id="68" name="Shape 65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9" name="Text 66"/>
          <p:cNvSpPr/>
          <p:nvPr/>
        </p:nvSpPr>
        <p:spPr>
          <a:xfrm>
            <a:off x="457200" y="48234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FTRANSPORT - SERVICES PRO  •  English  •  Qualiopi</a:t>
            </a:r>
            <a:endParaRPr lang="en-US" sz="800" dirty="0"/>
          </a:p>
        </p:txBody>
      </p:sp>
      <p:sp>
        <p:nvSpPr>
          <p:cNvPr id="70" name="Text 67"/>
          <p:cNvSpPr/>
          <p:nvPr/>
        </p:nvSpPr>
        <p:spPr>
          <a:xfrm>
            <a:off x="8229600" y="48234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 — VOCABULAIRE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20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Weather &amp; Prepositions of place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54864" cy="3474720"/>
          </a:xfrm>
          <a:prstGeom prst="rect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115568"/>
            <a:ext cx="201168" cy="2011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41248" y="1078992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weather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94360" y="1371600"/>
            <a:ext cx="198653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 / Boiling hot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2580894" y="1371600"/>
            <a:ext cx="162534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Chaud / Très chaud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94360" y="1627632"/>
            <a:ext cx="198653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/ Freezing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2580894" y="1627632"/>
            <a:ext cx="162534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Froid / Très froid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94360" y="1883664"/>
            <a:ext cx="198653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Humid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2580894" y="1883664"/>
            <a:ext cx="162534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Humide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594360" y="2139696"/>
            <a:ext cx="198653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Sunny / Cloudy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2580894" y="2139696"/>
            <a:ext cx="162534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Ensoleillé / Nuageux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594360" y="2395728"/>
            <a:ext cx="198653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cloud / The rain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2580894" y="2395728"/>
            <a:ext cx="162534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Nuage / Pluie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594360" y="2651760"/>
            <a:ext cx="198653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thunderstorm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2580894" y="2651760"/>
            <a:ext cx="162534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L'orage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594360" y="2907792"/>
            <a:ext cx="198653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snow / The wind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2580894" y="2907792"/>
            <a:ext cx="162534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Neige / Vent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594360" y="3163824"/>
            <a:ext cx="198653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temperature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2580894" y="3163824"/>
            <a:ext cx="162534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température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594360" y="3419856"/>
            <a:ext cx="198653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fine / It's cold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2580894" y="3419856"/>
            <a:ext cx="162534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fait beau / froid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594360" y="3675888"/>
            <a:ext cx="198653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hot / It's raining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2580894" y="3675888"/>
            <a:ext cx="162534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fait chaud / Il pleut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594360" y="3931920"/>
            <a:ext cx="198653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snowing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2580894" y="3931920"/>
            <a:ext cx="162534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neige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4663440" y="1051560"/>
            <a:ext cx="402336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2" name="Shape 29"/>
          <p:cNvSpPr/>
          <p:nvPr/>
        </p:nvSpPr>
        <p:spPr>
          <a:xfrm>
            <a:off x="4663440" y="1051560"/>
            <a:ext cx="54864" cy="34747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" name="Text 30"/>
          <p:cNvSpPr/>
          <p:nvPr/>
        </p:nvSpPr>
        <p:spPr>
          <a:xfrm>
            <a:off x="4800600" y="107899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Prepositions of place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4800600" y="1371600"/>
            <a:ext cx="20619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/ At</a:t>
            </a:r>
            <a:endParaRPr lang="en-US" sz="950" dirty="0"/>
          </a:p>
        </p:txBody>
      </p:sp>
      <p:sp>
        <p:nvSpPr>
          <p:cNvPr id="35" name="Text 32"/>
          <p:cNvSpPr/>
          <p:nvPr/>
        </p:nvSpPr>
        <p:spPr>
          <a:xfrm>
            <a:off x="6862572" y="1371600"/>
            <a:ext cx="16870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4800600" y="1627632"/>
            <a:ext cx="20619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/ From</a:t>
            </a:r>
            <a:endParaRPr lang="en-US" sz="950" dirty="0"/>
          </a:p>
        </p:txBody>
      </p:sp>
      <p:sp>
        <p:nvSpPr>
          <p:cNvPr id="37" name="Text 34"/>
          <p:cNvSpPr/>
          <p:nvPr/>
        </p:nvSpPr>
        <p:spPr>
          <a:xfrm>
            <a:off x="6862572" y="1627632"/>
            <a:ext cx="16870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4800600" y="1883664"/>
            <a:ext cx="20619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/ Under</a:t>
            </a:r>
            <a:endParaRPr lang="en-US" sz="950" dirty="0"/>
          </a:p>
        </p:txBody>
      </p:sp>
      <p:sp>
        <p:nvSpPr>
          <p:cNvPr id="39" name="Text 36"/>
          <p:cNvSpPr/>
          <p:nvPr/>
        </p:nvSpPr>
        <p:spPr>
          <a:xfrm>
            <a:off x="6862572" y="1883664"/>
            <a:ext cx="16870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/ Sous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4800600" y="2139696"/>
            <a:ext cx="20619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/ Underneath</a:t>
            </a:r>
            <a:endParaRPr lang="en-US" sz="950" dirty="0"/>
          </a:p>
        </p:txBody>
      </p:sp>
      <p:sp>
        <p:nvSpPr>
          <p:cNvPr id="41" name="Text 38"/>
          <p:cNvSpPr/>
          <p:nvPr/>
        </p:nvSpPr>
        <p:spPr>
          <a:xfrm>
            <a:off x="6862572" y="2139696"/>
            <a:ext cx="16870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Au-dessus / Au dessous</a:t>
            </a:r>
            <a:endParaRPr lang="en-US" sz="900" dirty="0"/>
          </a:p>
        </p:txBody>
      </p:sp>
      <p:sp>
        <p:nvSpPr>
          <p:cNvPr id="42" name="Text 39"/>
          <p:cNvSpPr/>
          <p:nvPr/>
        </p:nvSpPr>
        <p:spPr>
          <a:xfrm>
            <a:off x="4800600" y="2395728"/>
            <a:ext cx="20619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/ After</a:t>
            </a:r>
            <a:endParaRPr lang="en-US" sz="950" dirty="0"/>
          </a:p>
        </p:txBody>
      </p:sp>
      <p:sp>
        <p:nvSpPr>
          <p:cNvPr id="43" name="Text 40"/>
          <p:cNvSpPr/>
          <p:nvPr/>
        </p:nvSpPr>
        <p:spPr>
          <a:xfrm>
            <a:off x="6862572" y="2395728"/>
            <a:ext cx="16870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 / Après</a:t>
            </a:r>
            <a:endParaRPr lang="en-US" sz="900" dirty="0"/>
          </a:p>
        </p:txBody>
      </p:sp>
      <p:sp>
        <p:nvSpPr>
          <p:cNvPr id="44" name="Text 41"/>
          <p:cNvSpPr/>
          <p:nvPr/>
        </p:nvSpPr>
        <p:spPr>
          <a:xfrm>
            <a:off x="4800600" y="2651760"/>
            <a:ext cx="20619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front of / Behind</a:t>
            </a:r>
            <a:endParaRPr lang="en-US" sz="950" dirty="0"/>
          </a:p>
        </p:txBody>
      </p:sp>
      <p:sp>
        <p:nvSpPr>
          <p:cNvPr id="45" name="Text 42"/>
          <p:cNvSpPr/>
          <p:nvPr/>
        </p:nvSpPr>
        <p:spPr>
          <a:xfrm>
            <a:off x="6862572" y="2651760"/>
            <a:ext cx="16870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Devant / Derrière</a:t>
            </a:r>
            <a:endParaRPr lang="en-US" sz="900" dirty="0"/>
          </a:p>
        </p:txBody>
      </p:sp>
      <p:sp>
        <p:nvSpPr>
          <p:cNvPr id="46" name="Text 43"/>
          <p:cNvSpPr/>
          <p:nvPr/>
        </p:nvSpPr>
        <p:spPr>
          <a:xfrm>
            <a:off x="4800600" y="2907792"/>
            <a:ext cx="20619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/ Toward</a:t>
            </a:r>
            <a:endParaRPr lang="en-US" sz="950" dirty="0"/>
          </a:p>
        </p:txBody>
      </p:sp>
      <p:sp>
        <p:nvSpPr>
          <p:cNvPr id="47" name="Text 44"/>
          <p:cNvSpPr/>
          <p:nvPr/>
        </p:nvSpPr>
        <p:spPr>
          <a:xfrm>
            <a:off x="6862572" y="2907792"/>
            <a:ext cx="16870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/ Vers</a:t>
            </a:r>
            <a:endParaRPr lang="en-US" sz="900" dirty="0"/>
          </a:p>
        </p:txBody>
      </p:sp>
      <p:sp>
        <p:nvSpPr>
          <p:cNvPr id="48" name="Text 45"/>
          <p:cNvSpPr/>
          <p:nvPr/>
        </p:nvSpPr>
        <p:spPr>
          <a:xfrm>
            <a:off x="4800600" y="3163824"/>
            <a:ext cx="20619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Against / Around</a:t>
            </a:r>
            <a:endParaRPr lang="en-US" sz="950" dirty="0"/>
          </a:p>
        </p:txBody>
      </p:sp>
      <p:sp>
        <p:nvSpPr>
          <p:cNvPr id="49" name="Text 46"/>
          <p:cNvSpPr/>
          <p:nvPr/>
        </p:nvSpPr>
        <p:spPr>
          <a:xfrm>
            <a:off x="6862572" y="3163824"/>
            <a:ext cx="16870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Contre / Autour</a:t>
            </a:r>
            <a:endParaRPr lang="en-US" sz="900" dirty="0"/>
          </a:p>
        </p:txBody>
      </p:sp>
      <p:sp>
        <p:nvSpPr>
          <p:cNvPr id="50" name="Text 47"/>
          <p:cNvSpPr/>
          <p:nvPr/>
        </p:nvSpPr>
        <p:spPr>
          <a:xfrm>
            <a:off x="4800600" y="3419856"/>
            <a:ext cx="20619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to / Far from</a:t>
            </a:r>
            <a:endParaRPr lang="en-US" sz="950" dirty="0"/>
          </a:p>
        </p:txBody>
      </p:sp>
      <p:sp>
        <p:nvSpPr>
          <p:cNvPr id="51" name="Text 48"/>
          <p:cNvSpPr/>
          <p:nvPr/>
        </p:nvSpPr>
        <p:spPr>
          <a:xfrm>
            <a:off x="6862572" y="3419856"/>
            <a:ext cx="16870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Près de / Loin de</a:t>
            </a:r>
            <a:endParaRPr lang="en-US" sz="900" dirty="0"/>
          </a:p>
        </p:txBody>
      </p:sp>
      <p:sp>
        <p:nvSpPr>
          <p:cNvPr id="52" name="Text 49"/>
          <p:cNvSpPr/>
          <p:nvPr/>
        </p:nvSpPr>
        <p:spPr>
          <a:xfrm>
            <a:off x="4800600" y="3675888"/>
            <a:ext cx="20619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to / Facing</a:t>
            </a:r>
            <a:endParaRPr lang="en-US" sz="950" dirty="0"/>
          </a:p>
        </p:txBody>
      </p:sp>
      <p:sp>
        <p:nvSpPr>
          <p:cNvPr id="53" name="Text 50"/>
          <p:cNvSpPr/>
          <p:nvPr/>
        </p:nvSpPr>
        <p:spPr>
          <a:xfrm>
            <a:off x="6862572" y="3675888"/>
            <a:ext cx="16870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côté de / En face de</a:t>
            </a:r>
            <a:endParaRPr lang="en-US" sz="900" dirty="0"/>
          </a:p>
        </p:txBody>
      </p:sp>
      <p:sp>
        <p:nvSpPr>
          <p:cNvPr id="54" name="Text 51"/>
          <p:cNvSpPr/>
          <p:nvPr/>
        </p:nvSpPr>
        <p:spPr>
          <a:xfrm>
            <a:off x="4800600" y="3931920"/>
            <a:ext cx="20619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middle of</a:t>
            </a:r>
            <a:endParaRPr lang="en-US" sz="950" dirty="0"/>
          </a:p>
        </p:txBody>
      </p:sp>
      <p:sp>
        <p:nvSpPr>
          <p:cNvPr id="55" name="Text 52"/>
          <p:cNvSpPr/>
          <p:nvPr/>
        </p:nvSpPr>
        <p:spPr>
          <a:xfrm>
            <a:off x="6862572" y="3931920"/>
            <a:ext cx="16870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 milieu de</a:t>
            </a:r>
            <a:endParaRPr lang="en-US" sz="900" dirty="0"/>
          </a:p>
        </p:txBody>
      </p:sp>
      <p:sp>
        <p:nvSpPr>
          <p:cNvPr id="56" name="Shape 53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7" name="Text 54"/>
          <p:cNvSpPr/>
          <p:nvPr/>
        </p:nvSpPr>
        <p:spPr>
          <a:xfrm>
            <a:off x="457200" y="48234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FTRANSPORT - SERVICES PRO  •  English  •  Qualiopi</a:t>
            </a:r>
            <a:endParaRPr lang="en-US" sz="800" dirty="0"/>
          </a:p>
        </p:txBody>
      </p:sp>
      <p:sp>
        <p:nvSpPr>
          <p:cNvPr id="58" name="Text 55"/>
          <p:cNvSpPr/>
          <p:nvPr/>
        </p:nvSpPr>
        <p:spPr>
          <a:xfrm>
            <a:off x="8229600" y="48234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2 — VOCABULAIRE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20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Transport &amp; useful words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54864" cy="3474720"/>
          </a:xfrm>
          <a:prstGeom prst="rect">
            <a:avLst/>
          </a:prstGeom>
          <a:solidFill>
            <a:srgbClr val="C0562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594360" y="107899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5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 words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1371600"/>
            <a:ext cx="198653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/ Get-off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580894" y="1371600"/>
            <a:ext cx="162534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Monter / Descendre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94360" y="1591056"/>
            <a:ext cx="198653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 / Bus stop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580894" y="1591056"/>
            <a:ext cx="162534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Autobus / Arrêt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810512"/>
            <a:ext cx="198653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Cancellation / Delay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580894" y="1810512"/>
            <a:ext cx="162534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Annulation / Retard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94360" y="2029968"/>
            <a:ext cx="198653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/ On time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580894" y="2029968"/>
            <a:ext cx="162534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Tôt / À l'heure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94360" y="2249424"/>
            <a:ext cx="198653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Passenger / Schedule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580894" y="2249424"/>
            <a:ext cx="162534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Passager / Horaire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94360" y="2468880"/>
            <a:ext cx="198653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Reservation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580894" y="2468880"/>
            <a:ext cx="162534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Réservation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94360" y="2688336"/>
            <a:ext cx="198653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extra charge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580894" y="2688336"/>
            <a:ext cx="162534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supplément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94360" y="2907792"/>
            <a:ext cx="198653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down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580894" y="2907792"/>
            <a:ext cx="162534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Tomber en panne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94360" y="3127248"/>
            <a:ext cx="198653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change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580894" y="3127248"/>
            <a:ext cx="162534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Gardez la monnaie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94360" y="3346704"/>
            <a:ext cx="198653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ride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2580894" y="3346704"/>
            <a:ext cx="162534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course (VTC/Taxi)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94360" y="3566160"/>
            <a:ext cx="198653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tip / The suburb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2580894" y="3566160"/>
            <a:ext cx="162534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Pourboire / Banlieue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94360" y="3785616"/>
            <a:ext cx="198653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Toll on exit / Bus lane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2580894" y="3785616"/>
            <a:ext cx="162534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Péage / Voie de bus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94360" y="4005072"/>
            <a:ext cx="198653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 rental (US) / hire (GB)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2580894" y="4005072"/>
            <a:ext cx="162534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de voiture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663440" y="1051560"/>
            <a:ext cx="402336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5" name="Shape 33"/>
          <p:cNvSpPr/>
          <p:nvPr/>
        </p:nvSpPr>
        <p:spPr>
          <a:xfrm>
            <a:off x="4663440" y="1051560"/>
            <a:ext cx="54864" cy="3474720"/>
          </a:xfrm>
          <a:prstGeom prst="rect">
            <a:avLst/>
          </a:prstGeom>
          <a:solidFill>
            <a:srgbClr val="27674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" name="Text 34"/>
          <p:cNvSpPr/>
          <p:nvPr/>
        </p:nvSpPr>
        <p:spPr>
          <a:xfrm>
            <a:off x="4800600" y="107899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76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words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800600" y="1371600"/>
            <a:ext cx="20619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map / A car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862572" y="1371600"/>
            <a:ext cx="16870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 / Voiture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800600" y="1591056"/>
            <a:ext cx="20619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centre / Downtown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862572" y="1591056"/>
            <a:ext cx="16870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Centre-ville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800600" y="1810512"/>
            <a:ext cx="20619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Monument / Museum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862572" y="1810512"/>
            <a:ext cx="16870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Monument / Musée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800600" y="2029968"/>
            <a:ext cx="20619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park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6862572" y="2029968"/>
            <a:ext cx="16870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 de loisirs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800600" y="2249424"/>
            <a:ext cx="20619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 fee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6862572" y="2249424"/>
            <a:ext cx="16870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Prix d'entrée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800600" y="2468880"/>
            <a:ext cx="20619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arrive / To leave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6862572" y="2468880"/>
            <a:ext cx="16870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Arriver / Partir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800600" y="2688336"/>
            <a:ext cx="20619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travel / To pack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6862572" y="2688336"/>
            <a:ext cx="16870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Voyager / Faire les valises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4800600" y="2907792"/>
            <a:ext cx="20619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Cruise boat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6862572" y="2907792"/>
            <a:ext cx="16870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Bateau fluvial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4800600" y="3127248"/>
            <a:ext cx="20619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Pedestrian street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6862572" y="3127248"/>
            <a:ext cx="16870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Passage piéton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4800600" y="3346704"/>
            <a:ext cx="20619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whereabouts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6862572" y="3346704"/>
            <a:ext cx="16870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environs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4800600" y="3566160"/>
            <a:ext cx="20619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Expensive / Closed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6862572" y="3566160"/>
            <a:ext cx="16870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Cher / Fermé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4800600" y="3785616"/>
            <a:ext cx="20619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/ Without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6862572" y="3785616"/>
            <a:ext cx="16870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/ Sans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4800600" y="4005072"/>
            <a:ext cx="20619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/ Window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6862572" y="4005072"/>
            <a:ext cx="16870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Bâtiment / Fenêtre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4" name="Text 62"/>
          <p:cNvSpPr/>
          <p:nvPr/>
        </p:nvSpPr>
        <p:spPr>
          <a:xfrm>
            <a:off x="457200" y="48234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FTRANSPORT - SERVICES PRO  •  English  •  Qualiopi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8229600" y="48234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2 — VOCABULAIRE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20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Verbs + BE &amp; HAVE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3931920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54864" cy="2743200"/>
          </a:xfrm>
          <a:prstGeom prst="rect">
            <a:avLst/>
          </a:prstGeom>
          <a:solidFill>
            <a:srgbClr val="C0562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594360" y="107899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5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verbs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1371600"/>
            <a:ext cx="198653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/ Know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580894" y="1371600"/>
            <a:ext cx="162534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Être / Savoir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94360" y="1591056"/>
            <a:ext cx="198653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/ Meet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580894" y="1591056"/>
            <a:ext cx="162534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Être attendu / Rencontrer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810512"/>
            <a:ext cx="198653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/ Allowed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580894" y="1810512"/>
            <a:ext cx="162534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Gagner / Permis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94360" y="2029968"/>
            <a:ext cx="198653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Carry / Open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580894" y="2029968"/>
            <a:ext cx="162534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Porter / Ouvrir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94360" y="2249424"/>
            <a:ext cx="198653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Wear / Eat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580894" y="2249424"/>
            <a:ext cx="162534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Porter / Manger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94360" y="2468880"/>
            <a:ext cx="198653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/ Try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580894" y="2468880"/>
            <a:ext cx="162534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Prendre / Essayer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94360" y="2688336"/>
            <a:ext cx="198653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/ Pick me up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580894" y="2688336"/>
            <a:ext cx="162534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Vivre / Venir me chercher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94360" y="2907792"/>
            <a:ext cx="198653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/ Move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580894" y="2907792"/>
            <a:ext cx="162534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Parler / Bouger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94360" y="3127248"/>
            <a:ext cx="198653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Drink / Keep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580894" y="3127248"/>
            <a:ext cx="162534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Boire / Garder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94360" y="3346704"/>
            <a:ext cx="198653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Enjoy / Went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2580894" y="3346704"/>
            <a:ext cx="162534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Profiter / Aller (passé)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94360" y="3566160"/>
            <a:ext cx="198653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/ Advise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2580894" y="3566160"/>
            <a:ext cx="162534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Utiliser / Conseiller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94360" y="3785616"/>
            <a:ext cx="198653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/ Check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2580894" y="3785616"/>
            <a:ext cx="162534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Patienter / Vérifier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663440" y="1051560"/>
            <a:ext cx="402336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3" name="Shape 31"/>
          <p:cNvSpPr/>
          <p:nvPr/>
        </p:nvSpPr>
        <p:spPr>
          <a:xfrm>
            <a:off x="4663440" y="1051560"/>
            <a:ext cx="54864" cy="1371600"/>
          </a:xfrm>
          <a:prstGeom prst="rect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4" name="Text 32"/>
          <p:cNvSpPr/>
          <p:nvPr/>
        </p:nvSpPr>
        <p:spPr>
          <a:xfrm>
            <a:off x="4800600" y="107899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— Être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675120" y="107899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76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HAVE — Avoir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800600" y="1371600"/>
            <a:ext cx="91440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am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715000" y="1371600"/>
            <a:ext cx="91440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suis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675120" y="1371600"/>
            <a:ext cx="10058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76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have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680960" y="1371600"/>
            <a:ext cx="91440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J'ai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800600" y="1536192"/>
            <a:ext cx="91440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715000" y="1536192"/>
            <a:ext cx="91440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es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675120" y="1536192"/>
            <a:ext cx="10058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76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have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680960" y="1536192"/>
            <a:ext cx="91440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as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800600" y="1700784"/>
            <a:ext cx="91440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He/She/It is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715000" y="1700784"/>
            <a:ext cx="91440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est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675120" y="1700784"/>
            <a:ext cx="10058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76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He/She has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7680960" y="1700784"/>
            <a:ext cx="91440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a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800600" y="1865376"/>
            <a:ext cx="91440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715000" y="1865376"/>
            <a:ext cx="91440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Nous sommes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6675120" y="1865376"/>
            <a:ext cx="10058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76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have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7680960" y="1865376"/>
            <a:ext cx="91440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Nous avons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4800600" y="2029968"/>
            <a:ext cx="91440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5715000" y="2029968"/>
            <a:ext cx="91440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êtes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6675120" y="2029968"/>
            <a:ext cx="10058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76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have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7680960" y="2029968"/>
            <a:ext cx="91440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avez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4800600" y="2194560"/>
            <a:ext cx="91440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are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5715000" y="2194560"/>
            <a:ext cx="91440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Ils sont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6675120" y="2194560"/>
            <a:ext cx="10058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76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have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7680960" y="2194560"/>
            <a:ext cx="91440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Ils ont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4663440" y="2606040"/>
            <a:ext cx="402336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1" name="Shape 59"/>
          <p:cNvSpPr/>
          <p:nvPr/>
        </p:nvSpPr>
        <p:spPr>
          <a:xfrm>
            <a:off x="4663440" y="2606040"/>
            <a:ext cx="54864" cy="822960"/>
          </a:xfrm>
          <a:prstGeom prst="rect">
            <a:avLst/>
          </a:prstGeom>
          <a:solidFill>
            <a:srgbClr val="C5303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2" name="Text 60"/>
          <p:cNvSpPr/>
          <p:nvPr/>
        </p:nvSpPr>
        <p:spPr>
          <a:xfrm>
            <a:off x="4800600" y="263347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tense — Au passé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4800600" y="28803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BE: I was / you were / he was / we were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HAVE: I had / you had / he had / we had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457200" y="3977640"/>
            <a:ext cx="393192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5" name="Shape 63"/>
          <p:cNvSpPr/>
          <p:nvPr/>
        </p:nvSpPr>
        <p:spPr>
          <a:xfrm>
            <a:off x="457200" y="3977640"/>
            <a:ext cx="54864" cy="640080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6" name="Text 64"/>
          <p:cNvSpPr/>
          <p:nvPr/>
        </p:nvSpPr>
        <p:spPr>
          <a:xfrm>
            <a:off x="594360" y="400507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/ There are = Il y a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594360" y="4224528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+ singulier : There is a little car.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are + pluriel : There are flowers.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4663440" y="3611880"/>
            <a:ext cx="402336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9" name="Shape 67"/>
          <p:cNvSpPr/>
          <p:nvPr/>
        </p:nvSpPr>
        <p:spPr>
          <a:xfrm>
            <a:off x="4663440" y="3611880"/>
            <a:ext cx="54864" cy="10058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0" name="Text 68"/>
          <p:cNvSpPr/>
          <p:nvPr/>
        </p:nvSpPr>
        <p:spPr>
          <a:xfrm>
            <a:off x="4800600" y="363931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Countable vs Uncountable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4800600" y="3858768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Indénombrables : tea, water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Dénombrables : apples, cars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En anglais : accommodation, advice, baggage,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bread, furniture, information, luggage, news, work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3" name="Text 71"/>
          <p:cNvSpPr/>
          <p:nvPr/>
        </p:nvSpPr>
        <p:spPr>
          <a:xfrm>
            <a:off x="457200" y="48234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FTRANSPORT - SERVICES PRO  •  English  •  Qualiopi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8229600" y="48234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3 — GRAMMAIRE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20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Tenses &amp; prepositions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393192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54864" cy="1554480"/>
          </a:xfrm>
          <a:prstGeom prst="rect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594360" y="107899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Prepositions: IN / ON / AT / TO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1325880"/>
            <a:ext cx="3611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: mois (in July), saisons (in winter),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pays (in Italy), villes (in Lyon)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: jours précis (on Tuesday)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: heures (at 11 o'clock), AT night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: mouvement (go TO the cinema)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663440" y="1051560"/>
            <a:ext cx="402336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4663440" y="1051560"/>
            <a:ext cx="54864" cy="1554480"/>
          </a:xfrm>
          <a:prstGeom prst="rect">
            <a:avLst/>
          </a:prstGeom>
          <a:solidFill>
            <a:srgbClr val="C0562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4800600" y="107899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5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Preterit (passé simple)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00600" y="132588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Adverbes : ago, last week, yesterday,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once, when, first, then, later, next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Réguliers : base + ED (work → worked)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Irréguliers : à apprendre ! (go → went)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Ex: He looked at her and then laughed.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2788920"/>
            <a:ext cx="393192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457200" y="2788920"/>
            <a:ext cx="54864" cy="13716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594360" y="281635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Present Perfect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94360" y="3063240"/>
            <a:ext cx="3611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Adverbes : ever, already, yet, just,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now, since, for, so far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: HAVE + participe passé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Ex: It has just happened.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(Ça vient de se produire.)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663440" y="2788920"/>
            <a:ext cx="402336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4663440" y="2788920"/>
            <a:ext cx="54864" cy="594360"/>
          </a:xfrm>
          <a:prstGeom prst="rect">
            <a:avLst/>
          </a:prstGeom>
          <a:solidFill>
            <a:srgbClr val="27674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4800600" y="281635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76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 &amp; For (= depuis)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00600" y="3063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= durée : for 5 hours, for a week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 = date précise : since Tuesday, since 2020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663440" y="3566160"/>
            <a:ext cx="402336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2" name="Shape 20"/>
          <p:cNvSpPr/>
          <p:nvPr/>
        </p:nvSpPr>
        <p:spPr>
          <a:xfrm>
            <a:off x="4663440" y="3566160"/>
            <a:ext cx="54864" cy="914400"/>
          </a:xfrm>
          <a:prstGeom prst="rect">
            <a:avLst/>
          </a:prstGeom>
          <a:solidFill>
            <a:srgbClr val="C5303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4800600" y="359359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&amp; Conditional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00600" y="384048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 : Sujet + WILL + verbe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Ex: She will arrive. Nég: won't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CONDITIONNEL : Sujet + WOULD + verbe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Ex: He would help you.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548640" y="44348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PRETERIT = action terminée   |   PRESENT PERFECT = lien avec le présent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457200" y="48234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FTRANSPORT - SERVICES PRO  •  English  •  Qualiopi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8229600" y="48234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3 — GRAMMAIRE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20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Modal verbs — Les modaux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94360" y="1005840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 : can · may · must · will · shall       Prétérit : could · might · must · would · should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8229600" cy="4114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457200" y="1325880"/>
            <a:ext cx="54864" cy="411480"/>
          </a:xfrm>
          <a:prstGeom prst="rect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640080" y="135331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/ COULD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0" y="1353312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Pouvoir, savoir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1545336"/>
            <a:ext cx="7863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drive. (Je sais conduire.)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1828800"/>
            <a:ext cx="8229600" cy="4114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457200" y="1828800"/>
            <a:ext cx="54864" cy="41148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640080" y="185623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/ MAYBE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00400" y="1856232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Peut-être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" y="2048256"/>
            <a:ext cx="7863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may come tomorrow. (Peut-être demain.)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331720"/>
            <a:ext cx="8229600" cy="4114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457200" y="2331720"/>
            <a:ext cx="54864" cy="411480"/>
          </a:xfrm>
          <a:prstGeom prst="rect">
            <a:avLst/>
          </a:prstGeom>
          <a:solidFill>
            <a:srgbClr val="C5303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640080" y="235915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200400" y="2359152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Devoir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0080" y="2551176"/>
            <a:ext cx="7863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must do my homework. (Je dois faire mes devoirs.)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2834640"/>
            <a:ext cx="8229600" cy="4114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2" name="Shape 20"/>
          <p:cNvSpPr/>
          <p:nvPr/>
        </p:nvSpPr>
        <p:spPr>
          <a:xfrm>
            <a:off x="457200" y="2834640"/>
            <a:ext cx="54864" cy="411480"/>
          </a:xfrm>
          <a:prstGeom prst="rect">
            <a:avLst/>
          </a:prstGeom>
          <a:solidFill>
            <a:srgbClr val="C0562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640080" y="286207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5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200400" y="2862072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Avoir besoin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0080" y="3054096"/>
            <a:ext cx="7863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needn't say that! (Pas besoin de dire cela !)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3337560"/>
            <a:ext cx="8229600" cy="4114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7" name="Shape 25"/>
          <p:cNvSpPr/>
          <p:nvPr/>
        </p:nvSpPr>
        <p:spPr>
          <a:xfrm>
            <a:off x="457200" y="3337560"/>
            <a:ext cx="54864" cy="411480"/>
          </a:xfrm>
          <a:prstGeom prst="rect">
            <a:avLst/>
          </a:prstGeom>
          <a:solidFill>
            <a:srgbClr val="27674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640080" y="336499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76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200400" y="3364992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Conseil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40080" y="3557016"/>
            <a:ext cx="7863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should have phoned her. (Vous auriez dû.)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" y="3840480"/>
            <a:ext cx="8229600" cy="4114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2" name="Shape 30"/>
          <p:cNvSpPr/>
          <p:nvPr/>
        </p:nvSpPr>
        <p:spPr>
          <a:xfrm>
            <a:off x="457200" y="3840480"/>
            <a:ext cx="54864" cy="411480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640080" y="386791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WOULD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200400" y="3867912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Conditionnel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40080" y="4059936"/>
            <a:ext cx="7863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would be pleased. (Vous seriez ravi.)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57200" y="4343400"/>
            <a:ext cx="8229600" cy="4114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7" name="Shape 35"/>
          <p:cNvSpPr/>
          <p:nvPr/>
        </p:nvSpPr>
        <p:spPr>
          <a:xfrm>
            <a:off x="457200" y="4343400"/>
            <a:ext cx="54864" cy="41148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8" name="Text 36"/>
          <p:cNvSpPr/>
          <p:nvPr/>
        </p:nvSpPr>
        <p:spPr>
          <a:xfrm>
            <a:off x="640080" y="437083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SHALL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3200400" y="4370832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Suggestion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40080" y="4562856"/>
            <a:ext cx="7863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Shall we go to the cinema? (Et si on allait ?)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2" name="Text 40"/>
          <p:cNvSpPr/>
          <p:nvPr/>
        </p:nvSpPr>
        <p:spPr>
          <a:xfrm>
            <a:off x="457200" y="48234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FTRANSPORT - SERVICES PRO  •  English  •  Qualiopi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8229600" y="48234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4 — GRAMMAIRE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20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Comparatives, superlatives &amp; time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393192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54864" cy="1828800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594360" y="107899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Comparatives &amp; Superlatives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1325880"/>
            <a:ext cx="3611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COMPARATIF 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Supériorité : adj + ER + than (taller than)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Adj long : MORE + adj + than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Égalité : AS + adj + AS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Infériorité : LESS + adj + THAN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SUPERLATIF 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Court : THE + adj + EST (longest)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Long : THE MOST + adj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Irréguliers : good→best · bad→worst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663440" y="1051560"/>
            <a:ext cx="402336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4663440" y="1051560"/>
            <a:ext cx="54864" cy="1828800"/>
          </a:xfrm>
          <a:prstGeom prst="rect">
            <a:avLst/>
          </a:prstGeom>
          <a:solidFill>
            <a:srgbClr val="C53030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1115568"/>
            <a:ext cx="201168" cy="20116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047488" y="1078992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Telling the time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800600" y="1325880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 12h : AM (matin) / PM (soir)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 AVANT heures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(1-30 min) / TO (31-59 min)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O'CLOCK = pile · QUARTER = 15 min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 = 30 min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8:15 → quarter past eight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8:30 → half past eight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7:45 → quarter to eight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57200" y="3063240"/>
            <a:ext cx="822960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Shape 12"/>
          <p:cNvSpPr/>
          <p:nvPr/>
        </p:nvSpPr>
        <p:spPr>
          <a:xfrm>
            <a:off x="457200" y="3063240"/>
            <a:ext cx="54864" cy="14630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3"/>
          <p:cNvSpPr/>
          <p:nvPr/>
        </p:nvSpPr>
        <p:spPr>
          <a:xfrm>
            <a:off x="594360" y="309067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plural — Le pluriel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94360" y="3337560"/>
            <a:ext cx="3931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Régulier : + S (cat→cats)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S/SS : + ES (bus→buses)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O : + ES (potato→potatoes)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Irréguliers : man→men, woman→women,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person→people, tooth→teeth, life→lives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4663440" y="3337560"/>
            <a:ext cx="3931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 court = 1 syll. ou 2 en -ER, -Y, -OW, -LE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 long = 2+ syllabes (sauf ci-dessus)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consonne : big → biggest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→ I : funny → funniest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MIDDAY / NOON = midi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MIDNIGHT = minuit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Text 17"/>
          <p:cNvSpPr/>
          <p:nvPr/>
        </p:nvSpPr>
        <p:spPr>
          <a:xfrm>
            <a:off x="457200" y="48234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FTRANSPORT - SERVICES PRO  •  English  •  Qualiopi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8229600" y="48234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4 — GRAMMAIRE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20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Quantifiers — Les quantifieurs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8229600" cy="4114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54864" cy="411480"/>
          </a:xfrm>
          <a:prstGeom prst="rect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640080" y="106984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Much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554480" y="1069848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Beaucoup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651760" y="1069848"/>
            <a:ext cx="5852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Indénombrables, phrases nég./questions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1271016"/>
            <a:ext cx="7863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didn't spend much money.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1554480"/>
            <a:ext cx="8229600" cy="4114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457200" y="1554480"/>
            <a:ext cx="54864" cy="41148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640080" y="157276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554480" y="1572768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Beaucoup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651760" y="1572768"/>
            <a:ext cx="5852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Dénombrables, phrases nég./questions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" y="1773936"/>
            <a:ext cx="7863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you know many people?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057400"/>
            <a:ext cx="8229600" cy="4114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457200" y="2057400"/>
            <a:ext cx="54864" cy="411480"/>
          </a:xfrm>
          <a:prstGeom prst="rect">
            <a:avLst/>
          </a:prstGeom>
          <a:solidFill>
            <a:srgbClr val="C0562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640080" y="207568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5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Little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554480" y="2075688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Peu de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651760" y="2075688"/>
            <a:ext cx="5852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Indénombrables (insuffisance)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0080" y="2276856"/>
            <a:ext cx="7863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Little energy, little money.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2560320"/>
            <a:ext cx="8229600" cy="4114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4" name="Shape 22"/>
          <p:cNvSpPr/>
          <p:nvPr/>
        </p:nvSpPr>
        <p:spPr>
          <a:xfrm>
            <a:off x="457200" y="2560320"/>
            <a:ext cx="54864" cy="411480"/>
          </a:xfrm>
          <a:prstGeom prst="rect">
            <a:avLst/>
          </a:prstGeom>
          <a:solidFill>
            <a:srgbClr val="27674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640080" y="25786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76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little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554480" y="2578608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peu de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651760" y="2578608"/>
            <a:ext cx="5852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Indénombrables (faible quantité)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40080" y="2779776"/>
            <a:ext cx="7863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little hope (un peu d'espoir).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3063240"/>
            <a:ext cx="8229600" cy="4114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0" name="Shape 28"/>
          <p:cNvSpPr/>
          <p:nvPr/>
        </p:nvSpPr>
        <p:spPr>
          <a:xfrm>
            <a:off x="457200" y="3063240"/>
            <a:ext cx="54864" cy="411480"/>
          </a:xfrm>
          <a:prstGeom prst="rect">
            <a:avLst/>
          </a:prstGeom>
          <a:solidFill>
            <a:srgbClr val="C5303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640080" y="308152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554480" y="3081528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Peu de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651760" y="3081528"/>
            <a:ext cx="5852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Dénombrables (insuffisance)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40080" y="3282696"/>
            <a:ext cx="7863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 cars, few countries.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57200" y="3566160"/>
            <a:ext cx="8229600" cy="4114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6" name="Shape 34"/>
          <p:cNvSpPr/>
          <p:nvPr/>
        </p:nvSpPr>
        <p:spPr>
          <a:xfrm>
            <a:off x="457200" y="3566160"/>
            <a:ext cx="54864" cy="411480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7" name="Text 35"/>
          <p:cNvSpPr/>
          <p:nvPr/>
        </p:nvSpPr>
        <p:spPr>
          <a:xfrm>
            <a:off x="640080" y="358444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few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554480" y="3584448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Quelques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2651760" y="3584448"/>
            <a:ext cx="5852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Dénombrables (faible quantité)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40080" y="3785616"/>
            <a:ext cx="7863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few girls (quelques filles).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57200" y="4069080"/>
            <a:ext cx="8229600" cy="4114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2" name="Shape 40"/>
          <p:cNvSpPr/>
          <p:nvPr/>
        </p:nvSpPr>
        <p:spPr>
          <a:xfrm>
            <a:off x="457200" y="4069080"/>
            <a:ext cx="54864" cy="41148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3" name="Text 41"/>
          <p:cNvSpPr/>
          <p:nvPr/>
        </p:nvSpPr>
        <p:spPr>
          <a:xfrm>
            <a:off x="640080" y="408736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lot of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1554480" y="4087368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Beaucoup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2651760" y="4087368"/>
            <a:ext cx="5852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Dénombrables + indénombrables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40080" y="4288536"/>
            <a:ext cx="7863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lot of money, a lot of friends.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8" name="Text 46"/>
          <p:cNvSpPr/>
          <p:nvPr/>
        </p:nvSpPr>
        <p:spPr>
          <a:xfrm>
            <a:off x="457200" y="48234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FTRANSPORT - SERVICES PRO  •  English  •  Qualiopi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8229600" y="48234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3A4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PARTIE 5 — WELCOMING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0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Accueillir et vérifier l'identité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3931920" cy="2606040"/>
          </a:xfrm>
          <a:prstGeom prst="rect">
            <a:avLst/>
          </a:prstGeom>
          <a:solidFill>
            <a:srgbClr val="F0F7F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54864" cy="2606040"/>
          </a:xfrm>
          <a:prstGeom prst="rect">
            <a:avLst/>
          </a:prstGeom>
          <a:solidFill>
            <a:srgbClr val="27674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594360" y="10972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767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Welcoming &amp; Identity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1353312"/>
            <a:ext cx="36576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Hello, are you Mr or Mrs…?</a:t>
            </a:r>
            <a:endParaRPr lang="en-US" sz="900" dirty="0"/>
          </a:p>
          <a:p>
            <a:pPr marL="0" indent="0">
              <a:buNone/>
            </a:pPr>
            <a:r>
              <a:rPr lang="en-US" sz="800" i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Bonjour, vous êtes… ?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94360" y="1632204"/>
            <a:ext cx="36576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you mind if I check your identity?</a:t>
            </a:r>
            <a:endParaRPr lang="en-US" sz="900" dirty="0"/>
          </a:p>
          <a:p>
            <a:pPr marL="0" indent="0">
              <a:buNone/>
            </a:pPr>
            <a:r>
              <a:rPr lang="en-US" sz="800" i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Puis-je vérifier votre identité ?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94360" y="1911096"/>
            <a:ext cx="36576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am I talking to?</a:t>
            </a:r>
            <a:endParaRPr lang="en-US" sz="900" dirty="0"/>
          </a:p>
          <a:p>
            <a:pPr marL="0" indent="0">
              <a:buNone/>
            </a:pPr>
            <a:r>
              <a:rPr lang="en-US" sz="800" i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qui ai-je l'honneur ?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94360" y="2189988"/>
            <a:ext cx="36576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Sorry for asking, but can I have your name?</a:t>
            </a:r>
            <a:endParaRPr lang="en-US" sz="900" dirty="0"/>
          </a:p>
          <a:p>
            <a:pPr marL="0" indent="0">
              <a:buNone/>
            </a:pPr>
            <a:r>
              <a:rPr lang="en-US" sz="800" i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Puis-je vous demander qui vous êtes ?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2468880"/>
            <a:ext cx="36576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you show me your personal identity?</a:t>
            </a:r>
            <a:endParaRPr lang="en-US" sz="900" dirty="0"/>
          </a:p>
          <a:p>
            <a:pPr marL="0" indent="0">
              <a:buNone/>
            </a:pPr>
            <a:r>
              <a:rPr lang="en-US" sz="800" i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Pouvez-vous me montrer votre identité ?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94360" y="2747772"/>
            <a:ext cx="36576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 I confirm your identity?</a:t>
            </a:r>
            <a:endParaRPr lang="en-US" sz="900" dirty="0"/>
          </a:p>
          <a:p>
            <a:pPr marL="0" indent="0">
              <a:buNone/>
            </a:pPr>
            <a:r>
              <a:rPr lang="en-US" sz="800" i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Puis-je confirmer votre identité ?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94360" y="3026664"/>
            <a:ext cx="36576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You're welcome.</a:t>
            </a:r>
            <a:endParaRPr lang="en-US" sz="900" dirty="0"/>
          </a:p>
          <a:p>
            <a:pPr marL="0" indent="0">
              <a:buNone/>
            </a:pPr>
            <a:r>
              <a:rPr lang="en-US" sz="800" i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 vous en prie.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94360" y="3305556"/>
            <a:ext cx="36576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you'd like to get into the car…</a:t>
            </a:r>
            <a:endParaRPr lang="en-US" sz="900" dirty="0"/>
          </a:p>
          <a:p>
            <a:pPr marL="0" indent="0">
              <a:buNone/>
            </a:pPr>
            <a:r>
              <a:rPr lang="en-US" sz="800" i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 vous laisse monter.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63440" y="1051560"/>
            <a:ext cx="4023360" cy="2606040"/>
          </a:xfrm>
          <a:prstGeom prst="rect">
            <a:avLst/>
          </a:prstGeom>
          <a:solidFill>
            <a:srgbClr val="F0F7F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4663440" y="1051560"/>
            <a:ext cx="54864" cy="26060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4800600" y="109728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Directions &amp; Meeting point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00600" y="135331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meet up!</a:t>
            </a:r>
            <a:endParaRPr lang="en-US" sz="850" dirty="0"/>
          </a:p>
          <a:p>
            <a:pPr marL="0" indent="0">
              <a:buNone/>
            </a:pPr>
            <a:r>
              <a:rPr lang="en-US" sz="750" i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donner rendez-vous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800600" y="158191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your current location?</a:t>
            </a:r>
            <a:endParaRPr lang="en-US" sz="850" dirty="0"/>
          </a:p>
          <a:p>
            <a:pPr marL="0" indent="0">
              <a:buNone/>
            </a:pPr>
            <a:r>
              <a:rPr lang="en-US" sz="750" i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Où êtes-vous exactement ?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800600" y="181051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can you see around?</a:t>
            </a:r>
            <a:endParaRPr lang="en-US" sz="850" dirty="0"/>
          </a:p>
          <a:p>
            <a:pPr marL="0" indent="0">
              <a:buNone/>
            </a:pPr>
            <a:r>
              <a:rPr lang="en-US" sz="750" i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 voyez-vous devant vous ?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800600" y="203911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 you in a parking lot?</a:t>
            </a:r>
            <a:endParaRPr lang="en-US" sz="850" dirty="0"/>
          </a:p>
          <a:p>
            <a:pPr marL="0" indent="0">
              <a:buNone/>
            </a:pPr>
            <a:r>
              <a:rPr lang="en-US" sz="750" i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Êtes-vous dans un parking ?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800600" y="226771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I'm close to…</a:t>
            </a:r>
            <a:endParaRPr lang="en-US" sz="850" dirty="0"/>
          </a:p>
          <a:p>
            <a:pPr marL="0" indent="0">
              <a:buNone/>
            </a:pPr>
            <a:r>
              <a:rPr lang="en-US" sz="750" i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 suis vers…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800600" y="249631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I'm afraid you're late</a:t>
            </a:r>
            <a:endParaRPr lang="en-US" sz="850" dirty="0"/>
          </a:p>
          <a:p>
            <a:pPr marL="0" indent="0">
              <a:buNone/>
            </a:pPr>
            <a:r>
              <a:rPr lang="en-US" sz="750" i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Vous êtes en retard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800600" y="272491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straight on</a:t>
            </a:r>
            <a:endParaRPr lang="en-US" sz="850" dirty="0"/>
          </a:p>
          <a:p>
            <a:pPr marL="0" indent="0">
              <a:buNone/>
            </a:pPr>
            <a:r>
              <a:rPr lang="en-US" sz="750" i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Allez tout droit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800600" y="295351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Please follow the car!</a:t>
            </a:r>
            <a:endParaRPr lang="en-US" sz="850" dirty="0"/>
          </a:p>
          <a:p>
            <a:pPr marL="0" indent="0">
              <a:buNone/>
            </a:pPr>
            <a:r>
              <a:rPr lang="en-US" sz="750" i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Suivez la voiture !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800600" y="318211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Could you open the boot?</a:t>
            </a:r>
            <a:endParaRPr lang="en-US" sz="850" dirty="0"/>
          </a:p>
          <a:p>
            <a:pPr marL="0" indent="0">
              <a:buNone/>
            </a:pPr>
            <a:r>
              <a:rPr lang="en-US" sz="750" i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Ouvrez le coffre SVP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800600" y="341071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into the car / Take the stairs</a:t>
            </a:r>
            <a:endParaRPr lang="en-US" sz="850" dirty="0"/>
          </a:p>
          <a:p>
            <a:pPr marL="0" indent="0">
              <a:buNone/>
            </a:pPr>
            <a:r>
              <a:rPr lang="en-US" sz="750" i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Montez dans la voiture / les escaliers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57200" y="3794760"/>
            <a:ext cx="8229600" cy="320040"/>
          </a:xfrm>
          <a:prstGeom prst="rect">
            <a:avLst/>
          </a:prstGeom>
          <a:solidFill>
            <a:srgbClr val="27674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548640" y="37947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First impression matters! A warm welcome makes clients feel valued.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57200" y="4206240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2" name="Text 30"/>
          <p:cNvSpPr/>
          <p:nvPr/>
        </p:nvSpPr>
        <p:spPr>
          <a:xfrm>
            <a:off x="548640" y="42062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Erreurs :  </a:t>
            </a:r>
            <a:r>
              <a:rPr lang="en-US" sz="900" b="1" dirty="0">
                <a:solidFill>
                  <a:srgbClr val="E53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</a:t>
            </a:r>
            <a:r>
              <a:rPr lang="en-US" sz="9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"What is your name?" → "May I have your name, please?"   </a:t>
            </a:r>
            <a:r>
              <a:rPr lang="en-US" sz="900" b="1" dirty="0">
                <a:solidFill>
                  <a:srgbClr val="E53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</a:t>
            </a:r>
            <a:r>
              <a:rPr lang="en-US" sz="9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"You want go where?" → "Where would you like to go?"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1A3A4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4" name="Text 32"/>
          <p:cNvSpPr/>
          <p:nvPr/>
        </p:nvSpPr>
        <p:spPr>
          <a:xfrm>
            <a:off x="457200" y="481888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FTRANSPORT - SERVICES PRO  •  English  •  Qualiopi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8229600" y="481888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6 — DURING THE RIDE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20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Confort &amp; conversation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3931920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54864" cy="2743200"/>
          </a:xfrm>
          <a:prstGeom prst="rect">
            <a:avLst/>
          </a:prstGeom>
          <a:solidFill>
            <a:srgbClr val="C05621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115568"/>
            <a:ext cx="201168" cy="2011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41248" y="1078992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5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Comfort phrases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94360" y="1371600"/>
            <a:ext cx="36118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yourself comfortable.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94360" y="1499616"/>
            <a:ext cx="361188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Installez-vous.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94360" y="1627632"/>
            <a:ext cx="36118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everything alright?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94360" y="1755648"/>
            <a:ext cx="361188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 va bien ?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94360" y="1883664"/>
            <a:ext cx="36118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your destination?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94360" y="2011680"/>
            <a:ext cx="361188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Où allez-vous ?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594360" y="2139696"/>
            <a:ext cx="36118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Fine, I'll take you there.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94360" y="2267712"/>
            <a:ext cx="361188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vous y emmène.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594360" y="2395728"/>
            <a:ext cx="36118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you comfortable enough?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594360" y="2523744"/>
            <a:ext cx="361188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Assez confortable ?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594360" y="2651760"/>
            <a:ext cx="36118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Would you like some water?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594360" y="2779776"/>
            <a:ext cx="361188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l'eau ?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594360" y="2907792"/>
            <a:ext cx="36118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temperature OK?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594360" y="3035808"/>
            <a:ext cx="361188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Température OK ?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594360" y="3163824"/>
            <a:ext cx="36118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Shall I increase the temp.?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594360" y="3291840"/>
            <a:ext cx="361188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Augmenter temp. ?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594360" y="3419856"/>
            <a:ext cx="36118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Shall I decrease the temp.?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594360" y="3547872"/>
            <a:ext cx="361188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Baisser temp. ?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4663440" y="1051560"/>
            <a:ext cx="4023360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8" name="Shape 25"/>
          <p:cNvSpPr/>
          <p:nvPr/>
        </p:nvSpPr>
        <p:spPr>
          <a:xfrm>
            <a:off x="4663440" y="1051560"/>
            <a:ext cx="54864" cy="2743200"/>
          </a:xfrm>
          <a:prstGeom prst="rect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" name="Text 26"/>
          <p:cNvSpPr/>
          <p:nvPr/>
        </p:nvSpPr>
        <p:spPr>
          <a:xfrm>
            <a:off x="4800600" y="107899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talk &amp; safety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4800600" y="1371600"/>
            <a:ext cx="3657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line of business are you in?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4800600" y="1499616"/>
            <a:ext cx="365760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faites-vous ?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4800600" y="1627632"/>
            <a:ext cx="3657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beautiful day!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4800600" y="1755648"/>
            <a:ext cx="365760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fait beau !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4800600" y="1883664"/>
            <a:ext cx="3657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time does your flight leave?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4800600" y="2011680"/>
            <a:ext cx="365760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Heure du vol ?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4800600" y="2139696"/>
            <a:ext cx="3657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There's a bit of traffic.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4800600" y="2267712"/>
            <a:ext cx="365760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y a de la circulation.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4800600" y="2395728"/>
            <a:ext cx="3657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you been here before?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4800600" y="2523744"/>
            <a:ext cx="365760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connaissez ?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4800600" y="2651760"/>
            <a:ext cx="3657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you have a child car seat?</a:t>
            </a:r>
            <a:endParaRPr lang="en-US" sz="1000" dirty="0"/>
          </a:p>
        </p:txBody>
      </p:sp>
      <p:sp>
        <p:nvSpPr>
          <p:cNvPr id="41" name="Text 38"/>
          <p:cNvSpPr/>
          <p:nvPr/>
        </p:nvSpPr>
        <p:spPr>
          <a:xfrm>
            <a:off x="4800600" y="2779776"/>
            <a:ext cx="365760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Siège enfant ?</a:t>
            </a:r>
            <a:endParaRPr lang="en-US" sz="900" dirty="0"/>
          </a:p>
        </p:txBody>
      </p:sp>
      <p:sp>
        <p:nvSpPr>
          <p:cNvPr id="42" name="Text 39"/>
          <p:cNvSpPr/>
          <p:nvPr/>
        </p:nvSpPr>
        <p:spPr>
          <a:xfrm>
            <a:off x="4800600" y="2907792"/>
            <a:ext cx="3657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Please, fasten your seat-belt.</a:t>
            </a:r>
            <a:endParaRPr lang="en-US" sz="1000" dirty="0"/>
          </a:p>
        </p:txBody>
      </p:sp>
      <p:sp>
        <p:nvSpPr>
          <p:cNvPr id="43" name="Text 40"/>
          <p:cNvSpPr/>
          <p:nvPr/>
        </p:nvSpPr>
        <p:spPr>
          <a:xfrm>
            <a:off x="4800600" y="3035808"/>
            <a:ext cx="365760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Ceinture SVP.</a:t>
            </a:r>
            <a:endParaRPr lang="en-US" sz="900" dirty="0"/>
          </a:p>
        </p:txBody>
      </p:sp>
      <p:sp>
        <p:nvSpPr>
          <p:cNvPr id="44" name="Text 41"/>
          <p:cNvSpPr/>
          <p:nvPr/>
        </p:nvSpPr>
        <p:spPr>
          <a:xfrm>
            <a:off x="4800600" y="3163824"/>
            <a:ext cx="3657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move your seat.</a:t>
            </a:r>
            <a:endParaRPr lang="en-US" sz="1000" dirty="0"/>
          </a:p>
        </p:txBody>
      </p:sp>
      <p:sp>
        <p:nvSpPr>
          <p:cNvPr id="45" name="Text 42"/>
          <p:cNvSpPr/>
          <p:nvPr/>
        </p:nvSpPr>
        <p:spPr>
          <a:xfrm>
            <a:off x="4800600" y="3291840"/>
            <a:ext cx="365760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Avancer/reculer siège.</a:t>
            </a:r>
            <a:endParaRPr lang="en-US" sz="900" dirty="0"/>
          </a:p>
        </p:txBody>
      </p:sp>
      <p:sp>
        <p:nvSpPr>
          <p:cNvPr id="46" name="Shape 43"/>
          <p:cNvSpPr/>
          <p:nvPr/>
        </p:nvSpPr>
        <p:spPr>
          <a:xfrm>
            <a:off x="457200" y="3977640"/>
            <a:ext cx="8229600" cy="320040"/>
          </a:xfrm>
          <a:prstGeom prst="rect">
            <a:avLst/>
          </a:prstGeom>
          <a:solidFill>
            <a:srgbClr val="C5303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7" name="Text 44"/>
          <p:cNvSpPr/>
          <p:nvPr/>
        </p:nvSpPr>
        <p:spPr>
          <a:xfrm>
            <a:off x="548640" y="39776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Avoid: politics, religion, personal questions, controversial topics</a:t>
            </a:r>
            <a:endParaRPr lang="en-US" sz="950" dirty="0"/>
          </a:p>
        </p:txBody>
      </p:sp>
      <p:sp>
        <p:nvSpPr>
          <p:cNvPr id="48" name="Shape 45"/>
          <p:cNvSpPr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9" name="Text 46"/>
          <p:cNvSpPr/>
          <p:nvPr/>
        </p:nvSpPr>
        <p:spPr>
          <a:xfrm>
            <a:off x="548640" y="44348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"I'm sorry, could you say that again more slowly?"</a:t>
            </a:r>
            <a:endParaRPr lang="en-US" sz="950" dirty="0"/>
          </a:p>
        </p:txBody>
      </p:sp>
      <p:sp>
        <p:nvSpPr>
          <p:cNvPr id="50" name="Shape 47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1" name="Text 48"/>
          <p:cNvSpPr/>
          <p:nvPr/>
        </p:nvSpPr>
        <p:spPr>
          <a:xfrm>
            <a:off x="457200" y="48234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FTRANSPORT - SERVICES PRO  •  English  •  Qualiopi</a:t>
            </a:r>
            <a:endParaRPr lang="en-US" sz="800" dirty="0"/>
          </a:p>
        </p:txBody>
      </p:sp>
      <p:sp>
        <p:nvSpPr>
          <p:cNvPr id="52" name="Text 49"/>
          <p:cNvSpPr/>
          <p:nvPr/>
        </p:nvSpPr>
        <p:spPr>
          <a:xfrm>
            <a:off x="8229600" y="48234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53" name="TextBox 52"/>
          <p:cNvSpPr txBox="1"/>
          <p:nvPr/>
        </p:nvSpPr>
        <p:spPr>
          <a:xfrm>
            <a:off x="4800600" y="3550000"/>
            <a:ext cx="3657600" cy="78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700" b="1">
                <a:solidFill>
                  <a:srgbClr val="1A202C"/>
                </a:solidFill>
              </a:rPr>
              <a:t>Would you like me to raise the temp.?  —  Augmenter la temp. ?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800600" y="3628000"/>
            <a:ext cx="3657600" cy="78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700" b="1">
                <a:solidFill>
                  <a:srgbClr val="1A202C"/>
                </a:solidFill>
              </a:rPr>
              <a:t>Would you like me to lower the temp.?  —  Diminuer la temp. ?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800600" y="3706000"/>
            <a:ext cx="3657600" cy="78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700" b="1">
                <a:solidFill>
                  <a:srgbClr val="1A202C"/>
                </a:solidFill>
              </a:rPr>
              <a:t>Do you know the city of Lyon?  —  Connaissez-vous Lyon 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7 — TALKING ABOUT LYON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20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Parler de Lyon en anglais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822960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54864" cy="3200400"/>
          </a:xfrm>
          <a:prstGeom prst="rect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115568"/>
            <a:ext cx="201168" cy="2011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41248" y="107899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phrases about Lyon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94360" y="14173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We're almost done. / We're nearly there.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212080" y="14173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y est presque.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94360" y="19202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Lyon has a population of over 500,000.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212080" y="19202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de 500 000 habitants.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594360" y="2423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city is well-known for pharmaceuticals,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biotechnology and ICT engineering.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212080" y="24231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Chimie, pharmacie, biotech, numérique.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594360" y="29260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Lyon is at the forefront of vaccines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scientific research.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212080" y="29260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1er centre de vaccins au monde.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594360" y="34290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Lyon has prestigious universities.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212080" y="34290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2ème ville étudiante de France.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Text 17"/>
          <p:cNvSpPr/>
          <p:nvPr/>
        </p:nvSpPr>
        <p:spPr>
          <a:xfrm>
            <a:off x="548640" y="44348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International clients love learning about your city!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Text 19"/>
          <p:cNvSpPr/>
          <p:nvPr/>
        </p:nvSpPr>
        <p:spPr>
          <a:xfrm>
            <a:off x="457200" y="48234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FTRANSPORT - SERVICES PRO  •  English  •  Qualiopi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8229600" y="48234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24" name="TextBox 23"/>
          <p:cNvSpPr txBox="1"/>
          <p:nvPr/>
        </p:nvSpPr>
        <p:spPr>
          <a:xfrm>
            <a:off x="594360" y="3830000"/>
            <a:ext cx="4572000" cy="145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1A202C"/>
                </a:solidFill>
              </a:rPr>
              <a:t>Thank you. / You're welcome.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80" y="3830000"/>
            <a:ext cx="3200400" cy="145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0">
                <a:solidFill>
                  <a:srgbClr val="4A5568"/>
                </a:solidFill>
              </a:rPr>
              <a:t>Je vous remercie. / De rien.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3975000"/>
            <a:ext cx="4572000" cy="145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1A202C"/>
                </a:solidFill>
              </a:rPr>
              <a:t>I wish you a pleasant trip.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12080" y="3975000"/>
            <a:ext cx="3200400" cy="145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0">
                <a:solidFill>
                  <a:srgbClr val="4A5568"/>
                </a:solidFill>
              </a:rPr>
              <a:t>Bon voyage !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4120000"/>
            <a:ext cx="4572000" cy="145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1A202C"/>
                </a:solidFill>
              </a:rPr>
              <a:t>Have a good journey.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12080" y="4120000"/>
            <a:ext cx="3200400" cy="145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0">
                <a:solidFill>
                  <a:srgbClr val="4A5568"/>
                </a:solidFill>
              </a:rPr>
              <a:t>Bon vol / Bon train !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4265000"/>
            <a:ext cx="4572000" cy="145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1A202C"/>
                </a:solidFill>
              </a:rPr>
              <a:t>Have a nice time.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12080" y="4265000"/>
            <a:ext cx="3200400" cy="145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0">
                <a:solidFill>
                  <a:srgbClr val="4A5568"/>
                </a:solidFill>
              </a:rPr>
              <a:t>Profitez bien !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7 — SAYING GOODBYE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20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Prendre congé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3931920" cy="23774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54864" cy="23774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115568"/>
            <a:ext cx="201168" cy="2011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41248" y="1078992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Farewell phrases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94360" y="1371600"/>
            <a:ext cx="361188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we are! We've arrived.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94360" y="1508760"/>
            <a:ext cx="361188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Nous sommes arrivés.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94360" y="1645920"/>
            <a:ext cx="361188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for choosing us.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94360" y="1783080"/>
            <a:ext cx="361188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 !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94360" y="1920240"/>
            <a:ext cx="361188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hope you enjoyed the ride.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94360" y="2057400"/>
            <a:ext cx="361188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trajet vous a plu ?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594360" y="2194560"/>
            <a:ext cx="361188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a great day/evening!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94360" y="2331720"/>
            <a:ext cx="361188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journée !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594360" y="2468880"/>
            <a:ext cx="361188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Enjoy your stay in Lyon!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594360" y="2606040"/>
            <a:ext cx="361188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Profitez de Lyon !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594360" y="2743200"/>
            <a:ext cx="361188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a safe trip!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594360" y="2880360"/>
            <a:ext cx="361188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 voyage !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594360" y="3017520"/>
            <a:ext cx="361188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was a pleasure. Goodbye!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594360" y="3154680"/>
            <a:ext cx="361188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 revoir !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4663440" y="1051560"/>
            <a:ext cx="4023360" cy="23774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4" name="Shape 21"/>
          <p:cNvSpPr/>
          <p:nvPr/>
        </p:nvSpPr>
        <p:spPr>
          <a:xfrm>
            <a:off x="4663440" y="1051560"/>
            <a:ext cx="54864" cy="2377440"/>
          </a:xfrm>
          <a:prstGeom prst="rect">
            <a:avLst/>
          </a:prstGeom>
          <a:solidFill>
            <a:srgbClr val="C05621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1115568"/>
            <a:ext cx="201168" cy="201168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5047488" y="1078992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5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End-of-ride &amp; Loyalty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4800600" y="1371600"/>
            <a:ext cx="3657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Open the door for the client</a:t>
            </a:r>
            <a:endParaRPr lang="en-US" sz="1000" dirty="0"/>
          </a:p>
        </p:txBody>
      </p:sp>
      <p:sp>
        <p:nvSpPr>
          <p:cNvPr id="28" name="Text 24"/>
          <p:cNvSpPr/>
          <p:nvPr/>
        </p:nvSpPr>
        <p:spPr>
          <a:xfrm>
            <a:off x="4800600" y="1499616"/>
            <a:ext cx="365760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Ouvrir la porte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4800600" y="1627632"/>
            <a:ext cx="3657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Help with luggage</a:t>
            </a:r>
            <a:endParaRPr lang="en-US" sz="1000" dirty="0"/>
          </a:p>
        </p:txBody>
      </p:sp>
      <p:sp>
        <p:nvSpPr>
          <p:cNvPr id="30" name="Text 26"/>
          <p:cNvSpPr/>
          <p:nvPr/>
        </p:nvSpPr>
        <p:spPr>
          <a:xfrm>
            <a:off x="4800600" y="1755648"/>
            <a:ext cx="365760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Aider bagages</a:t>
            </a:r>
            <a:endParaRPr lang="en-US" sz="900" dirty="0"/>
          </a:p>
        </p:txBody>
      </p:sp>
      <p:sp>
        <p:nvSpPr>
          <p:cNvPr id="31" name="Text 27"/>
          <p:cNvSpPr/>
          <p:nvPr/>
        </p:nvSpPr>
        <p:spPr>
          <a:xfrm>
            <a:off x="4800600" y="1883664"/>
            <a:ext cx="3657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Hand over your business card</a:t>
            </a:r>
            <a:endParaRPr lang="en-US" sz="1000" dirty="0"/>
          </a:p>
        </p:txBody>
      </p:sp>
      <p:sp>
        <p:nvSpPr>
          <p:cNvPr id="32" name="Text 28"/>
          <p:cNvSpPr/>
          <p:nvPr/>
        </p:nvSpPr>
        <p:spPr>
          <a:xfrm>
            <a:off x="4800600" y="2011680"/>
            <a:ext cx="365760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Carte de visite</a:t>
            </a:r>
            <a:endParaRPr lang="en-US" sz="900" dirty="0"/>
          </a:p>
        </p:txBody>
      </p:sp>
      <p:sp>
        <p:nvSpPr>
          <p:cNvPr id="33" name="Text 29"/>
          <p:cNvSpPr/>
          <p:nvPr/>
        </p:nvSpPr>
        <p:spPr>
          <a:xfrm>
            <a:off x="4800600" y="2139696"/>
            <a:ext cx="3657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"Have you got everything?"</a:t>
            </a:r>
            <a:endParaRPr lang="en-US" sz="1000" dirty="0"/>
          </a:p>
        </p:txBody>
      </p:sp>
      <p:sp>
        <p:nvSpPr>
          <p:cNvPr id="34" name="Text 30"/>
          <p:cNvSpPr/>
          <p:nvPr/>
        </p:nvSpPr>
        <p:spPr>
          <a:xfrm>
            <a:off x="4800600" y="2267712"/>
            <a:ext cx="365760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Vérifier oublis</a:t>
            </a:r>
            <a:endParaRPr lang="en-US" sz="900" dirty="0"/>
          </a:p>
        </p:txBody>
      </p:sp>
      <p:sp>
        <p:nvSpPr>
          <p:cNvPr id="35" name="Text 31"/>
          <p:cNvSpPr/>
          <p:nvPr/>
        </p:nvSpPr>
        <p:spPr>
          <a:xfrm>
            <a:off x="4800600" y="2395728"/>
            <a:ext cx="3657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Offer a receipt if needed</a:t>
            </a:r>
            <a:endParaRPr lang="en-US" sz="1000" dirty="0"/>
          </a:p>
        </p:txBody>
      </p:sp>
      <p:sp>
        <p:nvSpPr>
          <p:cNvPr id="36" name="Text 32"/>
          <p:cNvSpPr/>
          <p:nvPr/>
        </p:nvSpPr>
        <p:spPr>
          <a:xfrm>
            <a:off x="4800600" y="2523744"/>
            <a:ext cx="365760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Proposer reçu</a:t>
            </a:r>
            <a:endParaRPr lang="en-US" sz="900" dirty="0"/>
          </a:p>
        </p:txBody>
      </p:sp>
      <p:sp>
        <p:nvSpPr>
          <p:cNvPr id="37" name="Text 33"/>
          <p:cNvSpPr/>
          <p:nvPr/>
        </p:nvSpPr>
        <p:spPr>
          <a:xfrm>
            <a:off x="4800600" y="2651760"/>
            <a:ext cx="3657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Ask for a review</a:t>
            </a:r>
            <a:endParaRPr lang="en-US" sz="1000" dirty="0"/>
          </a:p>
        </p:txBody>
      </p:sp>
      <p:sp>
        <p:nvSpPr>
          <p:cNvPr id="38" name="Text 34"/>
          <p:cNvSpPr/>
          <p:nvPr/>
        </p:nvSpPr>
        <p:spPr>
          <a:xfrm>
            <a:off x="4800600" y="2779776"/>
            <a:ext cx="365760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Demander avis</a:t>
            </a:r>
            <a:endParaRPr lang="en-US" sz="900" dirty="0"/>
          </a:p>
        </p:txBody>
      </p:sp>
      <p:sp>
        <p:nvSpPr>
          <p:cNvPr id="39" name="Text 35"/>
          <p:cNvSpPr/>
          <p:nvPr/>
        </p:nvSpPr>
        <p:spPr>
          <a:xfrm>
            <a:off x="4800600" y="2907792"/>
            <a:ext cx="3657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Here's my card.</a:t>
            </a:r>
            <a:endParaRPr lang="en-US" sz="1000" dirty="0"/>
          </a:p>
        </p:txBody>
      </p:sp>
      <p:sp>
        <p:nvSpPr>
          <p:cNvPr id="40" name="Text 36"/>
          <p:cNvSpPr/>
          <p:nvPr/>
        </p:nvSpPr>
        <p:spPr>
          <a:xfrm>
            <a:off x="4800600" y="3035808"/>
            <a:ext cx="365760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Voici ma carte.</a:t>
            </a:r>
            <a:endParaRPr lang="en-US" sz="900" dirty="0"/>
          </a:p>
        </p:txBody>
      </p:sp>
      <p:sp>
        <p:nvSpPr>
          <p:cNvPr id="41" name="Text 37"/>
          <p:cNvSpPr/>
          <p:nvPr/>
        </p:nvSpPr>
        <p:spPr>
          <a:xfrm>
            <a:off x="4800600" y="3163824"/>
            <a:ext cx="3657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10% discount for returning clients.</a:t>
            </a:r>
            <a:endParaRPr lang="en-US" sz="1000" dirty="0"/>
          </a:p>
        </p:txBody>
      </p:sp>
      <p:sp>
        <p:nvSpPr>
          <p:cNvPr id="42" name="Text 38"/>
          <p:cNvSpPr/>
          <p:nvPr/>
        </p:nvSpPr>
        <p:spPr>
          <a:xfrm>
            <a:off x="4800600" y="3291840"/>
            <a:ext cx="365760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10% fidélité.</a:t>
            </a:r>
            <a:endParaRPr lang="en-US" sz="900" dirty="0"/>
          </a:p>
        </p:txBody>
      </p:sp>
      <p:sp>
        <p:nvSpPr>
          <p:cNvPr id="43" name="Shape 39"/>
          <p:cNvSpPr/>
          <p:nvPr/>
        </p:nvSpPr>
        <p:spPr>
          <a:xfrm>
            <a:off x="457200" y="3611880"/>
            <a:ext cx="8229600" cy="32004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4" name="Text 40"/>
          <p:cNvSpPr/>
          <p:nvPr/>
        </p:nvSpPr>
        <p:spPr>
          <a:xfrm>
            <a:off x="548640" y="36118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The end of the ride is the beginning of the next booking!</a:t>
            </a:r>
            <a:endParaRPr lang="en-US" sz="950" dirty="0"/>
          </a:p>
        </p:txBody>
      </p:sp>
      <p:sp>
        <p:nvSpPr>
          <p:cNvPr id="45" name="Shape 41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6" name="Text 42"/>
          <p:cNvSpPr/>
          <p:nvPr/>
        </p:nvSpPr>
        <p:spPr>
          <a:xfrm>
            <a:off x="457200" y="48234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FTRANSPORT - SERVICES PRO  •  English  •  Qualiopi</a:t>
            </a:r>
            <a:endParaRPr lang="en-US" sz="800" dirty="0"/>
          </a:p>
        </p:txBody>
      </p:sp>
      <p:sp>
        <p:nvSpPr>
          <p:cNvPr id="47" name="Text 43"/>
          <p:cNvSpPr/>
          <p:nvPr/>
        </p:nvSpPr>
        <p:spPr>
          <a:xfrm>
            <a:off x="8229600" y="48234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8 — QUESTION WORDS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20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 questionneurs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47548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54864" cy="475488"/>
          </a:xfrm>
          <a:prstGeom prst="rect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640080" y="1124712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6C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Which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737360" y="1124712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 (chose)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00400" y="1124712"/>
            <a:ext cx="5303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Antécédent non humain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1353312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car which is pink is mine.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754880" y="1353312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voiture qui est rose est la mienne.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" y="1664208"/>
            <a:ext cx="8229600" cy="47548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457200" y="1664208"/>
            <a:ext cx="54864" cy="47548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640080" y="1691640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737360" y="1691640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Où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200400" y="1691640"/>
            <a:ext cx="5303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Antécédent = lieu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" y="1920240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city where I live is beautiful.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754880" y="1920240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ville où je vis est belle.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" y="2231136"/>
            <a:ext cx="8229600" cy="47548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457200" y="2231136"/>
            <a:ext cx="54864" cy="475488"/>
          </a:xfrm>
          <a:prstGeom prst="rect">
            <a:avLst/>
          </a:prstGeom>
          <a:solidFill>
            <a:srgbClr val="27674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640080" y="2258568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767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737360" y="2258568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200400" y="2258568"/>
            <a:ext cx="5303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Antécédent = date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0080" y="2487168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was born the day when Diana died.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754880" y="2487168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Elle est née le jour quand Diana est décédée.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57200" y="2798064"/>
            <a:ext cx="8229600" cy="47548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7" name="Shape 25"/>
          <p:cNvSpPr/>
          <p:nvPr/>
        </p:nvSpPr>
        <p:spPr>
          <a:xfrm>
            <a:off x="457200" y="2798064"/>
            <a:ext cx="54864" cy="475488"/>
          </a:xfrm>
          <a:prstGeom prst="rect">
            <a:avLst/>
          </a:prstGeom>
          <a:solidFill>
            <a:srgbClr val="C0562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640080" y="2825496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56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737360" y="2825496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 (personne)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200400" y="2825496"/>
            <a:ext cx="5303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Antécédent = humain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40080" y="3054096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woman who drives is my neighbour.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754880" y="3054096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femme qui conduit est ma voisine.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57200" y="3364992"/>
            <a:ext cx="8229600" cy="47548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4" name="Shape 32"/>
          <p:cNvSpPr/>
          <p:nvPr/>
        </p:nvSpPr>
        <p:spPr>
          <a:xfrm>
            <a:off x="457200" y="3364992"/>
            <a:ext cx="54864" cy="475488"/>
          </a:xfrm>
          <a:prstGeom prst="rect">
            <a:avLst/>
          </a:prstGeom>
          <a:solidFill>
            <a:srgbClr val="C5303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5" name="Text 33"/>
          <p:cNvSpPr/>
          <p:nvPr/>
        </p:nvSpPr>
        <p:spPr>
          <a:xfrm>
            <a:off x="640080" y="3392424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53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737360" y="3392424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Que, quoi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200400" y="3392424"/>
            <a:ext cx="5303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ouverte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40080" y="3621024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you want?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754880" y="3621024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veux-tu ?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57200" y="3931920"/>
            <a:ext cx="8229600" cy="47548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1" name="Shape 39"/>
          <p:cNvSpPr/>
          <p:nvPr/>
        </p:nvSpPr>
        <p:spPr>
          <a:xfrm>
            <a:off x="457200" y="3931920"/>
            <a:ext cx="54864" cy="475488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2" name="Text 40"/>
          <p:cNvSpPr/>
          <p:nvPr/>
        </p:nvSpPr>
        <p:spPr>
          <a:xfrm>
            <a:off x="640080" y="3959352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long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1737360" y="3959352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Combien de temps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3200400" y="3959352"/>
            <a:ext cx="5303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Durée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40080" y="4187952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long are you staying in France?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4754880" y="4187952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Combien de temps restez-vous ?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8" name="Text 46"/>
          <p:cNvSpPr/>
          <p:nvPr/>
        </p:nvSpPr>
        <p:spPr>
          <a:xfrm>
            <a:off x="457200" y="48234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FTRANSPORT - SERVICES PRO  •  English  •  Qualiopi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8229600" y="48234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— SYNTHÈSE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640080"/>
            <a:ext cx="402336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3794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 : Gare &amp; Aéroport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66928" y="1005840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mots gare + 30 mots aéroport.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754880" y="640080"/>
            <a:ext cx="402336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4864608" y="713232"/>
            <a:ext cx="3794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 : Véhicule &amp; Transport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64608" y="1005840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mots véhicule + 13 divers + mots utiles.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1691640"/>
            <a:ext cx="402336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566928" y="1764792"/>
            <a:ext cx="3794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Grammaire : Temps &amp; Modaux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66928" y="2057400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Preterit, Present Perfect, Futur, 7 modaux.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754880" y="1691640"/>
            <a:ext cx="402336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4864608" y="1764792"/>
            <a:ext cx="3794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Grammaire : Outils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64608" y="2057400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Comparatifs, quantifieurs, pluriel, heure.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2743200"/>
            <a:ext cx="402336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566928" y="2816352"/>
            <a:ext cx="3794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Accueil &amp; Directions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66928" y="3108960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formules d'accueil + 9 directions.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54880" y="2743200"/>
            <a:ext cx="402336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4864608" y="2816352"/>
            <a:ext cx="3794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Durant la course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64608" y="3108960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phrases confort et conversation.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7200" y="3794760"/>
            <a:ext cx="402336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566928" y="3867912"/>
            <a:ext cx="3794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Lyon &amp; Goodbye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66928" y="4160520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phrases Lyon + 7 congé + 8 actions.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754880" y="3794760"/>
            <a:ext cx="402336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4864608" y="3867912"/>
            <a:ext cx="3794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Questionneurs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64608" y="4160520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Which, Where, When, Who, What, How long.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457200" y="48234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FTRANSPORT - SERVICES PRO  •  English  •  Qualiopi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8229600" y="48234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kern="0" spc="3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N D   O F   M O D U L 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18288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English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31520" y="2743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 · Understand · Comfort · Talk · Goodbye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3291840"/>
            <a:ext cx="6400800" cy="27432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731520" y="3474720"/>
            <a:ext cx="73152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Welcoming clients in English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3703320"/>
            <a:ext cx="73152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Understanding simple requests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3931920"/>
            <a:ext cx="73152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Asking about client comfort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4160520"/>
            <a:ext cx="73152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Holding a polite conversation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4389120"/>
            <a:ext cx="73152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Saying goodbye and loyalty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4617720"/>
            <a:ext cx="73152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Talking about Lyon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470916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FTRANSPORT - SERVICES PRO  •  Qualiopi  •  CPF  •  Lyon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3031</Words>
  <Application>Microsoft Office PowerPoint</Application>
  <PresentationFormat>Affichage à l'écran (16:9)</PresentationFormat>
  <Paragraphs>684</Paragraphs>
  <Slides>17</Slides>
  <Notes>17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17</vt:i4>
      </vt:variant>
    </vt:vector>
  </HeadingPairs>
  <TitlesOfParts>
    <vt:vector size="21" baseType="lpstr">
      <vt:lpstr>Arial</vt:lpstr>
      <vt:lpstr>Calibri</vt:lpstr>
      <vt:lpstr>Georgia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Anglais VTC</dc:title>
  <dc:subject>PptxGenJS Presentation</dc:subject>
  <dc:creator>FTRANSPORT - SERVICES PRO</dc:creator>
  <cp:lastModifiedBy>naoufal guenichi</cp:lastModifiedBy>
  <cp:revision>1</cp:revision>
  <dcterms:created xsi:type="dcterms:W3CDTF">2026-02-26T22:20:44Z</dcterms:created>
  <dcterms:modified xsi:type="dcterms:W3CDTF">2026-02-26T22:44:13Z</dcterms:modified>
</cp:coreProperties>
</file>