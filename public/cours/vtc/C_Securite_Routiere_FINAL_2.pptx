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8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oufal guenichi" userId="858fd4b3-0f44-4d07-ab42-9c2b2bf873b3" providerId="ADAL" clId="{5ADB1776-59AF-4A69-8422-CB66C8AF09C6}"/>
    <pc:docChg chg="undo custSel addSld delSld">
      <pc:chgData name="naoufal guenichi" userId="858fd4b3-0f44-4d07-ab42-9c2b2bf873b3" providerId="ADAL" clId="{5ADB1776-59AF-4A69-8422-CB66C8AF09C6}" dt="2026-02-26T21:40:04.223" v="22" actId="47"/>
      <pc:docMkLst>
        <pc:docMk/>
      </pc:docMkLst>
      <pc:sldChg chg="del">
        <pc:chgData name="naoufal guenichi" userId="858fd4b3-0f44-4d07-ab42-9c2b2bf873b3" providerId="ADAL" clId="{5ADB1776-59AF-4A69-8422-CB66C8AF09C6}" dt="2026-02-26T21:39:24.826" v="0" actId="47"/>
        <pc:sldMkLst>
          <pc:docMk/>
          <pc:sldMk cId="0" sldId="256"/>
        </pc:sldMkLst>
      </pc:sldChg>
      <pc:sldChg chg="del">
        <pc:chgData name="naoufal guenichi" userId="858fd4b3-0f44-4d07-ab42-9c2b2bf873b3" providerId="ADAL" clId="{5ADB1776-59AF-4A69-8422-CB66C8AF09C6}" dt="2026-02-26T21:40:04.223" v="22" actId="47"/>
        <pc:sldMkLst>
          <pc:docMk/>
          <pc:sldMk cId="0" sldId="257"/>
        </pc:sldMkLst>
      </pc:sldChg>
      <pc:sldChg chg="del">
        <pc:chgData name="naoufal guenichi" userId="858fd4b3-0f44-4d07-ab42-9c2b2bf873b3" providerId="ADAL" clId="{5ADB1776-59AF-4A69-8422-CB66C8AF09C6}" dt="2026-02-26T21:39:24.826" v="0" actId="47"/>
        <pc:sldMkLst>
          <pc:docMk/>
          <pc:sldMk cId="0" sldId="258"/>
        </pc:sldMkLst>
      </pc:sldChg>
      <pc:sldChg chg="del">
        <pc:chgData name="naoufal guenichi" userId="858fd4b3-0f44-4d07-ab42-9c2b2bf873b3" providerId="ADAL" clId="{5ADB1776-59AF-4A69-8422-CB66C8AF09C6}" dt="2026-02-26T21:39:28.120" v="1" actId="47"/>
        <pc:sldMkLst>
          <pc:docMk/>
          <pc:sldMk cId="0" sldId="259"/>
        </pc:sldMkLst>
      </pc:sldChg>
      <pc:sldChg chg="del">
        <pc:chgData name="naoufal guenichi" userId="858fd4b3-0f44-4d07-ab42-9c2b2bf873b3" providerId="ADAL" clId="{5ADB1776-59AF-4A69-8422-CB66C8AF09C6}" dt="2026-02-26T21:39:28.558" v="2" actId="47"/>
        <pc:sldMkLst>
          <pc:docMk/>
          <pc:sldMk cId="0" sldId="260"/>
        </pc:sldMkLst>
      </pc:sldChg>
      <pc:sldChg chg="del">
        <pc:chgData name="naoufal guenichi" userId="858fd4b3-0f44-4d07-ab42-9c2b2bf873b3" providerId="ADAL" clId="{5ADB1776-59AF-4A69-8422-CB66C8AF09C6}" dt="2026-02-26T21:39:28.958" v="3" actId="47"/>
        <pc:sldMkLst>
          <pc:docMk/>
          <pc:sldMk cId="0" sldId="261"/>
        </pc:sldMkLst>
      </pc:sldChg>
      <pc:sldChg chg="del">
        <pc:chgData name="naoufal guenichi" userId="858fd4b3-0f44-4d07-ab42-9c2b2bf873b3" providerId="ADAL" clId="{5ADB1776-59AF-4A69-8422-CB66C8AF09C6}" dt="2026-02-26T21:39:29.291" v="4" actId="47"/>
        <pc:sldMkLst>
          <pc:docMk/>
          <pc:sldMk cId="0" sldId="262"/>
        </pc:sldMkLst>
      </pc:sldChg>
      <pc:sldChg chg="del">
        <pc:chgData name="naoufal guenichi" userId="858fd4b3-0f44-4d07-ab42-9c2b2bf873b3" providerId="ADAL" clId="{5ADB1776-59AF-4A69-8422-CB66C8AF09C6}" dt="2026-02-26T21:39:29.563" v="5" actId="47"/>
        <pc:sldMkLst>
          <pc:docMk/>
          <pc:sldMk cId="0" sldId="263"/>
        </pc:sldMkLst>
      </pc:sldChg>
      <pc:sldChg chg="del">
        <pc:chgData name="naoufal guenichi" userId="858fd4b3-0f44-4d07-ab42-9c2b2bf873b3" providerId="ADAL" clId="{5ADB1776-59AF-4A69-8422-CB66C8AF09C6}" dt="2026-02-26T21:39:29.867" v="6" actId="47"/>
        <pc:sldMkLst>
          <pc:docMk/>
          <pc:sldMk cId="0" sldId="264"/>
        </pc:sldMkLst>
      </pc:sldChg>
      <pc:sldChg chg="del">
        <pc:chgData name="naoufal guenichi" userId="858fd4b3-0f44-4d07-ab42-9c2b2bf873b3" providerId="ADAL" clId="{5ADB1776-59AF-4A69-8422-CB66C8AF09C6}" dt="2026-02-26T21:39:30.113" v="7" actId="47"/>
        <pc:sldMkLst>
          <pc:docMk/>
          <pc:sldMk cId="0" sldId="265"/>
        </pc:sldMkLst>
      </pc:sldChg>
      <pc:sldChg chg="del">
        <pc:chgData name="naoufal guenichi" userId="858fd4b3-0f44-4d07-ab42-9c2b2bf873b3" providerId="ADAL" clId="{5ADB1776-59AF-4A69-8422-CB66C8AF09C6}" dt="2026-02-26T21:39:31.689" v="8" actId="47"/>
        <pc:sldMkLst>
          <pc:docMk/>
          <pc:sldMk cId="0" sldId="266"/>
        </pc:sldMkLst>
      </pc:sldChg>
      <pc:sldChg chg="del">
        <pc:chgData name="naoufal guenichi" userId="858fd4b3-0f44-4d07-ab42-9c2b2bf873b3" providerId="ADAL" clId="{5ADB1776-59AF-4A69-8422-CB66C8AF09C6}" dt="2026-02-26T21:39:40.817" v="9" actId="47"/>
        <pc:sldMkLst>
          <pc:docMk/>
          <pc:sldMk cId="0" sldId="276"/>
        </pc:sldMkLst>
      </pc:sldChg>
      <pc:sldChg chg="del">
        <pc:chgData name="naoufal guenichi" userId="858fd4b3-0f44-4d07-ab42-9c2b2bf873b3" providerId="ADAL" clId="{5ADB1776-59AF-4A69-8422-CB66C8AF09C6}" dt="2026-02-26T21:39:41.859" v="10" actId="47"/>
        <pc:sldMkLst>
          <pc:docMk/>
          <pc:sldMk cId="0" sldId="277"/>
        </pc:sldMkLst>
      </pc:sldChg>
      <pc:sldChg chg="del">
        <pc:chgData name="naoufal guenichi" userId="858fd4b3-0f44-4d07-ab42-9c2b2bf873b3" providerId="ADAL" clId="{5ADB1776-59AF-4A69-8422-CB66C8AF09C6}" dt="2026-02-26T21:39:42.884" v="11" actId="47"/>
        <pc:sldMkLst>
          <pc:docMk/>
          <pc:sldMk cId="0" sldId="278"/>
        </pc:sldMkLst>
      </pc:sldChg>
      <pc:sldChg chg="del">
        <pc:chgData name="naoufal guenichi" userId="858fd4b3-0f44-4d07-ab42-9c2b2bf873b3" providerId="ADAL" clId="{5ADB1776-59AF-4A69-8422-CB66C8AF09C6}" dt="2026-02-26T21:39:44.903" v="12" actId="47"/>
        <pc:sldMkLst>
          <pc:docMk/>
          <pc:sldMk cId="0" sldId="279"/>
        </pc:sldMkLst>
      </pc:sldChg>
      <pc:sldChg chg="del">
        <pc:chgData name="naoufal guenichi" userId="858fd4b3-0f44-4d07-ab42-9c2b2bf873b3" providerId="ADAL" clId="{5ADB1776-59AF-4A69-8422-CB66C8AF09C6}" dt="2026-02-26T21:39:45.486" v="13" actId="47"/>
        <pc:sldMkLst>
          <pc:docMk/>
          <pc:sldMk cId="0" sldId="280"/>
        </pc:sldMkLst>
      </pc:sldChg>
      <pc:sldChg chg="del">
        <pc:chgData name="naoufal guenichi" userId="858fd4b3-0f44-4d07-ab42-9c2b2bf873b3" providerId="ADAL" clId="{5ADB1776-59AF-4A69-8422-CB66C8AF09C6}" dt="2026-02-26T21:39:46.156" v="14" actId="47"/>
        <pc:sldMkLst>
          <pc:docMk/>
          <pc:sldMk cId="0" sldId="281"/>
        </pc:sldMkLst>
      </pc:sldChg>
      <pc:sldChg chg="del">
        <pc:chgData name="naoufal guenichi" userId="858fd4b3-0f44-4d07-ab42-9c2b2bf873b3" providerId="ADAL" clId="{5ADB1776-59AF-4A69-8422-CB66C8AF09C6}" dt="2026-02-26T21:39:46.716" v="15" actId="47"/>
        <pc:sldMkLst>
          <pc:docMk/>
          <pc:sldMk cId="0" sldId="282"/>
        </pc:sldMkLst>
      </pc:sldChg>
      <pc:sldChg chg="del">
        <pc:chgData name="naoufal guenichi" userId="858fd4b3-0f44-4d07-ab42-9c2b2bf873b3" providerId="ADAL" clId="{5ADB1776-59AF-4A69-8422-CB66C8AF09C6}" dt="2026-02-26T21:39:47.179" v="16" actId="47"/>
        <pc:sldMkLst>
          <pc:docMk/>
          <pc:sldMk cId="0" sldId="283"/>
        </pc:sldMkLst>
      </pc:sldChg>
      <pc:sldChg chg="del">
        <pc:chgData name="naoufal guenichi" userId="858fd4b3-0f44-4d07-ab42-9c2b2bf873b3" providerId="ADAL" clId="{5ADB1776-59AF-4A69-8422-CB66C8AF09C6}" dt="2026-02-26T21:39:47.615" v="17" actId="47"/>
        <pc:sldMkLst>
          <pc:docMk/>
          <pc:sldMk cId="0" sldId="284"/>
        </pc:sldMkLst>
      </pc:sldChg>
      <pc:sldChg chg="del">
        <pc:chgData name="naoufal guenichi" userId="858fd4b3-0f44-4d07-ab42-9c2b2bf873b3" providerId="ADAL" clId="{5ADB1776-59AF-4A69-8422-CB66C8AF09C6}" dt="2026-02-26T21:39:48.444" v="18" actId="47"/>
        <pc:sldMkLst>
          <pc:docMk/>
          <pc:sldMk cId="0" sldId="285"/>
        </pc:sldMkLst>
      </pc:sldChg>
      <pc:sldChg chg="del">
        <pc:chgData name="naoufal guenichi" userId="858fd4b3-0f44-4d07-ab42-9c2b2bf873b3" providerId="ADAL" clId="{5ADB1776-59AF-4A69-8422-CB66C8AF09C6}" dt="2026-02-26T21:39:49.700" v="19" actId="47"/>
        <pc:sldMkLst>
          <pc:docMk/>
          <pc:sldMk cId="0" sldId="286"/>
        </pc:sldMkLst>
      </pc:sldChg>
      <pc:sldChg chg="add del">
        <pc:chgData name="naoufal guenichi" userId="858fd4b3-0f44-4d07-ab42-9c2b2bf873b3" providerId="ADAL" clId="{5ADB1776-59AF-4A69-8422-CB66C8AF09C6}" dt="2026-02-26T21:39:54.099" v="21" actId="47"/>
        <pc:sldMkLst>
          <pc:docMk/>
          <pc:sldMk cId="0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947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922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700" dirty="0">
                <a:solidFill>
                  <a:srgbClr val="FFFFFF"/>
                </a:solidFill>
              </a:rPr>
              <a:t>PARTIE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Distances, Priorités &amp; Alcool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Temps de réaction · Distance d'arrêt · Véhicules prioritaires · Alcool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4165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BB2B9"/>
                </a:solidFill>
              </a:rPr>
              <a:t>FTRANSPORT - SERVICES PRO  •  Formation certifiée Qualiopi  •  Éligible CPF  •  Lyon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3657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Sommaire — Partie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22B21"/>
                </a:solidFill>
              </a:rPr>
              <a:t>Distances, Priorités avancées &amp; Alcool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960120"/>
            <a:ext cx="7543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143000" y="9601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Distance de réaction &amp; formule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216152"/>
            <a:ext cx="7132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1 seconde · dizaines × 3 · tableau de calcul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673352"/>
            <a:ext cx="502920" cy="5029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1673352"/>
            <a:ext cx="7543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143000" y="16733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Distance d'arrêt sèche et mouillée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1929384"/>
            <a:ext cx="7132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Dizaines × dizaines · route mouillée ×1,5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386584"/>
            <a:ext cx="502920" cy="5029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2386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05840" y="2386584"/>
            <a:ext cx="7543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143000" y="23865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Distance de freinage &amp; intervalle de sécurité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2642616"/>
            <a:ext cx="7132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Règle 2 secondes · formule ×6 · marquage autoroute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099816"/>
            <a:ext cx="502920" cy="5029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65760" y="3099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5840" y="3099816"/>
            <a:ext cx="7543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143000" y="30998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Siège auto &amp; fixation Isofix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355848"/>
            <a:ext cx="7132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Obligation &lt; 135 cm · exceptions avant · normes ECE R44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813048"/>
            <a:ext cx="502920" cy="5029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3813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05840" y="3813048"/>
            <a:ext cx="7543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143000" y="38130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Règles de dépassement &amp; véhicules prioritaires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" y="4069080"/>
            <a:ext cx="7132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Piétons 1/1,5m · bus · sirène 2 tons · liste · sanctions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526280"/>
            <a:ext cx="502920" cy="5029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6576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05840" y="4526280"/>
            <a:ext cx="7543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1143000" y="4526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Stationnements dangereux, gênants, très gênants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3000" y="4782312"/>
            <a:ext cx="7132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3 catégories · contraventions · immobilisation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5239512"/>
            <a:ext cx="502920" cy="5029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65760" y="5239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05840" y="5239512"/>
            <a:ext cx="7543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1143000" y="52395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Alcool au volant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43000" y="5495544"/>
            <a:ext cx="7132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Taux légaux 0,5 g/l et 0,2 g/l · élimination · dangers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74320" y="482803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503920" y="482803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BB2B9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"/>
            <a:ext cx="2286000" cy="3383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PARTIE 2 — COURS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512064"/>
            <a:ext cx="118872" cy="6858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01168" y="512064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833"/>
                </a:solidFill>
              </a:rPr>
              <a:t>Distances : réaction, arrêt, freinage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5" y="1298448"/>
            <a:ext cx="3032150" cy="1920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129844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663440" y="13898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2B21"/>
                </a:solidFill>
              </a:rPr>
              <a:t>Formules de calcul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6344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22B21"/>
                </a:solidFill>
              </a:rPr>
              <a:t>Distance réaction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720840" y="1783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</a:rPr>
              <a:t>Dizaines × 3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04672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D6D7E"/>
                </a:solidFill>
              </a:rPr>
              <a:t>50 km/h → 15 m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663440" y="21671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22B21"/>
                </a:solidFill>
              </a:rPr>
              <a:t>Distance d'arrêt sèche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720840" y="21671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</a:rPr>
              <a:t>Dizaines × Dizaines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046720" y="21671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D6D7E"/>
                </a:solidFill>
              </a:rPr>
              <a:t>100 km/h → 100 m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663440" y="25511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22B21"/>
                </a:solidFill>
              </a:rPr>
              <a:t>Distance d'arrêt mouillée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720840" y="255117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</a:rPr>
              <a:t>D.sèche × 1,5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046720" y="25511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D6D7E"/>
                </a:solidFill>
              </a:rPr>
              <a:t>100 km/h → 150 m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663440" y="29352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22B21"/>
                </a:solidFill>
              </a:rPr>
              <a:t>Distance de freinage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720840" y="293522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</a:rPr>
              <a:t>D.arrêt − D.réaction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046720" y="293522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D6D7E"/>
                </a:solidFill>
              </a:rPr>
              <a:t>Dépend : charge, adhérence, freins</a:t>
            </a:r>
            <a:endParaRPr lang="en-US" sz="7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96" y="3310128"/>
            <a:ext cx="2122322" cy="134416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/>
          <p:nvPr/>
        </p:nvSpPr>
        <p:spPr>
          <a:xfrm>
            <a:off x="274320" y="482803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8503920" y="482803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BB2B9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"/>
            <a:ext cx="2286000" cy="3383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PARTIE 2 — COURS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512064"/>
            <a:ext cx="118872" cy="6858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01168" y="512064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833"/>
                </a:solidFill>
              </a:rPr>
              <a:t>Distance de sécurité &amp; Intervalle de sécurité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5" y="1298448"/>
            <a:ext cx="3032150" cy="1920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129844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663440" y="13898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2B21"/>
                </a:solidFill>
              </a:rPr>
              <a:t>Distance de sécurité : Dizaines × 6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764792"/>
          <a:ext cx="4114800" cy="1371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Vitesse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Calcul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Distance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30 km/h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3×6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18 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50 km/h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5×6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30 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80 km/h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8×6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48 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110 km/h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11×6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66 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130 km/h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13×6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C2833"/>
                          </a:solidFill>
                        </a:rPr>
                        <a:t>78 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310128"/>
            <a:ext cx="8595360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41148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2B21"/>
                </a:solidFill>
              </a:rPr>
              <a:t>Intervalle de sécurité minimum = 2 secondes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11480" y="37307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50 km/h → 30 m  |  100 km/h → 60 m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11480" y="405993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Autoroute : 2 traits de bande d'arrêt d'urgence = distance minimale.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572000" y="37307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</a:rPr>
              <a:t>Astuce : quand le véhicule devant passe un repère, comptez jusqu'à 2 avant de passer ce même repère.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12"/>
          <p:cNvSpPr/>
          <p:nvPr/>
        </p:nvSpPr>
        <p:spPr>
          <a:xfrm>
            <a:off x="274320" y="482803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8503920" y="482803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BB2B9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"/>
            <a:ext cx="2286000" cy="3383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PARTIE 2 — COURS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512064"/>
            <a:ext cx="118872" cy="6858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01168" y="512064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833"/>
                </a:solidFill>
              </a:rPr>
              <a:t>Siège auto &amp; Fixation Isofix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206240" cy="3355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2B21"/>
                </a:solidFill>
              </a:rPr>
              <a:t>👶 Siège auto — Obligation légale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837944"/>
            <a:ext cx="64008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Depuis 1992 : tout enfant &lt; 135 cm → siège auto ou réhausseur obligatoire.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587752"/>
            <a:ext cx="64008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66928" y="2532888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Enfants &lt; 10 ans : toujours à l'ARRIÈRE du véhicule.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3337560"/>
            <a:ext cx="64008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66928" y="3282696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Exception à l'avant : siège dos à la route (airbag désactivé) · ou absence de siège arrière · ou sièges arrière déjà occupés.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4087368"/>
            <a:ext cx="64008" cy="3840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66928" y="4032504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Normes de sécurité : ECE R44/03 ou ECE R44/04.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5902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</a:rPr>
              <a:t>🔒 ISOFIX : 2 pinces métalliques + 2 crochets — obligatoire depuis 2005.</a:t>
            </a:r>
            <a:endParaRPr lang="en-US" sz="9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44091"/>
            <a:ext cx="4206240" cy="2663647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274320" y="482803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503920" y="482803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BB2B9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"/>
            <a:ext cx="2286000" cy="3383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PARTIE 2 — COURS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512064"/>
            <a:ext cx="118872" cy="6858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01168" y="512064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833"/>
                </a:solidFill>
              </a:rPr>
              <a:t>Règles de dépassement &amp; Véhicules prioritaires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4091"/>
            <a:ext cx="4206240" cy="266364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1298448"/>
            <a:ext cx="4206240" cy="3355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800600" y="1389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2B21"/>
                </a:solidFill>
              </a:rPr>
              <a:t>📏 Marges de dépassement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764792"/>
          <a:ext cx="4114800" cy="10972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Usager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En agglo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Hors agglo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Piéton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1 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1,50 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Deux-roues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1 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1,50 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Bus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Céder passage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Faciliter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800600" y="2944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🚨 Véhicules PRIORITAIRES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800600" y="331012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Sirène 2 tons + feu bleu (simultanés)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→ Ralentir · s'arrêter · faciliter le passage.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800600" y="3968496"/>
            <a:ext cx="640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4956048" y="3913632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</a:rPr>
              <a:t>Police, gendarmerie, douanes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800600" y="4224528"/>
            <a:ext cx="640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4956048" y="4169664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</a:rPr>
              <a:t>Pompiers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800600" y="4480560"/>
            <a:ext cx="640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4956048" y="4425696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</a:rPr>
              <a:t>SAMU / SMUR</a:t>
            </a:r>
            <a:endParaRPr lang="en-US" sz="850" dirty="0"/>
          </a:p>
        </p:txBody>
      </p:sp>
      <p:sp>
        <p:nvSpPr>
          <p:cNvPr id="9" name="Shape 14"/>
          <p:cNvSpPr/>
          <p:nvPr/>
        </p:nvSpPr>
        <p:spPr>
          <a:xfrm>
            <a:off x="4800600" y="4736592"/>
            <a:ext cx="640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4956048" y="4681728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</a:rPr>
              <a:t>Ambulances appelées par le SAMU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800600" y="4992624"/>
            <a:ext cx="64008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4956048" y="4937760"/>
            <a:ext cx="36393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</a:rPr>
              <a:t>Transport de détenus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/>
          <p:nvPr/>
        </p:nvSpPr>
        <p:spPr>
          <a:xfrm>
            <a:off x="274320" y="482803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8503920" y="482803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BB2B9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"/>
            <a:ext cx="2286000" cy="3383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PARTIE 2 — COURS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512064"/>
            <a:ext cx="118872" cy="6858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01168" y="512064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833"/>
                </a:solidFill>
              </a:rPr>
              <a:t>Types de stationnements interdits &amp; Sanction VP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4091"/>
            <a:ext cx="4206240" cy="266364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1298448"/>
            <a:ext cx="4206240" cy="3355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800600" y="14173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800600" y="1417320"/>
            <a:ext cx="41148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892040" y="1417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DANGEREUX — Classe 4, 3 pts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92040" y="1801368"/>
            <a:ext cx="3931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</a:rPr>
              <a:t>Virages · sommets de côte · intersections · passages à niveaux · faible visibilité.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00600" y="25146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4800600" y="2514600"/>
            <a:ext cx="4114800" cy="34747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892040" y="2514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TRÈS GÊNANT — Classe 4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92040" y="2898648"/>
            <a:ext cx="3931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</a:rPr>
              <a:t>Passage piéton · trottoirs · voies vertes/pistes cyclables · voie bus/taxi · empl. PMR · transport de fonds.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800600" y="36118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800600" y="3611880"/>
            <a:ext cx="4114800" cy="3474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892040" y="3611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GÊNANT — Classe 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92040" y="3995928"/>
            <a:ext cx="3931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</a:rPr>
              <a:t>Borne recharge VE · pont · tunnel · entrée immeuble · livraison hors horaires · BAU.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800600" y="4572000"/>
            <a:ext cx="4114800" cy="32004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4846320" y="4572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Non-cession VP : 4 pts + 135€ + suspension jusqu'à 3 ans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274320" y="482803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503920" y="482803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BB2B9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91440"/>
            <a:ext cx="2286000" cy="33832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PARTIE 2 — COURS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512064"/>
            <a:ext cx="118872" cy="6858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01168" y="512064"/>
            <a:ext cx="8732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833"/>
                </a:solidFill>
              </a:rPr>
              <a:t>Alcool au volant — Taux légaux &amp; Élimination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4091"/>
            <a:ext cx="4206240" cy="266364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1298448"/>
            <a:ext cx="4206240" cy="3355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800600" y="1389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2B21"/>
                </a:solidFill>
              </a:rPr>
              <a:t>⚖️ Taux légaux autorisés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764792"/>
          <a:ext cx="4114800" cy="12801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Conducteur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Taux max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Standard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0,5 g/l de sang (0,25 mg/l air expiré)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Permis probatoire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0,2 g/l de sang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Taux délictuel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C2833"/>
                          </a:solidFill>
                        </a:rPr>
                        <a:t>≥ 0,8 g/l de sang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800600" y="3127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2B21"/>
                </a:solidFill>
              </a:rPr>
              <a:t>⏱️ Élimination de l'alcool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800600" y="3493008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Baisse de 0,10 à 0,15 g/l par heure.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Exemple : 6 heures pour éliminer 0,6 g/l.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Café, eau, sport = INEFFICACES.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</a:rPr>
              <a:t>Seule solution : ne pas boire avant de conduire.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274320" y="482803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8503920" y="482803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BB2B9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FFFFFF"/>
                </a:solidFill>
              </a:rPr>
              <a:t>SYNTHÈSE — PARTIE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</a:rPr>
              <a:t>Distances, Priorités &amp; Alcool — Points clés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841248"/>
          </a:xfrm>
          <a:prstGeom prst="rect">
            <a:avLst/>
          </a:prstGeom>
          <a:solidFill>
            <a:srgbClr val="22303C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09728" cy="8412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75488" y="113385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</a:rPr>
              <a:t>Distance de réaction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42646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5D8DC"/>
                </a:solidFill>
              </a:rPr>
              <a:t>Dizaines × 3 — Ex : 80 km/h → 24 m (1 seconde de temps de réaction)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206240" cy="841248"/>
          </a:xfrm>
          <a:prstGeom prst="rect">
            <a:avLst/>
          </a:prstGeom>
          <a:solidFill>
            <a:srgbClr val="22303C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09728" cy="8412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956048" y="113385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</a:rPr>
              <a:t>Distance d'arrêt sèche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56048" y="142646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5D8DC"/>
                </a:solidFill>
              </a:rPr>
              <a:t>Dizaines × Dizaines — 50→25m / 100→100m / 130→169m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057400"/>
            <a:ext cx="4206240" cy="841248"/>
          </a:xfrm>
          <a:prstGeom prst="rect">
            <a:avLst/>
          </a:prstGeom>
          <a:solidFill>
            <a:srgbClr val="22303C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74320" y="2057400"/>
            <a:ext cx="109728" cy="8412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75488" y="209397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</a:rPr>
              <a:t>Route mouillée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238658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5D8DC"/>
                </a:solidFill>
              </a:rPr>
              <a:t>Distance sèche × 1,5 — Ex : 100 km/h → 150 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2057400"/>
            <a:ext cx="4206240" cy="841248"/>
          </a:xfrm>
          <a:prstGeom prst="rect">
            <a:avLst/>
          </a:prstGeom>
          <a:solidFill>
            <a:srgbClr val="22303C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754880" y="2057400"/>
            <a:ext cx="109728" cy="8412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956048" y="209397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</a:rPr>
              <a:t>Intervalle de sécurité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56048" y="238658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5D8DC"/>
                </a:solidFill>
              </a:rPr>
              <a:t>Min. 2 secondes : 50 km/h→30m / 100 km/h→60m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4206240" cy="841248"/>
          </a:xfrm>
          <a:prstGeom prst="rect">
            <a:avLst/>
          </a:prstGeom>
          <a:solidFill>
            <a:srgbClr val="22303C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109728" cy="8412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5488" y="305409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</a:rPr>
              <a:t>Véhicules prioritaires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" y="334670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5D8DC"/>
                </a:solidFill>
              </a:rPr>
              <a:t>Sirène + feu bleu → s'arrêter. Non-respect : 4 pts + 135€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3017520"/>
            <a:ext cx="4206240" cy="841248"/>
          </a:xfrm>
          <a:prstGeom prst="rect">
            <a:avLst/>
          </a:prstGeom>
          <a:solidFill>
            <a:srgbClr val="22303C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109728" cy="84124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956048" y="305409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</a:rPr>
              <a:t>Alcool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56048" y="334670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5D8DC"/>
                </a:solidFill>
              </a:rPr>
              <a:t>0,5 g/l (standard) · 0,2 g/l (probatoire) · élimination 0,10-0,15 g/l/h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74320" y="4828032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503920" y="4828032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BB2B9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900" dirty="0">
                <a:solidFill>
                  <a:srgbClr val="D35400"/>
                </a:solidFill>
              </a:rPr>
              <a:t>FORMATION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Sécurité Routière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35400"/>
                </a:solidFill>
              </a:rPr>
              <a:t>Merci pour votre attention 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7315200" cy="402336"/>
          </a:xfrm>
          <a:prstGeom prst="rect">
            <a:avLst/>
          </a:prstGeom>
          <a:solidFill>
            <a:srgbClr val="22303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9144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04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Partie 1  —  Signalisation, Marquages &amp; Priorités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493008"/>
            <a:ext cx="7315200" cy="402336"/>
          </a:xfrm>
          <a:prstGeom prst="rect">
            <a:avLst/>
          </a:prstGeom>
          <a:solidFill>
            <a:srgbClr val="22303C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48640" y="3493008"/>
            <a:ext cx="91440" cy="402336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31520" y="3493008"/>
            <a:ext cx="704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Partie 2  —  Distances, Priorités avancées &amp; Alcool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7315200" cy="402336"/>
          </a:xfrm>
          <a:prstGeom prst="rect">
            <a:avLst/>
          </a:prstGeom>
          <a:solidFill>
            <a:srgbClr val="22303C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91440" cy="402336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31520" y="3968496"/>
            <a:ext cx="704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Partie 3  —  Sanctions, Éco-conduite, CT, Accident &amp; Permis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BB2B9"/>
                </a:solidFill>
              </a:rPr>
              <a:t>FTRANSPORT - SERVICES PRO  •  Déclaration n° 84 69 15114 69  •  Lyon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996</Words>
  <Application>Microsoft Office PowerPoint</Application>
  <PresentationFormat>Affichage à l'écran (16:9)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Sécurité Routière — Formation complète</dc:title>
  <dc:subject>PptxGenJS Presentation</dc:subject>
  <dc:creator>PptxGenJS</dc:creator>
  <cp:lastModifiedBy>naoufal guenichi</cp:lastModifiedBy>
  <cp:revision>1</cp:revision>
  <dcterms:created xsi:type="dcterms:W3CDTF">2026-02-24T16:38:49Z</dcterms:created>
  <dcterms:modified xsi:type="dcterms:W3CDTF">2026-02-26T21:40:06Z</dcterms:modified>
</cp:coreProperties>
</file>