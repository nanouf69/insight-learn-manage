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76" r:id="rId2"/>
    <p:sldId id="277" r:id="rId3"/>
    <p:sldId id="288" r:id="rId4"/>
    <p:sldId id="289" r:id="rId5"/>
    <p:sldId id="278" r:id="rId6"/>
    <p:sldId id="279" r:id="rId7"/>
    <p:sldId id="280" r:id="rId8"/>
    <p:sldId id="281" r:id="rId9"/>
    <p:sldId id="282" r:id="rId10"/>
    <p:sldId id="283" r:id="rId11"/>
    <p:sldId id="284" r:id="rId12"/>
    <p:sldId id="285" r:id="rId13"/>
    <p:sldId id="286" r:id="rId14"/>
    <p:sldId id="287"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1947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1">
    <p:bg>
      <p:bgPr>
        <a:solidFill>
          <a:srgbClr val="D35400"/>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FFFFFF"/>
          </a:solidFill>
          <a:ln w="12700">
            <a:solidFill>
              <a:srgbClr val="FFFFFF"/>
            </a:solidFill>
            <a:prstDash val="solid"/>
          </a:ln>
        </p:spPr>
        <p:txBody>
          <a:bodyPr/>
          <a:lstStyle/>
          <a:p>
            <a:endParaRPr lang="fr-FR"/>
          </a:p>
        </p:txBody>
      </p:sp>
      <p:sp>
        <p:nvSpPr>
          <p:cNvPr id="3" name="Shape 1"/>
          <p:cNvSpPr/>
          <p:nvPr/>
        </p:nvSpPr>
        <p:spPr>
          <a:xfrm>
            <a:off x="0" y="4389120"/>
            <a:ext cx="9144000" cy="754380"/>
          </a:xfrm>
          <a:prstGeom prst="rect">
            <a:avLst/>
          </a:prstGeom>
          <a:solidFill>
            <a:srgbClr val="1C2833"/>
          </a:solidFill>
          <a:ln w="12700">
            <a:solidFill>
              <a:srgbClr val="1C2833"/>
            </a:solidFill>
            <a:prstDash val="solid"/>
          </a:ln>
        </p:spPr>
        <p:txBody>
          <a:bodyPr/>
          <a:lstStyle/>
          <a:p>
            <a:endParaRPr lang="fr-FR"/>
          </a:p>
        </p:txBody>
      </p:sp>
      <p:sp>
        <p:nvSpPr>
          <p:cNvPr id="4" name="Text 2"/>
          <p:cNvSpPr/>
          <p:nvPr/>
        </p:nvSpPr>
        <p:spPr>
          <a:xfrm>
            <a:off x="731520" y="1188720"/>
            <a:ext cx="8229600" cy="502920"/>
          </a:xfrm>
          <a:prstGeom prst="rect">
            <a:avLst/>
          </a:prstGeom>
          <a:noFill/>
          <a:ln/>
        </p:spPr>
        <p:txBody>
          <a:bodyPr wrap="square" rtlCol="0" anchor="ctr"/>
          <a:lstStyle/>
          <a:p>
            <a:pPr marL="0" indent="0">
              <a:buNone/>
            </a:pPr>
            <a:r>
              <a:rPr lang="en-US" sz="1500" b="1" kern="0" spc="700" dirty="0">
                <a:solidFill>
                  <a:srgbClr val="FFFFFF"/>
                </a:solidFill>
              </a:rPr>
              <a:t>PARTIE 3</a:t>
            </a:r>
            <a:endParaRPr lang="en-US" sz="1500" dirty="0"/>
          </a:p>
        </p:txBody>
      </p:sp>
      <p:sp>
        <p:nvSpPr>
          <p:cNvPr id="5" name="Text 3"/>
          <p:cNvSpPr/>
          <p:nvPr/>
        </p:nvSpPr>
        <p:spPr>
          <a:xfrm>
            <a:off x="731520" y="1691640"/>
            <a:ext cx="8229600" cy="1005840"/>
          </a:xfrm>
          <a:prstGeom prst="rect">
            <a:avLst/>
          </a:prstGeom>
          <a:noFill/>
          <a:ln/>
        </p:spPr>
        <p:txBody>
          <a:bodyPr wrap="square" rtlCol="0" anchor="ctr"/>
          <a:lstStyle/>
          <a:p>
            <a:pPr marL="0" indent="0">
              <a:buNone/>
            </a:pPr>
            <a:r>
              <a:rPr lang="en-US" sz="3800" b="1" dirty="0">
                <a:solidFill>
                  <a:srgbClr val="FFFFFF"/>
                </a:solidFill>
              </a:rPr>
              <a:t>Sanctions, Éco-conduite &amp; Accidents</a:t>
            </a:r>
            <a:endParaRPr lang="en-US" sz="3800" dirty="0"/>
          </a:p>
        </p:txBody>
      </p:sp>
      <p:sp>
        <p:nvSpPr>
          <p:cNvPr id="6" name="Text 4"/>
          <p:cNvSpPr/>
          <p:nvPr/>
        </p:nvSpPr>
        <p:spPr>
          <a:xfrm>
            <a:off x="731520" y="2743200"/>
            <a:ext cx="7772400" cy="502920"/>
          </a:xfrm>
          <a:prstGeom prst="rect">
            <a:avLst/>
          </a:prstGeom>
          <a:noFill/>
          <a:ln/>
        </p:spPr>
        <p:txBody>
          <a:bodyPr wrap="square" rtlCol="0" anchor="ctr"/>
          <a:lstStyle/>
          <a:p>
            <a:pPr marL="0" indent="0">
              <a:buNone/>
            </a:pPr>
            <a:r>
              <a:rPr lang="en-US" sz="1300" i="1" dirty="0">
                <a:solidFill>
                  <a:srgbClr val="FFFFFF"/>
                </a:solidFill>
              </a:rPr>
              <a:t>Sanctions · Limitations · CT · PAS · Constat · Permis à points</a:t>
            </a:r>
            <a:endParaRPr lang="en-US" sz="1300" dirty="0"/>
          </a:p>
        </p:txBody>
      </p:sp>
      <p:sp>
        <p:nvSpPr>
          <p:cNvPr id="7" name="Text 5"/>
          <p:cNvSpPr/>
          <p:nvPr/>
        </p:nvSpPr>
        <p:spPr>
          <a:xfrm>
            <a:off x="731520" y="4416552"/>
            <a:ext cx="8229600" cy="347472"/>
          </a:xfrm>
          <a:prstGeom prst="rect">
            <a:avLst/>
          </a:prstGeom>
          <a:noFill/>
          <a:ln/>
        </p:spPr>
        <p:txBody>
          <a:bodyPr wrap="square" rtlCol="0" anchor="ctr"/>
          <a:lstStyle/>
          <a:p>
            <a:pPr marL="0" indent="0">
              <a:buNone/>
            </a:pPr>
            <a:r>
              <a:rPr lang="en-US" sz="750" dirty="0">
                <a:solidFill>
                  <a:srgbClr val="ABB2B9"/>
                </a:solidFill>
              </a:rPr>
              <a:t>FTRANSPORT - SERVICES PRO  •  Formation certifiée Qualiopi  •  Éligible CPF  •  Lyon</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2">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77824"/>
          </a:xfrm>
          <a:prstGeom prst="rect">
            <a:avLst/>
          </a:prstGeom>
          <a:solidFill>
            <a:srgbClr val="1A3A5C"/>
          </a:solidFill>
          <a:ln/>
        </p:spPr>
        <p:txBody>
          <a:bodyPr/>
          <a:lstStyle/>
          <a:p>
            <a:endParaRPr lang="fr-FR"/>
          </a:p>
        </p:txBody>
      </p:sp>
      <p:sp>
        <p:nvSpPr>
          <p:cNvPr id="3" name="Text 1"/>
          <p:cNvSpPr/>
          <p:nvPr/>
        </p:nvSpPr>
        <p:spPr>
          <a:xfrm>
            <a:off x="365760" y="36576"/>
            <a:ext cx="6400800" cy="457200"/>
          </a:xfrm>
          <a:prstGeom prst="rect">
            <a:avLst/>
          </a:prstGeom>
          <a:noFill/>
          <a:ln/>
        </p:spPr>
        <p:txBody>
          <a:bodyPr wrap="square" lIns="0" tIns="0" rIns="0" bIns="0" rtlCol="0" anchor="b"/>
          <a:lstStyle/>
          <a:p>
            <a:pPr marL="0" indent="0">
              <a:buNone/>
            </a:pPr>
            <a:r>
              <a:rPr lang="en-US" sz="1800" b="1" dirty="0">
                <a:solidFill>
                  <a:srgbClr val="FFFFFF"/>
                </a:solidFill>
                <a:latin typeface="Calibri" pitchFamily="34" charset="0"/>
                <a:ea typeface="Calibri" pitchFamily="34" charset="-122"/>
                <a:cs typeface="Calibri" pitchFamily="34" charset="-120"/>
              </a:rPr>
              <a:t>Sommaire — Partie 3</a:t>
            </a:r>
            <a:endParaRPr lang="en-US" sz="1800" dirty="0"/>
          </a:p>
        </p:txBody>
      </p:sp>
      <p:sp>
        <p:nvSpPr>
          <p:cNvPr id="4" name="Text 2"/>
          <p:cNvSpPr/>
          <p:nvPr/>
        </p:nvSpPr>
        <p:spPr>
          <a:xfrm>
            <a:off x="365760" y="475488"/>
            <a:ext cx="6400800" cy="329184"/>
          </a:xfrm>
          <a:prstGeom prst="rect">
            <a:avLst/>
          </a:prstGeom>
          <a:noFill/>
          <a:ln/>
        </p:spPr>
        <p:txBody>
          <a:bodyPr wrap="square" lIns="0" tIns="0" rIns="0" bIns="0" rtlCol="0" anchor="t"/>
          <a:lstStyle/>
          <a:p>
            <a:pPr marL="0" indent="0">
              <a:buNone/>
            </a:pPr>
            <a:r>
              <a:rPr lang="en-US" sz="1100" dirty="0">
                <a:solidFill>
                  <a:srgbClr val="D35400"/>
                </a:solidFill>
                <a:latin typeface="Calibri" pitchFamily="34" charset="0"/>
                <a:ea typeface="Calibri" pitchFamily="34" charset="-122"/>
                <a:cs typeface="Calibri" pitchFamily="34" charset="-120"/>
              </a:rPr>
              <a:t>Médicaments, passagers, sanctions, éco-conduite, CT &amp; permis</a:t>
            </a:r>
            <a:endParaRPr lang="en-US" sz="1100" dirty="0"/>
          </a:p>
        </p:txBody>
      </p:sp>
      <p:sp>
        <p:nvSpPr>
          <p:cNvPr id="5" name="Text 3"/>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6" name="Text 4"/>
          <p:cNvSpPr/>
          <p:nvPr/>
        </p:nvSpPr>
        <p:spPr>
          <a:xfrm>
            <a:off x="8503920" y="4828032"/>
            <a:ext cx="457200" cy="301752"/>
          </a:xfrm>
          <a:prstGeom prst="rect">
            <a:avLst/>
          </a:prstGeom>
          <a:noFill/>
          <a:ln/>
        </p:spPr>
        <p:txBody>
          <a:bodyPr wrap="square" lIns="0" tIns="0" rIns="0" bIns="0" rtlCol="0" anchor="ctr"/>
          <a:lstStyle/>
          <a:p>
            <a:pPr marL="0" indent="0" algn="ctr">
              <a:buNone/>
            </a:pPr>
            <a:r>
              <a:rPr lang="en-US" sz="800" dirty="0">
                <a:solidFill>
                  <a:srgbClr val="ABB2B9"/>
                </a:solidFill>
                <a:latin typeface="Calibri" pitchFamily="34" charset="0"/>
                <a:ea typeface="Calibri" pitchFamily="34" charset="-122"/>
                <a:cs typeface="Calibri" pitchFamily="34" charset="-120"/>
              </a:rPr>
              <a:t>22</a:t>
            </a:r>
            <a:endParaRPr lang="en-US" sz="800" dirty="0"/>
          </a:p>
        </p:txBody>
      </p:sp>
      <p:sp>
        <p:nvSpPr>
          <p:cNvPr id="7" name="Shape 5"/>
          <p:cNvSpPr/>
          <p:nvPr/>
        </p:nvSpPr>
        <p:spPr>
          <a:xfrm>
            <a:off x="0" y="4754880"/>
            <a:ext cx="9144000" cy="393192"/>
          </a:xfrm>
          <a:prstGeom prst="rect">
            <a:avLst/>
          </a:prstGeom>
          <a:solidFill>
            <a:srgbClr val="1A3A5C"/>
          </a:solidFill>
          <a:ln/>
        </p:spPr>
        <p:txBody>
          <a:bodyPr/>
          <a:lstStyle/>
          <a:p>
            <a:endParaRPr lang="fr-FR"/>
          </a:p>
        </p:txBody>
      </p:sp>
      <p:sp>
        <p:nvSpPr>
          <p:cNvPr id="8" name="Shape 6"/>
          <p:cNvSpPr/>
          <p:nvPr/>
        </p:nvSpPr>
        <p:spPr>
          <a:xfrm>
            <a:off x="365760" y="932688"/>
            <a:ext cx="384048" cy="365760"/>
          </a:xfrm>
          <a:prstGeom prst="rect">
            <a:avLst/>
          </a:prstGeom>
          <a:solidFill>
            <a:srgbClr val="C0392B"/>
          </a:solidFill>
          <a:ln/>
        </p:spPr>
        <p:txBody>
          <a:bodyPr/>
          <a:lstStyle/>
          <a:p>
            <a:endParaRPr lang="fr-FR"/>
          </a:p>
        </p:txBody>
      </p:sp>
      <p:sp>
        <p:nvSpPr>
          <p:cNvPr id="9" name="Text 7"/>
          <p:cNvSpPr/>
          <p:nvPr/>
        </p:nvSpPr>
        <p:spPr>
          <a:xfrm>
            <a:off x="365760" y="932688"/>
            <a:ext cx="384048"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960120" y="923544"/>
            <a:ext cx="4572000" cy="201168"/>
          </a:xfrm>
          <a:prstGeom prst="rect">
            <a:avLst/>
          </a:prstGeom>
          <a:noFill/>
          <a:ln/>
        </p:spPr>
        <p:txBody>
          <a:bodyPr wrap="square" lIns="0" tIns="0" rIns="0" bIns="0" rtlCol="0" anchor="ctr"/>
          <a:lstStyle/>
          <a:p>
            <a:pPr marL="0" indent="0">
              <a:buNone/>
            </a:pPr>
            <a:r>
              <a:rPr lang="en-US" sz="1050" b="1" dirty="0">
                <a:solidFill>
                  <a:srgbClr val="1C2833"/>
                </a:solidFill>
                <a:latin typeface="Calibri" pitchFamily="34" charset="0"/>
                <a:ea typeface="Calibri" pitchFamily="34" charset="-122"/>
                <a:cs typeface="Calibri" pitchFamily="34" charset="-120"/>
              </a:rPr>
              <a:t>Médicaments, stress &amp; fatigue</a:t>
            </a:r>
            <a:endParaRPr lang="en-US" sz="1050" dirty="0"/>
          </a:p>
        </p:txBody>
      </p:sp>
      <p:sp>
        <p:nvSpPr>
          <p:cNvPr id="11" name="Text 9"/>
          <p:cNvSpPr/>
          <p:nvPr/>
        </p:nvSpPr>
        <p:spPr>
          <a:xfrm>
            <a:off x="960120" y="1106424"/>
            <a:ext cx="7772400" cy="182880"/>
          </a:xfrm>
          <a:prstGeom prst="rect">
            <a:avLst/>
          </a:prstGeom>
          <a:noFill/>
          <a:ln/>
        </p:spPr>
        <p:txBody>
          <a:bodyPr wrap="square" lIns="0" tIns="0" rIns="0" bIns="0" rtlCol="0" anchor="t"/>
          <a:lstStyle/>
          <a:p>
            <a:pPr marL="0" indent="0">
              <a:buNone/>
            </a:pPr>
            <a:r>
              <a:rPr lang="en-US" sz="850" dirty="0">
                <a:solidFill>
                  <a:srgbClr val="5D6D7E"/>
                </a:solidFill>
                <a:latin typeface="Calibri" pitchFamily="34" charset="0"/>
                <a:ea typeface="Calibri" pitchFamily="34" charset="-122"/>
                <a:cs typeface="Calibri" pitchFamily="34" charset="-120"/>
              </a:rPr>
              <a:t>Pictogrammes niveaux 1/2/3, signes de fatigue, gestion du stress VTC</a:t>
            </a:r>
            <a:endParaRPr lang="en-US" sz="850" dirty="0"/>
          </a:p>
        </p:txBody>
      </p:sp>
      <p:sp>
        <p:nvSpPr>
          <p:cNvPr id="12" name="Shape 10"/>
          <p:cNvSpPr/>
          <p:nvPr/>
        </p:nvSpPr>
        <p:spPr>
          <a:xfrm>
            <a:off x="365760" y="1316736"/>
            <a:ext cx="384048" cy="365760"/>
          </a:xfrm>
          <a:prstGeom prst="rect">
            <a:avLst/>
          </a:prstGeom>
          <a:solidFill>
            <a:srgbClr val="6C3483"/>
          </a:solidFill>
          <a:ln/>
        </p:spPr>
        <p:txBody>
          <a:bodyPr/>
          <a:lstStyle/>
          <a:p>
            <a:endParaRPr lang="fr-FR"/>
          </a:p>
        </p:txBody>
      </p:sp>
      <p:sp>
        <p:nvSpPr>
          <p:cNvPr id="13" name="Text 11"/>
          <p:cNvSpPr/>
          <p:nvPr/>
        </p:nvSpPr>
        <p:spPr>
          <a:xfrm>
            <a:off x="365760" y="1316736"/>
            <a:ext cx="384048"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960120" y="1307592"/>
            <a:ext cx="4572000" cy="201168"/>
          </a:xfrm>
          <a:prstGeom prst="rect">
            <a:avLst/>
          </a:prstGeom>
          <a:noFill/>
          <a:ln/>
        </p:spPr>
        <p:txBody>
          <a:bodyPr wrap="square" lIns="0" tIns="0" rIns="0" bIns="0" rtlCol="0" anchor="ctr"/>
          <a:lstStyle/>
          <a:p>
            <a:pPr marL="0" indent="0">
              <a:buNone/>
            </a:pPr>
            <a:r>
              <a:rPr lang="en-US" sz="1050" b="1" dirty="0">
                <a:solidFill>
                  <a:srgbClr val="1C2833"/>
                </a:solidFill>
                <a:latin typeface="Calibri" pitchFamily="34" charset="0"/>
                <a:ea typeface="Calibri" pitchFamily="34" charset="-122"/>
                <a:cs typeface="Calibri" pitchFamily="34" charset="-120"/>
              </a:rPr>
              <a:t>Prise en charge des passagers</a:t>
            </a:r>
            <a:endParaRPr lang="en-US" sz="1050" dirty="0"/>
          </a:p>
        </p:txBody>
      </p:sp>
      <p:sp>
        <p:nvSpPr>
          <p:cNvPr id="15" name="Text 13"/>
          <p:cNvSpPr/>
          <p:nvPr/>
        </p:nvSpPr>
        <p:spPr>
          <a:xfrm>
            <a:off x="960120" y="1490472"/>
            <a:ext cx="7772400" cy="182880"/>
          </a:xfrm>
          <a:prstGeom prst="rect">
            <a:avLst/>
          </a:prstGeom>
          <a:noFill/>
          <a:ln/>
        </p:spPr>
        <p:txBody>
          <a:bodyPr wrap="square" lIns="0" tIns="0" rIns="0" bIns="0" rtlCol="0" anchor="t"/>
          <a:lstStyle/>
          <a:p>
            <a:pPr marL="0" indent="0">
              <a:buNone/>
            </a:pPr>
            <a:r>
              <a:rPr lang="en-US" sz="850" dirty="0">
                <a:solidFill>
                  <a:srgbClr val="5D6D7E"/>
                </a:solidFill>
                <a:latin typeface="Calibri" pitchFamily="34" charset="0"/>
                <a:ea typeface="Calibri" pitchFamily="34" charset="-122"/>
                <a:cs typeface="Calibri" pitchFamily="34" charset="-120"/>
              </a:rPr>
              <a:t>Ceinture, sécurité passive/active, obligations conducteur</a:t>
            </a:r>
            <a:endParaRPr lang="en-US" sz="850" dirty="0"/>
          </a:p>
        </p:txBody>
      </p:sp>
      <p:sp>
        <p:nvSpPr>
          <p:cNvPr id="16" name="Shape 14"/>
          <p:cNvSpPr/>
          <p:nvPr/>
        </p:nvSpPr>
        <p:spPr>
          <a:xfrm>
            <a:off x="365760" y="1700784"/>
            <a:ext cx="384048" cy="365760"/>
          </a:xfrm>
          <a:prstGeom prst="rect">
            <a:avLst/>
          </a:prstGeom>
          <a:solidFill>
            <a:srgbClr val="2C3E50"/>
          </a:solidFill>
          <a:ln/>
        </p:spPr>
        <p:txBody>
          <a:bodyPr/>
          <a:lstStyle/>
          <a:p>
            <a:endParaRPr lang="fr-FR"/>
          </a:p>
        </p:txBody>
      </p:sp>
      <p:sp>
        <p:nvSpPr>
          <p:cNvPr id="17" name="Text 15"/>
          <p:cNvSpPr/>
          <p:nvPr/>
        </p:nvSpPr>
        <p:spPr>
          <a:xfrm>
            <a:off x="365760" y="1700784"/>
            <a:ext cx="384048"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960120" y="1691640"/>
            <a:ext cx="4572000" cy="201168"/>
          </a:xfrm>
          <a:prstGeom prst="rect">
            <a:avLst/>
          </a:prstGeom>
          <a:noFill/>
          <a:ln/>
        </p:spPr>
        <p:txBody>
          <a:bodyPr wrap="square" lIns="0" tIns="0" rIns="0" bIns="0" rtlCol="0" anchor="ctr"/>
          <a:lstStyle/>
          <a:p>
            <a:pPr marL="0" indent="0">
              <a:buNone/>
            </a:pPr>
            <a:r>
              <a:rPr lang="en-US" sz="1050" b="1" dirty="0">
                <a:solidFill>
                  <a:srgbClr val="1C2833"/>
                </a:solidFill>
                <a:latin typeface="Calibri" pitchFamily="34" charset="0"/>
                <a:ea typeface="Calibri" pitchFamily="34" charset="-122"/>
                <a:cs typeface="Calibri" pitchFamily="34" charset="-120"/>
              </a:rPr>
              <a:t>Sanctions : alcool, stupéfiants &amp; cumul</a:t>
            </a:r>
            <a:endParaRPr lang="en-US" sz="1050" dirty="0"/>
          </a:p>
        </p:txBody>
      </p:sp>
      <p:sp>
        <p:nvSpPr>
          <p:cNvPr id="19" name="Text 17"/>
          <p:cNvSpPr/>
          <p:nvPr/>
        </p:nvSpPr>
        <p:spPr>
          <a:xfrm>
            <a:off x="960120" y="1874520"/>
            <a:ext cx="7772400" cy="182880"/>
          </a:xfrm>
          <a:prstGeom prst="rect">
            <a:avLst/>
          </a:prstGeom>
          <a:noFill/>
          <a:ln/>
        </p:spPr>
        <p:txBody>
          <a:bodyPr wrap="square" lIns="0" tIns="0" rIns="0" bIns="0" rtlCol="0" anchor="t"/>
          <a:lstStyle/>
          <a:p>
            <a:pPr marL="0" indent="0">
              <a:buNone/>
            </a:pPr>
            <a:r>
              <a:rPr lang="en-US" sz="850" dirty="0">
                <a:solidFill>
                  <a:srgbClr val="5D6D7E"/>
                </a:solidFill>
                <a:latin typeface="Calibri" pitchFamily="34" charset="0"/>
                <a:ea typeface="Calibri" pitchFamily="34" charset="-122"/>
                <a:cs typeface="Calibri" pitchFamily="34" charset="-120"/>
              </a:rPr>
              <a:t>Tableau complet : points, amendes, prison, immobilisation</a:t>
            </a:r>
            <a:endParaRPr lang="en-US" sz="850" dirty="0"/>
          </a:p>
        </p:txBody>
      </p:sp>
      <p:sp>
        <p:nvSpPr>
          <p:cNvPr id="20" name="Shape 18"/>
          <p:cNvSpPr/>
          <p:nvPr/>
        </p:nvSpPr>
        <p:spPr>
          <a:xfrm>
            <a:off x="365760" y="2084832"/>
            <a:ext cx="384048" cy="365760"/>
          </a:xfrm>
          <a:prstGeom prst="rect">
            <a:avLst/>
          </a:prstGeom>
          <a:solidFill>
            <a:srgbClr val="2C3E50"/>
          </a:solidFill>
          <a:ln/>
        </p:spPr>
        <p:txBody>
          <a:bodyPr/>
          <a:lstStyle/>
          <a:p>
            <a:endParaRPr lang="fr-FR"/>
          </a:p>
        </p:txBody>
      </p:sp>
      <p:sp>
        <p:nvSpPr>
          <p:cNvPr id="21" name="Text 19"/>
          <p:cNvSpPr/>
          <p:nvPr/>
        </p:nvSpPr>
        <p:spPr>
          <a:xfrm>
            <a:off x="365760" y="2084832"/>
            <a:ext cx="384048"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960120" y="2075688"/>
            <a:ext cx="4572000" cy="201168"/>
          </a:xfrm>
          <a:prstGeom prst="rect">
            <a:avLst/>
          </a:prstGeom>
          <a:noFill/>
          <a:ln/>
        </p:spPr>
        <p:txBody>
          <a:bodyPr wrap="square" lIns="0" tIns="0" rIns="0" bIns="0" rtlCol="0" anchor="ctr"/>
          <a:lstStyle/>
          <a:p>
            <a:pPr marL="0" indent="0">
              <a:buNone/>
            </a:pPr>
            <a:r>
              <a:rPr lang="en-US" sz="1050" b="1" dirty="0">
                <a:solidFill>
                  <a:srgbClr val="1C2833"/>
                </a:solidFill>
                <a:latin typeface="Calibri" pitchFamily="34" charset="0"/>
                <a:ea typeface="Calibri" pitchFamily="34" charset="-122"/>
                <a:cs typeface="Calibri" pitchFamily="34" charset="-120"/>
              </a:rPr>
              <a:t>Limitations de vitesse &amp; excès</a:t>
            </a:r>
            <a:endParaRPr lang="en-US" sz="1050" dirty="0"/>
          </a:p>
        </p:txBody>
      </p:sp>
      <p:sp>
        <p:nvSpPr>
          <p:cNvPr id="23" name="Text 21"/>
          <p:cNvSpPr/>
          <p:nvPr/>
        </p:nvSpPr>
        <p:spPr>
          <a:xfrm>
            <a:off x="960120" y="2258568"/>
            <a:ext cx="7772400" cy="182880"/>
          </a:xfrm>
          <a:prstGeom prst="rect">
            <a:avLst/>
          </a:prstGeom>
          <a:noFill/>
          <a:ln/>
        </p:spPr>
        <p:txBody>
          <a:bodyPr wrap="square" lIns="0" tIns="0" rIns="0" bIns="0" rtlCol="0" anchor="t"/>
          <a:lstStyle/>
          <a:p>
            <a:pPr marL="0" indent="0">
              <a:buNone/>
            </a:pPr>
            <a:r>
              <a:rPr lang="en-US" sz="850" dirty="0">
                <a:solidFill>
                  <a:srgbClr val="5D6D7E"/>
                </a:solidFill>
                <a:latin typeface="Calibri" pitchFamily="34" charset="0"/>
                <a:ea typeface="Calibri" pitchFamily="34" charset="-122"/>
                <a:cs typeface="Calibri" pitchFamily="34" charset="-120"/>
              </a:rPr>
              <a:t>Tableau par type de voie et sanctions par seuil</a:t>
            </a:r>
            <a:endParaRPr lang="en-US" sz="850" dirty="0"/>
          </a:p>
        </p:txBody>
      </p:sp>
      <p:sp>
        <p:nvSpPr>
          <p:cNvPr id="24" name="Shape 22"/>
          <p:cNvSpPr/>
          <p:nvPr/>
        </p:nvSpPr>
        <p:spPr>
          <a:xfrm>
            <a:off x="365760" y="2468880"/>
            <a:ext cx="384048" cy="365760"/>
          </a:xfrm>
          <a:prstGeom prst="rect">
            <a:avLst/>
          </a:prstGeom>
          <a:solidFill>
            <a:srgbClr val="276749"/>
          </a:solidFill>
          <a:ln/>
        </p:spPr>
        <p:txBody>
          <a:bodyPr/>
          <a:lstStyle/>
          <a:p>
            <a:endParaRPr lang="fr-FR"/>
          </a:p>
        </p:txBody>
      </p:sp>
      <p:sp>
        <p:nvSpPr>
          <p:cNvPr id="25" name="Text 23"/>
          <p:cNvSpPr/>
          <p:nvPr/>
        </p:nvSpPr>
        <p:spPr>
          <a:xfrm>
            <a:off x="365760" y="2468880"/>
            <a:ext cx="384048"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960120" y="2459736"/>
            <a:ext cx="4572000" cy="201168"/>
          </a:xfrm>
          <a:prstGeom prst="rect">
            <a:avLst/>
          </a:prstGeom>
          <a:noFill/>
          <a:ln/>
        </p:spPr>
        <p:txBody>
          <a:bodyPr wrap="square" lIns="0" tIns="0" rIns="0" bIns="0" rtlCol="0" anchor="ctr"/>
          <a:lstStyle/>
          <a:p>
            <a:pPr marL="0" indent="0">
              <a:buNone/>
            </a:pPr>
            <a:r>
              <a:rPr lang="en-US" sz="1050" b="1" dirty="0">
                <a:solidFill>
                  <a:srgbClr val="1C2833"/>
                </a:solidFill>
                <a:latin typeface="Calibri" pitchFamily="34" charset="0"/>
                <a:ea typeface="Calibri" pitchFamily="34" charset="-122"/>
                <a:cs typeface="Calibri" pitchFamily="34" charset="-120"/>
              </a:rPr>
              <a:t>Éco-conduite (8 principes)</a:t>
            </a:r>
            <a:endParaRPr lang="en-US" sz="1050" dirty="0"/>
          </a:p>
        </p:txBody>
      </p:sp>
      <p:sp>
        <p:nvSpPr>
          <p:cNvPr id="27" name="Text 25"/>
          <p:cNvSpPr/>
          <p:nvPr/>
        </p:nvSpPr>
        <p:spPr>
          <a:xfrm>
            <a:off x="960120" y="2642616"/>
            <a:ext cx="7772400" cy="182880"/>
          </a:xfrm>
          <a:prstGeom prst="rect">
            <a:avLst/>
          </a:prstGeom>
          <a:noFill/>
          <a:ln/>
        </p:spPr>
        <p:txBody>
          <a:bodyPr wrap="square" lIns="0" tIns="0" rIns="0" bIns="0" rtlCol="0" anchor="t"/>
          <a:lstStyle/>
          <a:p>
            <a:pPr marL="0" indent="0">
              <a:buNone/>
            </a:pPr>
            <a:r>
              <a:rPr lang="en-US" sz="850" dirty="0">
                <a:solidFill>
                  <a:srgbClr val="5D6D7E"/>
                </a:solidFill>
                <a:latin typeface="Calibri" pitchFamily="34" charset="0"/>
                <a:ea typeface="Calibri" pitchFamily="34" charset="-122"/>
                <a:cs typeface="Calibri" pitchFamily="34" charset="-120"/>
              </a:rPr>
              <a:t>Vitesse, rapports, frein moteur, charge, pneus…</a:t>
            </a:r>
            <a:endParaRPr lang="en-US" sz="850" dirty="0"/>
          </a:p>
        </p:txBody>
      </p:sp>
      <p:sp>
        <p:nvSpPr>
          <p:cNvPr id="28" name="Shape 26"/>
          <p:cNvSpPr/>
          <p:nvPr/>
        </p:nvSpPr>
        <p:spPr>
          <a:xfrm>
            <a:off x="365760" y="2852928"/>
            <a:ext cx="384048" cy="365760"/>
          </a:xfrm>
          <a:prstGeom prst="rect">
            <a:avLst/>
          </a:prstGeom>
          <a:solidFill>
            <a:srgbClr val="2C3E50"/>
          </a:solidFill>
          <a:ln/>
        </p:spPr>
        <p:txBody>
          <a:bodyPr/>
          <a:lstStyle/>
          <a:p>
            <a:endParaRPr lang="fr-FR"/>
          </a:p>
        </p:txBody>
      </p:sp>
      <p:sp>
        <p:nvSpPr>
          <p:cNvPr id="29" name="Text 27"/>
          <p:cNvSpPr/>
          <p:nvPr/>
        </p:nvSpPr>
        <p:spPr>
          <a:xfrm>
            <a:off x="365760" y="2852928"/>
            <a:ext cx="384048"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0" name="Text 28"/>
          <p:cNvSpPr/>
          <p:nvPr/>
        </p:nvSpPr>
        <p:spPr>
          <a:xfrm>
            <a:off x="960120" y="2843784"/>
            <a:ext cx="4572000" cy="201168"/>
          </a:xfrm>
          <a:prstGeom prst="rect">
            <a:avLst/>
          </a:prstGeom>
          <a:noFill/>
          <a:ln/>
        </p:spPr>
        <p:txBody>
          <a:bodyPr wrap="square" lIns="0" tIns="0" rIns="0" bIns="0" rtlCol="0" anchor="ctr"/>
          <a:lstStyle/>
          <a:p>
            <a:pPr marL="0" indent="0">
              <a:buNone/>
            </a:pPr>
            <a:r>
              <a:rPr lang="en-US" sz="1050" b="1" dirty="0">
                <a:solidFill>
                  <a:srgbClr val="1C2833"/>
                </a:solidFill>
                <a:latin typeface="Calibri" pitchFamily="34" charset="0"/>
                <a:ea typeface="Calibri" pitchFamily="34" charset="-122"/>
                <a:cs typeface="Calibri" pitchFamily="34" charset="-120"/>
              </a:rPr>
              <a:t>Contrôle technique annuel</a:t>
            </a:r>
            <a:endParaRPr lang="en-US" sz="1050" dirty="0"/>
          </a:p>
        </p:txBody>
      </p:sp>
      <p:sp>
        <p:nvSpPr>
          <p:cNvPr id="31" name="Text 29"/>
          <p:cNvSpPr/>
          <p:nvPr/>
        </p:nvSpPr>
        <p:spPr>
          <a:xfrm>
            <a:off x="960120" y="3026664"/>
            <a:ext cx="7772400" cy="182880"/>
          </a:xfrm>
          <a:prstGeom prst="rect">
            <a:avLst/>
          </a:prstGeom>
          <a:noFill/>
          <a:ln/>
        </p:spPr>
        <p:txBody>
          <a:bodyPr wrap="square" lIns="0" tIns="0" rIns="0" bIns="0" rtlCol="0" anchor="t"/>
          <a:lstStyle/>
          <a:p>
            <a:pPr marL="0" indent="0">
              <a:buNone/>
            </a:pPr>
            <a:r>
              <a:rPr lang="en-US" sz="850" dirty="0">
                <a:solidFill>
                  <a:srgbClr val="5D6D7E"/>
                </a:solidFill>
                <a:latin typeface="Calibri" pitchFamily="34" charset="0"/>
                <a:ea typeface="Calibri" pitchFamily="34" charset="-122"/>
                <a:cs typeface="Calibri" pitchFamily="34" charset="-120"/>
              </a:rPr>
              <a:t>10 fonctions, 100+ points, défaillances mineures/majeures/critiques</a:t>
            </a:r>
            <a:endParaRPr lang="en-US" sz="850" dirty="0"/>
          </a:p>
        </p:txBody>
      </p:sp>
      <p:sp>
        <p:nvSpPr>
          <p:cNvPr id="32" name="Shape 30"/>
          <p:cNvSpPr/>
          <p:nvPr/>
        </p:nvSpPr>
        <p:spPr>
          <a:xfrm>
            <a:off x="365760" y="3236976"/>
            <a:ext cx="384048" cy="365760"/>
          </a:xfrm>
          <a:prstGeom prst="rect">
            <a:avLst/>
          </a:prstGeom>
          <a:solidFill>
            <a:srgbClr val="D35400"/>
          </a:solidFill>
          <a:ln/>
        </p:spPr>
        <p:txBody>
          <a:bodyPr/>
          <a:lstStyle/>
          <a:p>
            <a:endParaRPr lang="fr-FR"/>
          </a:p>
        </p:txBody>
      </p:sp>
      <p:sp>
        <p:nvSpPr>
          <p:cNvPr id="33" name="Text 31"/>
          <p:cNvSpPr/>
          <p:nvPr/>
        </p:nvSpPr>
        <p:spPr>
          <a:xfrm>
            <a:off x="365760" y="3236976"/>
            <a:ext cx="384048"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4" name="Text 32"/>
          <p:cNvSpPr/>
          <p:nvPr/>
        </p:nvSpPr>
        <p:spPr>
          <a:xfrm>
            <a:off x="960120" y="3227832"/>
            <a:ext cx="4572000" cy="201168"/>
          </a:xfrm>
          <a:prstGeom prst="rect">
            <a:avLst/>
          </a:prstGeom>
          <a:noFill/>
          <a:ln/>
        </p:spPr>
        <p:txBody>
          <a:bodyPr wrap="square" lIns="0" tIns="0" rIns="0" bIns="0" rtlCol="0" anchor="ctr"/>
          <a:lstStyle/>
          <a:p>
            <a:pPr marL="0" indent="0">
              <a:buNone/>
            </a:pPr>
            <a:r>
              <a:rPr lang="en-US" sz="1050" b="1" dirty="0">
                <a:solidFill>
                  <a:srgbClr val="1C2833"/>
                </a:solidFill>
                <a:latin typeface="Calibri" pitchFamily="34" charset="0"/>
                <a:ea typeface="Calibri" pitchFamily="34" charset="-122"/>
                <a:cs typeface="Calibri" pitchFamily="34" charset="-120"/>
              </a:rPr>
              <a:t>Accident : P.A.S. &amp; téléphone</a:t>
            </a:r>
            <a:endParaRPr lang="en-US" sz="1050" dirty="0"/>
          </a:p>
        </p:txBody>
      </p:sp>
      <p:sp>
        <p:nvSpPr>
          <p:cNvPr id="35" name="Text 33"/>
          <p:cNvSpPr/>
          <p:nvPr/>
        </p:nvSpPr>
        <p:spPr>
          <a:xfrm>
            <a:off x="960120" y="3410712"/>
            <a:ext cx="7772400" cy="182880"/>
          </a:xfrm>
          <a:prstGeom prst="rect">
            <a:avLst/>
          </a:prstGeom>
          <a:noFill/>
          <a:ln/>
        </p:spPr>
        <p:txBody>
          <a:bodyPr wrap="square" lIns="0" tIns="0" rIns="0" bIns="0" rtlCol="0" anchor="t"/>
          <a:lstStyle/>
          <a:p>
            <a:pPr marL="0" indent="0">
              <a:buNone/>
            </a:pPr>
            <a:r>
              <a:rPr lang="en-US" sz="850" dirty="0">
                <a:solidFill>
                  <a:srgbClr val="5D6D7E"/>
                </a:solidFill>
                <a:latin typeface="Calibri" pitchFamily="34" charset="0"/>
                <a:ea typeface="Calibri" pitchFamily="34" charset="-122"/>
                <a:cs typeface="Calibri" pitchFamily="34" charset="-120"/>
              </a:rPr>
              <a:t>Protéger · Alerter · Secourir · PLS · Téléphone au volant</a:t>
            </a:r>
            <a:endParaRPr lang="en-US" sz="850" dirty="0"/>
          </a:p>
        </p:txBody>
      </p:sp>
      <p:sp>
        <p:nvSpPr>
          <p:cNvPr id="36" name="Shape 34"/>
          <p:cNvSpPr/>
          <p:nvPr/>
        </p:nvSpPr>
        <p:spPr>
          <a:xfrm>
            <a:off x="365760" y="3621024"/>
            <a:ext cx="384048" cy="365760"/>
          </a:xfrm>
          <a:prstGeom prst="rect">
            <a:avLst/>
          </a:prstGeom>
          <a:solidFill>
            <a:srgbClr val="2C3E50"/>
          </a:solidFill>
          <a:ln/>
        </p:spPr>
        <p:txBody>
          <a:bodyPr/>
          <a:lstStyle/>
          <a:p>
            <a:endParaRPr lang="fr-FR"/>
          </a:p>
        </p:txBody>
      </p:sp>
      <p:sp>
        <p:nvSpPr>
          <p:cNvPr id="37" name="Text 35"/>
          <p:cNvSpPr/>
          <p:nvPr/>
        </p:nvSpPr>
        <p:spPr>
          <a:xfrm>
            <a:off x="365760" y="3621024"/>
            <a:ext cx="384048"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8" name="Text 36"/>
          <p:cNvSpPr/>
          <p:nvPr/>
        </p:nvSpPr>
        <p:spPr>
          <a:xfrm>
            <a:off x="960120" y="3611880"/>
            <a:ext cx="4572000" cy="201168"/>
          </a:xfrm>
          <a:prstGeom prst="rect">
            <a:avLst/>
          </a:prstGeom>
          <a:noFill/>
          <a:ln/>
        </p:spPr>
        <p:txBody>
          <a:bodyPr wrap="square" lIns="0" tIns="0" rIns="0" bIns="0" rtlCol="0" anchor="ctr"/>
          <a:lstStyle/>
          <a:p>
            <a:pPr marL="0" indent="0">
              <a:buNone/>
            </a:pPr>
            <a:r>
              <a:rPr lang="en-US" sz="1050" b="1" dirty="0">
                <a:solidFill>
                  <a:srgbClr val="1C2833"/>
                </a:solidFill>
                <a:latin typeface="Calibri" pitchFamily="34" charset="0"/>
                <a:ea typeface="Calibri" pitchFamily="34" charset="-122"/>
                <a:cs typeface="Calibri" pitchFamily="34" charset="-120"/>
              </a:rPr>
              <a:t>Constat amiable &amp; situations difficiles</a:t>
            </a:r>
            <a:endParaRPr lang="en-US" sz="1050" dirty="0"/>
          </a:p>
        </p:txBody>
      </p:sp>
      <p:sp>
        <p:nvSpPr>
          <p:cNvPr id="39" name="Text 37"/>
          <p:cNvSpPr/>
          <p:nvPr/>
        </p:nvSpPr>
        <p:spPr>
          <a:xfrm>
            <a:off x="960120" y="3794760"/>
            <a:ext cx="7772400" cy="182880"/>
          </a:xfrm>
          <a:prstGeom prst="rect">
            <a:avLst/>
          </a:prstGeom>
          <a:noFill/>
          <a:ln/>
        </p:spPr>
        <p:txBody>
          <a:bodyPr wrap="square" lIns="0" tIns="0" rIns="0" bIns="0" rtlCol="0" anchor="t"/>
          <a:lstStyle/>
          <a:p>
            <a:pPr marL="0" indent="0">
              <a:buNone/>
            </a:pPr>
            <a:r>
              <a:rPr lang="en-US" sz="850" dirty="0">
                <a:solidFill>
                  <a:srgbClr val="5D6D7E"/>
                </a:solidFill>
                <a:latin typeface="Calibri" pitchFamily="34" charset="0"/>
                <a:ea typeface="Calibri" pitchFamily="34" charset="-122"/>
                <a:cs typeface="Calibri" pitchFamily="34" charset="-120"/>
              </a:rPr>
              <a:t>Procédure, désaccord, refus, fuite</a:t>
            </a:r>
            <a:endParaRPr lang="en-US" sz="850" dirty="0"/>
          </a:p>
        </p:txBody>
      </p:sp>
      <p:sp>
        <p:nvSpPr>
          <p:cNvPr id="40" name="Shape 38"/>
          <p:cNvSpPr/>
          <p:nvPr/>
        </p:nvSpPr>
        <p:spPr>
          <a:xfrm>
            <a:off x="365760" y="4005072"/>
            <a:ext cx="384048" cy="365760"/>
          </a:xfrm>
          <a:prstGeom prst="rect">
            <a:avLst/>
          </a:prstGeom>
          <a:solidFill>
            <a:srgbClr val="2C3E50"/>
          </a:solidFill>
          <a:ln/>
        </p:spPr>
        <p:txBody>
          <a:bodyPr/>
          <a:lstStyle/>
          <a:p>
            <a:endParaRPr lang="fr-FR"/>
          </a:p>
        </p:txBody>
      </p:sp>
      <p:sp>
        <p:nvSpPr>
          <p:cNvPr id="41" name="Text 39"/>
          <p:cNvSpPr/>
          <p:nvPr/>
        </p:nvSpPr>
        <p:spPr>
          <a:xfrm>
            <a:off x="365760" y="4005072"/>
            <a:ext cx="384048"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2" name="Text 40"/>
          <p:cNvSpPr/>
          <p:nvPr/>
        </p:nvSpPr>
        <p:spPr>
          <a:xfrm>
            <a:off x="960120" y="3995928"/>
            <a:ext cx="4572000" cy="201168"/>
          </a:xfrm>
          <a:prstGeom prst="rect">
            <a:avLst/>
          </a:prstGeom>
          <a:noFill/>
          <a:ln/>
        </p:spPr>
        <p:txBody>
          <a:bodyPr wrap="square" lIns="0" tIns="0" rIns="0" bIns="0" rtlCol="0" anchor="ctr"/>
          <a:lstStyle/>
          <a:p>
            <a:pPr marL="0" indent="0">
              <a:buNone/>
            </a:pPr>
            <a:r>
              <a:rPr lang="en-US" sz="1050" b="1" dirty="0">
                <a:solidFill>
                  <a:srgbClr val="1C2833"/>
                </a:solidFill>
                <a:latin typeface="Calibri" pitchFamily="34" charset="0"/>
                <a:ea typeface="Calibri" pitchFamily="34" charset="-122"/>
                <a:cs typeface="Calibri" pitchFamily="34" charset="-120"/>
              </a:rPr>
              <a:t>Permis : annulation &amp; invalidation</a:t>
            </a:r>
            <a:endParaRPr lang="en-US" sz="1050" dirty="0"/>
          </a:p>
        </p:txBody>
      </p:sp>
      <p:sp>
        <p:nvSpPr>
          <p:cNvPr id="43" name="Text 41"/>
          <p:cNvSpPr/>
          <p:nvPr/>
        </p:nvSpPr>
        <p:spPr>
          <a:xfrm>
            <a:off x="960120" y="4178808"/>
            <a:ext cx="7772400" cy="182880"/>
          </a:xfrm>
          <a:prstGeom prst="rect">
            <a:avLst/>
          </a:prstGeom>
          <a:noFill/>
          <a:ln/>
        </p:spPr>
        <p:txBody>
          <a:bodyPr wrap="square" lIns="0" tIns="0" rIns="0" bIns="0" rtlCol="0" anchor="t"/>
          <a:lstStyle/>
          <a:p>
            <a:pPr marL="0" indent="0">
              <a:buNone/>
            </a:pPr>
            <a:r>
              <a:rPr lang="en-US" sz="850" dirty="0">
                <a:solidFill>
                  <a:srgbClr val="5D6D7E"/>
                </a:solidFill>
                <a:latin typeface="Calibri" pitchFamily="34" charset="0"/>
                <a:ea typeface="Calibri" pitchFamily="34" charset="-122"/>
                <a:cs typeface="Calibri" pitchFamily="34" charset="-120"/>
              </a:rPr>
              <a:t>Procédures de repassage, délais d'attente</a:t>
            </a:r>
            <a:endParaRPr lang="en-US" sz="850" dirty="0"/>
          </a:p>
        </p:txBody>
      </p:sp>
      <p:sp>
        <p:nvSpPr>
          <p:cNvPr id="44" name="Shape 42"/>
          <p:cNvSpPr/>
          <p:nvPr/>
        </p:nvSpPr>
        <p:spPr>
          <a:xfrm>
            <a:off x="365760" y="4389120"/>
            <a:ext cx="384048" cy="365760"/>
          </a:xfrm>
          <a:prstGeom prst="rect">
            <a:avLst/>
          </a:prstGeom>
          <a:solidFill>
            <a:srgbClr val="2C3E50"/>
          </a:solidFill>
          <a:ln/>
        </p:spPr>
        <p:txBody>
          <a:bodyPr/>
          <a:lstStyle/>
          <a:p>
            <a:endParaRPr lang="fr-FR"/>
          </a:p>
        </p:txBody>
      </p:sp>
      <p:sp>
        <p:nvSpPr>
          <p:cNvPr id="45" name="Text 43"/>
          <p:cNvSpPr/>
          <p:nvPr/>
        </p:nvSpPr>
        <p:spPr>
          <a:xfrm>
            <a:off x="365760" y="4389120"/>
            <a:ext cx="384048"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6" name="Text 44"/>
          <p:cNvSpPr/>
          <p:nvPr/>
        </p:nvSpPr>
        <p:spPr>
          <a:xfrm>
            <a:off x="960120" y="4379976"/>
            <a:ext cx="4572000" cy="201168"/>
          </a:xfrm>
          <a:prstGeom prst="rect">
            <a:avLst/>
          </a:prstGeom>
          <a:noFill/>
          <a:ln/>
        </p:spPr>
        <p:txBody>
          <a:bodyPr wrap="square" lIns="0" tIns="0" rIns="0" bIns="0" rtlCol="0" anchor="ctr"/>
          <a:lstStyle/>
          <a:p>
            <a:pPr marL="0" indent="0">
              <a:buNone/>
            </a:pPr>
            <a:r>
              <a:rPr lang="en-US" sz="1050" b="1" dirty="0">
                <a:solidFill>
                  <a:srgbClr val="1C2833"/>
                </a:solidFill>
                <a:latin typeface="Calibri" pitchFamily="34" charset="0"/>
                <a:ea typeface="Calibri" pitchFamily="34" charset="-122"/>
                <a:cs typeface="Calibri" pitchFamily="34" charset="-120"/>
              </a:rPr>
              <a:t>Récupération automatique &amp; par stage</a:t>
            </a:r>
            <a:endParaRPr lang="en-US" sz="1050" dirty="0"/>
          </a:p>
        </p:txBody>
      </p:sp>
      <p:sp>
        <p:nvSpPr>
          <p:cNvPr id="47" name="Text 45"/>
          <p:cNvSpPr/>
          <p:nvPr/>
        </p:nvSpPr>
        <p:spPr>
          <a:xfrm>
            <a:off x="960120" y="4562856"/>
            <a:ext cx="7772400" cy="182880"/>
          </a:xfrm>
          <a:prstGeom prst="rect">
            <a:avLst/>
          </a:prstGeom>
          <a:noFill/>
          <a:ln/>
        </p:spPr>
        <p:txBody>
          <a:bodyPr wrap="square" lIns="0" tIns="0" rIns="0" bIns="0" rtlCol="0" anchor="t"/>
          <a:lstStyle/>
          <a:p>
            <a:pPr marL="0" indent="0">
              <a:buNone/>
            </a:pPr>
            <a:r>
              <a:rPr lang="en-US" sz="850" dirty="0">
                <a:solidFill>
                  <a:srgbClr val="5D6D7E"/>
                </a:solidFill>
                <a:latin typeface="Calibri" pitchFamily="34" charset="0"/>
                <a:ea typeface="Calibri" pitchFamily="34" charset="-122"/>
                <a:cs typeface="Calibri" pitchFamily="34" charset="-120"/>
              </a:rPr>
              <a:t>6 mois / 2 ans / 3 ans / 10 ans · Stage = 4 pts max</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9264"/>
          </a:xfrm>
          <a:prstGeom prst="rect">
            <a:avLst/>
          </a:prstGeom>
          <a:solidFill>
            <a:srgbClr val="1A3A5C"/>
          </a:solidFill>
          <a:ln/>
        </p:spPr>
        <p:txBody>
          <a:bodyPr/>
          <a:lstStyle/>
          <a:p>
            <a:endParaRPr lang="fr-FR"/>
          </a:p>
        </p:txBody>
      </p:sp>
      <p:sp>
        <p:nvSpPr>
          <p:cNvPr id="3" name="Text 1"/>
          <p:cNvSpPr/>
          <p:nvPr/>
        </p:nvSpPr>
        <p:spPr>
          <a:xfrm>
            <a:off x="365760" y="0"/>
            <a:ext cx="8412480" cy="603504"/>
          </a:xfrm>
          <a:prstGeom prst="rect">
            <a:avLst/>
          </a:prstGeom>
          <a:noFill/>
          <a:ln/>
        </p:spPr>
        <p:txBody>
          <a:bodyPr wrap="square" lIns="0" tIns="0" rIns="0" bIns="0"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PARTIE 3 — COURS</a:t>
            </a:r>
            <a:endParaRPr lang="en-US" sz="1900" dirty="0"/>
          </a:p>
        </p:txBody>
      </p:sp>
      <p:sp>
        <p:nvSpPr>
          <p:cNvPr id="4" name="Text 2"/>
          <p:cNvSpPr/>
          <p:nvPr/>
        </p:nvSpPr>
        <p:spPr>
          <a:xfrm>
            <a:off x="365760" y="621792"/>
            <a:ext cx="8412480" cy="329184"/>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Médicaments, stress et fatigue au volant — risques et obligations</a:t>
            </a:r>
            <a:endParaRPr lang="en-US" sz="1050" dirty="0"/>
          </a:p>
        </p:txBody>
      </p:sp>
      <p:sp>
        <p:nvSpPr>
          <p:cNvPr id="5" name="Text 3"/>
          <p:cNvSpPr/>
          <p:nvPr/>
        </p:nvSpPr>
        <p:spPr>
          <a:xfrm>
            <a:off x="274320" y="4892040"/>
            <a:ext cx="8046720" cy="201168"/>
          </a:xfrm>
          <a:prstGeom prst="rect">
            <a:avLst/>
          </a:prstGeom>
          <a:noFill/>
          <a:ln/>
        </p:spPr>
        <p:txBody>
          <a:bodyPr wrap="square" lIns="0" tIns="0" rIns="0" bIns="0" rtlCol="0" anchor="ctr"/>
          <a:lstStyle/>
          <a:p>
            <a:pPr marL="0" indent="0">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6" name="Text 4"/>
          <p:cNvSpPr/>
          <p:nvPr/>
        </p:nvSpPr>
        <p:spPr>
          <a:xfrm>
            <a:off x="8732520" y="4892040"/>
            <a:ext cx="347472" cy="201168"/>
          </a:xfrm>
          <a:prstGeom prst="rect">
            <a:avLst/>
          </a:prstGeom>
          <a:noFill/>
          <a:ln/>
        </p:spPr>
        <p:txBody>
          <a:bodyPr wrap="square" lIns="0" tIns="0" rIns="0" bIns="0"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X</a:t>
            </a:r>
            <a:endParaRPr lang="en-US" sz="800" dirty="0"/>
          </a:p>
        </p:txBody>
      </p:sp>
      <p:sp>
        <p:nvSpPr>
          <p:cNvPr id="7" name="Shape 5"/>
          <p:cNvSpPr/>
          <p:nvPr/>
        </p:nvSpPr>
        <p:spPr>
          <a:xfrm>
            <a:off x="274320" y="1024128"/>
            <a:ext cx="2743200" cy="3200400"/>
          </a:xfrm>
          <a:prstGeom prst="rect">
            <a:avLst/>
          </a:prstGeom>
          <a:solidFill>
            <a:srgbClr val="F0F4F8"/>
          </a:solidFill>
          <a:ln/>
        </p:spPr>
        <p:txBody>
          <a:bodyPr/>
          <a:lstStyle/>
          <a:p>
            <a:endParaRPr lang="fr-FR"/>
          </a:p>
        </p:txBody>
      </p:sp>
      <p:sp>
        <p:nvSpPr>
          <p:cNvPr id="8" name="Shape 6"/>
          <p:cNvSpPr/>
          <p:nvPr/>
        </p:nvSpPr>
        <p:spPr>
          <a:xfrm>
            <a:off x="274320" y="1024128"/>
            <a:ext cx="2743200" cy="237744"/>
          </a:xfrm>
          <a:prstGeom prst="rect">
            <a:avLst/>
          </a:prstGeom>
          <a:solidFill>
            <a:srgbClr val="C0392B"/>
          </a:solidFill>
          <a:ln/>
        </p:spPr>
        <p:txBody>
          <a:bodyPr/>
          <a:lstStyle/>
          <a:p>
            <a:endParaRPr lang="fr-FR"/>
          </a:p>
        </p:txBody>
      </p:sp>
      <p:sp>
        <p:nvSpPr>
          <p:cNvPr id="9" name="Text 7"/>
          <p:cNvSpPr/>
          <p:nvPr/>
        </p:nvSpPr>
        <p:spPr>
          <a:xfrm>
            <a:off x="329184" y="1024128"/>
            <a:ext cx="2633472"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Médicaments au volant</a:t>
            </a:r>
            <a:endParaRPr lang="en-US" sz="950" dirty="0"/>
          </a:p>
        </p:txBody>
      </p:sp>
      <p:sp>
        <p:nvSpPr>
          <p:cNvPr id="10" name="Text 8"/>
          <p:cNvSpPr/>
          <p:nvPr/>
        </p:nvSpPr>
        <p:spPr>
          <a:xfrm>
            <a:off x="347472" y="1298448"/>
            <a:ext cx="2596896" cy="2889504"/>
          </a:xfrm>
          <a:prstGeom prst="rect">
            <a:avLst/>
          </a:prstGeom>
          <a:noFill/>
          <a:ln/>
        </p:spPr>
        <p:txBody>
          <a:bodyPr wrap="square" lIns="0" tIns="0" rIns="0" bIns="0" rtlCol="0" anchor="t"/>
          <a:lstStyle/>
          <a:p>
            <a:pPr marL="0" indent="0">
              <a:buNone/>
            </a:pPr>
            <a:r>
              <a:rPr lang="en-US" sz="950" b="1" dirty="0">
                <a:solidFill>
                  <a:srgbClr val="1A3A5C"/>
                </a:solidFill>
              </a:rPr>
              <a:t>3 niveaux de pictogrammes :</a:t>
            </a:r>
            <a:endParaRPr lang="en-US" sz="950" dirty="0"/>
          </a:p>
          <a:p>
            <a:pPr marL="0" indent="0">
              <a:buNone/>
            </a:pPr>
            <a:endParaRPr lang="en-US" sz="950" dirty="0"/>
          </a:p>
          <a:p>
            <a:pPr marL="0" indent="0">
              <a:buNone/>
            </a:pPr>
            <a:r>
              <a:rPr lang="en-US" sz="900" b="1" dirty="0">
                <a:solidFill>
                  <a:srgbClr val="B7950B"/>
                </a:solidFill>
              </a:rPr>
              <a:t>🟡 Niveau 1 — Soyez prudent</a:t>
            </a:r>
            <a:endParaRPr lang="en-US" sz="950" dirty="0"/>
          </a:p>
          <a:p>
            <a:pPr marL="0" indent="0">
              <a:buNone/>
            </a:pPr>
            <a:r>
              <a:rPr lang="en-US" sz="850" dirty="0">
                <a:solidFill>
                  <a:srgbClr val="000000"/>
                </a:solidFill>
              </a:rPr>
              <a:t>Conduite possible avec vigilance</a:t>
            </a:r>
            <a:endParaRPr lang="en-US" sz="950" dirty="0"/>
          </a:p>
          <a:p>
            <a:pPr marL="0" indent="0">
              <a:buNone/>
            </a:pPr>
            <a:r>
              <a:rPr lang="en-US" sz="800" dirty="0">
                <a:solidFill>
                  <a:srgbClr val="555F6D"/>
                </a:solidFill>
              </a:rPr>
              <a:t>Ex : anti-allergiques légers</a:t>
            </a:r>
            <a:endParaRPr lang="en-US" sz="950" dirty="0"/>
          </a:p>
          <a:p>
            <a:pPr marL="0" indent="0">
              <a:buNone/>
            </a:pPr>
            <a:endParaRPr lang="en-US" sz="950" dirty="0"/>
          </a:p>
          <a:p>
            <a:pPr marL="0" indent="0">
              <a:buNone/>
            </a:pPr>
            <a:r>
              <a:rPr lang="en-US" sz="900" b="1" dirty="0">
                <a:solidFill>
                  <a:srgbClr val="D35400"/>
                </a:solidFill>
              </a:rPr>
              <a:t>🟠 Niveau 2 — Soyez très prudent</a:t>
            </a:r>
            <a:endParaRPr lang="en-US" sz="950" dirty="0"/>
          </a:p>
          <a:p>
            <a:pPr marL="0" indent="0">
              <a:buNone/>
            </a:pPr>
            <a:r>
              <a:rPr lang="en-US" sz="850" dirty="0">
                <a:solidFill>
                  <a:srgbClr val="000000"/>
                </a:solidFill>
              </a:rPr>
              <a:t>Demandez l'avis d'un médecin</a:t>
            </a:r>
            <a:endParaRPr lang="en-US" sz="950" dirty="0"/>
          </a:p>
          <a:p>
            <a:pPr marL="0" indent="0">
              <a:buNone/>
            </a:pPr>
            <a:r>
              <a:rPr lang="en-US" sz="800" dirty="0">
                <a:solidFill>
                  <a:srgbClr val="555F6D"/>
                </a:solidFill>
              </a:rPr>
              <a:t>Ex : anxiolytiques, antidépresseurs</a:t>
            </a:r>
            <a:endParaRPr lang="en-US" sz="950" dirty="0"/>
          </a:p>
          <a:p>
            <a:pPr marL="0" indent="0">
              <a:buNone/>
            </a:pPr>
            <a:endParaRPr lang="en-US" sz="950" dirty="0"/>
          </a:p>
          <a:p>
            <a:pPr marL="0" indent="0">
              <a:buNone/>
            </a:pPr>
            <a:r>
              <a:rPr lang="en-US" sz="900" b="1" dirty="0">
                <a:solidFill>
                  <a:srgbClr val="C0392B"/>
                </a:solidFill>
              </a:rPr>
              <a:t>🔴 Niveau 3 — DANGER</a:t>
            </a:r>
            <a:endParaRPr lang="en-US" sz="950" dirty="0"/>
          </a:p>
          <a:p>
            <a:pPr marL="0" indent="0">
              <a:buNone/>
            </a:pPr>
            <a:r>
              <a:rPr lang="en-US" sz="900" b="1" dirty="0">
                <a:solidFill>
                  <a:srgbClr val="C0392B"/>
                </a:solidFill>
              </a:rPr>
              <a:t>Conduite INTERDITE</a:t>
            </a:r>
            <a:endParaRPr lang="en-US" sz="950" dirty="0"/>
          </a:p>
          <a:p>
            <a:pPr marL="0" indent="0">
              <a:buNone/>
            </a:pPr>
            <a:r>
              <a:rPr lang="en-US" sz="800" dirty="0">
                <a:solidFill>
                  <a:srgbClr val="555F6D"/>
                </a:solidFill>
              </a:rPr>
              <a:t>Ex : somnifères, anesthésiants,</a:t>
            </a:r>
            <a:endParaRPr lang="en-US" sz="950" dirty="0"/>
          </a:p>
          <a:p>
            <a:pPr marL="0" indent="0">
              <a:buNone/>
            </a:pPr>
            <a:r>
              <a:rPr lang="en-US" sz="800" dirty="0">
                <a:solidFill>
                  <a:srgbClr val="555F6D"/>
                </a:solidFill>
              </a:rPr>
              <a:t>certains antidouleurs (opioïdes)</a:t>
            </a:r>
            <a:endParaRPr lang="en-US" sz="950" dirty="0"/>
          </a:p>
          <a:p>
            <a:pPr marL="0" indent="0">
              <a:buNone/>
            </a:pPr>
            <a:endParaRPr lang="en-US" sz="950" dirty="0"/>
          </a:p>
          <a:p>
            <a:pPr marL="0" indent="0">
              <a:buNone/>
            </a:pPr>
            <a:r>
              <a:rPr lang="en-US" sz="850" b="1" dirty="0">
                <a:solidFill>
                  <a:srgbClr val="1A3A5C"/>
                </a:solidFill>
              </a:rPr>
              <a:t>⚠️ Obligation :</a:t>
            </a:r>
            <a:endParaRPr lang="en-US" sz="950" dirty="0"/>
          </a:p>
          <a:p>
            <a:pPr marL="0" indent="0">
              <a:buNone/>
            </a:pPr>
            <a:r>
              <a:rPr lang="en-US" sz="850" dirty="0">
                <a:solidFill>
                  <a:srgbClr val="000000"/>
                </a:solidFill>
              </a:rPr>
              <a:t>Lire la notice AVANT de conduire</a:t>
            </a:r>
            <a:endParaRPr lang="en-US" sz="950" dirty="0"/>
          </a:p>
          <a:p>
            <a:pPr marL="0" indent="0">
              <a:buNone/>
            </a:pPr>
            <a:r>
              <a:rPr lang="en-US" sz="850" dirty="0">
                <a:solidFill>
                  <a:srgbClr val="000000"/>
                </a:solidFill>
              </a:rPr>
              <a:t>Demander au pharmacien en cas de doute</a:t>
            </a:r>
            <a:endParaRPr lang="en-US" sz="950" dirty="0"/>
          </a:p>
        </p:txBody>
      </p:sp>
      <p:sp>
        <p:nvSpPr>
          <p:cNvPr id="11" name="Shape 9"/>
          <p:cNvSpPr/>
          <p:nvPr/>
        </p:nvSpPr>
        <p:spPr>
          <a:xfrm>
            <a:off x="3200400" y="1024128"/>
            <a:ext cx="2743200" cy="3200400"/>
          </a:xfrm>
          <a:prstGeom prst="rect">
            <a:avLst/>
          </a:prstGeom>
          <a:solidFill>
            <a:srgbClr val="F0F4F8"/>
          </a:solidFill>
          <a:ln/>
        </p:spPr>
        <p:txBody>
          <a:bodyPr/>
          <a:lstStyle/>
          <a:p>
            <a:endParaRPr lang="fr-FR"/>
          </a:p>
        </p:txBody>
      </p:sp>
      <p:sp>
        <p:nvSpPr>
          <p:cNvPr id="12" name="Shape 10"/>
          <p:cNvSpPr/>
          <p:nvPr/>
        </p:nvSpPr>
        <p:spPr>
          <a:xfrm>
            <a:off x="3200400" y="1024128"/>
            <a:ext cx="2743200" cy="237744"/>
          </a:xfrm>
          <a:prstGeom prst="rect">
            <a:avLst/>
          </a:prstGeom>
          <a:solidFill>
            <a:srgbClr val="D35400"/>
          </a:solidFill>
          <a:ln/>
        </p:spPr>
        <p:txBody>
          <a:bodyPr/>
          <a:lstStyle/>
          <a:p>
            <a:endParaRPr lang="fr-FR"/>
          </a:p>
        </p:txBody>
      </p:sp>
      <p:sp>
        <p:nvSpPr>
          <p:cNvPr id="13" name="Text 11"/>
          <p:cNvSpPr/>
          <p:nvPr/>
        </p:nvSpPr>
        <p:spPr>
          <a:xfrm>
            <a:off x="3255264" y="1024128"/>
            <a:ext cx="2633472"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Fatigue au volant</a:t>
            </a:r>
            <a:endParaRPr lang="en-US" sz="950" dirty="0"/>
          </a:p>
        </p:txBody>
      </p:sp>
      <p:sp>
        <p:nvSpPr>
          <p:cNvPr id="14" name="Text 12"/>
          <p:cNvSpPr/>
          <p:nvPr/>
        </p:nvSpPr>
        <p:spPr>
          <a:xfrm>
            <a:off x="3273552" y="1298448"/>
            <a:ext cx="2596896" cy="2889504"/>
          </a:xfrm>
          <a:prstGeom prst="rect">
            <a:avLst/>
          </a:prstGeom>
          <a:noFill/>
          <a:ln/>
        </p:spPr>
        <p:txBody>
          <a:bodyPr wrap="square" lIns="0" tIns="0" rIns="0" bIns="0" rtlCol="0" anchor="t"/>
          <a:lstStyle/>
          <a:p>
            <a:pPr marL="0" indent="0">
              <a:buNone/>
            </a:pPr>
            <a:r>
              <a:rPr lang="en-US" sz="950" b="1" dirty="0">
                <a:solidFill>
                  <a:srgbClr val="C0392B"/>
                </a:solidFill>
              </a:rPr>
              <a:t>1ère cause de mortalité autoroute</a:t>
            </a:r>
            <a:endParaRPr lang="en-US" sz="950" dirty="0"/>
          </a:p>
          <a:p>
            <a:pPr marL="0" indent="0">
              <a:buNone/>
            </a:pPr>
            <a:r>
              <a:rPr lang="en-US" sz="850" dirty="0">
                <a:solidFill>
                  <a:srgbClr val="555F6D"/>
                </a:solidFill>
              </a:rPr>
              <a:t>(~20% des accidents mortels)</a:t>
            </a:r>
            <a:endParaRPr lang="en-US" sz="950" dirty="0"/>
          </a:p>
          <a:p>
            <a:pPr marL="0" indent="0">
              <a:buNone/>
            </a:pPr>
            <a:endParaRPr lang="en-US" sz="950" dirty="0"/>
          </a:p>
          <a:p>
            <a:pPr marL="0" indent="0">
              <a:buNone/>
            </a:pPr>
            <a:r>
              <a:rPr lang="en-US" sz="900" b="1" dirty="0">
                <a:solidFill>
                  <a:srgbClr val="1A3A5C"/>
                </a:solidFill>
              </a:rPr>
              <a:t>Signes d'alerte :</a:t>
            </a:r>
            <a:endParaRPr lang="en-US" sz="950" dirty="0"/>
          </a:p>
          <a:p>
            <a:pPr marL="0" indent="0">
              <a:buNone/>
            </a:pPr>
            <a:r>
              <a:rPr lang="en-US" sz="850" dirty="0">
                <a:solidFill>
                  <a:srgbClr val="000000"/>
                </a:solidFill>
              </a:rPr>
              <a:t>▸ Bâillements répétés</a:t>
            </a:r>
            <a:endParaRPr lang="en-US" sz="950" dirty="0"/>
          </a:p>
          <a:p>
            <a:pPr marL="0" indent="0">
              <a:buNone/>
            </a:pPr>
            <a:r>
              <a:rPr lang="en-US" sz="850" dirty="0">
                <a:solidFill>
                  <a:srgbClr val="000000"/>
                </a:solidFill>
              </a:rPr>
              <a:t>▸ Yeux qui piquent, paupières lourdes</a:t>
            </a:r>
            <a:endParaRPr lang="en-US" sz="950" dirty="0"/>
          </a:p>
          <a:p>
            <a:pPr marL="0" indent="0">
              <a:buNone/>
            </a:pPr>
            <a:r>
              <a:rPr lang="en-US" sz="850" dirty="0">
                <a:solidFill>
                  <a:srgbClr val="000000"/>
                </a:solidFill>
              </a:rPr>
              <a:t>▸ Raideur dans la nuque</a:t>
            </a:r>
            <a:endParaRPr lang="en-US" sz="950" dirty="0"/>
          </a:p>
          <a:p>
            <a:pPr marL="0" indent="0">
              <a:buNone/>
            </a:pPr>
            <a:r>
              <a:rPr lang="en-US" sz="850" dirty="0">
                <a:solidFill>
                  <a:srgbClr val="000000"/>
                </a:solidFill>
              </a:rPr>
              <a:t>▸ Difficultés de concentration</a:t>
            </a:r>
            <a:endParaRPr lang="en-US" sz="950" dirty="0"/>
          </a:p>
          <a:p>
            <a:pPr marL="0" indent="0">
              <a:buNone/>
            </a:pPr>
            <a:r>
              <a:rPr lang="en-US" sz="850" dirty="0">
                <a:solidFill>
                  <a:srgbClr val="000000"/>
                </a:solidFill>
              </a:rPr>
              <a:t>▸ Franchissement involontaire de lignes</a:t>
            </a:r>
            <a:endParaRPr lang="en-US" sz="950" dirty="0"/>
          </a:p>
          <a:p>
            <a:pPr marL="0" indent="0">
              <a:buNone/>
            </a:pPr>
            <a:endParaRPr lang="en-US" sz="950" dirty="0"/>
          </a:p>
          <a:p>
            <a:pPr marL="0" indent="0">
              <a:buNone/>
            </a:pPr>
            <a:r>
              <a:rPr lang="en-US" sz="900" b="1" dirty="0">
                <a:solidFill>
                  <a:srgbClr val="1A3A5C"/>
                </a:solidFill>
              </a:rPr>
              <a:t>Obligations conducteur pro :</a:t>
            </a:r>
            <a:endParaRPr lang="en-US" sz="950" dirty="0"/>
          </a:p>
          <a:p>
            <a:pPr marL="0" indent="0">
              <a:buNone/>
            </a:pPr>
            <a:r>
              <a:rPr lang="en-US" sz="850" b="1" dirty="0">
                <a:solidFill>
                  <a:srgbClr val="276749"/>
                </a:solidFill>
              </a:rPr>
              <a:t>✅ Pause de 15-20 min toutes les 2h</a:t>
            </a:r>
            <a:endParaRPr lang="en-US" sz="950" dirty="0"/>
          </a:p>
          <a:p>
            <a:pPr marL="0" indent="0">
              <a:buNone/>
            </a:pPr>
            <a:r>
              <a:rPr lang="en-US" sz="850" dirty="0">
                <a:solidFill>
                  <a:srgbClr val="000000"/>
                </a:solidFill>
              </a:rPr>
              <a:t>✅ Ne pas conduire entre 2h et 5h</a:t>
            </a:r>
            <a:endParaRPr lang="en-US" sz="950" dirty="0"/>
          </a:p>
          <a:p>
            <a:pPr marL="0" indent="0">
              <a:buNone/>
            </a:pPr>
            <a:r>
              <a:rPr lang="en-US" sz="850" dirty="0">
                <a:solidFill>
                  <a:srgbClr val="000000"/>
                </a:solidFill>
              </a:rPr>
              <a:t>✅ Dormir 7h minimum avant un trajet</a:t>
            </a:r>
            <a:endParaRPr lang="en-US" sz="950" dirty="0"/>
          </a:p>
          <a:p>
            <a:pPr marL="0" indent="0">
              <a:buNone/>
            </a:pPr>
            <a:r>
              <a:rPr lang="en-US" sz="850" b="1" dirty="0">
                <a:solidFill>
                  <a:srgbClr val="D35400"/>
                </a:solidFill>
              </a:rPr>
              <a:t>✅ Seul remède efficace = DORMIR</a:t>
            </a:r>
            <a:endParaRPr lang="en-US" sz="950" dirty="0"/>
          </a:p>
        </p:txBody>
      </p:sp>
      <p:sp>
        <p:nvSpPr>
          <p:cNvPr id="15" name="Shape 13"/>
          <p:cNvSpPr/>
          <p:nvPr/>
        </p:nvSpPr>
        <p:spPr>
          <a:xfrm>
            <a:off x="6126480" y="1024128"/>
            <a:ext cx="2743200" cy="3200400"/>
          </a:xfrm>
          <a:prstGeom prst="rect">
            <a:avLst/>
          </a:prstGeom>
          <a:solidFill>
            <a:srgbClr val="F0F4F8"/>
          </a:solidFill>
          <a:ln/>
        </p:spPr>
        <p:txBody>
          <a:bodyPr/>
          <a:lstStyle/>
          <a:p>
            <a:endParaRPr lang="fr-FR"/>
          </a:p>
        </p:txBody>
      </p:sp>
      <p:sp>
        <p:nvSpPr>
          <p:cNvPr id="16" name="Shape 14"/>
          <p:cNvSpPr/>
          <p:nvPr/>
        </p:nvSpPr>
        <p:spPr>
          <a:xfrm>
            <a:off x="6126480" y="1024128"/>
            <a:ext cx="2743200" cy="237744"/>
          </a:xfrm>
          <a:prstGeom prst="rect">
            <a:avLst/>
          </a:prstGeom>
          <a:solidFill>
            <a:srgbClr val="6C3483"/>
          </a:solidFill>
          <a:ln/>
        </p:spPr>
        <p:txBody>
          <a:bodyPr/>
          <a:lstStyle/>
          <a:p>
            <a:endParaRPr lang="fr-FR"/>
          </a:p>
        </p:txBody>
      </p:sp>
      <p:sp>
        <p:nvSpPr>
          <p:cNvPr id="17" name="Text 15"/>
          <p:cNvSpPr/>
          <p:nvPr/>
        </p:nvSpPr>
        <p:spPr>
          <a:xfrm>
            <a:off x="6181344" y="1024128"/>
            <a:ext cx="2633472"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Stress au volant</a:t>
            </a:r>
            <a:endParaRPr lang="en-US" sz="950" dirty="0"/>
          </a:p>
        </p:txBody>
      </p:sp>
      <p:sp>
        <p:nvSpPr>
          <p:cNvPr id="18" name="Text 16"/>
          <p:cNvSpPr/>
          <p:nvPr/>
        </p:nvSpPr>
        <p:spPr>
          <a:xfrm>
            <a:off x="6199632" y="1298448"/>
            <a:ext cx="2596896" cy="2889504"/>
          </a:xfrm>
          <a:prstGeom prst="rect">
            <a:avLst/>
          </a:prstGeom>
          <a:noFill/>
          <a:ln/>
        </p:spPr>
        <p:txBody>
          <a:bodyPr wrap="square" lIns="0" tIns="0" rIns="0" bIns="0" rtlCol="0" anchor="t"/>
          <a:lstStyle/>
          <a:p>
            <a:pPr marL="0" indent="0">
              <a:buNone/>
            </a:pPr>
            <a:r>
              <a:rPr lang="en-US" sz="900" b="1" dirty="0">
                <a:solidFill>
                  <a:srgbClr val="1A3A5C"/>
                </a:solidFill>
              </a:rPr>
              <a:t>Effets sur la conduite :</a:t>
            </a:r>
            <a:endParaRPr lang="en-US" sz="900" dirty="0"/>
          </a:p>
          <a:p>
            <a:pPr marL="0" indent="0">
              <a:buNone/>
            </a:pPr>
            <a:r>
              <a:rPr lang="en-US" sz="850" dirty="0">
                <a:solidFill>
                  <a:srgbClr val="000000"/>
                </a:solidFill>
              </a:rPr>
              <a:t>▸ Agressivité, impatience</a:t>
            </a:r>
            <a:endParaRPr lang="en-US" sz="900" dirty="0"/>
          </a:p>
          <a:p>
            <a:pPr marL="0" indent="0">
              <a:buNone/>
            </a:pPr>
            <a:r>
              <a:rPr lang="en-US" sz="850" dirty="0">
                <a:solidFill>
                  <a:srgbClr val="000000"/>
                </a:solidFill>
              </a:rPr>
              <a:t>▸ Prise de risques (vitesse, distances)</a:t>
            </a:r>
            <a:endParaRPr lang="en-US" sz="900" dirty="0"/>
          </a:p>
          <a:p>
            <a:pPr marL="0" indent="0">
              <a:buNone/>
            </a:pPr>
            <a:r>
              <a:rPr lang="en-US" sz="850" dirty="0">
                <a:solidFill>
                  <a:srgbClr val="000000"/>
                </a:solidFill>
              </a:rPr>
              <a:t>▸ Attention réduite, erreurs</a:t>
            </a:r>
            <a:endParaRPr lang="en-US" sz="900" dirty="0"/>
          </a:p>
          <a:p>
            <a:pPr marL="0" indent="0">
              <a:buNone/>
            </a:pPr>
            <a:r>
              <a:rPr lang="en-US" sz="850" dirty="0">
                <a:solidFill>
                  <a:srgbClr val="000000"/>
                </a:solidFill>
              </a:rPr>
              <a:t>▸ Réactions excessives ou retardées</a:t>
            </a:r>
            <a:endParaRPr lang="en-US" sz="900" dirty="0"/>
          </a:p>
          <a:p>
            <a:pPr marL="0" indent="0">
              <a:buNone/>
            </a:pPr>
            <a:endParaRPr lang="en-US" sz="900" dirty="0"/>
          </a:p>
          <a:p>
            <a:pPr marL="0" indent="0">
              <a:buNone/>
            </a:pPr>
            <a:r>
              <a:rPr lang="en-US" sz="900" b="1" dirty="0">
                <a:solidFill>
                  <a:srgbClr val="1A3A5C"/>
                </a:solidFill>
              </a:rPr>
              <a:t>Facteurs de stress VTC/Taxi :</a:t>
            </a:r>
            <a:endParaRPr lang="en-US" sz="900" dirty="0"/>
          </a:p>
          <a:p>
            <a:pPr marL="0" indent="0">
              <a:buNone/>
            </a:pPr>
            <a:r>
              <a:rPr lang="en-US" sz="850" dirty="0">
                <a:solidFill>
                  <a:srgbClr val="000000"/>
                </a:solidFill>
              </a:rPr>
              <a:t>▸ Embouteillages, retards clients</a:t>
            </a:r>
            <a:endParaRPr lang="en-US" sz="900" dirty="0"/>
          </a:p>
          <a:p>
            <a:pPr marL="0" indent="0">
              <a:buNone/>
            </a:pPr>
            <a:r>
              <a:rPr lang="en-US" sz="850" dirty="0">
                <a:solidFill>
                  <a:srgbClr val="000000"/>
                </a:solidFill>
              </a:rPr>
              <a:t>▸ Pression horaire, course au CA</a:t>
            </a:r>
            <a:endParaRPr lang="en-US" sz="900" dirty="0"/>
          </a:p>
          <a:p>
            <a:pPr marL="0" indent="0">
              <a:buNone/>
            </a:pPr>
            <a:r>
              <a:rPr lang="en-US" sz="850" dirty="0">
                <a:solidFill>
                  <a:srgbClr val="000000"/>
                </a:solidFill>
              </a:rPr>
              <a:t>▸ Clients difficiles</a:t>
            </a:r>
            <a:endParaRPr lang="en-US" sz="900" dirty="0"/>
          </a:p>
          <a:p>
            <a:pPr marL="0" indent="0">
              <a:buNone/>
            </a:pPr>
            <a:endParaRPr lang="en-US" sz="900" dirty="0"/>
          </a:p>
          <a:p>
            <a:pPr marL="0" indent="0">
              <a:buNone/>
            </a:pPr>
            <a:r>
              <a:rPr lang="en-US" sz="900" b="1" dirty="0">
                <a:solidFill>
                  <a:srgbClr val="1A3A5C"/>
                </a:solidFill>
              </a:rPr>
              <a:t>Comment gérer :</a:t>
            </a:r>
            <a:endParaRPr lang="en-US" sz="900" dirty="0"/>
          </a:p>
          <a:p>
            <a:pPr marL="0" indent="0">
              <a:buNone/>
            </a:pPr>
            <a:r>
              <a:rPr lang="en-US" sz="850" dirty="0">
                <a:solidFill>
                  <a:srgbClr val="000000"/>
                </a:solidFill>
              </a:rPr>
              <a:t>✅ Anticiper les trajets (GPS, horaires)</a:t>
            </a:r>
            <a:endParaRPr lang="en-US" sz="900" dirty="0"/>
          </a:p>
          <a:p>
            <a:pPr marL="0" indent="0">
              <a:buNone/>
            </a:pPr>
            <a:r>
              <a:rPr lang="en-US" sz="850" dirty="0">
                <a:solidFill>
                  <a:srgbClr val="000000"/>
                </a:solidFill>
              </a:rPr>
              <a:t>✅ Respiration profonde si tension</a:t>
            </a:r>
            <a:endParaRPr lang="en-US" sz="900" dirty="0"/>
          </a:p>
          <a:p>
            <a:pPr marL="0" indent="0">
              <a:buNone/>
            </a:pPr>
            <a:r>
              <a:rPr lang="en-US" sz="850" dirty="0">
                <a:solidFill>
                  <a:srgbClr val="000000"/>
                </a:solidFill>
              </a:rPr>
              <a:t>✅ Se garer si énervement trop fort</a:t>
            </a:r>
            <a:endParaRPr lang="en-US" sz="900" dirty="0"/>
          </a:p>
          <a:p>
            <a:pPr marL="0" indent="0">
              <a:buNone/>
            </a:pPr>
            <a:r>
              <a:rPr lang="en-US" sz="850" dirty="0">
                <a:solidFill>
                  <a:srgbClr val="000000"/>
                </a:solidFill>
              </a:rPr>
              <a:t>✅ Ne jamais conduire sous émotion forte</a:t>
            </a:r>
            <a:endParaRPr lang="en-US" sz="900" dirty="0"/>
          </a:p>
        </p:txBody>
      </p:sp>
      <p:sp>
        <p:nvSpPr>
          <p:cNvPr id="19" name="Shape 17"/>
          <p:cNvSpPr/>
          <p:nvPr/>
        </p:nvSpPr>
        <p:spPr>
          <a:xfrm>
            <a:off x="274320" y="4315968"/>
            <a:ext cx="8595360" cy="256032"/>
          </a:xfrm>
          <a:prstGeom prst="rect">
            <a:avLst/>
          </a:prstGeom>
          <a:solidFill>
            <a:srgbClr val="1A3A5C"/>
          </a:solidFill>
          <a:ln/>
        </p:spPr>
        <p:txBody>
          <a:bodyPr/>
          <a:lstStyle/>
          <a:p>
            <a:endParaRPr lang="fr-FR"/>
          </a:p>
        </p:txBody>
      </p:sp>
      <p:sp>
        <p:nvSpPr>
          <p:cNvPr id="20" name="Text 18"/>
          <p:cNvSpPr/>
          <p:nvPr/>
        </p:nvSpPr>
        <p:spPr>
          <a:xfrm>
            <a:off x="402336" y="4315968"/>
            <a:ext cx="8339328" cy="25603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Médicaments + fatigue + stress = les 3 risques souvent oubliés.  Un conducteur VTC fatigué = aussi dangereux qu'un conducteur alcoolisé !</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9264"/>
          </a:xfrm>
          <a:prstGeom prst="rect">
            <a:avLst/>
          </a:prstGeom>
          <a:solidFill>
            <a:srgbClr val="1A3A5C"/>
          </a:solidFill>
          <a:ln/>
        </p:spPr>
        <p:txBody>
          <a:bodyPr/>
          <a:lstStyle/>
          <a:p>
            <a:endParaRPr lang="fr-FR"/>
          </a:p>
        </p:txBody>
      </p:sp>
      <p:sp>
        <p:nvSpPr>
          <p:cNvPr id="3" name="Text 1"/>
          <p:cNvSpPr/>
          <p:nvPr/>
        </p:nvSpPr>
        <p:spPr>
          <a:xfrm>
            <a:off x="365760" y="0"/>
            <a:ext cx="8412480" cy="603504"/>
          </a:xfrm>
          <a:prstGeom prst="rect">
            <a:avLst/>
          </a:prstGeom>
          <a:noFill/>
          <a:ln/>
        </p:spPr>
        <p:txBody>
          <a:bodyPr wrap="square" lIns="0" tIns="0" rIns="0" bIns="0"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PARTIE 3 — COURS</a:t>
            </a:r>
            <a:endParaRPr lang="en-US" sz="1900" dirty="0"/>
          </a:p>
        </p:txBody>
      </p:sp>
      <p:sp>
        <p:nvSpPr>
          <p:cNvPr id="4" name="Text 2"/>
          <p:cNvSpPr/>
          <p:nvPr/>
        </p:nvSpPr>
        <p:spPr>
          <a:xfrm>
            <a:off x="365760" y="621792"/>
            <a:ext cx="8412480" cy="329184"/>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Prise en charge des passagers — sécurité et obligations</a:t>
            </a:r>
            <a:endParaRPr lang="en-US" sz="1050" dirty="0"/>
          </a:p>
        </p:txBody>
      </p:sp>
      <p:sp>
        <p:nvSpPr>
          <p:cNvPr id="5" name="Text 3"/>
          <p:cNvSpPr/>
          <p:nvPr/>
        </p:nvSpPr>
        <p:spPr>
          <a:xfrm>
            <a:off x="274320" y="4892040"/>
            <a:ext cx="8046720" cy="201168"/>
          </a:xfrm>
          <a:prstGeom prst="rect">
            <a:avLst/>
          </a:prstGeom>
          <a:noFill/>
          <a:ln/>
        </p:spPr>
        <p:txBody>
          <a:bodyPr wrap="square" lIns="0" tIns="0" rIns="0" bIns="0" rtlCol="0" anchor="ctr"/>
          <a:lstStyle/>
          <a:p>
            <a:pPr marL="0" indent="0">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6" name="Text 4"/>
          <p:cNvSpPr/>
          <p:nvPr/>
        </p:nvSpPr>
        <p:spPr>
          <a:xfrm>
            <a:off x="8732520" y="4892040"/>
            <a:ext cx="347472" cy="201168"/>
          </a:xfrm>
          <a:prstGeom prst="rect">
            <a:avLst/>
          </a:prstGeom>
          <a:noFill/>
          <a:ln/>
        </p:spPr>
        <p:txBody>
          <a:bodyPr wrap="square" lIns="0" tIns="0" rIns="0" bIns="0"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X</a:t>
            </a:r>
            <a:endParaRPr lang="en-US" sz="800" dirty="0"/>
          </a:p>
        </p:txBody>
      </p:sp>
      <p:sp>
        <p:nvSpPr>
          <p:cNvPr id="7" name="Shape 5"/>
          <p:cNvSpPr/>
          <p:nvPr/>
        </p:nvSpPr>
        <p:spPr>
          <a:xfrm>
            <a:off x="274320" y="1024128"/>
            <a:ext cx="4160520" cy="1572768"/>
          </a:xfrm>
          <a:prstGeom prst="rect">
            <a:avLst/>
          </a:prstGeom>
          <a:solidFill>
            <a:srgbClr val="F0F4F8"/>
          </a:solidFill>
          <a:ln/>
        </p:spPr>
        <p:txBody>
          <a:bodyPr/>
          <a:lstStyle/>
          <a:p>
            <a:endParaRPr lang="fr-FR"/>
          </a:p>
        </p:txBody>
      </p:sp>
      <p:sp>
        <p:nvSpPr>
          <p:cNvPr id="8" name="Shape 6"/>
          <p:cNvSpPr/>
          <p:nvPr/>
        </p:nvSpPr>
        <p:spPr>
          <a:xfrm>
            <a:off x="274320" y="1024128"/>
            <a:ext cx="4160520" cy="237744"/>
          </a:xfrm>
          <a:prstGeom prst="rect">
            <a:avLst/>
          </a:prstGeom>
          <a:solidFill>
            <a:srgbClr val="2A5580"/>
          </a:solidFill>
          <a:ln/>
        </p:spPr>
        <p:txBody>
          <a:bodyPr/>
          <a:lstStyle/>
          <a:p>
            <a:endParaRPr lang="fr-FR"/>
          </a:p>
        </p:txBody>
      </p:sp>
      <p:sp>
        <p:nvSpPr>
          <p:cNvPr id="9" name="Text 7"/>
          <p:cNvSpPr/>
          <p:nvPr/>
        </p:nvSpPr>
        <p:spPr>
          <a:xfrm>
            <a:off x="347472" y="1024128"/>
            <a:ext cx="4014216"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Obligations du conducteur VTC/Taxi</a:t>
            </a:r>
            <a:endParaRPr lang="en-US" sz="950" dirty="0"/>
          </a:p>
        </p:txBody>
      </p:sp>
      <p:sp>
        <p:nvSpPr>
          <p:cNvPr id="10" name="Text 8"/>
          <p:cNvSpPr/>
          <p:nvPr/>
        </p:nvSpPr>
        <p:spPr>
          <a:xfrm>
            <a:off x="384048" y="1298448"/>
            <a:ext cx="3941064" cy="1261872"/>
          </a:xfrm>
          <a:prstGeom prst="rect">
            <a:avLst/>
          </a:prstGeom>
          <a:noFill/>
          <a:ln/>
        </p:spPr>
        <p:txBody>
          <a:bodyPr wrap="square" lIns="0" tIns="0" rIns="0" bIns="0" rtlCol="0" anchor="t"/>
          <a:lstStyle/>
          <a:p>
            <a:pPr marL="0" indent="0">
              <a:buNone/>
            </a:pPr>
            <a:r>
              <a:rPr lang="en-US" sz="900" b="1" dirty="0">
                <a:solidFill>
                  <a:srgbClr val="1A3A5C"/>
                </a:solidFill>
              </a:rPr>
              <a:t>Avant le départ :</a:t>
            </a:r>
            <a:endParaRPr lang="en-US" sz="900" dirty="0"/>
          </a:p>
          <a:p>
            <a:pPr marL="0" indent="0">
              <a:buNone/>
            </a:pPr>
            <a:r>
              <a:rPr lang="en-US" sz="900" dirty="0">
                <a:solidFill>
                  <a:srgbClr val="000000"/>
                </a:solidFill>
              </a:rPr>
              <a:t>▸ Vérifier que TOUS les passagers portent</a:t>
            </a:r>
            <a:endParaRPr lang="en-US" sz="900" dirty="0"/>
          </a:p>
          <a:p>
            <a:pPr marL="0" indent="0">
              <a:buNone/>
            </a:pPr>
            <a:r>
              <a:rPr lang="en-US" sz="900" dirty="0">
                <a:solidFill>
                  <a:srgbClr val="000000"/>
                </a:solidFill>
              </a:rPr>
              <a:t>   la ceinture de sécurité (y compris à l'arrière)</a:t>
            </a:r>
            <a:endParaRPr lang="en-US" sz="900" dirty="0"/>
          </a:p>
          <a:p>
            <a:pPr marL="0" indent="0">
              <a:buNone/>
            </a:pPr>
            <a:r>
              <a:rPr lang="en-US" sz="900" dirty="0">
                <a:solidFill>
                  <a:srgbClr val="000000"/>
                </a:solidFill>
              </a:rPr>
              <a:t>▸ S'assurer des sièges enfants adaptés (&lt;135 cm)</a:t>
            </a:r>
            <a:endParaRPr lang="en-US" sz="900" dirty="0"/>
          </a:p>
          <a:p>
            <a:pPr marL="0" indent="0">
              <a:buNone/>
            </a:pPr>
            <a:r>
              <a:rPr lang="en-US" sz="900" dirty="0">
                <a:solidFill>
                  <a:srgbClr val="000000"/>
                </a:solidFill>
              </a:rPr>
              <a:t>▸ Verrouiller les portières (sécurité enfants)</a:t>
            </a:r>
            <a:endParaRPr lang="en-US" sz="900" dirty="0"/>
          </a:p>
          <a:p>
            <a:pPr marL="0" indent="0">
              <a:buNone/>
            </a:pPr>
            <a:endParaRPr lang="en-US" sz="900" dirty="0"/>
          </a:p>
          <a:p>
            <a:pPr marL="0" indent="0">
              <a:buNone/>
            </a:pPr>
            <a:r>
              <a:rPr lang="en-US" sz="900" b="1" dirty="0">
                <a:solidFill>
                  <a:srgbClr val="1A3A5C"/>
                </a:solidFill>
              </a:rPr>
              <a:t>Pendant le trajet :</a:t>
            </a:r>
            <a:endParaRPr lang="en-US" sz="900" dirty="0"/>
          </a:p>
          <a:p>
            <a:pPr marL="0" indent="0">
              <a:buNone/>
            </a:pPr>
            <a:r>
              <a:rPr lang="en-US" sz="900" dirty="0">
                <a:solidFill>
                  <a:srgbClr val="000000"/>
                </a:solidFill>
              </a:rPr>
              <a:t>▸ Conduite souple et prévisible</a:t>
            </a:r>
            <a:endParaRPr lang="en-US" sz="900" dirty="0"/>
          </a:p>
          <a:p>
            <a:pPr marL="0" indent="0">
              <a:buNone/>
            </a:pPr>
            <a:r>
              <a:rPr lang="en-US" sz="900" dirty="0">
                <a:solidFill>
                  <a:srgbClr val="000000"/>
                </a:solidFill>
              </a:rPr>
              <a:t>▸ Adapter la vitesse aux passagers (PMR, enfants)</a:t>
            </a:r>
            <a:endParaRPr lang="en-US" sz="900" dirty="0"/>
          </a:p>
          <a:p>
            <a:pPr marL="0" indent="0">
              <a:buNone/>
            </a:pPr>
            <a:r>
              <a:rPr lang="en-US" sz="900" dirty="0">
                <a:solidFill>
                  <a:srgbClr val="000000"/>
                </a:solidFill>
              </a:rPr>
              <a:t>▸ Informer des arrêts / manœuvres si besoin</a:t>
            </a:r>
            <a:endParaRPr lang="en-US" sz="900" dirty="0"/>
          </a:p>
        </p:txBody>
      </p:sp>
      <p:sp>
        <p:nvSpPr>
          <p:cNvPr id="11" name="Shape 9"/>
          <p:cNvSpPr/>
          <p:nvPr/>
        </p:nvSpPr>
        <p:spPr>
          <a:xfrm>
            <a:off x="4709160" y="1024128"/>
            <a:ext cx="4160520" cy="1572768"/>
          </a:xfrm>
          <a:prstGeom prst="rect">
            <a:avLst/>
          </a:prstGeom>
          <a:solidFill>
            <a:srgbClr val="F0F4F8"/>
          </a:solidFill>
          <a:ln/>
        </p:spPr>
        <p:txBody>
          <a:bodyPr/>
          <a:lstStyle/>
          <a:p>
            <a:endParaRPr lang="fr-FR"/>
          </a:p>
        </p:txBody>
      </p:sp>
      <p:sp>
        <p:nvSpPr>
          <p:cNvPr id="12" name="Shape 10"/>
          <p:cNvSpPr/>
          <p:nvPr/>
        </p:nvSpPr>
        <p:spPr>
          <a:xfrm>
            <a:off x="4709160" y="1024128"/>
            <a:ext cx="4160520" cy="237744"/>
          </a:xfrm>
          <a:prstGeom prst="rect">
            <a:avLst/>
          </a:prstGeom>
          <a:solidFill>
            <a:srgbClr val="C0392B"/>
          </a:solidFill>
          <a:ln/>
        </p:spPr>
        <p:txBody>
          <a:bodyPr/>
          <a:lstStyle/>
          <a:p>
            <a:endParaRPr lang="fr-FR"/>
          </a:p>
        </p:txBody>
      </p:sp>
      <p:sp>
        <p:nvSpPr>
          <p:cNvPr id="13" name="Text 11"/>
          <p:cNvSpPr/>
          <p:nvPr/>
        </p:nvSpPr>
        <p:spPr>
          <a:xfrm>
            <a:off x="4782312" y="1024128"/>
            <a:ext cx="4014216"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Ceinture de sécurité — Sanctions</a:t>
            </a:r>
            <a:endParaRPr lang="en-US" sz="950" dirty="0"/>
          </a:p>
        </p:txBody>
      </p:sp>
      <p:sp>
        <p:nvSpPr>
          <p:cNvPr id="14" name="Text 12"/>
          <p:cNvSpPr/>
          <p:nvPr/>
        </p:nvSpPr>
        <p:spPr>
          <a:xfrm>
            <a:off x="4818888" y="1298448"/>
            <a:ext cx="3941064" cy="1261872"/>
          </a:xfrm>
          <a:prstGeom prst="rect">
            <a:avLst/>
          </a:prstGeom>
          <a:noFill/>
          <a:ln/>
        </p:spPr>
        <p:txBody>
          <a:bodyPr wrap="square" lIns="0" tIns="0" rIns="0" bIns="0" rtlCol="0" anchor="t"/>
          <a:lstStyle/>
          <a:p>
            <a:pPr marL="0" indent="0">
              <a:buNone/>
            </a:pPr>
            <a:r>
              <a:rPr lang="en-US" sz="1000" b="1" dirty="0">
                <a:solidFill>
                  <a:srgbClr val="C0392B"/>
                </a:solidFill>
              </a:rPr>
              <a:t>Obligatoire à l'AVANT et à l'ARRIÈRE</a:t>
            </a:r>
            <a:endParaRPr lang="en-US" sz="1000" dirty="0"/>
          </a:p>
          <a:p>
            <a:pPr marL="0" indent="0">
              <a:buNone/>
            </a:pPr>
            <a:r>
              <a:rPr lang="en-US" sz="850" dirty="0">
                <a:solidFill>
                  <a:srgbClr val="555F6D"/>
                </a:solidFill>
              </a:rPr>
              <a:t>(depuis 1990 à l'arrière)</a:t>
            </a:r>
            <a:endParaRPr lang="en-US" sz="1000" dirty="0"/>
          </a:p>
          <a:p>
            <a:pPr marL="0" indent="0">
              <a:buNone/>
            </a:pPr>
            <a:endParaRPr lang="en-US" sz="1000" dirty="0"/>
          </a:p>
          <a:p>
            <a:pPr marL="0" indent="0">
              <a:buNone/>
            </a:pPr>
            <a:r>
              <a:rPr lang="en-US" sz="900" b="1" dirty="0">
                <a:solidFill>
                  <a:srgbClr val="1A3A5C"/>
                </a:solidFill>
              </a:rPr>
              <a:t>Sanctions :</a:t>
            </a:r>
            <a:endParaRPr lang="en-US" sz="1000" dirty="0"/>
          </a:p>
          <a:p>
            <a:pPr marL="0" indent="0">
              <a:buNone/>
            </a:pPr>
            <a:r>
              <a:rPr lang="en-US" sz="900" dirty="0">
                <a:solidFill>
                  <a:srgbClr val="000000"/>
                </a:solidFill>
              </a:rPr>
              <a:t>▸ 135 € d'amende (classe 4)</a:t>
            </a:r>
            <a:endParaRPr lang="en-US" sz="1000" dirty="0"/>
          </a:p>
          <a:p>
            <a:pPr marL="0" indent="0">
              <a:buNone/>
            </a:pPr>
            <a:r>
              <a:rPr lang="en-US" sz="900" dirty="0">
                <a:solidFill>
                  <a:srgbClr val="000000"/>
                </a:solidFill>
              </a:rPr>
              <a:t>▸ 3 points retirés sur le permis</a:t>
            </a:r>
            <a:endParaRPr lang="en-US" sz="1000" dirty="0"/>
          </a:p>
          <a:p>
            <a:pPr marL="0" indent="0">
              <a:buNone/>
            </a:pPr>
            <a:endParaRPr lang="en-US" sz="1000" dirty="0"/>
          </a:p>
          <a:p>
            <a:pPr marL="0" indent="0">
              <a:buNone/>
            </a:pPr>
            <a:r>
              <a:rPr lang="en-US" sz="900" b="1" dirty="0">
                <a:solidFill>
                  <a:srgbClr val="1A3A5C"/>
                </a:solidFill>
              </a:rPr>
              <a:t>Responsabilité :</a:t>
            </a:r>
            <a:endParaRPr lang="en-US" sz="1000" dirty="0"/>
          </a:p>
          <a:p>
            <a:pPr marL="0" indent="0">
              <a:buNone/>
            </a:pPr>
            <a:r>
              <a:rPr lang="en-US" sz="900" dirty="0">
                <a:solidFill>
                  <a:srgbClr val="000000"/>
                </a:solidFill>
              </a:rPr>
              <a:t>▸ Passager ≥ 18 ans → lui-même responsable</a:t>
            </a:r>
            <a:endParaRPr lang="en-US" sz="1000" dirty="0"/>
          </a:p>
          <a:p>
            <a:pPr marL="0" indent="0">
              <a:buNone/>
            </a:pPr>
            <a:r>
              <a:rPr lang="en-US" sz="900" dirty="0">
                <a:solidFill>
                  <a:srgbClr val="000000"/>
                </a:solidFill>
              </a:rPr>
              <a:t>▸ Passager &lt; 18 ans → le CONDUCTEUR est</a:t>
            </a:r>
            <a:endParaRPr lang="en-US" sz="1000" dirty="0"/>
          </a:p>
          <a:p>
            <a:pPr marL="0" indent="0">
              <a:buNone/>
            </a:pPr>
            <a:r>
              <a:rPr lang="en-US" sz="900" dirty="0">
                <a:solidFill>
                  <a:srgbClr val="000000"/>
                </a:solidFill>
              </a:rPr>
              <a:t>   responsable et sanctionné</a:t>
            </a:r>
            <a:endParaRPr lang="en-US" sz="1000" dirty="0"/>
          </a:p>
        </p:txBody>
      </p:sp>
      <p:sp>
        <p:nvSpPr>
          <p:cNvPr id="15" name="Shape 13"/>
          <p:cNvSpPr/>
          <p:nvPr/>
        </p:nvSpPr>
        <p:spPr>
          <a:xfrm>
            <a:off x="274320" y="2670048"/>
            <a:ext cx="8595360" cy="1280160"/>
          </a:xfrm>
          <a:prstGeom prst="rect">
            <a:avLst/>
          </a:prstGeom>
          <a:solidFill>
            <a:srgbClr val="F0F4F8"/>
          </a:solidFill>
          <a:ln/>
        </p:spPr>
        <p:txBody>
          <a:bodyPr/>
          <a:lstStyle/>
          <a:p>
            <a:endParaRPr lang="fr-FR"/>
          </a:p>
        </p:txBody>
      </p:sp>
      <p:sp>
        <p:nvSpPr>
          <p:cNvPr id="16" name="Shape 14"/>
          <p:cNvSpPr/>
          <p:nvPr/>
        </p:nvSpPr>
        <p:spPr>
          <a:xfrm>
            <a:off x="274320" y="2670048"/>
            <a:ext cx="8595360" cy="237744"/>
          </a:xfrm>
          <a:prstGeom prst="rect">
            <a:avLst/>
          </a:prstGeom>
          <a:solidFill>
            <a:srgbClr val="276749"/>
          </a:solidFill>
          <a:ln/>
        </p:spPr>
        <p:txBody>
          <a:bodyPr/>
          <a:lstStyle/>
          <a:p>
            <a:endParaRPr lang="fr-FR"/>
          </a:p>
        </p:txBody>
      </p:sp>
      <p:sp>
        <p:nvSpPr>
          <p:cNvPr id="17" name="Text 15"/>
          <p:cNvSpPr/>
          <p:nvPr/>
        </p:nvSpPr>
        <p:spPr>
          <a:xfrm>
            <a:off x="347472" y="2670048"/>
            <a:ext cx="8412480" cy="23774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Équipements de sécurité passive du véhicule</a:t>
            </a:r>
            <a:endParaRPr lang="en-US" sz="1000" dirty="0"/>
          </a:p>
        </p:txBody>
      </p:sp>
      <p:sp>
        <p:nvSpPr>
          <p:cNvPr id="18" name="Text 16"/>
          <p:cNvSpPr/>
          <p:nvPr/>
        </p:nvSpPr>
        <p:spPr>
          <a:xfrm>
            <a:off x="384048" y="2944368"/>
            <a:ext cx="4023360" cy="969264"/>
          </a:xfrm>
          <a:prstGeom prst="rect">
            <a:avLst/>
          </a:prstGeom>
          <a:noFill/>
          <a:ln/>
        </p:spPr>
        <p:txBody>
          <a:bodyPr wrap="square" lIns="0" tIns="0" rIns="0" bIns="0" rtlCol="0" anchor="t"/>
          <a:lstStyle/>
          <a:p>
            <a:pPr marL="0" indent="0">
              <a:buNone/>
            </a:pPr>
            <a:r>
              <a:rPr lang="en-US" sz="900" b="1" dirty="0">
                <a:solidFill>
                  <a:srgbClr val="1A3A5C"/>
                </a:solidFill>
              </a:rPr>
              <a:t>Sécurité passive (protection en cas de choc) :</a:t>
            </a:r>
            <a:endParaRPr lang="en-US" sz="900" dirty="0"/>
          </a:p>
          <a:p>
            <a:pPr marL="0" indent="0">
              <a:buNone/>
            </a:pPr>
            <a:r>
              <a:rPr lang="en-US" sz="900" dirty="0">
                <a:solidFill>
                  <a:srgbClr val="000000"/>
                </a:solidFill>
              </a:rPr>
              <a:t>▸ Ceintures de sécurité (prétensionneurs)</a:t>
            </a:r>
            <a:endParaRPr lang="en-US" sz="900" dirty="0"/>
          </a:p>
          <a:p>
            <a:pPr marL="0" indent="0">
              <a:buNone/>
            </a:pPr>
            <a:r>
              <a:rPr lang="en-US" sz="900" dirty="0">
                <a:solidFill>
                  <a:srgbClr val="000000"/>
                </a:solidFill>
              </a:rPr>
              <a:t>▸ Airbags (frontaux, latéraux, rideaux)</a:t>
            </a:r>
            <a:endParaRPr lang="en-US" sz="900" dirty="0"/>
          </a:p>
          <a:p>
            <a:pPr marL="0" indent="0">
              <a:buNone/>
            </a:pPr>
            <a:r>
              <a:rPr lang="en-US" sz="900" dirty="0">
                <a:solidFill>
                  <a:srgbClr val="000000"/>
                </a:solidFill>
              </a:rPr>
              <a:t>▸ Appuie-têtes (anti coup du lapin)</a:t>
            </a:r>
            <a:endParaRPr lang="en-US" sz="900" dirty="0"/>
          </a:p>
          <a:p>
            <a:pPr marL="0" indent="0">
              <a:buNone/>
            </a:pPr>
            <a:r>
              <a:rPr lang="en-US" sz="900" dirty="0">
                <a:solidFill>
                  <a:srgbClr val="000000"/>
                </a:solidFill>
              </a:rPr>
              <a:t>▸ Zones de déformation du véhicule</a:t>
            </a:r>
            <a:endParaRPr lang="en-US" sz="900" dirty="0"/>
          </a:p>
          <a:p>
            <a:pPr marL="0" indent="0">
              <a:buNone/>
            </a:pPr>
            <a:r>
              <a:rPr lang="en-US" sz="900" dirty="0">
                <a:solidFill>
                  <a:srgbClr val="000000"/>
                </a:solidFill>
              </a:rPr>
              <a:t>▸ Fixations Isofix (sièges enfants)</a:t>
            </a:r>
            <a:endParaRPr lang="en-US" sz="900" dirty="0"/>
          </a:p>
        </p:txBody>
      </p:sp>
      <p:sp>
        <p:nvSpPr>
          <p:cNvPr id="19" name="Text 17"/>
          <p:cNvSpPr/>
          <p:nvPr/>
        </p:nvSpPr>
        <p:spPr>
          <a:xfrm>
            <a:off x="4572000" y="2944368"/>
            <a:ext cx="4206240" cy="969264"/>
          </a:xfrm>
          <a:prstGeom prst="rect">
            <a:avLst/>
          </a:prstGeom>
          <a:noFill/>
          <a:ln/>
        </p:spPr>
        <p:txBody>
          <a:bodyPr wrap="square" lIns="0" tIns="0" rIns="0" bIns="0" rtlCol="0" anchor="t"/>
          <a:lstStyle/>
          <a:p>
            <a:pPr marL="0" indent="0">
              <a:buNone/>
            </a:pPr>
            <a:r>
              <a:rPr lang="en-US" sz="900" b="1" dirty="0">
                <a:solidFill>
                  <a:srgbClr val="1A3A5C"/>
                </a:solidFill>
              </a:rPr>
              <a:t>Sécurité active (éviter l'accident) :</a:t>
            </a:r>
            <a:endParaRPr lang="en-US" sz="900" dirty="0"/>
          </a:p>
          <a:p>
            <a:pPr marL="0" indent="0">
              <a:buNone/>
            </a:pPr>
            <a:r>
              <a:rPr lang="en-US" sz="900" dirty="0">
                <a:solidFill>
                  <a:srgbClr val="000000"/>
                </a:solidFill>
              </a:rPr>
              <a:t>▸ ABS (antiblocage des roues)</a:t>
            </a:r>
            <a:endParaRPr lang="en-US" sz="900" dirty="0"/>
          </a:p>
          <a:p>
            <a:pPr marL="0" indent="0">
              <a:buNone/>
            </a:pPr>
            <a:r>
              <a:rPr lang="en-US" sz="900" dirty="0">
                <a:solidFill>
                  <a:srgbClr val="000000"/>
                </a:solidFill>
              </a:rPr>
              <a:t>▸ ESP (contrôle de trajectoire)</a:t>
            </a:r>
            <a:endParaRPr lang="en-US" sz="900" dirty="0"/>
          </a:p>
          <a:p>
            <a:pPr marL="0" indent="0">
              <a:buNone/>
            </a:pPr>
            <a:r>
              <a:rPr lang="en-US" sz="900" dirty="0">
                <a:solidFill>
                  <a:srgbClr val="000000"/>
                </a:solidFill>
              </a:rPr>
              <a:t>▸ AFU (aide au freinage d'urgence)</a:t>
            </a:r>
            <a:endParaRPr lang="en-US" sz="900" dirty="0"/>
          </a:p>
          <a:p>
            <a:pPr marL="0" indent="0">
              <a:buNone/>
            </a:pPr>
            <a:r>
              <a:rPr lang="en-US" sz="900" dirty="0">
                <a:solidFill>
                  <a:srgbClr val="000000"/>
                </a:solidFill>
              </a:rPr>
              <a:t>▸ Éclairage adaptatif, rétroviseurs</a:t>
            </a:r>
            <a:endParaRPr lang="en-US" sz="900" dirty="0"/>
          </a:p>
          <a:p>
            <a:pPr marL="0" indent="0">
              <a:buNone/>
            </a:pPr>
            <a:r>
              <a:rPr lang="en-US" sz="900" dirty="0">
                <a:solidFill>
                  <a:srgbClr val="000000"/>
                </a:solidFill>
              </a:rPr>
              <a:t>▸ Pneus en bon état (1,6 mm minimum)</a:t>
            </a:r>
            <a:endParaRPr lang="en-US" sz="900" dirty="0"/>
          </a:p>
        </p:txBody>
      </p:sp>
      <p:sp>
        <p:nvSpPr>
          <p:cNvPr id="20" name="Shape 18"/>
          <p:cNvSpPr/>
          <p:nvPr/>
        </p:nvSpPr>
        <p:spPr>
          <a:xfrm>
            <a:off x="274320" y="4041648"/>
            <a:ext cx="8595360" cy="256032"/>
          </a:xfrm>
          <a:prstGeom prst="rect">
            <a:avLst/>
          </a:prstGeom>
          <a:solidFill>
            <a:srgbClr val="1A3A5C"/>
          </a:solidFill>
          <a:ln/>
        </p:spPr>
        <p:txBody>
          <a:bodyPr/>
          <a:lstStyle/>
          <a:p>
            <a:endParaRPr lang="fr-FR"/>
          </a:p>
        </p:txBody>
      </p:sp>
      <p:sp>
        <p:nvSpPr>
          <p:cNvPr id="21" name="Text 19"/>
          <p:cNvSpPr/>
          <p:nvPr/>
        </p:nvSpPr>
        <p:spPr>
          <a:xfrm>
            <a:off x="402336" y="4041648"/>
            <a:ext cx="8339328" cy="25603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Le conducteur VTC est responsable de la sécurité de ses passagers.  Ceinture + conduite souple + véhicule entretenu = 0 risque.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3">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Sanctions : Alcool, Stupéfiants &amp; Cumul</a:t>
            </a:r>
            <a:endParaRPr lang="en-US" sz="2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274320" y="1298448"/>
          <a:ext cx="8595360" cy="3383280"/>
        </p:xfrm>
        <a:graphic>
          <a:graphicData uri="http://schemas.openxmlformats.org/drawingml/2006/table">
            <a:tbl>
              <a:tblPr/>
              <a:tblGrid>
                <a:gridCol w="329184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548640">
                <a:tc>
                  <a:txBody>
                    <a:bodyPr/>
                    <a:lstStyle/>
                    <a:p>
                      <a:pPr marL="0" indent="0">
                        <a:buNone/>
                      </a:pPr>
                      <a:r>
                        <a:rPr lang="en-US" sz="850" b="1" dirty="0">
                          <a:solidFill>
                            <a:srgbClr val="FFFFFF"/>
                          </a:solidFill>
                        </a:rPr>
                        <a:t>Infraction</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buNone/>
                      </a:pPr>
                      <a:r>
                        <a:rPr lang="en-US" sz="850" b="1" dirty="0">
                          <a:solidFill>
                            <a:srgbClr val="FFFFFF"/>
                          </a:solidFill>
                        </a:rPr>
                        <a:t>Sanctions</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extLst>
                  <a:ext uri="{0D108BD9-81ED-4DB2-BD59-A6C34878D82A}">
                    <a16:rowId xmlns:a16="http://schemas.microsoft.com/office/drawing/2014/main" val="10000"/>
                  </a:ext>
                </a:extLst>
              </a:tr>
              <a:tr h="548640">
                <a:tc>
                  <a:txBody>
                    <a:bodyPr/>
                    <a:lstStyle/>
                    <a:p>
                      <a:pPr marL="0" indent="0">
                        <a:buNone/>
                      </a:pPr>
                      <a:r>
                        <a:rPr lang="en-US" sz="850" dirty="0">
                          <a:solidFill>
                            <a:srgbClr val="1C2833"/>
                          </a:solidFill>
                        </a:rPr>
                        <a:t>Taux ≥ 0,5 g/l et &lt; 0,8 g/l (contravention)</a:t>
                      </a:r>
                      <a:endParaRPr lang="en-US" sz="850" dirty="0"/>
                    </a:p>
                    <a:p>
                      <a:pPr marL="0" indent="0">
                        <a:buNone/>
                      </a:pPr>
                      <a:r>
                        <a:rPr lang="en-US" sz="850" dirty="0">
                          <a:solidFill>
                            <a:srgbClr val="1C2833"/>
                          </a:solidFill>
                        </a:rPr>
                        <a:t>[0,2 g/l permis probatoire]</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850" dirty="0">
                          <a:solidFill>
                            <a:srgbClr val="1C2833"/>
                          </a:solidFill>
                        </a:rPr>
                        <a:t>Retrait 6 pts · Amende forfait. 135€ (max 750€) · Suspension permis jusqu'à 3 ans · Immobilisation</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850" dirty="0">
                          <a:solidFill>
                            <a:srgbClr val="1C2833"/>
                          </a:solidFill>
                        </a:rPr>
                        <a:t>Taux ≥ 0,8 g/l (délit)</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850" dirty="0">
                          <a:solidFill>
                            <a:srgbClr val="1C2833"/>
                          </a:solidFill>
                        </a:rPr>
                        <a:t>Retrait 6 pts · Amende jusqu'à 4 500€ · Prison 2 ans · Suspension/annulation permis · Stage obligatoire</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850" dirty="0">
                          <a:solidFill>
                            <a:srgbClr val="1C2833"/>
                          </a:solidFill>
                        </a:rPr>
                        <a:t>Refus de souffler</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850" dirty="0">
                          <a:solidFill>
                            <a:srgbClr val="1C2833"/>
                          </a:solidFill>
                        </a:rPr>
                        <a:t>Mêmes sanctions que taux ≥ 0,8 g/l (présomption alcoolémie délictuelle)</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850" dirty="0">
                          <a:solidFill>
                            <a:srgbClr val="1C2833"/>
                          </a:solidFill>
                        </a:rPr>
                        <a:t>Stupéfiants</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850" dirty="0">
                          <a:solidFill>
                            <a:srgbClr val="1C2833"/>
                          </a:solidFill>
                        </a:rPr>
                        <a:t>Retrait 6 pts · Amende 4 500€ · Prison 2 ans · Fourrière immédiate · Peines complémentaires</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850" dirty="0">
                          <a:solidFill>
                            <a:srgbClr val="1C2833"/>
                          </a:solidFill>
                        </a:rPr>
                        <a:t>Alcool + Stupéfiants</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850" dirty="0">
                          <a:solidFill>
                            <a:srgbClr val="1C2833"/>
                          </a:solidFill>
                        </a:rPr>
                        <a:t>Retrait 6 pts · Amende jusqu'à 9 000€ · Prison · Confiscation véhicule · Peines complémentaires</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8" name="Text 5"/>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9" name="Text 6"/>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4">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Limitations de vitesse &amp; Sanctions</a:t>
            </a:r>
            <a:endParaRPr lang="en-US" sz="2000" dirty="0"/>
          </a:p>
        </p:txBody>
      </p:sp>
      <p:sp>
        <p:nvSpPr>
          <p:cNvPr id="6" name="Shape 4"/>
          <p:cNvSpPr/>
          <p:nvPr/>
        </p:nvSpPr>
        <p:spPr>
          <a:xfrm>
            <a:off x="27432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7" name="Text 5"/>
          <p:cNvSpPr/>
          <p:nvPr/>
        </p:nvSpPr>
        <p:spPr>
          <a:xfrm>
            <a:off x="411480" y="1389888"/>
            <a:ext cx="3840480" cy="320040"/>
          </a:xfrm>
          <a:prstGeom prst="rect">
            <a:avLst/>
          </a:prstGeom>
          <a:noFill/>
          <a:ln/>
        </p:spPr>
        <p:txBody>
          <a:bodyPr wrap="square" rtlCol="0" anchor="ctr"/>
          <a:lstStyle/>
          <a:p>
            <a:pPr marL="0" indent="0">
              <a:buNone/>
            </a:pPr>
            <a:r>
              <a:rPr lang="en-US" sz="1100" b="1" dirty="0">
                <a:solidFill>
                  <a:srgbClr val="D35400"/>
                </a:solidFill>
              </a:rPr>
              <a:t>🚗 Limitations de vitesse</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11480" y="1764792"/>
          <a:ext cx="3840480" cy="2103120"/>
        </p:xfrm>
        <a:graphic>
          <a:graphicData uri="http://schemas.openxmlformats.org/drawingml/2006/table">
            <a:tbl>
              <a:tblPr/>
              <a:tblGrid>
                <a:gridCol w="18288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350520">
                <a:tc>
                  <a:txBody>
                    <a:bodyPr/>
                    <a:lstStyle/>
                    <a:p>
                      <a:pPr marL="0" indent="0" algn="ctr">
                        <a:buNone/>
                      </a:pPr>
                      <a:r>
                        <a:rPr lang="en-US" sz="950" b="1" dirty="0">
                          <a:solidFill>
                            <a:srgbClr val="FFFFFF"/>
                          </a:solidFill>
                        </a:rPr>
                        <a:t>Type de voie</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lgn="ctr">
                        <a:buNone/>
                      </a:pPr>
                      <a:r>
                        <a:rPr lang="en-US" sz="950" b="1" dirty="0">
                          <a:solidFill>
                            <a:srgbClr val="FFFFFF"/>
                          </a:solidFill>
                        </a:rPr>
                        <a:t>Sec</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lgn="ctr">
                        <a:buNone/>
                      </a:pPr>
                      <a:r>
                        <a:rPr lang="en-US" sz="950" b="1" dirty="0">
                          <a:solidFill>
                            <a:srgbClr val="FFFFFF"/>
                          </a:solidFill>
                        </a:rPr>
                        <a:t>Pluie</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extLst>
                  <a:ext uri="{0D108BD9-81ED-4DB2-BD59-A6C34878D82A}">
                    <a16:rowId xmlns:a16="http://schemas.microsoft.com/office/drawing/2014/main" val="10000"/>
                  </a:ext>
                </a:extLst>
              </a:tr>
              <a:tr h="350520">
                <a:tc>
                  <a:txBody>
                    <a:bodyPr/>
                    <a:lstStyle/>
                    <a:p>
                      <a:pPr marL="0" indent="0" algn="ctr">
                        <a:buNone/>
                      </a:pPr>
                      <a:r>
                        <a:rPr lang="en-US" sz="950" dirty="0">
                          <a:solidFill>
                            <a:srgbClr val="1C2833"/>
                          </a:solidFill>
                        </a:rPr>
                        <a:t>Agglomération</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50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50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1"/>
                  </a:ext>
                </a:extLst>
              </a:tr>
              <a:tr h="350520">
                <a:tc>
                  <a:txBody>
                    <a:bodyPr/>
                    <a:lstStyle/>
                    <a:p>
                      <a:pPr marL="0" indent="0" algn="ctr">
                        <a:buNone/>
                      </a:pPr>
                      <a:r>
                        <a:rPr lang="en-US" sz="950" dirty="0">
                          <a:solidFill>
                            <a:srgbClr val="1C2833"/>
                          </a:solidFill>
                        </a:rPr>
                        <a:t>Route 2 sens</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80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80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350520">
                <a:tc>
                  <a:txBody>
                    <a:bodyPr/>
                    <a:lstStyle/>
                    <a:p>
                      <a:pPr marL="0" indent="0" algn="ctr">
                        <a:buNone/>
                      </a:pPr>
                      <a:r>
                        <a:rPr lang="en-US" sz="950" dirty="0">
                          <a:solidFill>
                            <a:srgbClr val="1C2833"/>
                          </a:solidFill>
                        </a:rPr>
                        <a:t>Route 2×2 voies</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110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100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3"/>
                  </a:ext>
                </a:extLst>
              </a:tr>
              <a:tr h="350520">
                <a:tc>
                  <a:txBody>
                    <a:bodyPr/>
                    <a:lstStyle/>
                    <a:p>
                      <a:pPr marL="0" indent="0" algn="ctr">
                        <a:buNone/>
                      </a:pPr>
                      <a:r>
                        <a:rPr lang="en-US" sz="950" dirty="0">
                          <a:solidFill>
                            <a:srgbClr val="1C2833"/>
                          </a:solidFill>
                        </a:rPr>
                        <a:t>Autoroute</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130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110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350520">
                <a:tc>
                  <a:txBody>
                    <a:bodyPr/>
                    <a:lstStyle/>
                    <a:p>
                      <a:pPr marL="0" indent="0" algn="ctr">
                        <a:buNone/>
                      </a:pPr>
                      <a:r>
                        <a:rPr lang="en-US" sz="950" dirty="0">
                          <a:solidFill>
                            <a:srgbClr val="1C2833"/>
                          </a:solidFill>
                        </a:rPr>
                        <a:t>Nuit/visib.&lt;50m</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50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50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5"/>
                  </a:ext>
                </a:extLst>
              </a:tr>
            </a:tbl>
          </a:graphicData>
        </a:graphic>
      </p:graphicFrame>
      <p:sp>
        <p:nvSpPr>
          <p:cNvPr id="9" name="Text 6"/>
          <p:cNvSpPr/>
          <p:nvPr/>
        </p:nvSpPr>
        <p:spPr>
          <a:xfrm>
            <a:off x="411480" y="3931920"/>
            <a:ext cx="3840480" cy="292608"/>
          </a:xfrm>
          <a:prstGeom prst="rect">
            <a:avLst/>
          </a:prstGeom>
          <a:noFill/>
          <a:ln/>
        </p:spPr>
        <p:txBody>
          <a:bodyPr wrap="square" rtlCol="0" anchor="ctr"/>
          <a:lstStyle/>
          <a:p>
            <a:pPr marL="0" indent="0">
              <a:buNone/>
            </a:pPr>
            <a:r>
              <a:rPr lang="en-US" sz="1000" b="1" dirty="0">
                <a:solidFill>
                  <a:srgbClr val="D35400"/>
                </a:solidFill>
              </a:rPr>
              <a:t>⚡ Sanctions excès de vitesse</a:t>
            </a:r>
            <a:endParaRPr lang="en-US" sz="1000" dirty="0"/>
          </a:p>
        </p:txBody>
      </p:sp>
      <p:sp>
        <p:nvSpPr>
          <p:cNvPr id="10" name="Text 7"/>
          <p:cNvSpPr/>
          <p:nvPr/>
        </p:nvSpPr>
        <p:spPr>
          <a:xfrm>
            <a:off x="411480" y="4251960"/>
            <a:ext cx="3840480" cy="475488"/>
          </a:xfrm>
          <a:prstGeom prst="rect">
            <a:avLst/>
          </a:prstGeom>
          <a:noFill/>
          <a:ln/>
        </p:spPr>
        <p:txBody>
          <a:bodyPr wrap="square" rtlCol="0" anchor="ctr"/>
          <a:lstStyle/>
          <a:p>
            <a:pPr marL="0" indent="0">
              <a:buNone/>
            </a:pPr>
            <a:r>
              <a:rPr lang="en-US" sz="850" dirty="0">
                <a:solidFill>
                  <a:srgbClr val="1C2833"/>
                </a:solidFill>
              </a:rPr>
              <a:t>&lt; 20 km/h: 1 pt+68€ · 20-29: 2 pts+135€ · 30-39: 3 pts · 40-49: 4 pts · ≥50: 6 pts+1 500€+annulation</a:t>
            </a:r>
            <a:endParaRPr lang="en-US" sz="850" dirty="0"/>
          </a:p>
        </p:txBody>
      </p:sp>
      <p:pic>
        <p:nvPicPr>
          <p:cNvPr id="11" name="Image 0" descr="preencoded.png"/>
          <p:cNvPicPr>
            <a:picLocks noChangeAspect="1"/>
          </p:cNvPicPr>
          <p:nvPr/>
        </p:nvPicPr>
        <p:blipFill>
          <a:blip r:embed="rId3"/>
          <a:stretch>
            <a:fillRect/>
          </a:stretch>
        </p:blipFill>
        <p:spPr>
          <a:xfrm>
            <a:off x="4663440" y="1644091"/>
            <a:ext cx="4206240" cy="2663647"/>
          </a:xfrm>
          <a:prstGeom prst="rect">
            <a:avLst/>
          </a:prstGeom>
        </p:spPr>
      </p:pic>
      <p:sp>
        <p:nvSpPr>
          <p:cNvPr id="12" name="Shape 8"/>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13" name="Text 9"/>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14" name="Text 10"/>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5">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L'éco-conduite — 8 principes essentiels</a:t>
            </a:r>
            <a:endParaRPr lang="en-US" sz="2000" dirty="0"/>
          </a:p>
        </p:txBody>
      </p:sp>
      <p:pic>
        <p:nvPicPr>
          <p:cNvPr id="6" name="Image 0" descr="preencoded.png"/>
          <p:cNvPicPr>
            <a:picLocks noChangeAspect="1"/>
          </p:cNvPicPr>
          <p:nvPr/>
        </p:nvPicPr>
        <p:blipFill>
          <a:blip r:embed="rId3"/>
          <a:stretch>
            <a:fillRect/>
          </a:stretch>
        </p:blipFill>
        <p:spPr>
          <a:xfrm>
            <a:off x="274320" y="1383487"/>
            <a:ext cx="5029200" cy="3184855"/>
          </a:xfrm>
          <a:prstGeom prst="rect">
            <a:avLst/>
          </a:prstGeom>
        </p:spPr>
      </p:pic>
      <p:sp>
        <p:nvSpPr>
          <p:cNvPr id="7" name="Shape 4"/>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5257800" y="1389888"/>
            <a:ext cx="3657600" cy="320040"/>
          </a:xfrm>
          <a:prstGeom prst="rect">
            <a:avLst/>
          </a:prstGeom>
          <a:noFill/>
          <a:ln/>
        </p:spPr>
        <p:txBody>
          <a:bodyPr wrap="square" rtlCol="0" anchor="ctr"/>
          <a:lstStyle/>
          <a:p>
            <a:pPr marL="0" indent="0">
              <a:buNone/>
            </a:pPr>
            <a:r>
              <a:rPr lang="en-US" sz="1100" b="1" dirty="0">
                <a:solidFill>
                  <a:srgbClr val="D35400"/>
                </a:solidFill>
              </a:rPr>
              <a:t>8 principes d'éco-conduite</a:t>
            </a:r>
            <a:endParaRPr lang="en-US" sz="1100" dirty="0"/>
          </a:p>
        </p:txBody>
      </p:sp>
      <p:sp>
        <p:nvSpPr>
          <p:cNvPr id="9" name="Shape 6"/>
          <p:cNvSpPr/>
          <p:nvPr/>
        </p:nvSpPr>
        <p:spPr>
          <a:xfrm>
            <a:off x="5257800" y="1810512"/>
            <a:ext cx="64008" cy="384048"/>
          </a:xfrm>
          <a:prstGeom prst="rect">
            <a:avLst/>
          </a:prstGeom>
          <a:solidFill>
            <a:srgbClr val="D35400"/>
          </a:solidFill>
          <a:ln w="12700">
            <a:solidFill>
              <a:srgbClr val="D35400"/>
            </a:solidFill>
            <a:prstDash val="solid"/>
          </a:ln>
        </p:spPr>
        <p:txBody>
          <a:bodyPr/>
          <a:lstStyle/>
          <a:p>
            <a:endParaRPr lang="fr-FR"/>
          </a:p>
        </p:txBody>
      </p:sp>
      <p:sp>
        <p:nvSpPr>
          <p:cNvPr id="10" name="Text 7"/>
          <p:cNvSpPr/>
          <p:nvPr/>
        </p:nvSpPr>
        <p:spPr>
          <a:xfrm>
            <a:off x="5413248" y="1755648"/>
            <a:ext cx="3364992" cy="493776"/>
          </a:xfrm>
          <a:prstGeom prst="rect">
            <a:avLst/>
          </a:prstGeom>
          <a:noFill/>
          <a:ln/>
        </p:spPr>
        <p:txBody>
          <a:bodyPr wrap="square" rtlCol="0" anchor="ctr"/>
          <a:lstStyle/>
          <a:p>
            <a:pPr marL="0" indent="0">
              <a:buNone/>
            </a:pPr>
            <a:r>
              <a:rPr lang="en-US" sz="850" dirty="0">
                <a:solidFill>
                  <a:srgbClr val="1C2833"/>
                </a:solidFill>
              </a:rPr>
              <a:t>Changer de vitesse tôt — rapport le plus élevé</a:t>
            </a:r>
            <a:endParaRPr lang="en-US" sz="850" dirty="0"/>
          </a:p>
        </p:txBody>
      </p:sp>
      <p:sp>
        <p:nvSpPr>
          <p:cNvPr id="11" name="Shape 8"/>
          <p:cNvSpPr/>
          <p:nvPr/>
        </p:nvSpPr>
        <p:spPr>
          <a:xfrm>
            <a:off x="5257800" y="2203704"/>
            <a:ext cx="64008" cy="384048"/>
          </a:xfrm>
          <a:prstGeom prst="rect">
            <a:avLst/>
          </a:prstGeom>
          <a:solidFill>
            <a:srgbClr val="D35400"/>
          </a:solidFill>
          <a:ln w="12700">
            <a:solidFill>
              <a:srgbClr val="D35400"/>
            </a:solidFill>
            <a:prstDash val="solid"/>
          </a:ln>
        </p:spPr>
        <p:txBody>
          <a:bodyPr/>
          <a:lstStyle/>
          <a:p>
            <a:endParaRPr lang="fr-FR"/>
          </a:p>
        </p:txBody>
      </p:sp>
      <p:sp>
        <p:nvSpPr>
          <p:cNvPr id="12" name="Text 9"/>
          <p:cNvSpPr/>
          <p:nvPr/>
        </p:nvSpPr>
        <p:spPr>
          <a:xfrm>
            <a:off x="5413248" y="2148840"/>
            <a:ext cx="3364992" cy="493776"/>
          </a:xfrm>
          <a:prstGeom prst="rect">
            <a:avLst/>
          </a:prstGeom>
          <a:noFill/>
          <a:ln/>
        </p:spPr>
        <p:txBody>
          <a:bodyPr wrap="square" rtlCol="0" anchor="ctr"/>
          <a:lstStyle/>
          <a:p>
            <a:pPr marL="0" indent="0">
              <a:buNone/>
            </a:pPr>
            <a:r>
              <a:rPr lang="en-US" sz="850" dirty="0">
                <a:solidFill>
                  <a:srgbClr val="1C2833"/>
                </a:solidFill>
              </a:rPr>
              <a:t>Réduire la vitesse : -10 km/h = économies significatives</a:t>
            </a:r>
            <a:endParaRPr lang="en-US" sz="850" dirty="0"/>
          </a:p>
        </p:txBody>
      </p:sp>
      <p:sp>
        <p:nvSpPr>
          <p:cNvPr id="13" name="Shape 10"/>
          <p:cNvSpPr/>
          <p:nvPr/>
        </p:nvSpPr>
        <p:spPr>
          <a:xfrm>
            <a:off x="5257800" y="2596896"/>
            <a:ext cx="64008" cy="384048"/>
          </a:xfrm>
          <a:prstGeom prst="rect">
            <a:avLst/>
          </a:prstGeom>
          <a:solidFill>
            <a:srgbClr val="D35400"/>
          </a:solidFill>
          <a:ln w="12700">
            <a:solidFill>
              <a:srgbClr val="D35400"/>
            </a:solidFill>
            <a:prstDash val="solid"/>
          </a:ln>
        </p:spPr>
        <p:txBody>
          <a:bodyPr/>
          <a:lstStyle/>
          <a:p>
            <a:endParaRPr lang="fr-FR"/>
          </a:p>
        </p:txBody>
      </p:sp>
      <p:sp>
        <p:nvSpPr>
          <p:cNvPr id="14" name="Text 11"/>
          <p:cNvSpPr/>
          <p:nvPr/>
        </p:nvSpPr>
        <p:spPr>
          <a:xfrm>
            <a:off x="5413248" y="2542032"/>
            <a:ext cx="3364992" cy="493776"/>
          </a:xfrm>
          <a:prstGeom prst="rect">
            <a:avLst/>
          </a:prstGeom>
          <a:noFill/>
          <a:ln/>
        </p:spPr>
        <p:txBody>
          <a:bodyPr wrap="square" rtlCol="0" anchor="ctr"/>
          <a:lstStyle/>
          <a:p>
            <a:pPr marL="0" indent="0">
              <a:buNone/>
            </a:pPr>
            <a:r>
              <a:rPr lang="en-US" sz="850" dirty="0">
                <a:solidFill>
                  <a:srgbClr val="1C2833"/>
                </a:solidFill>
              </a:rPr>
              <a:t>Maintenir une vitesse stable — anticiper le trafic</a:t>
            </a:r>
            <a:endParaRPr lang="en-US" sz="850" dirty="0"/>
          </a:p>
        </p:txBody>
      </p:sp>
      <p:sp>
        <p:nvSpPr>
          <p:cNvPr id="15" name="Shape 12"/>
          <p:cNvSpPr/>
          <p:nvPr/>
        </p:nvSpPr>
        <p:spPr>
          <a:xfrm>
            <a:off x="5257800" y="2990088"/>
            <a:ext cx="64008" cy="384048"/>
          </a:xfrm>
          <a:prstGeom prst="rect">
            <a:avLst/>
          </a:prstGeom>
          <a:solidFill>
            <a:srgbClr val="D35400"/>
          </a:solidFill>
          <a:ln w="12700">
            <a:solidFill>
              <a:srgbClr val="D35400"/>
            </a:solidFill>
            <a:prstDash val="solid"/>
          </a:ln>
        </p:spPr>
        <p:txBody>
          <a:bodyPr/>
          <a:lstStyle/>
          <a:p>
            <a:endParaRPr lang="fr-FR"/>
          </a:p>
        </p:txBody>
      </p:sp>
      <p:sp>
        <p:nvSpPr>
          <p:cNvPr id="16" name="Text 13"/>
          <p:cNvSpPr/>
          <p:nvPr/>
        </p:nvSpPr>
        <p:spPr>
          <a:xfrm>
            <a:off x="5413248" y="2935224"/>
            <a:ext cx="3364992" cy="493776"/>
          </a:xfrm>
          <a:prstGeom prst="rect">
            <a:avLst/>
          </a:prstGeom>
          <a:noFill/>
          <a:ln/>
        </p:spPr>
        <p:txBody>
          <a:bodyPr wrap="square" rtlCol="0" anchor="ctr"/>
          <a:lstStyle/>
          <a:p>
            <a:pPr marL="0" indent="0">
              <a:buNone/>
            </a:pPr>
            <a:r>
              <a:rPr lang="en-US" sz="850" dirty="0">
                <a:solidFill>
                  <a:srgbClr val="1C2833"/>
                </a:solidFill>
              </a:rPr>
              <a:t>Frein moteur : injection coupée (vs. débrayé = consommation)</a:t>
            </a:r>
            <a:endParaRPr lang="en-US" sz="850" dirty="0"/>
          </a:p>
        </p:txBody>
      </p:sp>
      <p:sp>
        <p:nvSpPr>
          <p:cNvPr id="17" name="Shape 14"/>
          <p:cNvSpPr/>
          <p:nvPr/>
        </p:nvSpPr>
        <p:spPr>
          <a:xfrm>
            <a:off x="5257800" y="3383280"/>
            <a:ext cx="64008" cy="384048"/>
          </a:xfrm>
          <a:prstGeom prst="rect">
            <a:avLst/>
          </a:prstGeom>
          <a:solidFill>
            <a:srgbClr val="D35400"/>
          </a:solidFill>
          <a:ln w="12700">
            <a:solidFill>
              <a:srgbClr val="D35400"/>
            </a:solidFill>
            <a:prstDash val="solid"/>
          </a:ln>
        </p:spPr>
        <p:txBody>
          <a:bodyPr/>
          <a:lstStyle/>
          <a:p>
            <a:endParaRPr lang="fr-FR"/>
          </a:p>
        </p:txBody>
      </p:sp>
      <p:sp>
        <p:nvSpPr>
          <p:cNvPr id="18" name="Text 15"/>
          <p:cNvSpPr/>
          <p:nvPr/>
        </p:nvSpPr>
        <p:spPr>
          <a:xfrm>
            <a:off x="5413248" y="3328416"/>
            <a:ext cx="3364992" cy="493776"/>
          </a:xfrm>
          <a:prstGeom prst="rect">
            <a:avLst/>
          </a:prstGeom>
          <a:noFill/>
          <a:ln/>
        </p:spPr>
        <p:txBody>
          <a:bodyPr wrap="square" rtlCol="0" anchor="ctr"/>
          <a:lstStyle/>
          <a:p>
            <a:pPr marL="0" indent="0">
              <a:buNone/>
            </a:pPr>
            <a:r>
              <a:rPr lang="en-US" sz="850" dirty="0">
                <a:solidFill>
                  <a:srgbClr val="1C2833"/>
                </a:solidFill>
              </a:rPr>
              <a:t>Couper le moteur à l'arrêt prolongé (passage à niveau, feu rouge long)</a:t>
            </a:r>
            <a:endParaRPr lang="en-US" sz="850" dirty="0"/>
          </a:p>
        </p:txBody>
      </p:sp>
      <p:sp>
        <p:nvSpPr>
          <p:cNvPr id="19" name="Shape 16"/>
          <p:cNvSpPr/>
          <p:nvPr/>
        </p:nvSpPr>
        <p:spPr>
          <a:xfrm>
            <a:off x="5257800" y="3776472"/>
            <a:ext cx="64008" cy="384048"/>
          </a:xfrm>
          <a:prstGeom prst="rect">
            <a:avLst/>
          </a:prstGeom>
          <a:solidFill>
            <a:srgbClr val="D35400"/>
          </a:solidFill>
          <a:ln w="12700">
            <a:solidFill>
              <a:srgbClr val="D35400"/>
            </a:solidFill>
            <a:prstDash val="solid"/>
          </a:ln>
        </p:spPr>
        <p:txBody>
          <a:bodyPr/>
          <a:lstStyle/>
          <a:p>
            <a:endParaRPr lang="fr-FR"/>
          </a:p>
        </p:txBody>
      </p:sp>
      <p:sp>
        <p:nvSpPr>
          <p:cNvPr id="20" name="Text 17"/>
          <p:cNvSpPr/>
          <p:nvPr/>
        </p:nvSpPr>
        <p:spPr>
          <a:xfrm>
            <a:off x="5413248" y="3721608"/>
            <a:ext cx="3364992" cy="493776"/>
          </a:xfrm>
          <a:prstGeom prst="rect">
            <a:avLst/>
          </a:prstGeom>
          <a:noFill/>
          <a:ln/>
        </p:spPr>
        <p:txBody>
          <a:bodyPr wrap="square" rtlCol="0" anchor="ctr"/>
          <a:lstStyle/>
          <a:p>
            <a:pPr marL="0" indent="0">
              <a:buNone/>
            </a:pPr>
            <a:r>
              <a:rPr lang="en-US" sz="850" dirty="0">
                <a:solidFill>
                  <a:srgbClr val="1C2833"/>
                </a:solidFill>
              </a:rPr>
              <a:t>Décharger la voiture — moins de charge = moins de consommation</a:t>
            </a:r>
            <a:endParaRPr lang="en-US" sz="850" dirty="0"/>
          </a:p>
        </p:txBody>
      </p:sp>
      <p:sp>
        <p:nvSpPr>
          <p:cNvPr id="21" name="Shape 18"/>
          <p:cNvSpPr/>
          <p:nvPr/>
        </p:nvSpPr>
        <p:spPr>
          <a:xfrm>
            <a:off x="5257800" y="4169664"/>
            <a:ext cx="64008" cy="384048"/>
          </a:xfrm>
          <a:prstGeom prst="rect">
            <a:avLst/>
          </a:prstGeom>
          <a:solidFill>
            <a:srgbClr val="D35400"/>
          </a:solidFill>
          <a:ln w="12700">
            <a:solidFill>
              <a:srgbClr val="D35400"/>
            </a:solidFill>
            <a:prstDash val="solid"/>
          </a:ln>
        </p:spPr>
        <p:txBody>
          <a:bodyPr/>
          <a:lstStyle/>
          <a:p>
            <a:endParaRPr lang="fr-FR"/>
          </a:p>
        </p:txBody>
      </p:sp>
      <p:sp>
        <p:nvSpPr>
          <p:cNvPr id="22" name="Text 19"/>
          <p:cNvSpPr/>
          <p:nvPr/>
        </p:nvSpPr>
        <p:spPr>
          <a:xfrm>
            <a:off x="5413248" y="4114800"/>
            <a:ext cx="3364992" cy="493776"/>
          </a:xfrm>
          <a:prstGeom prst="rect">
            <a:avLst/>
          </a:prstGeom>
          <a:noFill/>
          <a:ln/>
        </p:spPr>
        <p:txBody>
          <a:bodyPr wrap="square" rtlCol="0" anchor="ctr"/>
          <a:lstStyle/>
          <a:p>
            <a:pPr marL="0" indent="0">
              <a:buNone/>
            </a:pPr>
            <a:r>
              <a:rPr lang="en-US" sz="850" dirty="0">
                <a:solidFill>
                  <a:srgbClr val="1C2833"/>
                </a:solidFill>
              </a:rPr>
              <a:t>Vérifier la pression des pneus régulièrement</a:t>
            </a:r>
            <a:endParaRPr lang="en-US" sz="850" dirty="0"/>
          </a:p>
        </p:txBody>
      </p:sp>
      <p:sp>
        <p:nvSpPr>
          <p:cNvPr id="23" name="Shape 20"/>
          <p:cNvSpPr/>
          <p:nvPr/>
        </p:nvSpPr>
        <p:spPr>
          <a:xfrm>
            <a:off x="5257800" y="4562856"/>
            <a:ext cx="64008" cy="384048"/>
          </a:xfrm>
          <a:prstGeom prst="rect">
            <a:avLst/>
          </a:prstGeom>
          <a:solidFill>
            <a:srgbClr val="D35400"/>
          </a:solidFill>
          <a:ln w="12700">
            <a:solidFill>
              <a:srgbClr val="D35400"/>
            </a:solidFill>
            <a:prstDash val="solid"/>
          </a:ln>
        </p:spPr>
        <p:txBody>
          <a:bodyPr/>
          <a:lstStyle/>
          <a:p>
            <a:endParaRPr lang="fr-FR"/>
          </a:p>
        </p:txBody>
      </p:sp>
      <p:sp>
        <p:nvSpPr>
          <p:cNvPr id="24" name="Text 21"/>
          <p:cNvSpPr/>
          <p:nvPr/>
        </p:nvSpPr>
        <p:spPr>
          <a:xfrm>
            <a:off x="5413248" y="4507992"/>
            <a:ext cx="3364992" cy="493776"/>
          </a:xfrm>
          <a:prstGeom prst="rect">
            <a:avLst/>
          </a:prstGeom>
          <a:noFill/>
          <a:ln/>
        </p:spPr>
        <p:txBody>
          <a:bodyPr wrap="square" rtlCol="0" anchor="ctr"/>
          <a:lstStyle/>
          <a:p>
            <a:pPr marL="0" indent="0">
              <a:buNone/>
            </a:pPr>
            <a:r>
              <a:rPr lang="en-US" sz="850" dirty="0">
                <a:solidFill>
                  <a:srgbClr val="1C2833"/>
                </a:solidFill>
              </a:rPr>
              <a:t>Utiliser une huile moteur de haute qualité</a:t>
            </a:r>
            <a:endParaRPr lang="en-US" sz="850" dirty="0"/>
          </a:p>
        </p:txBody>
      </p:sp>
      <p:sp>
        <p:nvSpPr>
          <p:cNvPr id="25" name="Shape 22"/>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6" name="Text 23"/>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7" name="Text 24"/>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6">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Contrôle technique — Transport de personnes</a:t>
            </a:r>
            <a:endParaRPr lang="en-US" sz="2000" dirty="0"/>
          </a:p>
        </p:txBody>
      </p:sp>
      <p:pic>
        <p:nvPicPr>
          <p:cNvPr id="6" name="Image 0" descr="preencoded.png"/>
          <p:cNvPicPr>
            <a:picLocks noChangeAspect="1"/>
          </p:cNvPicPr>
          <p:nvPr/>
        </p:nvPicPr>
        <p:blipFill>
          <a:blip r:embed="rId3"/>
          <a:stretch>
            <a:fillRect/>
          </a:stretch>
        </p:blipFill>
        <p:spPr>
          <a:xfrm>
            <a:off x="274320" y="1644091"/>
            <a:ext cx="4206240" cy="2663647"/>
          </a:xfrm>
          <a:prstGeom prst="rect">
            <a:avLst/>
          </a:prstGeom>
        </p:spPr>
      </p:pic>
      <p:sp>
        <p:nvSpPr>
          <p:cNvPr id="7" name="Shape 4"/>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800600" y="1389888"/>
            <a:ext cx="3840480" cy="320040"/>
          </a:xfrm>
          <a:prstGeom prst="rect">
            <a:avLst/>
          </a:prstGeom>
          <a:noFill/>
          <a:ln/>
        </p:spPr>
        <p:txBody>
          <a:bodyPr wrap="square" rtlCol="0" anchor="ctr"/>
          <a:lstStyle/>
          <a:p>
            <a:pPr marL="0" indent="0">
              <a:buNone/>
            </a:pPr>
            <a:r>
              <a:rPr lang="en-US" sz="1100" b="1" dirty="0">
                <a:solidFill>
                  <a:srgbClr val="D35400"/>
                </a:solidFill>
              </a:rPr>
              <a:t>📅 Périodicité</a:t>
            </a:r>
            <a:endParaRPr lang="en-US" sz="1100" dirty="0"/>
          </a:p>
        </p:txBody>
      </p:sp>
      <p:sp>
        <p:nvSpPr>
          <p:cNvPr id="9" name="Shape 6"/>
          <p:cNvSpPr/>
          <p:nvPr/>
        </p:nvSpPr>
        <p:spPr>
          <a:xfrm>
            <a:off x="4800600" y="1819656"/>
            <a:ext cx="64008" cy="384048"/>
          </a:xfrm>
          <a:prstGeom prst="rect">
            <a:avLst/>
          </a:prstGeom>
          <a:solidFill>
            <a:srgbClr val="D35400"/>
          </a:solidFill>
          <a:ln w="12700">
            <a:solidFill>
              <a:srgbClr val="D35400"/>
            </a:solidFill>
            <a:prstDash val="solid"/>
          </a:ln>
        </p:spPr>
        <p:txBody>
          <a:bodyPr/>
          <a:lstStyle/>
          <a:p>
            <a:endParaRPr lang="fr-FR"/>
          </a:p>
        </p:txBody>
      </p:sp>
      <p:sp>
        <p:nvSpPr>
          <p:cNvPr id="10" name="Text 7"/>
          <p:cNvSpPr/>
          <p:nvPr/>
        </p:nvSpPr>
        <p:spPr>
          <a:xfrm>
            <a:off x="4956048" y="1764792"/>
            <a:ext cx="3639312" cy="493776"/>
          </a:xfrm>
          <a:prstGeom prst="rect">
            <a:avLst/>
          </a:prstGeom>
          <a:noFill/>
          <a:ln/>
        </p:spPr>
        <p:txBody>
          <a:bodyPr wrap="square" rtlCol="0" anchor="ctr"/>
          <a:lstStyle/>
          <a:p>
            <a:pPr marL="0" indent="0">
              <a:buNone/>
            </a:pPr>
            <a:r>
              <a:rPr lang="en-US" sz="900" dirty="0">
                <a:solidFill>
                  <a:srgbClr val="1C2833"/>
                </a:solidFill>
              </a:rPr>
              <a:t>Véhicule &lt; 10 places affecté au transport public de personnes</a:t>
            </a:r>
            <a:endParaRPr lang="en-US" sz="900" dirty="0"/>
          </a:p>
        </p:txBody>
      </p:sp>
      <p:sp>
        <p:nvSpPr>
          <p:cNvPr id="11" name="Shape 8"/>
          <p:cNvSpPr/>
          <p:nvPr/>
        </p:nvSpPr>
        <p:spPr>
          <a:xfrm>
            <a:off x="4800600" y="2368296"/>
            <a:ext cx="64008" cy="384048"/>
          </a:xfrm>
          <a:prstGeom prst="rect">
            <a:avLst/>
          </a:prstGeom>
          <a:solidFill>
            <a:srgbClr val="D35400"/>
          </a:solidFill>
          <a:ln w="12700">
            <a:solidFill>
              <a:srgbClr val="D35400"/>
            </a:solidFill>
            <a:prstDash val="solid"/>
          </a:ln>
        </p:spPr>
        <p:txBody>
          <a:bodyPr/>
          <a:lstStyle/>
          <a:p>
            <a:endParaRPr lang="fr-FR"/>
          </a:p>
        </p:txBody>
      </p:sp>
      <p:sp>
        <p:nvSpPr>
          <p:cNvPr id="12" name="Text 9"/>
          <p:cNvSpPr/>
          <p:nvPr/>
        </p:nvSpPr>
        <p:spPr>
          <a:xfrm>
            <a:off x="4956048" y="2313432"/>
            <a:ext cx="3639312" cy="493776"/>
          </a:xfrm>
          <a:prstGeom prst="rect">
            <a:avLst/>
          </a:prstGeom>
          <a:noFill/>
          <a:ln/>
        </p:spPr>
        <p:txBody>
          <a:bodyPr wrap="square" rtlCol="0" anchor="ctr"/>
          <a:lstStyle/>
          <a:p>
            <a:pPr marL="0" indent="0">
              <a:buNone/>
            </a:pPr>
            <a:r>
              <a:rPr lang="en-US" sz="900" dirty="0">
                <a:solidFill>
                  <a:srgbClr val="1C2833"/>
                </a:solidFill>
              </a:rPr>
              <a:t>1er CT : au plus tard 1 an après 1ère mise en circulation</a:t>
            </a:r>
            <a:endParaRPr lang="en-US" sz="900" dirty="0"/>
          </a:p>
        </p:txBody>
      </p:sp>
      <p:sp>
        <p:nvSpPr>
          <p:cNvPr id="13" name="Shape 10"/>
          <p:cNvSpPr/>
          <p:nvPr/>
        </p:nvSpPr>
        <p:spPr>
          <a:xfrm>
            <a:off x="4800600" y="2916936"/>
            <a:ext cx="64008" cy="384048"/>
          </a:xfrm>
          <a:prstGeom prst="rect">
            <a:avLst/>
          </a:prstGeom>
          <a:solidFill>
            <a:srgbClr val="D35400"/>
          </a:solidFill>
          <a:ln w="12700">
            <a:solidFill>
              <a:srgbClr val="D35400"/>
            </a:solidFill>
            <a:prstDash val="solid"/>
          </a:ln>
        </p:spPr>
        <p:txBody>
          <a:bodyPr/>
          <a:lstStyle/>
          <a:p>
            <a:endParaRPr lang="fr-FR"/>
          </a:p>
        </p:txBody>
      </p:sp>
      <p:sp>
        <p:nvSpPr>
          <p:cNvPr id="14" name="Text 11"/>
          <p:cNvSpPr/>
          <p:nvPr/>
        </p:nvSpPr>
        <p:spPr>
          <a:xfrm>
            <a:off x="4956048" y="2862072"/>
            <a:ext cx="3639312" cy="493776"/>
          </a:xfrm>
          <a:prstGeom prst="rect">
            <a:avLst/>
          </a:prstGeom>
          <a:noFill/>
          <a:ln/>
        </p:spPr>
        <p:txBody>
          <a:bodyPr wrap="square" rtlCol="0" anchor="ctr"/>
          <a:lstStyle/>
          <a:p>
            <a:pPr marL="0" indent="0">
              <a:buNone/>
            </a:pPr>
            <a:r>
              <a:rPr lang="en-US" sz="900" dirty="0">
                <a:solidFill>
                  <a:srgbClr val="1C2833"/>
                </a:solidFill>
              </a:rPr>
              <a:t>OU avant utilisation si CT &gt; 1 an après mise en circulation</a:t>
            </a:r>
            <a:endParaRPr lang="en-US" sz="900" dirty="0"/>
          </a:p>
        </p:txBody>
      </p:sp>
      <p:sp>
        <p:nvSpPr>
          <p:cNvPr id="15" name="Shape 12"/>
          <p:cNvSpPr/>
          <p:nvPr/>
        </p:nvSpPr>
        <p:spPr>
          <a:xfrm>
            <a:off x="4800600" y="3465576"/>
            <a:ext cx="64008" cy="384048"/>
          </a:xfrm>
          <a:prstGeom prst="rect">
            <a:avLst/>
          </a:prstGeom>
          <a:solidFill>
            <a:srgbClr val="D35400"/>
          </a:solidFill>
          <a:ln w="12700">
            <a:solidFill>
              <a:srgbClr val="D35400"/>
            </a:solidFill>
            <a:prstDash val="solid"/>
          </a:ln>
        </p:spPr>
        <p:txBody>
          <a:bodyPr/>
          <a:lstStyle/>
          <a:p>
            <a:endParaRPr lang="fr-FR"/>
          </a:p>
        </p:txBody>
      </p:sp>
      <p:sp>
        <p:nvSpPr>
          <p:cNvPr id="16" name="Text 13"/>
          <p:cNvSpPr/>
          <p:nvPr/>
        </p:nvSpPr>
        <p:spPr>
          <a:xfrm>
            <a:off x="4956048" y="3410712"/>
            <a:ext cx="3639312" cy="493776"/>
          </a:xfrm>
          <a:prstGeom prst="rect">
            <a:avLst/>
          </a:prstGeom>
          <a:noFill/>
          <a:ln/>
        </p:spPr>
        <p:txBody>
          <a:bodyPr wrap="square" rtlCol="0" anchor="ctr"/>
          <a:lstStyle/>
          <a:p>
            <a:pPr marL="0" indent="0">
              <a:buNone/>
            </a:pPr>
            <a:r>
              <a:rPr lang="en-US" sz="900" dirty="0">
                <a:solidFill>
                  <a:srgbClr val="1C2833"/>
                </a:solidFill>
              </a:rPr>
              <a:t>Renouvellement TOUS LES ANS</a:t>
            </a:r>
            <a:endParaRPr lang="en-US" sz="900" dirty="0"/>
          </a:p>
        </p:txBody>
      </p:sp>
      <p:sp>
        <p:nvSpPr>
          <p:cNvPr id="17" name="Text 14"/>
          <p:cNvSpPr/>
          <p:nvPr/>
        </p:nvSpPr>
        <p:spPr>
          <a:xfrm>
            <a:off x="4800600" y="4023360"/>
            <a:ext cx="3840480" cy="292608"/>
          </a:xfrm>
          <a:prstGeom prst="rect">
            <a:avLst/>
          </a:prstGeom>
          <a:noFill/>
          <a:ln/>
        </p:spPr>
        <p:txBody>
          <a:bodyPr wrap="square" rtlCol="0" anchor="ctr"/>
          <a:lstStyle/>
          <a:p>
            <a:pPr marL="0" indent="0">
              <a:buNone/>
            </a:pPr>
            <a:r>
              <a:rPr lang="en-US" sz="1100" b="1" dirty="0">
                <a:solidFill>
                  <a:srgbClr val="D35400"/>
                </a:solidFill>
              </a:rPr>
              <a:t>⚠️ 3 niveaux de défaillances</a:t>
            </a:r>
            <a:endParaRPr lang="en-US" sz="1100" dirty="0"/>
          </a:p>
        </p:txBody>
      </p:sp>
      <p:sp>
        <p:nvSpPr>
          <p:cNvPr id="18" name="Shape 15"/>
          <p:cNvSpPr/>
          <p:nvPr/>
        </p:nvSpPr>
        <p:spPr>
          <a:xfrm>
            <a:off x="4800600" y="4370832"/>
            <a:ext cx="1188720" cy="256032"/>
          </a:xfrm>
          <a:prstGeom prst="rect">
            <a:avLst/>
          </a:prstGeom>
          <a:solidFill>
            <a:srgbClr val="1E8449"/>
          </a:solidFill>
          <a:ln w="12700">
            <a:solidFill>
              <a:srgbClr val="1E8449"/>
            </a:solidFill>
            <a:prstDash val="solid"/>
          </a:ln>
        </p:spPr>
        <p:txBody>
          <a:bodyPr/>
          <a:lstStyle/>
          <a:p>
            <a:endParaRPr lang="fr-FR"/>
          </a:p>
        </p:txBody>
      </p:sp>
      <p:sp>
        <p:nvSpPr>
          <p:cNvPr id="19" name="Text 16"/>
          <p:cNvSpPr/>
          <p:nvPr/>
        </p:nvSpPr>
        <p:spPr>
          <a:xfrm>
            <a:off x="4800600" y="4370832"/>
            <a:ext cx="1188720" cy="256032"/>
          </a:xfrm>
          <a:prstGeom prst="rect">
            <a:avLst/>
          </a:prstGeom>
          <a:noFill/>
          <a:ln/>
        </p:spPr>
        <p:txBody>
          <a:bodyPr wrap="square" rtlCol="0" anchor="ctr"/>
          <a:lstStyle/>
          <a:p>
            <a:pPr marL="0" indent="0" algn="ctr">
              <a:buNone/>
            </a:pPr>
            <a:r>
              <a:rPr lang="en-US" sz="750" b="1" dirty="0">
                <a:solidFill>
                  <a:srgbClr val="FFFFFF"/>
                </a:solidFill>
              </a:rPr>
              <a:t>MINEURES</a:t>
            </a:r>
            <a:endParaRPr lang="en-US" sz="750" dirty="0"/>
          </a:p>
        </p:txBody>
      </p:sp>
      <p:sp>
        <p:nvSpPr>
          <p:cNvPr id="20" name="Text 17"/>
          <p:cNvSpPr/>
          <p:nvPr/>
        </p:nvSpPr>
        <p:spPr>
          <a:xfrm>
            <a:off x="6080760" y="4370832"/>
            <a:ext cx="2651760" cy="256032"/>
          </a:xfrm>
          <a:prstGeom prst="rect">
            <a:avLst/>
          </a:prstGeom>
          <a:noFill/>
          <a:ln/>
        </p:spPr>
        <p:txBody>
          <a:bodyPr wrap="square" rtlCol="0" anchor="ctr"/>
          <a:lstStyle/>
          <a:p>
            <a:pPr marL="0" indent="0">
              <a:buNone/>
            </a:pPr>
            <a:r>
              <a:rPr lang="en-US" sz="850" dirty="0">
                <a:solidFill>
                  <a:srgbClr val="1C2833"/>
                </a:solidFill>
              </a:rPr>
              <a:t>Sans contre-visite obligatoire</a:t>
            </a:r>
            <a:endParaRPr lang="en-US" sz="850" dirty="0"/>
          </a:p>
        </p:txBody>
      </p:sp>
      <p:sp>
        <p:nvSpPr>
          <p:cNvPr id="21" name="Shape 18"/>
          <p:cNvSpPr/>
          <p:nvPr/>
        </p:nvSpPr>
        <p:spPr>
          <a:xfrm>
            <a:off x="4800600" y="4654296"/>
            <a:ext cx="1188720" cy="256032"/>
          </a:xfrm>
          <a:prstGeom prst="rect">
            <a:avLst/>
          </a:prstGeom>
          <a:solidFill>
            <a:srgbClr val="D4AC0D"/>
          </a:solidFill>
          <a:ln w="12700">
            <a:solidFill>
              <a:srgbClr val="D4AC0D"/>
            </a:solidFill>
            <a:prstDash val="solid"/>
          </a:ln>
        </p:spPr>
        <p:txBody>
          <a:bodyPr/>
          <a:lstStyle/>
          <a:p>
            <a:endParaRPr lang="fr-FR"/>
          </a:p>
        </p:txBody>
      </p:sp>
      <p:sp>
        <p:nvSpPr>
          <p:cNvPr id="22" name="Text 19"/>
          <p:cNvSpPr/>
          <p:nvPr/>
        </p:nvSpPr>
        <p:spPr>
          <a:xfrm>
            <a:off x="4800600" y="4654296"/>
            <a:ext cx="1188720" cy="256032"/>
          </a:xfrm>
          <a:prstGeom prst="rect">
            <a:avLst/>
          </a:prstGeom>
          <a:noFill/>
          <a:ln/>
        </p:spPr>
        <p:txBody>
          <a:bodyPr wrap="square" rtlCol="0" anchor="ctr"/>
          <a:lstStyle/>
          <a:p>
            <a:pPr marL="0" indent="0" algn="ctr">
              <a:buNone/>
            </a:pPr>
            <a:r>
              <a:rPr lang="en-US" sz="750" b="1" dirty="0">
                <a:solidFill>
                  <a:srgbClr val="FFFFFF"/>
                </a:solidFill>
              </a:rPr>
              <a:t>MAJEURES</a:t>
            </a:r>
            <a:endParaRPr lang="en-US" sz="750" dirty="0"/>
          </a:p>
        </p:txBody>
      </p:sp>
      <p:sp>
        <p:nvSpPr>
          <p:cNvPr id="23" name="Text 20"/>
          <p:cNvSpPr/>
          <p:nvPr/>
        </p:nvSpPr>
        <p:spPr>
          <a:xfrm>
            <a:off x="6080760" y="4654296"/>
            <a:ext cx="2651760" cy="256032"/>
          </a:xfrm>
          <a:prstGeom prst="rect">
            <a:avLst/>
          </a:prstGeom>
          <a:noFill/>
          <a:ln/>
        </p:spPr>
        <p:txBody>
          <a:bodyPr wrap="square" rtlCol="0" anchor="ctr"/>
          <a:lstStyle/>
          <a:p>
            <a:pPr marL="0" indent="0">
              <a:buNone/>
            </a:pPr>
            <a:r>
              <a:rPr lang="en-US" sz="850" dirty="0">
                <a:solidFill>
                  <a:srgbClr val="1C2833"/>
                </a:solidFill>
              </a:rPr>
              <a:t>Contre-visite sous 2 mois</a:t>
            </a:r>
            <a:endParaRPr lang="en-US" sz="850" dirty="0"/>
          </a:p>
        </p:txBody>
      </p:sp>
      <p:sp>
        <p:nvSpPr>
          <p:cNvPr id="24" name="Shape 21"/>
          <p:cNvSpPr/>
          <p:nvPr/>
        </p:nvSpPr>
        <p:spPr>
          <a:xfrm>
            <a:off x="4800600" y="4937760"/>
            <a:ext cx="1188720" cy="256032"/>
          </a:xfrm>
          <a:prstGeom prst="rect">
            <a:avLst/>
          </a:prstGeom>
          <a:solidFill>
            <a:srgbClr val="C0392B"/>
          </a:solidFill>
          <a:ln w="12700">
            <a:solidFill>
              <a:srgbClr val="C0392B"/>
            </a:solidFill>
            <a:prstDash val="solid"/>
          </a:ln>
        </p:spPr>
        <p:txBody>
          <a:bodyPr/>
          <a:lstStyle/>
          <a:p>
            <a:endParaRPr lang="fr-FR"/>
          </a:p>
        </p:txBody>
      </p:sp>
      <p:sp>
        <p:nvSpPr>
          <p:cNvPr id="25" name="Text 22"/>
          <p:cNvSpPr/>
          <p:nvPr/>
        </p:nvSpPr>
        <p:spPr>
          <a:xfrm>
            <a:off x="4800600" y="4937760"/>
            <a:ext cx="1188720" cy="256032"/>
          </a:xfrm>
          <a:prstGeom prst="rect">
            <a:avLst/>
          </a:prstGeom>
          <a:noFill/>
          <a:ln/>
        </p:spPr>
        <p:txBody>
          <a:bodyPr wrap="square" rtlCol="0" anchor="ctr"/>
          <a:lstStyle/>
          <a:p>
            <a:pPr marL="0" indent="0" algn="ctr">
              <a:buNone/>
            </a:pPr>
            <a:r>
              <a:rPr lang="en-US" sz="750" b="1" dirty="0">
                <a:solidFill>
                  <a:srgbClr val="FFFFFF"/>
                </a:solidFill>
              </a:rPr>
              <a:t>CRITIQUES</a:t>
            </a:r>
            <a:endParaRPr lang="en-US" sz="750" dirty="0"/>
          </a:p>
        </p:txBody>
      </p:sp>
      <p:sp>
        <p:nvSpPr>
          <p:cNvPr id="26" name="Text 23"/>
          <p:cNvSpPr/>
          <p:nvPr/>
        </p:nvSpPr>
        <p:spPr>
          <a:xfrm>
            <a:off x="6080760" y="4937760"/>
            <a:ext cx="2651760" cy="256032"/>
          </a:xfrm>
          <a:prstGeom prst="rect">
            <a:avLst/>
          </a:prstGeom>
          <a:noFill/>
          <a:ln/>
        </p:spPr>
        <p:txBody>
          <a:bodyPr wrap="square" rtlCol="0" anchor="ctr"/>
          <a:lstStyle/>
          <a:p>
            <a:pPr marL="0" indent="0">
              <a:buNone/>
            </a:pPr>
            <a:r>
              <a:rPr lang="en-US" sz="850" dirty="0">
                <a:solidFill>
                  <a:srgbClr val="1C2833"/>
                </a:solidFill>
              </a:rPr>
              <a:t>Circuler uniquement le jour J</a:t>
            </a:r>
            <a:endParaRPr lang="en-US" sz="850" dirty="0"/>
          </a:p>
        </p:txBody>
      </p:sp>
      <p:sp>
        <p:nvSpPr>
          <p:cNvPr id="27" name="Shape 24"/>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8" name="Text 25"/>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9" name="Text 26"/>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7">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Accident : P.A.S. &amp; Téléphone au volant</a:t>
            </a:r>
            <a:endParaRPr lang="en-US" sz="2000" dirty="0"/>
          </a:p>
        </p:txBody>
      </p:sp>
      <p:pic>
        <p:nvPicPr>
          <p:cNvPr id="6" name="Image 0" descr="preencoded.png"/>
          <p:cNvPicPr>
            <a:picLocks noChangeAspect="1"/>
          </p:cNvPicPr>
          <p:nvPr/>
        </p:nvPicPr>
        <p:blipFill>
          <a:blip r:embed="rId3"/>
          <a:stretch>
            <a:fillRect/>
          </a:stretch>
        </p:blipFill>
        <p:spPr>
          <a:xfrm>
            <a:off x="748894" y="1298448"/>
            <a:ext cx="3898087" cy="2468880"/>
          </a:xfrm>
          <a:prstGeom prst="rect">
            <a:avLst/>
          </a:prstGeom>
        </p:spPr>
      </p:pic>
      <p:sp>
        <p:nvSpPr>
          <p:cNvPr id="7" name="Shape 4"/>
          <p:cNvSpPr/>
          <p:nvPr/>
        </p:nvSpPr>
        <p:spPr>
          <a:xfrm>
            <a:off x="4663440" y="1298448"/>
            <a:ext cx="4206240" cy="2468880"/>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800600" y="1389888"/>
            <a:ext cx="3840480" cy="320040"/>
          </a:xfrm>
          <a:prstGeom prst="rect">
            <a:avLst/>
          </a:prstGeom>
          <a:noFill/>
          <a:ln/>
        </p:spPr>
        <p:txBody>
          <a:bodyPr wrap="square" rtlCol="0" anchor="ctr"/>
          <a:lstStyle/>
          <a:p>
            <a:pPr marL="0" indent="0">
              <a:buNone/>
            </a:pPr>
            <a:r>
              <a:rPr lang="en-US" sz="1100" b="1" dirty="0">
                <a:solidFill>
                  <a:srgbClr val="D35400"/>
                </a:solidFill>
              </a:rPr>
              <a:t>📵 Téléphone au volant</a:t>
            </a:r>
            <a:endParaRPr lang="en-US" sz="1100" dirty="0"/>
          </a:p>
        </p:txBody>
      </p:sp>
      <p:sp>
        <p:nvSpPr>
          <p:cNvPr id="9" name="Text 6"/>
          <p:cNvSpPr/>
          <p:nvPr/>
        </p:nvSpPr>
        <p:spPr>
          <a:xfrm>
            <a:off x="4800600" y="1764792"/>
            <a:ext cx="3840480" cy="256032"/>
          </a:xfrm>
          <a:prstGeom prst="rect">
            <a:avLst/>
          </a:prstGeom>
          <a:noFill/>
          <a:ln/>
        </p:spPr>
        <p:txBody>
          <a:bodyPr wrap="square" rtlCol="0" anchor="ctr"/>
          <a:lstStyle/>
          <a:p>
            <a:pPr marL="0" indent="0">
              <a:buNone/>
            </a:pPr>
            <a:r>
              <a:rPr lang="en-US" sz="950" b="1" dirty="0">
                <a:solidFill>
                  <a:srgbClr val="C0392B"/>
                </a:solidFill>
              </a:rPr>
              <a:t>INTERDITS :</a:t>
            </a:r>
            <a:endParaRPr lang="en-US" sz="950" dirty="0"/>
          </a:p>
        </p:txBody>
      </p:sp>
      <p:sp>
        <p:nvSpPr>
          <p:cNvPr id="10" name="Shape 7"/>
          <p:cNvSpPr/>
          <p:nvPr/>
        </p:nvSpPr>
        <p:spPr>
          <a:xfrm>
            <a:off x="4800600" y="2112264"/>
            <a:ext cx="64008" cy="384048"/>
          </a:xfrm>
          <a:prstGeom prst="rect">
            <a:avLst/>
          </a:prstGeom>
          <a:solidFill>
            <a:srgbClr val="C0392B"/>
          </a:solidFill>
          <a:ln w="12700">
            <a:solidFill>
              <a:srgbClr val="C0392B"/>
            </a:solidFill>
            <a:prstDash val="solid"/>
          </a:ln>
        </p:spPr>
        <p:txBody>
          <a:bodyPr/>
          <a:lstStyle/>
          <a:p>
            <a:endParaRPr lang="fr-FR"/>
          </a:p>
        </p:txBody>
      </p:sp>
      <p:sp>
        <p:nvSpPr>
          <p:cNvPr id="11" name="Text 8"/>
          <p:cNvSpPr/>
          <p:nvPr/>
        </p:nvSpPr>
        <p:spPr>
          <a:xfrm>
            <a:off x="4956048" y="2057400"/>
            <a:ext cx="3639312" cy="493776"/>
          </a:xfrm>
          <a:prstGeom prst="rect">
            <a:avLst/>
          </a:prstGeom>
          <a:noFill/>
          <a:ln/>
        </p:spPr>
        <p:txBody>
          <a:bodyPr wrap="square" rtlCol="0" anchor="ctr"/>
          <a:lstStyle/>
          <a:p>
            <a:pPr marL="0" indent="0">
              <a:buNone/>
            </a:pPr>
            <a:r>
              <a:rPr lang="en-US" sz="900" dirty="0">
                <a:solidFill>
                  <a:srgbClr val="1C2833"/>
                </a:solidFill>
              </a:rPr>
              <a:t>Téléphone tenu en main</a:t>
            </a:r>
            <a:endParaRPr lang="en-US" sz="900" dirty="0"/>
          </a:p>
        </p:txBody>
      </p:sp>
      <p:sp>
        <p:nvSpPr>
          <p:cNvPr id="12" name="Shape 9"/>
          <p:cNvSpPr/>
          <p:nvPr/>
        </p:nvSpPr>
        <p:spPr>
          <a:xfrm>
            <a:off x="4800600" y="2505456"/>
            <a:ext cx="64008" cy="384048"/>
          </a:xfrm>
          <a:prstGeom prst="rect">
            <a:avLst/>
          </a:prstGeom>
          <a:solidFill>
            <a:srgbClr val="C0392B"/>
          </a:solidFill>
          <a:ln w="12700">
            <a:solidFill>
              <a:srgbClr val="C0392B"/>
            </a:solidFill>
            <a:prstDash val="solid"/>
          </a:ln>
        </p:spPr>
        <p:txBody>
          <a:bodyPr/>
          <a:lstStyle/>
          <a:p>
            <a:endParaRPr lang="fr-FR"/>
          </a:p>
        </p:txBody>
      </p:sp>
      <p:sp>
        <p:nvSpPr>
          <p:cNvPr id="13" name="Text 10"/>
          <p:cNvSpPr/>
          <p:nvPr/>
        </p:nvSpPr>
        <p:spPr>
          <a:xfrm>
            <a:off x="4956048" y="2450592"/>
            <a:ext cx="3639312" cy="493776"/>
          </a:xfrm>
          <a:prstGeom prst="rect">
            <a:avLst/>
          </a:prstGeom>
          <a:noFill/>
          <a:ln/>
        </p:spPr>
        <p:txBody>
          <a:bodyPr wrap="square" rtlCol="0" anchor="ctr"/>
          <a:lstStyle/>
          <a:p>
            <a:pPr marL="0" indent="0">
              <a:buNone/>
            </a:pPr>
            <a:r>
              <a:rPr lang="en-US" sz="900" dirty="0">
                <a:solidFill>
                  <a:srgbClr val="1C2833"/>
                </a:solidFill>
              </a:rPr>
              <a:t>Oreillettes &amp; écouteurs</a:t>
            </a:r>
            <a:endParaRPr lang="en-US" sz="900" dirty="0"/>
          </a:p>
        </p:txBody>
      </p:sp>
      <p:sp>
        <p:nvSpPr>
          <p:cNvPr id="14" name="Shape 11"/>
          <p:cNvSpPr/>
          <p:nvPr/>
        </p:nvSpPr>
        <p:spPr>
          <a:xfrm>
            <a:off x="4800600" y="2898648"/>
            <a:ext cx="64008" cy="384048"/>
          </a:xfrm>
          <a:prstGeom prst="rect">
            <a:avLst/>
          </a:prstGeom>
          <a:solidFill>
            <a:srgbClr val="C0392B"/>
          </a:solidFill>
          <a:ln w="12700">
            <a:solidFill>
              <a:srgbClr val="C0392B"/>
            </a:solidFill>
            <a:prstDash val="solid"/>
          </a:ln>
        </p:spPr>
        <p:txBody>
          <a:bodyPr/>
          <a:lstStyle/>
          <a:p>
            <a:endParaRPr lang="fr-FR"/>
          </a:p>
        </p:txBody>
      </p:sp>
      <p:sp>
        <p:nvSpPr>
          <p:cNvPr id="15" name="Text 12"/>
          <p:cNvSpPr/>
          <p:nvPr/>
        </p:nvSpPr>
        <p:spPr>
          <a:xfrm>
            <a:off x="4956048" y="2843784"/>
            <a:ext cx="3639312" cy="493776"/>
          </a:xfrm>
          <a:prstGeom prst="rect">
            <a:avLst/>
          </a:prstGeom>
          <a:noFill/>
          <a:ln/>
        </p:spPr>
        <p:txBody>
          <a:bodyPr wrap="square" rtlCol="0" anchor="ctr"/>
          <a:lstStyle/>
          <a:p>
            <a:pPr marL="0" indent="0">
              <a:buNone/>
            </a:pPr>
            <a:r>
              <a:rPr lang="en-US" sz="900" dirty="0">
                <a:solidFill>
                  <a:srgbClr val="1C2833"/>
                </a:solidFill>
              </a:rPr>
              <a:t>Casque permettant de téléphoner ou écouter</a:t>
            </a:r>
            <a:endParaRPr lang="en-US" sz="900" dirty="0"/>
          </a:p>
        </p:txBody>
      </p:sp>
      <p:sp>
        <p:nvSpPr>
          <p:cNvPr id="16" name="Shape 13"/>
          <p:cNvSpPr/>
          <p:nvPr/>
        </p:nvSpPr>
        <p:spPr>
          <a:xfrm>
            <a:off x="4800600" y="3291840"/>
            <a:ext cx="64008" cy="384048"/>
          </a:xfrm>
          <a:prstGeom prst="rect">
            <a:avLst/>
          </a:prstGeom>
          <a:solidFill>
            <a:srgbClr val="C0392B"/>
          </a:solidFill>
          <a:ln w="12700">
            <a:solidFill>
              <a:srgbClr val="C0392B"/>
            </a:solidFill>
            <a:prstDash val="solid"/>
          </a:ln>
        </p:spPr>
        <p:txBody>
          <a:bodyPr/>
          <a:lstStyle/>
          <a:p>
            <a:endParaRPr lang="fr-FR"/>
          </a:p>
        </p:txBody>
      </p:sp>
      <p:sp>
        <p:nvSpPr>
          <p:cNvPr id="17" name="Text 14"/>
          <p:cNvSpPr/>
          <p:nvPr/>
        </p:nvSpPr>
        <p:spPr>
          <a:xfrm>
            <a:off x="4956048" y="3236976"/>
            <a:ext cx="3639312" cy="493776"/>
          </a:xfrm>
          <a:prstGeom prst="rect">
            <a:avLst/>
          </a:prstGeom>
          <a:noFill/>
          <a:ln/>
        </p:spPr>
        <p:txBody>
          <a:bodyPr wrap="square" rtlCol="0" anchor="ctr"/>
          <a:lstStyle/>
          <a:p>
            <a:pPr marL="0" indent="0">
              <a:buNone/>
            </a:pPr>
            <a:r>
              <a:rPr lang="en-US" sz="900" dirty="0">
                <a:solidFill>
                  <a:srgbClr val="1C2833"/>
                </a:solidFill>
              </a:rPr>
              <a:t>Exception : correcteurs de surdité</a:t>
            </a:r>
            <a:endParaRPr lang="en-US" sz="900" dirty="0"/>
          </a:p>
        </p:txBody>
      </p:sp>
      <p:sp>
        <p:nvSpPr>
          <p:cNvPr id="18" name="Shape 15"/>
          <p:cNvSpPr/>
          <p:nvPr/>
        </p:nvSpPr>
        <p:spPr>
          <a:xfrm>
            <a:off x="4800600" y="3611880"/>
            <a:ext cx="4114800" cy="320040"/>
          </a:xfrm>
          <a:prstGeom prst="rect">
            <a:avLst/>
          </a:prstGeom>
          <a:solidFill>
            <a:srgbClr val="D35400"/>
          </a:solidFill>
          <a:ln w="12700">
            <a:solidFill>
              <a:srgbClr val="D35400"/>
            </a:solidFill>
            <a:prstDash val="solid"/>
          </a:ln>
        </p:spPr>
        <p:txBody>
          <a:bodyPr/>
          <a:lstStyle/>
          <a:p>
            <a:endParaRPr lang="fr-FR"/>
          </a:p>
        </p:txBody>
      </p:sp>
      <p:sp>
        <p:nvSpPr>
          <p:cNvPr id="19" name="Text 16"/>
          <p:cNvSpPr/>
          <p:nvPr/>
        </p:nvSpPr>
        <p:spPr>
          <a:xfrm>
            <a:off x="4846320" y="3611880"/>
            <a:ext cx="4023360" cy="320040"/>
          </a:xfrm>
          <a:prstGeom prst="rect">
            <a:avLst/>
          </a:prstGeom>
          <a:noFill/>
          <a:ln/>
        </p:spPr>
        <p:txBody>
          <a:bodyPr wrap="square" rtlCol="0" anchor="ctr"/>
          <a:lstStyle/>
          <a:p>
            <a:pPr marL="0" indent="0">
              <a:buNone/>
            </a:pPr>
            <a:r>
              <a:rPr lang="en-US" sz="900" b="1" dirty="0">
                <a:solidFill>
                  <a:srgbClr val="FFFFFF"/>
                </a:solidFill>
              </a:rPr>
              <a:t>Sanction : 135€ + 3 points retirés (risque accident ×3)</a:t>
            </a:r>
            <a:endParaRPr lang="en-US" sz="900" dirty="0"/>
          </a:p>
        </p:txBody>
      </p:sp>
      <p:sp>
        <p:nvSpPr>
          <p:cNvPr id="20" name="Shape 17"/>
          <p:cNvSpPr/>
          <p:nvPr/>
        </p:nvSpPr>
        <p:spPr>
          <a:xfrm>
            <a:off x="274320" y="4005072"/>
            <a:ext cx="8595360" cy="658368"/>
          </a:xfrm>
          <a:prstGeom prst="rect">
            <a:avLst/>
          </a:prstGeom>
          <a:solidFill>
            <a:srgbClr val="FFFFFF"/>
          </a:solidFill>
          <a:ln w="12700">
            <a:solidFill>
              <a:srgbClr val="D5D8DC"/>
            </a:solidFill>
            <a:prstDash val="solid"/>
          </a:ln>
        </p:spPr>
        <p:txBody>
          <a:bodyPr/>
          <a:lstStyle/>
          <a:p>
            <a:endParaRPr lang="fr-FR"/>
          </a:p>
        </p:txBody>
      </p:sp>
      <p:sp>
        <p:nvSpPr>
          <p:cNvPr id="21" name="Text 18"/>
          <p:cNvSpPr/>
          <p:nvPr/>
        </p:nvSpPr>
        <p:spPr>
          <a:xfrm>
            <a:off x="411480" y="4078224"/>
            <a:ext cx="8321040" cy="512064"/>
          </a:xfrm>
          <a:prstGeom prst="rect">
            <a:avLst/>
          </a:prstGeom>
          <a:noFill/>
          <a:ln/>
        </p:spPr>
        <p:txBody>
          <a:bodyPr wrap="square" rtlCol="0" anchor="ctr"/>
          <a:lstStyle/>
          <a:p>
            <a:pPr marL="0" indent="0">
              <a:buNone/>
            </a:pPr>
            <a:r>
              <a:rPr lang="en-US" sz="850" dirty="0">
                <a:solidFill>
                  <a:srgbClr val="1C2833"/>
                </a:solidFill>
              </a:rPr>
              <a:t>P = Protéger (feux détresse + triangle ≥30m + gilet) · A = Alerter (15/17/18/112) · S = Secourir (ne jamais déplacer, pas à boire, pas enlever casque motard · PLS si inconscient avec accord secours)</a:t>
            </a:r>
            <a:endParaRPr lang="en-US" sz="850" dirty="0"/>
          </a:p>
        </p:txBody>
      </p:sp>
      <p:sp>
        <p:nvSpPr>
          <p:cNvPr id="22" name="Shape 19"/>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3" name="Text 20"/>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4" name="Text 21"/>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8">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Constat amiable &amp; Situations difficiles</a:t>
            </a:r>
            <a:endParaRPr lang="en-US" sz="2000" dirty="0"/>
          </a:p>
        </p:txBody>
      </p:sp>
      <p:sp>
        <p:nvSpPr>
          <p:cNvPr id="6" name="Shape 4"/>
          <p:cNvSpPr/>
          <p:nvPr/>
        </p:nvSpPr>
        <p:spPr>
          <a:xfrm>
            <a:off x="27432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7" name="Text 5"/>
          <p:cNvSpPr/>
          <p:nvPr/>
        </p:nvSpPr>
        <p:spPr>
          <a:xfrm>
            <a:off x="411480" y="1389888"/>
            <a:ext cx="3840480" cy="320040"/>
          </a:xfrm>
          <a:prstGeom prst="rect">
            <a:avLst/>
          </a:prstGeom>
          <a:noFill/>
          <a:ln/>
        </p:spPr>
        <p:txBody>
          <a:bodyPr wrap="square" rtlCol="0" anchor="ctr"/>
          <a:lstStyle/>
          <a:p>
            <a:pPr marL="0" indent="0">
              <a:buNone/>
            </a:pPr>
            <a:r>
              <a:rPr lang="en-US" sz="1100" b="1" dirty="0">
                <a:solidFill>
                  <a:srgbClr val="D35400"/>
                </a:solidFill>
              </a:rPr>
              <a:t>📋 Remplir le constat</a:t>
            </a:r>
            <a:endParaRPr lang="en-US" sz="1100" dirty="0"/>
          </a:p>
        </p:txBody>
      </p:sp>
      <p:sp>
        <p:nvSpPr>
          <p:cNvPr id="8" name="Shape 6"/>
          <p:cNvSpPr/>
          <p:nvPr/>
        </p:nvSpPr>
        <p:spPr>
          <a:xfrm>
            <a:off x="411480" y="1819656"/>
            <a:ext cx="64008" cy="384048"/>
          </a:xfrm>
          <a:prstGeom prst="rect">
            <a:avLst/>
          </a:prstGeom>
          <a:solidFill>
            <a:srgbClr val="D35400"/>
          </a:solidFill>
          <a:ln w="12700">
            <a:solidFill>
              <a:srgbClr val="D35400"/>
            </a:solidFill>
            <a:prstDash val="solid"/>
          </a:ln>
        </p:spPr>
        <p:txBody>
          <a:bodyPr/>
          <a:lstStyle/>
          <a:p>
            <a:endParaRPr lang="fr-FR"/>
          </a:p>
        </p:txBody>
      </p:sp>
      <p:sp>
        <p:nvSpPr>
          <p:cNvPr id="9" name="Text 7"/>
          <p:cNvSpPr/>
          <p:nvPr/>
        </p:nvSpPr>
        <p:spPr>
          <a:xfrm>
            <a:off x="566928" y="1764792"/>
            <a:ext cx="3639312" cy="493776"/>
          </a:xfrm>
          <a:prstGeom prst="rect">
            <a:avLst/>
          </a:prstGeom>
          <a:noFill/>
          <a:ln/>
        </p:spPr>
        <p:txBody>
          <a:bodyPr wrap="square" rtlCol="0" anchor="ctr"/>
          <a:lstStyle/>
          <a:p>
            <a:pPr marL="0" indent="0">
              <a:buNone/>
            </a:pPr>
            <a:r>
              <a:rPr lang="en-US" sz="850" dirty="0">
                <a:solidFill>
                  <a:srgbClr val="1C2833"/>
                </a:solidFill>
              </a:rPr>
              <a:t>Présenter ses papiers : permis · assurance · carte grise</a:t>
            </a:r>
            <a:endParaRPr lang="en-US" sz="850" dirty="0"/>
          </a:p>
        </p:txBody>
      </p:sp>
      <p:sp>
        <p:nvSpPr>
          <p:cNvPr id="10" name="Shape 8"/>
          <p:cNvSpPr/>
          <p:nvPr/>
        </p:nvSpPr>
        <p:spPr>
          <a:xfrm>
            <a:off x="411480" y="2203704"/>
            <a:ext cx="64008" cy="384048"/>
          </a:xfrm>
          <a:prstGeom prst="rect">
            <a:avLst/>
          </a:prstGeom>
          <a:solidFill>
            <a:srgbClr val="D35400"/>
          </a:solidFill>
          <a:ln w="12700">
            <a:solidFill>
              <a:srgbClr val="D35400"/>
            </a:solidFill>
            <a:prstDash val="solid"/>
          </a:ln>
        </p:spPr>
        <p:txBody>
          <a:bodyPr/>
          <a:lstStyle/>
          <a:p>
            <a:endParaRPr lang="fr-FR"/>
          </a:p>
        </p:txBody>
      </p:sp>
      <p:sp>
        <p:nvSpPr>
          <p:cNvPr id="11" name="Text 9"/>
          <p:cNvSpPr/>
          <p:nvPr/>
        </p:nvSpPr>
        <p:spPr>
          <a:xfrm>
            <a:off x="566928" y="2148840"/>
            <a:ext cx="3639312" cy="493776"/>
          </a:xfrm>
          <a:prstGeom prst="rect">
            <a:avLst/>
          </a:prstGeom>
          <a:noFill/>
          <a:ln/>
        </p:spPr>
        <p:txBody>
          <a:bodyPr wrap="square" rtlCol="0" anchor="ctr"/>
          <a:lstStyle/>
          <a:p>
            <a:pPr marL="0" indent="0">
              <a:buNone/>
            </a:pPr>
            <a:r>
              <a:rPr lang="en-US" sz="850" dirty="0">
                <a:solidFill>
                  <a:srgbClr val="1C2833"/>
                </a:solidFill>
              </a:rPr>
              <a:t>Stylo à bille (double lisible)</a:t>
            </a:r>
            <a:endParaRPr lang="en-US" sz="850" dirty="0"/>
          </a:p>
        </p:txBody>
      </p:sp>
      <p:sp>
        <p:nvSpPr>
          <p:cNvPr id="12" name="Shape 10"/>
          <p:cNvSpPr/>
          <p:nvPr/>
        </p:nvSpPr>
        <p:spPr>
          <a:xfrm>
            <a:off x="411480" y="2587752"/>
            <a:ext cx="64008" cy="384048"/>
          </a:xfrm>
          <a:prstGeom prst="rect">
            <a:avLst/>
          </a:prstGeom>
          <a:solidFill>
            <a:srgbClr val="D35400"/>
          </a:solidFill>
          <a:ln w="12700">
            <a:solidFill>
              <a:srgbClr val="D35400"/>
            </a:solidFill>
            <a:prstDash val="solid"/>
          </a:ln>
        </p:spPr>
        <p:txBody>
          <a:bodyPr/>
          <a:lstStyle/>
          <a:p>
            <a:endParaRPr lang="fr-FR"/>
          </a:p>
        </p:txBody>
      </p:sp>
      <p:sp>
        <p:nvSpPr>
          <p:cNvPr id="13" name="Text 11"/>
          <p:cNvSpPr/>
          <p:nvPr/>
        </p:nvSpPr>
        <p:spPr>
          <a:xfrm>
            <a:off x="566928" y="2532888"/>
            <a:ext cx="3639312" cy="493776"/>
          </a:xfrm>
          <a:prstGeom prst="rect">
            <a:avLst/>
          </a:prstGeom>
          <a:noFill/>
          <a:ln/>
        </p:spPr>
        <p:txBody>
          <a:bodyPr wrap="square" rtlCol="0" anchor="ctr"/>
          <a:lstStyle/>
          <a:p>
            <a:pPr marL="0" indent="0">
              <a:buNone/>
            </a:pPr>
            <a:r>
              <a:rPr lang="en-US" sz="850" dirty="0">
                <a:solidFill>
                  <a:srgbClr val="1C2833"/>
                </a:solidFill>
              </a:rPr>
              <a:t>Si +2 véhicules : un constat par conducteur</a:t>
            </a:r>
            <a:endParaRPr lang="en-US" sz="850" dirty="0"/>
          </a:p>
        </p:txBody>
      </p:sp>
      <p:sp>
        <p:nvSpPr>
          <p:cNvPr id="14" name="Shape 12"/>
          <p:cNvSpPr/>
          <p:nvPr/>
        </p:nvSpPr>
        <p:spPr>
          <a:xfrm>
            <a:off x="411480" y="2971800"/>
            <a:ext cx="64008" cy="384048"/>
          </a:xfrm>
          <a:prstGeom prst="rect">
            <a:avLst/>
          </a:prstGeom>
          <a:solidFill>
            <a:srgbClr val="D35400"/>
          </a:solidFill>
          <a:ln w="12700">
            <a:solidFill>
              <a:srgbClr val="D35400"/>
            </a:solidFill>
            <a:prstDash val="solid"/>
          </a:ln>
        </p:spPr>
        <p:txBody>
          <a:bodyPr/>
          <a:lstStyle/>
          <a:p>
            <a:endParaRPr lang="fr-FR"/>
          </a:p>
        </p:txBody>
      </p:sp>
      <p:sp>
        <p:nvSpPr>
          <p:cNvPr id="15" name="Text 13"/>
          <p:cNvSpPr/>
          <p:nvPr/>
        </p:nvSpPr>
        <p:spPr>
          <a:xfrm>
            <a:off x="566928" y="2916936"/>
            <a:ext cx="3639312" cy="493776"/>
          </a:xfrm>
          <a:prstGeom prst="rect">
            <a:avLst/>
          </a:prstGeom>
          <a:noFill/>
          <a:ln/>
        </p:spPr>
        <p:txBody>
          <a:bodyPr wrap="square" rtlCol="0" anchor="ctr"/>
          <a:lstStyle/>
          <a:p>
            <a:pPr marL="0" indent="0">
              <a:buNone/>
            </a:pPr>
            <a:r>
              <a:rPr lang="en-US" sz="850" dirty="0">
                <a:solidFill>
                  <a:srgbClr val="1C2833"/>
                </a:solidFill>
              </a:rPr>
              <a:t>Remplir uniquement le recto (partie A bleue ou B jaune)</a:t>
            </a:r>
            <a:endParaRPr lang="en-US" sz="850" dirty="0"/>
          </a:p>
        </p:txBody>
      </p:sp>
      <p:sp>
        <p:nvSpPr>
          <p:cNvPr id="16" name="Shape 14"/>
          <p:cNvSpPr/>
          <p:nvPr/>
        </p:nvSpPr>
        <p:spPr>
          <a:xfrm>
            <a:off x="411480" y="3355848"/>
            <a:ext cx="64008" cy="384048"/>
          </a:xfrm>
          <a:prstGeom prst="rect">
            <a:avLst/>
          </a:prstGeom>
          <a:solidFill>
            <a:srgbClr val="D35400"/>
          </a:solidFill>
          <a:ln w="12700">
            <a:solidFill>
              <a:srgbClr val="D35400"/>
            </a:solidFill>
            <a:prstDash val="solid"/>
          </a:ln>
        </p:spPr>
        <p:txBody>
          <a:bodyPr/>
          <a:lstStyle/>
          <a:p>
            <a:endParaRPr lang="fr-FR"/>
          </a:p>
        </p:txBody>
      </p:sp>
      <p:sp>
        <p:nvSpPr>
          <p:cNvPr id="17" name="Text 15"/>
          <p:cNvSpPr/>
          <p:nvPr/>
        </p:nvSpPr>
        <p:spPr>
          <a:xfrm>
            <a:off x="566928" y="3300984"/>
            <a:ext cx="3639312" cy="493776"/>
          </a:xfrm>
          <a:prstGeom prst="rect">
            <a:avLst/>
          </a:prstGeom>
          <a:noFill/>
          <a:ln/>
        </p:spPr>
        <p:txBody>
          <a:bodyPr wrap="square" rtlCol="0" anchor="ctr"/>
          <a:lstStyle/>
          <a:p>
            <a:pPr marL="0" indent="0">
              <a:buNone/>
            </a:pPr>
            <a:r>
              <a:rPr lang="en-US" sz="850" dirty="0">
                <a:solidFill>
                  <a:srgbClr val="1C2833"/>
                </a:solidFill>
              </a:rPr>
              <a:t>Vérifier cases cochées et observations</a:t>
            </a:r>
            <a:endParaRPr lang="en-US" sz="850" dirty="0"/>
          </a:p>
        </p:txBody>
      </p:sp>
      <p:sp>
        <p:nvSpPr>
          <p:cNvPr id="18" name="Shape 16"/>
          <p:cNvSpPr/>
          <p:nvPr/>
        </p:nvSpPr>
        <p:spPr>
          <a:xfrm>
            <a:off x="411480" y="3739896"/>
            <a:ext cx="64008" cy="384048"/>
          </a:xfrm>
          <a:prstGeom prst="rect">
            <a:avLst/>
          </a:prstGeom>
          <a:solidFill>
            <a:srgbClr val="D35400"/>
          </a:solidFill>
          <a:ln w="12700">
            <a:solidFill>
              <a:srgbClr val="D35400"/>
            </a:solidFill>
            <a:prstDash val="solid"/>
          </a:ln>
        </p:spPr>
        <p:txBody>
          <a:bodyPr/>
          <a:lstStyle/>
          <a:p>
            <a:endParaRPr lang="fr-FR"/>
          </a:p>
        </p:txBody>
      </p:sp>
      <p:sp>
        <p:nvSpPr>
          <p:cNvPr id="19" name="Text 17"/>
          <p:cNvSpPr/>
          <p:nvPr/>
        </p:nvSpPr>
        <p:spPr>
          <a:xfrm>
            <a:off x="566928" y="3685032"/>
            <a:ext cx="3639312" cy="493776"/>
          </a:xfrm>
          <a:prstGeom prst="rect">
            <a:avLst/>
          </a:prstGeom>
          <a:noFill/>
          <a:ln/>
        </p:spPr>
        <p:txBody>
          <a:bodyPr wrap="square" rtlCol="0" anchor="ctr"/>
          <a:lstStyle/>
          <a:p>
            <a:pPr marL="0" indent="0">
              <a:buNone/>
            </a:pPr>
            <a:r>
              <a:rPr lang="en-US" sz="850" dirty="0">
                <a:solidFill>
                  <a:srgbClr val="1C2833"/>
                </a:solidFill>
              </a:rPr>
              <a:t>Signer ET faire signer l'autre conducteur</a:t>
            </a:r>
            <a:endParaRPr lang="en-US" sz="850" dirty="0"/>
          </a:p>
        </p:txBody>
      </p:sp>
      <p:sp>
        <p:nvSpPr>
          <p:cNvPr id="20" name="Shape 18"/>
          <p:cNvSpPr/>
          <p:nvPr/>
        </p:nvSpPr>
        <p:spPr>
          <a:xfrm>
            <a:off x="411480" y="4123944"/>
            <a:ext cx="64008" cy="384048"/>
          </a:xfrm>
          <a:prstGeom prst="rect">
            <a:avLst/>
          </a:prstGeom>
          <a:solidFill>
            <a:srgbClr val="D35400"/>
          </a:solidFill>
          <a:ln w="12700">
            <a:solidFill>
              <a:srgbClr val="D35400"/>
            </a:solidFill>
            <a:prstDash val="solid"/>
          </a:ln>
        </p:spPr>
        <p:txBody>
          <a:bodyPr/>
          <a:lstStyle/>
          <a:p>
            <a:endParaRPr lang="fr-FR"/>
          </a:p>
        </p:txBody>
      </p:sp>
      <p:sp>
        <p:nvSpPr>
          <p:cNvPr id="21" name="Text 19"/>
          <p:cNvSpPr/>
          <p:nvPr/>
        </p:nvSpPr>
        <p:spPr>
          <a:xfrm>
            <a:off x="566928" y="4069080"/>
            <a:ext cx="3639312" cy="493776"/>
          </a:xfrm>
          <a:prstGeom prst="rect">
            <a:avLst/>
          </a:prstGeom>
          <a:noFill/>
          <a:ln/>
        </p:spPr>
        <p:txBody>
          <a:bodyPr wrap="square" rtlCol="0" anchor="ctr"/>
          <a:lstStyle/>
          <a:p>
            <a:pPr marL="0" indent="0">
              <a:buNone/>
            </a:pPr>
            <a:r>
              <a:rPr lang="en-US" sz="850" dirty="0">
                <a:solidFill>
                  <a:srgbClr val="1C2833"/>
                </a:solidFill>
              </a:rPr>
              <a:t>Séparer les 2 exemplaires et remettre l'un</a:t>
            </a:r>
            <a:endParaRPr lang="en-US" sz="850" dirty="0"/>
          </a:p>
        </p:txBody>
      </p:sp>
      <p:sp>
        <p:nvSpPr>
          <p:cNvPr id="22" name="Shape 20"/>
          <p:cNvSpPr/>
          <p:nvPr/>
        </p:nvSpPr>
        <p:spPr>
          <a:xfrm>
            <a:off x="411480" y="4507992"/>
            <a:ext cx="64008" cy="384048"/>
          </a:xfrm>
          <a:prstGeom prst="rect">
            <a:avLst/>
          </a:prstGeom>
          <a:solidFill>
            <a:srgbClr val="D35400"/>
          </a:solidFill>
          <a:ln w="12700">
            <a:solidFill>
              <a:srgbClr val="D35400"/>
            </a:solidFill>
            <a:prstDash val="solid"/>
          </a:ln>
        </p:spPr>
        <p:txBody>
          <a:bodyPr/>
          <a:lstStyle/>
          <a:p>
            <a:endParaRPr lang="fr-FR"/>
          </a:p>
        </p:txBody>
      </p:sp>
      <p:sp>
        <p:nvSpPr>
          <p:cNvPr id="23" name="Text 21"/>
          <p:cNvSpPr/>
          <p:nvPr/>
        </p:nvSpPr>
        <p:spPr>
          <a:xfrm>
            <a:off x="566928" y="4453128"/>
            <a:ext cx="3639312" cy="493776"/>
          </a:xfrm>
          <a:prstGeom prst="rect">
            <a:avLst/>
          </a:prstGeom>
          <a:noFill/>
          <a:ln/>
        </p:spPr>
        <p:txBody>
          <a:bodyPr wrap="square" rtlCol="0" anchor="ctr"/>
          <a:lstStyle/>
          <a:p>
            <a:pPr marL="0" indent="0">
              <a:buNone/>
            </a:pPr>
            <a:r>
              <a:rPr lang="en-US" sz="850" dirty="0">
                <a:solidFill>
                  <a:srgbClr val="1C2833"/>
                </a:solidFill>
              </a:rPr>
              <a:t>⚠️ Après signature : ne RIEN ajouter au recto</a:t>
            </a:r>
            <a:endParaRPr lang="en-US" sz="850" dirty="0"/>
          </a:p>
        </p:txBody>
      </p:sp>
      <p:sp>
        <p:nvSpPr>
          <p:cNvPr id="24" name="Shape 22"/>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25" name="Text 23"/>
          <p:cNvSpPr/>
          <p:nvPr/>
        </p:nvSpPr>
        <p:spPr>
          <a:xfrm>
            <a:off x="4800600" y="1389888"/>
            <a:ext cx="3840480" cy="320040"/>
          </a:xfrm>
          <a:prstGeom prst="rect">
            <a:avLst/>
          </a:prstGeom>
          <a:noFill/>
          <a:ln/>
        </p:spPr>
        <p:txBody>
          <a:bodyPr wrap="square" rtlCol="0" anchor="ctr"/>
          <a:lstStyle/>
          <a:p>
            <a:pPr marL="0" indent="0">
              <a:buNone/>
            </a:pPr>
            <a:r>
              <a:rPr lang="en-US" sz="1100" b="1" dirty="0">
                <a:solidFill>
                  <a:srgbClr val="D35400"/>
                </a:solidFill>
              </a:rPr>
              <a:t>⚠️ Situations difficiles</a:t>
            </a:r>
            <a:endParaRPr lang="en-US" sz="1100" dirty="0"/>
          </a:p>
        </p:txBody>
      </p:sp>
      <p:sp>
        <p:nvSpPr>
          <p:cNvPr id="26" name="Text 24"/>
          <p:cNvSpPr/>
          <p:nvPr/>
        </p:nvSpPr>
        <p:spPr>
          <a:xfrm>
            <a:off x="4800600" y="1764792"/>
            <a:ext cx="3840480" cy="256032"/>
          </a:xfrm>
          <a:prstGeom prst="rect">
            <a:avLst/>
          </a:prstGeom>
          <a:noFill/>
          <a:ln/>
        </p:spPr>
        <p:txBody>
          <a:bodyPr wrap="square" rtlCol="0" anchor="ctr"/>
          <a:lstStyle/>
          <a:p>
            <a:pPr marL="0" indent="0">
              <a:buNone/>
            </a:pPr>
            <a:r>
              <a:rPr lang="en-US" sz="950" b="1" dirty="0">
                <a:solidFill>
                  <a:srgbClr val="D35400"/>
                </a:solidFill>
              </a:rPr>
              <a:t>Constat incorrect :</a:t>
            </a:r>
            <a:endParaRPr lang="en-US" sz="950" dirty="0"/>
          </a:p>
        </p:txBody>
      </p:sp>
      <p:sp>
        <p:nvSpPr>
          <p:cNvPr id="27" name="Text 25"/>
          <p:cNvSpPr/>
          <p:nvPr/>
        </p:nvSpPr>
        <p:spPr>
          <a:xfrm>
            <a:off x="4800600" y="2039112"/>
            <a:ext cx="3840480" cy="475488"/>
          </a:xfrm>
          <a:prstGeom prst="rect">
            <a:avLst/>
          </a:prstGeom>
          <a:noFill/>
          <a:ln/>
        </p:spPr>
        <p:txBody>
          <a:bodyPr wrap="square" rtlCol="0" anchor="ctr"/>
          <a:lstStyle/>
          <a:p>
            <a:pPr marL="0" indent="0">
              <a:buNone/>
            </a:pPr>
            <a:r>
              <a:rPr lang="en-US" sz="850" dirty="0">
                <a:solidFill>
                  <a:srgbClr val="1C2833"/>
                </a:solidFill>
              </a:rPr>
              <a:t>Établir un 2ème constat rectificatif mentionnant « annule et remplace ».</a:t>
            </a:r>
            <a:endParaRPr lang="en-US" sz="850" dirty="0"/>
          </a:p>
        </p:txBody>
      </p:sp>
      <p:sp>
        <p:nvSpPr>
          <p:cNvPr id="28" name="Text 26"/>
          <p:cNvSpPr/>
          <p:nvPr/>
        </p:nvSpPr>
        <p:spPr>
          <a:xfrm>
            <a:off x="4800600" y="2587752"/>
            <a:ext cx="3840480" cy="256032"/>
          </a:xfrm>
          <a:prstGeom prst="rect">
            <a:avLst/>
          </a:prstGeom>
          <a:noFill/>
          <a:ln/>
        </p:spPr>
        <p:txBody>
          <a:bodyPr wrap="square" rtlCol="0" anchor="ctr"/>
          <a:lstStyle/>
          <a:p>
            <a:pPr marL="0" indent="0">
              <a:buNone/>
            </a:pPr>
            <a:r>
              <a:rPr lang="en-US" sz="950" b="1" dirty="0">
                <a:solidFill>
                  <a:srgbClr val="D35400"/>
                </a:solidFill>
              </a:rPr>
              <a:t>Désaccord :</a:t>
            </a:r>
            <a:endParaRPr lang="en-US" sz="950" dirty="0"/>
          </a:p>
        </p:txBody>
      </p:sp>
      <p:sp>
        <p:nvSpPr>
          <p:cNvPr id="29" name="Text 27"/>
          <p:cNvSpPr/>
          <p:nvPr/>
        </p:nvSpPr>
        <p:spPr>
          <a:xfrm>
            <a:off x="4800600" y="2862072"/>
            <a:ext cx="3840480" cy="475488"/>
          </a:xfrm>
          <a:prstGeom prst="rect">
            <a:avLst/>
          </a:prstGeom>
          <a:noFill/>
          <a:ln/>
        </p:spPr>
        <p:txBody>
          <a:bodyPr wrap="square" rtlCol="0" anchor="ctr"/>
          <a:lstStyle/>
          <a:p>
            <a:pPr marL="0" indent="0">
              <a:buNone/>
            </a:pPr>
            <a:r>
              <a:rPr lang="en-US" sz="850" dirty="0">
                <a:solidFill>
                  <a:srgbClr val="1C2833"/>
                </a:solidFill>
              </a:rPr>
              <a:t>Signer quand même en notant le désaccord dans « Observations ».</a:t>
            </a:r>
            <a:endParaRPr lang="en-US" sz="850" dirty="0"/>
          </a:p>
        </p:txBody>
      </p:sp>
      <p:sp>
        <p:nvSpPr>
          <p:cNvPr id="30" name="Text 28"/>
          <p:cNvSpPr/>
          <p:nvPr/>
        </p:nvSpPr>
        <p:spPr>
          <a:xfrm>
            <a:off x="4800600" y="3410712"/>
            <a:ext cx="3840480" cy="256032"/>
          </a:xfrm>
          <a:prstGeom prst="rect">
            <a:avLst/>
          </a:prstGeom>
          <a:noFill/>
          <a:ln/>
        </p:spPr>
        <p:txBody>
          <a:bodyPr wrap="square" rtlCol="0" anchor="ctr"/>
          <a:lstStyle/>
          <a:p>
            <a:pPr marL="0" indent="0">
              <a:buNone/>
            </a:pPr>
            <a:r>
              <a:rPr lang="en-US" sz="950" b="1" dirty="0">
                <a:solidFill>
                  <a:srgbClr val="D35400"/>
                </a:solidFill>
              </a:rPr>
              <a:t>Refus de remplir :</a:t>
            </a:r>
            <a:endParaRPr lang="en-US" sz="950" dirty="0"/>
          </a:p>
        </p:txBody>
      </p:sp>
      <p:sp>
        <p:nvSpPr>
          <p:cNvPr id="31" name="Text 29"/>
          <p:cNvSpPr/>
          <p:nvPr/>
        </p:nvSpPr>
        <p:spPr>
          <a:xfrm>
            <a:off x="4800600" y="3685032"/>
            <a:ext cx="3840480" cy="475488"/>
          </a:xfrm>
          <a:prstGeom prst="rect">
            <a:avLst/>
          </a:prstGeom>
          <a:noFill/>
          <a:ln/>
        </p:spPr>
        <p:txBody>
          <a:bodyPr wrap="square" rtlCol="0" anchor="ctr"/>
          <a:lstStyle/>
          <a:p>
            <a:pPr marL="0" indent="0">
              <a:buNone/>
            </a:pPr>
            <a:r>
              <a:rPr lang="en-US" sz="850" dirty="0">
                <a:solidFill>
                  <a:srgbClr val="1C2833"/>
                </a:solidFill>
              </a:rPr>
              <a:t>Noter immatriculation + identité + assureur (vignette). Chercher un témoin.</a:t>
            </a:r>
            <a:endParaRPr lang="en-US" sz="850" dirty="0"/>
          </a:p>
        </p:txBody>
      </p:sp>
      <p:sp>
        <p:nvSpPr>
          <p:cNvPr id="32" name="Text 30"/>
          <p:cNvSpPr/>
          <p:nvPr/>
        </p:nvSpPr>
        <p:spPr>
          <a:xfrm>
            <a:off x="4800600" y="4233672"/>
            <a:ext cx="3840480" cy="256032"/>
          </a:xfrm>
          <a:prstGeom prst="rect">
            <a:avLst/>
          </a:prstGeom>
          <a:noFill/>
          <a:ln/>
        </p:spPr>
        <p:txBody>
          <a:bodyPr wrap="square" rtlCol="0" anchor="ctr"/>
          <a:lstStyle/>
          <a:p>
            <a:pPr marL="0" indent="0">
              <a:buNone/>
            </a:pPr>
            <a:r>
              <a:rPr lang="en-US" sz="950" b="1" dirty="0">
                <a:solidFill>
                  <a:srgbClr val="D35400"/>
                </a:solidFill>
              </a:rPr>
              <a:t>Fuite ou contrainte :</a:t>
            </a:r>
            <a:endParaRPr lang="en-US" sz="950" dirty="0"/>
          </a:p>
        </p:txBody>
      </p:sp>
      <p:sp>
        <p:nvSpPr>
          <p:cNvPr id="33" name="Text 31"/>
          <p:cNvSpPr/>
          <p:nvPr/>
        </p:nvSpPr>
        <p:spPr>
          <a:xfrm>
            <a:off x="4800600" y="4507992"/>
            <a:ext cx="3840480" cy="475488"/>
          </a:xfrm>
          <a:prstGeom prst="rect">
            <a:avLst/>
          </a:prstGeom>
          <a:noFill/>
          <a:ln/>
        </p:spPr>
        <p:txBody>
          <a:bodyPr wrap="square" rtlCol="0" anchor="ctr"/>
          <a:lstStyle/>
          <a:p>
            <a:pPr marL="0" indent="0">
              <a:buNone/>
            </a:pPr>
            <a:r>
              <a:rPr lang="en-US" sz="850" dirty="0">
                <a:solidFill>
                  <a:srgbClr val="1C2833"/>
                </a:solidFill>
              </a:rPr>
              <a:t>Immatriculation + témoin + dépôt de plainte (police, gendarmerie ou procureur).</a:t>
            </a:r>
            <a:endParaRPr lang="en-US" sz="850" dirty="0"/>
          </a:p>
        </p:txBody>
      </p:sp>
      <p:sp>
        <p:nvSpPr>
          <p:cNvPr id="34" name="Shape 32"/>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35" name="Text 33"/>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36" name="Text 34"/>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9">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Permis à points : Annulation &amp; Invalidation</a:t>
            </a:r>
            <a:endParaRPr lang="en-US" sz="2000" dirty="0"/>
          </a:p>
        </p:txBody>
      </p:sp>
      <p:pic>
        <p:nvPicPr>
          <p:cNvPr id="6" name="Image 0" descr="preencoded.png"/>
          <p:cNvPicPr>
            <a:picLocks noChangeAspect="1"/>
          </p:cNvPicPr>
          <p:nvPr/>
        </p:nvPicPr>
        <p:blipFill>
          <a:blip r:embed="rId3"/>
          <a:stretch>
            <a:fillRect/>
          </a:stretch>
        </p:blipFill>
        <p:spPr>
          <a:xfrm>
            <a:off x="274320" y="1644091"/>
            <a:ext cx="4206240" cy="2663647"/>
          </a:xfrm>
          <a:prstGeom prst="rect">
            <a:avLst/>
          </a:prstGeom>
        </p:spPr>
      </p:pic>
      <p:sp>
        <p:nvSpPr>
          <p:cNvPr id="7" name="Shape 4"/>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800600" y="1389888"/>
            <a:ext cx="3840480" cy="320040"/>
          </a:xfrm>
          <a:prstGeom prst="rect">
            <a:avLst/>
          </a:prstGeom>
          <a:noFill/>
          <a:ln/>
        </p:spPr>
        <p:txBody>
          <a:bodyPr wrap="square" rtlCol="0" anchor="ctr"/>
          <a:lstStyle/>
          <a:p>
            <a:pPr marL="0" indent="0">
              <a:buNone/>
            </a:pPr>
            <a:r>
              <a:rPr lang="en-US" sz="1100" b="1" dirty="0">
                <a:solidFill>
                  <a:srgbClr val="C0392B"/>
                </a:solidFill>
              </a:rPr>
              <a:t>🚫 Annulation (décision du juge)</a:t>
            </a:r>
            <a:endParaRPr lang="en-US" sz="1100" dirty="0"/>
          </a:p>
        </p:txBody>
      </p:sp>
      <p:sp>
        <p:nvSpPr>
          <p:cNvPr id="9" name="Text 6"/>
          <p:cNvSpPr/>
          <p:nvPr/>
        </p:nvSpPr>
        <p:spPr>
          <a:xfrm>
            <a:off x="4800600" y="1755648"/>
            <a:ext cx="3840480" cy="777240"/>
          </a:xfrm>
          <a:prstGeom prst="rect">
            <a:avLst/>
          </a:prstGeom>
          <a:noFill/>
          <a:ln/>
        </p:spPr>
        <p:txBody>
          <a:bodyPr wrap="square" rtlCol="0" anchor="ctr"/>
          <a:lstStyle/>
          <a:p>
            <a:pPr marL="0" indent="0">
              <a:buNone/>
            </a:pPr>
            <a:r>
              <a:rPr lang="en-US" sz="900" dirty="0">
                <a:solidFill>
                  <a:srgbClr val="1C2833"/>
                </a:solidFill>
              </a:rPr>
              <a:t>Pour reconduire : examen psychotechnique + visite médicale + code de la route. Code + conduite si &gt; 1 an ou période probatoire. → Permis PROBATOIRE en cas de réussite.</a:t>
            </a:r>
            <a:endParaRPr lang="en-US" sz="900" dirty="0"/>
          </a:p>
        </p:txBody>
      </p:sp>
      <p:sp>
        <p:nvSpPr>
          <p:cNvPr id="10" name="Text 7"/>
          <p:cNvSpPr/>
          <p:nvPr/>
        </p:nvSpPr>
        <p:spPr>
          <a:xfrm>
            <a:off x="4800600" y="2596896"/>
            <a:ext cx="3840480" cy="320040"/>
          </a:xfrm>
          <a:prstGeom prst="rect">
            <a:avLst/>
          </a:prstGeom>
          <a:noFill/>
          <a:ln/>
        </p:spPr>
        <p:txBody>
          <a:bodyPr wrap="square" rtlCol="0" anchor="ctr"/>
          <a:lstStyle/>
          <a:p>
            <a:pPr marL="0" indent="0">
              <a:buNone/>
            </a:pPr>
            <a:r>
              <a:rPr lang="en-US" sz="1100" b="1" dirty="0">
                <a:solidFill>
                  <a:srgbClr val="D35400"/>
                </a:solidFill>
              </a:rPr>
              <a:t>❌ Invalidation (solde nul de points)</a:t>
            </a:r>
            <a:endParaRPr lang="en-US" sz="1100" dirty="0"/>
          </a:p>
        </p:txBody>
      </p:sp>
      <p:sp>
        <p:nvSpPr>
          <p:cNvPr id="11" name="Text 8"/>
          <p:cNvSpPr/>
          <p:nvPr/>
        </p:nvSpPr>
        <p:spPr>
          <a:xfrm>
            <a:off x="4800600" y="2962656"/>
            <a:ext cx="3840480" cy="685800"/>
          </a:xfrm>
          <a:prstGeom prst="rect">
            <a:avLst/>
          </a:prstGeom>
          <a:noFill/>
          <a:ln/>
        </p:spPr>
        <p:txBody>
          <a:bodyPr wrap="square" rtlCol="0" anchor="ctr"/>
          <a:lstStyle/>
          <a:p>
            <a:pPr marL="0" indent="0">
              <a:buNone/>
            </a:pPr>
            <a:r>
              <a:rPr lang="en-US" sz="900" dirty="0">
                <a:solidFill>
                  <a:srgbClr val="1C2833"/>
                </a:solidFill>
              </a:rPr>
              <a:t>Attendre 6 mois (ou 1 an si déjà invalidé dans les 5 dernières années).</a:t>
            </a:r>
            <a:endParaRPr lang="en-US" sz="900" dirty="0"/>
          </a:p>
          <a:p>
            <a:pPr marL="0" indent="0">
              <a:buNone/>
            </a:pPr>
            <a:r>
              <a:rPr lang="en-US" sz="900" dirty="0">
                <a:solidFill>
                  <a:srgbClr val="1C2833"/>
                </a:solidFill>
              </a:rPr>
              <a:t>Mêmes étapes que l'annulation.</a:t>
            </a:r>
            <a:endParaRPr lang="en-US" sz="900" dirty="0"/>
          </a:p>
          <a:p>
            <a:pPr marL="0" indent="0">
              <a:buNone/>
            </a:pPr>
            <a:r>
              <a:rPr lang="en-US" sz="900" dirty="0">
                <a:solidFill>
                  <a:srgbClr val="1C2833"/>
                </a:solidFill>
              </a:rPr>
              <a:t>→ Permis PROBATOIRE en cas de réussite.</a:t>
            </a:r>
            <a:endParaRPr lang="en-US" sz="900" dirty="0"/>
          </a:p>
        </p:txBody>
      </p:sp>
      <p:sp>
        <p:nvSpPr>
          <p:cNvPr id="12" name="Text 9"/>
          <p:cNvSpPr/>
          <p:nvPr/>
        </p:nvSpPr>
        <p:spPr>
          <a:xfrm>
            <a:off x="4800600" y="3712464"/>
            <a:ext cx="3840480" cy="292608"/>
          </a:xfrm>
          <a:prstGeom prst="rect">
            <a:avLst/>
          </a:prstGeom>
          <a:noFill/>
          <a:ln/>
        </p:spPr>
        <p:txBody>
          <a:bodyPr wrap="square" rtlCol="0" anchor="ctr"/>
          <a:lstStyle/>
          <a:p>
            <a:pPr marL="0" indent="0">
              <a:buNone/>
            </a:pPr>
            <a:r>
              <a:rPr lang="en-US" sz="1100" b="1" dirty="0">
                <a:solidFill>
                  <a:srgbClr val="D35400"/>
                </a:solidFill>
              </a:rPr>
              <a:t>🎓 Stage de récupération</a:t>
            </a:r>
            <a:endParaRPr lang="en-US" sz="1100" dirty="0"/>
          </a:p>
        </p:txBody>
      </p:sp>
      <p:sp>
        <p:nvSpPr>
          <p:cNvPr id="13" name="Text 10"/>
          <p:cNvSpPr/>
          <p:nvPr/>
        </p:nvSpPr>
        <p:spPr>
          <a:xfrm>
            <a:off x="4800600" y="4041648"/>
            <a:ext cx="3840480" cy="658368"/>
          </a:xfrm>
          <a:prstGeom prst="rect">
            <a:avLst/>
          </a:prstGeom>
          <a:noFill/>
          <a:ln/>
        </p:spPr>
        <p:txBody>
          <a:bodyPr wrap="square" rtlCol="0" anchor="ctr"/>
          <a:lstStyle/>
          <a:p>
            <a:pPr marL="0" indent="0">
              <a:buNone/>
            </a:pPr>
            <a:r>
              <a:rPr lang="en-US" sz="850" dirty="0">
                <a:solidFill>
                  <a:srgbClr val="1C2833"/>
                </a:solidFill>
              </a:rPr>
              <a:t>Stage de 2 jours → +4 points maximum. 1 seul stage par an.</a:t>
            </a:r>
            <a:endParaRPr lang="en-US" sz="850" dirty="0"/>
          </a:p>
          <a:p>
            <a:pPr marL="0" indent="0">
              <a:buNone/>
            </a:pPr>
            <a:r>
              <a:rPr lang="en-US" sz="850" dirty="0">
                <a:solidFill>
                  <a:srgbClr val="1C2833"/>
                </a:solidFill>
              </a:rPr>
              <a:t>Solde à 0 = stage impossible.</a:t>
            </a:r>
            <a:endParaRPr lang="en-US" sz="850" dirty="0"/>
          </a:p>
          <a:p>
            <a:pPr marL="0" indent="0">
              <a:buNone/>
            </a:pPr>
            <a:r>
              <a:rPr lang="en-US" sz="850" dirty="0">
                <a:solidFill>
                  <a:srgbClr val="1C2833"/>
                </a:solidFill>
              </a:rPr>
              <a:t>Après ≥ 3 pts retirés en une infraction (probatoire) = stage obligatoire.</a:t>
            </a:r>
            <a:endParaRPr lang="en-US" sz="850" dirty="0"/>
          </a:p>
        </p:txBody>
      </p:sp>
      <p:sp>
        <p:nvSpPr>
          <p:cNvPr id="14" name="Shape 11"/>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15" name="Text 12"/>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16" name="Text 13"/>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0">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Récupération automatique des points</a:t>
            </a:r>
            <a:endParaRPr lang="en-US" sz="2000" dirty="0"/>
          </a:p>
        </p:txBody>
      </p:sp>
      <p:pic>
        <p:nvPicPr>
          <p:cNvPr id="6" name="Image 0" descr="preencoded.png"/>
          <p:cNvPicPr>
            <a:picLocks noChangeAspect="1"/>
          </p:cNvPicPr>
          <p:nvPr/>
        </p:nvPicPr>
        <p:blipFill>
          <a:blip r:embed="rId3"/>
          <a:stretch>
            <a:fillRect/>
          </a:stretch>
        </p:blipFill>
        <p:spPr>
          <a:xfrm>
            <a:off x="1078078" y="1298448"/>
            <a:ext cx="2598725" cy="1645920"/>
          </a:xfrm>
          <a:prstGeom prst="rect">
            <a:avLst/>
          </a:prstGeom>
        </p:spPr>
      </p:pic>
      <p:sp>
        <p:nvSpPr>
          <p:cNvPr id="7" name="Shape 4"/>
          <p:cNvSpPr/>
          <p:nvPr/>
        </p:nvSpPr>
        <p:spPr>
          <a:xfrm>
            <a:off x="4663440" y="1298448"/>
            <a:ext cx="4206240" cy="1645920"/>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800600" y="1389888"/>
            <a:ext cx="3840480" cy="274320"/>
          </a:xfrm>
          <a:prstGeom prst="rect">
            <a:avLst/>
          </a:prstGeom>
          <a:noFill/>
          <a:ln/>
        </p:spPr>
        <p:txBody>
          <a:bodyPr wrap="square" rtlCol="0" anchor="ctr"/>
          <a:lstStyle/>
          <a:p>
            <a:pPr marL="0" indent="0">
              <a:buNone/>
            </a:pPr>
            <a:r>
              <a:rPr lang="en-US" sz="1000" b="1" dirty="0">
                <a:solidFill>
                  <a:srgbClr val="D35400"/>
                </a:solidFill>
              </a:rPr>
              <a:t>Règle générale :</a:t>
            </a:r>
            <a:endParaRPr lang="en-US" sz="1000" dirty="0"/>
          </a:p>
        </p:txBody>
      </p:sp>
      <p:sp>
        <p:nvSpPr>
          <p:cNvPr id="9" name="Text 6"/>
          <p:cNvSpPr/>
          <p:nvPr/>
        </p:nvSpPr>
        <p:spPr>
          <a:xfrm>
            <a:off x="4800600" y="1700784"/>
            <a:ext cx="3840480" cy="804672"/>
          </a:xfrm>
          <a:prstGeom prst="rect">
            <a:avLst/>
          </a:prstGeom>
          <a:noFill/>
          <a:ln/>
        </p:spPr>
        <p:txBody>
          <a:bodyPr wrap="square" rtlCol="0" anchor="ctr"/>
          <a:lstStyle/>
          <a:p>
            <a:pPr marL="0" indent="0">
              <a:buNone/>
            </a:pPr>
            <a:r>
              <a:rPr lang="en-US" sz="900" dirty="0">
                <a:solidFill>
                  <a:srgbClr val="1C2833"/>
                </a:solidFill>
              </a:rPr>
              <a:t>Plus la classe de l'infraction est élevée, plus le délai avant récupération est long. Au bout de 10 ans, tous les points sont récupérés même si d'autres infractions ont eu lieu entre temps.</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274320" y="3035808"/>
          <a:ext cx="8595360" cy="1645920"/>
        </p:xfrm>
        <a:graphic>
          <a:graphicData uri="http://schemas.openxmlformats.org/drawingml/2006/table">
            <a:tbl>
              <a:tblPr/>
              <a:tblGrid>
                <a:gridCol w="21031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411480">
                <a:tc>
                  <a:txBody>
                    <a:bodyPr/>
                    <a:lstStyle/>
                    <a:p>
                      <a:pPr marL="0" indent="0">
                        <a:buNone/>
                      </a:pPr>
                      <a:r>
                        <a:rPr lang="en-US" sz="800" b="1" dirty="0">
                          <a:solidFill>
                            <a:srgbClr val="FFFFFF"/>
                          </a:solidFill>
                        </a:rPr>
                        <a:t>Type d'infraction</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buNone/>
                      </a:pPr>
                      <a:r>
                        <a:rPr lang="en-US" sz="800" b="1" dirty="0">
                          <a:solidFill>
                            <a:srgbClr val="FFFFFF"/>
                          </a:solidFill>
                        </a:rPr>
                        <a:t>6 mois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buNone/>
                      </a:pPr>
                      <a:r>
                        <a:rPr lang="en-US" sz="800" b="1" dirty="0">
                          <a:solidFill>
                            <a:srgbClr val="FFFFFF"/>
                          </a:solidFill>
                        </a:rPr>
                        <a:t>2 ans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buNone/>
                      </a:pPr>
                      <a:r>
                        <a:rPr lang="en-US" sz="800" b="1" dirty="0">
                          <a:solidFill>
                            <a:srgbClr val="FFFFFF"/>
                          </a:solidFill>
                        </a:rPr>
                        <a:t>3 ans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buNone/>
                      </a:pPr>
                      <a:r>
                        <a:rPr lang="en-US" sz="800" b="1" dirty="0">
                          <a:solidFill>
                            <a:srgbClr val="FFFFFF"/>
                          </a:solidFill>
                        </a:rPr>
                        <a:t>10 ans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extLst>
                  <a:ext uri="{0D108BD9-81ED-4DB2-BD59-A6C34878D82A}">
                    <a16:rowId xmlns:a16="http://schemas.microsoft.com/office/drawing/2014/main" val="10000"/>
                  </a:ext>
                </a:extLst>
              </a:tr>
              <a:tr h="411480">
                <a:tc>
                  <a:txBody>
                    <a:bodyPr/>
                    <a:lstStyle/>
                    <a:p>
                      <a:pPr marL="0" indent="0">
                        <a:buNone/>
                      </a:pPr>
                      <a:r>
                        <a:rPr lang="en-US" sz="800" dirty="0">
                          <a:solidFill>
                            <a:srgbClr val="1C2833"/>
                          </a:solidFill>
                        </a:rPr>
                        <a:t>Retrait d'1 seul point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Récupéré si aucune infraction dans les 6 mois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Si aucune infraction en 2 ans → 12 pts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Points récupérés même avec d'autres infractions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1"/>
                  </a:ext>
                </a:extLst>
              </a:tr>
              <a:tr h="411480">
                <a:tc>
                  <a:txBody>
                    <a:bodyPr/>
                    <a:lstStyle/>
                    <a:p>
                      <a:pPr marL="0" indent="0">
                        <a:buNone/>
                      </a:pPr>
                      <a:r>
                        <a:rPr lang="en-US" sz="800" dirty="0">
                          <a:solidFill>
                            <a:srgbClr val="1C2833"/>
                          </a:solidFill>
                        </a:rPr>
                        <a:t>Classe 2 ou 3 (hors 1 pt)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Si aucune infraction en 2 ans → 12 pts. Sinon recommencer.</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Points récupérés même avec d'autres infractions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411480">
                <a:tc>
                  <a:txBody>
                    <a:bodyPr/>
                    <a:lstStyle/>
                    <a:p>
                      <a:pPr marL="0" indent="0">
                        <a:buNone/>
                      </a:pPr>
                      <a:r>
                        <a:rPr lang="en-US" sz="800" dirty="0">
                          <a:solidFill>
                            <a:srgbClr val="1C2833"/>
                          </a:solidFill>
                        </a:rPr>
                        <a:t>Classe 4 ou 5 / Délit (hors 1 pt)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Si aucune infraction en 3 ans → 12 pts. Sinon recommencer.</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Points récupérés même avec d'autres infractions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3"/>
                  </a:ext>
                </a:extLst>
              </a:tr>
            </a:tbl>
          </a:graphicData>
        </a:graphic>
      </p:graphicFrame>
      <p:sp>
        <p:nvSpPr>
          <p:cNvPr id="11" name="Shape 7"/>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12" name="Text 8"/>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13" name="Text 9"/>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30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1">
    <p:bg>
      <p:bgPr>
        <a:solidFill>
          <a:srgbClr val="1C2833"/>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65760" y="45720"/>
            <a:ext cx="7315200" cy="411480"/>
          </a:xfrm>
          <a:prstGeom prst="rect">
            <a:avLst/>
          </a:prstGeom>
          <a:noFill/>
          <a:ln/>
        </p:spPr>
        <p:txBody>
          <a:bodyPr wrap="square" rtlCol="0" anchor="ctr"/>
          <a:lstStyle/>
          <a:p>
            <a:pPr marL="0" indent="0">
              <a:buNone/>
            </a:pPr>
            <a:r>
              <a:rPr lang="en-US" sz="1400" b="1" kern="0" spc="500" dirty="0">
                <a:solidFill>
                  <a:srgbClr val="FFFFFF"/>
                </a:solidFill>
              </a:rPr>
              <a:t>SYNTHÈSE — PARTIE 3</a:t>
            </a:r>
            <a:endParaRPr lang="en-US" sz="1400" dirty="0"/>
          </a:p>
        </p:txBody>
      </p:sp>
      <p:sp>
        <p:nvSpPr>
          <p:cNvPr id="4" name="Text 2"/>
          <p:cNvSpPr/>
          <p:nvPr/>
        </p:nvSpPr>
        <p:spPr>
          <a:xfrm>
            <a:off x="365760" y="457200"/>
            <a:ext cx="7315200" cy="438912"/>
          </a:xfrm>
          <a:prstGeom prst="rect">
            <a:avLst/>
          </a:prstGeom>
          <a:noFill/>
          <a:ln/>
        </p:spPr>
        <p:txBody>
          <a:bodyPr wrap="square" rtlCol="0" anchor="ctr"/>
          <a:lstStyle/>
          <a:p>
            <a:pPr marL="0" indent="0">
              <a:buNone/>
            </a:pPr>
            <a:r>
              <a:rPr lang="en-US" sz="1600" i="1" dirty="0">
                <a:solidFill>
                  <a:srgbClr val="FFFFFF"/>
                </a:solidFill>
              </a:rPr>
              <a:t>Sanctions, Éco-conduite, CT &amp; Permis — Points clés</a:t>
            </a:r>
            <a:endParaRPr lang="en-US" sz="1600" dirty="0"/>
          </a:p>
        </p:txBody>
      </p:sp>
      <p:sp>
        <p:nvSpPr>
          <p:cNvPr id="5" name="Shape 3"/>
          <p:cNvSpPr/>
          <p:nvPr/>
        </p:nvSpPr>
        <p:spPr>
          <a:xfrm>
            <a:off x="274320" y="1097280"/>
            <a:ext cx="4206240" cy="841248"/>
          </a:xfrm>
          <a:prstGeom prst="rect">
            <a:avLst/>
          </a:prstGeom>
          <a:solidFill>
            <a:srgbClr val="22303C"/>
          </a:solidFill>
          <a:ln w="12700">
            <a:solidFill>
              <a:srgbClr val="D35400"/>
            </a:solidFill>
            <a:prstDash val="solid"/>
          </a:ln>
        </p:spPr>
        <p:txBody>
          <a:bodyPr/>
          <a:lstStyle/>
          <a:p>
            <a:endParaRPr lang="fr-FR"/>
          </a:p>
        </p:txBody>
      </p:sp>
      <p:sp>
        <p:nvSpPr>
          <p:cNvPr id="6" name="Shape 4"/>
          <p:cNvSpPr/>
          <p:nvPr/>
        </p:nvSpPr>
        <p:spPr>
          <a:xfrm>
            <a:off x="274320" y="1097280"/>
            <a:ext cx="109728" cy="841248"/>
          </a:xfrm>
          <a:prstGeom prst="rect">
            <a:avLst/>
          </a:prstGeom>
          <a:solidFill>
            <a:srgbClr val="D35400"/>
          </a:solidFill>
          <a:ln w="12700">
            <a:solidFill>
              <a:srgbClr val="D35400"/>
            </a:solidFill>
            <a:prstDash val="solid"/>
          </a:ln>
        </p:spPr>
        <p:txBody>
          <a:bodyPr/>
          <a:lstStyle/>
          <a:p>
            <a:endParaRPr lang="fr-FR"/>
          </a:p>
        </p:txBody>
      </p:sp>
      <p:sp>
        <p:nvSpPr>
          <p:cNvPr id="7" name="Text 5"/>
          <p:cNvSpPr/>
          <p:nvPr/>
        </p:nvSpPr>
        <p:spPr>
          <a:xfrm>
            <a:off x="475488" y="1133856"/>
            <a:ext cx="3886200" cy="274320"/>
          </a:xfrm>
          <a:prstGeom prst="rect">
            <a:avLst/>
          </a:prstGeom>
          <a:noFill/>
          <a:ln/>
        </p:spPr>
        <p:txBody>
          <a:bodyPr wrap="square" rtlCol="0" anchor="ctr"/>
          <a:lstStyle/>
          <a:p>
            <a:pPr marL="0" indent="0">
              <a:buNone/>
            </a:pPr>
            <a:r>
              <a:rPr lang="en-US" sz="1000" b="1" dirty="0">
                <a:solidFill>
                  <a:srgbClr val="D35400"/>
                </a:solidFill>
              </a:rPr>
              <a:t>Alcool ≥ 0,8 g/l (délit)</a:t>
            </a:r>
            <a:endParaRPr lang="en-US" sz="1000" dirty="0"/>
          </a:p>
        </p:txBody>
      </p:sp>
      <p:sp>
        <p:nvSpPr>
          <p:cNvPr id="8" name="Text 6"/>
          <p:cNvSpPr/>
          <p:nvPr/>
        </p:nvSpPr>
        <p:spPr>
          <a:xfrm>
            <a:off x="475488" y="1426464"/>
            <a:ext cx="3886200" cy="457200"/>
          </a:xfrm>
          <a:prstGeom prst="rect">
            <a:avLst/>
          </a:prstGeom>
          <a:noFill/>
          <a:ln/>
        </p:spPr>
        <p:txBody>
          <a:bodyPr wrap="square" rtlCol="0" anchor="ctr"/>
          <a:lstStyle/>
          <a:p>
            <a:pPr marL="0" indent="0">
              <a:buNone/>
            </a:pPr>
            <a:r>
              <a:rPr lang="en-US" sz="850" dirty="0">
                <a:solidFill>
                  <a:srgbClr val="D5D8DC"/>
                </a:solidFill>
              </a:rPr>
              <a:t>6 pts + amende 4 500€ + prison 2 ans + annulation permis</a:t>
            </a:r>
            <a:endParaRPr lang="en-US" sz="850" dirty="0"/>
          </a:p>
        </p:txBody>
      </p:sp>
      <p:sp>
        <p:nvSpPr>
          <p:cNvPr id="9" name="Shape 7"/>
          <p:cNvSpPr/>
          <p:nvPr/>
        </p:nvSpPr>
        <p:spPr>
          <a:xfrm>
            <a:off x="4754880" y="1097280"/>
            <a:ext cx="4206240" cy="841248"/>
          </a:xfrm>
          <a:prstGeom prst="rect">
            <a:avLst/>
          </a:prstGeom>
          <a:solidFill>
            <a:srgbClr val="22303C"/>
          </a:solidFill>
          <a:ln w="12700">
            <a:solidFill>
              <a:srgbClr val="D35400"/>
            </a:solidFill>
            <a:prstDash val="solid"/>
          </a:ln>
        </p:spPr>
        <p:txBody>
          <a:bodyPr/>
          <a:lstStyle/>
          <a:p>
            <a:endParaRPr lang="fr-FR"/>
          </a:p>
        </p:txBody>
      </p:sp>
      <p:sp>
        <p:nvSpPr>
          <p:cNvPr id="10" name="Shape 8"/>
          <p:cNvSpPr/>
          <p:nvPr/>
        </p:nvSpPr>
        <p:spPr>
          <a:xfrm>
            <a:off x="4754880" y="1097280"/>
            <a:ext cx="109728" cy="841248"/>
          </a:xfrm>
          <a:prstGeom prst="rect">
            <a:avLst/>
          </a:prstGeom>
          <a:solidFill>
            <a:srgbClr val="D35400"/>
          </a:solidFill>
          <a:ln w="12700">
            <a:solidFill>
              <a:srgbClr val="D35400"/>
            </a:solidFill>
            <a:prstDash val="solid"/>
          </a:ln>
        </p:spPr>
        <p:txBody>
          <a:bodyPr/>
          <a:lstStyle/>
          <a:p>
            <a:endParaRPr lang="fr-FR"/>
          </a:p>
        </p:txBody>
      </p:sp>
      <p:sp>
        <p:nvSpPr>
          <p:cNvPr id="11" name="Text 9"/>
          <p:cNvSpPr/>
          <p:nvPr/>
        </p:nvSpPr>
        <p:spPr>
          <a:xfrm>
            <a:off x="4956048" y="1133856"/>
            <a:ext cx="3886200" cy="274320"/>
          </a:xfrm>
          <a:prstGeom prst="rect">
            <a:avLst/>
          </a:prstGeom>
          <a:noFill/>
          <a:ln/>
        </p:spPr>
        <p:txBody>
          <a:bodyPr wrap="square" rtlCol="0" anchor="ctr"/>
          <a:lstStyle/>
          <a:p>
            <a:pPr marL="0" indent="0">
              <a:buNone/>
            </a:pPr>
            <a:r>
              <a:rPr lang="en-US" sz="1000" b="1" dirty="0">
                <a:solidFill>
                  <a:srgbClr val="D35400"/>
                </a:solidFill>
              </a:rPr>
              <a:t>Alcool + Stupéfiants</a:t>
            </a:r>
            <a:endParaRPr lang="en-US" sz="1000" dirty="0"/>
          </a:p>
        </p:txBody>
      </p:sp>
      <p:sp>
        <p:nvSpPr>
          <p:cNvPr id="12" name="Text 10"/>
          <p:cNvSpPr/>
          <p:nvPr/>
        </p:nvSpPr>
        <p:spPr>
          <a:xfrm>
            <a:off x="4956048" y="1426464"/>
            <a:ext cx="3886200" cy="457200"/>
          </a:xfrm>
          <a:prstGeom prst="rect">
            <a:avLst/>
          </a:prstGeom>
          <a:noFill/>
          <a:ln/>
        </p:spPr>
        <p:txBody>
          <a:bodyPr wrap="square" rtlCol="0" anchor="ctr"/>
          <a:lstStyle/>
          <a:p>
            <a:pPr marL="0" indent="0">
              <a:buNone/>
            </a:pPr>
            <a:r>
              <a:rPr lang="en-US" sz="850" dirty="0">
                <a:solidFill>
                  <a:srgbClr val="D5D8DC"/>
                </a:solidFill>
              </a:rPr>
              <a:t>6 pts + 9 000€ + prison + confiscation véhicule possible</a:t>
            </a:r>
            <a:endParaRPr lang="en-US" sz="850" dirty="0"/>
          </a:p>
        </p:txBody>
      </p:sp>
      <p:sp>
        <p:nvSpPr>
          <p:cNvPr id="13" name="Shape 11"/>
          <p:cNvSpPr/>
          <p:nvPr/>
        </p:nvSpPr>
        <p:spPr>
          <a:xfrm>
            <a:off x="274320" y="2057400"/>
            <a:ext cx="4206240" cy="841248"/>
          </a:xfrm>
          <a:prstGeom prst="rect">
            <a:avLst/>
          </a:prstGeom>
          <a:solidFill>
            <a:srgbClr val="22303C"/>
          </a:solidFill>
          <a:ln w="12700">
            <a:solidFill>
              <a:srgbClr val="D35400"/>
            </a:solidFill>
            <a:prstDash val="solid"/>
          </a:ln>
        </p:spPr>
        <p:txBody>
          <a:bodyPr/>
          <a:lstStyle/>
          <a:p>
            <a:endParaRPr lang="fr-FR"/>
          </a:p>
        </p:txBody>
      </p:sp>
      <p:sp>
        <p:nvSpPr>
          <p:cNvPr id="14" name="Shape 12"/>
          <p:cNvSpPr/>
          <p:nvPr/>
        </p:nvSpPr>
        <p:spPr>
          <a:xfrm>
            <a:off x="274320" y="2057400"/>
            <a:ext cx="109728" cy="841248"/>
          </a:xfrm>
          <a:prstGeom prst="rect">
            <a:avLst/>
          </a:prstGeom>
          <a:solidFill>
            <a:srgbClr val="D35400"/>
          </a:solidFill>
          <a:ln w="12700">
            <a:solidFill>
              <a:srgbClr val="D35400"/>
            </a:solidFill>
            <a:prstDash val="solid"/>
          </a:ln>
        </p:spPr>
        <p:txBody>
          <a:bodyPr/>
          <a:lstStyle/>
          <a:p>
            <a:endParaRPr lang="fr-FR"/>
          </a:p>
        </p:txBody>
      </p:sp>
      <p:sp>
        <p:nvSpPr>
          <p:cNvPr id="15" name="Text 13"/>
          <p:cNvSpPr/>
          <p:nvPr/>
        </p:nvSpPr>
        <p:spPr>
          <a:xfrm>
            <a:off x="475488" y="2093976"/>
            <a:ext cx="3886200" cy="274320"/>
          </a:xfrm>
          <a:prstGeom prst="rect">
            <a:avLst/>
          </a:prstGeom>
          <a:noFill/>
          <a:ln/>
        </p:spPr>
        <p:txBody>
          <a:bodyPr wrap="square" rtlCol="0" anchor="ctr"/>
          <a:lstStyle/>
          <a:p>
            <a:pPr marL="0" indent="0">
              <a:buNone/>
            </a:pPr>
            <a:r>
              <a:rPr lang="en-US" sz="1000" b="1" dirty="0">
                <a:solidFill>
                  <a:srgbClr val="D35400"/>
                </a:solidFill>
              </a:rPr>
              <a:t>CT transport de personnes</a:t>
            </a:r>
            <a:endParaRPr lang="en-US" sz="1000" dirty="0"/>
          </a:p>
        </p:txBody>
      </p:sp>
      <p:sp>
        <p:nvSpPr>
          <p:cNvPr id="16" name="Text 14"/>
          <p:cNvSpPr/>
          <p:nvPr/>
        </p:nvSpPr>
        <p:spPr>
          <a:xfrm>
            <a:off x="475488" y="2386584"/>
            <a:ext cx="3886200" cy="457200"/>
          </a:xfrm>
          <a:prstGeom prst="rect">
            <a:avLst/>
          </a:prstGeom>
          <a:noFill/>
          <a:ln/>
        </p:spPr>
        <p:txBody>
          <a:bodyPr wrap="square" rtlCol="0" anchor="ctr"/>
          <a:lstStyle/>
          <a:p>
            <a:pPr marL="0" indent="0">
              <a:buNone/>
            </a:pPr>
            <a:r>
              <a:rPr lang="en-US" sz="850" dirty="0">
                <a:solidFill>
                  <a:srgbClr val="D5D8DC"/>
                </a:solidFill>
              </a:rPr>
              <a:t>1er CT ≤ 1 an après MEC, puis TOUS LES ANS — 10 fonctions / 100+ points</a:t>
            </a:r>
            <a:endParaRPr lang="en-US" sz="850" dirty="0"/>
          </a:p>
        </p:txBody>
      </p:sp>
      <p:sp>
        <p:nvSpPr>
          <p:cNvPr id="17" name="Shape 15"/>
          <p:cNvSpPr/>
          <p:nvPr/>
        </p:nvSpPr>
        <p:spPr>
          <a:xfrm>
            <a:off x="4754880" y="2057400"/>
            <a:ext cx="4206240" cy="841248"/>
          </a:xfrm>
          <a:prstGeom prst="rect">
            <a:avLst/>
          </a:prstGeom>
          <a:solidFill>
            <a:srgbClr val="22303C"/>
          </a:solidFill>
          <a:ln w="12700">
            <a:solidFill>
              <a:srgbClr val="D35400"/>
            </a:solidFill>
            <a:prstDash val="solid"/>
          </a:ln>
        </p:spPr>
        <p:txBody>
          <a:bodyPr/>
          <a:lstStyle/>
          <a:p>
            <a:endParaRPr lang="fr-FR"/>
          </a:p>
        </p:txBody>
      </p:sp>
      <p:sp>
        <p:nvSpPr>
          <p:cNvPr id="18" name="Shape 16"/>
          <p:cNvSpPr/>
          <p:nvPr/>
        </p:nvSpPr>
        <p:spPr>
          <a:xfrm>
            <a:off x="4754880" y="2057400"/>
            <a:ext cx="109728" cy="841248"/>
          </a:xfrm>
          <a:prstGeom prst="rect">
            <a:avLst/>
          </a:prstGeom>
          <a:solidFill>
            <a:srgbClr val="D35400"/>
          </a:solidFill>
          <a:ln w="12700">
            <a:solidFill>
              <a:srgbClr val="D35400"/>
            </a:solidFill>
            <a:prstDash val="solid"/>
          </a:ln>
        </p:spPr>
        <p:txBody>
          <a:bodyPr/>
          <a:lstStyle/>
          <a:p>
            <a:endParaRPr lang="fr-FR"/>
          </a:p>
        </p:txBody>
      </p:sp>
      <p:sp>
        <p:nvSpPr>
          <p:cNvPr id="19" name="Text 17"/>
          <p:cNvSpPr/>
          <p:nvPr/>
        </p:nvSpPr>
        <p:spPr>
          <a:xfrm>
            <a:off x="4956048" y="2093976"/>
            <a:ext cx="3886200" cy="274320"/>
          </a:xfrm>
          <a:prstGeom prst="rect">
            <a:avLst/>
          </a:prstGeom>
          <a:noFill/>
          <a:ln/>
        </p:spPr>
        <p:txBody>
          <a:bodyPr wrap="square" rtlCol="0" anchor="ctr"/>
          <a:lstStyle/>
          <a:p>
            <a:pPr marL="0" indent="0">
              <a:buNone/>
            </a:pPr>
            <a:r>
              <a:rPr lang="en-US" sz="1000" b="1" dirty="0">
                <a:solidFill>
                  <a:srgbClr val="D35400"/>
                </a:solidFill>
              </a:rPr>
              <a:t>Défaillance critique</a:t>
            </a:r>
            <a:endParaRPr lang="en-US" sz="1000" dirty="0"/>
          </a:p>
        </p:txBody>
      </p:sp>
      <p:sp>
        <p:nvSpPr>
          <p:cNvPr id="20" name="Text 18"/>
          <p:cNvSpPr/>
          <p:nvPr/>
        </p:nvSpPr>
        <p:spPr>
          <a:xfrm>
            <a:off x="4956048" y="2386584"/>
            <a:ext cx="3886200" cy="457200"/>
          </a:xfrm>
          <a:prstGeom prst="rect">
            <a:avLst/>
          </a:prstGeom>
          <a:noFill/>
          <a:ln/>
        </p:spPr>
        <p:txBody>
          <a:bodyPr wrap="square" rtlCol="0" anchor="ctr"/>
          <a:lstStyle/>
          <a:p>
            <a:pPr marL="0" indent="0">
              <a:buNone/>
            </a:pPr>
            <a:r>
              <a:rPr lang="en-US" sz="850" dirty="0">
                <a:solidFill>
                  <a:srgbClr val="D5D8DC"/>
                </a:solidFill>
              </a:rPr>
              <a:t>Circulation autorisée UNIQUEMENT le jour du CT pour effectuer les réparations</a:t>
            </a:r>
            <a:endParaRPr lang="en-US" sz="850" dirty="0"/>
          </a:p>
        </p:txBody>
      </p:sp>
      <p:sp>
        <p:nvSpPr>
          <p:cNvPr id="21" name="Shape 19"/>
          <p:cNvSpPr/>
          <p:nvPr/>
        </p:nvSpPr>
        <p:spPr>
          <a:xfrm>
            <a:off x="274320" y="3017520"/>
            <a:ext cx="4206240" cy="841248"/>
          </a:xfrm>
          <a:prstGeom prst="rect">
            <a:avLst/>
          </a:prstGeom>
          <a:solidFill>
            <a:srgbClr val="22303C"/>
          </a:solidFill>
          <a:ln w="12700">
            <a:solidFill>
              <a:srgbClr val="D35400"/>
            </a:solidFill>
            <a:prstDash val="solid"/>
          </a:ln>
        </p:spPr>
        <p:txBody>
          <a:bodyPr/>
          <a:lstStyle/>
          <a:p>
            <a:endParaRPr lang="fr-FR"/>
          </a:p>
        </p:txBody>
      </p:sp>
      <p:sp>
        <p:nvSpPr>
          <p:cNvPr id="22" name="Shape 20"/>
          <p:cNvSpPr/>
          <p:nvPr/>
        </p:nvSpPr>
        <p:spPr>
          <a:xfrm>
            <a:off x="274320" y="3017520"/>
            <a:ext cx="109728" cy="841248"/>
          </a:xfrm>
          <a:prstGeom prst="rect">
            <a:avLst/>
          </a:prstGeom>
          <a:solidFill>
            <a:srgbClr val="D35400"/>
          </a:solidFill>
          <a:ln w="12700">
            <a:solidFill>
              <a:srgbClr val="D35400"/>
            </a:solidFill>
            <a:prstDash val="solid"/>
          </a:ln>
        </p:spPr>
        <p:txBody>
          <a:bodyPr/>
          <a:lstStyle/>
          <a:p>
            <a:endParaRPr lang="fr-FR"/>
          </a:p>
        </p:txBody>
      </p:sp>
      <p:sp>
        <p:nvSpPr>
          <p:cNvPr id="23" name="Text 21"/>
          <p:cNvSpPr/>
          <p:nvPr/>
        </p:nvSpPr>
        <p:spPr>
          <a:xfrm>
            <a:off x="475488" y="3054096"/>
            <a:ext cx="3886200" cy="274320"/>
          </a:xfrm>
          <a:prstGeom prst="rect">
            <a:avLst/>
          </a:prstGeom>
          <a:noFill/>
          <a:ln/>
        </p:spPr>
        <p:txBody>
          <a:bodyPr wrap="square" rtlCol="0" anchor="ctr"/>
          <a:lstStyle/>
          <a:p>
            <a:pPr marL="0" indent="0">
              <a:buNone/>
            </a:pPr>
            <a:r>
              <a:rPr lang="en-US" sz="1000" b="1" dirty="0">
                <a:solidFill>
                  <a:srgbClr val="D35400"/>
                </a:solidFill>
              </a:rPr>
              <a:t>P.A.S.</a:t>
            </a:r>
            <a:endParaRPr lang="en-US" sz="1000" dirty="0"/>
          </a:p>
        </p:txBody>
      </p:sp>
      <p:sp>
        <p:nvSpPr>
          <p:cNvPr id="24" name="Text 22"/>
          <p:cNvSpPr/>
          <p:nvPr/>
        </p:nvSpPr>
        <p:spPr>
          <a:xfrm>
            <a:off x="475488" y="3346704"/>
            <a:ext cx="3886200" cy="457200"/>
          </a:xfrm>
          <a:prstGeom prst="rect">
            <a:avLst/>
          </a:prstGeom>
          <a:noFill/>
          <a:ln/>
        </p:spPr>
        <p:txBody>
          <a:bodyPr wrap="square" rtlCol="0" anchor="ctr"/>
          <a:lstStyle/>
          <a:p>
            <a:pPr marL="0" indent="0">
              <a:buNone/>
            </a:pPr>
            <a:r>
              <a:rPr lang="en-US" sz="850" dirty="0">
                <a:solidFill>
                  <a:srgbClr val="D5D8DC"/>
                </a:solidFill>
              </a:rPr>
              <a:t>Protéger (détresse+triangle+gilet) → Alerter (15/17/18) → Secourir (ne pas déplacer)</a:t>
            </a:r>
            <a:endParaRPr lang="en-US" sz="850" dirty="0"/>
          </a:p>
        </p:txBody>
      </p:sp>
      <p:sp>
        <p:nvSpPr>
          <p:cNvPr id="25" name="Shape 23"/>
          <p:cNvSpPr/>
          <p:nvPr/>
        </p:nvSpPr>
        <p:spPr>
          <a:xfrm>
            <a:off x="4754880" y="3017520"/>
            <a:ext cx="4206240" cy="841248"/>
          </a:xfrm>
          <a:prstGeom prst="rect">
            <a:avLst/>
          </a:prstGeom>
          <a:solidFill>
            <a:srgbClr val="22303C"/>
          </a:solidFill>
          <a:ln w="12700">
            <a:solidFill>
              <a:srgbClr val="D35400"/>
            </a:solidFill>
            <a:prstDash val="solid"/>
          </a:ln>
        </p:spPr>
        <p:txBody>
          <a:bodyPr/>
          <a:lstStyle/>
          <a:p>
            <a:endParaRPr lang="fr-FR"/>
          </a:p>
        </p:txBody>
      </p:sp>
      <p:sp>
        <p:nvSpPr>
          <p:cNvPr id="26" name="Shape 24"/>
          <p:cNvSpPr/>
          <p:nvPr/>
        </p:nvSpPr>
        <p:spPr>
          <a:xfrm>
            <a:off x="4754880" y="3017520"/>
            <a:ext cx="109728" cy="841248"/>
          </a:xfrm>
          <a:prstGeom prst="rect">
            <a:avLst/>
          </a:prstGeom>
          <a:solidFill>
            <a:srgbClr val="D35400"/>
          </a:solidFill>
          <a:ln w="12700">
            <a:solidFill>
              <a:srgbClr val="D35400"/>
            </a:solidFill>
            <a:prstDash val="solid"/>
          </a:ln>
        </p:spPr>
        <p:txBody>
          <a:bodyPr/>
          <a:lstStyle/>
          <a:p>
            <a:endParaRPr lang="fr-FR"/>
          </a:p>
        </p:txBody>
      </p:sp>
      <p:sp>
        <p:nvSpPr>
          <p:cNvPr id="27" name="Text 25"/>
          <p:cNvSpPr/>
          <p:nvPr/>
        </p:nvSpPr>
        <p:spPr>
          <a:xfrm>
            <a:off x="4956048" y="3054096"/>
            <a:ext cx="3886200" cy="274320"/>
          </a:xfrm>
          <a:prstGeom prst="rect">
            <a:avLst/>
          </a:prstGeom>
          <a:noFill/>
          <a:ln/>
        </p:spPr>
        <p:txBody>
          <a:bodyPr wrap="square" rtlCol="0" anchor="ctr"/>
          <a:lstStyle/>
          <a:p>
            <a:pPr marL="0" indent="0">
              <a:buNone/>
            </a:pPr>
            <a:r>
              <a:rPr lang="en-US" sz="1000" b="1" dirty="0">
                <a:solidFill>
                  <a:srgbClr val="D35400"/>
                </a:solidFill>
              </a:rPr>
              <a:t>Récupération de points</a:t>
            </a:r>
            <a:endParaRPr lang="en-US" sz="1000" dirty="0"/>
          </a:p>
        </p:txBody>
      </p:sp>
      <p:sp>
        <p:nvSpPr>
          <p:cNvPr id="28" name="Text 26"/>
          <p:cNvSpPr/>
          <p:nvPr/>
        </p:nvSpPr>
        <p:spPr>
          <a:xfrm>
            <a:off x="4956048" y="3346704"/>
            <a:ext cx="3886200" cy="457200"/>
          </a:xfrm>
          <a:prstGeom prst="rect">
            <a:avLst/>
          </a:prstGeom>
          <a:noFill/>
          <a:ln/>
        </p:spPr>
        <p:txBody>
          <a:bodyPr wrap="square" rtlCol="0" anchor="ctr"/>
          <a:lstStyle/>
          <a:p>
            <a:pPr marL="0" indent="0">
              <a:buNone/>
            </a:pPr>
            <a:r>
              <a:rPr lang="en-US" sz="850" dirty="0">
                <a:solidFill>
                  <a:srgbClr val="D5D8DC"/>
                </a:solidFill>
              </a:rPr>
              <a:t>1 pt → 6 mois | Cl.2-3 → 2 ans | Cl.4-5 → 3 ans | Stage = max 4 pts/an</a:t>
            </a:r>
            <a:endParaRPr lang="en-US" sz="850" dirty="0"/>
          </a:p>
        </p:txBody>
      </p:sp>
      <p:sp>
        <p:nvSpPr>
          <p:cNvPr id="29" name="Shape 27"/>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30" name="Text 28"/>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31" name="Text 29"/>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31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2">
    <p:bg>
      <p:bgPr>
        <a:solidFill>
          <a:srgbClr val="1C2833"/>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C0392B"/>
          </a:solidFill>
          <a:ln w="12700">
            <a:solidFill>
              <a:srgbClr val="C0392B"/>
            </a:solidFill>
            <a:prstDash val="solid"/>
          </a:ln>
        </p:spPr>
        <p:txBody>
          <a:bodyPr/>
          <a:lstStyle/>
          <a:p>
            <a:endParaRPr lang="fr-FR"/>
          </a:p>
        </p:txBody>
      </p:sp>
      <p:sp>
        <p:nvSpPr>
          <p:cNvPr id="3" name="Text 1"/>
          <p:cNvSpPr/>
          <p:nvPr/>
        </p:nvSpPr>
        <p:spPr>
          <a:xfrm>
            <a:off x="548640" y="822960"/>
            <a:ext cx="8229600" cy="502920"/>
          </a:xfrm>
          <a:prstGeom prst="rect">
            <a:avLst/>
          </a:prstGeom>
          <a:noFill/>
          <a:ln/>
        </p:spPr>
        <p:txBody>
          <a:bodyPr wrap="square" rtlCol="0" anchor="ctr"/>
          <a:lstStyle/>
          <a:p>
            <a:pPr marL="0" indent="0">
              <a:buNone/>
            </a:pPr>
            <a:r>
              <a:rPr lang="en-US" sz="1400" b="1" kern="0" spc="900" dirty="0">
                <a:solidFill>
                  <a:srgbClr val="D35400"/>
                </a:solidFill>
              </a:rPr>
              <a:t>FORMATION</a:t>
            </a:r>
            <a:endParaRPr lang="en-US" sz="1400" dirty="0"/>
          </a:p>
        </p:txBody>
      </p:sp>
      <p:sp>
        <p:nvSpPr>
          <p:cNvPr id="4" name="Text 2"/>
          <p:cNvSpPr/>
          <p:nvPr/>
        </p:nvSpPr>
        <p:spPr>
          <a:xfrm>
            <a:off x="548640" y="1325880"/>
            <a:ext cx="8229600" cy="1005840"/>
          </a:xfrm>
          <a:prstGeom prst="rect">
            <a:avLst/>
          </a:prstGeom>
          <a:noFill/>
          <a:ln/>
        </p:spPr>
        <p:txBody>
          <a:bodyPr wrap="square" rtlCol="0" anchor="ctr"/>
          <a:lstStyle/>
          <a:p>
            <a:pPr marL="0" indent="0">
              <a:buNone/>
            </a:pPr>
            <a:r>
              <a:rPr lang="en-US" sz="4400" b="1" dirty="0">
                <a:solidFill>
                  <a:srgbClr val="FFFFFF"/>
                </a:solidFill>
              </a:rPr>
              <a:t>Sécurité Routière</a:t>
            </a:r>
            <a:endParaRPr lang="en-US" sz="4400" dirty="0"/>
          </a:p>
        </p:txBody>
      </p:sp>
      <p:sp>
        <p:nvSpPr>
          <p:cNvPr id="5" name="Text 3"/>
          <p:cNvSpPr/>
          <p:nvPr/>
        </p:nvSpPr>
        <p:spPr>
          <a:xfrm>
            <a:off x="548640" y="2377440"/>
            <a:ext cx="8229600" cy="502920"/>
          </a:xfrm>
          <a:prstGeom prst="rect">
            <a:avLst/>
          </a:prstGeom>
          <a:noFill/>
          <a:ln/>
        </p:spPr>
        <p:txBody>
          <a:bodyPr wrap="square" rtlCol="0" anchor="ctr"/>
          <a:lstStyle/>
          <a:p>
            <a:pPr marL="0" indent="0">
              <a:buNone/>
            </a:pPr>
            <a:r>
              <a:rPr lang="en-US" sz="1800" i="1" dirty="0">
                <a:solidFill>
                  <a:srgbClr val="D35400"/>
                </a:solidFill>
              </a:rPr>
              <a:t>Merci pour votre attention !</a:t>
            </a:r>
            <a:endParaRPr lang="en-US" sz="1800" dirty="0"/>
          </a:p>
        </p:txBody>
      </p:sp>
      <p:sp>
        <p:nvSpPr>
          <p:cNvPr id="6" name="Shape 4"/>
          <p:cNvSpPr/>
          <p:nvPr/>
        </p:nvSpPr>
        <p:spPr>
          <a:xfrm>
            <a:off x="548640" y="3017520"/>
            <a:ext cx="7315200" cy="402336"/>
          </a:xfrm>
          <a:prstGeom prst="rect">
            <a:avLst/>
          </a:prstGeom>
          <a:solidFill>
            <a:srgbClr val="22303C"/>
          </a:solidFill>
          <a:ln w="12700">
            <a:solidFill>
              <a:srgbClr val="C0392B"/>
            </a:solidFill>
            <a:prstDash val="solid"/>
          </a:ln>
        </p:spPr>
        <p:txBody>
          <a:bodyPr/>
          <a:lstStyle/>
          <a:p>
            <a:endParaRPr lang="fr-FR"/>
          </a:p>
        </p:txBody>
      </p:sp>
      <p:sp>
        <p:nvSpPr>
          <p:cNvPr id="7" name="Shape 5"/>
          <p:cNvSpPr/>
          <p:nvPr/>
        </p:nvSpPr>
        <p:spPr>
          <a:xfrm>
            <a:off x="548640" y="3017520"/>
            <a:ext cx="91440" cy="402336"/>
          </a:xfrm>
          <a:prstGeom prst="rect">
            <a:avLst/>
          </a:prstGeom>
          <a:solidFill>
            <a:srgbClr val="C0392B"/>
          </a:solidFill>
          <a:ln w="12700">
            <a:solidFill>
              <a:srgbClr val="C0392B"/>
            </a:solidFill>
            <a:prstDash val="solid"/>
          </a:ln>
        </p:spPr>
        <p:txBody>
          <a:bodyPr/>
          <a:lstStyle/>
          <a:p>
            <a:endParaRPr lang="fr-FR"/>
          </a:p>
        </p:txBody>
      </p:sp>
      <p:sp>
        <p:nvSpPr>
          <p:cNvPr id="8" name="Text 6"/>
          <p:cNvSpPr/>
          <p:nvPr/>
        </p:nvSpPr>
        <p:spPr>
          <a:xfrm>
            <a:off x="731520" y="3017520"/>
            <a:ext cx="7040880" cy="402336"/>
          </a:xfrm>
          <a:prstGeom prst="rect">
            <a:avLst/>
          </a:prstGeom>
          <a:noFill/>
          <a:ln/>
        </p:spPr>
        <p:txBody>
          <a:bodyPr wrap="square" rtlCol="0" anchor="ctr"/>
          <a:lstStyle/>
          <a:p>
            <a:pPr marL="0" indent="0">
              <a:buNone/>
            </a:pPr>
            <a:r>
              <a:rPr lang="en-US" sz="1000" dirty="0">
                <a:solidFill>
                  <a:srgbClr val="FFFFFF"/>
                </a:solidFill>
              </a:rPr>
              <a:t>Partie 1  —  Signalisation, Marquages &amp; Priorités</a:t>
            </a:r>
            <a:endParaRPr lang="en-US" sz="1000" dirty="0"/>
          </a:p>
        </p:txBody>
      </p:sp>
      <p:sp>
        <p:nvSpPr>
          <p:cNvPr id="9" name="Shape 7"/>
          <p:cNvSpPr/>
          <p:nvPr/>
        </p:nvSpPr>
        <p:spPr>
          <a:xfrm>
            <a:off x="548640" y="3493008"/>
            <a:ext cx="7315200" cy="402336"/>
          </a:xfrm>
          <a:prstGeom prst="rect">
            <a:avLst/>
          </a:prstGeom>
          <a:solidFill>
            <a:srgbClr val="22303C"/>
          </a:solidFill>
          <a:ln w="12700">
            <a:solidFill>
              <a:srgbClr val="922B21"/>
            </a:solidFill>
            <a:prstDash val="solid"/>
          </a:ln>
        </p:spPr>
        <p:txBody>
          <a:bodyPr/>
          <a:lstStyle/>
          <a:p>
            <a:endParaRPr lang="fr-FR"/>
          </a:p>
        </p:txBody>
      </p:sp>
      <p:sp>
        <p:nvSpPr>
          <p:cNvPr id="10" name="Shape 8"/>
          <p:cNvSpPr/>
          <p:nvPr/>
        </p:nvSpPr>
        <p:spPr>
          <a:xfrm>
            <a:off x="548640" y="3493008"/>
            <a:ext cx="91440" cy="402336"/>
          </a:xfrm>
          <a:prstGeom prst="rect">
            <a:avLst/>
          </a:prstGeom>
          <a:solidFill>
            <a:srgbClr val="922B21"/>
          </a:solidFill>
          <a:ln w="12700">
            <a:solidFill>
              <a:srgbClr val="922B21"/>
            </a:solidFill>
            <a:prstDash val="solid"/>
          </a:ln>
        </p:spPr>
        <p:txBody>
          <a:bodyPr/>
          <a:lstStyle/>
          <a:p>
            <a:endParaRPr lang="fr-FR"/>
          </a:p>
        </p:txBody>
      </p:sp>
      <p:sp>
        <p:nvSpPr>
          <p:cNvPr id="11" name="Text 9"/>
          <p:cNvSpPr/>
          <p:nvPr/>
        </p:nvSpPr>
        <p:spPr>
          <a:xfrm>
            <a:off x="731520" y="3493008"/>
            <a:ext cx="7040880" cy="402336"/>
          </a:xfrm>
          <a:prstGeom prst="rect">
            <a:avLst/>
          </a:prstGeom>
          <a:noFill/>
          <a:ln/>
        </p:spPr>
        <p:txBody>
          <a:bodyPr wrap="square" rtlCol="0" anchor="ctr"/>
          <a:lstStyle/>
          <a:p>
            <a:pPr marL="0" indent="0">
              <a:buNone/>
            </a:pPr>
            <a:r>
              <a:rPr lang="en-US" sz="1000" dirty="0">
                <a:solidFill>
                  <a:srgbClr val="FFFFFF"/>
                </a:solidFill>
              </a:rPr>
              <a:t>Partie 2  —  Distances, Priorités avancées &amp; Alcool</a:t>
            </a:r>
            <a:endParaRPr lang="en-US" sz="1000" dirty="0"/>
          </a:p>
        </p:txBody>
      </p:sp>
      <p:sp>
        <p:nvSpPr>
          <p:cNvPr id="12" name="Shape 10"/>
          <p:cNvSpPr/>
          <p:nvPr/>
        </p:nvSpPr>
        <p:spPr>
          <a:xfrm>
            <a:off x="548640" y="3968496"/>
            <a:ext cx="7315200" cy="402336"/>
          </a:xfrm>
          <a:prstGeom prst="rect">
            <a:avLst/>
          </a:prstGeom>
          <a:solidFill>
            <a:srgbClr val="22303C"/>
          </a:solidFill>
          <a:ln w="12700">
            <a:solidFill>
              <a:srgbClr val="D35400"/>
            </a:solidFill>
            <a:prstDash val="solid"/>
          </a:ln>
        </p:spPr>
        <p:txBody>
          <a:bodyPr/>
          <a:lstStyle/>
          <a:p>
            <a:endParaRPr lang="fr-FR"/>
          </a:p>
        </p:txBody>
      </p:sp>
      <p:sp>
        <p:nvSpPr>
          <p:cNvPr id="13" name="Shape 11"/>
          <p:cNvSpPr/>
          <p:nvPr/>
        </p:nvSpPr>
        <p:spPr>
          <a:xfrm>
            <a:off x="548640" y="3968496"/>
            <a:ext cx="91440" cy="402336"/>
          </a:xfrm>
          <a:prstGeom prst="rect">
            <a:avLst/>
          </a:prstGeom>
          <a:solidFill>
            <a:srgbClr val="D35400"/>
          </a:solidFill>
          <a:ln w="12700">
            <a:solidFill>
              <a:srgbClr val="D35400"/>
            </a:solidFill>
            <a:prstDash val="solid"/>
          </a:ln>
        </p:spPr>
        <p:txBody>
          <a:bodyPr/>
          <a:lstStyle/>
          <a:p>
            <a:endParaRPr lang="fr-FR"/>
          </a:p>
        </p:txBody>
      </p:sp>
      <p:sp>
        <p:nvSpPr>
          <p:cNvPr id="14" name="Text 12"/>
          <p:cNvSpPr/>
          <p:nvPr/>
        </p:nvSpPr>
        <p:spPr>
          <a:xfrm>
            <a:off x="731520" y="3968496"/>
            <a:ext cx="7040880" cy="402336"/>
          </a:xfrm>
          <a:prstGeom prst="rect">
            <a:avLst/>
          </a:prstGeom>
          <a:noFill/>
          <a:ln/>
        </p:spPr>
        <p:txBody>
          <a:bodyPr wrap="square" rtlCol="0" anchor="ctr"/>
          <a:lstStyle/>
          <a:p>
            <a:pPr marL="0" indent="0">
              <a:buNone/>
            </a:pPr>
            <a:r>
              <a:rPr lang="en-US" sz="1000" dirty="0">
                <a:solidFill>
                  <a:srgbClr val="FFFFFF"/>
                </a:solidFill>
              </a:rPr>
              <a:t>Partie 3  —  Sanctions, Éco-conduite, CT, Accident &amp; Permis</a:t>
            </a:r>
            <a:endParaRPr lang="en-US" sz="1000" dirty="0"/>
          </a:p>
        </p:txBody>
      </p:sp>
      <p:sp>
        <p:nvSpPr>
          <p:cNvPr id="15" name="Text 13"/>
          <p:cNvSpPr/>
          <p:nvPr/>
        </p:nvSpPr>
        <p:spPr>
          <a:xfrm>
            <a:off x="548640" y="4754880"/>
            <a:ext cx="8229600" cy="274320"/>
          </a:xfrm>
          <a:prstGeom prst="rect">
            <a:avLst/>
          </a:prstGeom>
          <a:noFill/>
          <a:ln/>
        </p:spPr>
        <p:txBody>
          <a:bodyPr wrap="square" rtlCol="0" anchor="ctr"/>
          <a:lstStyle/>
          <a:p>
            <a:pPr marL="0" indent="0">
              <a:buNone/>
            </a:pPr>
            <a:r>
              <a:rPr lang="en-US" sz="800" dirty="0">
                <a:solidFill>
                  <a:srgbClr val="ABB2B9"/>
                </a:solidFill>
              </a:rPr>
              <a:t>FTRANSPORT - SERVICES PRO  •  Déclaration n° 84 69 15114 69  •  Lyon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2048</Words>
  <Application>Microsoft Office PowerPoint</Application>
  <PresentationFormat>Affichage à l'écran (16:9)</PresentationFormat>
  <Paragraphs>316</Paragraphs>
  <Slides>14</Slides>
  <Notes>12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14</vt:i4>
      </vt:variant>
    </vt:vector>
  </HeadingPairs>
  <TitlesOfParts>
    <vt:vector size="17"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Sécurité Routière — Formation complète</dc:title>
  <dc:subject>PptxGenJS Presentation</dc:subject>
  <dc:creator>PptxGenJS</dc:creator>
  <cp:lastModifiedBy>naoufal guenichi</cp:lastModifiedBy>
  <cp:revision>2</cp:revision>
  <dcterms:created xsi:type="dcterms:W3CDTF">2026-02-24T16:38:49Z</dcterms:created>
  <dcterms:modified xsi:type="dcterms:W3CDTF">2026-02-27T05:28:10Z</dcterms:modified>
</cp:coreProperties>
</file>