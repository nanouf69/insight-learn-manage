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8" d="100"/>
          <a:sy n="98" d="100"/>
        </p:scale>
        <p:origin x="360"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 Id="rId5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oufal guenichi" userId="858fd4b3-0f44-4d07-ab42-9c2b2bf873b3" providerId="ADAL" clId="{5ADB1776-59AF-4A69-8422-CB66C8AF09C6}"/>
    <pc:docChg chg="undo custSel addSld delSld">
      <pc:chgData name="naoufal guenichi" userId="858fd4b3-0f44-4d07-ab42-9c2b2bf873b3" providerId="ADAL" clId="{5ADB1776-59AF-4A69-8422-CB66C8AF09C6}" dt="2026-02-23T21:46:52.840" v="40" actId="47"/>
      <pc:docMkLst>
        <pc:docMk/>
      </pc:docMkLst>
      <pc:sldChg chg="add del">
        <pc:chgData name="naoufal guenichi" userId="858fd4b3-0f44-4d07-ab42-9c2b2bf873b3" providerId="ADAL" clId="{5ADB1776-59AF-4A69-8422-CB66C8AF09C6}" dt="2026-02-23T21:46:52.840" v="40" actId="47"/>
        <pc:sldMkLst>
          <pc:docMk/>
          <pc:sldMk cId="0" sldId="306"/>
        </pc:sldMkLst>
      </pc:sldChg>
      <pc:sldChg chg="del">
        <pc:chgData name="naoufal guenichi" userId="858fd4b3-0f44-4d07-ab42-9c2b2bf873b3" providerId="ADAL" clId="{5ADB1776-59AF-4A69-8422-CB66C8AF09C6}" dt="2026-02-23T21:46:52.200" v="39" actId="47"/>
        <pc:sldMkLst>
          <pc:docMk/>
          <pc:sldMk cId="0" sldId="307"/>
        </pc:sldMkLst>
      </pc:sldChg>
      <pc:sldChg chg="del">
        <pc:chgData name="naoufal guenichi" userId="858fd4b3-0f44-4d07-ab42-9c2b2bf873b3" providerId="ADAL" clId="{5ADB1776-59AF-4A69-8422-CB66C8AF09C6}" dt="2026-02-23T21:46:51.769" v="38" actId="47"/>
        <pc:sldMkLst>
          <pc:docMk/>
          <pc:sldMk cId="0" sldId="308"/>
        </pc:sldMkLst>
      </pc:sldChg>
      <pc:sldChg chg="del">
        <pc:chgData name="naoufal guenichi" userId="858fd4b3-0f44-4d07-ab42-9c2b2bf873b3" providerId="ADAL" clId="{5ADB1776-59AF-4A69-8422-CB66C8AF09C6}" dt="2026-02-23T21:46:51.370" v="37" actId="47"/>
        <pc:sldMkLst>
          <pc:docMk/>
          <pc:sldMk cId="0" sldId="309"/>
        </pc:sldMkLst>
      </pc:sldChg>
      <pc:sldChg chg="del">
        <pc:chgData name="naoufal guenichi" userId="858fd4b3-0f44-4d07-ab42-9c2b2bf873b3" providerId="ADAL" clId="{5ADB1776-59AF-4A69-8422-CB66C8AF09C6}" dt="2026-02-23T21:46:51.035" v="36" actId="47"/>
        <pc:sldMkLst>
          <pc:docMk/>
          <pc:sldMk cId="0" sldId="310"/>
        </pc:sldMkLst>
      </pc:sldChg>
      <pc:sldChg chg="del">
        <pc:chgData name="naoufal guenichi" userId="858fd4b3-0f44-4d07-ab42-9c2b2bf873b3" providerId="ADAL" clId="{5ADB1776-59AF-4A69-8422-CB66C8AF09C6}" dt="2026-02-23T21:46:50.669" v="35" actId="47"/>
        <pc:sldMkLst>
          <pc:docMk/>
          <pc:sldMk cId="0" sldId="311"/>
        </pc:sldMkLst>
      </pc:sldChg>
      <pc:sldChg chg="del">
        <pc:chgData name="naoufal guenichi" userId="858fd4b3-0f44-4d07-ab42-9c2b2bf873b3" providerId="ADAL" clId="{5ADB1776-59AF-4A69-8422-CB66C8AF09C6}" dt="2026-02-23T21:46:50.384" v="34" actId="47"/>
        <pc:sldMkLst>
          <pc:docMk/>
          <pc:sldMk cId="0" sldId="312"/>
        </pc:sldMkLst>
      </pc:sldChg>
      <pc:sldChg chg="del">
        <pc:chgData name="naoufal guenichi" userId="858fd4b3-0f44-4d07-ab42-9c2b2bf873b3" providerId="ADAL" clId="{5ADB1776-59AF-4A69-8422-CB66C8AF09C6}" dt="2026-02-23T21:46:49.995" v="33" actId="47"/>
        <pc:sldMkLst>
          <pc:docMk/>
          <pc:sldMk cId="0" sldId="313"/>
        </pc:sldMkLst>
      </pc:sldChg>
      <pc:sldChg chg="del">
        <pc:chgData name="naoufal guenichi" userId="858fd4b3-0f44-4d07-ab42-9c2b2bf873b3" providerId="ADAL" clId="{5ADB1776-59AF-4A69-8422-CB66C8AF09C6}" dt="2026-02-23T21:46:49.818" v="32" actId="47"/>
        <pc:sldMkLst>
          <pc:docMk/>
          <pc:sldMk cId="0" sldId="314"/>
        </pc:sldMkLst>
      </pc:sldChg>
      <pc:sldChg chg="del">
        <pc:chgData name="naoufal guenichi" userId="858fd4b3-0f44-4d07-ab42-9c2b2bf873b3" providerId="ADAL" clId="{5ADB1776-59AF-4A69-8422-CB66C8AF09C6}" dt="2026-02-23T21:46:49.435" v="31" actId="47"/>
        <pc:sldMkLst>
          <pc:docMk/>
          <pc:sldMk cId="0" sldId="315"/>
        </pc:sldMkLst>
      </pc:sldChg>
      <pc:sldChg chg="del">
        <pc:chgData name="naoufal guenichi" userId="858fd4b3-0f44-4d07-ab42-9c2b2bf873b3" providerId="ADAL" clId="{5ADB1776-59AF-4A69-8422-CB66C8AF09C6}" dt="2026-02-23T21:46:48.931" v="30" actId="47"/>
        <pc:sldMkLst>
          <pc:docMk/>
          <pc:sldMk cId="0" sldId="316"/>
        </pc:sldMkLst>
      </pc:sldChg>
      <pc:sldChg chg="del">
        <pc:chgData name="naoufal guenichi" userId="858fd4b3-0f44-4d07-ab42-9c2b2bf873b3" providerId="ADAL" clId="{5ADB1776-59AF-4A69-8422-CB66C8AF09C6}" dt="2026-02-23T21:46:48.574" v="29" actId="47"/>
        <pc:sldMkLst>
          <pc:docMk/>
          <pc:sldMk cId="0" sldId="317"/>
        </pc:sldMkLst>
      </pc:sldChg>
      <pc:sldChg chg="del">
        <pc:chgData name="naoufal guenichi" userId="858fd4b3-0f44-4d07-ab42-9c2b2bf873b3" providerId="ADAL" clId="{5ADB1776-59AF-4A69-8422-CB66C8AF09C6}" dt="2026-02-23T21:46:48.345" v="28" actId="47"/>
        <pc:sldMkLst>
          <pc:docMk/>
          <pc:sldMk cId="0" sldId="318"/>
        </pc:sldMkLst>
      </pc:sldChg>
      <pc:sldChg chg="del">
        <pc:chgData name="naoufal guenichi" userId="858fd4b3-0f44-4d07-ab42-9c2b2bf873b3" providerId="ADAL" clId="{5ADB1776-59AF-4A69-8422-CB66C8AF09C6}" dt="2026-02-23T21:46:48.081" v="27" actId="47"/>
        <pc:sldMkLst>
          <pc:docMk/>
          <pc:sldMk cId="0" sldId="319"/>
        </pc:sldMkLst>
      </pc:sldChg>
      <pc:sldChg chg="del">
        <pc:chgData name="naoufal guenichi" userId="858fd4b3-0f44-4d07-ab42-9c2b2bf873b3" providerId="ADAL" clId="{5ADB1776-59AF-4A69-8422-CB66C8AF09C6}" dt="2026-02-23T21:46:47.626" v="26" actId="47"/>
        <pc:sldMkLst>
          <pc:docMk/>
          <pc:sldMk cId="0" sldId="320"/>
        </pc:sldMkLst>
      </pc:sldChg>
      <pc:sldChg chg="del">
        <pc:chgData name="naoufal guenichi" userId="858fd4b3-0f44-4d07-ab42-9c2b2bf873b3" providerId="ADAL" clId="{5ADB1776-59AF-4A69-8422-CB66C8AF09C6}" dt="2026-02-23T21:46:47.390" v="25" actId="47"/>
        <pc:sldMkLst>
          <pc:docMk/>
          <pc:sldMk cId="0" sldId="321"/>
        </pc:sldMkLst>
      </pc:sldChg>
      <pc:sldChg chg="del">
        <pc:chgData name="naoufal guenichi" userId="858fd4b3-0f44-4d07-ab42-9c2b2bf873b3" providerId="ADAL" clId="{5ADB1776-59AF-4A69-8422-CB66C8AF09C6}" dt="2026-02-23T21:46:46.976" v="24" actId="47"/>
        <pc:sldMkLst>
          <pc:docMk/>
          <pc:sldMk cId="0" sldId="322"/>
        </pc:sldMkLst>
      </pc:sldChg>
      <pc:sldChg chg="del">
        <pc:chgData name="naoufal guenichi" userId="858fd4b3-0f44-4d07-ab42-9c2b2bf873b3" providerId="ADAL" clId="{5ADB1776-59AF-4A69-8422-CB66C8AF09C6}" dt="2026-02-23T21:46:46.772" v="23" actId="47"/>
        <pc:sldMkLst>
          <pc:docMk/>
          <pc:sldMk cId="0" sldId="323"/>
        </pc:sldMkLst>
      </pc:sldChg>
      <pc:sldChg chg="del">
        <pc:chgData name="naoufal guenichi" userId="858fd4b3-0f44-4d07-ab42-9c2b2bf873b3" providerId="ADAL" clId="{5ADB1776-59AF-4A69-8422-CB66C8AF09C6}" dt="2026-02-23T21:46:46.488" v="22" actId="47"/>
        <pc:sldMkLst>
          <pc:docMk/>
          <pc:sldMk cId="0" sldId="324"/>
        </pc:sldMkLst>
      </pc:sldChg>
      <pc:sldChg chg="del">
        <pc:chgData name="naoufal guenichi" userId="858fd4b3-0f44-4d07-ab42-9c2b2bf873b3" providerId="ADAL" clId="{5ADB1776-59AF-4A69-8422-CB66C8AF09C6}" dt="2026-02-23T21:46:46.242" v="21" actId="47"/>
        <pc:sldMkLst>
          <pc:docMk/>
          <pc:sldMk cId="0" sldId="325"/>
        </pc:sldMkLst>
      </pc:sldChg>
      <pc:sldChg chg="del">
        <pc:chgData name="naoufal guenichi" userId="858fd4b3-0f44-4d07-ab42-9c2b2bf873b3" providerId="ADAL" clId="{5ADB1776-59AF-4A69-8422-CB66C8AF09C6}" dt="2026-02-23T21:46:45.861" v="20" actId="47"/>
        <pc:sldMkLst>
          <pc:docMk/>
          <pc:sldMk cId="0" sldId="326"/>
        </pc:sldMkLst>
      </pc:sldChg>
      <pc:sldChg chg="del">
        <pc:chgData name="naoufal guenichi" userId="858fd4b3-0f44-4d07-ab42-9c2b2bf873b3" providerId="ADAL" clId="{5ADB1776-59AF-4A69-8422-CB66C8AF09C6}" dt="2026-02-23T21:46:45.626" v="19" actId="47"/>
        <pc:sldMkLst>
          <pc:docMk/>
          <pc:sldMk cId="0" sldId="327"/>
        </pc:sldMkLst>
      </pc:sldChg>
      <pc:sldChg chg="del">
        <pc:chgData name="naoufal guenichi" userId="858fd4b3-0f44-4d07-ab42-9c2b2bf873b3" providerId="ADAL" clId="{5ADB1776-59AF-4A69-8422-CB66C8AF09C6}" dt="2026-02-23T21:46:45.417" v="18" actId="47"/>
        <pc:sldMkLst>
          <pc:docMk/>
          <pc:sldMk cId="0" sldId="328"/>
        </pc:sldMkLst>
      </pc:sldChg>
      <pc:sldChg chg="del">
        <pc:chgData name="naoufal guenichi" userId="858fd4b3-0f44-4d07-ab42-9c2b2bf873b3" providerId="ADAL" clId="{5ADB1776-59AF-4A69-8422-CB66C8AF09C6}" dt="2026-02-23T21:46:45.159" v="17" actId="47"/>
        <pc:sldMkLst>
          <pc:docMk/>
          <pc:sldMk cId="0" sldId="329"/>
        </pc:sldMkLst>
      </pc:sldChg>
      <pc:sldChg chg="del">
        <pc:chgData name="naoufal guenichi" userId="858fd4b3-0f44-4d07-ab42-9c2b2bf873b3" providerId="ADAL" clId="{5ADB1776-59AF-4A69-8422-CB66C8AF09C6}" dt="2026-02-23T21:46:44.874" v="16" actId="47"/>
        <pc:sldMkLst>
          <pc:docMk/>
          <pc:sldMk cId="0" sldId="330"/>
        </pc:sldMkLst>
      </pc:sldChg>
      <pc:sldChg chg="del">
        <pc:chgData name="naoufal guenichi" userId="858fd4b3-0f44-4d07-ab42-9c2b2bf873b3" providerId="ADAL" clId="{5ADB1776-59AF-4A69-8422-CB66C8AF09C6}" dt="2026-02-23T21:46:44.628" v="15" actId="47"/>
        <pc:sldMkLst>
          <pc:docMk/>
          <pc:sldMk cId="0" sldId="331"/>
        </pc:sldMkLst>
      </pc:sldChg>
      <pc:sldChg chg="del">
        <pc:chgData name="naoufal guenichi" userId="858fd4b3-0f44-4d07-ab42-9c2b2bf873b3" providerId="ADAL" clId="{5ADB1776-59AF-4A69-8422-CB66C8AF09C6}" dt="2026-02-23T21:46:44.318" v="14" actId="47"/>
        <pc:sldMkLst>
          <pc:docMk/>
          <pc:sldMk cId="0" sldId="332"/>
        </pc:sldMkLst>
      </pc:sldChg>
      <pc:sldChg chg="del">
        <pc:chgData name="naoufal guenichi" userId="858fd4b3-0f44-4d07-ab42-9c2b2bf873b3" providerId="ADAL" clId="{5ADB1776-59AF-4A69-8422-CB66C8AF09C6}" dt="2026-02-23T21:46:43.976" v="13" actId="47"/>
        <pc:sldMkLst>
          <pc:docMk/>
          <pc:sldMk cId="0" sldId="333"/>
        </pc:sldMkLst>
      </pc:sldChg>
      <pc:sldChg chg="del">
        <pc:chgData name="naoufal guenichi" userId="858fd4b3-0f44-4d07-ab42-9c2b2bf873b3" providerId="ADAL" clId="{5ADB1776-59AF-4A69-8422-CB66C8AF09C6}" dt="2026-02-23T21:46:43.492" v="12" actId="47"/>
        <pc:sldMkLst>
          <pc:docMk/>
          <pc:sldMk cId="0" sldId="334"/>
        </pc:sldMkLst>
      </pc:sldChg>
      <pc:sldChg chg="del">
        <pc:chgData name="naoufal guenichi" userId="858fd4b3-0f44-4d07-ab42-9c2b2bf873b3" providerId="ADAL" clId="{5ADB1776-59AF-4A69-8422-CB66C8AF09C6}" dt="2026-02-23T21:46:43.148" v="11" actId="47"/>
        <pc:sldMkLst>
          <pc:docMk/>
          <pc:sldMk cId="0" sldId="335"/>
        </pc:sldMkLst>
      </pc:sldChg>
      <pc:sldChg chg="del">
        <pc:chgData name="naoufal guenichi" userId="858fd4b3-0f44-4d07-ab42-9c2b2bf873b3" providerId="ADAL" clId="{5ADB1776-59AF-4A69-8422-CB66C8AF09C6}" dt="2026-02-23T21:46:42.482" v="10" actId="47"/>
        <pc:sldMkLst>
          <pc:docMk/>
          <pc:sldMk cId="0" sldId="336"/>
        </pc:sldMkLst>
      </pc:sldChg>
      <pc:sldChg chg="del">
        <pc:chgData name="naoufal guenichi" userId="858fd4b3-0f44-4d07-ab42-9c2b2bf873b3" providerId="ADAL" clId="{5ADB1776-59AF-4A69-8422-CB66C8AF09C6}" dt="2026-02-23T21:46:42.243" v="9" actId="47"/>
        <pc:sldMkLst>
          <pc:docMk/>
          <pc:sldMk cId="0" sldId="337"/>
        </pc:sldMkLst>
      </pc:sldChg>
      <pc:sldChg chg="del">
        <pc:chgData name="naoufal guenichi" userId="858fd4b3-0f44-4d07-ab42-9c2b2bf873b3" providerId="ADAL" clId="{5ADB1776-59AF-4A69-8422-CB66C8AF09C6}" dt="2026-02-23T21:46:41.955" v="8" actId="47"/>
        <pc:sldMkLst>
          <pc:docMk/>
          <pc:sldMk cId="0" sldId="338"/>
        </pc:sldMkLst>
      </pc:sldChg>
      <pc:sldChg chg="del">
        <pc:chgData name="naoufal guenichi" userId="858fd4b3-0f44-4d07-ab42-9c2b2bf873b3" providerId="ADAL" clId="{5ADB1776-59AF-4A69-8422-CB66C8AF09C6}" dt="2026-02-23T21:46:41.636" v="7" actId="47"/>
        <pc:sldMkLst>
          <pc:docMk/>
          <pc:sldMk cId="0" sldId="339"/>
        </pc:sldMkLst>
      </pc:sldChg>
      <pc:sldChg chg="del">
        <pc:chgData name="naoufal guenichi" userId="858fd4b3-0f44-4d07-ab42-9c2b2bf873b3" providerId="ADAL" clId="{5ADB1776-59AF-4A69-8422-CB66C8AF09C6}" dt="2026-02-23T21:46:41.300" v="6" actId="47"/>
        <pc:sldMkLst>
          <pc:docMk/>
          <pc:sldMk cId="0" sldId="340"/>
        </pc:sldMkLst>
      </pc:sldChg>
      <pc:sldChg chg="del">
        <pc:chgData name="naoufal guenichi" userId="858fd4b3-0f44-4d07-ab42-9c2b2bf873b3" providerId="ADAL" clId="{5ADB1776-59AF-4A69-8422-CB66C8AF09C6}" dt="2026-02-23T21:46:40.972" v="5" actId="47"/>
        <pc:sldMkLst>
          <pc:docMk/>
          <pc:sldMk cId="0" sldId="341"/>
        </pc:sldMkLst>
      </pc:sldChg>
      <pc:sldChg chg="del">
        <pc:chgData name="naoufal guenichi" userId="858fd4b3-0f44-4d07-ab42-9c2b2bf873b3" providerId="ADAL" clId="{5ADB1776-59AF-4A69-8422-CB66C8AF09C6}" dt="2026-02-23T21:46:40.572" v="4" actId="47"/>
        <pc:sldMkLst>
          <pc:docMk/>
          <pc:sldMk cId="0" sldId="342"/>
        </pc:sldMkLst>
      </pc:sldChg>
      <pc:sldChg chg="del">
        <pc:chgData name="naoufal guenichi" userId="858fd4b3-0f44-4d07-ab42-9c2b2bf873b3" providerId="ADAL" clId="{5ADB1776-59AF-4A69-8422-CB66C8AF09C6}" dt="2026-02-23T21:46:40.162" v="3" actId="47"/>
        <pc:sldMkLst>
          <pc:docMk/>
          <pc:sldMk cId="0" sldId="343"/>
        </pc:sldMkLst>
      </pc:sldChg>
      <pc:sldChg chg="del">
        <pc:chgData name="naoufal guenichi" userId="858fd4b3-0f44-4d07-ab42-9c2b2bf873b3" providerId="ADAL" clId="{5ADB1776-59AF-4A69-8422-CB66C8AF09C6}" dt="2026-02-23T21:46:39.720" v="2" actId="47"/>
        <pc:sldMkLst>
          <pc:docMk/>
          <pc:sldMk cId="0" sldId="34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37730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6576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65760" y="0"/>
            <a:ext cx="109728" cy="514350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731520" y="502920"/>
            <a:ext cx="8229600" cy="2834640"/>
          </a:xfrm>
          <a:prstGeom prst="rect">
            <a:avLst/>
          </a:prstGeom>
          <a:noFill/>
          <a:ln/>
        </p:spPr>
        <p:txBody>
          <a:bodyPr wrap="square" rtlCol="0" anchor="ctr"/>
          <a:lstStyle/>
          <a:p>
            <a:pPr marL="0" indent="0">
              <a:lnSpc>
                <a:spcPct val="115000"/>
              </a:lnSpc>
              <a:buNone/>
            </a:pPr>
            <a:r>
              <a:rPr lang="en-US" sz="2800" b="1" kern="0" spc="100" dirty="0">
                <a:solidFill>
                  <a:srgbClr val="FFFFFF"/>
                </a:solidFill>
                <a:latin typeface="Calibri" pitchFamily="34" charset="0"/>
                <a:ea typeface="Calibri" pitchFamily="34" charset="-122"/>
                <a:cs typeface="Calibri" pitchFamily="34" charset="-120"/>
              </a:rPr>
              <a:t>RÉGLEMENTATION DU</a:t>
            </a:r>
            <a:endParaRPr lang="en-US" sz="2800" dirty="0"/>
          </a:p>
          <a:p>
            <a:pPr marL="0" indent="0">
              <a:lnSpc>
                <a:spcPct val="115000"/>
              </a:lnSpc>
              <a:buNone/>
            </a:pPr>
            <a:r>
              <a:rPr lang="en-US" sz="2800" b="1" kern="0" spc="100" dirty="0">
                <a:solidFill>
                  <a:srgbClr val="FFFFFF"/>
                </a:solidFill>
                <a:latin typeface="Calibri" pitchFamily="34" charset="0"/>
                <a:ea typeface="Calibri" pitchFamily="34" charset="-122"/>
                <a:cs typeface="Calibri" pitchFamily="34" charset="-120"/>
              </a:rPr>
              <a:t>TRANSPORT PUBLIC</a:t>
            </a:r>
            <a:endParaRPr lang="en-US" sz="2800" dirty="0"/>
          </a:p>
          <a:p>
            <a:pPr marL="0" indent="0">
              <a:lnSpc>
                <a:spcPct val="115000"/>
              </a:lnSpc>
              <a:buNone/>
            </a:pPr>
            <a:r>
              <a:rPr lang="en-US" sz="2800" b="1" kern="0" spc="100" dirty="0">
                <a:solidFill>
                  <a:srgbClr val="FFFFFF"/>
                </a:solidFill>
                <a:latin typeface="Calibri" pitchFamily="34" charset="0"/>
                <a:ea typeface="Calibri" pitchFamily="34" charset="-122"/>
                <a:cs typeface="Calibri" pitchFamily="34" charset="-120"/>
              </a:rPr>
              <a:t>PARTICULIER DE PERSONNES</a:t>
            </a:r>
            <a:endParaRPr lang="en-US" sz="2800" dirty="0"/>
          </a:p>
          <a:p>
            <a:pPr marL="0" indent="0">
              <a:lnSpc>
                <a:spcPct val="115000"/>
              </a:lnSpc>
              <a:buNone/>
            </a:pPr>
            <a:r>
              <a:rPr lang="en-US" sz="2800" b="1" kern="0" spc="100" dirty="0">
                <a:solidFill>
                  <a:srgbClr val="FFFFFF"/>
                </a:solidFill>
                <a:latin typeface="Calibri" pitchFamily="34" charset="0"/>
                <a:ea typeface="Calibri" pitchFamily="34" charset="-122"/>
                <a:cs typeface="Calibri" pitchFamily="34" charset="-120"/>
              </a:rPr>
              <a:t>et prévention des discriminations</a:t>
            </a:r>
            <a:endParaRPr lang="en-US" sz="2800" dirty="0"/>
          </a:p>
          <a:p>
            <a:pPr marL="0" indent="0">
              <a:lnSpc>
                <a:spcPct val="115000"/>
              </a:lnSpc>
              <a:buNone/>
            </a:pPr>
            <a:r>
              <a:rPr lang="en-US" sz="2800" b="1" kern="0" spc="100" dirty="0">
                <a:solidFill>
                  <a:srgbClr val="FFFFFF"/>
                </a:solidFill>
                <a:latin typeface="Calibri" pitchFamily="34" charset="0"/>
                <a:ea typeface="Calibri" pitchFamily="34" charset="-122"/>
                <a:cs typeface="Calibri" pitchFamily="34" charset="-120"/>
              </a:rPr>
              <a:t>et des violences sexuelles et sexistes</a:t>
            </a:r>
            <a:endParaRPr lang="en-US" sz="2800" dirty="0"/>
          </a:p>
        </p:txBody>
      </p:sp>
      <p:sp>
        <p:nvSpPr>
          <p:cNvPr id="5" name="Text 3"/>
          <p:cNvSpPr/>
          <p:nvPr/>
        </p:nvSpPr>
        <p:spPr>
          <a:xfrm>
            <a:off x="731520" y="3401568"/>
            <a:ext cx="8229600" cy="320040"/>
          </a:xfrm>
          <a:prstGeom prst="rect">
            <a:avLst/>
          </a:prstGeom>
          <a:noFill/>
          <a:ln/>
        </p:spPr>
        <p:txBody>
          <a:bodyPr wrap="square" rtlCol="0" anchor="ctr"/>
          <a:lstStyle/>
          <a:p>
            <a:pPr marL="0" indent="0">
              <a:buNone/>
            </a:pPr>
            <a:r>
              <a:rPr lang="en-US" sz="1100" i="1" dirty="0">
                <a:solidFill>
                  <a:srgbClr val="8AB4D4"/>
                </a:solidFill>
                <a:latin typeface="Calibri" pitchFamily="34" charset="0"/>
                <a:ea typeface="Calibri" pitchFamily="34" charset="-122"/>
                <a:cs typeface="Calibri" pitchFamily="34" charset="-120"/>
              </a:rPr>
              <a:t>Arrêté du 20 mars 2024 — En vigueur depuis le 1ᵉʳ avril 2024</a:t>
            </a:r>
            <a:endParaRPr lang="en-US" sz="1100" dirty="0"/>
          </a:p>
        </p:txBody>
      </p:sp>
      <p:sp>
        <p:nvSpPr>
          <p:cNvPr id="6" name="Shape 4"/>
          <p:cNvSpPr/>
          <p:nvPr/>
        </p:nvSpPr>
        <p:spPr>
          <a:xfrm>
            <a:off x="731520" y="3931920"/>
            <a:ext cx="4114800" cy="621792"/>
          </a:xfrm>
          <a:prstGeom prst="rect">
            <a:avLst/>
          </a:prstGeom>
          <a:solidFill>
            <a:srgbClr val="1A3A5C"/>
          </a:solidFill>
          <a:ln w="12700">
            <a:solidFill>
              <a:srgbClr val="00B4D8"/>
            </a:solidFill>
            <a:prstDash val="solid"/>
          </a:ln>
        </p:spPr>
        <p:txBody>
          <a:bodyPr/>
          <a:lstStyle/>
          <a:p>
            <a:endParaRPr lang="fr-FR"/>
          </a:p>
        </p:txBody>
      </p:sp>
      <p:sp>
        <p:nvSpPr>
          <p:cNvPr id="7" name="Text 5"/>
          <p:cNvSpPr/>
          <p:nvPr/>
        </p:nvSpPr>
        <p:spPr>
          <a:xfrm>
            <a:off x="731520" y="3931920"/>
            <a:ext cx="4114800" cy="621792"/>
          </a:xfrm>
          <a:prstGeom prst="rect">
            <a:avLst/>
          </a:prstGeom>
          <a:noFill/>
          <a:ln/>
        </p:spPr>
        <p:txBody>
          <a:bodyPr wrap="square"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FTRANSPORT - SERVICES PRO</a:t>
            </a:r>
            <a:endParaRPr lang="en-US" sz="1000" dirty="0"/>
          </a:p>
          <a:p>
            <a:pPr marL="0" indent="0" algn="ctr">
              <a:buNone/>
            </a:pPr>
            <a:r>
              <a:rPr lang="en-US" sz="1000" dirty="0">
                <a:solidFill>
                  <a:srgbClr val="FFFFFF"/>
                </a:solidFill>
                <a:latin typeface="Calibri" pitchFamily="34" charset="0"/>
                <a:ea typeface="Calibri" pitchFamily="34" charset="-122"/>
                <a:cs typeface="Calibri" pitchFamily="34" charset="-120"/>
              </a:rPr>
              <a:t>Formation certifiée Qualiopi  •  Éligible CPF  •  Lyon</a:t>
            </a:r>
            <a:endParaRPr lang="en-US" sz="1000" dirty="0"/>
          </a:p>
        </p:txBody>
      </p:sp>
      <p:sp>
        <p:nvSpPr>
          <p:cNvPr id="8" name="Text 6"/>
          <p:cNvSpPr/>
          <p:nvPr/>
        </p:nvSpPr>
        <p:spPr>
          <a:xfrm>
            <a:off x="8321040" y="4846320"/>
            <a:ext cx="731520" cy="228600"/>
          </a:xfrm>
          <a:prstGeom prst="rect">
            <a:avLst/>
          </a:prstGeom>
          <a:noFill/>
          <a:ln/>
        </p:spPr>
        <p:txBody>
          <a:bodyPr wrap="square" rtlCol="0" anchor="ctr"/>
          <a:lstStyle/>
          <a:p>
            <a:pPr marL="0" indent="0" algn="r">
              <a:buNone/>
            </a:pPr>
            <a:r>
              <a:rPr lang="en-US" sz="900" dirty="0">
                <a:solidFill>
                  <a:srgbClr val="00B4D8"/>
                </a:solidFill>
                <a:latin typeface="Calibri" pitchFamily="34" charset="0"/>
                <a:ea typeface="Calibri" pitchFamily="34" charset="-122"/>
                <a:cs typeface="Calibri" pitchFamily="34" charset="-120"/>
              </a:rPr>
              <a:t>1/88</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SOMMAIRE — Plan du cours</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2/50</a:t>
            </a:r>
            <a:endParaRPr lang="en-US" sz="800" dirty="0"/>
          </a:p>
        </p:txBody>
      </p:sp>
      <p:sp>
        <p:nvSpPr>
          <p:cNvPr id="8" name="Shape 6"/>
          <p:cNvSpPr/>
          <p:nvPr/>
        </p:nvSpPr>
        <p:spPr>
          <a:xfrm>
            <a:off x="274320" y="932688"/>
            <a:ext cx="4206240" cy="429768"/>
          </a:xfrm>
          <a:prstGeom prst="rect">
            <a:avLst/>
          </a:prstGeom>
          <a:solidFill>
            <a:srgbClr val="E8F1FA"/>
          </a:solidFill>
          <a:ln w="6350">
            <a:solidFill>
              <a:srgbClr val="DDE6F0"/>
            </a:solidFill>
            <a:prstDash val="solid"/>
          </a:ln>
        </p:spPr>
        <p:txBody>
          <a:bodyPr/>
          <a:lstStyle/>
          <a:p>
            <a:endParaRPr lang="fr-FR"/>
          </a:p>
        </p:txBody>
      </p:sp>
      <p:sp>
        <p:nvSpPr>
          <p:cNvPr id="9" name="Shape 7"/>
          <p:cNvSpPr/>
          <p:nvPr/>
        </p:nvSpPr>
        <p:spPr>
          <a:xfrm>
            <a:off x="274320" y="932688"/>
            <a:ext cx="384048" cy="429768"/>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74320" y="932688"/>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9"/>
          <p:cNvSpPr/>
          <p:nvPr/>
        </p:nvSpPr>
        <p:spPr>
          <a:xfrm>
            <a:off x="731520" y="978408"/>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Transport public ou transport privé ?</a:t>
            </a:r>
            <a:endParaRPr lang="en-US" sz="1050" dirty="0"/>
          </a:p>
        </p:txBody>
      </p:sp>
      <p:sp>
        <p:nvSpPr>
          <p:cNvPr id="12" name="Shape 10"/>
          <p:cNvSpPr/>
          <p:nvPr/>
        </p:nvSpPr>
        <p:spPr>
          <a:xfrm>
            <a:off x="4160520" y="1005840"/>
            <a:ext cx="274320" cy="274320"/>
          </a:xfrm>
          <a:prstGeom prst="rect">
            <a:avLst/>
          </a:prstGeom>
          <a:solidFill>
            <a:srgbClr val="1A3A5C"/>
          </a:solidFill>
          <a:ln w="12700">
            <a:solidFill>
              <a:srgbClr val="1A3A5C"/>
            </a:solidFill>
            <a:prstDash val="solid"/>
          </a:ln>
        </p:spPr>
        <p:txBody>
          <a:bodyPr/>
          <a:lstStyle/>
          <a:p>
            <a:endParaRPr lang="fr-FR"/>
          </a:p>
        </p:txBody>
      </p:sp>
      <p:sp>
        <p:nvSpPr>
          <p:cNvPr id="13" name="Text 11"/>
          <p:cNvSpPr/>
          <p:nvPr/>
        </p:nvSpPr>
        <p:spPr>
          <a:xfrm>
            <a:off x="4160520" y="1005840"/>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4" name="Shape 12"/>
          <p:cNvSpPr/>
          <p:nvPr/>
        </p:nvSpPr>
        <p:spPr>
          <a:xfrm>
            <a:off x="274320" y="1426464"/>
            <a:ext cx="4206240" cy="429768"/>
          </a:xfrm>
          <a:prstGeom prst="rect">
            <a:avLst/>
          </a:prstGeom>
          <a:solidFill>
            <a:srgbClr val="E8F1FA"/>
          </a:solidFill>
          <a:ln w="6350">
            <a:solidFill>
              <a:srgbClr val="DDE6F0"/>
            </a:solidFill>
            <a:prstDash val="solid"/>
          </a:ln>
        </p:spPr>
        <p:txBody>
          <a:bodyPr/>
          <a:lstStyle/>
          <a:p>
            <a:endParaRPr lang="fr-FR"/>
          </a:p>
        </p:txBody>
      </p:sp>
      <p:sp>
        <p:nvSpPr>
          <p:cNvPr id="15" name="Shape 13"/>
          <p:cNvSpPr/>
          <p:nvPr/>
        </p:nvSpPr>
        <p:spPr>
          <a:xfrm>
            <a:off x="274320" y="1426464"/>
            <a:ext cx="384048" cy="429768"/>
          </a:xfrm>
          <a:prstGeom prst="rect">
            <a:avLst/>
          </a:prstGeom>
          <a:solidFill>
            <a:srgbClr val="1A3A5C"/>
          </a:solidFill>
          <a:ln w="12700">
            <a:solidFill>
              <a:srgbClr val="1A3A5C"/>
            </a:solidFill>
            <a:prstDash val="solid"/>
          </a:ln>
        </p:spPr>
        <p:txBody>
          <a:bodyPr/>
          <a:lstStyle/>
          <a:p>
            <a:endParaRPr lang="fr-FR"/>
          </a:p>
        </p:txBody>
      </p:sp>
      <p:sp>
        <p:nvSpPr>
          <p:cNvPr id="16" name="Text 14"/>
          <p:cNvSpPr/>
          <p:nvPr/>
        </p:nvSpPr>
        <p:spPr>
          <a:xfrm>
            <a:off x="274320" y="1426464"/>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7" name="Text 15"/>
          <p:cNvSpPr/>
          <p:nvPr/>
        </p:nvSpPr>
        <p:spPr>
          <a:xfrm>
            <a:off x="731520" y="1472184"/>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Le transport public collectif</a:t>
            </a:r>
            <a:endParaRPr lang="en-US" sz="1050" dirty="0"/>
          </a:p>
        </p:txBody>
      </p:sp>
      <p:sp>
        <p:nvSpPr>
          <p:cNvPr id="18" name="Shape 16"/>
          <p:cNvSpPr/>
          <p:nvPr/>
        </p:nvSpPr>
        <p:spPr>
          <a:xfrm>
            <a:off x="4160520" y="1499616"/>
            <a:ext cx="274320" cy="274320"/>
          </a:xfrm>
          <a:prstGeom prst="rect">
            <a:avLst/>
          </a:prstGeom>
          <a:solidFill>
            <a:srgbClr val="1A3A5C"/>
          </a:solidFill>
          <a:ln w="12700">
            <a:solidFill>
              <a:srgbClr val="1A3A5C"/>
            </a:solidFill>
            <a:prstDash val="solid"/>
          </a:ln>
        </p:spPr>
        <p:txBody>
          <a:bodyPr/>
          <a:lstStyle/>
          <a:p>
            <a:endParaRPr lang="fr-FR"/>
          </a:p>
        </p:txBody>
      </p:sp>
      <p:sp>
        <p:nvSpPr>
          <p:cNvPr id="19" name="Text 17"/>
          <p:cNvSpPr/>
          <p:nvPr/>
        </p:nvSpPr>
        <p:spPr>
          <a:xfrm>
            <a:off x="4160520" y="1499616"/>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20" name="Shape 18"/>
          <p:cNvSpPr/>
          <p:nvPr/>
        </p:nvSpPr>
        <p:spPr>
          <a:xfrm>
            <a:off x="274320" y="1920240"/>
            <a:ext cx="4206240" cy="429768"/>
          </a:xfrm>
          <a:prstGeom prst="rect">
            <a:avLst/>
          </a:prstGeom>
          <a:solidFill>
            <a:srgbClr val="E8F1FA"/>
          </a:solidFill>
          <a:ln w="6350">
            <a:solidFill>
              <a:srgbClr val="DDE6F0"/>
            </a:solidFill>
            <a:prstDash val="solid"/>
          </a:ln>
        </p:spPr>
        <p:txBody>
          <a:bodyPr/>
          <a:lstStyle/>
          <a:p>
            <a:endParaRPr lang="fr-FR"/>
          </a:p>
        </p:txBody>
      </p:sp>
      <p:sp>
        <p:nvSpPr>
          <p:cNvPr id="21" name="Shape 19"/>
          <p:cNvSpPr/>
          <p:nvPr/>
        </p:nvSpPr>
        <p:spPr>
          <a:xfrm>
            <a:off x="274320" y="1920240"/>
            <a:ext cx="384048" cy="429768"/>
          </a:xfrm>
          <a:prstGeom prst="rect">
            <a:avLst/>
          </a:prstGeom>
          <a:solidFill>
            <a:srgbClr val="1A3A5C"/>
          </a:solidFill>
          <a:ln w="12700">
            <a:solidFill>
              <a:srgbClr val="1A3A5C"/>
            </a:solidFill>
            <a:prstDash val="solid"/>
          </a:ln>
        </p:spPr>
        <p:txBody>
          <a:bodyPr/>
          <a:lstStyle/>
          <a:p>
            <a:endParaRPr lang="fr-FR"/>
          </a:p>
        </p:txBody>
      </p:sp>
      <p:sp>
        <p:nvSpPr>
          <p:cNvPr id="22" name="Text 20"/>
          <p:cNvSpPr/>
          <p:nvPr/>
        </p:nvSpPr>
        <p:spPr>
          <a:xfrm>
            <a:off x="274320" y="1920240"/>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3" name="Text 21"/>
          <p:cNvSpPr/>
          <p:nvPr/>
        </p:nvSpPr>
        <p:spPr>
          <a:xfrm>
            <a:off x="731520" y="1965960"/>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La loi LOTI — Définition du T3P</a:t>
            </a:r>
            <a:endParaRPr lang="en-US" sz="1050" dirty="0"/>
          </a:p>
        </p:txBody>
      </p:sp>
      <p:sp>
        <p:nvSpPr>
          <p:cNvPr id="24" name="Shape 22"/>
          <p:cNvSpPr/>
          <p:nvPr/>
        </p:nvSpPr>
        <p:spPr>
          <a:xfrm>
            <a:off x="4160520" y="1993392"/>
            <a:ext cx="274320" cy="274320"/>
          </a:xfrm>
          <a:prstGeom prst="rect">
            <a:avLst/>
          </a:prstGeom>
          <a:solidFill>
            <a:srgbClr val="1A3A5C"/>
          </a:solidFill>
          <a:ln w="12700">
            <a:solidFill>
              <a:srgbClr val="1A3A5C"/>
            </a:solidFill>
            <a:prstDash val="solid"/>
          </a:ln>
        </p:spPr>
        <p:txBody>
          <a:bodyPr/>
          <a:lstStyle/>
          <a:p>
            <a:endParaRPr lang="fr-FR"/>
          </a:p>
        </p:txBody>
      </p:sp>
      <p:sp>
        <p:nvSpPr>
          <p:cNvPr id="25" name="Text 23"/>
          <p:cNvSpPr/>
          <p:nvPr/>
        </p:nvSpPr>
        <p:spPr>
          <a:xfrm>
            <a:off x="4160520" y="199339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12</a:t>
            </a:r>
            <a:endParaRPr lang="en-US" sz="900" dirty="0"/>
          </a:p>
        </p:txBody>
      </p:sp>
      <p:sp>
        <p:nvSpPr>
          <p:cNvPr id="26" name="Shape 24"/>
          <p:cNvSpPr/>
          <p:nvPr/>
        </p:nvSpPr>
        <p:spPr>
          <a:xfrm>
            <a:off x="274320" y="2414016"/>
            <a:ext cx="4206240" cy="429768"/>
          </a:xfrm>
          <a:prstGeom prst="rect">
            <a:avLst/>
          </a:prstGeom>
          <a:solidFill>
            <a:srgbClr val="E8F1FA"/>
          </a:solidFill>
          <a:ln w="6350">
            <a:solidFill>
              <a:srgbClr val="DDE6F0"/>
            </a:solidFill>
            <a:prstDash val="solid"/>
          </a:ln>
        </p:spPr>
        <p:txBody>
          <a:bodyPr/>
          <a:lstStyle/>
          <a:p>
            <a:endParaRPr lang="fr-FR"/>
          </a:p>
        </p:txBody>
      </p:sp>
      <p:sp>
        <p:nvSpPr>
          <p:cNvPr id="27" name="Shape 25"/>
          <p:cNvSpPr/>
          <p:nvPr/>
        </p:nvSpPr>
        <p:spPr>
          <a:xfrm>
            <a:off x="274320" y="2414016"/>
            <a:ext cx="384048" cy="429768"/>
          </a:xfrm>
          <a:prstGeom prst="rect">
            <a:avLst/>
          </a:prstGeom>
          <a:solidFill>
            <a:srgbClr val="1A3A5C"/>
          </a:solidFill>
          <a:ln w="12700">
            <a:solidFill>
              <a:srgbClr val="1A3A5C"/>
            </a:solidFill>
            <a:prstDash val="solid"/>
          </a:ln>
        </p:spPr>
        <p:txBody>
          <a:bodyPr/>
          <a:lstStyle/>
          <a:p>
            <a:endParaRPr lang="fr-FR"/>
          </a:p>
        </p:txBody>
      </p:sp>
      <p:sp>
        <p:nvSpPr>
          <p:cNvPr id="28" name="Text 26"/>
          <p:cNvSpPr/>
          <p:nvPr/>
        </p:nvSpPr>
        <p:spPr>
          <a:xfrm>
            <a:off x="274320" y="2414016"/>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9" name="Text 27"/>
          <p:cNvSpPr/>
          <p:nvPr/>
        </p:nvSpPr>
        <p:spPr>
          <a:xfrm>
            <a:off x="731520" y="2459736"/>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Non-inscription aux examens T3P</a:t>
            </a:r>
            <a:endParaRPr lang="en-US" sz="1050" dirty="0"/>
          </a:p>
        </p:txBody>
      </p:sp>
      <p:sp>
        <p:nvSpPr>
          <p:cNvPr id="30" name="Shape 28"/>
          <p:cNvSpPr/>
          <p:nvPr/>
        </p:nvSpPr>
        <p:spPr>
          <a:xfrm>
            <a:off x="4160520" y="2487168"/>
            <a:ext cx="274320" cy="274320"/>
          </a:xfrm>
          <a:prstGeom prst="rect">
            <a:avLst/>
          </a:prstGeom>
          <a:solidFill>
            <a:srgbClr val="1A3A5C"/>
          </a:solidFill>
          <a:ln w="12700">
            <a:solidFill>
              <a:srgbClr val="1A3A5C"/>
            </a:solidFill>
            <a:prstDash val="solid"/>
          </a:ln>
        </p:spPr>
        <p:txBody>
          <a:bodyPr/>
          <a:lstStyle/>
          <a:p>
            <a:endParaRPr lang="fr-FR"/>
          </a:p>
        </p:txBody>
      </p:sp>
      <p:sp>
        <p:nvSpPr>
          <p:cNvPr id="31" name="Text 29"/>
          <p:cNvSpPr/>
          <p:nvPr/>
        </p:nvSpPr>
        <p:spPr>
          <a:xfrm>
            <a:off x="4160520" y="2487168"/>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14</a:t>
            </a:r>
            <a:endParaRPr lang="en-US" sz="900" dirty="0"/>
          </a:p>
        </p:txBody>
      </p:sp>
      <p:sp>
        <p:nvSpPr>
          <p:cNvPr id="32" name="Shape 30"/>
          <p:cNvSpPr/>
          <p:nvPr/>
        </p:nvSpPr>
        <p:spPr>
          <a:xfrm>
            <a:off x="274320" y="2907792"/>
            <a:ext cx="4206240" cy="429768"/>
          </a:xfrm>
          <a:prstGeom prst="rect">
            <a:avLst/>
          </a:prstGeom>
          <a:solidFill>
            <a:srgbClr val="E8F1FA"/>
          </a:solidFill>
          <a:ln w="6350">
            <a:solidFill>
              <a:srgbClr val="DDE6F0"/>
            </a:solidFill>
            <a:prstDash val="solid"/>
          </a:ln>
        </p:spPr>
        <p:txBody>
          <a:bodyPr/>
          <a:lstStyle/>
          <a:p>
            <a:endParaRPr lang="fr-FR"/>
          </a:p>
        </p:txBody>
      </p:sp>
      <p:sp>
        <p:nvSpPr>
          <p:cNvPr id="33" name="Shape 31"/>
          <p:cNvSpPr/>
          <p:nvPr/>
        </p:nvSpPr>
        <p:spPr>
          <a:xfrm>
            <a:off x="274320" y="2907792"/>
            <a:ext cx="384048" cy="429768"/>
          </a:xfrm>
          <a:prstGeom prst="rect">
            <a:avLst/>
          </a:prstGeom>
          <a:solidFill>
            <a:srgbClr val="1A3A5C"/>
          </a:solidFill>
          <a:ln w="12700">
            <a:solidFill>
              <a:srgbClr val="1A3A5C"/>
            </a:solidFill>
            <a:prstDash val="solid"/>
          </a:ln>
        </p:spPr>
        <p:txBody>
          <a:bodyPr/>
          <a:lstStyle/>
          <a:p>
            <a:endParaRPr lang="fr-FR"/>
          </a:p>
        </p:txBody>
      </p:sp>
      <p:sp>
        <p:nvSpPr>
          <p:cNvPr id="34" name="Text 32"/>
          <p:cNvSpPr/>
          <p:nvPr/>
        </p:nvSpPr>
        <p:spPr>
          <a:xfrm>
            <a:off x="274320" y="2907792"/>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5" name="Text 33"/>
          <p:cNvSpPr/>
          <p:nvPr/>
        </p:nvSpPr>
        <p:spPr>
          <a:xfrm>
            <a:off x="731520" y="2953512"/>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Réglementation des Taxis</a:t>
            </a:r>
            <a:endParaRPr lang="en-US" sz="1050" dirty="0"/>
          </a:p>
        </p:txBody>
      </p:sp>
      <p:sp>
        <p:nvSpPr>
          <p:cNvPr id="36" name="Shape 34"/>
          <p:cNvSpPr/>
          <p:nvPr/>
        </p:nvSpPr>
        <p:spPr>
          <a:xfrm>
            <a:off x="4160520" y="2980944"/>
            <a:ext cx="274320" cy="274320"/>
          </a:xfrm>
          <a:prstGeom prst="rect">
            <a:avLst/>
          </a:prstGeom>
          <a:solidFill>
            <a:srgbClr val="1A3A5C"/>
          </a:solidFill>
          <a:ln w="12700">
            <a:solidFill>
              <a:srgbClr val="1A3A5C"/>
            </a:solidFill>
            <a:prstDash val="solid"/>
          </a:ln>
        </p:spPr>
        <p:txBody>
          <a:bodyPr/>
          <a:lstStyle/>
          <a:p>
            <a:endParaRPr lang="fr-FR"/>
          </a:p>
        </p:txBody>
      </p:sp>
      <p:sp>
        <p:nvSpPr>
          <p:cNvPr id="37" name="Text 35"/>
          <p:cNvSpPr/>
          <p:nvPr/>
        </p:nvSpPr>
        <p:spPr>
          <a:xfrm>
            <a:off x="4160520" y="2980944"/>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16</a:t>
            </a:r>
            <a:endParaRPr lang="en-US" sz="900" dirty="0"/>
          </a:p>
        </p:txBody>
      </p:sp>
      <p:sp>
        <p:nvSpPr>
          <p:cNvPr id="38" name="Shape 36"/>
          <p:cNvSpPr/>
          <p:nvPr/>
        </p:nvSpPr>
        <p:spPr>
          <a:xfrm>
            <a:off x="274320" y="3401568"/>
            <a:ext cx="4206240" cy="429768"/>
          </a:xfrm>
          <a:prstGeom prst="rect">
            <a:avLst/>
          </a:prstGeom>
          <a:solidFill>
            <a:srgbClr val="E8F1FA"/>
          </a:solidFill>
          <a:ln w="6350">
            <a:solidFill>
              <a:srgbClr val="DDE6F0"/>
            </a:solidFill>
            <a:prstDash val="solid"/>
          </a:ln>
        </p:spPr>
        <p:txBody>
          <a:bodyPr/>
          <a:lstStyle/>
          <a:p>
            <a:endParaRPr lang="fr-FR"/>
          </a:p>
        </p:txBody>
      </p:sp>
      <p:sp>
        <p:nvSpPr>
          <p:cNvPr id="39" name="Shape 37"/>
          <p:cNvSpPr/>
          <p:nvPr/>
        </p:nvSpPr>
        <p:spPr>
          <a:xfrm>
            <a:off x="274320" y="3401568"/>
            <a:ext cx="384048" cy="429768"/>
          </a:xfrm>
          <a:prstGeom prst="rect">
            <a:avLst/>
          </a:prstGeom>
          <a:solidFill>
            <a:srgbClr val="1A3A5C"/>
          </a:solidFill>
          <a:ln w="12700">
            <a:solidFill>
              <a:srgbClr val="1A3A5C"/>
            </a:solidFill>
            <a:prstDash val="solid"/>
          </a:ln>
        </p:spPr>
        <p:txBody>
          <a:bodyPr/>
          <a:lstStyle/>
          <a:p>
            <a:endParaRPr lang="fr-FR"/>
          </a:p>
        </p:txBody>
      </p:sp>
      <p:sp>
        <p:nvSpPr>
          <p:cNvPr id="40" name="Text 38"/>
          <p:cNvSpPr/>
          <p:nvPr/>
        </p:nvSpPr>
        <p:spPr>
          <a:xfrm>
            <a:off x="274320" y="3401568"/>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41" name="Text 39"/>
          <p:cNvSpPr/>
          <p:nvPr/>
        </p:nvSpPr>
        <p:spPr>
          <a:xfrm>
            <a:off x="731520" y="3447288"/>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Réglementation des VTC</a:t>
            </a:r>
            <a:endParaRPr lang="en-US" sz="1050" dirty="0"/>
          </a:p>
        </p:txBody>
      </p:sp>
      <p:sp>
        <p:nvSpPr>
          <p:cNvPr id="42" name="Shape 40"/>
          <p:cNvSpPr/>
          <p:nvPr/>
        </p:nvSpPr>
        <p:spPr>
          <a:xfrm>
            <a:off x="4160520" y="3474720"/>
            <a:ext cx="274320" cy="274320"/>
          </a:xfrm>
          <a:prstGeom prst="rect">
            <a:avLst/>
          </a:prstGeom>
          <a:solidFill>
            <a:srgbClr val="1A3A5C"/>
          </a:solidFill>
          <a:ln w="12700">
            <a:solidFill>
              <a:srgbClr val="1A3A5C"/>
            </a:solidFill>
            <a:prstDash val="solid"/>
          </a:ln>
        </p:spPr>
        <p:txBody>
          <a:bodyPr/>
          <a:lstStyle/>
          <a:p>
            <a:endParaRPr lang="fr-FR"/>
          </a:p>
        </p:txBody>
      </p:sp>
      <p:sp>
        <p:nvSpPr>
          <p:cNvPr id="43" name="Text 41"/>
          <p:cNvSpPr/>
          <p:nvPr/>
        </p:nvSpPr>
        <p:spPr>
          <a:xfrm>
            <a:off x="4160520" y="3474720"/>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25</a:t>
            </a:r>
            <a:endParaRPr lang="en-US" sz="900" dirty="0"/>
          </a:p>
        </p:txBody>
      </p:sp>
      <p:sp>
        <p:nvSpPr>
          <p:cNvPr id="44" name="Shape 42"/>
          <p:cNvSpPr/>
          <p:nvPr/>
        </p:nvSpPr>
        <p:spPr>
          <a:xfrm>
            <a:off x="274320" y="3895344"/>
            <a:ext cx="4206240" cy="429768"/>
          </a:xfrm>
          <a:prstGeom prst="rect">
            <a:avLst/>
          </a:prstGeom>
          <a:solidFill>
            <a:srgbClr val="E8F1FA"/>
          </a:solidFill>
          <a:ln w="6350">
            <a:solidFill>
              <a:srgbClr val="DDE6F0"/>
            </a:solidFill>
            <a:prstDash val="solid"/>
          </a:ln>
        </p:spPr>
        <p:txBody>
          <a:bodyPr/>
          <a:lstStyle/>
          <a:p>
            <a:endParaRPr lang="fr-FR"/>
          </a:p>
        </p:txBody>
      </p:sp>
      <p:sp>
        <p:nvSpPr>
          <p:cNvPr id="45" name="Shape 43"/>
          <p:cNvSpPr/>
          <p:nvPr/>
        </p:nvSpPr>
        <p:spPr>
          <a:xfrm>
            <a:off x="274320" y="3895344"/>
            <a:ext cx="384048" cy="429768"/>
          </a:xfrm>
          <a:prstGeom prst="rect">
            <a:avLst/>
          </a:prstGeom>
          <a:solidFill>
            <a:srgbClr val="1A3A5C"/>
          </a:solidFill>
          <a:ln w="12700">
            <a:solidFill>
              <a:srgbClr val="1A3A5C"/>
            </a:solidFill>
            <a:prstDash val="solid"/>
          </a:ln>
        </p:spPr>
        <p:txBody>
          <a:bodyPr/>
          <a:lstStyle/>
          <a:p>
            <a:endParaRPr lang="fr-FR"/>
          </a:p>
        </p:txBody>
      </p:sp>
      <p:sp>
        <p:nvSpPr>
          <p:cNvPr id="46" name="Text 44"/>
          <p:cNvSpPr/>
          <p:nvPr/>
        </p:nvSpPr>
        <p:spPr>
          <a:xfrm>
            <a:off x="274320" y="3895344"/>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6b</a:t>
            </a:r>
            <a:endParaRPr lang="en-US" sz="1100" dirty="0"/>
          </a:p>
        </p:txBody>
      </p:sp>
      <p:sp>
        <p:nvSpPr>
          <p:cNvPr id="47" name="Text 45"/>
          <p:cNvSpPr/>
          <p:nvPr/>
        </p:nvSpPr>
        <p:spPr>
          <a:xfrm>
            <a:off x="731520" y="3941064"/>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Réglementation des VMDTR</a:t>
            </a:r>
            <a:endParaRPr lang="en-US" sz="1050" dirty="0"/>
          </a:p>
        </p:txBody>
      </p:sp>
      <p:sp>
        <p:nvSpPr>
          <p:cNvPr id="48" name="Shape 46"/>
          <p:cNvSpPr/>
          <p:nvPr/>
        </p:nvSpPr>
        <p:spPr>
          <a:xfrm>
            <a:off x="4160520" y="3968496"/>
            <a:ext cx="274320" cy="274320"/>
          </a:xfrm>
          <a:prstGeom prst="rect">
            <a:avLst/>
          </a:prstGeom>
          <a:solidFill>
            <a:srgbClr val="1A3A5C"/>
          </a:solidFill>
          <a:ln w="12700">
            <a:solidFill>
              <a:srgbClr val="1A3A5C"/>
            </a:solidFill>
            <a:prstDash val="solid"/>
          </a:ln>
        </p:spPr>
        <p:txBody>
          <a:bodyPr/>
          <a:lstStyle/>
          <a:p>
            <a:endParaRPr lang="fr-FR"/>
          </a:p>
        </p:txBody>
      </p:sp>
      <p:sp>
        <p:nvSpPr>
          <p:cNvPr id="49" name="Text 47"/>
          <p:cNvSpPr/>
          <p:nvPr/>
        </p:nvSpPr>
        <p:spPr>
          <a:xfrm>
            <a:off x="4160520" y="3968496"/>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30</a:t>
            </a:r>
            <a:endParaRPr lang="en-US" sz="900" dirty="0"/>
          </a:p>
        </p:txBody>
      </p:sp>
      <p:sp>
        <p:nvSpPr>
          <p:cNvPr id="50" name="Shape 48"/>
          <p:cNvSpPr/>
          <p:nvPr/>
        </p:nvSpPr>
        <p:spPr>
          <a:xfrm>
            <a:off x="274320" y="4389120"/>
            <a:ext cx="4206240" cy="429768"/>
          </a:xfrm>
          <a:prstGeom prst="rect">
            <a:avLst/>
          </a:prstGeom>
          <a:solidFill>
            <a:srgbClr val="E8F1FA"/>
          </a:solidFill>
          <a:ln w="6350">
            <a:solidFill>
              <a:srgbClr val="DDE6F0"/>
            </a:solidFill>
            <a:prstDash val="solid"/>
          </a:ln>
        </p:spPr>
        <p:txBody>
          <a:bodyPr/>
          <a:lstStyle/>
          <a:p>
            <a:endParaRPr lang="fr-FR"/>
          </a:p>
        </p:txBody>
      </p:sp>
      <p:sp>
        <p:nvSpPr>
          <p:cNvPr id="51" name="Shape 49"/>
          <p:cNvSpPr/>
          <p:nvPr/>
        </p:nvSpPr>
        <p:spPr>
          <a:xfrm>
            <a:off x="274320" y="4389120"/>
            <a:ext cx="384048" cy="429768"/>
          </a:xfrm>
          <a:prstGeom prst="rect">
            <a:avLst/>
          </a:prstGeom>
          <a:solidFill>
            <a:srgbClr val="1A3A5C"/>
          </a:solidFill>
          <a:ln w="12700">
            <a:solidFill>
              <a:srgbClr val="1A3A5C"/>
            </a:solidFill>
            <a:prstDash val="solid"/>
          </a:ln>
        </p:spPr>
        <p:txBody>
          <a:bodyPr/>
          <a:lstStyle/>
          <a:p>
            <a:endParaRPr lang="fr-FR"/>
          </a:p>
        </p:txBody>
      </p:sp>
      <p:sp>
        <p:nvSpPr>
          <p:cNvPr id="52" name="Text 50"/>
          <p:cNvSpPr/>
          <p:nvPr/>
        </p:nvSpPr>
        <p:spPr>
          <a:xfrm>
            <a:off x="274320" y="4389120"/>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3" name="Text 51"/>
          <p:cNvSpPr/>
          <p:nvPr/>
        </p:nvSpPr>
        <p:spPr>
          <a:xfrm>
            <a:off x="731520" y="4434840"/>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Organismes autour du T3P + Centres de formation</a:t>
            </a:r>
            <a:endParaRPr lang="en-US" sz="1050" dirty="0"/>
          </a:p>
        </p:txBody>
      </p:sp>
      <p:sp>
        <p:nvSpPr>
          <p:cNvPr id="54" name="Shape 52"/>
          <p:cNvSpPr/>
          <p:nvPr/>
        </p:nvSpPr>
        <p:spPr>
          <a:xfrm>
            <a:off x="4160520" y="4462272"/>
            <a:ext cx="274320" cy="274320"/>
          </a:xfrm>
          <a:prstGeom prst="rect">
            <a:avLst/>
          </a:prstGeom>
          <a:solidFill>
            <a:srgbClr val="1A3A5C"/>
          </a:solidFill>
          <a:ln w="12700">
            <a:solidFill>
              <a:srgbClr val="1A3A5C"/>
            </a:solidFill>
            <a:prstDash val="solid"/>
          </a:ln>
        </p:spPr>
        <p:txBody>
          <a:bodyPr/>
          <a:lstStyle/>
          <a:p>
            <a:endParaRPr lang="fr-FR"/>
          </a:p>
        </p:txBody>
      </p:sp>
      <p:sp>
        <p:nvSpPr>
          <p:cNvPr id="55" name="Text 53"/>
          <p:cNvSpPr/>
          <p:nvPr/>
        </p:nvSpPr>
        <p:spPr>
          <a:xfrm>
            <a:off x="4160520" y="4462272"/>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35</a:t>
            </a:r>
            <a:endParaRPr lang="en-US" sz="900" dirty="0"/>
          </a:p>
        </p:txBody>
      </p:sp>
      <p:sp>
        <p:nvSpPr>
          <p:cNvPr id="56" name="Shape 54"/>
          <p:cNvSpPr/>
          <p:nvPr/>
        </p:nvSpPr>
        <p:spPr>
          <a:xfrm>
            <a:off x="274320" y="4882896"/>
            <a:ext cx="4206240" cy="429768"/>
          </a:xfrm>
          <a:prstGeom prst="rect">
            <a:avLst/>
          </a:prstGeom>
          <a:solidFill>
            <a:srgbClr val="E8F1FA"/>
          </a:solidFill>
          <a:ln w="6350">
            <a:solidFill>
              <a:srgbClr val="DDE6F0"/>
            </a:solidFill>
            <a:prstDash val="solid"/>
          </a:ln>
        </p:spPr>
        <p:txBody>
          <a:bodyPr/>
          <a:lstStyle/>
          <a:p>
            <a:endParaRPr lang="fr-FR"/>
          </a:p>
        </p:txBody>
      </p:sp>
      <p:sp>
        <p:nvSpPr>
          <p:cNvPr id="57" name="Shape 55"/>
          <p:cNvSpPr/>
          <p:nvPr/>
        </p:nvSpPr>
        <p:spPr>
          <a:xfrm>
            <a:off x="274320" y="4882896"/>
            <a:ext cx="384048" cy="429768"/>
          </a:xfrm>
          <a:prstGeom prst="rect">
            <a:avLst/>
          </a:prstGeom>
          <a:solidFill>
            <a:srgbClr val="1A3A5C"/>
          </a:solidFill>
          <a:ln w="12700">
            <a:solidFill>
              <a:srgbClr val="1A3A5C"/>
            </a:solidFill>
            <a:prstDash val="solid"/>
          </a:ln>
        </p:spPr>
        <p:txBody>
          <a:bodyPr/>
          <a:lstStyle/>
          <a:p>
            <a:endParaRPr lang="fr-FR"/>
          </a:p>
        </p:txBody>
      </p:sp>
      <p:sp>
        <p:nvSpPr>
          <p:cNvPr id="58" name="Text 56"/>
          <p:cNvSpPr/>
          <p:nvPr/>
        </p:nvSpPr>
        <p:spPr>
          <a:xfrm>
            <a:off x="274320" y="4882896"/>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7"/>
          <p:cNvSpPr/>
          <p:nvPr/>
        </p:nvSpPr>
        <p:spPr>
          <a:xfrm>
            <a:off x="731520" y="4928616"/>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Les assurances obligatoires</a:t>
            </a:r>
            <a:endParaRPr lang="en-US" sz="1050" dirty="0"/>
          </a:p>
        </p:txBody>
      </p:sp>
      <p:sp>
        <p:nvSpPr>
          <p:cNvPr id="60" name="Shape 58"/>
          <p:cNvSpPr/>
          <p:nvPr/>
        </p:nvSpPr>
        <p:spPr>
          <a:xfrm>
            <a:off x="4160520" y="4956048"/>
            <a:ext cx="274320" cy="274320"/>
          </a:xfrm>
          <a:prstGeom prst="rect">
            <a:avLst/>
          </a:prstGeom>
          <a:solidFill>
            <a:srgbClr val="1A3A5C"/>
          </a:solidFill>
          <a:ln w="12700">
            <a:solidFill>
              <a:srgbClr val="1A3A5C"/>
            </a:solidFill>
            <a:prstDash val="solid"/>
          </a:ln>
        </p:spPr>
        <p:txBody>
          <a:bodyPr/>
          <a:lstStyle/>
          <a:p>
            <a:endParaRPr lang="fr-FR"/>
          </a:p>
        </p:txBody>
      </p:sp>
      <p:sp>
        <p:nvSpPr>
          <p:cNvPr id="61" name="Text 59"/>
          <p:cNvSpPr/>
          <p:nvPr/>
        </p:nvSpPr>
        <p:spPr>
          <a:xfrm>
            <a:off x="4160520" y="4956048"/>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39</a:t>
            </a:r>
            <a:endParaRPr lang="en-US" sz="900" dirty="0"/>
          </a:p>
        </p:txBody>
      </p:sp>
      <p:sp>
        <p:nvSpPr>
          <p:cNvPr id="62" name="Shape 60"/>
          <p:cNvSpPr/>
          <p:nvPr/>
        </p:nvSpPr>
        <p:spPr>
          <a:xfrm>
            <a:off x="274320" y="5376672"/>
            <a:ext cx="4206240" cy="429768"/>
          </a:xfrm>
          <a:prstGeom prst="rect">
            <a:avLst/>
          </a:prstGeom>
          <a:solidFill>
            <a:srgbClr val="E8F1FA"/>
          </a:solidFill>
          <a:ln w="6350">
            <a:solidFill>
              <a:srgbClr val="DDE6F0"/>
            </a:solidFill>
            <a:prstDash val="solid"/>
          </a:ln>
        </p:spPr>
        <p:txBody>
          <a:bodyPr/>
          <a:lstStyle/>
          <a:p>
            <a:endParaRPr lang="fr-FR"/>
          </a:p>
        </p:txBody>
      </p:sp>
      <p:sp>
        <p:nvSpPr>
          <p:cNvPr id="63" name="Shape 61"/>
          <p:cNvSpPr/>
          <p:nvPr/>
        </p:nvSpPr>
        <p:spPr>
          <a:xfrm>
            <a:off x="274320" y="5376672"/>
            <a:ext cx="384048" cy="429768"/>
          </a:xfrm>
          <a:prstGeom prst="rect">
            <a:avLst/>
          </a:prstGeom>
          <a:solidFill>
            <a:srgbClr val="1A3A5C"/>
          </a:solidFill>
          <a:ln w="12700">
            <a:solidFill>
              <a:srgbClr val="1A3A5C"/>
            </a:solidFill>
            <a:prstDash val="solid"/>
          </a:ln>
        </p:spPr>
        <p:txBody>
          <a:bodyPr/>
          <a:lstStyle/>
          <a:p>
            <a:endParaRPr lang="fr-FR"/>
          </a:p>
        </p:txBody>
      </p:sp>
      <p:sp>
        <p:nvSpPr>
          <p:cNvPr id="64" name="Text 62"/>
          <p:cNvSpPr/>
          <p:nvPr/>
        </p:nvSpPr>
        <p:spPr>
          <a:xfrm>
            <a:off x="274320" y="5376672"/>
            <a:ext cx="384048" cy="42976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65" name="Text 63"/>
          <p:cNvSpPr/>
          <p:nvPr/>
        </p:nvSpPr>
        <p:spPr>
          <a:xfrm>
            <a:off x="731520" y="5422392"/>
            <a:ext cx="3108960" cy="329184"/>
          </a:xfrm>
          <a:prstGeom prst="rect">
            <a:avLst/>
          </a:prstGeom>
          <a:noFill/>
          <a:ln/>
        </p:spPr>
        <p:txBody>
          <a:bodyPr wrap="square" rtlCol="0" anchor="ctr"/>
          <a:lstStyle/>
          <a:p>
            <a:pPr marL="0" indent="0">
              <a:buNone/>
            </a:pPr>
            <a:r>
              <a:rPr lang="en-US" sz="1050" b="1" dirty="0">
                <a:solidFill>
                  <a:srgbClr val="3A3A3A"/>
                </a:solidFill>
                <a:latin typeface="Calibri" pitchFamily="34" charset="0"/>
                <a:ea typeface="Calibri" pitchFamily="34" charset="-122"/>
                <a:cs typeface="Calibri" pitchFamily="34" charset="-120"/>
              </a:rPr>
              <a:t>Formation continue et visite médicale</a:t>
            </a:r>
            <a:endParaRPr lang="en-US" sz="1050" dirty="0"/>
          </a:p>
        </p:txBody>
      </p:sp>
      <p:sp>
        <p:nvSpPr>
          <p:cNvPr id="66" name="Shape 64"/>
          <p:cNvSpPr/>
          <p:nvPr/>
        </p:nvSpPr>
        <p:spPr>
          <a:xfrm>
            <a:off x="4160520" y="5449824"/>
            <a:ext cx="274320" cy="274320"/>
          </a:xfrm>
          <a:prstGeom prst="rect">
            <a:avLst/>
          </a:prstGeom>
          <a:solidFill>
            <a:srgbClr val="1A3A5C"/>
          </a:solidFill>
          <a:ln w="12700">
            <a:solidFill>
              <a:srgbClr val="1A3A5C"/>
            </a:solidFill>
            <a:prstDash val="solid"/>
          </a:ln>
        </p:spPr>
        <p:txBody>
          <a:bodyPr/>
          <a:lstStyle/>
          <a:p>
            <a:endParaRPr lang="fr-FR"/>
          </a:p>
        </p:txBody>
      </p:sp>
      <p:sp>
        <p:nvSpPr>
          <p:cNvPr id="67" name="Text 65"/>
          <p:cNvSpPr/>
          <p:nvPr/>
        </p:nvSpPr>
        <p:spPr>
          <a:xfrm>
            <a:off x="4160520" y="5449824"/>
            <a:ext cx="274320" cy="27432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1. Transport public ou transport privé ?</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Comprendre la classification fondamentale du transport de personnes</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3/88</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Transport public ou transport privé ?</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4/88</a:t>
            </a:r>
            <a:endParaRPr lang="en-US" sz="800" dirty="0"/>
          </a:p>
        </p:txBody>
      </p:sp>
      <p:sp>
        <p:nvSpPr>
          <p:cNvPr id="8" name="Text 6"/>
          <p:cNvSpPr/>
          <p:nvPr/>
        </p:nvSpPr>
        <p:spPr>
          <a:xfrm>
            <a:off x="274320" y="914400"/>
            <a:ext cx="8595360" cy="502920"/>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Avant d'aborder la réglementation des taxis et des VTC, il est indispensable de comprendre comment le transport de personnes est classifié en France. Cette distinction détermine quelles règles s'appliquent et qui a besoin d'une carte professionnelle.</a:t>
            </a:r>
            <a:endParaRPr lang="en-US" sz="1200" dirty="0"/>
          </a:p>
        </p:txBody>
      </p:sp>
      <p:sp>
        <p:nvSpPr>
          <p:cNvPr id="9" name="Shape 7"/>
          <p:cNvSpPr/>
          <p:nvPr/>
        </p:nvSpPr>
        <p:spPr>
          <a:xfrm>
            <a:off x="274320" y="1481328"/>
            <a:ext cx="4160520" cy="160020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0" name="Shape 8"/>
          <p:cNvSpPr/>
          <p:nvPr/>
        </p:nvSpPr>
        <p:spPr>
          <a:xfrm>
            <a:off x="274320" y="1481328"/>
            <a:ext cx="4160520" cy="301752"/>
          </a:xfrm>
          <a:prstGeom prst="rect">
            <a:avLst/>
          </a:prstGeom>
          <a:solidFill>
            <a:srgbClr val="2860A8"/>
          </a:solidFill>
          <a:ln w="12700">
            <a:solidFill>
              <a:srgbClr val="2860A8"/>
            </a:solidFill>
            <a:prstDash val="solid"/>
          </a:ln>
        </p:spPr>
        <p:txBody>
          <a:bodyPr/>
          <a:lstStyle/>
          <a:p>
            <a:endParaRPr lang="fr-FR"/>
          </a:p>
        </p:txBody>
      </p:sp>
      <p:sp>
        <p:nvSpPr>
          <p:cNvPr id="11" name="Text 9"/>
          <p:cNvSpPr/>
          <p:nvPr/>
        </p:nvSpPr>
        <p:spPr>
          <a:xfrm>
            <a:off x="365760" y="148132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TRANSPORT PRIVÉ — Pour compte propre</a:t>
            </a:r>
            <a:endParaRPr lang="en-US" sz="1050" dirty="0"/>
          </a:p>
        </p:txBody>
      </p:sp>
      <p:sp>
        <p:nvSpPr>
          <p:cNvPr id="12" name="Text 10"/>
          <p:cNvSpPr/>
          <p:nvPr/>
        </p:nvSpPr>
        <p:spPr>
          <a:xfrm>
            <a:off x="384048" y="1828800"/>
            <a:ext cx="3977640" cy="120700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Transport pour son propre compte, sans ouvrir le service au public.</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Aucune autorisation administrative spécifique n'est requise.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de carte professionnelle T3P nécessaire.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Exemple : entreprise avec son propre minibus pour ses salariés.</a:t>
            </a:r>
            <a:endParaRPr lang="en-US" sz="1000" dirty="0"/>
          </a:p>
        </p:txBody>
      </p:sp>
      <p:sp>
        <p:nvSpPr>
          <p:cNvPr id="13" name="Shape 11"/>
          <p:cNvSpPr/>
          <p:nvPr/>
        </p:nvSpPr>
        <p:spPr>
          <a:xfrm>
            <a:off x="4709160" y="1481328"/>
            <a:ext cx="4160520" cy="160020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4" name="Shape 12"/>
          <p:cNvSpPr/>
          <p:nvPr/>
        </p:nvSpPr>
        <p:spPr>
          <a:xfrm>
            <a:off x="4709160" y="1481328"/>
            <a:ext cx="4160520" cy="301752"/>
          </a:xfrm>
          <a:prstGeom prst="rect">
            <a:avLst/>
          </a:prstGeom>
          <a:solidFill>
            <a:srgbClr val="1A3A5C"/>
          </a:solidFill>
          <a:ln w="12700">
            <a:solidFill>
              <a:srgbClr val="1A3A5C"/>
            </a:solidFill>
            <a:prstDash val="solid"/>
          </a:ln>
        </p:spPr>
        <p:txBody>
          <a:bodyPr/>
          <a:lstStyle/>
          <a:p>
            <a:endParaRPr lang="fr-FR"/>
          </a:p>
        </p:txBody>
      </p:sp>
      <p:sp>
        <p:nvSpPr>
          <p:cNvPr id="15" name="Text 13"/>
          <p:cNvSpPr/>
          <p:nvPr/>
        </p:nvSpPr>
        <p:spPr>
          <a:xfrm>
            <a:off x="4800600" y="148132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TRANSPORT PUBLIC — Pour compte d'autrui</a:t>
            </a:r>
            <a:endParaRPr lang="en-US" sz="1050" dirty="0"/>
          </a:p>
        </p:txBody>
      </p:sp>
      <p:sp>
        <p:nvSpPr>
          <p:cNvPr id="16" name="Text 14"/>
          <p:cNvSpPr/>
          <p:nvPr/>
        </p:nvSpPr>
        <p:spPr>
          <a:xfrm>
            <a:off x="4818888" y="1828800"/>
            <a:ext cx="3977640" cy="120700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Transport pour un CLIENT, contre rémunération.</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Service ouvert à quiconque souhaite l'utiliser.</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Des autorisations administratives sont nécessaires.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Exemple : école commandant un car, client appelant un taxi.</a:t>
            </a:r>
            <a:endParaRPr lang="en-US" sz="1000" dirty="0"/>
          </a:p>
        </p:txBody>
      </p:sp>
      <p:sp>
        <p:nvSpPr>
          <p:cNvPr id="17" name="Shape 15"/>
          <p:cNvSpPr/>
          <p:nvPr/>
        </p:nvSpPr>
        <p:spPr>
          <a:xfrm>
            <a:off x="274320" y="3172968"/>
            <a:ext cx="8595360" cy="411480"/>
          </a:xfrm>
          <a:prstGeom prst="rect">
            <a:avLst/>
          </a:prstGeom>
          <a:solidFill>
            <a:srgbClr val="EDF7EE"/>
          </a:solidFill>
          <a:ln w="19050">
            <a:solidFill>
              <a:srgbClr val="2E7D32"/>
            </a:solidFill>
            <a:prstDash val="solid"/>
          </a:ln>
        </p:spPr>
        <p:txBody>
          <a:bodyPr/>
          <a:lstStyle/>
          <a:p>
            <a:endParaRPr lang="fr-FR"/>
          </a:p>
        </p:txBody>
      </p:sp>
      <p:sp>
        <p:nvSpPr>
          <p:cNvPr id="18" name="Shape 16"/>
          <p:cNvSpPr/>
          <p:nvPr/>
        </p:nvSpPr>
        <p:spPr>
          <a:xfrm>
            <a:off x="274320" y="3172968"/>
            <a:ext cx="54864" cy="411480"/>
          </a:xfrm>
          <a:prstGeom prst="rect">
            <a:avLst/>
          </a:prstGeom>
          <a:solidFill>
            <a:srgbClr val="2E7D32"/>
          </a:solidFill>
          <a:ln w="12700">
            <a:solidFill>
              <a:srgbClr val="2E7D32"/>
            </a:solidFill>
            <a:prstDash val="solid"/>
          </a:ln>
        </p:spPr>
        <p:txBody>
          <a:bodyPr/>
          <a:lstStyle/>
          <a:p>
            <a:endParaRPr lang="fr-FR"/>
          </a:p>
        </p:txBody>
      </p:sp>
      <p:sp>
        <p:nvSpPr>
          <p:cNvPr id="19" name="Text 17"/>
          <p:cNvSpPr/>
          <p:nvPr/>
        </p:nvSpPr>
        <p:spPr>
          <a:xfrm>
            <a:off x="384048" y="3172968"/>
            <a:ext cx="8467344" cy="411480"/>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Règle clé : TRANSPORT PRIVÉ = pour soi-même, pas de carte pro. TRANSPORT PUBLIC = pour un client, contre paiement = réglementation obligatoire.</a:t>
            </a:r>
            <a:endParaRPr lang="en-US" sz="1000" dirty="0"/>
          </a:p>
        </p:txBody>
      </p:sp>
      <p:sp>
        <p:nvSpPr>
          <p:cNvPr id="20" name="Text 18"/>
          <p:cNvSpPr/>
          <p:nvPr/>
        </p:nvSpPr>
        <p:spPr>
          <a:xfrm>
            <a:off x="274320" y="3648456"/>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Les 2 grandes catégories :</a:t>
            </a:r>
            <a:endParaRPr lang="en-US" sz="1200" dirty="0"/>
          </a:p>
        </p:txBody>
      </p:sp>
      <p:sp>
        <p:nvSpPr>
          <p:cNvPr id="21" name="Shape 19"/>
          <p:cNvSpPr/>
          <p:nvPr/>
        </p:nvSpPr>
        <p:spPr>
          <a:xfrm>
            <a:off x="274320" y="3931920"/>
            <a:ext cx="4160520" cy="658368"/>
          </a:xfrm>
          <a:prstGeom prst="rect">
            <a:avLst/>
          </a:prstGeom>
          <a:solidFill>
            <a:srgbClr val="2860A8"/>
          </a:solidFill>
          <a:ln w="12700">
            <a:solidFill>
              <a:srgbClr val="2860A8"/>
            </a:solidFill>
            <a:prstDash val="solid"/>
          </a:ln>
        </p:spPr>
        <p:txBody>
          <a:bodyPr/>
          <a:lstStyle/>
          <a:p>
            <a:endParaRPr lang="fr-FR"/>
          </a:p>
        </p:txBody>
      </p:sp>
      <p:sp>
        <p:nvSpPr>
          <p:cNvPr id="22" name="Text 20"/>
          <p:cNvSpPr/>
          <p:nvPr/>
        </p:nvSpPr>
        <p:spPr>
          <a:xfrm>
            <a:off x="274320" y="3931920"/>
            <a:ext cx="4160520" cy="65836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TRANSPORT PUBLIC</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(rémunéré — pour autrui)</a:t>
            </a:r>
            <a:endParaRPr lang="en-US" sz="1200" dirty="0"/>
          </a:p>
        </p:txBody>
      </p:sp>
      <p:sp>
        <p:nvSpPr>
          <p:cNvPr id="23" name="Shape 21"/>
          <p:cNvSpPr/>
          <p:nvPr/>
        </p:nvSpPr>
        <p:spPr>
          <a:xfrm>
            <a:off x="4709160" y="3931920"/>
            <a:ext cx="4160520" cy="658368"/>
          </a:xfrm>
          <a:prstGeom prst="rect">
            <a:avLst/>
          </a:prstGeom>
          <a:solidFill>
            <a:srgbClr val="1A3A5C"/>
          </a:solidFill>
          <a:ln w="12700">
            <a:solidFill>
              <a:srgbClr val="1A3A5C"/>
            </a:solidFill>
            <a:prstDash val="solid"/>
          </a:ln>
        </p:spPr>
        <p:txBody>
          <a:bodyPr/>
          <a:lstStyle/>
          <a:p>
            <a:endParaRPr lang="fr-FR"/>
          </a:p>
        </p:txBody>
      </p:sp>
      <p:sp>
        <p:nvSpPr>
          <p:cNvPr id="24" name="Text 22"/>
          <p:cNvSpPr/>
          <p:nvPr/>
        </p:nvSpPr>
        <p:spPr>
          <a:xfrm>
            <a:off x="4709160" y="3931920"/>
            <a:ext cx="4160520" cy="658368"/>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TRANSPORT PRIVÉ</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(non rémunéré — pour soi)</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Le transport public — Deux grandes familles</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5/88</a:t>
            </a:r>
            <a:endParaRPr lang="en-US" sz="800" dirty="0"/>
          </a:p>
        </p:txBody>
      </p:sp>
      <p:sp>
        <p:nvSpPr>
          <p:cNvPr id="8" name="Text 6"/>
          <p:cNvSpPr/>
          <p:nvPr/>
        </p:nvSpPr>
        <p:spPr>
          <a:xfrm>
            <a:off x="274320" y="914400"/>
            <a:ext cx="8595360" cy="438912"/>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transport PUBLIC se divise en deux grandes catégories. La distinction est fondamentale : elle détermine si vous avez besoin d'une carte professionnelle T3P ou non.</a:t>
            </a:r>
            <a:endParaRPr lang="en-US" sz="1200" dirty="0"/>
          </a:p>
        </p:txBody>
      </p:sp>
      <p:sp>
        <p:nvSpPr>
          <p:cNvPr id="9" name="Shape 7"/>
          <p:cNvSpPr/>
          <p:nvPr/>
        </p:nvSpPr>
        <p:spPr>
          <a:xfrm>
            <a:off x="3383280" y="1417320"/>
            <a:ext cx="2377440" cy="384048"/>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3383280" y="1417320"/>
            <a:ext cx="2377440" cy="384048"/>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TRANSPORT PUBLIC</a:t>
            </a:r>
            <a:endParaRPr lang="en-US" sz="1100" dirty="0"/>
          </a:p>
        </p:txBody>
      </p:sp>
      <p:sp>
        <p:nvSpPr>
          <p:cNvPr id="11" name="Shape 9"/>
          <p:cNvSpPr/>
          <p:nvPr/>
        </p:nvSpPr>
        <p:spPr>
          <a:xfrm>
            <a:off x="4572000" y="1801368"/>
            <a:ext cx="0" cy="256032"/>
          </a:xfrm>
          <a:prstGeom prst="line">
            <a:avLst/>
          </a:prstGeom>
          <a:noFill/>
          <a:ln w="25400">
            <a:solidFill>
              <a:srgbClr val="2860A8"/>
            </a:solidFill>
            <a:prstDash val="solid"/>
          </a:ln>
        </p:spPr>
        <p:txBody>
          <a:bodyPr/>
          <a:lstStyle/>
          <a:p>
            <a:endParaRPr lang="fr-FR"/>
          </a:p>
        </p:txBody>
      </p:sp>
      <p:sp>
        <p:nvSpPr>
          <p:cNvPr id="12" name="Shape 10"/>
          <p:cNvSpPr/>
          <p:nvPr/>
        </p:nvSpPr>
        <p:spPr>
          <a:xfrm>
            <a:off x="2057400" y="2057400"/>
            <a:ext cx="5029200" cy="0"/>
          </a:xfrm>
          <a:prstGeom prst="line">
            <a:avLst/>
          </a:prstGeom>
          <a:noFill/>
          <a:ln w="25400">
            <a:solidFill>
              <a:srgbClr val="2860A8"/>
            </a:solidFill>
            <a:prstDash val="solid"/>
          </a:ln>
        </p:spPr>
        <p:txBody>
          <a:bodyPr/>
          <a:lstStyle/>
          <a:p>
            <a:endParaRPr lang="fr-FR"/>
          </a:p>
        </p:txBody>
      </p:sp>
      <p:sp>
        <p:nvSpPr>
          <p:cNvPr id="13" name="Shape 11"/>
          <p:cNvSpPr/>
          <p:nvPr/>
        </p:nvSpPr>
        <p:spPr>
          <a:xfrm>
            <a:off x="2057400" y="2057400"/>
            <a:ext cx="0" cy="201168"/>
          </a:xfrm>
          <a:prstGeom prst="line">
            <a:avLst/>
          </a:prstGeom>
          <a:noFill/>
          <a:ln w="25400">
            <a:solidFill>
              <a:srgbClr val="2860A8"/>
            </a:solidFill>
            <a:prstDash val="solid"/>
          </a:ln>
        </p:spPr>
        <p:txBody>
          <a:bodyPr/>
          <a:lstStyle/>
          <a:p>
            <a:endParaRPr lang="fr-FR"/>
          </a:p>
        </p:txBody>
      </p:sp>
      <p:sp>
        <p:nvSpPr>
          <p:cNvPr id="14" name="Shape 12"/>
          <p:cNvSpPr/>
          <p:nvPr/>
        </p:nvSpPr>
        <p:spPr>
          <a:xfrm>
            <a:off x="7086600" y="2057400"/>
            <a:ext cx="0" cy="201168"/>
          </a:xfrm>
          <a:prstGeom prst="line">
            <a:avLst/>
          </a:prstGeom>
          <a:noFill/>
          <a:ln w="25400">
            <a:solidFill>
              <a:srgbClr val="2860A8"/>
            </a:solidFill>
            <a:prstDash val="solid"/>
          </a:ln>
        </p:spPr>
        <p:txBody>
          <a:bodyPr/>
          <a:lstStyle/>
          <a:p>
            <a:endParaRPr lang="fr-FR"/>
          </a:p>
        </p:txBody>
      </p:sp>
      <p:sp>
        <p:nvSpPr>
          <p:cNvPr id="15" name="Shape 13"/>
          <p:cNvSpPr/>
          <p:nvPr/>
        </p:nvSpPr>
        <p:spPr>
          <a:xfrm>
            <a:off x="274320" y="2258568"/>
            <a:ext cx="3566160" cy="384048"/>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274320" y="2258568"/>
            <a:ext cx="3566160" cy="384048"/>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TRANSPORT PUBLIC COLLECTIF</a:t>
            </a:r>
            <a:endParaRPr lang="en-US" sz="1050" dirty="0"/>
          </a:p>
        </p:txBody>
      </p:sp>
      <p:sp>
        <p:nvSpPr>
          <p:cNvPr id="17" name="Shape 15"/>
          <p:cNvSpPr/>
          <p:nvPr/>
        </p:nvSpPr>
        <p:spPr>
          <a:xfrm>
            <a:off x="822960" y="2468880"/>
            <a:ext cx="0" cy="274320"/>
          </a:xfrm>
          <a:prstGeom prst="line">
            <a:avLst/>
          </a:prstGeom>
          <a:noFill/>
          <a:ln w="19050">
            <a:solidFill>
              <a:srgbClr val="2860A8"/>
            </a:solidFill>
            <a:prstDash val="solid"/>
          </a:ln>
        </p:spPr>
        <p:txBody>
          <a:bodyPr/>
          <a:lstStyle/>
          <a:p>
            <a:endParaRPr lang="fr-FR"/>
          </a:p>
        </p:txBody>
      </p:sp>
      <p:sp>
        <p:nvSpPr>
          <p:cNvPr id="18" name="Shape 16"/>
          <p:cNvSpPr/>
          <p:nvPr/>
        </p:nvSpPr>
        <p:spPr>
          <a:xfrm>
            <a:off x="274320" y="2743200"/>
            <a:ext cx="1097280" cy="1005840"/>
          </a:xfrm>
          <a:prstGeom prst="rect">
            <a:avLst/>
          </a:prstGeom>
          <a:solidFill>
            <a:srgbClr val="2860A8"/>
          </a:solidFill>
          <a:ln w="12700">
            <a:solidFill>
              <a:srgbClr val="2860A8"/>
            </a:solidFill>
            <a:prstDash val="solid"/>
          </a:ln>
        </p:spPr>
        <p:txBody>
          <a:bodyPr/>
          <a:lstStyle/>
          <a:p>
            <a:endParaRPr lang="fr-FR"/>
          </a:p>
        </p:txBody>
      </p:sp>
      <p:sp>
        <p:nvSpPr>
          <p:cNvPr id="19" name="Text 17"/>
          <p:cNvSpPr/>
          <p:nvPr/>
        </p:nvSpPr>
        <p:spPr>
          <a:xfrm>
            <a:off x="27432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Services réguliers</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Bus TCL, métro, TER</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Horaires et lignes FIXES</a:t>
            </a:r>
            <a:endParaRPr lang="en-US" sz="850" dirty="0"/>
          </a:p>
        </p:txBody>
      </p:sp>
      <p:sp>
        <p:nvSpPr>
          <p:cNvPr id="20" name="Shape 18"/>
          <p:cNvSpPr/>
          <p:nvPr/>
        </p:nvSpPr>
        <p:spPr>
          <a:xfrm>
            <a:off x="1874520" y="2468880"/>
            <a:ext cx="0" cy="274320"/>
          </a:xfrm>
          <a:prstGeom prst="line">
            <a:avLst/>
          </a:prstGeom>
          <a:noFill/>
          <a:ln w="19050">
            <a:solidFill>
              <a:srgbClr val="2E86C1"/>
            </a:solidFill>
            <a:prstDash val="solid"/>
          </a:ln>
        </p:spPr>
        <p:txBody>
          <a:bodyPr/>
          <a:lstStyle/>
          <a:p>
            <a:endParaRPr lang="fr-FR"/>
          </a:p>
        </p:txBody>
      </p:sp>
      <p:sp>
        <p:nvSpPr>
          <p:cNvPr id="21" name="Shape 19"/>
          <p:cNvSpPr/>
          <p:nvPr/>
        </p:nvSpPr>
        <p:spPr>
          <a:xfrm>
            <a:off x="1325880" y="2743200"/>
            <a:ext cx="1097280" cy="1005840"/>
          </a:xfrm>
          <a:prstGeom prst="rect">
            <a:avLst/>
          </a:prstGeom>
          <a:solidFill>
            <a:srgbClr val="2E86C1"/>
          </a:solidFill>
          <a:ln w="12700">
            <a:solidFill>
              <a:srgbClr val="2E86C1"/>
            </a:solidFill>
            <a:prstDash val="solid"/>
          </a:ln>
        </p:spPr>
        <p:txBody>
          <a:bodyPr/>
          <a:lstStyle/>
          <a:p>
            <a:endParaRPr lang="fr-FR"/>
          </a:p>
        </p:txBody>
      </p:sp>
      <p:sp>
        <p:nvSpPr>
          <p:cNvPr id="22" name="Text 20"/>
          <p:cNvSpPr/>
          <p:nvPr/>
        </p:nvSpPr>
        <p:spPr>
          <a:xfrm>
            <a:off x="132588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Services à la demande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Transport flexible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Selon réservations usagers</a:t>
            </a:r>
            <a:endParaRPr lang="en-US" sz="850" dirty="0"/>
          </a:p>
        </p:txBody>
      </p:sp>
      <p:sp>
        <p:nvSpPr>
          <p:cNvPr id="23" name="Shape 21"/>
          <p:cNvSpPr/>
          <p:nvPr/>
        </p:nvSpPr>
        <p:spPr>
          <a:xfrm>
            <a:off x="2926080" y="2468880"/>
            <a:ext cx="0" cy="274320"/>
          </a:xfrm>
          <a:prstGeom prst="line">
            <a:avLst/>
          </a:prstGeom>
          <a:noFill/>
          <a:ln w="19050">
            <a:solidFill>
              <a:srgbClr val="1A5276"/>
            </a:solidFill>
            <a:prstDash val="solid"/>
          </a:ln>
        </p:spPr>
        <p:txBody>
          <a:bodyPr/>
          <a:lstStyle/>
          <a:p>
            <a:endParaRPr lang="fr-FR"/>
          </a:p>
        </p:txBody>
      </p:sp>
      <p:sp>
        <p:nvSpPr>
          <p:cNvPr id="24" name="Shape 22"/>
          <p:cNvSpPr/>
          <p:nvPr/>
        </p:nvSpPr>
        <p:spPr>
          <a:xfrm>
            <a:off x="2377440" y="2743200"/>
            <a:ext cx="1097280" cy="1005840"/>
          </a:xfrm>
          <a:prstGeom prst="rect">
            <a:avLst/>
          </a:prstGeom>
          <a:solidFill>
            <a:srgbClr val="1A5276"/>
          </a:solidFill>
          <a:ln w="12700">
            <a:solidFill>
              <a:srgbClr val="1A5276"/>
            </a:solidFill>
            <a:prstDash val="solid"/>
          </a:ln>
        </p:spPr>
        <p:txBody>
          <a:bodyPr/>
          <a:lstStyle/>
          <a:p>
            <a:endParaRPr lang="fr-FR"/>
          </a:p>
        </p:txBody>
      </p:sp>
      <p:sp>
        <p:nvSpPr>
          <p:cNvPr id="25" name="Text 23"/>
          <p:cNvSpPr/>
          <p:nvPr/>
        </p:nvSpPr>
        <p:spPr>
          <a:xfrm>
            <a:off x="237744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Services occasionnels</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Cars tourisme, sorties</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Groupes — billet collectif</a:t>
            </a:r>
            <a:endParaRPr lang="en-US" sz="850" dirty="0"/>
          </a:p>
        </p:txBody>
      </p:sp>
      <p:sp>
        <p:nvSpPr>
          <p:cNvPr id="26" name="Shape 24"/>
          <p:cNvSpPr/>
          <p:nvPr/>
        </p:nvSpPr>
        <p:spPr>
          <a:xfrm>
            <a:off x="5303520" y="2258568"/>
            <a:ext cx="3566160" cy="384048"/>
          </a:xfrm>
          <a:prstGeom prst="rect">
            <a:avLst/>
          </a:prstGeom>
          <a:solidFill>
            <a:srgbClr val="F4A227"/>
          </a:solidFill>
          <a:ln w="12700">
            <a:solidFill>
              <a:srgbClr val="F4A227"/>
            </a:solidFill>
            <a:prstDash val="solid"/>
          </a:ln>
        </p:spPr>
        <p:txBody>
          <a:bodyPr/>
          <a:lstStyle/>
          <a:p>
            <a:endParaRPr lang="fr-FR"/>
          </a:p>
        </p:txBody>
      </p:sp>
      <p:sp>
        <p:nvSpPr>
          <p:cNvPr id="27" name="Text 25"/>
          <p:cNvSpPr/>
          <p:nvPr/>
        </p:nvSpPr>
        <p:spPr>
          <a:xfrm>
            <a:off x="5303520" y="2258568"/>
            <a:ext cx="3566160" cy="38404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TRANSPORT PUBLIC PARTICULIER (T3P)</a:t>
            </a:r>
            <a:endParaRPr lang="en-US" sz="1000" dirty="0"/>
          </a:p>
        </p:txBody>
      </p:sp>
      <p:sp>
        <p:nvSpPr>
          <p:cNvPr id="28" name="Shape 26"/>
          <p:cNvSpPr/>
          <p:nvPr/>
        </p:nvSpPr>
        <p:spPr>
          <a:xfrm>
            <a:off x="5852160" y="2468880"/>
            <a:ext cx="0" cy="274320"/>
          </a:xfrm>
          <a:prstGeom prst="line">
            <a:avLst/>
          </a:prstGeom>
          <a:noFill/>
          <a:ln w="19050">
            <a:solidFill>
              <a:srgbClr val="1A3A5C"/>
            </a:solidFill>
            <a:prstDash val="solid"/>
          </a:ln>
        </p:spPr>
        <p:txBody>
          <a:bodyPr/>
          <a:lstStyle/>
          <a:p>
            <a:endParaRPr lang="fr-FR"/>
          </a:p>
        </p:txBody>
      </p:sp>
      <p:sp>
        <p:nvSpPr>
          <p:cNvPr id="29" name="Shape 27"/>
          <p:cNvSpPr/>
          <p:nvPr/>
        </p:nvSpPr>
        <p:spPr>
          <a:xfrm>
            <a:off x="5303520" y="2743200"/>
            <a:ext cx="1097280" cy="1005840"/>
          </a:xfrm>
          <a:prstGeom prst="rect">
            <a:avLst/>
          </a:prstGeom>
          <a:solidFill>
            <a:srgbClr val="1A3A5C"/>
          </a:solidFill>
          <a:ln w="12700">
            <a:solidFill>
              <a:srgbClr val="1A3A5C"/>
            </a:solidFill>
            <a:prstDash val="solid"/>
          </a:ln>
        </p:spPr>
        <p:txBody>
          <a:bodyPr/>
          <a:lstStyle/>
          <a:p>
            <a:endParaRPr lang="fr-FR"/>
          </a:p>
        </p:txBody>
      </p:sp>
      <p:sp>
        <p:nvSpPr>
          <p:cNvPr id="30" name="Text 28"/>
          <p:cNvSpPr/>
          <p:nvPr/>
        </p:nvSpPr>
        <p:spPr>
          <a:xfrm>
            <a:off x="530352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 TAXI</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Maraude dans la zone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ADS obligatoire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Tarif réglementé</a:t>
            </a:r>
            <a:endParaRPr lang="en-US" sz="850" dirty="0"/>
          </a:p>
        </p:txBody>
      </p:sp>
      <p:sp>
        <p:nvSpPr>
          <p:cNvPr id="31" name="Shape 29"/>
          <p:cNvSpPr/>
          <p:nvPr/>
        </p:nvSpPr>
        <p:spPr>
          <a:xfrm>
            <a:off x="6949440" y="2468880"/>
            <a:ext cx="0" cy="274320"/>
          </a:xfrm>
          <a:prstGeom prst="line">
            <a:avLst/>
          </a:prstGeom>
          <a:noFill/>
          <a:ln w="19050">
            <a:solidFill>
              <a:srgbClr val="0D5FA8"/>
            </a:solidFill>
            <a:prstDash val="solid"/>
          </a:ln>
        </p:spPr>
        <p:txBody>
          <a:bodyPr/>
          <a:lstStyle/>
          <a:p>
            <a:endParaRPr lang="fr-FR"/>
          </a:p>
        </p:txBody>
      </p:sp>
      <p:sp>
        <p:nvSpPr>
          <p:cNvPr id="32" name="Shape 30"/>
          <p:cNvSpPr/>
          <p:nvPr/>
        </p:nvSpPr>
        <p:spPr>
          <a:xfrm>
            <a:off x="6400800" y="2743200"/>
            <a:ext cx="1097280" cy="1005840"/>
          </a:xfrm>
          <a:prstGeom prst="rect">
            <a:avLst/>
          </a:prstGeom>
          <a:solidFill>
            <a:srgbClr val="0D5FA8"/>
          </a:solidFill>
          <a:ln w="12700">
            <a:solidFill>
              <a:srgbClr val="0D5FA8"/>
            </a:solidFill>
            <a:prstDash val="solid"/>
          </a:ln>
        </p:spPr>
        <p:txBody>
          <a:bodyPr/>
          <a:lstStyle/>
          <a:p>
            <a:endParaRPr lang="fr-FR"/>
          </a:p>
        </p:txBody>
      </p:sp>
      <p:sp>
        <p:nvSpPr>
          <p:cNvPr id="33" name="Text 31"/>
          <p:cNvSpPr/>
          <p:nvPr/>
        </p:nvSpPr>
        <p:spPr>
          <a:xfrm>
            <a:off x="640080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 VTC</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Réservation obligatoire</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Registre national</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Tarif libre</a:t>
            </a:r>
            <a:endParaRPr lang="en-US" sz="850" dirty="0"/>
          </a:p>
        </p:txBody>
      </p:sp>
      <p:sp>
        <p:nvSpPr>
          <p:cNvPr id="34" name="Shape 32"/>
          <p:cNvSpPr/>
          <p:nvPr/>
        </p:nvSpPr>
        <p:spPr>
          <a:xfrm>
            <a:off x="8046720" y="2468880"/>
            <a:ext cx="0" cy="274320"/>
          </a:xfrm>
          <a:prstGeom prst="line">
            <a:avLst/>
          </a:prstGeom>
          <a:noFill/>
          <a:ln w="19050">
            <a:solidFill>
              <a:srgbClr val="1A5276"/>
            </a:solidFill>
            <a:prstDash val="solid"/>
          </a:ln>
        </p:spPr>
        <p:txBody>
          <a:bodyPr/>
          <a:lstStyle/>
          <a:p>
            <a:endParaRPr lang="fr-FR"/>
          </a:p>
        </p:txBody>
      </p:sp>
      <p:sp>
        <p:nvSpPr>
          <p:cNvPr id="35" name="Shape 33"/>
          <p:cNvSpPr/>
          <p:nvPr/>
        </p:nvSpPr>
        <p:spPr>
          <a:xfrm>
            <a:off x="7498080" y="2743200"/>
            <a:ext cx="1097280" cy="1005840"/>
          </a:xfrm>
          <a:prstGeom prst="rect">
            <a:avLst/>
          </a:prstGeom>
          <a:solidFill>
            <a:srgbClr val="1A5276"/>
          </a:solidFill>
          <a:ln w="12700">
            <a:solidFill>
              <a:srgbClr val="1A5276"/>
            </a:solidFill>
            <a:prstDash val="solid"/>
          </a:ln>
        </p:spPr>
        <p:txBody>
          <a:bodyPr/>
          <a:lstStyle/>
          <a:p>
            <a:endParaRPr lang="fr-FR"/>
          </a:p>
        </p:txBody>
      </p:sp>
      <p:sp>
        <p:nvSpPr>
          <p:cNvPr id="36" name="Text 34"/>
          <p:cNvSpPr/>
          <p:nvPr/>
        </p:nvSpPr>
        <p:spPr>
          <a:xfrm>
            <a:off x="7498080" y="2743200"/>
            <a:ext cx="1097280" cy="1005840"/>
          </a:xfrm>
          <a:prstGeom prst="rect">
            <a:avLst/>
          </a:prstGeom>
          <a:noFill/>
          <a:ln/>
        </p:spPr>
        <p:txBody>
          <a:bodyPr wrap="square" rtlCol="0" anchor="ctr"/>
          <a:lstStyle/>
          <a:p>
            <a:pPr marL="0" indent="0" algn="ctr">
              <a:buNone/>
            </a:pPr>
            <a:r>
              <a:rPr lang="en-US" sz="850" dirty="0">
                <a:solidFill>
                  <a:srgbClr val="FFFFFF"/>
                </a:solidFill>
                <a:latin typeface="Calibri" pitchFamily="34" charset="0"/>
                <a:ea typeface="Calibri" pitchFamily="34" charset="-122"/>
                <a:cs typeface="Calibri" pitchFamily="34" charset="-120"/>
              </a:rPr>
              <a:t>🏍 VMDTR</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Moto/3-roues</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Max 1 passager</a:t>
            </a:r>
            <a:endParaRPr lang="en-US" sz="850" dirty="0"/>
          </a:p>
          <a:p>
            <a:pPr marL="0" indent="0" algn="ctr">
              <a:buNone/>
            </a:pPr>
            <a:r>
              <a:rPr lang="en-US" sz="850" dirty="0">
                <a:solidFill>
                  <a:srgbClr val="FFFFFF"/>
                </a:solidFill>
                <a:latin typeface="Calibri" pitchFamily="34" charset="0"/>
                <a:ea typeface="Calibri" pitchFamily="34" charset="-122"/>
                <a:cs typeface="Calibri" pitchFamily="34" charset="-120"/>
              </a:rPr>
              <a:t>Réservation obligatoire</a:t>
            </a:r>
            <a:endParaRPr lang="en-US" sz="850" dirty="0"/>
          </a:p>
        </p:txBody>
      </p:sp>
      <p:sp>
        <p:nvSpPr>
          <p:cNvPr id="37" name="Shape 35"/>
          <p:cNvSpPr/>
          <p:nvPr/>
        </p:nvSpPr>
        <p:spPr>
          <a:xfrm>
            <a:off x="274320" y="3858768"/>
            <a:ext cx="8595360" cy="384048"/>
          </a:xfrm>
          <a:prstGeom prst="rect">
            <a:avLst/>
          </a:prstGeom>
          <a:solidFill>
            <a:srgbClr val="EDF7EE"/>
          </a:solidFill>
          <a:ln w="19050">
            <a:solidFill>
              <a:srgbClr val="2E7D32"/>
            </a:solidFill>
            <a:prstDash val="solid"/>
          </a:ln>
        </p:spPr>
        <p:txBody>
          <a:bodyPr/>
          <a:lstStyle/>
          <a:p>
            <a:endParaRPr lang="fr-FR"/>
          </a:p>
        </p:txBody>
      </p:sp>
      <p:sp>
        <p:nvSpPr>
          <p:cNvPr id="38" name="Shape 36"/>
          <p:cNvSpPr/>
          <p:nvPr/>
        </p:nvSpPr>
        <p:spPr>
          <a:xfrm>
            <a:off x="274320" y="3858768"/>
            <a:ext cx="54864" cy="384048"/>
          </a:xfrm>
          <a:prstGeom prst="rect">
            <a:avLst/>
          </a:prstGeom>
          <a:solidFill>
            <a:srgbClr val="2E7D32"/>
          </a:solidFill>
          <a:ln w="12700">
            <a:solidFill>
              <a:srgbClr val="2E7D32"/>
            </a:solidFill>
            <a:prstDash val="solid"/>
          </a:ln>
        </p:spPr>
        <p:txBody>
          <a:bodyPr/>
          <a:lstStyle/>
          <a:p>
            <a:endParaRPr lang="fr-FR"/>
          </a:p>
        </p:txBody>
      </p:sp>
      <p:sp>
        <p:nvSpPr>
          <p:cNvPr id="39" name="Text 37"/>
          <p:cNvSpPr/>
          <p:nvPr/>
        </p:nvSpPr>
        <p:spPr>
          <a:xfrm>
            <a:off x="384048" y="3858768"/>
            <a:ext cx="8467344" cy="384048"/>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À retenir : Seul le transport PUBLIC PARTICULIER (T3P) nécessite une carte professionnelle. Taxi, VTC et VMDTR sont les 3 professions T3P.</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2.1 — Les services réguliers</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Dessertes urbaines et interurbaines à horaires et trajets fixes</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6/88</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services réguliers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Art. L3111-1 Code des transports — Loi 2015-990 du 6 août 2015</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7/88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Les services réguliers sont la forme la plus connue du transport collectif. Ce sont les lignes de bus, de métro, de tramway que vous empruntez au quotidien. Leur organisation est précisément définie par le Code des transports.</a:t>
            </a:r>
            <a:endParaRPr lang="en-US" sz="1200" dirty="0"/>
          </a:p>
        </p:txBody>
      </p:sp>
      <p:sp>
        <p:nvSpPr>
          <p:cNvPr id="10" name="Shape 8"/>
          <p:cNvSpPr/>
          <p:nvPr/>
        </p:nvSpPr>
        <p:spPr>
          <a:xfrm>
            <a:off x="274320" y="1627632"/>
            <a:ext cx="8595360" cy="148132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859536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DÉFINITION LÉGALE — Ce que dit le Code des transports</a:t>
            </a:r>
            <a:endParaRPr lang="en-US" sz="1050" dirty="0"/>
          </a:p>
        </p:txBody>
      </p:sp>
      <p:sp>
        <p:nvSpPr>
          <p:cNvPr id="13" name="Text 11"/>
          <p:cNvSpPr/>
          <p:nvPr/>
        </p:nvSpPr>
        <p:spPr>
          <a:xfrm>
            <a:off x="384048" y="1975104"/>
            <a:ext cx="8412480" cy="108813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Services collectifs offerts à la place, dont les ITINÉRAIRES, POINTS D'ARRÊT, HORAIRES, FRÉQUENCES et TARIFS sont fixés et publiés à l'avance.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Ils peuvent être URBAINS (en ville) ou EXTRA-URBAINS (entre villes). Les transports scolaires sont aussi des services réguliers.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Organisés par des collectivités locales (mairie, métropole, conseil général) en tant qu'Autorité Organisatrice de Mobilité (AOM).</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Depuis la loi 2015-990 du 6 août 2015 : liaisons interurbaines &gt; 100 km peuvent aussi être organisées sur INITIATIVE PRIVÉE (Flixbus, BlaBlaBus).</a:t>
            </a:r>
            <a:endParaRPr lang="en-US" sz="1000" dirty="0"/>
          </a:p>
        </p:txBody>
      </p:sp>
      <p:sp>
        <p:nvSpPr>
          <p:cNvPr id="14" name="Shape 12"/>
          <p:cNvSpPr/>
          <p:nvPr/>
        </p:nvSpPr>
        <p:spPr>
          <a:xfrm>
            <a:off x="274320" y="3127248"/>
            <a:ext cx="4160520" cy="162763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274320" y="3127248"/>
            <a:ext cx="4160520" cy="30175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365760" y="312724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EXEMPLES CONCRETS</a:t>
            </a:r>
            <a:endParaRPr lang="en-US" sz="1050" dirty="0"/>
          </a:p>
        </p:txBody>
      </p:sp>
      <p:sp>
        <p:nvSpPr>
          <p:cNvPr id="17" name="Text 15"/>
          <p:cNvSpPr/>
          <p:nvPr/>
        </p:nvSpPr>
        <p:spPr>
          <a:xfrm>
            <a:off x="384048" y="3474720"/>
            <a:ext cx="3977640" cy="123444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TCL Lyon : lignes de métro, tramway et bus avec horaires affichés.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RATP Paris : RER, métro, bus franciliens.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TER SNCF : trains régionaux entre villes.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Cars scolaires : ramassage à heure et itinéraire fixes.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Flixbus / BlaBlaBus : liaisons longue distance &gt; 100 km sur initiative privée.</a:t>
            </a:r>
            <a:endParaRPr lang="en-US" sz="1000" dirty="0"/>
          </a:p>
        </p:txBody>
      </p:sp>
      <p:sp>
        <p:nvSpPr>
          <p:cNvPr id="18" name="Shape 16"/>
          <p:cNvSpPr/>
          <p:nvPr/>
        </p:nvSpPr>
        <p:spPr>
          <a:xfrm>
            <a:off x="4709160" y="3127248"/>
            <a:ext cx="4160520" cy="162763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9" name="Shape 17"/>
          <p:cNvSpPr/>
          <p:nvPr/>
        </p:nvSpPr>
        <p:spPr>
          <a:xfrm>
            <a:off x="4709160" y="3127248"/>
            <a:ext cx="4160520" cy="301752"/>
          </a:xfrm>
          <a:prstGeom prst="rect">
            <a:avLst/>
          </a:prstGeom>
          <a:solidFill>
            <a:srgbClr val="1A3A5C"/>
          </a:solidFill>
          <a:ln w="12700">
            <a:solidFill>
              <a:srgbClr val="1A3A5C"/>
            </a:solidFill>
            <a:prstDash val="solid"/>
          </a:ln>
        </p:spPr>
        <p:txBody>
          <a:bodyPr/>
          <a:lstStyle/>
          <a:p>
            <a:endParaRPr lang="fr-FR"/>
          </a:p>
        </p:txBody>
      </p:sp>
      <p:sp>
        <p:nvSpPr>
          <p:cNvPr id="20" name="Text 18"/>
          <p:cNvSpPr/>
          <p:nvPr/>
        </p:nvSpPr>
        <p:spPr>
          <a:xfrm>
            <a:off x="4800600" y="312724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CE QUI CARACTÉRISE UN SERVICE RÉGULIER</a:t>
            </a:r>
            <a:endParaRPr lang="en-US" sz="1050" dirty="0"/>
          </a:p>
        </p:txBody>
      </p:sp>
      <p:sp>
        <p:nvSpPr>
          <p:cNvPr id="21" name="Text 19"/>
          <p:cNvSpPr/>
          <p:nvPr/>
        </p:nvSpPr>
        <p:spPr>
          <a:xfrm>
            <a:off x="4818888" y="3474720"/>
            <a:ext cx="3977640" cy="123444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Itinéraire FIXE — ne change pas selon les passagers.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Horaires PUBLICS — connus à l'avance par tous.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Tarif UNIQUE et identique pour tous les usagers.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Ouvert à TOUS sans réservation obligatoire.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Organisé par une autorité publique ou un opérateur délégué.</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Les services réguliers — Schéma de fonctionnement</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8/88</a:t>
            </a:r>
            <a:endParaRPr lang="en-US" sz="800" dirty="0"/>
          </a:p>
        </p:txBody>
      </p:sp>
      <p:sp>
        <p:nvSpPr>
          <p:cNvPr id="8" name="Text 6"/>
          <p:cNvSpPr/>
          <p:nvPr/>
        </p:nvSpPr>
        <p:spPr>
          <a:xfrm>
            <a:off x="274320" y="896112"/>
            <a:ext cx="8595360" cy="32004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Comment fonctionne un service régulier de transport collectif ?</a:t>
            </a:r>
            <a:endParaRPr lang="en-US" sz="1200" dirty="0"/>
          </a:p>
        </p:txBody>
      </p:sp>
      <p:sp>
        <p:nvSpPr>
          <p:cNvPr id="9" name="Shape 7"/>
          <p:cNvSpPr/>
          <p:nvPr/>
        </p:nvSpPr>
        <p:spPr>
          <a:xfrm>
            <a:off x="320040" y="1298448"/>
            <a:ext cx="1965960" cy="1115568"/>
          </a:xfrm>
          <a:prstGeom prst="rect">
            <a:avLst/>
          </a:prstGeom>
          <a:solidFill>
            <a:srgbClr val="2E4B8A"/>
          </a:solidFill>
          <a:ln w="12700">
            <a:solidFill>
              <a:srgbClr val="2E4B8A"/>
            </a:solidFill>
            <a:prstDash val="solid"/>
          </a:ln>
        </p:spPr>
        <p:txBody>
          <a:bodyPr/>
          <a:lstStyle/>
          <a:p>
            <a:endParaRPr lang="fr-FR"/>
          </a:p>
        </p:txBody>
      </p:sp>
      <p:sp>
        <p:nvSpPr>
          <p:cNvPr id="10" name="Text 8"/>
          <p:cNvSpPr/>
          <p:nvPr/>
        </p:nvSpPr>
        <p:spPr>
          <a:xfrm>
            <a:off x="320040" y="1298448"/>
            <a:ext cx="1965960" cy="56692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AUTORITÉ</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ORGANISATRICE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(AOM)</a:t>
            </a:r>
            <a:endParaRPr lang="en-US" sz="1000" dirty="0"/>
          </a:p>
        </p:txBody>
      </p:sp>
      <p:sp>
        <p:nvSpPr>
          <p:cNvPr id="11" name="Text 9"/>
          <p:cNvSpPr/>
          <p:nvPr/>
        </p:nvSpPr>
        <p:spPr>
          <a:xfrm>
            <a:off x="320040" y="1865376"/>
            <a:ext cx="1965960" cy="548640"/>
          </a:xfrm>
          <a:prstGeom prst="rect">
            <a:avLst/>
          </a:prstGeom>
          <a:noFill/>
          <a:ln/>
        </p:spPr>
        <p:txBody>
          <a:bodyPr wrap="square" rtlCol="0" anchor="ctr"/>
          <a:lstStyle/>
          <a:p>
            <a:pPr marL="0" indent="0" algn="ctr">
              <a:buNone/>
            </a:pPr>
            <a:r>
              <a:rPr lang="en-US" sz="900" i="1" dirty="0">
                <a:solidFill>
                  <a:srgbClr val="FFFFFF"/>
                </a:solidFill>
                <a:latin typeface="Calibri" pitchFamily="34" charset="0"/>
                <a:ea typeface="Calibri" pitchFamily="34" charset="-122"/>
                <a:cs typeface="Calibri" pitchFamily="34" charset="-120"/>
              </a:rPr>
              <a:t>Mairie, Métropole</a:t>
            </a:r>
            <a:endParaRPr lang="en-US" sz="900" dirty="0"/>
          </a:p>
          <a:p>
            <a:pPr marL="0" indent="0" algn="ctr">
              <a:buNone/>
            </a:pPr>
            <a:r>
              <a:rPr lang="en-US" sz="900" i="1" dirty="0">
                <a:solidFill>
                  <a:srgbClr val="FFFFFF"/>
                </a:solidFill>
                <a:latin typeface="Calibri" pitchFamily="34" charset="0"/>
                <a:ea typeface="Calibri" pitchFamily="34" charset="-122"/>
                <a:cs typeface="Calibri" pitchFamily="34" charset="-120"/>
              </a:rPr>
              <a:t>Conseil Général</a:t>
            </a:r>
            <a:endParaRPr lang="en-US" sz="900" dirty="0"/>
          </a:p>
        </p:txBody>
      </p:sp>
      <p:sp>
        <p:nvSpPr>
          <p:cNvPr id="12" name="Text 10"/>
          <p:cNvSpPr/>
          <p:nvPr/>
        </p:nvSpPr>
        <p:spPr>
          <a:xfrm>
            <a:off x="2286000" y="1600200"/>
            <a:ext cx="246888" cy="502920"/>
          </a:xfrm>
          <a:prstGeom prst="rect">
            <a:avLst/>
          </a:prstGeom>
          <a:noFill/>
          <a:ln/>
        </p:spPr>
        <p:txBody>
          <a:bodyPr wrap="square" rtlCol="0" anchor="ctr"/>
          <a:lstStyle/>
          <a:p>
            <a:pPr marL="0" indent="0" algn="ctr">
              <a:buNone/>
            </a:pPr>
            <a:r>
              <a:rPr lang="en-US" sz="2000" b="1" dirty="0">
                <a:solidFill>
                  <a:srgbClr val="2860A8"/>
                </a:solidFill>
                <a:latin typeface="Calibri" pitchFamily="34" charset="0"/>
                <a:ea typeface="Calibri" pitchFamily="34" charset="-122"/>
                <a:cs typeface="Calibri" pitchFamily="34" charset="-120"/>
              </a:rPr>
              <a:t>→</a:t>
            </a:r>
            <a:endParaRPr lang="en-US" sz="2000" dirty="0"/>
          </a:p>
        </p:txBody>
      </p:sp>
      <p:sp>
        <p:nvSpPr>
          <p:cNvPr id="13" name="Shape 11"/>
          <p:cNvSpPr/>
          <p:nvPr/>
        </p:nvSpPr>
        <p:spPr>
          <a:xfrm>
            <a:off x="2532888" y="1298448"/>
            <a:ext cx="1965960" cy="1115568"/>
          </a:xfrm>
          <a:prstGeom prst="rect">
            <a:avLst/>
          </a:prstGeom>
          <a:solidFill>
            <a:srgbClr val="2860A8"/>
          </a:solidFill>
          <a:ln w="12700">
            <a:solidFill>
              <a:srgbClr val="2860A8"/>
            </a:solidFill>
            <a:prstDash val="solid"/>
          </a:ln>
        </p:spPr>
        <p:txBody>
          <a:bodyPr/>
          <a:lstStyle/>
          <a:p>
            <a:endParaRPr lang="fr-FR"/>
          </a:p>
        </p:txBody>
      </p:sp>
      <p:sp>
        <p:nvSpPr>
          <p:cNvPr id="14" name="Text 12"/>
          <p:cNvSpPr/>
          <p:nvPr/>
        </p:nvSpPr>
        <p:spPr>
          <a:xfrm>
            <a:off x="2532888" y="1298448"/>
            <a:ext cx="1965960" cy="56692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OPÉRATEUR</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DE TRANSPORT</a:t>
            </a:r>
            <a:endParaRPr lang="en-US" sz="1000" dirty="0"/>
          </a:p>
        </p:txBody>
      </p:sp>
      <p:sp>
        <p:nvSpPr>
          <p:cNvPr id="15" name="Text 13"/>
          <p:cNvSpPr/>
          <p:nvPr/>
        </p:nvSpPr>
        <p:spPr>
          <a:xfrm>
            <a:off x="2532888" y="1865376"/>
            <a:ext cx="1965960" cy="548640"/>
          </a:xfrm>
          <a:prstGeom prst="rect">
            <a:avLst/>
          </a:prstGeom>
          <a:noFill/>
          <a:ln/>
        </p:spPr>
        <p:txBody>
          <a:bodyPr wrap="square" rtlCol="0" anchor="ctr"/>
          <a:lstStyle/>
          <a:p>
            <a:pPr marL="0" indent="0" algn="ctr">
              <a:buNone/>
            </a:pPr>
            <a:r>
              <a:rPr lang="en-US" sz="900" i="1" dirty="0">
                <a:solidFill>
                  <a:srgbClr val="FFFFFF"/>
                </a:solidFill>
                <a:latin typeface="Calibri" pitchFamily="34" charset="0"/>
                <a:ea typeface="Calibri" pitchFamily="34" charset="-122"/>
                <a:cs typeface="Calibri" pitchFamily="34" charset="-120"/>
              </a:rPr>
              <a:t>Entreprise publique</a:t>
            </a:r>
            <a:endParaRPr lang="en-US" sz="900" dirty="0"/>
          </a:p>
          <a:p>
            <a:pPr marL="0" indent="0" algn="ctr">
              <a:buNone/>
            </a:pPr>
            <a:r>
              <a:rPr lang="en-US" sz="900" i="1" dirty="0">
                <a:solidFill>
                  <a:srgbClr val="FFFFFF"/>
                </a:solidFill>
                <a:latin typeface="Calibri" pitchFamily="34" charset="0"/>
                <a:ea typeface="Calibri" pitchFamily="34" charset="-122"/>
                <a:cs typeface="Calibri" pitchFamily="34" charset="-120"/>
              </a:rPr>
              <a:t>ou privée déléguée</a:t>
            </a:r>
            <a:endParaRPr lang="en-US" sz="900" dirty="0"/>
          </a:p>
        </p:txBody>
      </p:sp>
      <p:sp>
        <p:nvSpPr>
          <p:cNvPr id="16" name="Text 14"/>
          <p:cNvSpPr/>
          <p:nvPr/>
        </p:nvSpPr>
        <p:spPr>
          <a:xfrm>
            <a:off x="4498848" y="1600200"/>
            <a:ext cx="246888" cy="502920"/>
          </a:xfrm>
          <a:prstGeom prst="rect">
            <a:avLst/>
          </a:prstGeom>
          <a:noFill/>
          <a:ln/>
        </p:spPr>
        <p:txBody>
          <a:bodyPr wrap="square" rtlCol="0" anchor="ctr"/>
          <a:lstStyle/>
          <a:p>
            <a:pPr marL="0" indent="0" algn="ctr">
              <a:buNone/>
            </a:pPr>
            <a:r>
              <a:rPr lang="en-US" sz="2000" b="1" dirty="0">
                <a:solidFill>
                  <a:srgbClr val="2860A8"/>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4745736" y="1298448"/>
            <a:ext cx="1965960" cy="1115568"/>
          </a:xfrm>
          <a:prstGeom prst="rect">
            <a:avLst/>
          </a:prstGeom>
          <a:solidFill>
            <a:srgbClr val="00897B"/>
          </a:solidFill>
          <a:ln w="12700">
            <a:solidFill>
              <a:srgbClr val="00897B"/>
            </a:solidFill>
            <a:prstDash val="solid"/>
          </a:ln>
        </p:spPr>
        <p:txBody>
          <a:bodyPr/>
          <a:lstStyle/>
          <a:p>
            <a:endParaRPr lang="fr-FR"/>
          </a:p>
        </p:txBody>
      </p:sp>
      <p:sp>
        <p:nvSpPr>
          <p:cNvPr id="18" name="Text 16"/>
          <p:cNvSpPr/>
          <p:nvPr/>
        </p:nvSpPr>
        <p:spPr>
          <a:xfrm>
            <a:off x="4745736" y="1298448"/>
            <a:ext cx="1965960" cy="56692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LIGNE FIXE</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Horaires publiés</a:t>
            </a:r>
            <a:endParaRPr lang="en-US" sz="1000" dirty="0"/>
          </a:p>
        </p:txBody>
      </p:sp>
      <p:sp>
        <p:nvSpPr>
          <p:cNvPr id="19" name="Text 17"/>
          <p:cNvSpPr/>
          <p:nvPr/>
        </p:nvSpPr>
        <p:spPr>
          <a:xfrm>
            <a:off x="4745736" y="1865376"/>
            <a:ext cx="1965960" cy="548640"/>
          </a:xfrm>
          <a:prstGeom prst="rect">
            <a:avLst/>
          </a:prstGeom>
          <a:noFill/>
          <a:ln/>
        </p:spPr>
        <p:txBody>
          <a:bodyPr wrap="square" rtlCol="0" anchor="ctr"/>
          <a:lstStyle/>
          <a:p>
            <a:pPr marL="0" indent="0" algn="ctr">
              <a:buNone/>
            </a:pPr>
            <a:r>
              <a:rPr lang="en-US" sz="900" i="1" dirty="0">
                <a:solidFill>
                  <a:srgbClr val="FFFFFF"/>
                </a:solidFill>
                <a:latin typeface="Calibri" pitchFamily="34" charset="0"/>
                <a:ea typeface="Calibri" pitchFamily="34" charset="-122"/>
                <a:cs typeface="Calibri" pitchFamily="34" charset="-120"/>
              </a:rPr>
              <a:t>Arrêts définis</a:t>
            </a:r>
            <a:endParaRPr lang="en-US" sz="900" dirty="0"/>
          </a:p>
          <a:p>
            <a:pPr marL="0" indent="0" algn="ctr">
              <a:buNone/>
            </a:pPr>
            <a:r>
              <a:rPr lang="en-US" sz="900" i="1" dirty="0">
                <a:solidFill>
                  <a:srgbClr val="FFFFFF"/>
                </a:solidFill>
                <a:latin typeface="Calibri" pitchFamily="34" charset="0"/>
                <a:ea typeface="Calibri" pitchFamily="34" charset="-122"/>
                <a:cs typeface="Calibri" pitchFamily="34" charset="-120"/>
              </a:rPr>
              <a:t>Tarif affiché</a:t>
            </a:r>
            <a:endParaRPr lang="en-US" sz="900" dirty="0"/>
          </a:p>
        </p:txBody>
      </p:sp>
      <p:sp>
        <p:nvSpPr>
          <p:cNvPr id="20" name="Text 18"/>
          <p:cNvSpPr/>
          <p:nvPr/>
        </p:nvSpPr>
        <p:spPr>
          <a:xfrm>
            <a:off x="6711696" y="1600200"/>
            <a:ext cx="246888" cy="502920"/>
          </a:xfrm>
          <a:prstGeom prst="rect">
            <a:avLst/>
          </a:prstGeom>
          <a:noFill/>
          <a:ln/>
        </p:spPr>
        <p:txBody>
          <a:bodyPr wrap="square" rtlCol="0" anchor="ctr"/>
          <a:lstStyle/>
          <a:p>
            <a:pPr marL="0" indent="0" algn="ctr">
              <a:buNone/>
            </a:pPr>
            <a:r>
              <a:rPr lang="en-US" sz="2000" b="1" dirty="0">
                <a:solidFill>
                  <a:srgbClr val="2860A8"/>
                </a:solidFill>
                <a:latin typeface="Calibri" pitchFamily="34" charset="0"/>
                <a:ea typeface="Calibri" pitchFamily="34" charset="-122"/>
                <a:cs typeface="Calibri" pitchFamily="34" charset="-120"/>
              </a:rPr>
              <a:t>→</a:t>
            </a:r>
            <a:endParaRPr lang="en-US" sz="2000" dirty="0"/>
          </a:p>
        </p:txBody>
      </p:sp>
      <p:sp>
        <p:nvSpPr>
          <p:cNvPr id="21" name="Shape 19"/>
          <p:cNvSpPr/>
          <p:nvPr/>
        </p:nvSpPr>
        <p:spPr>
          <a:xfrm>
            <a:off x="6958584" y="1298448"/>
            <a:ext cx="1965960" cy="1115568"/>
          </a:xfrm>
          <a:prstGeom prst="rect">
            <a:avLst/>
          </a:prstGeom>
          <a:solidFill>
            <a:srgbClr val="1A3A5C"/>
          </a:solidFill>
          <a:ln w="12700">
            <a:solidFill>
              <a:srgbClr val="1A3A5C"/>
            </a:solidFill>
            <a:prstDash val="solid"/>
          </a:ln>
        </p:spPr>
        <p:txBody>
          <a:bodyPr/>
          <a:lstStyle/>
          <a:p>
            <a:endParaRPr lang="fr-FR"/>
          </a:p>
        </p:txBody>
      </p:sp>
      <p:sp>
        <p:nvSpPr>
          <p:cNvPr id="22" name="Text 20"/>
          <p:cNvSpPr/>
          <p:nvPr/>
        </p:nvSpPr>
        <p:spPr>
          <a:xfrm>
            <a:off x="6958584" y="1298448"/>
            <a:ext cx="1965960" cy="56692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USAGERS</a:t>
            </a:r>
            <a:endParaRPr lang="en-US" sz="1000" dirty="0"/>
          </a:p>
        </p:txBody>
      </p:sp>
      <p:sp>
        <p:nvSpPr>
          <p:cNvPr id="23" name="Text 21"/>
          <p:cNvSpPr/>
          <p:nvPr/>
        </p:nvSpPr>
        <p:spPr>
          <a:xfrm>
            <a:off x="6958584" y="1865376"/>
            <a:ext cx="1965960" cy="548640"/>
          </a:xfrm>
          <a:prstGeom prst="rect">
            <a:avLst/>
          </a:prstGeom>
          <a:noFill/>
          <a:ln/>
        </p:spPr>
        <p:txBody>
          <a:bodyPr wrap="square" rtlCol="0" anchor="ctr"/>
          <a:lstStyle/>
          <a:p>
            <a:pPr marL="0" indent="0" algn="ctr">
              <a:buNone/>
            </a:pPr>
            <a:r>
              <a:rPr lang="en-US" sz="900" i="1" dirty="0">
                <a:solidFill>
                  <a:srgbClr val="FFFFFF"/>
                </a:solidFill>
                <a:latin typeface="Calibri" pitchFamily="34" charset="0"/>
                <a:ea typeface="Calibri" pitchFamily="34" charset="-122"/>
                <a:cs typeface="Calibri" pitchFamily="34" charset="-120"/>
              </a:rPr>
              <a:t>Paiement titre</a:t>
            </a:r>
            <a:endParaRPr lang="en-US" sz="900" dirty="0"/>
          </a:p>
          <a:p>
            <a:pPr marL="0" indent="0" algn="ctr">
              <a:buNone/>
            </a:pPr>
            <a:r>
              <a:rPr lang="en-US" sz="900" i="1" dirty="0">
                <a:solidFill>
                  <a:srgbClr val="FFFFFF"/>
                </a:solidFill>
                <a:latin typeface="Calibri" pitchFamily="34" charset="0"/>
                <a:ea typeface="Calibri" pitchFamily="34" charset="-122"/>
                <a:cs typeface="Calibri" pitchFamily="34" charset="-120"/>
              </a:rPr>
              <a:t>de transport</a:t>
            </a:r>
            <a:endParaRPr lang="en-US" sz="900" dirty="0"/>
          </a:p>
        </p:txBody>
      </p:sp>
      <p:sp>
        <p:nvSpPr>
          <p:cNvPr id="24" name="Text 22"/>
          <p:cNvSpPr/>
          <p:nvPr/>
        </p:nvSpPr>
        <p:spPr>
          <a:xfrm>
            <a:off x="274320" y="2542032"/>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Exemples de services réguliers en France :</a:t>
            </a:r>
            <a:endParaRPr lang="en-US" sz="1200" dirty="0"/>
          </a:p>
        </p:txBody>
      </p:sp>
      <p:sp>
        <p:nvSpPr>
          <p:cNvPr id="25" name="Shape 23"/>
          <p:cNvSpPr/>
          <p:nvPr/>
        </p:nvSpPr>
        <p:spPr>
          <a:xfrm>
            <a:off x="274320" y="2907792"/>
            <a:ext cx="1645920" cy="1188720"/>
          </a:xfrm>
          <a:prstGeom prst="rect">
            <a:avLst/>
          </a:prstGeom>
          <a:solidFill>
            <a:srgbClr val="E8F1FA"/>
          </a:solidFill>
          <a:ln w="6350">
            <a:solidFill>
              <a:srgbClr val="D0DCE8"/>
            </a:solidFill>
            <a:prstDash val="solid"/>
          </a:ln>
        </p:spPr>
        <p:txBody>
          <a:bodyPr/>
          <a:lstStyle/>
          <a:p>
            <a:endParaRPr lang="fr-FR"/>
          </a:p>
        </p:txBody>
      </p:sp>
      <p:sp>
        <p:nvSpPr>
          <p:cNvPr id="26" name="Shape 24"/>
          <p:cNvSpPr/>
          <p:nvPr/>
        </p:nvSpPr>
        <p:spPr>
          <a:xfrm>
            <a:off x="274320" y="2907792"/>
            <a:ext cx="1645920" cy="320040"/>
          </a:xfrm>
          <a:prstGeom prst="rect">
            <a:avLst/>
          </a:prstGeom>
          <a:solidFill>
            <a:srgbClr val="2860A8"/>
          </a:solidFill>
          <a:ln w="12700">
            <a:solidFill>
              <a:srgbClr val="2860A8"/>
            </a:solidFill>
            <a:prstDash val="solid"/>
          </a:ln>
        </p:spPr>
        <p:txBody>
          <a:bodyPr/>
          <a:lstStyle/>
          <a:p>
            <a:endParaRPr lang="fr-FR"/>
          </a:p>
        </p:txBody>
      </p:sp>
      <p:sp>
        <p:nvSpPr>
          <p:cNvPr id="27" name="Text 25"/>
          <p:cNvSpPr/>
          <p:nvPr/>
        </p:nvSpPr>
        <p:spPr>
          <a:xfrm>
            <a:off x="320040" y="2907792"/>
            <a:ext cx="155448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Bus / Métro</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Tramway</a:t>
            </a:r>
            <a:endParaRPr lang="en-US" sz="900" dirty="0"/>
          </a:p>
        </p:txBody>
      </p:sp>
      <p:sp>
        <p:nvSpPr>
          <p:cNvPr id="28" name="Text 26"/>
          <p:cNvSpPr/>
          <p:nvPr/>
        </p:nvSpPr>
        <p:spPr>
          <a:xfrm>
            <a:off x="320040" y="3246120"/>
            <a:ext cx="1554480" cy="438912"/>
          </a:xfrm>
          <a:prstGeom prst="rect">
            <a:avLst/>
          </a:prstGeom>
          <a:noFill/>
          <a:ln/>
        </p:spPr>
        <p:txBody>
          <a:bodyPr wrap="square" rtlCol="0" anchor="t"/>
          <a:lstStyle/>
          <a:p>
            <a:pPr marL="0" indent="0" algn="ctr">
              <a:buNone/>
            </a:pPr>
            <a:r>
              <a:rPr lang="en-US" sz="850" dirty="0">
                <a:solidFill>
                  <a:srgbClr val="3A3A3A"/>
                </a:solidFill>
                <a:latin typeface="Calibri" pitchFamily="34" charset="0"/>
                <a:ea typeface="Calibri" pitchFamily="34" charset="-122"/>
                <a:cs typeface="Calibri" pitchFamily="34" charset="-120"/>
              </a:rPr>
              <a:t>TCL, RATP</a:t>
            </a:r>
            <a:endParaRPr lang="en-US" sz="850" dirty="0"/>
          </a:p>
          <a:p>
            <a:pPr marL="0" indent="0" algn="ctr">
              <a:buNone/>
            </a:pPr>
            <a:r>
              <a:rPr lang="en-US" sz="850" dirty="0">
                <a:solidFill>
                  <a:srgbClr val="3A3A3A"/>
                </a:solidFill>
                <a:latin typeface="Calibri" pitchFamily="34" charset="0"/>
                <a:ea typeface="Calibri" pitchFamily="34" charset="-122"/>
                <a:cs typeface="Calibri" pitchFamily="34" charset="-120"/>
              </a:rPr>
              <a:t>RTM Marseille</a:t>
            </a:r>
            <a:endParaRPr lang="en-US" sz="850" dirty="0"/>
          </a:p>
        </p:txBody>
      </p:sp>
      <p:sp>
        <p:nvSpPr>
          <p:cNvPr id="29" name="Text 27"/>
          <p:cNvSpPr/>
          <p:nvPr/>
        </p:nvSpPr>
        <p:spPr>
          <a:xfrm>
            <a:off x="320040" y="3703320"/>
            <a:ext cx="1554480" cy="365760"/>
          </a:xfrm>
          <a:prstGeom prst="rect">
            <a:avLst/>
          </a:prstGeom>
          <a:noFill/>
          <a:ln/>
        </p:spPr>
        <p:txBody>
          <a:bodyPr wrap="square" rtlCol="0" anchor="ctr"/>
          <a:lstStyle/>
          <a:p>
            <a:pPr marL="0" indent="0" algn="ctr">
              <a:buNone/>
            </a:pPr>
            <a:r>
              <a:rPr lang="en-US" sz="800" i="1" dirty="0">
                <a:solidFill>
                  <a:srgbClr val="6B7A8D"/>
                </a:solidFill>
                <a:latin typeface="Calibri" pitchFamily="34" charset="0"/>
                <a:ea typeface="Calibri" pitchFamily="34" charset="-122"/>
                <a:cs typeface="Calibri" pitchFamily="34" charset="-120"/>
              </a:rPr>
              <a:t>Ex: Ligne A</a:t>
            </a:r>
            <a:endParaRPr lang="en-US" sz="800" dirty="0"/>
          </a:p>
          <a:p>
            <a:pPr marL="0" indent="0" algn="ctr">
              <a:buNone/>
            </a:pPr>
            <a:r>
              <a:rPr lang="en-US" sz="800" i="1" dirty="0">
                <a:solidFill>
                  <a:srgbClr val="6B7A8D"/>
                </a:solidFill>
                <a:latin typeface="Calibri" pitchFamily="34" charset="0"/>
                <a:ea typeface="Calibri" pitchFamily="34" charset="-122"/>
                <a:cs typeface="Calibri" pitchFamily="34" charset="-120"/>
              </a:rPr>
              <a:t>Lyon</a:t>
            </a:r>
            <a:endParaRPr lang="en-US" sz="800" dirty="0"/>
          </a:p>
        </p:txBody>
      </p:sp>
      <p:sp>
        <p:nvSpPr>
          <p:cNvPr id="30" name="Shape 28"/>
          <p:cNvSpPr/>
          <p:nvPr/>
        </p:nvSpPr>
        <p:spPr>
          <a:xfrm>
            <a:off x="2011680" y="2907792"/>
            <a:ext cx="1645920" cy="1188720"/>
          </a:xfrm>
          <a:prstGeom prst="rect">
            <a:avLst/>
          </a:prstGeom>
          <a:solidFill>
            <a:srgbClr val="FFFFFF"/>
          </a:solidFill>
          <a:ln w="6350">
            <a:solidFill>
              <a:srgbClr val="D0DCE8"/>
            </a:solidFill>
            <a:prstDash val="solid"/>
          </a:ln>
        </p:spPr>
        <p:txBody>
          <a:bodyPr/>
          <a:lstStyle/>
          <a:p>
            <a:endParaRPr lang="fr-FR"/>
          </a:p>
        </p:txBody>
      </p:sp>
      <p:sp>
        <p:nvSpPr>
          <p:cNvPr id="31" name="Shape 29"/>
          <p:cNvSpPr/>
          <p:nvPr/>
        </p:nvSpPr>
        <p:spPr>
          <a:xfrm>
            <a:off x="2011680" y="2907792"/>
            <a:ext cx="1645920" cy="320040"/>
          </a:xfrm>
          <a:prstGeom prst="rect">
            <a:avLst/>
          </a:prstGeom>
          <a:solidFill>
            <a:srgbClr val="2860A8"/>
          </a:solidFill>
          <a:ln w="12700">
            <a:solidFill>
              <a:srgbClr val="2860A8"/>
            </a:solidFill>
            <a:prstDash val="solid"/>
          </a:ln>
        </p:spPr>
        <p:txBody>
          <a:bodyPr/>
          <a:lstStyle/>
          <a:p>
            <a:endParaRPr lang="fr-FR"/>
          </a:p>
        </p:txBody>
      </p:sp>
      <p:sp>
        <p:nvSpPr>
          <p:cNvPr id="32" name="Text 30"/>
          <p:cNvSpPr/>
          <p:nvPr/>
        </p:nvSpPr>
        <p:spPr>
          <a:xfrm>
            <a:off x="2057400" y="2907792"/>
            <a:ext cx="155448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TER / TGV</a:t>
            </a:r>
            <a:endParaRPr lang="en-US" sz="900" dirty="0"/>
          </a:p>
        </p:txBody>
      </p:sp>
      <p:sp>
        <p:nvSpPr>
          <p:cNvPr id="33" name="Text 31"/>
          <p:cNvSpPr/>
          <p:nvPr/>
        </p:nvSpPr>
        <p:spPr>
          <a:xfrm>
            <a:off x="2057400" y="3246120"/>
            <a:ext cx="1554480" cy="438912"/>
          </a:xfrm>
          <a:prstGeom prst="rect">
            <a:avLst/>
          </a:prstGeom>
          <a:noFill/>
          <a:ln/>
        </p:spPr>
        <p:txBody>
          <a:bodyPr wrap="square" rtlCol="0" anchor="t"/>
          <a:lstStyle/>
          <a:p>
            <a:pPr marL="0" indent="0" algn="ctr">
              <a:buNone/>
            </a:pPr>
            <a:r>
              <a:rPr lang="en-US" sz="850" dirty="0">
                <a:solidFill>
                  <a:srgbClr val="3A3A3A"/>
                </a:solidFill>
                <a:latin typeface="Calibri" pitchFamily="34" charset="0"/>
                <a:ea typeface="Calibri" pitchFamily="34" charset="-122"/>
                <a:cs typeface="Calibri" pitchFamily="34" charset="-120"/>
              </a:rPr>
              <a:t>SNCF régional</a:t>
            </a:r>
            <a:endParaRPr lang="en-US" sz="850" dirty="0"/>
          </a:p>
          <a:p>
            <a:pPr marL="0" indent="0" algn="ctr">
              <a:buNone/>
            </a:pPr>
            <a:r>
              <a:rPr lang="en-US" sz="850" dirty="0">
                <a:solidFill>
                  <a:srgbClr val="3A3A3A"/>
                </a:solidFill>
                <a:latin typeface="Calibri" pitchFamily="34" charset="0"/>
                <a:ea typeface="Calibri" pitchFamily="34" charset="-122"/>
                <a:cs typeface="Calibri" pitchFamily="34" charset="-120"/>
              </a:rPr>
              <a:t>et national</a:t>
            </a:r>
            <a:endParaRPr lang="en-US" sz="850" dirty="0"/>
          </a:p>
        </p:txBody>
      </p:sp>
      <p:sp>
        <p:nvSpPr>
          <p:cNvPr id="34" name="Text 32"/>
          <p:cNvSpPr/>
          <p:nvPr/>
        </p:nvSpPr>
        <p:spPr>
          <a:xfrm>
            <a:off x="2057400" y="3703320"/>
            <a:ext cx="1554480" cy="365760"/>
          </a:xfrm>
          <a:prstGeom prst="rect">
            <a:avLst/>
          </a:prstGeom>
          <a:noFill/>
          <a:ln/>
        </p:spPr>
        <p:txBody>
          <a:bodyPr wrap="square" rtlCol="0" anchor="ctr"/>
          <a:lstStyle/>
          <a:p>
            <a:pPr marL="0" indent="0" algn="ctr">
              <a:buNone/>
            </a:pPr>
            <a:r>
              <a:rPr lang="en-US" sz="800" i="1" dirty="0">
                <a:solidFill>
                  <a:srgbClr val="6B7A8D"/>
                </a:solidFill>
                <a:latin typeface="Calibri" pitchFamily="34" charset="0"/>
                <a:ea typeface="Calibri" pitchFamily="34" charset="-122"/>
                <a:cs typeface="Calibri" pitchFamily="34" charset="-120"/>
              </a:rPr>
              <a:t>Ex: Lyon-Paris</a:t>
            </a:r>
            <a:endParaRPr lang="en-US" sz="800" dirty="0"/>
          </a:p>
          <a:p>
            <a:pPr marL="0" indent="0" algn="ctr">
              <a:buNone/>
            </a:pPr>
            <a:r>
              <a:rPr lang="en-US" sz="800" i="1" dirty="0">
                <a:solidFill>
                  <a:srgbClr val="6B7A8D"/>
                </a:solidFill>
                <a:latin typeface="Calibri" pitchFamily="34" charset="0"/>
                <a:ea typeface="Calibri" pitchFamily="34" charset="-122"/>
                <a:cs typeface="Calibri" pitchFamily="34" charset="-120"/>
              </a:rPr>
              <a:t>ly-gre</a:t>
            </a:r>
            <a:endParaRPr lang="en-US" sz="800" dirty="0"/>
          </a:p>
        </p:txBody>
      </p:sp>
      <p:sp>
        <p:nvSpPr>
          <p:cNvPr id="35" name="Shape 33"/>
          <p:cNvSpPr/>
          <p:nvPr/>
        </p:nvSpPr>
        <p:spPr>
          <a:xfrm>
            <a:off x="3749040" y="2907792"/>
            <a:ext cx="1645920" cy="1188720"/>
          </a:xfrm>
          <a:prstGeom prst="rect">
            <a:avLst/>
          </a:prstGeom>
          <a:solidFill>
            <a:srgbClr val="E8F1FA"/>
          </a:solidFill>
          <a:ln w="6350">
            <a:solidFill>
              <a:srgbClr val="D0DCE8"/>
            </a:solidFill>
            <a:prstDash val="solid"/>
          </a:ln>
        </p:spPr>
        <p:txBody>
          <a:bodyPr/>
          <a:lstStyle/>
          <a:p>
            <a:endParaRPr lang="fr-FR"/>
          </a:p>
        </p:txBody>
      </p:sp>
      <p:sp>
        <p:nvSpPr>
          <p:cNvPr id="36" name="Shape 34"/>
          <p:cNvSpPr/>
          <p:nvPr/>
        </p:nvSpPr>
        <p:spPr>
          <a:xfrm>
            <a:off x="3749040" y="2907792"/>
            <a:ext cx="1645920" cy="320040"/>
          </a:xfrm>
          <a:prstGeom prst="rect">
            <a:avLst/>
          </a:prstGeom>
          <a:solidFill>
            <a:srgbClr val="2860A8"/>
          </a:solidFill>
          <a:ln w="12700">
            <a:solidFill>
              <a:srgbClr val="2860A8"/>
            </a:solidFill>
            <a:prstDash val="solid"/>
          </a:ln>
        </p:spPr>
        <p:txBody>
          <a:bodyPr/>
          <a:lstStyle/>
          <a:p>
            <a:endParaRPr lang="fr-FR"/>
          </a:p>
        </p:txBody>
      </p:sp>
      <p:sp>
        <p:nvSpPr>
          <p:cNvPr id="37" name="Text 35"/>
          <p:cNvSpPr/>
          <p:nvPr/>
        </p:nvSpPr>
        <p:spPr>
          <a:xfrm>
            <a:off x="3794760" y="2907792"/>
            <a:ext cx="155448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Cars</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Départementaux</a:t>
            </a:r>
            <a:endParaRPr lang="en-US" sz="900" dirty="0"/>
          </a:p>
        </p:txBody>
      </p:sp>
      <p:sp>
        <p:nvSpPr>
          <p:cNvPr id="38" name="Text 36"/>
          <p:cNvSpPr/>
          <p:nvPr/>
        </p:nvSpPr>
        <p:spPr>
          <a:xfrm>
            <a:off x="3794760" y="3246120"/>
            <a:ext cx="1554480" cy="438912"/>
          </a:xfrm>
          <a:prstGeom prst="rect">
            <a:avLst/>
          </a:prstGeom>
          <a:noFill/>
          <a:ln/>
        </p:spPr>
        <p:txBody>
          <a:bodyPr wrap="square" rtlCol="0" anchor="t"/>
          <a:lstStyle/>
          <a:p>
            <a:pPr marL="0" indent="0" algn="ctr">
              <a:buNone/>
            </a:pPr>
            <a:r>
              <a:rPr lang="en-US" sz="850" dirty="0">
                <a:solidFill>
                  <a:srgbClr val="3A3A3A"/>
                </a:solidFill>
                <a:latin typeface="Calibri" pitchFamily="34" charset="0"/>
                <a:ea typeface="Calibri" pitchFamily="34" charset="-122"/>
                <a:cs typeface="Calibri" pitchFamily="34" charset="-120"/>
              </a:rPr>
              <a:t>Conseil général</a:t>
            </a:r>
            <a:endParaRPr lang="en-US" sz="850" dirty="0"/>
          </a:p>
          <a:p>
            <a:pPr marL="0" indent="0" algn="ctr">
              <a:buNone/>
            </a:pPr>
            <a:r>
              <a:rPr lang="en-US" sz="850" dirty="0">
                <a:solidFill>
                  <a:srgbClr val="3A3A3A"/>
                </a:solidFill>
                <a:latin typeface="Calibri" pitchFamily="34" charset="0"/>
                <a:ea typeface="Calibri" pitchFamily="34" charset="-122"/>
                <a:cs typeface="Calibri" pitchFamily="34" charset="-120"/>
              </a:rPr>
              <a:t>délégation</a:t>
            </a:r>
            <a:endParaRPr lang="en-US" sz="850" dirty="0"/>
          </a:p>
        </p:txBody>
      </p:sp>
      <p:sp>
        <p:nvSpPr>
          <p:cNvPr id="39" name="Text 37"/>
          <p:cNvSpPr/>
          <p:nvPr/>
        </p:nvSpPr>
        <p:spPr>
          <a:xfrm>
            <a:off x="3794760" y="3703320"/>
            <a:ext cx="1554480" cy="365760"/>
          </a:xfrm>
          <a:prstGeom prst="rect">
            <a:avLst/>
          </a:prstGeom>
          <a:noFill/>
          <a:ln/>
        </p:spPr>
        <p:txBody>
          <a:bodyPr wrap="square" rtlCol="0" anchor="ctr"/>
          <a:lstStyle/>
          <a:p>
            <a:pPr marL="0" indent="0" algn="ctr">
              <a:buNone/>
            </a:pPr>
            <a:r>
              <a:rPr lang="en-US" sz="800" i="1" dirty="0">
                <a:solidFill>
                  <a:srgbClr val="6B7A8D"/>
                </a:solidFill>
                <a:latin typeface="Calibri" pitchFamily="34" charset="0"/>
                <a:ea typeface="Calibri" pitchFamily="34" charset="-122"/>
                <a:cs typeface="Calibri" pitchFamily="34" charset="-120"/>
              </a:rPr>
              <a:t>Ex: Isère</a:t>
            </a:r>
            <a:endParaRPr lang="en-US" sz="800" dirty="0"/>
          </a:p>
          <a:p>
            <a:pPr marL="0" indent="0" algn="ctr">
              <a:buNone/>
            </a:pPr>
            <a:r>
              <a:rPr lang="en-US" sz="800" i="1" dirty="0">
                <a:solidFill>
                  <a:srgbClr val="6B7A8D"/>
                </a:solidFill>
                <a:latin typeface="Calibri" pitchFamily="34" charset="0"/>
                <a:ea typeface="Calibri" pitchFamily="34" charset="-122"/>
                <a:cs typeface="Calibri" pitchFamily="34" charset="-120"/>
              </a:rPr>
              <a:t>Mobilités</a:t>
            </a:r>
            <a:endParaRPr lang="en-US" sz="800" dirty="0"/>
          </a:p>
        </p:txBody>
      </p:sp>
      <p:sp>
        <p:nvSpPr>
          <p:cNvPr id="40" name="Shape 38"/>
          <p:cNvSpPr/>
          <p:nvPr/>
        </p:nvSpPr>
        <p:spPr>
          <a:xfrm>
            <a:off x="5486400" y="2907792"/>
            <a:ext cx="1645920" cy="1188720"/>
          </a:xfrm>
          <a:prstGeom prst="rect">
            <a:avLst/>
          </a:prstGeom>
          <a:solidFill>
            <a:srgbClr val="FFFFFF"/>
          </a:solidFill>
          <a:ln w="6350">
            <a:solidFill>
              <a:srgbClr val="D0DCE8"/>
            </a:solidFill>
            <a:prstDash val="solid"/>
          </a:ln>
        </p:spPr>
        <p:txBody>
          <a:bodyPr/>
          <a:lstStyle/>
          <a:p>
            <a:endParaRPr lang="fr-FR"/>
          </a:p>
        </p:txBody>
      </p:sp>
      <p:sp>
        <p:nvSpPr>
          <p:cNvPr id="41" name="Shape 39"/>
          <p:cNvSpPr/>
          <p:nvPr/>
        </p:nvSpPr>
        <p:spPr>
          <a:xfrm>
            <a:off x="5486400" y="2907792"/>
            <a:ext cx="1645920" cy="320040"/>
          </a:xfrm>
          <a:prstGeom prst="rect">
            <a:avLst/>
          </a:prstGeom>
          <a:solidFill>
            <a:srgbClr val="2860A8"/>
          </a:solidFill>
          <a:ln w="12700">
            <a:solidFill>
              <a:srgbClr val="2860A8"/>
            </a:solidFill>
            <a:prstDash val="solid"/>
          </a:ln>
        </p:spPr>
        <p:txBody>
          <a:bodyPr/>
          <a:lstStyle/>
          <a:p>
            <a:endParaRPr lang="fr-FR"/>
          </a:p>
        </p:txBody>
      </p:sp>
      <p:sp>
        <p:nvSpPr>
          <p:cNvPr id="42" name="Text 40"/>
          <p:cNvSpPr/>
          <p:nvPr/>
        </p:nvSpPr>
        <p:spPr>
          <a:xfrm>
            <a:off x="5532120" y="2907792"/>
            <a:ext cx="155448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Transport</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Scolaire</a:t>
            </a:r>
            <a:endParaRPr lang="en-US" sz="900" dirty="0"/>
          </a:p>
        </p:txBody>
      </p:sp>
      <p:sp>
        <p:nvSpPr>
          <p:cNvPr id="43" name="Text 41"/>
          <p:cNvSpPr/>
          <p:nvPr/>
        </p:nvSpPr>
        <p:spPr>
          <a:xfrm>
            <a:off x="5532120" y="3246120"/>
            <a:ext cx="1554480" cy="438912"/>
          </a:xfrm>
          <a:prstGeom prst="rect">
            <a:avLst/>
          </a:prstGeom>
          <a:noFill/>
          <a:ln/>
        </p:spPr>
        <p:txBody>
          <a:bodyPr wrap="square" rtlCol="0" anchor="t"/>
          <a:lstStyle/>
          <a:p>
            <a:pPr marL="0" indent="0" algn="ctr">
              <a:buNone/>
            </a:pPr>
            <a:r>
              <a:rPr lang="en-US" sz="850" dirty="0">
                <a:solidFill>
                  <a:srgbClr val="3A3A3A"/>
                </a:solidFill>
                <a:latin typeface="Calibri" pitchFamily="34" charset="0"/>
                <a:ea typeface="Calibri" pitchFamily="34" charset="-122"/>
                <a:cs typeface="Calibri" pitchFamily="34" charset="-120"/>
              </a:rPr>
              <a:t>Inclus dans</a:t>
            </a:r>
            <a:endParaRPr lang="en-US" sz="850" dirty="0"/>
          </a:p>
          <a:p>
            <a:pPr marL="0" indent="0" algn="ctr">
              <a:buNone/>
            </a:pPr>
            <a:r>
              <a:rPr lang="en-US" sz="850" dirty="0">
                <a:solidFill>
                  <a:srgbClr val="3A3A3A"/>
                </a:solidFill>
                <a:latin typeface="Calibri" pitchFamily="34" charset="0"/>
                <a:ea typeface="Calibri" pitchFamily="34" charset="-122"/>
                <a:cs typeface="Calibri" pitchFamily="34" charset="-120"/>
              </a:rPr>
              <a:t>les services réguliers</a:t>
            </a:r>
            <a:endParaRPr lang="en-US" sz="850" dirty="0"/>
          </a:p>
        </p:txBody>
      </p:sp>
      <p:sp>
        <p:nvSpPr>
          <p:cNvPr id="44" name="Text 42"/>
          <p:cNvSpPr/>
          <p:nvPr/>
        </p:nvSpPr>
        <p:spPr>
          <a:xfrm>
            <a:off x="5532120" y="3703320"/>
            <a:ext cx="1554480" cy="365760"/>
          </a:xfrm>
          <a:prstGeom prst="rect">
            <a:avLst/>
          </a:prstGeom>
          <a:noFill/>
          <a:ln/>
        </p:spPr>
        <p:txBody>
          <a:bodyPr wrap="square" rtlCol="0" anchor="ctr"/>
          <a:lstStyle/>
          <a:p>
            <a:pPr marL="0" indent="0" algn="ctr">
              <a:buNone/>
            </a:pPr>
            <a:r>
              <a:rPr lang="en-US" sz="800" i="1" dirty="0">
                <a:solidFill>
                  <a:srgbClr val="6B7A8D"/>
                </a:solidFill>
                <a:latin typeface="Calibri" pitchFamily="34" charset="0"/>
                <a:ea typeface="Calibri" pitchFamily="34" charset="-122"/>
                <a:cs typeface="Calibri" pitchFamily="34" charset="-120"/>
              </a:rPr>
              <a:t>Horaires</a:t>
            </a:r>
            <a:endParaRPr lang="en-US" sz="800" dirty="0"/>
          </a:p>
          <a:p>
            <a:pPr marL="0" indent="0" algn="ctr">
              <a:buNone/>
            </a:pPr>
            <a:r>
              <a:rPr lang="en-US" sz="800" i="1" dirty="0">
                <a:solidFill>
                  <a:srgbClr val="6B7A8D"/>
                </a:solidFill>
                <a:latin typeface="Calibri" pitchFamily="34" charset="0"/>
                <a:ea typeface="Calibri" pitchFamily="34" charset="-122"/>
                <a:cs typeface="Calibri" pitchFamily="34" charset="-120"/>
              </a:rPr>
              <a:t>scolaires</a:t>
            </a:r>
            <a:endParaRPr lang="en-US" sz="800" dirty="0"/>
          </a:p>
        </p:txBody>
      </p:sp>
      <p:sp>
        <p:nvSpPr>
          <p:cNvPr id="45" name="Shape 43"/>
          <p:cNvSpPr/>
          <p:nvPr/>
        </p:nvSpPr>
        <p:spPr>
          <a:xfrm>
            <a:off x="7223760" y="2907792"/>
            <a:ext cx="1645920" cy="1188720"/>
          </a:xfrm>
          <a:prstGeom prst="rect">
            <a:avLst/>
          </a:prstGeom>
          <a:solidFill>
            <a:srgbClr val="E8F1FA"/>
          </a:solidFill>
          <a:ln w="6350">
            <a:solidFill>
              <a:srgbClr val="D0DCE8"/>
            </a:solidFill>
            <a:prstDash val="solid"/>
          </a:ln>
        </p:spPr>
        <p:txBody>
          <a:bodyPr/>
          <a:lstStyle/>
          <a:p>
            <a:endParaRPr lang="fr-FR"/>
          </a:p>
        </p:txBody>
      </p:sp>
      <p:sp>
        <p:nvSpPr>
          <p:cNvPr id="46" name="Shape 44"/>
          <p:cNvSpPr/>
          <p:nvPr/>
        </p:nvSpPr>
        <p:spPr>
          <a:xfrm>
            <a:off x="7223760" y="2907792"/>
            <a:ext cx="1645920" cy="320040"/>
          </a:xfrm>
          <a:prstGeom prst="rect">
            <a:avLst/>
          </a:prstGeom>
          <a:solidFill>
            <a:srgbClr val="2860A8"/>
          </a:solidFill>
          <a:ln w="12700">
            <a:solidFill>
              <a:srgbClr val="2860A8"/>
            </a:solidFill>
            <a:prstDash val="solid"/>
          </a:ln>
        </p:spPr>
        <p:txBody>
          <a:bodyPr/>
          <a:lstStyle/>
          <a:p>
            <a:endParaRPr lang="fr-FR"/>
          </a:p>
        </p:txBody>
      </p:sp>
      <p:sp>
        <p:nvSpPr>
          <p:cNvPr id="47" name="Text 45"/>
          <p:cNvSpPr/>
          <p:nvPr/>
        </p:nvSpPr>
        <p:spPr>
          <a:xfrm>
            <a:off x="7269480" y="2907792"/>
            <a:ext cx="1554480" cy="320040"/>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Flixbus</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BlaBlaBus</a:t>
            </a:r>
            <a:endParaRPr lang="en-US" sz="900" dirty="0"/>
          </a:p>
        </p:txBody>
      </p:sp>
      <p:sp>
        <p:nvSpPr>
          <p:cNvPr id="48" name="Text 46"/>
          <p:cNvSpPr/>
          <p:nvPr/>
        </p:nvSpPr>
        <p:spPr>
          <a:xfrm>
            <a:off x="7269480" y="3246120"/>
            <a:ext cx="1554480" cy="438912"/>
          </a:xfrm>
          <a:prstGeom prst="rect">
            <a:avLst/>
          </a:prstGeom>
          <a:noFill/>
          <a:ln/>
        </p:spPr>
        <p:txBody>
          <a:bodyPr wrap="square" rtlCol="0" anchor="t"/>
          <a:lstStyle/>
          <a:p>
            <a:pPr marL="0" indent="0" algn="ctr">
              <a:buNone/>
            </a:pPr>
            <a:r>
              <a:rPr lang="en-US" sz="850" dirty="0">
                <a:solidFill>
                  <a:srgbClr val="3A3A3A"/>
                </a:solidFill>
                <a:latin typeface="Calibri" pitchFamily="34" charset="0"/>
                <a:ea typeface="Calibri" pitchFamily="34" charset="-122"/>
                <a:cs typeface="Calibri" pitchFamily="34" charset="-120"/>
              </a:rPr>
              <a:t>&gt; 100 km</a:t>
            </a:r>
            <a:endParaRPr lang="en-US" sz="850" dirty="0"/>
          </a:p>
          <a:p>
            <a:pPr marL="0" indent="0" algn="ctr">
              <a:buNone/>
            </a:pPr>
            <a:r>
              <a:rPr lang="en-US" sz="850" dirty="0">
                <a:solidFill>
                  <a:srgbClr val="3A3A3A"/>
                </a:solidFill>
                <a:latin typeface="Calibri" pitchFamily="34" charset="0"/>
                <a:ea typeface="Calibri" pitchFamily="34" charset="-122"/>
                <a:cs typeface="Calibri" pitchFamily="34" charset="-120"/>
              </a:rPr>
              <a:t>initiative privée</a:t>
            </a:r>
            <a:endParaRPr lang="en-US" sz="850" dirty="0"/>
          </a:p>
        </p:txBody>
      </p:sp>
      <p:sp>
        <p:nvSpPr>
          <p:cNvPr id="49" name="Text 47"/>
          <p:cNvSpPr/>
          <p:nvPr/>
        </p:nvSpPr>
        <p:spPr>
          <a:xfrm>
            <a:off x="7269480" y="3703320"/>
            <a:ext cx="1554480" cy="365760"/>
          </a:xfrm>
          <a:prstGeom prst="rect">
            <a:avLst/>
          </a:prstGeom>
          <a:noFill/>
          <a:ln/>
        </p:spPr>
        <p:txBody>
          <a:bodyPr wrap="square" rtlCol="0" anchor="ctr"/>
          <a:lstStyle/>
          <a:p>
            <a:pPr marL="0" indent="0" algn="ctr">
              <a:buNone/>
            </a:pPr>
            <a:r>
              <a:rPr lang="en-US" sz="800" i="1" dirty="0">
                <a:solidFill>
                  <a:srgbClr val="6B7A8D"/>
                </a:solidFill>
                <a:latin typeface="Calibri" pitchFamily="34" charset="0"/>
                <a:ea typeface="Calibri" pitchFamily="34" charset="-122"/>
                <a:cs typeface="Calibri" pitchFamily="34" charset="-120"/>
              </a:rPr>
              <a:t>Ex: Lyon-Paris</a:t>
            </a:r>
            <a:endParaRPr lang="en-US" sz="800" dirty="0"/>
          </a:p>
          <a:p>
            <a:pPr marL="0" indent="0" algn="ctr">
              <a:buNone/>
            </a:pPr>
            <a:r>
              <a:rPr lang="en-US" sz="800" i="1" dirty="0">
                <a:solidFill>
                  <a:srgbClr val="6B7A8D"/>
                </a:solidFill>
                <a:latin typeface="Calibri" pitchFamily="34" charset="0"/>
                <a:ea typeface="Calibri" pitchFamily="34" charset="-122"/>
                <a:cs typeface="Calibri" pitchFamily="34" charset="-120"/>
              </a:rPr>
              <a:t>30€</a:t>
            </a:r>
            <a:endParaRPr lang="en-US" sz="800" dirty="0"/>
          </a:p>
        </p:txBody>
      </p:sp>
      <p:sp>
        <p:nvSpPr>
          <p:cNvPr id="50" name="Shape 48"/>
          <p:cNvSpPr/>
          <p:nvPr/>
        </p:nvSpPr>
        <p:spPr>
          <a:xfrm>
            <a:off x="274320" y="4187952"/>
            <a:ext cx="8595360" cy="347472"/>
          </a:xfrm>
          <a:prstGeom prst="rect">
            <a:avLst/>
          </a:prstGeom>
          <a:solidFill>
            <a:srgbClr val="EDF7EE"/>
          </a:solidFill>
          <a:ln w="19050">
            <a:solidFill>
              <a:srgbClr val="2E7D32"/>
            </a:solidFill>
            <a:prstDash val="solid"/>
          </a:ln>
        </p:spPr>
        <p:txBody>
          <a:bodyPr/>
          <a:lstStyle/>
          <a:p>
            <a:endParaRPr lang="fr-FR"/>
          </a:p>
        </p:txBody>
      </p:sp>
      <p:sp>
        <p:nvSpPr>
          <p:cNvPr id="51" name="Shape 49"/>
          <p:cNvSpPr/>
          <p:nvPr/>
        </p:nvSpPr>
        <p:spPr>
          <a:xfrm>
            <a:off x="274320" y="4187952"/>
            <a:ext cx="54864" cy="347472"/>
          </a:xfrm>
          <a:prstGeom prst="rect">
            <a:avLst/>
          </a:prstGeom>
          <a:solidFill>
            <a:srgbClr val="2E7D32"/>
          </a:solidFill>
          <a:ln w="12700">
            <a:solidFill>
              <a:srgbClr val="2E7D32"/>
            </a:solidFill>
            <a:prstDash val="solid"/>
          </a:ln>
        </p:spPr>
        <p:txBody>
          <a:bodyPr/>
          <a:lstStyle/>
          <a:p>
            <a:endParaRPr lang="fr-FR"/>
          </a:p>
        </p:txBody>
      </p:sp>
      <p:sp>
        <p:nvSpPr>
          <p:cNvPr id="52" name="Text 50"/>
          <p:cNvSpPr/>
          <p:nvPr/>
        </p:nvSpPr>
        <p:spPr>
          <a:xfrm>
            <a:off x="384048" y="4187952"/>
            <a:ext cx="8467344" cy="34747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Les conducteurs de services réguliers (bus, tramway, TER) n'ont PAS besoin d'une carte professionnelle T3P. Ce sont des services collectifs, pas des services particuliers.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2.2 — Les services à la demande (TAD)</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Transport flexible entre le collectif et le particulier</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9/88</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services à la demande (TAD)</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Forme intermédiaire entre service régulier et taxi — Art. L3111-1 Code des transports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10/88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Les services à la demande (TAD) sont une forme hybride de transport collectif. Contrairement aux lignes régulières, ils n'ont pas d'itinéraire fixe, mais ils restent organisés collectivement et réglementés par une autorité publique.</a:t>
            </a:r>
            <a:endParaRPr lang="en-US" sz="1200" dirty="0"/>
          </a:p>
        </p:txBody>
      </p:sp>
      <p:sp>
        <p:nvSpPr>
          <p:cNvPr id="10" name="Shape 8"/>
          <p:cNvSpPr/>
          <p:nvPr/>
        </p:nvSpPr>
        <p:spPr>
          <a:xfrm>
            <a:off x="274320" y="1627632"/>
            <a:ext cx="8595360" cy="132588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859536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DÉFINITION LÉGALE</a:t>
            </a:r>
            <a:endParaRPr lang="en-US" sz="1050" dirty="0"/>
          </a:p>
        </p:txBody>
      </p:sp>
      <p:sp>
        <p:nvSpPr>
          <p:cNvPr id="13" name="Text 11"/>
          <p:cNvSpPr/>
          <p:nvPr/>
        </p:nvSpPr>
        <p:spPr>
          <a:xfrm>
            <a:off x="384048" y="1975104"/>
            <a:ext cx="8412480" cy="93268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Ce sont des services collectifs offerts à la place, DÉTERMINÉS EN PARTIE en fonction de la demande des usagers.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Les règles de tarification sont établies à l'avance — les véhicules ont une capacité MINIMALE de 4 places (conducteur inclus).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Ils se distinguent des services réguliers car les véhicules n'empruntent PAS d'itinéraire fixe et ne respectent pas d'horaire précis.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Les TAD sont organisés par des professionnels du transport sous l'autorité d'une collectivité — ils ne sont PAS des taxis ni des VTC.</a:t>
            </a:r>
            <a:endParaRPr lang="en-US" sz="1000" dirty="0"/>
          </a:p>
        </p:txBody>
      </p:sp>
      <p:sp>
        <p:nvSpPr>
          <p:cNvPr id="14" name="Shape 12"/>
          <p:cNvSpPr/>
          <p:nvPr/>
        </p:nvSpPr>
        <p:spPr>
          <a:xfrm>
            <a:off x="274320" y="3035808"/>
            <a:ext cx="4160520" cy="157276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274320" y="3035808"/>
            <a:ext cx="4160520" cy="30175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365760" y="303580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EXEMPLES CONCRETS</a:t>
            </a:r>
            <a:endParaRPr lang="en-US" sz="1050" dirty="0"/>
          </a:p>
        </p:txBody>
      </p:sp>
      <p:sp>
        <p:nvSpPr>
          <p:cNvPr id="17" name="Text 15"/>
          <p:cNvSpPr/>
          <p:nvPr/>
        </p:nvSpPr>
        <p:spPr>
          <a:xfrm>
            <a:off x="384048" y="3383280"/>
            <a:ext cx="3977640" cy="117957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Commune rurale : navette hebdomadaire vers le marché local, à heure connue.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Service nocturne à la demande : bus passe seulement si des usagers ont réservé la veille.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Transport médical flexible : itinéraire adapté selon les rendez-vous des patients.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Desserte d'un hameau isolé : service actif seulement sur réservation.</a:t>
            </a:r>
            <a:endParaRPr lang="en-US" sz="1000" dirty="0"/>
          </a:p>
        </p:txBody>
      </p:sp>
      <p:sp>
        <p:nvSpPr>
          <p:cNvPr id="18" name="Shape 16"/>
          <p:cNvSpPr/>
          <p:nvPr/>
        </p:nvSpPr>
        <p:spPr>
          <a:xfrm>
            <a:off x="4709160" y="3035808"/>
            <a:ext cx="4160520" cy="157276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9" name="Shape 17"/>
          <p:cNvSpPr/>
          <p:nvPr/>
        </p:nvSpPr>
        <p:spPr>
          <a:xfrm>
            <a:off x="4709160" y="3035808"/>
            <a:ext cx="4160520" cy="301752"/>
          </a:xfrm>
          <a:prstGeom prst="rect">
            <a:avLst/>
          </a:prstGeom>
          <a:solidFill>
            <a:srgbClr val="1A3A5C"/>
          </a:solidFill>
          <a:ln w="12700">
            <a:solidFill>
              <a:srgbClr val="1A3A5C"/>
            </a:solidFill>
            <a:prstDash val="solid"/>
          </a:ln>
        </p:spPr>
        <p:txBody>
          <a:bodyPr/>
          <a:lstStyle/>
          <a:p>
            <a:endParaRPr lang="fr-FR"/>
          </a:p>
        </p:txBody>
      </p:sp>
      <p:sp>
        <p:nvSpPr>
          <p:cNvPr id="20" name="Text 18"/>
          <p:cNvSpPr/>
          <p:nvPr/>
        </p:nvSpPr>
        <p:spPr>
          <a:xfrm>
            <a:off x="4800600" y="303580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DIFFÉRENCES AVEC UN TAXI</a:t>
            </a:r>
            <a:endParaRPr lang="en-US" sz="1050" dirty="0"/>
          </a:p>
        </p:txBody>
      </p:sp>
      <p:sp>
        <p:nvSpPr>
          <p:cNvPr id="21" name="Text 19"/>
          <p:cNvSpPr/>
          <p:nvPr/>
        </p:nvSpPr>
        <p:spPr>
          <a:xfrm>
            <a:off x="4818888" y="3383280"/>
            <a:ext cx="3977640" cy="117957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COLLECTIF : plusieurs passagers dans le même véhicule.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TARIF RÉGLEMENTÉ : identique pour tous, fixé par la collectivité à l'avance.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ORGANISÉ par une autorité publique, pas par un conducteur indépendant.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de carte professionnelle T3P requise pour les conducteurs TAD.</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Les services à la demande — Schéma comparatif</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11/88</a:t>
            </a:r>
            <a:endParaRPr lang="en-US" sz="800" dirty="0"/>
          </a:p>
        </p:txBody>
      </p:sp>
      <p:sp>
        <p:nvSpPr>
          <p:cNvPr id="8" name="Text 6"/>
          <p:cNvSpPr/>
          <p:nvPr/>
        </p:nvSpPr>
        <p:spPr>
          <a:xfrm>
            <a:off x="274320" y="896112"/>
            <a:ext cx="8595360" cy="292608"/>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Position du TAD entre le service régulier et le taxi :</a:t>
            </a:r>
            <a:endParaRPr lang="en-US" sz="1200" dirty="0"/>
          </a:p>
        </p:txBody>
      </p:sp>
      <p:sp>
        <p:nvSpPr>
          <p:cNvPr id="9" name="Shape 7"/>
          <p:cNvSpPr/>
          <p:nvPr/>
        </p:nvSpPr>
        <p:spPr>
          <a:xfrm>
            <a:off x="365760" y="1280160"/>
            <a:ext cx="8412480" cy="201168"/>
          </a:xfrm>
          <a:prstGeom prst="rect">
            <a:avLst/>
          </a:prstGeom>
          <a:solidFill>
            <a:srgbClr val="D0DCE8"/>
          </a:solidFill>
          <a:ln w="12700">
            <a:solidFill>
              <a:srgbClr val="D0DCE8"/>
            </a:solidFill>
            <a:prstDash val="solid"/>
          </a:ln>
        </p:spPr>
        <p:txBody>
          <a:bodyPr/>
          <a:lstStyle/>
          <a:p>
            <a:endParaRPr lang="fr-FR"/>
          </a:p>
        </p:txBody>
      </p:sp>
      <p:sp>
        <p:nvSpPr>
          <p:cNvPr id="10" name="Shape 8"/>
          <p:cNvSpPr/>
          <p:nvPr/>
        </p:nvSpPr>
        <p:spPr>
          <a:xfrm>
            <a:off x="365760" y="1280160"/>
            <a:ext cx="8412480" cy="201168"/>
          </a:xfrm>
          <a:prstGeom prst="rect">
            <a:avLst/>
          </a:prstGeom>
          <a:solidFill>
            <a:srgbClr val="2860A8"/>
          </a:solidFill>
          <a:ln w="12700">
            <a:solidFill>
              <a:srgbClr val="2860A8"/>
            </a:solidFill>
            <a:prstDash val="solid"/>
          </a:ln>
        </p:spPr>
        <p:txBody>
          <a:bodyPr/>
          <a:lstStyle/>
          <a:p>
            <a:endParaRPr lang="fr-FR"/>
          </a:p>
        </p:txBody>
      </p:sp>
      <p:sp>
        <p:nvSpPr>
          <p:cNvPr id="11" name="Shape 9"/>
          <p:cNvSpPr/>
          <p:nvPr/>
        </p:nvSpPr>
        <p:spPr>
          <a:xfrm>
            <a:off x="1463040" y="1481328"/>
            <a:ext cx="0" cy="320040"/>
          </a:xfrm>
          <a:prstGeom prst="line">
            <a:avLst/>
          </a:prstGeom>
          <a:noFill/>
          <a:ln w="25400">
            <a:solidFill>
              <a:srgbClr val="2860A8"/>
            </a:solidFill>
            <a:prstDash val="solid"/>
          </a:ln>
        </p:spPr>
        <p:txBody>
          <a:bodyPr/>
          <a:lstStyle/>
          <a:p>
            <a:endParaRPr lang="fr-FR"/>
          </a:p>
        </p:txBody>
      </p:sp>
      <p:sp>
        <p:nvSpPr>
          <p:cNvPr id="12" name="Shape 10"/>
          <p:cNvSpPr/>
          <p:nvPr/>
        </p:nvSpPr>
        <p:spPr>
          <a:xfrm>
            <a:off x="365760" y="1801368"/>
            <a:ext cx="2194560" cy="1170432"/>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365760" y="1801368"/>
            <a:ext cx="2194560" cy="640080"/>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SERVICE RÉGULIER</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Itinéraire &amp; horaire FIXES</a:t>
            </a:r>
            <a:endParaRPr lang="en-US" sz="950" dirty="0"/>
          </a:p>
        </p:txBody>
      </p:sp>
      <p:sp>
        <p:nvSpPr>
          <p:cNvPr id="14" name="Text 12"/>
          <p:cNvSpPr/>
          <p:nvPr/>
        </p:nvSpPr>
        <p:spPr>
          <a:xfrm>
            <a:off x="365760" y="2441448"/>
            <a:ext cx="2194560" cy="502920"/>
          </a:xfrm>
          <a:prstGeom prst="rect">
            <a:avLst/>
          </a:prstGeom>
          <a:noFill/>
          <a:ln/>
        </p:spPr>
        <p:txBody>
          <a:bodyPr wrap="square" rtlCol="0" anchor="ctr"/>
          <a:lstStyle/>
          <a:p>
            <a:pPr marL="0" indent="0" algn="ctr">
              <a:buNone/>
            </a:pPr>
            <a:r>
              <a:rPr lang="en-US" sz="900" i="1" dirty="0">
                <a:solidFill>
                  <a:srgbClr val="FFFFFF"/>
                </a:solidFill>
                <a:latin typeface="Calibri" pitchFamily="34" charset="0"/>
                <a:ea typeface="Calibri" pitchFamily="34" charset="-122"/>
                <a:cs typeface="Calibri" pitchFamily="34" charset="-120"/>
              </a:rPr>
              <a:t>Bus, Métro, TER</a:t>
            </a:r>
            <a:endParaRPr lang="en-US" sz="900" dirty="0"/>
          </a:p>
        </p:txBody>
      </p:sp>
      <p:sp>
        <p:nvSpPr>
          <p:cNvPr id="15" name="Shape 13"/>
          <p:cNvSpPr/>
          <p:nvPr/>
        </p:nvSpPr>
        <p:spPr>
          <a:xfrm>
            <a:off x="4480560" y="1481328"/>
            <a:ext cx="0" cy="320040"/>
          </a:xfrm>
          <a:prstGeom prst="line">
            <a:avLst/>
          </a:prstGeom>
          <a:noFill/>
          <a:ln w="25400">
            <a:solidFill>
              <a:srgbClr val="00897B"/>
            </a:solidFill>
            <a:prstDash val="solid"/>
          </a:ln>
        </p:spPr>
        <p:txBody>
          <a:bodyPr/>
          <a:lstStyle/>
          <a:p>
            <a:endParaRPr lang="fr-FR"/>
          </a:p>
        </p:txBody>
      </p:sp>
      <p:sp>
        <p:nvSpPr>
          <p:cNvPr id="16" name="Shape 14"/>
          <p:cNvSpPr/>
          <p:nvPr/>
        </p:nvSpPr>
        <p:spPr>
          <a:xfrm>
            <a:off x="3383280" y="1801368"/>
            <a:ext cx="2194560" cy="1170432"/>
          </a:xfrm>
          <a:prstGeom prst="rect">
            <a:avLst/>
          </a:prstGeom>
          <a:solidFill>
            <a:srgbClr val="00897B"/>
          </a:solidFill>
          <a:ln w="12700">
            <a:solidFill>
              <a:srgbClr val="00897B"/>
            </a:solidFill>
            <a:prstDash val="solid"/>
          </a:ln>
        </p:spPr>
        <p:txBody>
          <a:bodyPr/>
          <a:lstStyle/>
          <a:p>
            <a:endParaRPr lang="fr-FR"/>
          </a:p>
        </p:txBody>
      </p:sp>
      <p:sp>
        <p:nvSpPr>
          <p:cNvPr id="17" name="Text 15"/>
          <p:cNvSpPr/>
          <p:nvPr/>
        </p:nvSpPr>
        <p:spPr>
          <a:xfrm>
            <a:off x="3383280" y="1801368"/>
            <a:ext cx="2194560" cy="640080"/>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SERVICE À LA DEMANDE</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Flexible selon réservations</a:t>
            </a:r>
            <a:endParaRPr lang="en-US" sz="950" dirty="0"/>
          </a:p>
        </p:txBody>
      </p:sp>
      <p:sp>
        <p:nvSpPr>
          <p:cNvPr id="18" name="Text 16"/>
          <p:cNvSpPr/>
          <p:nvPr/>
        </p:nvSpPr>
        <p:spPr>
          <a:xfrm>
            <a:off x="3383280" y="2441448"/>
            <a:ext cx="2194560" cy="502920"/>
          </a:xfrm>
          <a:prstGeom prst="rect">
            <a:avLst/>
          </a:prstGeom>
          <a:noFill/>
          <a:ln/>
        </p:spPr>
        <p:txBody>
          <a:bodyPr wrap="square" rtlCol="0" anchor="ctr"/>
          <a:lstStyle/>
          <a:p>
            <a:pPr marL="0" indent="0" algn="ctr">
              <a:buNone/>
            </a:pPr>
            <a:r>
              <a:rPr lang="en-US" sz="900" i="1" dirty="0">
                <a:solidFill>
                  <a:srgbClr val="FFFFFF"/>
                </a:solidFill>
                <a:latin typeface="Calibri" pitchFamily="34" charset="0"/>
                <a:ea typeface="Calibri" pitchFamily="34" charset="-122"/>
                <a:cs typeface="Calibri" pitchFamily="34" charset="-120"/>
              </a:rPr>
              <a:t>TAD, Navettes</a:t>
            </a:r>
            <a:endParaRPr lang="en-US" sz="900" dirty="0"/>
          </a:p>
        </p:txBody>
      </p:sp>
      <p:sp>
        <p:nvSpPr>
          <p:cNvPr id="19" name="Shape 17"/>
          <p:cNvSpPr/>
          <p:nvPr/>
        </p:nvSpPr>
        <p:spPr>
          <a:xfrm>
            <a:off x="7315200" y="1481328"/>
            <a:ext cx="0" cy="320040"/>
          </a:xfrm>
          <a:prstGeom prst="line">
            <a:avLst/>
          </a:prstGeom>
          <a:noFill/>
          <a:ln w="25400">
            <a:solidFill>
              <a:srgbClr val="1A3A5C"/>
            </a:solidFill>
            <a:prstDash val="solid"/>
          </a:ln>
        </p:spPr>
        <p:txBody>
          <a:bodyPr/>
          <a:lstStyle/>
          <a:p>
            <a:endParaRPr lang="fr-FR"/>
          </a:p>
        </p:txBody>
      </p:sp>
      <p:sp>
        <p:nvSpPr>
          <p:cNvPr id="20" name="Shape 18"/>
          <p:cNvSpPr/>
          <p:nvPr/>
        </p:nvSpPr>
        <p:spPr>
          <a:xfrm>
            <a:off x="6217920" y="1801368"/>
            <a:ext cx="2194560" cy="1170432"/>
          </a:xfrm>
          <a:prstGeom prst="rect">
            <a:avLst/>
          </a:prstGeom>
          <a:solidFill>
            <a:srgbClr val="1A3A5C"/>
          </a:solidFill>
          <a:ln w="12700">
            <a:solidFill>
              <a:srgbClr val="1A3A5C"/>
            </a:solidFill>
            <a:prstDash val="solid"/>
          </a:ln>
        </p:spPr>
        <p:txBody>
          <a:bodyPr/>
          <a:lstStyle/>
          <a:p>
            <a:endParaRPr lang="fr-FR"/>
          </a:p>
        </p:txBody>
      </p:sp>
      <p:sp>
        <p:nvSpPr>
          <p:cNvPr id="21" name="Text 19"/>
          <p:cNvSpPr/>
          <p:nvPr/>
        </p:nvSpPr>
        <p:spPr>
          <a:xfrm>
            <a:off x="6217920" y="1801368"/>
            <a:ext cx="2194560" cy="640080"/>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TAXI / VTC</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Vehicule dédié pour 1 client</a:t>
            </a:r>
            <a:endParaRPr lang="en-US" sz="950" dirty="0"/>
          </a:p>
        </p:txBody>
      </p:sp>
      <p:sp>
        <p:nvSpPr>
          <p:cNvPr id="22" name="Text 20"/>
          <p:cNvSpPr/>
          <p:nvPr/>
        </p:nvSpPr>
        <p:spPr>
          <a:xfrm>
            <a:off x="6217920" y="2441448"/>
            <a:ext cx="2194560" cy="502920"/>
          </a:xfrm>
          <a:prstGeom prst="rect">
            <a:avLst/>
          </a:prstGeom>
          <a:noFill/>
          <a:ln/>
        </p:spPr>
        <p:txBody>
          <a:bodyPr wrap="square" rtlCol="0" anchor="ctr"/>
          <a:lstStyle/>
          <a:p>
            <a:pPr marL="0" indent="0" algn="ctr">
              <a:buNone/>
            </a:pPr>
            <a:r>
              <a:rPr lang="en-US" sz="900" i="1" dirty="0">
                <a:solidFill>
                  <a:srgbClr val="FFFFFF"/>
                </a:solidFill>
                <a:latin typeface="Calibri" pitchFamily="34" charset="0"/>
                <a:ea typeface="Calibri" pitchFamily="34" charset="-122"/>
                <a:cs typeface="Calibri" pitchFamily="34" charset="-120"/>
              </a:rPr>
              <a:t>T3P — Carte pro requise</a:t>
            </a:r>
            <a:endParaRPr lang="en-US" sz="900" dirty="0"/>
          </a:p>
        </p:txBody>
      </p:sp>
      <p:sp>
        <p:nvSpPr>
          <p:cNvPr id="23" name="Text 21"/>
          <p:cNvSpPr/>
          <p:nvPr/>
        </p:nvSpPr>
        <p:spPr>
          <a:xfrm>
            <a:off x="274320" y="3072384"/>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Les 4 caractéristiques clés du TAD :</a:t>
            </a:r>
            <a:endParaRPr lang="en-US" sz="1200" dirty="0"/>
          </a:p>
        </p:txBody>
      </p:sp>
      <p:sp>
        <p:nvSpPr>
          <p:cNvPr id="24" name="Shape 22"/>
          <p:cNvSpPr/>
          <p:nvPr/>
        </p:nvSpPr>
        <p:spPr>
          <a:xfrm>
            <a:off x="274320" y="3383280"/>
            <a:ext cx="2057400" cy="1325880"/>
          </a:xfrm>
          <a:prstGeom prst="rect">
            <a:avLst/>
          </a:prstGeom>
          <a:solidFill>
            <a:srgbClr val="E8F1FA"/>
          </a:solidFill>
          <a:ln w="6350">
            <a:solidFill>
              <a:srgbClr val="D0DCE8"/>
            </a:solidFill>
            <a:prstDash val="solid"/>
          </a:ln>
        </p:spPr>
        <p:txBody>
          <a:bodyPr/>
          <a:lstStyle/>
          <a:p>
            <a:endParaRPr lang="fr-FR"/>
          </a:p>
        </p:txBody>
      </p:sp>
      <p:sp>
        <p:nvSpPr>
          <p:cNvPr id="25" name="Shape 23"/>
          <p:cNvSpPr/>
          <p:nvPr/>
        </p:nvSpPr>
        <p:spPr>
          <a:xfrm>
            <a:off x="274320" y="3383280"/>
            <a:ext cx="2057400" cy="347472"/>
          </a:xfrm>
          <a:prstGeom prst="rect">
            <a:avLst/>
          </a:prstGeom>
          <a:solidFill>
            <a:srgbClr val="2860A8"/>
          </a:solidFill>
          <a:ln w="12700">
            <a:solidFill>
              <a:srgbClr val="2860A8"/>
            </a:solidFill>
            <a:prstDash val="solid"/>
          </a:ln>
        </p:spPr>
        <p:txBody>
          <a:bodyPr/>
          <a:lstStyle/>
          <a:p>
            <a:endParaRPr lang="fr-FR"/>
          </a:p>
        </p:txBody>
      </p:sp>
      <p:sp>
        <p:nvSpPr>
          <p:cNvPr id="26" name="Text 24"/>
          <p:cNvSpPr/>
          <p:nvPr/>
        </p:nvSpPr>
        <p:spPr>
          <a:xfrm>
            <a:off x="320040" y="3383280"/>
            <a:ext cx="196596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Collectif</a:t>
            </a:r>
            <a:endParaRPr lang="en-US" sz="1100" dirty="0"/>
          </a:p>
        </p:txBody>
      </p:sp>
      <p:sp>
        <p:nvSpPr>
          <p:cNvPr id="27" name="Text 25"/>
          <p:cNvSpPr/>
          <p:nvPr/>
        </p:nvSpPr>
        <p:spPr>
          <a:xfrm>
            <a:off x="347472" y="3758184"/>
            <a:ext cx="1920240" cy="914400"/>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Plusieurs passagers</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par véhicule</a:t>
            </a:r>
            <a:endParaRPr lang="en-US" sz="1050" dirty="0"/>
          </a:p>
        </p:txBody>
      </p:sp>
      <p:sp>
        <p:nvSpPr>
          <p:cNvPr id="28" name="Shape 26"/>
          <p:cNvSpPr/>
          <p:nvPr/>
        </p:nvSpPr>
        <p:spPr>
          <a:xfrm>
            <a:off x="2487168" y="3383280"/>
            <a:ext cx="2057400" cy="1325880"/>
          </a:xfrm>
          <a:prstGeom prst="rect">
            <a:avLst/>
          </a:prstGeom>
          <a:solidFill>
            <a:srgbClr val="E8F1FA"/>
          </a:solidFill>
          <a:ln w="6350">
            <a:solidFill>
              <a:srgbClr val="D0DCE8"/>
            </a:solidFill>
            <a:prstDash val="solid"/>
          </a:ln>
        </p:spPr>
        <p:txBody>
          <a:bodyPr/>
          <a:lstStyle/>
          <a:p>
            <a:endParaRPr lang="fr-FR"/>
          </a:p>
        </p:txBody>
      </p:sp>
      <p:sp>
        <p:nvSpPr>
          <p:cNvPr id="29" name="Shape 27"/>
          <p:cNvSpPr/>
          <p:nvPr/>
        </p:nvSpPr>
        <p:spPr>
          <a:xfrm>
            <a:off x="2487168" y="3383280"/>
            <a:ext cx="2057400" cy="347472"/>
          </a:xfrm>
          <a:prstGeom prst="rect">
            <a:avLst/>
          </a:prstGeom>
          <a:solidFill>
            <a:srgbClr val="00897B"/>
          </a:solidFill>
          <a:ln w="12700">
            <a:solidFill>
              <a:srgbClr val="00897B"/>
            </a:solidFill>
            <a:prstDash val="solid"/>
          </a:ln>
        </p:spPr>
        <p:txBody>
          <a:bodyPr/>
          <a:lstStyle/>
          <a:p>
            <a:endParaRPr lang="fr-FR"/>
          </a:p>
        </p:txBody>
      </p:sp>
      <p:sp>
        <p:nvSpPr>
          <p:cNvPr id="30" name="Text 28"/>
          <p:cNvSpPr/>
          <p:nvPr/>
        </p:nvSpPr>
        <p:spPr>
          <a:xfrm>
            <a:off x="2532888" y="3383280"/>
            <a:ext cx="196596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Flexible</a:t>
            </a:r>
            <a:endParaRPr lang="en-US" sz="1100" dirty="0"/>
          </a:p>
        </p:txBody>
      </p:sp>
      <p:sp>
        <p:nvSpPr>
          <p:cNvPr id="31" name="Text 29"/>
          <p:cNvSpPr/>
          <p:nvPr/>
        </p:nvSpPr>
        <p:spPr>
          <a:xfrm>
            <a:off x="2560320" y="3758184"/>
            <a:ext cx="1920240" cy="914400"/>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Itinéraire variable</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selon réservations</a:t>
            </a:r>
            <a:endParaRPr lang="en-US" sz="1050" dirty="0"/>
          </a:p>
        </p:txBody>
      </p:sp>
      <p:sp>
        <p:nvSpPr>
          <p:cNvPr id="32" name="Shape 30"/>
          <p:cNvSpPr/>
          <p:nvPr/>
        </p:nvSpPr>
        <p:spPr>
          <a:xfrm>
            <a:off x="4700016" y="3383280"/>
            <a:ext cx="2057400" cy="1325880"/>
          </a:xfrm>
          <a:prstGeom prst="rect">
            <a:avLst/>
          </a:prstGeom>
          <a:solidFill>
            <a:srgbClr val="E8F1FA"/>
          </a:solidFill>
          <a:ln w="6350">
            <a:solidFill>
              <a:srgbClr val="D0DCE8"/>
            </a:solidFill>
            <a:prstDash val="solid"/>
          </a:ln>
        </p:spPr>
        <p:txBody>
          <a:bodyPr/>
          <a:lstStyle/>
          <a:p>
            <a:endParaRPr lang="fr-FR"/>
          </a:p>
        </p:txBody>
      </p:sp>
      <p:sp>
        <p:nvSpPr>
          <p:cNvPr id="33" name="Shape 31"/>
          <p:cNvSpPr/>
          <p:nvPr/>
        </p:nvSpPr>
        <p:spPr>
          <a:xfrm>
            <a:off x="4700016" y="3383280"/>
            <a:ext cx="2057400" cy="347472"/>
          </a:xfrm>
          <a:prstGeom prst="rect">
            <a:avLst/>
          </a:prstGeom>
          <a:solidFill>
            <a:srgbClr val="2E7D32"/>
          </a:solidFill>
          <a:ln w="12700">
            <a:solidFill>
              <a:srgbClr val="2E7D32"/>
            </a:solidFill>
            <a:prstDash val="solid"/>
          </a:ln>
        </p:spPr>
        <p:txBody>
          <a:bodyPr/>
          <a:lstStyle/>
          <a:p>
            <a:endParaRPr lang="fr-FR"/>
          </a:p>
        </p:txBody>
      </p:sp>
      <p:sp>
        <p:nvSpPr>
          <p:cNvPr id="34" name="Text 32"/>
          <p:cNvSpPr/>
          <p:nvPr/>
        </p:nvSpPr>
        <p:spPr>
          <a:xfrm>
            <a:off x="4745736" y="3383280"/>
            <a:ext cx="196596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Réglementé</a:t>
            </a:r>
            <a:endParaRPr lang="en-US" sz="1100" dirty="0"/>
          </a:p>
        </p:txBody>
      </p:sp>
      <p:sp>
        <p:nvSpPr>
          <p:cNvPr id="35" name="Text 33"/>
          <p:cNvSpPr/>
          <p:nvPr/>
        </p:nvSpPr>
        <p:spPr>
          <a:xfrm>
            <a:off x="4773168" y="3758184"/>
            <a:ext cx="1920240" cy="914400"/>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Tarif fixé</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à l'avance</a:t>
            </a:r>
            <a:endParaRPr lang="en-US" sz="1050" dirty="0"/>
          </a:p>
        </p:txBody>
      </p:sp>
      <p:sp>
        <p:nvSpPr>
          <p:cNvPr id="36" name="Shape 34"/>
          <p:cNvSpPr/>
          <p:nvPr/>
        </p:nvSpPr>
        <p:spPr>
          <a:xfrm>
            <a:off x="6912864" y="3383280"/>
            <a:ext cx="2057400" cy="1325880"/>
          </a:xfrm>
          <a:prstGeom prst="rect">
            <a:avLst/>
          </a:prstGeom>
          <a:solidFill>
            <a:srgbClr val="E8F1FA"/>
          </a:solidFill>
          <a:ln w="6350">
            <a:solidFill>
              <a:srgbClr val="D0DCE8"/>
            </a:solidFill>
            <a:prstDash val="solid"/>
          </a:ln>
        </p:spPr>
        <p:txBody>
          <a:bodyPr/>
          <a:lstStyle/>
          <a:p>
            <a:endParaRPr lang="fr-FR"/>
          </a:p>
        </p:txBody>
      </p:sp>
      <p:sp>
        <p:nvSpPr>
          <p:cNvPr id="37" name="Shape 35"/>
          <p:cNvSpPr/>
          <p:nvPr/>
        </p:nvSpPr>
        <p:spPr>
          <a:xfrm>
            <a:off x="6912864" y="3383280"/>
            <a:ext cx="2057400" cy="347472"/>
          </a:xfrm>
          <a:prstGeom prst="rect">
            <a:avLst/>
          </a:prstGeom>
          <a:solidFill>
            <a:srgbClr val="1A3A5C"/>
          </a:solidFill>
          <a:ln w="12700">
            <a:solidFill>
              <a:srgbClr val="1A3A5C"/>
            </a:solidFill>
            <a:prstDash val="solid"/>
          </a:ln>
        </p:spPr>
        <p:txBody>
          <a:bodyPr/>
          <a:lstStyle/>
          <a:p>
            <a:endParaRPr lang="fr-FR"/>
          </a:p>
        </p:txBody>
      </p:sp>
      <p:sp>
        <p:nvSpPr>
          <p:cNvPr id="38" name="Text 36"/>
          <p:cNvSpPr/>
          <p:nvPr/>
        </p:nvSpPr>
        <p:spPr>
          <a:xfrm>
            <a:off x="6958584" y="3383280"/>
            <a:ext cx="1965960"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Public</a:t>
            </a:r>
            <a:endParaRPr lang="en-US" sz="1100" dirty="0"/>
          </a:p>
        </p:txBody>
      </p:sp>
      <p:sp>
        <p:nvSpPr>
          <p:cNvPr id="39" name="Text 37"/>
          <p:cNvSpPr/>
          <p:nvPr/>
        </p:nvSpPr>
        <p:spPr>
          <a:xfrm>
            <a:off x="6986016" y="3758184"/>
            <a:ext cx="1920240" cy="914400"/>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Organisé par</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une collectivité</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2.3 — Les services occasionnels</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Transport de groupes à la demande d'un donneur d'ordre</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12/88</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services occasionnels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Transport de groupes — Règle importante depuis le 01/01/2017</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13/88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Les services occasionnels sont des transports collectifs ponctuels, organisés pour un groupe précis à l'occasion d'un événement particulier. Ils font l'objet d'une réglementation stricte, notamment depuis 2017 dans les grandes agglomérations.</a:t>
            </a:r>
            <a:endParaRPr lang="en-US" sz="1200" dirty="0"/>
          </a:p>
        </p:txBody>
      </p:sp>
      <p:sp>
        <p:nvSpPr>
          <p:cNvPr id="10" name="Shape 8"/>
          <p:cNvSpPr/>
          <p:nvPr/>
        </p:nvSpPr>
        <p:spPr>
          <a:xfrm>
            <a:off x="274320" y="1627632"/>
            <a:ext cx="8595360" cy="129844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859536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DÉFINITION LÉGALE ET OBLIGATIONS</a:t>
            </a:r>
            <a:endParaRPr lang="en-US" sz="1050" dirty="0"/>
          </a:p>
        </p:txBody>
      </p:sp>
      <p:sp>
        <p:nvSpPr>
          <p:cNvPr id="13" name="Text 11"/>
          <p:cNvSpPr/>
          <p:nvPr/>
        </p:nvSpPr>
        <p:spPr>
          <a:xfrm>
            <a:off x="384048" y="1975104"/>
            <a:ext cx="8412480" cy="90525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Services qui ne répondent PAS à la définition des services réguliers et qui transportent des groupes d'au moins 2 personnes, à l'initiative d'un donneur d'ordre ou du transporteur.</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Exemples : autocar pour une colonie de vacances, visite touristique, concert, exposition, circuit vendu par une agence de voyage.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OBLIGATION : ne peuvent être exécutés que par des entreprises inscrites au Registre électronique national des entreprises de transport (DREAL).</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OBLIGATION : réservation préalable avec un BILLET COLLECTIF — signalétique distinctive apposée sur le véhicule.</a:t>
            </a:r>
            <a:endParaRPr lang="en-US" sz="1000" dirty="0"/>
          </a:p>
        </p:txBody>
      </p:sp>
      <p:sp>
        <p:nvSpPr>
          <p:cNvPr id="14" name="Shape 12"/>
          <p:cNvSpPr/>
          <p:nvPr/>
        </p:nvSpPr>
        <p:spPr>
          <a:xfrm>
            <a:off x="274320" y="2999232"/>
            <a:ext cx="8595360" cy="530352"/>
          </a:xfrm>
          <a:prstGeom prst="rect">
            <a:avLst/>
          </a:prstGeom>
          <a:solidFill>
            <a:srgbClr val="FEF0EE"/>
          </a:solidFill>
          <a:ln w="19050">
            <a:solidFill>
              <a:srgbClr val="C0392B"/>
            </a:solidFill>
            <a:prstDash val="solid"/>
          </a:ln>
        </p:spPr>
        <p:txBody>
          <a:bodyPr/>
          <a:lstStyle/>
          <a:p>
            <a:endParaRPr lang="fr-FR"/>
          </a:p>
        </p:txBody>
      </p:sp>
      <p:sp>
        <p:nvSpPr>
          <p:cNvPr id="15" name="Shape 13"/>
          <p:cNvSpPr/>
          <p:nvPr/>
        </p:nvSpPr>
        <p:spPr>
          <a:xfrm>
            <a:off x="274320" y="2999232"/>
            <a:ext cx="54864" cy="530352"/>
          </a:xfrm>
          <a:prstGeom prst="rect">
            <a:avLst/>
          </a:prstGeom>
          <a:solidFill>
            <a:srgbClr val="C0392B"/>
          </a:solidFill>
          <a:ln w="12700">
            <a:solidFill>
              <a:srgbClr val="C0392B"/>
            </a:solidFill>
            <a:prstDash val="solid"/>
          </a:ln>
        </p:spPr>
        <p:txBody>
          <a:bodyPr/>
          <a:lstStyle/>
          <a:p>
            <a:endParaRPr lang="fr-FR"/>
          </a:p>
        </p:txBody>
      </p:sp>
      <p:sp>
        <p:nvSpPr>
          <p:cNvPr id="16" name="Text 14"/>
          <p:cNvSpPr/>
          <p:nvPr/>
        </p:nvSpPr>
        <p:spPr>
          <a:xfrm>
            <a:off x="384048" y="2999232"/>
            <a:ext cx="8467344" cy="53035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RÈGLE DEPUIS LE 01/01/2017 : Interdiction de réaliser des services occasionnels avec des véhicules de MOINS DE 10 PLACES pour des trajets entièrement situés dans des agglomérations de plus de 100 000 habitants. Objectif : protéger les taxis et les VTC.</a:t>
            </a:r>
            <a:endParaRPr lang="en-US" sz="1000" dirty="0"/>
          </a:p>
        </p:txBody>
      </p:sp>
      <p:sp>
        <p:nvSpPr>
          <p:cNvPr id="17" name="Shape 15"/>
          <p:cNvSpPr/>
          <p:nvPr/>
        </p:nvSpPr>
        <p:spPr>
          <a:xfrm>
            <a:off x="274320" y="3611880"/>
            <a:ext cx="4160520" cy="111556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8" name="Shape 16"/>
          <p:cNvSpPr/>
          <p:nvPr/>
        </p:nvSpPr>
        <p:spPr>
          <a:xfrm>
            <a:off x="274320" y="3611880"/>
            <a:ext cx="4160520" cy="301752"/>
          </a:xfrm>
          <a:prstGeom prst="rect">
            <a:avLst/>
          </a:prstGeom>
          <a:solidFill>
            <a:srgbClr val="2860A8"/>
          </a:solidFill>
          <a:ln w="12700">
            <a:solidFill>
              <a:srgbClr val="2860A8"/>
            </a:solidFill>
            <a:prstDash val="solid"/>
          </a:ln>
        </p:spPr>
        <p:txBody>
          <a:bodyPr/>
          <a:lstStyle/>
          <a:p>
            <a:endParaRPr lang="fr-FR"/>
          </a:p>
        </p:txBody>
      </p:sp>
      <p:sp>
        <p:nvSpPr>
          <p:cNvPr id="19" name="Text 17"/>
          <p:cNvSpPr/>
          <p:nvPr/>
        </p:nvSpPr>
        <p:spPr>
          <a:xfrm>
            <a:off x="365760" y="3611880"/>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EXEMPLES DE SERVICES OCCASIONNELS</a:t>
            </a:r>
            <a:endParaRPr lang="en-US" sz="1050" dirty="0"/>
          </a:p>
        </p:txBody>
      </p:sp>
      <p:sp>
        <p:nvSpPr>
          <p:cNvPr id="20" name="Text 18"/>
          <p:cNvSpPr/>
          <p:nvPr/>
        </p:nvSpPr>
        <p:spPr>
          <a:xfrm>
            <a:off x="384048" y="3959352"/>
            <a:ext cx="3977640" cy="72237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Autocar loué pour une colonie de vacances.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Circuit touristique vendu par une agence de voyage.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Transport pour un concert ou une exposition.</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Navette aller-retour pour un événement sportif.</a:t>
            </a:r>
            <a:endParaRPr lang="en-US" sz="1000" dirty="0"/>
          </a:p>
        </p:txBody>
      </p:sp>
      <p:sp>
        <p:nvSpPr>
          <p:cNvPr id="21" name="Shape 19"/>
          <p:cNvSpPr/>
          <p:nvPr/>
        </p:nvSpPr>
        <p:spPr>
          <a:xfrm>
            <a:off x="4709160" y="3611880"/>
            <a:ext cx="4160520" cy="111556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22" name="Shape 20"/>
          <p:cNvSpPr/>
          <p:nvPr/>
        </p:nvSpPr>
        <p:spPr>
          <a:xfrm>
            <a:off x="4709160" y="3611880"/>
            <a:ext cx="4160520" cy="301752"/>
          </a:xfrm>
          <a:prstGeom prst="rect">
            <a:avLst/>
          </a:prstGeom>
          <a:solidFill>
            <a:srgbClr val="1A3A5C"/>
          </a:solidFill>
          <a:ln w="12700">
            <a:solidFill>
              <a:srgbClr val="1A3A5C"/>
            </a:solidFill>
            <a:prstDash val="solid"/>
          </a:ln>
        </p:spPr>
        <p:txBody>
          <a:bodyPr/>
          <a:lstStyle/>
          <a:p>
            <a:endParaRPr lang="fr-FR"/>
          </a:p>
        </p:txBody>
      </p:sp>
      <p:sp>
        <p:nvSpPr>
          <p:cNvPr id="23" name="Text 21"/>
          <p:cNvSpPr/>
          <p:nvPr/>
        </p:nvSpPr>
        <p:spPr>
          <a:xfrm>
            <a:off x="4800600" y="3611880"/>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CE QUI LES DISTINGUE DES SERVICES RÉGULIERS</a:t>
            </a:r>
            <a:endParaRPr lang="en-US" sz="1050" dirty="0"/>
          </a:p>
        </p:txBody>
      </p:sp>
      <p:sp>
        <p:nvSpPr>
          <p:cNvPr id="24" name="Text 22"/>
          <p:cNvSpPr/>
          <p:nvPr/>
        </p:nvSpPr>
        <p:spPr>
          <a:xfrm>
            <a:off x="4818888" y="3959352"/>
            <a:ext cx="3977640" cy="72237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d'itinéraire fixe — service ponctuel et événementiel.</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Réservé à un groupe précis (pas ouvert à tous).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Billet COLLECTIF (pas de billet individuel).</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Inscription au registre DREAL obligatoire.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Comparatif des 3 types collectifs — Conditions et exemples</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14/88</a:t>
            </a:r>
            <a:endParaRPr lang="en-US" sz="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2743200"/>
        </p:xfrm>
        <a:graphic>
          <a:graphicData uri="http://schemas.openxmlformats.org/drawingml/2006/table">
            <a:tbl>
              <a:tblPr/>
              <a:tblGrid>
                <a:gridCol w="1828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tblGrid>
              <a:tr h="391886">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Critère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Services réguliers</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Services à la demande (TAD)</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Services occasionnels</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extLst>
                  <a:ext uri="{0D108BD9-81ED-4DB2-BD59-A6C34878D82A}">
                    <a16:rowId xmlns:a16="http://schemas.microsoft.com/office/drawing/2014/main" val="10000"/>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Public cible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Tout le monde — sans réservation</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Individus ayant réservé à l'avance</a:t>
                      </a:r>
                      <a:endParaRPr lang="en-US" sz="950" dirty="0">
                        <a:latin typeface="Calibri" charset="0"/>
                        <a:ea typeface="Calibri" charset="0"/>
                        <a:cs typeface="Calibri" charset="0"/>
                      </a:endParaRPr>
                    </a:p>
                    <a:p>
                      <a:pPr marL="0" indent="0">
                        <a:buNone/>
                      </a:pPr>
                      <a:r>
                        <a:rPr lang="en-US" sz="950" dirty="0">
                          <a:solidFill>
                            <a:srgbClr val="3A3A3A"/>
                          </a:solidFill>
                          <a:latin typeface="Calibri" pitchFamily="34" charset="0"/>
                          <a:ea typeface="Calibri" pitchFamily="34" charset="-122"/>
                          <a:cs typeface="Calibri" pitchFamily="34" charset="-120"/>
                        </a:rPr>
                        <a:t>(donneur d'ordre = la collectivité locale)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Groupe CONSTITUÉ par un donneur d'ordre (école, asso, entreprise...)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Itinéraire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Fixe et publié</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Variable selon les réservations</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Libre — défini pour l'événement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2"/>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Tarif</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Unique, affiché, identique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Réglementé par la collectivité</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Négocié — variable selon contrat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Billet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Individuel</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Individuel ou collectif</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COLLECTIF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4"/>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Inscription DREAL</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Non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Non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91886">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Conditions conducteur</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Pas de carte pro T3P</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Pas de carte pro T3P</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Permis D + FIMO voyageurs OU capacité transport léger</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6"/>
                  </a:ext>
                </a:extLst>
              </a:tr>
            </a:tbl>
          </a:graphicData>
        </a:graphic>
      </p:graphicFrame>
      <p:sp>
        <p:nvSpPr>
          <p:cNvPr id="9" name="Shape 6"/>
          <p:cNvSpPr/>
          <p:nvPr/>
        </p:nvSpPr>
        <p:spPr>
          <a:xfrm>
            <a:off x="274320" y="3730752"/>
            <a:ext cx="3977640" cy="347472"/>
          </a:xfrm>
          <a:prstGeom prst="rect">
            <a:avLst/>
          </a:prstGeom>
          <a:solidFill>
            <a:srgbClr val="2860A8"/>
          </a:solidFill>
          <a:ln w="12700">
            <a:solidFill>
              <a:srgbClr val="2860A8"/>
            </a:solidFill>
            <a:prstDash val="solid"/>
          </a:ln>
        </p:spPr>
        <p:txBody>
          <a:bodyPr/>
          <a:lstStyle/>
          <a:p>
            <a:endParaRPr lang="fr-FR"/>
          </a:p>
        </p:txBody>
      </p:sp>
      <p:sp>
        <p:nvSpPr>
          <p:cNvPr id="10" name="Text 7"/>
          <p:cNvSpPr/>
          <p:nvPr/>
        </p:nvSpPr>
        <p:spPr>
          <a:xfrm>
            <a:off x="347472" y="3730752"/>
            <a:ext cx="3886200" cy="347472"/>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Exemples TAD à LYON — commandés par la Métropole de Lyon</a:t>
            </a:r>
            <a:endParaRPr lang="en-US" sz="850" dirty="0"/>
          </a:p>
          <a:p>
            <a:pPr marL="0" indent="0">
              <a:buNone/>
            </a:pPr>
            <a:r>
              <a:rPr lang="en-US" sz="850" b="1" dirty="0">
                <a:solidFill>
                  <a:srgbClr val="FFFFFF"/>
                </a:solidFill>
                <a:latin typeface="Calibri" pitchFamily="34" charset="0"/>
                <a:ea typeface="Calibri" pitchFamily="34" charset="-122"/>
                <a:cs typeface="Calibri" pitchFamily="34" charset="-120"/>
              </a:rPr>
              <a:t>(donneur d'ordre = la collectivité, pas l'usager)</a:t>
            </a:r>
            <a:endParaRPr lang="en-US" sz="850" dirty="0"/>
          </a:p>
        </p:txBody>
      </p:sp>
      <p:sp>
        <p:nvSpPr>
          <p:cNvPr id="11" name="Shape 8"/>
          <p:cNvSpPr/>
          <p:nvPr/>
        </p:nvSpPr>
        <p:spPr>
          <a:xfrm>
            <a:off x="274320" y="4078224"/>
            <a:ext cx="3977640" cy="987552"/>
          </a:xfrm>
          <a:prstGeom prst="rect">
            <a:avLst/>
          </a:prstGeom>
          <a:solidFill>
            <a:srgbClr val="E8F1FA"/>
          </a:solidFill>
          <a:ln w="6350">
            <a:solidFill>
              <a:srgbClr val="D0DCE8"/>
            </a:solidFill>
            <a:prstDash val="solid"/>
          </a:ln>
        </p:spPr>
        <p:txBody>
          <a:bodyPr/>
          <a:lstStyle/>
          <a:p>
            <a:endParaRPr lang="fr-FR"/>
          </a:p>
        </p:txBody>
      </p:sp>
      <p:sp>
        <p:nvSpPr>
          <p:cNvPr id="12" name="Text 9"/>
          <p:cNvSpPr/>
          <p:nvPr/>
        </p:nvSpPr>
        <p:spPr>
          <a:xfrm>
            <a:off x="365760" y="4096512"/>
            <a:ext cx="3840480" cy="9326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Navette TAD Bourg-en-Bresse ↔ villages du Ain (Keolis)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Transport à la demande nocturne Optibus (périphérie Lyon)</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Navette médicale sur résa pour zones rurales (SYTRAL)</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Réseau TAD Libellule — Ain Dombes Saône (résa 48h avant)</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Navette scolaire TAD Villages de l'Ain sur réservation</a:t>
            </a:r>
            <a:endParaRPr lang="en-US" sz="850" dirty="0"/>
          </a:p>
        </p:txBody>
      </p:sp>
      <p:sp>
        <p:nvSpPr>
          <p:cNvPr id="13" name="Shape 10"/>
          <p:cNvSpPr/>
          <p:nvPr/>
        </p:nvSpPr>
        <p:spPr>
          <a:xfrm>
            <a:off x="4434840" y="3730752"/>
            <a:ext cx="3977640" cy="347472"/>
          </a:xfrm>
          <a:prstGeom prst="rect">
            <a:avLst/>
          </a:prstGeom>
          <a:solidFill>
            <a:srgbClr val="1A3A5C"/>
          </a:solidFill>
          <a:ln w="12700">
            <a:solidFill>
              <a:srgbClr val="1A3A5C"/>
            </a:solidFill>
            <a:prstDash val="solid"/>
          </a:ln>
        </p:spPr>
        <p:txBody>
          <a:bodyPr/>
          <a:lstStyle/>
          <a:p>
            <a:endParaRPr lang="fr-FR"/>
          </a:p>
        </p:txBody>
      </p:sp>
      <p:sp>
        <p:nvSpPr>
          <p:cNvPr id="14" name="Text 11"/>
          <p:cNvSpPr/>
          <p:nvPr/>
        </p:nvSpPr>
        <p:spPr>
          <a:xfrm>
            <a:off x="4507992" y="3730752"/>
            <a:ext cx="3886200" cy="347472"/>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Exemples Occasionnels à LYON</a:t>
            </a:r>
            <a:endParaRPr lang="en-US" sz="850" dirty="0"/>
          </a:p>
          <a:p>
            <a:pPr marL="0" indent="0">
              <a:buNone/>
            </a:pPr>
            <a:r>
              <a:rPr lang="en-US" sz="850" b="1" dirty="0">
                <a:solidFill>
                  <a:srgbClr val="FFFFFF"/>
                </a:solidFill>
                <a:latin typeface="Calibri" pitchFamily="34" charset="0"/>
                <a:ea typeface="Calibri" pitchFamily="34" charset="-122"/>
                <a:cs typeface="Calibri" pitchFamily="34" charset="-120"/>
              </a:rPr>
              <a:t>(donneur d'ordre = école, asso, entreprise — groupe déjà formé)</a:t>
            </a:r>
            <a:endParaRPr lang="en-US" sz="850" dirty="0"/>
          </a:p>
        </p:txBody>
      </p:sp>
      <p:sp>
        <p:nvSpPr>
          <p:cNvPr id="8" name="Shape 12"/>
          <p:cNvSpPr/>
          <p:nvPr/>
        </p:nvSpPr>
        <p:spPr>
          <a:xfrm>
            <a:off x="4434840" y="4078224"/>
            <a:ext cx="3977640" cy="987552"/>
          </a:xfrm>
          <a:prstGeom prst="rect">
            <a:avLst/>
          </a:prstGeom>
          <a:solidFill>
            <a:srgbClr val="E8F1FA"/>
          </a:solidFill>
          <a:ln w="6350">
            <a:solidFill>
              <a:srgbClr val="D0DCE8"/>
            </a:solidFill>
            <a:prstDash val="solid"/>
          </a:ln>
        </p:spPr>
        <p:txBody>
          <a:bodyPr/>
          <a:lstStyle/>
          <a:p>
            <a:endParaRPr lang="fr-FR"/>
          </a:p>
        </p:txBody>
      </p:sp>
      <p:sp>
        <p:nvSpPr>
          <p:cNvPr id="16" name="Text 13"/>
          <p:cNvSpPr/>
          <p:nvPr/>
        </p:nvSpPr>
        <p:spPr>
          <a:xfrm>
            <a:off x="4526280" y="4096512"/>
            <a:ext cx="3840480" cy="9326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Car pour sortie scolaire : l'école commande = donneur d'ordre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Car colonie de vacances : l'asso = donneur d'ordre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Car pour concert à Fourvière : l'agence = donneur d'ordre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Navette séminaire entreprise : l'entreprise = donneur d'ordre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Circuit touristique Lyon Presqu'île : agence tour = donneur d'ordre</a:t>
            </a:r>
            <a:endParaRPr lang="en-US" sz="850" dirty="0"/>
          </a:p>
        </p:txBody>
      </p:sp>
      <p:sp>
        <p:nvSpPr>
          <p:cNvPr id="17" name="Shape 14"/>
          <p:cNvSpPr/>
          <p:nvPr/>
        </p:nvSpPr>
        <p:spPr>
          <a:xfrm>
            <a:off x="274320" y="5120640"/>
            <a:ext cx="8595360" cy="137160"/>
          </a:xfrm>
          <a:prstGeom prst="rect">
            <a:avLst/>
          </a:prstGeom>
          <a:solidFill>
            <a:srgbClr val="FFF8E1"/>
          </a:solidFill>
          <a:ln w="12700">
            <a:solidFill>
              <a:srgbClr val="F4A227"/>
            </a:solidFill>
            <a:prstDash val="solid"/>
          </a:ln>
        </p:spPr>
        <p:txBody>
          <a:bodyPr/>
          <a:lstStyle/>
          <a:p>
            <a:endParaRPr lang="fr-FR"/>
          </a:p>
        </p:txBody>
      </p:sp>
      <p:sp>
        <p:nvSpPr>
          <p:cNvPr id="18" name="Shape 15"/>
          <p:cNvSpPr/>
          <p:nvPr/>
        </p:nvSpPr>
        <p:spPr>
          <a:xfrm>
            <a:off x="274320" y="5120640"/>
            <a:ext cx="54864" cy="137160"/>
          </a:xfrm>
          <a:prstGeom prst="rect">
            <a:avLst/>
          </a:prstGeom>
          <a:solidFill>
            <a:srgbClr val="F4A227"/>
          </a:solidFill>
          <a:ln w="12700">
            <a:solidFill>
              <a:srgbClr val="F4A227"/>
            </a:solidFill>
            <a:prstDash val="solid"/>
          </a:ln>
        </p:spPr>
        <p:txBody>
          <a:bodyPr/>
          <a:lstStyle/>
          <a:p>
            <a:endParaRPr lang="fr-FR"/>
          </a:p>
        </p:txBody>
      </p:sp>
      <p:sp>
        <p:nvSpPr>
          <p:cNvPr id="19" name="Text 16"/>
          <p:cNvSpPr/>
          <p:nvPr/>
        </p:nvSpPr>
        <p:spPr>
          <a:xfrm>
            <a:off x="457200" y="5120640"/>
            <a:ext cx="8229600" cy="137160"/>
          </a:xfrm>
          <a:prstGeom prst="rect">
            <a:avLst/>
          </a:prstGeom>
          <a:noFill/>
          <a:ln/>
        </p:spPr>
        <p:txBody>
          <a:bodyPr wrap="square" rtlCol="0" anchor="ctr"/>
          <a:lstStyle/>
          <a:p>
            <a:pPr marL="0" indent="0">
              <a:buNone/>
            </a:pPr>
            <a:r>
              <a:rPr lang="en-US" sz="750" dirty="0">
                <a:solidFill>
                  <a:srgbClr val="3A3A3A"/>
                </a:solidFill>
                <a:latin typeface="Calibri" pitchFamily="34" charset="0"/>
                <a:ea typeface="Calibri" pitchFamily="34" charset="-122"/>
                <a:cs typeface="Calibri" pitchFamily="34" charset="-120"/>
              </a:rPr>
              <a:t>🔑  TAD : donneur d'ordre = la COLLECTIVITÉ (Métropole, Conseil Dép.). L'usager réserve mais ne commande pas le service. Occasionnel : donneur d'ordre = école, asso, entreprise → groupe précis.</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3. La loi LOTI — Définition du T3P</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Loi n°82-1153 du 30 décembre 1982 — Le cadre légal fondateur</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15/88</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La loi LOTI et la prestation T3P</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Loi n°82-1153 du 30 décembre 1982 — DREAL / DRIEAT</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16/88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La loi LOTI est le texte fondateur de toute la réglementation du transport de personnes en France. C'est elle qui définit précisément ce qu'est le transport public particulier de personnes (T3P) et qui peut l'exercer.</a:t>
            </a:r>
            <a:endParaRPr lang="en-US" sz="1200" dirty="0"/>
          </a:p>
        </p:txBody>
      </p:sp>
      <p:sp>
        <p:nvSpPr>
          <p:cNvPr id="10" name="Shape 8"/>
          <p:cNvSpPr/>
          <p:nvPr/>
        </p:nvSpPr>
        <p:spPr>
          <a:xfrm>
            <a:off x="274320" y="1627632"/>
            <a:ext cx="8595360" cy="84124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859536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LOI LOTI — Loi n°82-1153 du 30 décembre 1982</a:t>
            </a:r>
            <a:endParaRPr lang="en-US" sz="1050" dirty="0"/>
          </a:p>
        </p:txBody>
      </p:sp>
      <p:sp>
        <p:nvSpPr>
          <p:cNvPr id="13" name="Text 11"/>
          <p:cNvSpPr/>
          <p:nvPr/>
        </p:nvSpPr>
        <p:spPr>
          <a:xfrm>
            <a:off x="384048" y="1975104"/>
            <a:ext cx="8412480" cy="44805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Loi d'orientation des transports intérieurs — organise l'ensemble du transport de marchandises et de voyageurs en France.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La DREAL ou la DRIEAT (Île-de-France) délivre les autorisations de transport.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Elle distingue : transport public collectif, transport public particulier (T3P), et transport privé.</a:t>
            </a:r>
            <a:endParaRPr lang="en-US" sz="1000" dirty="0"/>
          </a:p>
        </p:txBody>
      </p:sp>
      <p:sp>
        <p:nvSpPr>
          <p:cNvPr id="14" name="Shape 12"/>
          <p:cNvSpPr/>
          <p:nvPr/>
        </p:nvSpPr>
        <p:spPr>
          <a:xfrm>
            <a:off x="274320" y="2542032"/>
            <a:ext cx="8595360" cy="960120"/>
          </a:xfrm>
          <a:prstGeom prst="rect">
            <a:avLst/>
          </a:prstGeom>
          <a:solidFill>
            <a:srgbClr val="EBF3FC"/>
          </a:solidFill>
          <a:ln w="19050">
            <a:solidFill>
              <a:srgbClr val="2860A8"/>
            </a:solidFill>
            <a:prstDash val="solid"/>
          </a:ln>
        </p:spPr>
        <p:txBody>
          <a:bodyPr/>
          <a:lstStyle/>
          <a:p>
            <a:endParaRPr lang="fr-FR"/>
          </a:p>
        </p:txBody>
      </p:sp>
      <p:sp>
        <p:nvSpPr>
          <p:cNvPr id="15" name="Shape 13"/>
          <p:cNvSpPr/>
          <p:nvPr/>
        </p:nvSpPr>
        <p:spPr>
          <a:xfrm>
            <a:off x="274320" y="2542032"/>
            <a:ext cx="64008" cy="960120"/>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457200" y="2560320"/>
            <a:ext cx="8229600" cy="256032"/>
          </a:xfrm>
          <a:prstGeom prst="rect">
            <a:avLst/>
          </a:prstGeom>
          <a:noFill/>
          <a:ln/>
        </p:spPr>
        <p:txBody>
          <a:bodyPr wrap="square" rtlCol="0" anchor="ctr"/>
          <a:lstStyle/>
          <a:p>
            <a:pPr marL="0" indent="0">
              <a:buNone/>
            </a:pPr>
            <a:r>
              <a:rPr lang="en-US" sz="1000" b="1" dirty="0">
                <a:solidFill>
                  <a:srgbClr val="1A3A5C"/>
                </a:solidFill>
                <a:latin typeface="Calibri" pitchFamily="34" charset="0"/>
                <a:ea typeface="Calibri" pitchFamily="34" charset="-122"/>
                <a:cs typeface="Calibri" pitchFamily="34" charset="-120"/>
              </a:rPr>
              <a:t>DÉFINITION OFFICIELLE :</a:t>
            </a:r>
            <a:endParaRPr lang="en-US" sz="1000" dirty="0"/>
          </a:p>
        </p:txBody>
      </p:sp>
      <p:sp>
        <p:nvSpPr>
          <p:cNvPr id="17" name="Text 15"/>
          <p:cNvSpPr/>
          <p:nvPr/>
        </p:nvSpPr>
        <p:spPr>
          <a:xfrm>
            <a:off x="457200" y="2816352"/>
            <a:ext cx="8229600" cy="658368"/>
          </a:xfrm>
          <a:prstGeom prst="rect">
            <a:avLst/>
          </a:prstGeom>
          <a:noFill/>
          <a:ln/>
        </p:spPr>
        <p:txBody>
          <a:bodyPr wrap="square" rtlCol="0" anchor="t"/>
          <a:lstStyle/>
          <a:p>
            <a:pPr marL="0" indent="0">
              <a:buNone/>
            </a:pPr>
            <a:r>
              <a:rPr lang="en-US" sz="1050" i="1" dirty="0">
                <a:solidFill>
                  <a:srgbClr val="3A3A3A"/>
                </a:solidFill>
                <a:latin typeface="Calibri" pitchFamily="34" charset="0"/>
                <a:ea typeface="Calibri" pitchFamily="34" charset="-122"/>
                <a:cs typeface="Calibri" pitchFamily="34" charset="-120"/>
              </a:rPr>
              <a:t>"Les prestations de transports publics particuliers de personnes sont des prestations de transport public routier de personnes qui ne relèvent NI des transports publics collectifs NI du transport privé routier de personnes. Elles sont exécutées à titre ONÉREUX par les taxis, les VTC et les véhicules motorisés à deux ou trois roues."</a:t>
            </a:r>
            <a:endParaRPr lang="en-US" sz="1050" dirty="0"/>
          </a:p>
        </p:txBody>
      </p:sp>
      <p:sp>
        <p:nvSpPr>
          <p:cNvPr id="18" name="Shape 16"/>
          <p:cNvSpPr/>
          <p:nvPr/>
        </p:nvSpPr>
        <p:spPr>
          <a:xfrm>
            <a:off x="274320" y="3611880"/>
            <a:ext cx="2743200" cy="1115568"/>
          </a:xfrm>
          <a:prstGeom prst="rect">
            <a:avLst/>
          </a:prstGeom>
          <a:solidFill>
            <a:srgbClr val="E8F1FA"/>
          </a:solidFill>
          <a:ln w="6350">
            <a:solidFill>
              <a:srgbClr val="D0DCE8"/>
            </a:solidFill>
            <a:prstDash val="solid"/>
          </a:ln>
        </p:spPr>
        <p:txBody>
          <a:bodyPr/>
          <a:lstStyle/>
          <a:p>
            <a:endParaRPr lang="fr-FR"/>
          </a:p>
        </p:txBody>
      </p:sp>
      <p:sp>
        <p:nvSpPr>
          <p:cNvPr id="19" name="Shape 17"/>
          <p:cNvSpPr/>
          <p:nvPr/>
        </p:nvSpPr>
        <p:spPr>
          <a:xfrm>
            <a:off x="274320" y="3611880"/>
            <a:ext cx="2743200" cy="292608"/>
          </a:xfrm>
          <a:prstGeom prst="rect">
            <a:avLst/>
          </a:prstGeom>
          <a:solidFill>
            <a:srgbClr val="F4A227"/>
          </a:solidFill>
          <a:ln w="12700">
            <a:solidFill>
              <a:srgbClr val="F4A227"/>
            </a:solidFill>
            <a:prstDash val="solid"/>
          </a:ln>
        </p:spPr>
        <p:txBody>
          <a:bodyPr/>
          <a:lstStyle/>
          <a:p>
            <a:endParaRPr lang="fr-FR"/>
          </a:p>
        </p:txBody>
      </p:sp>
      <p:sp>
        <p:nvSpPr>
          <p:cNvPr id="20" name="Text 18"/>
          <p:cNvSpPr/>
          <p:nvPr/>
        </p:nvSpPr>
        <p:spPr>
          <a:xfrm>
            <a:off x="347472" y="3611880"/>
            <a:ext cx="2615184" cy="29260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À titre ONÉREUX</a:t>
            </a:r>
            <a:endParaRPr lang="en-US" sz="1000" dirty="0"/>
          </a:p>
        </p:txBody>
      </p:sp>
      <p:sp>
        <p:nvSpPr>
          <p:cNvPr id="21" name="Text 19"/>
          <p:cNvSpPr/>
          <p:nvPr/>
        </p:nvSpPr>
        <p:spPr>
          <a:xfrm>
            <a:off x="365760" y="3931920"/>
            <a:ext cx="2578608" cy="77724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Le service est payant. Sans rémunération = covoiturage ou transport privé.</a:t>
            </a:r>
            <a:endParaRPr lang="en-US" sz="1000" dirty="0"/>
          </a:p>
        </p:txBody>
      </p:sp>
      <p:sp>
        <p:nvSpPr>
          <p:cNvPr id="22" name="Shape 20"/>
          <p:cNvSpPr/>
          <p:nvPr/>
        </p:nvSpPr>
        <p:spPr>
          <a:xfrm>
            <a:off x="3154680" y="3611880"/>
            <a:ext cx="2743200" cy="1115568"/>
          </a:xfrm>
          <a:prstGeom prst="rect">
            <a:avLst/>
          </a:prstGeom>
          <a:solidFill>
            <a:srgbClr val="E8F1FA"/>
          </a:solidFill>
          <a:ln w="6350">
            <a:solidFill>
              <a:srgbClr val="D0DCE8"/>
            </a:solidFill>
            <a:prstDash val="solid"/>
          </a:ln>
        </p:spPr>
        <p:txBody>
          <a:bodyPr/>
          <a:lstStyle/>
          <a:p>
            <a:endParaRPr lang="fr-FR"/>
          </a:p>
        </p:txBody>
      </p:sp>
      <p:sp>
        <p:nvSpPr>
          <p:cNvPr id="23" name="Shape 21"/>
          <p:cNvSpPr/>
          <p:nvPr/>
        </p:nvSpPr>
        <p:spPr>
          <a:xfrm>
            <a:off x="3154680" y="3611880"/>
            <a:ext cx="2743200" cy="292608"/>
          </a:xfrm>
          <a:prstGeom prst="rect">
            <a:avLst/>
          </a:prstGeom>
          <a:solidFill>
            <a:srgbClr val="2860A8"/>
          </a:solidFill>
          <a:ln w="12700">
            <a:solidFill>
              <a:srgbClr val="2860A8"/>
            </a:solidFill>
            <a:prstDash val="solid"/>
          </a:ln>
        </p:spPr>
        <p:txBody>
          <a:bodyPr/>
          <a:lstStyle/>
          <a:p>
            <a:endParaRPr lang="fr-FR"/>
          </a:p>
        </p:txBody>
      </p:sp>
      <p:sp>
        <p:nvSpPr>
          <p:cNvPr id="24" name="Text 22"/>
          <p:cNvSpPr/>
          <p:nvPr/>
        </p:nvSpPr>
        <p:spPr>
          <a:xfrm>
            <a:off x="3227832" y="3611880"/>
            <a:ext cx="2615184" cy="29260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NI collectif NI privé</a:t>
            </a:r>
            <a:endParaRPr lang="en-US" sz="1000" dirty="0"/>
          </a:p>
        </p:txBody>
      </p:sp>
      <p:sp>
        <p:nvSpPr>
          <p:cNvPr id="25" name="Text 23"/>
          <p:cNvSpPr/>
          <p:nvPr/>
        </p:nvSpPr>
        <p:spPr>
          <a:xfrm>
            <a:off x="3246120" y="3931920"/>
            <a:ext cx="2578608" cy="77724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Pas un bus/tram (collectif) ni une navette interne (privé).</a:t>
            </a:r>
            <a:endParaRPr lang="en-US" sz="1000" dirty="0"/>
          </a:p>
        </p:txBody>
      </p:sp>
      <p:sp>
        <p:nvSpPr>
          <p:cNvPr id="26" name="Shape 24"/>
          <p:cNvSpPr/>
          <p:nvPr/>
        </p:nvSpPr>
        <p:spPr>
          <a:xfrm>
            <a:off x="6035040" y="3611880"/>
            <a:ext cx="2743200" cy="1115568"/>
          </a:xfrm>
          <a:prstGeom prst="rect">
            <a:avLst/>
          </a:prstGeom>
          <a:solidFill>
            <a:srgbClr val="E8F1FA"/>
          </a:solidFill>
          <a:ln w="6350">
            <a:solidFill>
              <a:srgbClr val="D0DCE8"/>
            </a:solidFill>
            <a:prstDash val="solid"/>
          </a:ln>
        </p:spPr>
        <p:txBody>
          <a:bodyPr/>
          <a:lstStyle/>
          <a:p>
            <a:endParaRPr lang="fr-FR"/>
          </a:p>
        </p:txBody>
      </p:sp>
      <p:sp>
        <p:nvSpPr>
          <p:cNvPr id="27" name="Shape 25"/>
          <p:cNvSpPr/>
          <p:nvPr/>
        </p:nvSpPr>
        <p:spPr>
          <a:xfrm>
            <a:off x="6035040" y="3611880"/>
            <a:ext cx="2743200" cy="292608"/>
          </a:xfrm>
          <a:prstGeom prst="rect">
            <a:avLst/>
          </a:prstGeom>
          <a:solidFill>
            <a:srgbClr val="1A3A5C"/>
          </a:solidFill>
          <a:ln w="12700">
            <a:solidFill>
              <a:srgbClr val="1A3A5C"/>
            </a:solidFill>
            <a:prstDash val="solid"/>
          </a:ln>
        </p:spPr>
        <p:txBody>
          <a:bodyPr/>
          <a:lstStyle/>
          <a:p>
            <a:endParaRPr lang="fr-FR"/>
          </a:p>
        </p:txBody>
      </p:sp>
      <p:sp>
        <p:nvSpPr>
          <p:cNvPr id="28" name="Text 26"/>
          <p:cNvSpPr/>
          <p:nvPr/>
        </p:nvSpPr>
        <p:spPr>
          <a:xfrm>
            <a:off x="6108192" y="3611880"/>
            <a:ext cx="2615184" cy="292608"/>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Taxi, VTC ou VMDTR</a:t>
            </a:r>
            <a:endParaRPr lang="en-US" sz="1000" dirty="0"/>
          </a:p>
        </p:txBody>
      </p:sp>
      <p:sp>
        <p:nvSpPr>
          <p:cNvPr id="29" name="Text 27"/>
          <p:cNvSpPr/>
          <p:nvPr/>
        </p:nvSpPr>
        <p:spPr>
          <a:xfrm>
            <a:off x="6126480" y="3931920"/>
            <a:ext cx="2578608" cy="77724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Seules ces 3 professions sont légalement habilitées.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La prestation T3P — Schéma de positionnement</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17/88</a:t>
            </a:r>
            <a:endParaRPr lang="en-US" sz="800" dirty="0"/>
          </a:p>
        </p:txBody>
      </p:sp>
      <p:sp>
        <p:nvSpPr>
          <p:cNvPr id="8" name="Text 6"/>
          <p:cNvSpPr/>
          <p:nvPr/>
        </p:nvSpPr>
        <p:spPr>
          <a:xfrm>
            <a:off x="274320" y="886968"/>
            <a:ext cx="8595360" cy="292608"/>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Comment identifier une prestation T3P parmi toutes les formes de transport ?</a:t>
            </a:r>
            <a:endParaRPr lang="en-US" sz="1200" dirty="0"/>
          </a:p>
        </p:txBody>
      </p:sp>
      <p:sp>
        <p:nvSpPr>
          <p:cNvPr id="9" name="Shape 7"/>
          <p:cNvSpPr/>
          <p:nvPr/>
        </p:nvSpPr>
        <p:spPr>
          <a:xfrm>
            <a:off x="3291840" y="1261872"/>
            <a:ext cx="2560320" cy="384048"/>
          </a:xfrm>
          <a:prstGeom prst="rect">
            <a:avLst/>
          </a:prstGeom>
          <a:solidFill>
            <a:srgbClr val="2860A8"/>
          </a:solidFill>
          <a:ln w="12700">
            <a:solidFill>
              <a:srgbClr val="2860A8"/>
            </a:solidFill>
            <a:prstDash val="solid"/>
          </a:ln>
        </p:spPr>
        <p:txBody>
          <a:bodyPr/>
          <a:lstStyle/>
          <a:p>
            <a:endParaRPr lang="fr-FR"/>
          </a:p>
        </p:txBody>
      </p:sp>
      <p:sp>
        <p:nvSpPr>
          <p:cNvPr id="10" name="Text 8"/>
          <p:cNvSpPr/>
          <p:nvPr/>
        </p:nvSpPr>
        <p:spPr>
          <a:xfrm>
            <a:off x="3337560" y="1261872"/>
            <a:ext cx="2468880" cy="38404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Transport de personnes ?</a:t>
            </a:r>
            <a:endParaRPr lang="en-US" sz="950" dirty="0"/>
          </a:p>
        </p:txBody>
      </p:sp>
      <p:sp>
        <p:nvSpPr>
          <p:cNvPr id="11" name="Shape 9"/>
          <p:cNvSpPr/>
          <p:nvPr/>
        </p:nvSpPr>
        <p:spPr>
          <a:xfrm>
            <a:off x="4572000" y="1645920"/>
            <a:ext cx="0" cy="256032"/>
          </a:xfrm>
          <a:prstGeom prst="line">
            <a:avLst/>
          </a:prstGeom>
          <a:noFill/>
          <a:ln w="15240">
            <a:solidFill>
              <a:srgbClr val="6B7A8D"/>
            </a:solidFill>
            <a:prstDash val="solid"/>
          </a:ln>
        </p:spPr>
        <p:txBody>
          <a:bodyPr/>
          <a:lstStyle/>
          <a:p>
            <a:endParaRPr lang="fr-FR"/>
          </a:p>
        </p:txBody>
      </p:sp>
      <p:sp>
        <p:nvSpPr>
          <p:cNvPr id="12" name="Shape 10"/>
          <p:cNvSpPr/>
          <p:nvPr/>
        </p:nvSpPr>
        <p:spPr>
          <a:xfrm>
            <a:off x="1371600" y="1901952"/>
            <a:ext cx="6400800" cy="0"/>
          </a:xfrm>
          <a:prstGeom prst="line">
            <a:avLst/>
          </a:prstGeom>
          <a:noFill/>
          <a:ln w="15240">
            <a:solidFill>
              <a:srgbClr val="6B7A8D"/>
            </a:solidFill>
            <a:prstDash val="solid"/>
          </a:ln>
        </p:spPr>
        <p:txBody>
          <a:bodyPr/>
          <a:lstStyle/>
          <a:p>
            <a:endParaRPr lang="fr-FR"/>
          </a:p>
        </p:txBody>
      </p:sp>
      <p:sp>
        <p:nvSpPr>
          <p:cNvPr id="13" name="Shape 11"/>
          <p:cNvSpPr/>
          <p:nvPr/>
        </p:nvSpPr>
        <p:spPr>
          <a:xfrm>
            <a:off x="1371600" y="1901952"/>
            <a:ext cx="0" cy="201168"/>
          </a:xfrm>
          <a:prstGeom prst="line">
            <a:avLst/>
          </a:prstGeom>
          <a:noFill/>
          <a:ln w="15240">
            <a:solidFill>
              <a:srgbClr val="6B7A8D"/>
            </a:solidFill>
            <a:prstDash val="solid"/>
          </a:ln>
        </p:spPr>
        <p:txBody>
          <a:bodyPr/>
          <a:lstStyle/>
          <a:p>
            <a:endParaRPr lang="fr-FR"/>
          </a:p>
        </p:txBody>
      </p:sp>
      <p:sp>
        <p:nvSpPr>
          <p:cNvPr id="14" name="Shape 12"/>
          <p:cNvSpPr/>
          <p:nvPr/>
        </p:nvSpPr>
        <p:spPr>
          <a:xfrm>
            <a:off x="365760" y="2103120"/>
            <a:ext cx="2011680" cy="384048"/>
          </a:xfrm>
          <a:prstGeom prst="rect">
            <a:avLst/>
          </a:prstGeom>
          <a:solidFill>
            <a:srgbClr val="C0392B"/>
          </a:solidFill>
          <a:ln w="12700">
            <a:solidFill>
              <a:srgbClr val="C0392B"/>
            </a:solidFill>
            <a:prstDash val="solid"/>
          </a:ln>
        </p:spPr>
        <p:txBody>
          <a:bodyPr/>
          <a:lstStyle/>
          <a:p>
            <a:endParaRPr lang="fr-FR"/>
          </a:p>
        </p:txBody>
      </p:sp>
      <p:sp>
        <p:nvSpPr>
          <p:cNvPr id="15" name="Text 13"/>
          <p:cNvSpPr/>
          <p:nvPr/>
        </p:nvSpPr>
        <p:spPr>
          <a:xfrm>
            <a:off x="411480" y="2103120"/>
            <a:ext cx="1920240" cy="38404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Non → Hors champ</a:t>
            </a:r>
            <a:endParaRPr lang="en-US" sz="900" dirty="0"/>
          </a:p>
        </p:txBody>
      </p:sp>
      <p:sp>
        <p:nvSpPr>
          <p:cNvPr id="16" name="Shape 14"/>
          <p:cNvSpPr/>
          <p:nvPr/>
        </p:nvSpPr>
        <p:spPr>
          <a:xfrm>
            <a:off x="4572000" y="1901952"/>
            <a:ext cx="0" cy="201168"/>
          </a:xfrm>
          <a:prstGeom prst="line">
            <a:avLst/>
          </a:prstGeom>
          <a:noFill/>
          <a:ln w="15240">
            <a:solidFill>
              <a:srgbClr val="6B7A8D"/>
            </a:solidFill>
            <a:prstDash val="solid"/>
          </a:ln>
        </p:spPr>
        <p:txBody>
          <a:bodyPr/>
          <a:lstStyle/>
          <a:p>
            <a:endParaRPr lang="fr-FR"/>
          </a:p>
        </p:txBody>
      </p:sp>
      <p:sp>
        <p:nvSpPr>
          <p:cNvPr id="17" name="Shape 15"/>
          <p:cNvSpPr/>
          <p:nvPr/>
        </p:nvSpPr>
        <p:spPr>
          <a:xfrm>
            <a:off x="3291840" y="2103120"/>
            <a:ext cx="2560320" cy="384048"/>
          </a:xfrm>
          <a:prstGeom prst="rect">
            <a:avLst/>
          </a:prstGeom>
          <a:solidFill>
            <a:srgbClr val="2860A8"/>
          </a:solidFill>
          <a:ln w="12700">
            <a:solidFill>
              <a:srgbClr val="2860A8"/>
            </a:solidFill>
            <a:prstDash val="solid"/>
          </a:ln>
        </p:spPr>
        <p:txBody>
          <a:bodyPr/>
          <a:lstStyle/>
          <a:p>
            <a:endParaRPr lang="fr-FR"/>
          </a:p>
        </p:txBody>
      </p:sp>
      <p:sp>
        <p:nvSpPr>
          <p:cNvPr id="18" name="Text 16"/>
          <p:cNvSpPr/>
          <p:nvPr/>
        </p:nvSpPr>
        <p:spPr>
          <a:xfrm>
            <a:off x="3337560" y="2103120"/>
            <a:ext cx="2468880" cy="38404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Service payant (onéreux) ?</a:t>
            </a:r>
            <a:endParaRPr lang="en-US" sz="950" dirty="0"/>
          </a:p>
        </p:txBody>
      </p:sp>
      <p:sp>
        <p:nvSpPr>
          <p:cNvPr id="19" name="Shape 17"/>
          <p:cNvSpPr/>
          <p:nvPr/>
        </p:nvSpPr>
        <p:spPr>
          <a:xfrm>
            <a:off x="4572000" y="2487168"/>
            <a:ext cx="0" cy="256032"/>
          </a:xfrm>
          <a:prstGeom prst="line">
            <a:avLst/>
          </a:prstGeom>
          <a:noFill/>
          <a:ln w="15240">
            <a:solidFill>
              <a:srgbClr val="6B7A8D"/>
            </a:solidFill>
            <a:prstDash val="solid"/>
          </a:ln>
        </p:spPr>
        <p:txBody>
          <a:bodyPr/>
          <a:lstStyle/>
          <a:p>
            <a:endParaRPr lang="fr-FR"/>
          </a:p>
        </p:txBody>
      </p:sp>
      <p:sp>
        <p:nvSpPr>
          <p:cNvPr id="20" name="Shape 18"/>
          <p:cNvSpPr/>
          <p:nvPr/>
        </p:nvSpPr>
        <p:spPr>
          <a:xfrm>
            <a:off x="1371600" y="2743200"/>
            <a:ext cx="6400800" cy="0"/>
          </a:xfrm>
          <a:prstGeom prst="line">
            <a:avLst/>
          </a:prstGeom>
          <a:noFill/>
          <a:ln w="15240">
            <a:solidFill>
              <a:srgbClr val="6B7A8D"/>
            </a:solidFill>
            <a:prstDash val="solid"/>
          </a:ln>
        </p:spPr>
        <p:txBody>
          <a:bodyPr/>
          <a:lstStyle/>
          <a:p>
            <a:endParaRPr lang="fr-FR"/>
          </a:p>
        </p:txBody>
      </p:sp>
      <p:sp>
        <p:nvSpPr>
          <p:cNvPr id="21" name="Shape 19"/>
          <p:cNvSpPr/>
          <p:nvPr/>
        </p:nvSpPr>
        <p:spPr>
          <a:xfrm>
            <a:off x="1371600" y="2743200"/>
            <a:ext cx="0" cy="201168"/>
          </a:xfrm>
          <a:prstGeom prst="line">
            <a:avLst/>
          </a:prstGeom>
          <a:noFill/>
          <a:ln w="15240">
            <a:solidFill>
              <a:srgbClr val="6B7A8D"/>
            </a:solidFill>
            <a:prstDash val="solid"/>
          </a:ln>
        </p:spPr>
        <p:txBody>
          <a:bodyPr/>
          <a:lstStyle/>
          <a:p>
            <a:endParaRPr lang="fr-FR"/>
          </a:p>
        </p:txBody>
      </p:sp>
      <p:sp>
        <p:nvSpPr>
          <p:cNvPr id="22" name="Shape 20"/>
          <p:cNvSpPr/>
          <p:nvPr/>
        </p:nvSpPr>
        <p:spPr>
          <a:xfrm>
            <a:off x="274320" y="2944368"/>
            <a:ext cx="2194560" cy="384048"/>
          </a:xfrm>
          <a:prstGeom prst="rect">
            <a:avLst/>
          </a:prstGeom>
          <a:solidFill>
            <a:srgbClr val="C0392B"/>
          </a:solidFill>
          <a:ln w="12700">
            <a:solidFill>
              <a:srgbClr val="C0392B"/>
            </a:solidFill>
            <a:prstDash val="solid"/>
          </a:ln>
        </p:spPr>
        <p:txBody>
          <a:bodyPr/>
          <a:lstStyle/>
          <a:p>
            <a:endParaRPr lang="fr-FR"/>
          </a:p>
        </p:txBody>
      </p:sp>
      <p:sp>
        <p:nvSpPr>
          <p:cNvPr id="23" name="Text 21"/>
          <p:cNvSpPr/>
          <p:nvPr/>
        </p:nvSpPr>
        <p:spPr>
          <a:xfrm>
            <a:off x="320040" y="2944368"/>
            <a:ext cx="2103120" cy="38404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Non → Covoiturage</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ou transport privé</a:t>
            </a:r>
            <a:endParaRPr lang="en-US" sz="900" dirty="0"/>
          </a:p>
        </p:txBody>
      </p:sp>
      <p:sp>
        <p:nvSpPr>
          <p:cNvPr id="24" name="Shape 22"/>
          <p:cNvSpPr/>
          <p:nvPr/>
        </p:nvSpPr>
        <p:spPr>
          <a:xfrm>
            <a:off x="7772400" y="2743200"/>
            <a:ext cx="0" cy="201168"/>
          </a:xfrm>
          <a:prstGeom prst="line">
            <a:avLst/>
          </a:prstGeom>
          <a:noFill/>
          <a:ln w="15240">
            <a:solidFill>
              <a:srgbClr val="6B7A8D"/>
            </a:solidFill>
            <a:prstDash val="solid"/>
          </a:ln>
        </p:spPr>
        <p:txBody>
          <a:bodyPr/>
          <a:lstStyle/>
          <a:p>
            <a:endParaRPr lang="fr-FR"/>
          </a:p>
        </p:txBody>
      </p:sp>
      <p:sp>
        <p:nvSpPr>
          <p:cNvPr id="25" name="Shape 23"/>
          <p:cNvSpPr/>
          <p:nvPr/>
        </p:nvSpPr>
        <p:spPr>
          <a:xfrm>
            <a:off x="6766560" y="2944368"/>
            <a:ext cx="1920240" cy="384048"/>
          </a:xfrm>
          <a:prstGeom prst="rect">
            <a:avLst/>
          </a:prstGeom>
          <a:solidFill>
            <a:srgbClr val="C0392B"/>
          </a:solidFill>
          <a:ln w="12700">
            <a:solidFill>
              <a:srgbClr val="C0392B"/>
            </a:solidFill>
            <a:prstDash val="solid"/>
          </a:ln>
        </p:spPr>
        <p:txBody>
          <a:bodyPr/>
          <a:lstStyle/>
          <a:p>
            <a:endParaRPr lang="fr-FR"/>
          </a:p>
        </p:txBody>
      </p:sp>
      <p:sp>
        <p:nvSpPr>
          <p:cNvPr id="26" name="Text 24"/>
          <p:cNvSpPr/>
          <p:nvPr/>
        </p:nvSpPr>
        <p:spPr>
          <a:xfrm>
            <a:off x="6812280" y="2944368"/>
            <a:ext cx="1828800" cy="38404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Oui mais collectif</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 TPC (bus/tram)</a:t>
            </a:r>
            <a:endParaRPr lang="en-US" sz="900" dirty="0"/>
          </a:p>
        </p:txBody>
      </p:sp>
      <p:sp>
        <p:nvSpPr>
          <p:cNvPr id="27" name="Shape 25"/>
          <p:cNvSpPr/>
          <p:nvPr/>
        </p:nvSpPr>
        <p:spPr>
          <a:xfrm>
            <a:off x="4572000" y="2743200"/>
            <a:ext cx="0" cy="201168"/>
          </a:xfrm>
          <a:prstGeom prst="line">
            <a:avLst/>
          </a:prstGeom>
          <a:noFill/>
          <a:ln w="15240">
            <a:solidFill>
              <a:srgbClr val="6B7A8D"/>
            </a:solidFill>
            <a:prstDash val="solid"/>
          </a:ln>
        </p:spPr>
        <p:txBody>
          <a:bodyPr/>
          <a:lstStyle/>
          <a:p>
            <a:endParaRPr lang="fr-FR"/>
          </a:p>
        </p:txBody>
      </p:sp>
      <p:sp>
        <p:nvSpPr>
          <p:cNvPr id="28" name="Shape 26"/>
          <p:cNvSpPr/>
          <p:nvPr/>
        </p:nvSpPr>
        <p:spPr>
          <a:xfrm>
            <a:off x="3291840" y="2944368"/>
            <a:ext cx="2560320" cy="384048"/>
          </a:xfrm>
          <a:prstGeom prst="rect">
            <a:avLst/>
          </a:prstGeom>
          <a:solidFill>
            <a:srgbClr val="2860A8"/>
          </a:solidFill>
          <a:ln w="12700">
            <a:solidFill>
              <a:srgbClr val="2860A8"/>
            </a:solidFill>
            <a:prstDash val="solid"/>
          </a:ln>
        </p:spPr>
        <p:txBody>
          <a:bodyPr/>
          <a:lstStyle/>
          <a:p>
            <a:endParaRPr lang="fr-FR"/>
          </a:p>
        </p:txBody>
      </p:sp>
      <p:sp>
        <p:nvSpPr>
          <p:cNvPr id="29" name="Text 27"/>
          <p:cNvSpPr/>
          <p:nvPr/>
        </p:nvSpPr>
        <p:spPr>
          <a:xfrm>
            <a:off x="3337560" y="2944368"/>
            <a:ext cx="2468880" cy="38404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À la demande</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d'un client précis ?</a:t>
            </a:r>
            <a:endParaRPr lang="en-US" sz="950" dirty="0"/>
          </a:p>
        </p:txBody>
      </p:sp>
      <p:sp>
        <p:nvSpPr>
          <p:cNvPr id="30" name="Shape 28"/>
          <p:cNvSpPr/>
          <p:nvPr/>
        </p:nvSpPr>
        <p:spPr>
          <a:xfrm>
            <a:off x="4572000" y="3328416"/>
            <a:ext cx="0" cy="237744"/>
          </a:xfrm>
          <a:prstGeom prst="line">
            <a:avLst/>
          </a:prstGeom>
          <a:noFill/>
          <a:ln w="15240">
            <a:solidFill>
              <a:srgbClr val="6B7A8D"/>
            </a:solidFill>
            <a:prstDash val="solid"/>
          </a:ln>
        </p:spPr>
        <p:txBody>
          <a:bodyPr/>
          <a:lstStyle/>
          <a:p>
            <a:endParaRPr lang="fr-FR"/>
          </a:p>
        </p:txBody>
      </p:sp>
      <p:sp>
        <p:nvSpPr>
          <p:cNvPr id="31" name="Shape 29"/>
          <p:cNvSpPr/>
          <p:nvPr/>
        </p:nvSpPr>
        <p:spPr>
          <a:xfrm>
            <a:off x="3154680" y="3566160"/>
            <a:ext cx="2834640" cy="530352"/>
          </a:xfrm>
          <a:prstGeom prst="rect">
            <a:avLst/>
          </a:prstGeom>
          <a:solidFill>
            <a:srgbClr val="2E7D32"/>
          </a:solidFill>
          <a:ln w="12700">
            <a:solidFill>
              <a:srgbClr val="2E7D32"/>
            </a:solidFill>
            <a:prstDash val="solid"/>
          </a:ln>
        </p:spPr>
        <p:txBody>
          <a:bodyPr/>
          <a:lstStyle/>
          <a:p>
            <a:endParaRPr lang="fr-FR"/>
          </a:p>
        </p:txBody>
      </p:sp>
      <p:sp>
        <p:nvSpPr>
          <p:cNvPr id="32" name="Text 30"/>
          <p:cNvSpPr/>
          <p:nvPr/>
        </p:nvSpPr>
        <p:spPr>
          <a:xfrm>
            <a:off x="3200400" y="3566160"/>
            <a:ext cx="2743200" cy="53035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OUI → Prestation T3P</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TAXI / VTC / VMDTR</a:t>
            </a:r>
            <a:endParaRPr lang="en-US" sz="900" dirty="0"/>
          </a:p>
          <a:p>
            <a:pPr marL="0" indent="0" algn="ctr">
              <a:buNone/>
            </a:pPr>
            <a:r>
              <a:rPr lang="en-US" sz="900" b="1" dirty="0">
                <a:solidFill>
                  <a:srgbClr val="FFFFFF"/>
                </a:solidFill>
                <a:latin typeface="Calibri" pitchFamily="34" charset="0"/>
                <a:ea typeface="Calibri" pitchFamily="34" charset="-122"/>
                <a:cs typeface="Calibri" pitchFamily="34" charset="-120"/>
              </a:rPr>
              <a:t>Carte professionnelle obligatoire</a:t>
            </a:r>
            <a:endParaRPr lang="en-US" sz="900" dirty="0"/>
          </a:p>
        </p:txBody>
      </p:sp>
      <p:sp>
        <p:nvSpPr>
          <p:cNvPr id="33" name="Shape 31"/>
          <p:cNvSpPr/>
          <p:nvPr/>
        </p:nvSpPr>
        <p:spPr>
          <a:xfrm>
            <a:off x="274320" y="4224528"/>
            <a:ext cx="8595360" cy="347472"/>
          </a:xfrm>
          <a:prstGeom prst="rect">
            <a:avLst/>
          </a:prstGeom>
          <a:solidFill>
            <a:srgbClr val="EDF7EE"/>
          </a:solidFill>
          <a:ln w="19050">
            <a:solidFill>
              <a:srgbClr val="2E7D32"/>
            </a:solidFill>
            <a:prstDash val="solid"/>
          </a:ln>
        </p:spPr>
        <p:txBody>
          <a:bodyPr/>
          <a:lstStyle/>
          <a:p>
            <a:endParaRPr lang="fr-FR"/>
          </a:p>
        </p:txBody>
      </p:sp>
      <p:sp>
        <p:nvSpPr>
          <p:cNvPr id="34" name="Shape 32"/>
          <p:cNvSpPr/>
          <p:nvPr/>
        </p:nvSpPr>
        <p:spPr>
          <a:xfrm>
            <a:off x="274320" y="4224528"/>
            <a:ext cx="54864" cy="347472"/>
          </a:xfrm>
          <a:prstGeom prst="rect">
            <a:avLst/>
          </a:prstGeom>
          <a:solidFill>
            <a:srgbClr val="2E7D32"/>
          </a:solidFill>
          <a:ln w="12700">
            <a:solidFill>
              <a:srgbClr val="2E7D32"/>
            </a:solidFill>
            <a:prstDash val="solid"/>
          </a:ln>
        </p:spPr>
        <p:txBody>
          <a:bodyPr/>
          <a:lstStyle/>
          <a:p>
            <a:endParaRPr lang="fr-FR"/>
          </a:p>
        </p:txBody>
      </p:sp>
      <p:sp>
        <p:nvSpPr>
          <p:cNvPr id="35" name="Text 33"/>
          <p:cNvSpPr/>
          <p:nvPr/>
        </p:nvSpPr>
        <p:spPr>
          <a:xfrm>
            <a:off x="384048" y="4224528"/>
            <a:ext cx="8467344" cy="34747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La prestation T3P = Transport de personnes + payant + à la demande d'un client précis + exercé par Taxi, VTC ou VMDTR avec carte professionnelle.</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4. Non-inscription aux examens T3P</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Les 3 situations qui empêchent de s'inscrire à l'examen</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18/88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Conditions de non-inscription aux examens T3P</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3 situations bloquantes — Art. R3120-1 Code des transports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19/88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Avant de postuler à l'examen T3P, il faut vérifier que l'on ne se trouve pas dans l'une des 3 situations suivantes. Ces cas d'exclusion visent à protéger la sécurité des passagers et l'intégrité de la profession.</a:t>
            </a:r>
            <a:endParaRPr lang="en-US" sz="1200" dirty="0"/>
          </a:p>
        </p:txBody>
      </p:sp>
      <p:sp>
        <p:nvSpPr>
          <p:cNvPr id="10" name="Shape 8"/>
          <p:cNvSpPr/>
          <p:nvPr/>
        </p:nvSpPr>
        <p:spPr>
          <a:xfrm>
            <a:off x="274320" y="1627632"/>
            <a:ext cx="2743200" cy="3127248"/>
          </a:xfrm>
          <a:prstGeom prst="rect">
            <a:avLst/>
          </a:prstGeom>
          <a:solidFill>
            <a:srgbClr val="E8F1FA"/>
          </a:solidFill>
          <a:ln w="6350">
            <a:solidFill>
              <a:srgbClr val="D0DCE8"/>
            </a:solidFill>
            <a:prstDash val="solid"/>
          </a:ln>
        </p:spPr>
        <p:txBody>
          <a:bodyPr/>
          <a:lstStyle/>
          <a:p>
            <a:endParaRPr lang="fr-FR"/>
          </a:p>
        </p:txBody>
      </p:sp>
      <p:sp>
        <p:nvSpPr>
          <p:cNvPr id="11" name="Shape 9"/>
          <p:cNvSpPr/>
          <p:nvPr/>
        </p:nvSpPr>
        <p:spPr>
          <a:xfrm>
            <a:off x="274320" y="1627632"/>
            <a:ext cx="274320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47472" y="1627632"/>
            <a:ext cx="2615184" cy="301752"/>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CAS 1 — RETRAIT DÉFINITIF DE CARTE</a:t>
            </a:r>
            <a:endParaRPr lang="en-US" sz="1000" dirty="0"/>
          </a:p>
        </p:txBody>
      </p:sp>
      <p:sp>
        <p:nvSpPr>
          <p:cNvPr id="13" name="Shape 11"/>
          <p:cNvSpPr/>
          <p:nvPr/>
        </p:nvSpPr>
        <p:spPr>
          <a:xfrm>
            <a:off x="548640" y="1993392"/>
            <a:ext cx="2194560" cy="475488"/>
          </a:xfrm>
          <a:prstGeom prst="rect">
            <a:avLst/>
          </a:prstGeom>
          <a:solidFill>
            <a:srgbClr val="1A3A5C"/>
          </a:solidFill>
          <a:ln w="12700">
            <a:solidFill>
              <a:srgbClr val="1A3A5C"/>
            </a:solidFill>
            <a:prstDash val="solid"/>
          </a:ln>
        </p:spPr>
        <p:txBody>
          <a:bodyPr/>
          <a:lstStyle/>
          <a:p>
            <a:endParaRPr lang="fr-FR"/>
          </a:p>
        </p:txBody>
      </p:sp>
      <p:sp>
        <p:nvSpPr>
          <p:cNvPr id="14" name="Text 12"/>
          <p:cNvSpPr/>
          <p:nvPr/>
        </p:nvSpPr>
        <p:spPr>
          <a:xfrm>
            <a:off x="548640" y="1993392"/>
            <a:ext cx="2194560" cy="475488"/>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10 ANS</a:t>
            </a:r>
            <a:endParaRPr lang="en-US" sz="1600" dirty="0"/>
          </a:p>
        </p:txBody>
      </p:sp>
      <p:sp>
        <p:nvSpPr>
          <p:cNvPr id="15" name="Text 13"/>
          <p:cNvSpPr/>
          <p:nvPr/>
        </p:nvSpPr>
        <p:spPr>
          <a:xfrm>
            <a:off x="365760" y="2514600"/>
            <a:ext cx="2578608" cy="21945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Ne pas avoir fait l'objet, dans les 10 ans qui précèdent la demande, d'un RETRAIT DÉFINITIF de la carte professionnelle T3P.</a:t>
            </a:r>
            <a:endParaRPr lang="en-US" sz="1000" dirty="0"/>
          </a:p>
          <a:p>
            <a:pPr marL="0" indent="0">
              <a:buNone/>
            </a:pPr>
            <a:endParaRPr lang="en-US" sz="1000" dirty="0"/>
          </a:p>
          <a:p>
            <a:pPr marL="0" indent="0">
              <a:buNone/>
            </a:pPr>
            <a:r>
              <a:rPr lang="en-US" sz="1000" dirty="0">
                <a:solidFill>
                  <a:srgbClr val="3A3A3A"/>
                </a:solidFill>
                <a:latin typeface="Calibri" pitchFamily="34" charset="0"/>
                <a:ea typeface="Calibri" pitchFamily="34" charset="-122"/>
                <a:cs typeface="Calibri" pitchFamily="34" charset="-120"/>
              </a:rPr>
              <a:t>En cas de violation grave de la réglementation, le préfet peut prononcer un retrait définitif. Ce conducteur ne peut plus s'inscrire pendant 10 ans pour protéger le public.</a:t>
            </a:r>
            <a:endParaRPr lang="en-US" sz="1000" dirty="0"/>
          </a:p>
        </p:txBody>
      </p:sp>
      <p:sp>
        <p:nvSpPr>
          <p:cNvPr id="16" name="Shape 14"/>
          <p:cNvSpPr/>
          <p:nvPr/>
        </p:nvSpPr>
        <p:spPr>
          <a:xfrm>
            <a:off x="3154680" y="1627632"/>
            <a:ext cx="2743200" cy="3127248"/>
          </a:xfrm>
          <a:prstGeom prst="rect">
            <a:avLst/>
          </a:prstGeom>
          <a:solidFill>
            <a:srgbClr val="E8F1FA"/>
          </a:solidFill>
          <a:ln w="6350">
            <a:solidFill>
              <a:srgbClr val="D0DCE8"/>
            </a:solidFill>
            <a:prstDash val="solid"/>
          </a:ln>
        </p:spPr>
        <p:txBody>
          <a:bodyPr/>
          <a:lstStyle/>
          <a:p>
            <a:endParaRPr lang="fr-FR"/>
          </a:p>
        </p:txBody>
      </p:sp>
      <p:sp>
        <p:nvSpPr>
          <p:cNvPr id="17" name="Shape 15"/>
          <p:cNvSpPr/>
          <p:nvPr/>
        </p:nvSpPr>
        <p:spPr>
          <a:xfrm>
            <a:off x="3154680" y="1627632"/>
            <a:ext cx="2743200" cy="301752"/>
          </a:xfrm>
          <a:prstGeom prst="rect">
            <a:avLst/>
          </a:prstGeom>
          <a:solidFill>
            <a:srgbClr val="2860A8"/>
          </a:solidFill>
          <a:ln w="12700">
            <a:solidFill>
              <a:srgbClr val="2860A8"/>
            </a:solidFill>
            <a:prstDash val="solid"/>
          </a:ln>
        </p:spPr>
        <p:txBody>
          <a:bodyPr/>
          <a:lstStyle/>
          <a:p>
            <a:endParaRPr lang="fr-FR"/>
          </a:p>
        </p:txBody>
      </p:sp>
      <p:sp>
        <p:nvSpPr>
          <p:cNvPr id="18" name="Text 16"/>
          <p:cNvSpPr/>
          <p:nvPr/>
        </p:nvSpPr>
        <p:spPr>
          <a:xfrm>
            <a:off x="3227832" y="1627632"/>
            <a:ext cx="2615184" cy="301752"/>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CAS 2 — FRAUDE À L'EXAMEN</a:t>
            </a:r>
            <a:endParaRPr lang="en-US" sz="1000" dirty="0"/>
          </a:p>
        </p:txBody>
      </p:sp>
      <p:sp>
        <p:nvSpPr>
          <p:cNvPr id="19" name="Shape 17"/>
          <p:cNvSpPr/>
          <p:nvPr/>
        </p:nvSpPr>
        <p:spPr>
          <a:xfrm>
            <a:off x="3429000" y="1993392"/>
            <a:ext cx="2194560" cy="475488"/>
          </a:xfrm>
          <a:prstGeom prst="rect">
            <a:avLst/>
          </a:prstGeom>
          <a:solidFill>
            <a:srgbClr val="2860A8"/>
          </a:solidFill>
          <a:ln w="12700">
            <a:solidFill>
              <a:srgbClr val="2860A8"/>
            </a:solidFill>
            <a:prstDash val="solid"/>
          </a:ln>
        </p:spPr>
        <p:txBody>
          <a:bodyPr/>
          <a:lstStyle/>
          <a:p>
            <a:endParaRPr lang="fr-FR"/>
          </a:p>
        </p:txBody>
      </p:sp>
      <p:sp>
        <p:nvSpPr>
          <p:cNvPr id="20" name="Text 18"/>
          <p:cNvSpPr/>
          <p:nvPr/>
        </p:nvSpPr>
        <p:spPr>
          <a:xfrm>
            <a:off x="3429000" y="1993392"/>
            <a:ext cx="2194560" cy="475488"/>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 ANS</a:t>
            </a:r>
            <a:endParaRPr lang="en-US" sz="1600" dirty="0"/>
          </a:p>
        </p:txBody>
      </p:sp>
      <p:sp>
        <p:nvSpPr>
          <p:cNvPr id="21" name="Text 19"/>
          <p:cNvSpPr/>
          <p:nvPr/>
        </p:nvSpPr>
        <p:spPr>
          <a:xfrm>
            <a:off x="3246120" y="2514600"/>
            <a:ext cx="2578608" cy="21945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Ne pas avoir fait l'objet, dans les 5 ans qui précèdent la demande, d'une EXCLUSION POUR FRAUDE lors d'une session d'examen T3P.</a:t>
            </a:r>
            <a:endParaRPr lang="en-US" sz="1000" dirty="0"/>
          </a:p>
          <a:p>
            <a:pPr marL="0" indent="0">
              <a:buNone/>
            </a:pPr>
            <a:endParaRPr lang="en-US" sz="1000" dirty="0"/>
          </a:p>
          <a:p>
            <a:pPr marL="0" indent="0">
              <a:buNone/>
            </a:pPr>
            <a:r>
              <a:rPr lang="en-US" sz="1000" dirty="0">
                <a:solidFill>
                  <a:srgbClr val="3A3A3A"/>
                </a:solidFill>
                <a:latin typeface="Calibri" pitchFamily="34" charset="0"/>
                <a:ea typeface="Calibri" pitchFamily="34" charset="-122"/>
                <a:cs typeface="Calibri" pitchFamily="34" charset="-120"/>
              </a:rPr>
              <a:t>La fraude inclut : utilisation d'antisèche, aide extérieure non autorisée, usurpation d'identité lors d'une épreuve.</a:t>
            </a:r>
            <a:endParaRPr lang="en-US" sz="1000" dirty="0"/>
          </a:p>
        </p:txBody>
      </p:sp>
      <p:sp>
        <p:nvSpPr>
          <p:cNvPr id="22" name="Shape 20"/>
          <p:cNvSpPr/>
          <p:nvPr/>
        </p:nvSpPr>
        <p:spPr>
          <a:xfrm>
            <a:off x="6035040" y="1627632"/>
            <a:ext cx="2743200" cy="3127248"/>
          </a:xfrm>
          <a:prstGeom prst="rect">
            <a:avLst/>
          </a:prstGeom>
          <a:solidFill>
            <a:srgbClr val="E8F1FA"/>
          </a:solidFill>
          <a:ln w="6350">
            <a:solidFill>
              <a:srgbClr val="D0DCE8"/>
            </a:solidFill>
            <a:prstDash val="solid"/>
          </a:ln>
        </p:spPr>
        <p:txBody>
          <a:bodyPr/>
          <a:lstStyle/>
          <a:p>
            <a:endParaRPr lang="fr-FR"/>
          </a:p>
        </p:txBody>
      </p:sp>
      <p:sp>
        <p:nvSpPr>
          <p:cNvPr id="23" name="Shape 21"/>
          <p:cNvSpPr/>
          <p:nvPr/>
        </p:nvSpPr>
        <p:spPr>
          <a:xfrm>
            <a:off x="6035040" y="1627632"/>
            <a:ext cx="2743200" cy="301752"/>
          </a:xfrm>
          <a:prstGeom prst="rect">
            <a:avLst/>
          </a:prstGeom>
          <a:solidFill>
            <a:srgbClr val="F4A227"/>
          </a:solidFill>
          <a:ln w="12700">
            <a:solidFill>
              <a:srgbClr val="F4A227"/>
            </a:solidFill>
            <a:prstDash val="solid"/>
          </a:ln>
        </p:spPr>
        <p:txBody>
          <a:bodyPr/>
          <a:lstStyle/>
          <a:p>
            <a:endParaRPr lang="fr-FR"/>
          </a:p>
        </p:txBody>
      </p:sp>
      <p:sp>
        <p:nvSpPr>
          <p:cNvPr id="24" name="Text 22"/>
          <p:cNvSpPr/>
          <p:nvPr/>
        </p:nvSpPr>
        <p:spPr>
          <a:xfrm>
            <a:off x="6108192" y="1627632"/>
            <a:ext cx="2615184" cy="301752"/>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CAS 3 — PERMIS PROBATOIRE</a:t>
            </a:r>
            <a:endParaRPr lang="en-US" sz="1000" dirty="0"/>
          </a:p>
        </p:txBody>
      </p:sp>
      <p:sp>
        <p:nvSpPr>
          <p:cNvPr id="25" name="Shape 23"/>
          <p:cNvSpPr/>
          <p:nvPr/>
        </p:nvSpPr>
        <p:spPr>
          <a:xfrm>
            <a:off x="6309360" y="1993392"/>
            <a:ext cx="2194560" cy="475488"/>
          </a:xfrm>
          <a:prstGeom prst="rect">
            <a:avLst/>
          </a:prstGeom>
          <a:solidFill>
            <a:srgbClr val="F4A227"/>
          </a:solidFill>
          <a:ln w="12700">
            <a:solidFill>
              <a:srgbClr val="F4A227"/>
            </a:solidFill>
            <a:prstDash val="solid"/>
          </a:ln>
        </p:spPr>
        <p:txBody>
          <a:bodyPr/>
          <a:lstStyle/>
          <a:p>
            <a:endParaRPr lang="fr-FR"/>
          </a:p>
        </p:txBody>
      </p:sp>
      <p:sp>
        <p:nvSpPr>
          <p:cNvPr id="26" name="Text 24"/>
          <p:cNvSpPr/>
          <p:nvPr/>
        </p:nvSpPr>
        <p:spPr>
          <a:xfrm>
            <a:off x="6309360" y="1993392"/>
            <a:ext cx="2194560" cy="475488"/>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Accès impossible</a:t>
            </a:r>
            <a:endParaRPr lang="en-US" sz="1600" dirty="0"/>
          </a:p>
        </p:txBody>
      </p:sp>
      <p:sp>
        <p:nvSpPr>
          <p:cNvPr id="27" name="Text 25"/>
          <p:cNvSpPr/>
          <p:nvPr/>
        </p:nvSpPr>
        <p:spPr>
          <a:xfrm>
            <a:off x="6126480" y="2514600"/>
            <a:ext cx="2578608" cy="2194560"/>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Ne pas être en période probatoire de permis de conduire.</a:t>
            </a:r>
            <a:endParaRPr lang="en-US" sz="1000" dirty="0"/>
          </a:p>
          <a:p>
            <a:pPr marL="0" indent="0">
              <a:buNone/>
            </a:pPr>
            <a:endParaRPr lang="en-US" sz="1000" dirty="0"/>
          </a:p>
          <a:p>
            <a:pPr marL="0" indent="0">
              <a:buNone/>
            </a:pPr>
            <a:r>
              <a:rPr lang="en-US" sz="1000" dirty="0">
                <a:solidFill>
                  <a:srgbClr val="3A3A3A"/>
                </a:solidFill>
                <a:latin typeface="Calibri" pitchFamily="34" charset="0"/>
                <a:ea typeface="Calibri" pitchFamily="34" charset="-122"/>
                <a:cs typeface="Calibri" pitchFamily="34" charset="-120"/>
              </a:rPr>
              <a:t>Minimum requis : 2 ans de permis en conduite accompagnée (AAC) ou 3 ans en conduite normale. Un conducteur trop jeune n'a pas l'expérience suffisante pour transporter des passagers en sécurité.</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Non-inscription aux examens — Schéma récapitulatif</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20/88</a:t>
            </a:r>
            <a:endParaRPr lang="en-US" sz="800" dirty="0"/>
          </a:p>
        </p:txBody>
      </p:sp>
      <p:sp>
        <p:nvSpPr>
          <p:cNvPr id="8" name="Text 6"/>
          <p:cNvSpPr/>
          <p:nvPr/>
        </p:nvSpPr>
        <p:spPr>
          <a:xfrm>
            <a:off x="274320" y="886968"/>
            <a:ext cx="8595360" cy="292608"/>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Comment vérifier son éligibilité à l'inscription à l'examen T3P :</a:t>
            </a:r>
            <a:endParaRPr lang="en-US" sz="1200" dirty="0"/>
          </a:p>
        </p:txBody>
      </p:sp>
      <p:sp>
        <p:nvSpPr>
          <p:cNvPr id="9" name="Shape 7"/>
          <p:cNvSpPr/>
          <p:nvPr/>
        </p:nvSpPr>
        <p:spPr>
          <a:xfrm>
            <a:off x="365760" y="1261872"/>
            <a:ext cx="1645920" cy="914400"/>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365760" y="1298448"/>
            <a:ext cx="1645920" cy="530352"/>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10 ANS</a:t>
            </a:r>
            <a:endParaRPr lang="en-US" sz="3400" dirty="0"/>
          </a:p>
        </p:txBody>
      </p:sp>
      <p:sp>
        <p:nvSpPr>
          <p:cNvPr id="11" name="Text 9"/>
          <p:cNvSpPr/>
          <p:nvPr/>
        </p:nvSpPr>
        <p:spPr>
          <a:xfrm>
            <a:off x="365760" y="1792224"/>
            <a:ext cx="1645920" cy="347472"/>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Délai retrait</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définitif carte</a:t>
            </a:r>
            <a:endParaRPr lang="en-US" sz="900" dirty="0"/>
          </a:p>
        </p:txBody>
      </p:sp>
      <p:sp>
        <p:nvSpPr>
          <p:cNvPr id="12" name="Shape 10"/>
          <p:cNvSpPr/>
          <p:nvPr/>
        </p:nvSpPr>
        <p:spPr>
          <a:xfrm>
            <a:off x="2240280" y="1261872"/>
            <a:ext cx="1645920" cy="914400"/>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2240280" y="1298448"/>
            <a:ext cx="1645920" cy="530352"/>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5 ANS</a:t>
            </a:r>
            <a:endParaRPr lang="en-US" sz="3400" dirty="0"/>
          </a:p>
        </p:txBody>
      </p:sp>
      <p:sp>
        <p:nvSpPr>
          <p:cNvPr id="14" name="Text 12"/>
          <p:cNvSpPr/>
          <p:nvPr/>
        </p:nvSpPr>
        <p:spPr>
          <a:xfrm>
            <a:off x="2240280" y="1792224"/>
            <a:ext cx="1645920" cy="347472"/>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Délai exclusion</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pour fraude</a:t>
            </a:r>
            <a:endParaRPr lang="en-US" sz="900" dirty="0"/>
          </a:p>
        </p:txBody>
      </p:sp>
      <p:sp>
        <p:nvSpPr>
          <p:cNvPr id="15" name="Shape 13"/>
          <p:cNvSpPr/>
          <p:nvPr/>
        </p:nvSpPr>
        <p:spPr>
          <a:xfrm>
            <a:off x="4114800" y="1261872"/>
            <a:ext cx="1645920" cy="914400"/>
          </a:xfrm>
          <a:prstGeom prst="rect">
            <a:avLst/>
          </a:prstGeom>
          <a:solidFill>
            <a:srgbClr val="F4A227"/>
          </a:solidFill>
          <a:ln w="12700">
            <a:solidFill>
              <a:srgbClr val="F4A227"/>
            </a:solidFill>
            <a:prstDash val="solid"/>
          </a:ln>
        </p:spPr>
        <p:txBody>
          <a:bodyPr/>
          <a:lstStyle/>
          <a:p>
            <a:endParaRPr lang="fr-FR"/>
          </a:p>
        </p:txBody>
      </p:sp>
      <p:sp>
        <p:nvSpPr>
          <p:cNvPr id="16" name="Text 14"/>
          <p:cNvSpPr/>
          <p:nvPr/>
        </p:nvSpPr>
        <p:spPr>
          <a:xfrm>
            <a:off x="4114800" y="1298448"/>
            <a:ext cx="1645920" cy="530352"/>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3 ans</a:t>
            </a:r>
            <a:endParaRPr lang="en-US" sz="3400" dirty="0"/>
          </a:p>
        </p:txBody>
      </p:sp>
      <p:sp>
        <p:nvSpPr>
          <p:cNvPr id="17" name="Text 15"/>
          <p:cNvSpPr/>
          <p:nvPr/>
        </p:nvSpPr>
        <p:spPr>
          <a:xfrm>
            <a:off x="4114800" y="1792224"/>
            <a:ext cx="1645920" cy="347472"/>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Permis normal</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(hors probatoire)</a:t>
            </a:r>
            <a:endParaRPr lang="en-US" sz="900" dirty="0"/>
          </a:p>
        </p:txBody>
      </p:sp>
      <p:sp>
        <p:nvSpPr>
          <p:cNvPr id="18" name="Shape 16"/>
          <p:cNvSpPr/>
          <p:nvPr/>
        </p:nvSpPr>
        <p:spPr>
          <a:xfrm>
            <a:off x="5989320" y="1261872"/>
            <a:ext cx="1645920" cy="914400"/>
          </a:xfrm>
          <a:prstGeom prst="rect">
            <a:avLst/>
          </a:prstGeom>
          <a:solidFill>
            <a:srgbClr val="F4A227"/>
          </a:solidFill>
          <a:ln w="12700">
            <a:solidFill>
              <a:srgbClr val="F4A227"/>
            </a:solidFill>
            <a:prstDash val="solid"/>
          </a:ln>
        </p:spPr>
        <p:txBody>
          <a:bodyPr/>
          <a:lstStyle/>
          <a:p>
            <a:endParaRPr lang="fr-FR"/>
          </a:p>
        </p:txBody>
      </p:sp>
      <p:sp>
        <p:nvSpPr>
          <p:cNvPr id="19" name="Text 17"/>
          <p:cNvSpPr/>
          <p:nvPr/>
        </p:nvSpPr>
        <p:spPr>
          <a:xfrm>
            <a:off x="5989320" y="1298448"/>
            <a:ext cx="1645920" cy="530352"/>
          </a:xfrm>
          <a:prstGeom prst="rect">
            <a:avLst/>
          </a:prstGeom>
          <a:noFill/>
          <a:ln/>
        </p:spPr>
        <p:txBody>
          <a:bodyPr wrap="square" rtlCol="0" anchor="ctr"/>
          <a:lstStyle/>
          <a:p>
            <a:pPr marL="0" indent="0" algn="ctr">
              <a:buNone/>
            </a:pPr>
            <a:r>
              <a:rPr lang="en-US" sz="3400" b="1" dirty="0">
                <a:solidFill>
                  <a:srgbClr val="FFFFFF"/>
                </a:solidFill>
                <a:latin typeface="Calibri" pitchFamily="34" charset="0"/>
                <a:ea typeface="Calibri" pitchFamily="34" charset="-122"/>
                <a:cs typeface="Calibri" pitchFamily="34" charset="-120"/>
              </a:rPr>
              <a:t>2 ans</a:t>
            </a:r>
            <a:endParaRPr lang="en-US" sz="3400" dirty="0"/>
          </a:p>
        </p:txBody>
      </p:sp>
      <p:sp>
        <p:nvSpPr>
          <p:cNvPr id="20" name="Text 18"/>
          <p:cNvSpPr/>
          <p:nvPr/>
        </p:nvSpPr>
        <p:spPr>
          <a:xfrm>
            <a:off x="5989320" y="1792224"/>
            <a:ext cx="1645920" cy="347472"/>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Permis AAC</a:t>
            </a:r>
            <a:endParaRPr lang="en-US" sz="900" dirty="0"/>
          </a:p>
          <a:p>
            <a:pPr marL="0" indent="0" algn="ctr">
              <a:buNone/>
            </a:pPr>
            <a:r>
              <a:rPr lang="en-US" sz="900" dirty="0">
                <a:solidFill>
                  <a:srgbClr val="FFFFFF"/>
                </a:solidFill>
                <a:latin typeface="Calibri" pitchFamily="34" charset="0"/>
                <a:ea typeface="Calibri" pitchFamily="34" charset="-122"/>
                <a:cs typeface="Calibri" pitchFamily="34" charset="-120"/>
              </a:rPr>
              <a:t>(hors probatoire)</a:t>
            </a:r>
            <a:endParaRPr lang="en-US" sz="900" dirty="0"/>
          </a:p>
        </p:txBody>
      </p:sp>
      <p:sp>
        <p:nvSpPr>
          <p:cNvPr id="21" name="Text 19"/>
          <p:cNvSpPr/>
          <p:nvPr/>
        </p:nvSpPr>
        <p:spPr>
          <a:xfrm>
            <a:off x="274320" y="230428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Vérification d'éligibilité :</a:t>
            </a:r>
            <a:endParaRPr lang="en-US" sz="1200" dirty="0"/>
          </a:p>
        </p:txBody>
      </p:sp>
      <p:sp>
        <p:nvSpPr>
          <p:cNvPr id="22" name="Shape 20"/>
          <p:cNvSpPr/>
          <p:nvPr/>
        </p:nvSpPr>
        <p:spPr>
          <a:xfrm>
            <a:off x="274320" y="2633472"/>
            <a:ext cx="2057400" cy="621792"/>
          </a:xfrm>
          <a:prstGeom prst="rect">
            <a:avLst/>
          </a:prstGeom>
          <a:solidFill>
            <a:srgbClr val="E8F1FA"/>
          </a:solidFill>
          <a:ln w="6350">
            <a:solidFill>
              <a:srgbClr val="D0DCE8"/>
            </a:solidFill>
            <a:prstDash val="solid"/>
          </a:ln>
        </p:spPr>
        <p:txBody>
          <a:bodyPr/>
          <a:lstStyle/>
          <a:p>
            <a:endParaRPr lang="fr-FR"/>
          </a:p>
        </p:txBody>
      </p:sp>
      <p:sp>
        <p:nvSpPr>
          <p:cNvPr id="23" name="Text 21"/>
          <p:cNvSpPr/>
          <p:nvPr/>
        </p:nvSpPr>
        <p:spPr>
          <a:xfrm>
            <a:off x="320040" y="2651760"/>
            <a:ext cx="1965960" cy="585216"/>
          </a:xfrm>
          <a:prstGeom prst="rect">
            <a:avLst/>
          </a:prstGeom>
          <a:noFill/>
          <a:ln/>
        </p:spPr>
        <p:txBody>
          <a:bodyPr wrap="square" rtlCol="0" anchor="ctr"/>
          <a:lstStyle/>
          <a:p>
            <a:pPr marL="0" indent="0" algn="ctr">
              <a:buNone/>
            </a:pPr>
            <a:r>
              <a:rPr lang="en-US" sz="950" dirty="0">
                <a:solidFill>
                  <a:srgbClr val="3A3A3A"/>
                </a:solidFill>
                <a:latin typeface="Calibri" pitchFamily="34" charset="0"/>
                <a:ea typeface="Calibri" pitchFamily="34" charset="-122"/>
                <a:cs typeface="Calibri" pitchFamily="34" charset="-120"/>
              </a:rPr>
              <a:t>Retrait définitif</a:t>
            </a:r>
            <a:endParaRPr lang="en-US" sz="950" dirty="0"/>
          </a:p>
          <a:p>
            <a:pPr marL="0" indent="0" algn="ctr">
              <a:buNone/>
            </a:pPr>
            <a:r>
              <a:rPr lang="en-US" sz="950" dirty="0">
                <a:solidFill>
                  <a:srgbClr val="3A3A3A"/>
                </a:solidFill>
                <a:latin typeface="Calibri" pitchFamily="34" charset="0"/>
                <a:ea typeface="Calibri" pitchFamily="34" charset="-122"/>
                <a:cs typeface="Calibri" pitchFamily="34" charset="-120"/>
              </a:rPr>
              <a:t>dans les 10 ans ?</a:t>
            </a:r>
            <a:endParaRPr lang="en-US" sz="950" dirty="0"/>
          </a:p>
        </p:txBody>
      </p:sp>
      <p:sp>
        <p:nvSpPr>
          <p:cNvPr id="24" name="Shape 22"/>
          <p:cNvSpPr/>
          <p:nvPr/>
        </p:nvSpPr>
        <p:spPr>
          <a:xfrm>
            <a:off x="1298448" y="3255264"/>
            <a:ext cx="0" cy="256032"/>
          </a:xfrm>
          <a:prstGeom prst="line">
            <a:avLst/>
          </a:prstGeom>
          <a:noFill/>
          <a:ln w="25400">
            <a:solidFill>
              <a:srgbClr val="C0392B"/>
            </a:solidFill>
            <a:prstDash val="solid"/>
          </a:ln>
        </p:spPr>
        <p:txBody>
          <a:bodyPr/>
          <a:lstStyle/>
          <a:p>
            <a:endParaRPr lang="fr-FR"/>
          </a:p>
        </p:txBody>
      </p:sp>
      <p:sp>
        <p:nvSpPr>
          <p:cNvPr id="25" name="Shape 23"/>
          <p:cNvSpPr/>
          <p:nvPr/>
        </p:nvSpPr>
        <p:spPr>
          <a:xfrm>
            <a:off x="274320" y="3511296"/>
            <a:ext cx="2057400" cy="566928"/>
          </a:xfrm>
          <a:prstGeom prst="rect">
            <a:avLst/>
          </a:prstGeom>
          <a:solidFill>
            <a:srgbClr val="C0392B"/>
          </a:solidFill>
          <a:ln w="12700">
            <a:solidFill>
              <a:srgbClr val="C0392B"/>
            </a:solidFill>
            <a:prstDash val="solid"/>
          </a:ln>
        </p:spPr>
        <p:txBody>
          <a:bodyPr/>
          <a:lstStyle/>
          <a:p>
            <a:endParaRPr lang="fr-FR"/>
          </a:p>
        </p:txBody>
      </p:sp>
      <p:sp>
        <p:nvSpPr>
          <p:cNvPr id="26" name="Text 24"/>
          <p:cNvSpPr/>
          <p:nvPr/>
        </p:nvSpPr>
        <p:spPr>
          <a:xfrm>
            <a:off x="320040" y="3511296"/>
            <a:ext cx="1965960" cy="56692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 EXCLU 10 ans</a:t>
            </a:r>
            <a:endParaRPr lang="en-US" sz="950" dirty="0"/>
          </a:p>
        </p:txBody>
      </p:sp>
      <p:sp>
        <p:nvSpPr>
          <p:cNvPr id="27" name="Shape 25"/>
          <p:cNvSpPr/>
          <p:nvPr/>
        </p:nvSpPr>
        <p:spPr>
          <a:xfrm>
            <a:off x="2487168" y="2633472"/>
            <a:ext cx="2057400" cy="621792"/>
          </a:xfrm>
          <a:prstGeom prst="rect">
            <a:avLst/>
          </a:prstGeom>
          <a:solidFill>
            <a:srgbClr val="E8F1FA"/>
          </a:solidFill>
          <a:ln w="6350">
            <a:solidFill>
              <a:srgbClr val="D0DCE8"/>
            </a:solidFill>
            <a:prstDash val="solid"/>
          </a:ln>
        </p:spPr>
        <p:txBody>
          <a:bodyPr/>
          <a:lstStyle/>
          <a:p>
            <a:endParaRPr lang="fr-FR"/>
          </a:p>
        </p:txBody>
      </p:sp>
      <p:sp>
        <p:nvSpPr>
          <p:cNvPr id="28" name="Text 26"/>
          <p:cNvSpPr/>
          <p:nvPr/>
        </p:nvSpPr>
        <p:spPr>
          <a:xfrm>
            <a:off x="2532888" y="2651760"/>
            <a:ext cx="1965960" cy="585216"/>
          </a:xfrm>
          <a:prstGeom prst="rect">
            <a:avLst/>
          </a:prstGeom>
          <a:noFill/>
          <a:ln/>
        </p:spPr>
        <p:txBody>
          <a:bodyPr wrap="square" rtlCol="0" anchor="ctr"/>
          <a:lstStyle/>
          <a:p>
            <a:pPr marL="0" indent="0" algn="ctr">
              <a:buNone/>
            </a:pPr>
            <a:r>
              <a:rPr lang="en-US" sz="950" dirty="0">
                <a:solidFill>
                  <a:srgbClr val="3A3A3A"/>
                </a:solidFill>
                <a:latin typeface="Calibri" pitchFamily="34" charset="0"/>
                <a:ea typeface="Calibri" pitchFamily="34" charset="-122"/>
                <a:cs typeface="Calibri" pitchFamily="34" charset="-120"/>
              </a:rPr>
              <a:t>Fraude à l'examen</a:t>
            </a:r>
            <a:endParaRPr lang="en-US" sz="950" dirty="0"/>
          </a:p>
          <a:p>
            <a:pPr marL="0" indent="0" algn="ctr">
              <a:buNone/>
            </a:pPr>
            <a:r>
              <a:rPr lang="en-US" sz="950" dirty="0">
                <a:solidFill>
                  <a:srgbClr val="3A3A3A"/>
                </a:solidFill>
                <a:latin typeface="Calibri" pitchFamily="34" charset="0"/>
                <a:ea typeface="Calibri" pitchFamily="34" charset="-122"/>
                <a:cs typeface="Calibri" pitchFamily="34" charset="-120"/>
              </a:rPr>
              <a:t>dans les 5 ans ?</a:t>
            </a:r>
            <a:endParaRPr lang="en-US" sz="950" dirty="0"/>
          </a:p>
        </p:txBody>
      </p:sp>
      <p:sp>
        <p:nvSpPr>
          <p:cNvPr id="29" name="Shape 27"/>
          <p:cNvSpPr/>
          <p:nvPr/>
        </p:nvSpPr>
        <p:spPr>
          <a:xfrm>
            <a:off x="3511296" y="3255264"/>
            <a:ext cx="0" cy="256032"/>
          </a:xfrm>
          <a:prstGeom prst="line">
            <a:avLst/>
          </a:prstGeom>
          <a:noFill/>
          <a:ln w="25400">
            <a:solidFill>
              <a:srgbClr val="C0392B"/>
            </a:solidFill>
            <a:prstDash val="solid"/>
          </a:ln>
        </p:spPr>
        <p:txBody>
          <a:bodyPr/>
          <a:lstStyle/>
          <a:p>
            <a:endParaRPr lang="fr-FR"/>
          </a:p>
        </p:txBody>
      </p:sp>
      <p:sp>
        <p:nvSpPr>
          <p:cNvPr id="30" name="Shape 28"/>
          <p:cNvSpPr/>
          <p:nvPr/>
        </p:nvSpPr>
        <p:spPr>
          <a:xfrm>
            <a:off x="2487168" y="3511296"/>
            <a:ext cx="2057400" cy="566928"/>
          </a:xfrm>
          <a:prstGeom prst="rect">
            <a:avLst/>
          </a:prstGeom>
          <a:solidFill>
            <a:srgbClr val="C0392B"/>
          </a:solidFill>
          <a:ln w="12700">
            <a:solidFill>
              <a:srgbClr val="C0392B"/>
            </a:solidFill>
            <a:prstDash val="solid"/>
          </a:ln>
        </p:spPr>
        <p:txBody>
          <a:bodyPr/>
          <a:lstStyle/>
          <a:p>
            <a:endParaRPr lang="fr-FR"/>
          </a:p>
        </p:txBody>
      </p:sp>
      <p:sp>
        <p:nvSpPr>
          <p:cNvPr id="31" name="Text 29"/>
          <p:cNvSpPr/>
          <p:nvPr/>
        </p:nvSpPr>
        <p:spPr>
          <a:xfrm>
            <a:off x="2532888" y="3511296"/>
            <a:ext cx="1965960" cy="56692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 EXCLU 5 ans</a:t>
            </a:r>
            <a:endParaRPr lang="en-US" sz="950" dirty="0"/>
          </a:p>
        </p:txBody>
      </p:sp>
      <p:sp>
        <p:nvSpPr>
          <p:cNvPr id="32" name="Shape 30"/>
          <p:cNvSpPr/>
          <p:nvPr/>
        </p:nvSpPr>
        <p:spPr>
          <a:xfrm>
            <a:off x="4700016" y="2633472"/>
            <a:ext cx="2057400" cy="621792"/>
          </a:xfrm>
          <a:prstGeom prst="rect">
            <a:avLst/>
          </a:prstGeom>
          <a:solidFill>
            <a:srgbClr val="E8F1FA"/>
          </a:solidFill>
          <a:ln w="6350">
            <a:solidFill>
              <a:srgbClr val="D0DCE8"/>
            </a:solidFill>
            <a:prstDash val="solid"/>
          </a:ln>
        </p:spPr>
        <p:txBody>
          <a:bodyPr/>
          <a:lstStyle/>
          <a:p>
            <a:endParaRPr lang="fr-FR"/>
          </a:p>
        </p:txBody>
      </p:sp>
      <p:sp>
        <p:nvSpPr>
          <p:cNvPr id="33" name="Text 31"/>
          <p:cNvSpPr/>
          <p:nvPr/>
        </p:nvSpPr>
        <p:spPr>
          <a:xfrm>
            <a:off x="4745736" y="2651760"/>
            <a:ext cx="1965960" cy="585216"/>
          </a:xfrm>
          <a:prstGeom prst="rect">
            <a:avLst/>
          </a:prstGeom>
          <a:noFill/>
          <a:ln/>
        </p:spPr>
        <p:txBody>
          <a:bodyPr wrap="square" rtlCol="0" anchor="ctr"/>
          <a:lstStyle/>
          <a:p>
            <a:pPr marL="0" indent="0" algn="ctr">
              <a:buNone/>
            </a:pPr>
            <a:r>
              <a:rPr lang="en-US" sz="950" dirty="0">
                <a:solidFill>
                  <a:srgbClr val="3A3A3A"/>
                </a:solidFill>
                <a:latin typeface="Calibri" pitchFamily="34" charset="0"/>
                <a:ea typeface="Calibri" pitchFamily="34" charset="-122"/>
                <a:cs typeface="Calibri" pitchFamily="34" charset="-120"/>
              </a:rPr>
              <a:t>Permis en période</a:t>
            </a:r>
            <a:endParaRPr lang="en-US" sz="950" dirty="0"/>
          </a:p>
          <a:p>
            <a:pPr marL="0" indent="0" algn="ctr">
              <a:buNone/>
            </a:pPr>
            <a:r>
              <a:rPr lang="en-US" sz="950" dirty="0">
                <a:solidFill>
                  <a:srgbClr val="3A3A3A"/>
                </a:solidFill>
                <a:latin typeface="Calibri" pitchFamily="34" charset="0"/>
                <a:ea typeface="Calibri" pitchFamily="34" charset="-122"/>
                <a:cs typeface="Calibri" pitchFamily="34" charset="-120"/>
              </a:rPr>
              <a:t>probatoire ?</a:t>
            </a:r>
            <a:endParaRPr lang="en-US" sz="950" dirty="0"/>
          </a:p>
        </p:txBody>
      </p:sp>
      <p:sp>
        <p:nvSpPr>
          <p:cNvPr id="34" name="Shape 32"/>
          <p:cNvSpPr/>
          <p:nvPr/>
        </p:nvSpPr>
        <p:spPr>
          <a:xfrm>
            <a:off x="5724144" y="3255264"/>
            <a:ext cx="0" cy="256032"/>
          </a:xfrm>
          <a:prstGeom prst="line">
            <a:avLst/>
          </a:prstGeom>
          <a:noFill/>
          <a:ln w="25400">
            <a:solidFill>
              <a:srgbClr val="C0392B"/>
            </a:solidFill>
            <a:prstDash val="solid"/>
          </a:ln>
        </p:spPr>
        <p:txBody>
          <a:bodyPr/>
          <a:lstStyle/>
          <a:p>
            <a:endParaRPr lang="fr-FR"/>
          </a:p>
        </p:txBody>
      </p:sp>
      <p:sp>
        <p:nvSpPr>
          <p:cNvPr id="35" name="Shape 33"/>
          <p:cNvSpPr/>
          <p:nvPr/>
        </p:nvSpPr>
        <p:spPr>
          <a:xfrm>
            <a:off x="4700016" y="3511296"/>
            <a:ext cx="2057400" cy="566928"/>
          </a:xfrm>
          <a:prstGeom prst="rect">
            <a:avLst/>
          </a:prstGeom>
          <a:solidFill>
            <a:srgbClr val="C0392B"/>
          </a:solidFill>
          <a:ln w="12700">
            <a:solidFill>
              <a:srgbClr val="C0392B"/>
            </a:solidFill>
            <a:prstDash val="solid"/>
          </a:ln>
        </p:spPr>
        <p:txBody>
          <a:bodyPr/>
          <a:lstStyle/>
          <a:p>
            <a:endParaRPr lang="fr-FR"/>
          </a:p>
        </p:txBody>
      </p:sp>
      <p:sp>
        <p:nvSpPr>
          <p:cNvPr id="36" name="Text 34"/>
          <p:cNvSpPr/>
          <p:nvPr/>
        </p:nvSpPr>
        <p:spPr>
          <a:xfrm>
            <a:off x="4745736" y="3511296"/>
            <a:ext cx="1965960" cy="56692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 EXCLU jusqu'à</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fin probatoire</a:t>
            </a:r>
            <a:endParaRPr lang="en-US" sz="950" dirty="0"/>
          </a:p>
        </p:txBody>
      </p:sp>
      <p:sp>
        <p:nvSpPr>
          <p:cNvPr id="37" name="Shape 35"/>
          <p:cNvSpPr/>
          <p:nvPr/>
        </p:nvSpPr>
        <p:spPr>
          <a:xfrm>
            <a:off x="6912864" y="2633472"/>
            <a:ext cx="2057400" cy="621792"/>
          </a:xfrm>
          <a:prstGeom prst="rect">
            <a:avLst/>
          </a:prstGeom>
          <a:solidFill>
            <a:srgbClr val="E8F1FA"/>
          </a:solidFill>
          <a:ln w="6350">
            <a:solidFill>
              <a:srgbClr val="D0DCE8"/>
            </a:solidFill>
            <a:prstDash val="solid"/>
          </a:ln>
        </p:spPr>
        <p:txBody>
          <a:bodyPr/>
          <a:lstStyle/>
          <a:p>
            <a:endParaRPr lang="fr-FR"/>
          </a:p>
        </p:txBody>
      </p:sp>
      <p:sp>
        <p:nvSpPr>
          <p:cNvPr id="38" name="Text 36"/>
          <p:cNvSpPr/>
          <p:nvPr/>
        </p:nvSpPr>
        <p:spPr>
          <a:xfrm>
            <a:off x="6958584" y="2651760"/>
            <a:ext cx="1965960" cy="585216"/>
          </a:xfrm>
          <a:prstGeom prst="rect">
            <a:avLst/>
          </a:prstGeom>
          <a:noFill/>
          <a:ln/>
        </p:spPr>
        <p:txBody>
          <a:bodyPr wrap="square" rtlCol="0" anchor="ctr"/>
          <a:lstStyle/>
          <a:p>
            <a:pPr marL="0" indent="0" algn="ctr">
              <a:buNone/>
            </a:pPr>
            <a:r>
              <a:rPr lang="en-US" sz="950" dirty="0">
                <a:solidFill>
                  <a:srgbClr val="3A3A3A"/>
                </a:solidFill>
                <a:latin typeface="Calibri" pitchFamily="34" charset="0"/>
                <a:ea typeface="Calibri" pitchFamily="34" charset="-122"/>
                <a:cs typeface="Calibri" pitchFamily="34" charset="-120"/>
              </a:rPr>
              <a:t>AUCUN des 3 cas ?</a:t>
            </a:r>
            <a:endParaRPr lang="en-US" sz="950" dirty="0"/>
          </a:p>
        </p:txBody>
      </p:sp>
      <p:sp>
        <p:nvSpPr>
          <p:cNvPr id="39" name="Shape 37"/>
          <p:cNvSpPr/>
          <p:nvPr/>
        </p:nvSpPr>
        <p:spPr>
          <a:xfrm>
            <a:off x="7936992" y="3255264"/>
            <a:ext cx="0" cy="256032"/>
          </a:xfrm>
          <a:prstGeom prst="line">
            <a:avLst/>
          </a:prstGeom>
          <a:noFill/>
          <a:ln w="25400">
            <a:solidFill>
              <a:srgbClr val="2E7D32"/>
            </a:solidFill>
            <a:prstDash val="solid"/>
          </a:ln>
        </p:spPr>
        <p:txBody>
          <a:bodyPr/>
          <a:lstStyle/>
          <a:p>
            <a:endParaRPr lang="fr-FR"/>
          </a:p>
        </p:txBody>
      </p:sp>
      <p:sp>
        <p:nvSpPr>
          <p:cNvPr id="40" name="Shape 38"/>
          <p:cNvSpPr/>
          <p:nvPr/>
        </p:nvSpPr>
        <p:spPr>
          <a:xfrm>
            <a:off x="6912864" y="3511296"/>
            <a:ext cx="2057400" cy="566928"/>
          </a:xfrm>
          <a:prstGeom prst="rect">
            <a:avLst/>
          </a:prstGeom>
          <a:solidFill>
            <a:srgbClr val="2E7D32"/>
          </a:solidFill>
          <a:ln w="12700">
            <a:solidFill>
              <a:srgbClr val="2E7D32"/>
            </a:solidFill>
            <a:prstDash val="solid"/>
          </a:ln>
        </p:spPr>
        <p:txBody>
          <a:bodyPr/>
          <a:lstStyle/>
          <a:p>
            <a:endParaRPr lang="fr-FR"/>
          </a:p>
        </p:txBody>
      </p:sp>
      <p:sp>
        <p:nvSpPr>
          <p:cNvPr id="41" name="Text 39"/>
          <p:cNvSpPr/>
          <p:nvPr/>
        </p:nvSpPr>
        <p:spPr>
          <a:xfrm>
            <a:off x="6958584" y="3511296"/>
            <a:ext cx="1965960" cy="56692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 INSCRIPTION</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AUTORISÉE</a:t>
            </a:r>
            <a:endParaRPr lang="en-US" sz="950" dirty="0"/>
          </a:p>
        </p:txBody>
      </p:sp>
      <p:sp>
        <p:nvSpPr>
          <p:cNvPr id="42" name="Shape 40"/>
          <p:cNvSpPr/>
          <p:nvPr/>
        </p:nvSpPr>
        <p:spPr>
          <a:xfrm>
            <a:off x="274320" y="4224528"/>
            <a:ext cx="8595360" cy="347472"/>
          </a:xfrm>
          <a:prstGeom prst="rect">
            <a:avLst/>
          </a:prstGeom>
          <a:solidFill>
            <a:srgbClr val="FEF0EE"/>
          </a:solidFill>
          <a:ln w="19050">
            <a:solidFill>
              <a:srgbClr val="C0392B"/>
            </a:solidFill>
            <a:prstDash val="solid"/>
          </a:ln>
        </p:spPr>
        <p:txBody>
          <a:bodyPr/>
          <a:lstStyle/>
          <a:p>
            <a:endParaRPr lang="fr-FR"/>
          </a:p>
        </p:txBody>
      </p:sp>
      <p:sp>
        <p:nvSpPr>
          <p:cNvPr id="43" name="Shape 41"/>
          <p:cNvSpPr/>
          <p:nvPr/>
        </p:nvSpPr>
        <p:spPr>
          <a:xfrm>
            <a:off x="274320" y="4224528"/>
            <a:ext cx="54864" cy="347472"/>
          </a:xfrm>
          <a:prstGeom prst="rect">
            <a:avLst/>
          </a:prstGeom>
          <a:solidFill>
            <a:srgbClr val="C0392B"/>
          </a:solidFill>
          <a:ln w="12700">
            <a:solidFill>
              <a:srgbClr val="C0392B"/>
            </a:solidFill>
            <a:prstDash val="solid"/>
          </a:ln>
        </p:spPr>
        <p:txBody>
          <a:bodyPr/>
          <a:lstStyle/>
          <a:p>
            <a:endParaRPr lang="fr-FR"/>
          </a:p>
        </p:txBody>
      </p:sp>
      <p:sp>
        <p:nvSpPr>
          <p:cNvPr id="44" name="Text 42"/>
          <p:cNvSpPr/>
          <p:nvPr/>
        </p:nvSpPr>
        <p:spPr>
          <a:xfrm>
            <a:off x="384048" y="4224528"/>
            <a:ext cx="8467344" cy="34747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Mémo examen : Retrait carte → 10 ans  |  Fraude → 5 ans  |  Permis probatoire → inscription impossible. Ces 3 cas doivent être sus par cœur.</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5. Réglementation des Taxis</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Statuts, tarifs, maraude, véhicule, sanctions</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21/88</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Réglementation des Taxis — Cadre légal et statuts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Code des transports + textes préfectoraux + arrêté métropolitain</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22/88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taxi est la profession T3P la plus ancienne et la plus réglementée. Il se distingue du VTC notamment par son droit de maraude et par des tarifs strictement encadrés par arrêté préfectoral.</a:t>
            </a:r>
            <a:endParaRPr lang="en-US" sz="1200" dirty="0"/>
          </a:p>
        </p:txBody>
      </p:sp>
      <p:sp>
        <p:nvSpPr>
          <p:cNvPr id="10" name="Shape 8"/>
          <p:cNvSpPr/>
          <p:nvPr/>
        </p:nvSpPr>
        <p:spPr>
          <a:xfrm>
            <a:off x="274320" y="1627632"/>
            <a:ext cx="4160520" cy="123444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416052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CADRE RÉGLEMENTAIRE TAXI</a:t>
            </a:r>
            <a:endParaRPr lang="en-US" sz="1050" dirty="0"/>
          </a:p>
        </p:txBody>
      </p:sp>
      <p:sp>
        <p:nvSpPr>
          <p:cNvPr id="13" name="Text 11"/>
          <p:cNvSpPr/>
          <p:nvPr/>
        </p:nvSpPr>
        <p:spPr>
          <a:xfrm>
            <a:off x="384048" y="1975104"/>
            <a:ext cx="3977640" cy="84124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Textes : Code des transports + textes préfectoraux + arrêté métropolitain.</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Autorité compétente : Ministère de la Transition écologique et de la Cohésion des territoires.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Licence ADS obligatoire (délivrée par le Préfet). Sans ADS : DÉLIT — 1 an + 15 000 €.</a:t>
            </a:r>
            <a:endParaRPr lang="en-US" sz="1000" dirty="0"/>
          </a:p>
        </p:txBody>
      </p:sp>
      <p:sp>
        <p:nvSpPr>
          <p:cNvPr id="14" name="Shape 12"/>
          <p:cNvSpPr/>
          <p:nvPr/>
        </p:nvSpPr>
        <p:spPr>
          <a:xfrm>
            <a:off x="4709160" y="1627632"/>
            <a:ext cx="4160520" cy="123444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4709160" y="1627632"/>
            <a:ext cx="4160520" cy="30175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480060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CONDITIONS D'ACCÈS TAXI</a:t>
            </a:r>
            <a:endParaRPr lang="en-US" sz="1050" dirty="0"/>
          </a:p>
        </p:txBody>
      </p:sp>
      <p:sp>
        <p:nvSpPr>
          <p:cNvPr id="17" name="Text 15"/>
          <p:cNvSpPr/>
          <p:nvPr/>
        </p:nvSpPr>
        <p:spPr>
          <a:xfrm>
            <a:off x="4818888" y="1975104"/>
            <a:ext cx="3977640" cy="84124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Carte professionnelle (examen T3P réussi — tronc commun VTC).</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Certificat médical en cours de validité.</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PSC1 (Premiers Secours) — OBLIGATOIRE pour taxi uniquement.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Casier judiciaire Bulletin n°2 vierge. Permis B hors probatoire.</a:t>
            </a:r>
            <a:endParaRPr lang="en-US" sz="1000" dirty="0"/>
          </a:p>
        </p:txBody>
      </p:sp>
      <p:sp>
        <p:nvSpPr>
          <p:cNvPr id="18" name="Text 16"/>
          <p:cNvSpPr/>
          <p:nvPr/>
        </p:nvSpPr>
        <p:spPr>
          <a:xfrm>
            <a:off x="274320" y="2944368"/>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Les 4 statuts d'exercice possibles pour un taxi :</a:t>
            </a:r>
            <a:endParaRPr lang="en-US" sz="1200" dirty="0"/>
          </a:p>
        </p:txBody>
      </p:sp>
      <p:sp>
        <p:nvSpPr>
          <p:cNvPr id="19" name="Shape 17"/>
          <p:cNvSpPr/>
          <p:nvPr/>
        </p:nvSpPr>
        <p:spPr>
          <a:xfrm>
            <a:off x="274320" y="3246120"/>
            <a:ext cx="2057400" cy="1481328"/>
          </a:xfrm>
          <a:prstGeom prst="rect">
            <a:avLst/>
          </a:prstGeom>
          <a:solidFill>
            <a:srgbClr val="E8F1FA"/>
          </a:solidFill>
          <a:ln w="6350">
            <a:solidFill>
              <a:srgbClr val="D0DCE8"/>
            </a:solidFill>
            <a:prstDash val="solid"/>
          </a:ln>
        </p:spPr>
        <p:txBody>
          <a:bodyPr/>
          <a:lstStyle/>
          <a:p>
            <a:endParaRPr lang="fr-FR"/>
          </a:p>
        </p:txBody>
      </p:sp>
      <p:sp>
        <p:nvSpPr>
          <p:cNvPr id="20" name="Shape 18"/>
          <p:cNvSpPr/>
          <p:nvPr/>
        </p:nvSpPr>
        <p:spPr>
          <a:xfrm>
            <a:off x="274320" y="3246120"/>
            <a:ext cx="2057400" cy="292608"/>
          </a:xfrm>
          <a:prstGeom prst="rect">
            <a:avLst/>
          </a:prstGeom>
          <a:solidFill>
            <a:srgbClr val="1A3A5C"/>
          </a:solidFill>
          <a:ln w="12700">
            <a:solidFill>
              <a:srgbClr val="1A3A5C"/>
            </a:solidFill>
            <a:prstDash val="solid"/>
          </a:ln>
        </p:spPr>
        <p:txBody>
          <a:bodyPr/>
          <a:lstStyle/>
          <a:p>
            <a:endParaRPr lang="fr-FR"/>
          </a:p>
        </p:txBody>
      </p:sp>
      <p:sp>
        <p:nvSpPr>
          <p:cNvPr id="21" name="Text 19"/>
          <p:cNvSpPr/>
          <p:nvPr/>
        </p:nvSpPr>
        <p:spPr>
          <a:xfrm>
            <a:off x="329184" y="3246120"/>
            <a:ext cx="1956816" cy="292608"/>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ARTISAN</a:t>
            </a:r>
            <a:endParaRPr lang="en-US" sz="950" dirty="0"/>
          </a:p>
        </p:txBody>
      </p:sp>
      <p:sp>
        <p:nvSpPr>
          <p:cNvPr id="22" name="Text 20"/>
          <p:cNvSpPr/>
          <p:nvPr/>
        </p:nvSpPr>
        <p:spPr>
          <a:xfrm>
            <a:off x="347472" y="3566160"/>
            <a:ext cx="1920240" cy="1133856"/>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Il dispose de sa propre licence (ADS). Il est propriétaire de son droit d'exercer.</a:t>
            </a:r>
            <a:endParaRPr lang="en-US" sz="1000" dirty="0"/>
          </a:p>
        </p:txBody>
      </p:sp>
      <p:sp>
        <p:nvSpPr>
          <p:cNvPr id="23" name="Shape 21"/>
          <p:cNvSpPr/>
          <p:nvPr/>
        </p:nvSpPr>
        <p:spPr>
          <a:xfrm>
            <a:off x="2468880" y="3246120"/>
            <a:ext cx="2057400" cy="1481328"/>
          </a:xfrm>
          <a:prstGeom prst="rect">
            <a:avLst/>
          </a:prstGeom>
          <a:solidFill>
            <a:srgbClr val="E8F1FA"/>
          </a:solidFill>
          <a:ln w="6350">
            <a:solidFill>
              <a:srgbClr val="D0DCE8"/>
            </a:solidFill>
            <a:prstDash val="solid"/>
          </a:ln>
        </p:spPr>
        <p:txBody>
          <a:bodyPr/>
          <a:lstStyle/>
          <a:p>
            <a:endParaRPr lang="fr-FR"/>
          </a:p>
        </p:txBody>
      </p:sp>
      <p:sp>
        <p:nvSpPr>
          <p:cNvPr id="24" name="Shape 22"/>
          <p:cNvSpPr/>
          <p:nvPr/>
        </p:nvSpPr>
        <p:spPr>
          <a:xfrm>
            <a:off x="2468880" y="3246120"/>
            <a:ext cx="2057400" cy="292608"/>
          </a:xfrm>
          <a:prstGeom prst="rect">
            <a:avLst/>
          </a:prstGeom>
          <a:solidFill>
            <a:srgbClr val="1A3A5C"/>
          </a:solidFill>
          <a:ln w="12700">
            <a:solidFill>
              <a:srgbClr val="1A3A5C"/>
            </a:solidFill>
            <a:prstDash val="solid"/>
          </a:ln>
        </p:spPr>
        <p:txBody>
          <a:bodyPr/>
          <a:lstStyle/>
          <a:p>
            <a:endParaRPr lang="fr-FR"/>
          </a:p>
        </p:txBody>
      </p:sp>
      <p:sp>
        <p:nvSpPr>
          <p:cNvPr id="25" name="Text 23"/>
          <p:cNvSpPr/>
          <p:nvPr/>
        </p:nvSpPr>
        <p:spPr>
          <a:xfrm>
            <a:off x="2523744" y="3246120"/>
            <a:ext cx="1956816" cy="292608"/>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SALARIÉ</a:t>
            </a:r>
            <a:endParaRPr lang="en-US" sz="950" dirty="0"/>
          </a:p>
        </p:txBody>
      </p:sp>
      <p:sp>
        <p:nvSpPr>
          <p:cNvPr id="26" name="Text 24"/>
          <p:cNvSpPr/>
          <p:nvPr/>
        </p:nvSpPr>
        <p:spPr>
          <a:xfrm>
            <a:off x="2542032" y="3566160"/>
            <a:ext cx="1920240" cy="1133856"/>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Titulaire de la carte pro mais travaille pour un employeur qui possède l'ADS.</a:t>
            </a:r>
            <a:endParaRPr lang="en-US" sz="1000" dirty="0"/>
          </a:p>
        </p:txBody>
      </p:sp>
      <p:sp>
        <p:nvSpPr>
          <p:cNvPr id="27" name="Shape 25"/>
          <p:cNvSpPr/>
          <p:nvPr/>
        </p:nvSpPr>
        <p:spPr>
          <a:xfrm>
            <a:off x="4663440" y="3246120"/>
            <a:ext cx="2057400" cy="1481328"/>
          </a:xfrm>
          <a:prstGeom prst="rect">
            <a:avLst/>
          </a:prstGeom>
          <a:solidFill>
            <a:srgbClr val="E8F1FA"/>
          </a:solidFill>
          <a:ln w="6350">
            <a:solidFill>
              <a:srgbClr val="D0DCE8"/>
            </a:solidFill>
            <a:prstDash val="solid"/>
          </a:ln>
        </p:spPr>
        <p:txBody>
          <a:bodyPr/>
          <a:lstStyle/>
          <a:p>
            <a:endParaRPr lang="fr-FR"/>
          </a:p>
        </p:txBody>
      </p:sp>
      <p:sp>
        <p:nvSpPr>
          <p:cNvPr id="28" name="Shape 26"/>
          <p:cNvSpPr/>
          <p:nvPr/>
        </p:nvSpPr>
        <p:spPr>
          <a:xfrm>
            <a:off x="4663440" y="3246120"/>
            <a:ext cx="2057400" cy="292608"/>
          </a:xfrm>
          <a:prstGeom prst="rect">
            <a:avLst/>
          </a:prstGeom>
          <a:solidFill>
            <a:srgbClr val="1A3A5C"/>
          </a:solidFill>
          <a:ln w="12700">
            <a:solidFill>
              <a:srgbClr val="1A3A5C"/>
            </a:solidFill>
            <a:prstDash val="solid"/>
          </a:ln>
        </p:spPr>
        <p:txBody>
          <a:bodyPr/>
          <a:lstStyle/>
          <a:p>
            <a:endParaRPr lang="fr-FR"/>
          </a:p>
        </p:txBody>
      </p:sp>
      <p:sp>
        <p:nvSpPr>
          <p:cNvPr id="29" name="Text 27"/>
          <p:cNvSpPr/>
          <p:nvPr/>
        </p:nvSpPr>
        <p:spPr>
          <a:xfrm>
            <a:off x="4718304" y="3246120"/>
            <a:ext cx="1956816" cy="292608"/>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LOCATAIRE-GÉRANT</a:t>
            </a:r>
            <a:endParaRPr lang="en-US" sz="950" dirty="0"/>
          </a:p>
        </p:txBody>
      </p:sp>
      <p:sp>
        <p:nvSpPr>
          <p:cNvPr id="30" name="Text 28"/>
          <p:cNvSpPr/>
          <p:nvPr/>
        </p:nvSpPr>
        <p:spPr>
          <a:xfrm>
            <a:off x="4736592" y="3566160"/>
            <a:ext cx="1920240" cy="1133856"/>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Loue la licence (ADS) ET le véhicule à un titulaire contre paiement d'un loyer.</a:t>
            </a:r>
            <a:endParaRPr lang="en-US" sz="1000" dirty="0"/>
          </a:p>
        </p:txBody>
      </p:sp>
      <p:sp>
        <p:nvSpPr>
          <p:cNvPr id="31" name="Shape 29"/>
          <p:cNvSpPr/>
          <p:nvPr/>
        </p:nvSpPr>
        <p:spPr>
          <a:xfrm>
            <a:off x="6858000" y="3246120"/>
            <a:ext cx="2057400" cy="1481328"/>
          </a:xfrm>
          <a:prstGeom prst="rect">
            <a:avLst/>
          </a:prstGeom>
          <a:solidFill>
            <a:srgbClr val="E8F1FA"/>
          </a:solidFill>
          <a:ln w="6350">
            <a:solidFill>
              <a:srgbClr val="D0DCE8"/>
            </a:solidFill>
            <a:prstDash val="solid"/>
          </a:ln>
        </p:spPr>
        <p:txBody>
          <a:bodyPr/>
          <a:lstStyle/>
          <a:p>
            <a:endParaRPr lang="fr-FR"/>
          </a:p>
        </p:txBody>
      </p:sp>
      <p:sp>
        <p:nvSpPr>
          <p:cNvPr id="32" name="Shape 30"/>
          <p:cNvSpPr/>
          <p:nvPr/>
        </p:nvSpPr>
        <p:spPr>
          <a:xfrm>
            <a:off x="6858000" y="3246120"/>
            <a:ext cx="2057400" cy="292608"/>
          </a:xfrm>
          <a:prstGeom prst="rect">
            <a:avLst/>
          </a:prstGeom>
          <a:solidFill>
            <a:srgbClr val="1A3A5C"/>
          </a:solidFill>
          <a:ln w="12700">
            <a:solidFill>
              <a:srgbClr val="1A3A5C"/>
            </a:solidFill>
            <a:prstDash val="solid"/>
          </a:ln>
        </p:spPr>
        <p:txBody>
          <a:bodyPr/>
          <a:lstStyle/>
          <a:p>
            <a:endParaRPr lang="fr-FR"/>
          </a:p>
        </p:txBody>
      </p:sp>
      <p:sp>
        <p:nvSpPr>
          <p:cNvPr id="33" name="Text 31"/>
          <p:cNvSpPr/>
          <p:nvPr/>
        </p:nvSpPr>
        <p:spPr>
          <a:xfrm>
            <a:off x="6912864" y="3246120"/>
            <a:ext cx="1956816" cy="292608"/>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ACTIONNAIRE</a:t>
            </a:r>
            <a:endParaRPr lang="en-US" sz="950" dirty="0"/>
          </a:p>
        </p:txBody>
      </p:sp>
      <p:sp>
        <p:nvSpPr>
          <p:cNvPr id="34" name="Text 32"/>
          <p:cNvSpPr/>
          <p:nvPr/>
        </p:nvSpPr>
        <p:spPr>
          <a:xfrm>
            <a:off x="6931152" y="3566160"/>
            <a:ext cx="1920240" cy="1133856"/>
          </a:xfrm>
          <a:prstGeom prst="rect">
            <a:avLst/>
          </a:prstGeom>
          <a:noFill/>
          <a:ln/>
        </p:spPr>
        <p:txBody>
          <a:bodyPr wrap="square" rtlCol="0" anchor="t"/>
          <a:lstStyle/>
          <a:p>
            <a:pPr marL="0" indent="0">
              <a:buNone/>
            </a:pPr>
            <a:r>
              <a:rPr lang="en-US" sz="1000" dirty="0">
                <a:solidFill>
                  <a:srgbClr val="3A3A3A"/>
                </a:solidFill>
                <a:latin typeface="Calibri" pitchFamily="34" charset="0"/>
                <a:ea typeface="Calibri" pitchFamily="34" charset="-122"/>
                <a:cs typeface="Calibri" pitchFamily="34" charset="-120"/>
              </a:rPr>
              <a:t>Achète des parts d'une société de taxi (ex : Taxi Radio) qui détient les licences.</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Les 4 statuts du Taxi — Schéma comparatif</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23/88</a:t>
            </a:r>
            <a:endParaRPr lang="en-US" sz="800" dirty="0"/>
          </a:p>
        </p:txBody>
      </p:sp>
      <p:sp>
        <p:nvSpPr>
          <p:cNvPr id="8" name="Text 6"/>
          <p:cNvSpPr/>
          <p:nvPr/>
        </p:nvSpPr>
        <p:spPr>
          <a:xfrm>
            <a:off x="274320" y="886968"/>
            <a:ext cx="8595360" cy="292608"/>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Qui possède quoi selon le statut du conducteur taxi :</a:t>
            </a:r>
            <a:endParaRPr lang="en-US" sz="1200" dirty="0"/>
          </a:p>
        </p:txBody>
      </p:sp>
      <p:sp>
        <p:nvSpPr>
          <p:cNvPr id="9" name="Shape 7"/>
          <p:cNvSpPr/>
          <p:nvPr/>
        </p:nvSpPr>
        <p:spPr>
          <a:xfrm>
            <a:off x="274320" y="1261872"/>
            <a:ext cx="2084832" cy="2331720"/>
          </a:xfrm>
          <a:prstGeom prst="rect">
            <a:avLst/>
          </a:prstGeom>
          <a:solidFill>
            <a:srgbClr val="E8F1FA"/>
          </a:solidFill>
          <a:ln w="6350">
            <a:solidFill>
              <a:srgbClr val="D0DCE8"/>
            </a:solidFill>
            <a:prstDash val="solid"/>
          </a:ln>
        </p:spPr>
        <p:txBody>
          <a:bodyPr/>
          <a:lstStyle/>
          <a:p>
            <a:endParaRPr lang="fr-FR"/>
          </a:p>
        </p:txBody>
      </p:sp>
      <p:sp>
        <p:nvSpPr>
          <p:cNvPr id="10" name="Shape 8"/>
          <p:cNvSpPr/>
          <p:nvPr/>
        </p:nvSpPr>
        <p:spPr>
          <a:xfrm>
            <a:off x="274320" y="1261872"/>
            <a:ext cx="2084832" cy="347472"/>
          </a:xfrm>
          <a:prstGeom prst="rect">
            <a:avLst/>
          </a:prstGeom>
          <a:solidFill>
            <a:srgbClr val="1A3A5C"/>
          </a:solidFill>
          <a:ln w="12700">
            <a:solidFill>
              <a:srgbClr val="1A3A5C"/>
            </a:solidFill>
            <a:prstDash val="solid"/>
          </a:ln>
        </p:spPr>
        <p:txBody>
          <a:bodyPr/>
          <a:lstStyle/>
          <a:p>
            <a:endParaRPr lang="fr-FR"/>
          </a:p>
        </p:txBody>
      </p:sp>
      <p:sp>
        <p:nvSpPr>
          <p:cNvPr id="11" name="Text 9"/>
          <p:cNvSpPr/>
          <p:nvPr/>
        </p:nvSpPr>
        <p:spPr>
          <a:xfrm>
            <a:off x="320040" y="1261872"/>
            <a:ext cx="199339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ARTISAN</a:t>
            </a:r>
            <a:endParaRPr lang="en-US" sz="1100" dirty="0"/>
          </a:p>
        </p:txBody>
      </p:sp>
      <p:sp>
        <p:nvSpPr>
          <p:cNvPr id="12" name="Text 10"/>
          <p:cNvSpPr/>
          <p:nvPr/>
        </p:nvSpPr>
        <p:spPr>
          <a:xfrm>
            <a:off x="347472" y="1645920"/>
            <a:ext cx="1938528" cy="1261872"/>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Propre ADS ✔</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Propre véhicule ✔</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Propre client ✔</a:t>
            </a:r>
            <a:endParaRPr lang="en-US" sz="1050" dirty="0"/>
          </a:p>
        </p:txBody>
      </p:sp>
      <p:sp>
        <p:nvSpPr>
          <p:cNvPr id="13" name="Shape 11"/>
          <p:cNvSpPr/>
          <p:nvPr/>
        </p:nvSpPr>
        <p:spPr>
          <a:xfrm>
            <a:off x="365760" y="3337560"/>
            <a:ext cx="1901952" cy="237744"/>
          </a:xfrm>
          <a:prstGeom prst="rect">
            <a:avLst/>
          </a:prstGeom>
          <a:solidFill>
            <a:srgbClr val="1A3A5C"/>
          </a:solidFill>
          <a:ln w="12700">
            <a:solidFill>
              <a:srgbClr val="1A3A5C"/>
            </a:solidFill>
            <a:prstDash val="solid"/>
          </a:ln>
        </p:spPr>
        <p:txBody>
          <a:bodyPr/>
          <a:lstStyle/>
          <a:p>
            <a:endParaRPr lang="fr-FR"/>
          </a:p>
        </p:txBody>
      </p:sp>
      <p:sp>
        <p:nvSpPr>
          <p:cNvPr id="14" name="Text 12"/>
          <p:cNvSpPr/>
          <p:nvPr/>
        </p:nvSpPr>
        <p:spPr>
          <a:xfrm>
            <a:off x="365760" y="3337560"/>
            <a:ext cx="1901952" cy="237744"/>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Indépendant total</a:t>
            </a:r>
            <a:endParaRPr lang="en-US" sz="900" dirty="0"/>
          </a:p>
        </p:txBody>
      </p:sp>
      <p:sp>
        <p:nvSpPr>
          <p:cNvPr id="15" name="Shape 13"/>
          <p:cNvSpPr/>
          <p:nvPr/>
        </p:nvSpPr>
        <p:spPr>
          <a:xfrm>
            <a:off x="2487168" y="1261872"/>
            <a:ext cx="2084832" cy="2331720"/>
          </a:xfrm>
          <a:prstGeom prst="rect">
            <a:avLst/>
          </a:prstGeom>
          <a:solidFill>
            <a:srgbClr val="E8F1FA"/>
          </a:solidFill>
          <a:ln w="6350">
            <a:solidFill>
              <a:srgbClr val="D0DCE8"/>
            </a:solidFill>
            <a:prstDash val="solid"/>
          </a:ln>
        </p:spPr>
        <p:txBody>
          <a:bodyPr/>
          <a:lstStyle/>
          <a:p>
            <a:endParaRPr lang="fr-FR"/>
          </a:p>
        </p:txBody>
      </p:sp>
      <p:sp>
        <p:nvSpPr>
          <p:cNvPr id="16" name="Shape 14"/>
          <p:cNvSpPr/>
          <p:nvPr/>
        </p:nvSpPr>
        <p:spPr>
          <a:xfrm>
            <a:off x="2487168" y="1261872"/>
            <a:ext cx="2084832" cy="347472"/>
          </a:xfrm>
          <a:prstGeom prst="rect">
            <a:avLst/>
          </a:prstGeom>
          <a:solidFill>
            <a:srgbClr val="2860A8"/>
          </a:solidFill>
          <a:ln w="12700">
            <a:solidFill>
              <a:srgbClr val="2860A8"/>
            </a:solidFill>
            <a:prstDash val="solid"/>
          </a:ln>
        </p:spPr>
        <p:txBody>
          <a:bodyPr/>
          <a:lstStyle/>
          <a:p>
            <a:endParaRPr lang="fr-FR"/>
          </a:p>
        </p:txBody>
      </p:sp>
      <p:sp>
        <p:nvSpPr>
          <p:cNvPr id="17" name="Text 15"/>
          <p:cNvSpPr/>
          <p:nvPr/>
        </p:nvSpPr>
        <p:spPr>
          <a:xfrm>
            <a:off x="2532888" y="1261872"/>
            <a:ext cx="199339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SALARIÉ</a:t>
            </a:r>
            <a:endParaRPr lang="en-US" sz="1100" dirty="0"/>
          </a:p>
        </p:txBody>
      </p:sp>
      <p:sp>
        <p:nvSpPr>
          <p:cNvPr id="18" name="Text 16"/>
          <p:cNvSpPr/>
          <p:nvPr/>
        </p:nvSpPr>
        <p:spPr>
          <a:xfrm>
            <a:off x="2560320" y="1645920"/>
            <a:ext cx="1938528" cy="1261872"/>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ADS de l'employeur</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Véhicule fourni</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Salaire mensuel</a:t>
            </a:r>
            <a:endParaRPr lang="en-US" sz="1050" dirty="0"/>
          </a:p>
        </p:txBody>
      </p:sp>
      <p:sp>
        <p:nvSpPr>
          <p:cNvPr id="19" name="Shape 17"/>
          <p:cNvSpPr/>
          <p:nvPr/>
        </p:nvSpPr>
        <p:spPr>
          <a:xfrm>
            <a:off x="2578608" y="3337560"/>
            <a:ext cx="1901952" cy="237744"/>
          </a:xfrm>
          <a:prstGeom prst="rect">
            <a:avLst/>
          </a:prstGeom>
          <a:solidFill>
            <a:srgbClr val="2860A8"/>
          </a:solidFill>
          <a:ln w="12700">
            <a:solidFill>
              <a:srgbClr val="2860A8"/>
            </a:solidFill>
            <a:prstDash val="solid"/>
          </a:ln>
        </p:spPr>
        <p:txBody>
          <a:bodyPr/>
          <a:lstStyle/>
          <a:p>
            <a:endParaRPr lang="fr-FR"/>
          </a:p>
        </p:txBody>
      </p:sp>
      <p:sp>
        <p:nvSpPr>
          <p:cNvPr id="20" name="Text 18"/>
          <p:cNvSpPr/>
          <p:nvPr/>
        </p:nvSpPr>
        <p:spPr>
          <a:xfrm>
            <a:off x="2578608" y="3337560"/>
            <a:ext cx="1901952" cy="237744"/>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Lien de subordination</a:t>
            </a:r>
            <a:endParaRPr lang="en-US" sz="900" dirty="0"/>
          </a:p>
        </p:txBody>
      </p:sp>
      <p:sp>
        <p:nvSpPr>
          <p:cNvPr id="21" name="Shape 19"/>
          <p:cNvSpPr/>
          <p:nvPr/>
        </p:nvSpPr>
        <p:spPr>
          <a:xfrm>
            <a:off x="4700016" y="1261872"/>
            <a:ext cx="2084832" cy="2331720"/>
          </a:xfrm>
          <a:prstGeom prst="rect">
            <a:avLst/>
          </a:prstGeom>
          <a:solidFill>
            <a:srgbClr val="E8F1FA"/>
          </a:solidFill>
          <a:ln w="6350">
            <a:solidFill>
              <a:srgbClr val="D0DCE8"/>
            </a:solidFill>
            <a:prstDash val="solid"/>
          </a:ln>
        </p:spPr>
        <p:txBody>
          <a:bodyPr/>
          <a:lstStyle/>
          <a:p>
            <a:endParaRPr lang="fr-FR"/>
          </a:p>
        </p:txBody>
      </p:sp>
      <p:sp>
        <p:nvSpPr>
          <p:cNvPr id="22" name="Shape 20"/>
          <p:cNvSpPr/>
          <p:nvPr/>
        </p:nvSpPr>
        <p:spPr>
          <a:xfrm>
            <a:off x="4700016" y="1261872"/>
            <a:ext cx="2084832" cy="347472"/>
          </a:xfrm>
          <a:prstGeom prst="rect">
            <a:avLst/>
          </a:prstGeom>
          <a:solidFill>
            <a:srgbClr val="00897B"/>
          </a:solidFill>
          <a:ln w="12700">
            <a:solidFill>
              <a:srgbClr val="00897B"/>
            </a:solidFill>
            <a:prstDash val="solid"/>
          </a:ln>
        </p:spPr>
        <p:txBody>
          <a:bodyPr/>
          <a:lstStyle/>
          <a:p>
            <a:endParaRPr lang="fr-FR"/>
          </a:p>
        </p:txBody>
      </p:sp>
      <p:sp>
        <p:nvSpPr>
          <p:cNvPr id="23" name="Text 21"/>
          <p:cNvSpPr/>
          <p:nvPr/>
        </p:nvSpPr>
        <p:spPr>
          <a:xfrm>
            <a:off x="4745736" y="1261872"/>
            <a:ext cx="199339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LOCATAIRE-GÉRANT</a:t>
            </a:r>
            <a:endParaRPr lang="en-US" sz="1100" dirty="0"/>
          </a:p>
        </p:txBody>
      </p:sp>
      <p:sp>
        <p:nvSpPr>
          <p:cNvPr id="24" name="Text 22"/>
          <p:cNvSpPr/>
          <p:nvPr/>
        </p:nvSpPr>
        <p:spPr>
          <a:xfrm>
            <a:off x="4773168" y="1645920"/>
            <a:ext cx="1938528" cy="1261872"/>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Loue l'ADS</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Loue le véhicule</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Garde les recettes</a:t>
            </a:r>
            <a:endParaRPr lang="en-US" sz="1050" dirty="0"/>
          </a:p>
        </p:txBody>
      </p:sp>
      <p:sp>
        <p:nvSpPr>
          <p:cNvPr id="25" name="Shape 23"/>
          <p:cNvSpPr/>
          <p:nvPr/>
        </p:nvSpPr>
        <p:spPr>
          <a:xfrm>
            <a:off x="4791456" y="3337560"/>
            <a:ext cx="1901952" cy="237744"/>
          </a:xfrm>
          <a:prstGeom prst="rect">
            <a:avLst/>
          </a:prstGeom>
          <a:solidFill>
            <a:srgbClr val="00897B"/>
          </a:solidFill>
          <a:ln w="12700">
            <a:solidFill>
              <a:srgbClr val="00897B"/>
            </a:solidFill>
            <a:prstDash val="solid"/>
          </a:ln>
        </p:spPr>
        <p:txBody>
          <a:bodyPr/>
          <a:lstStyle/>
          <a:p>
            <a:endParaRPr lang="fr-FR"/>
          </a:p>
        </p:txBody>
      </p:sp>
      <p:sp>
        <p:nvSpPr>
          <p:cNvPr id="26" name="Text 24"/>
          <p:cNvSpPr/>
          <p:nvPr/>
        </p:nvSpPr>
        <p:spPr>
          <a:xfrm>
            <a:off x="4791456" y="3337560"/>
            <a:ext cx="1901952" cy="237744"/>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Contrat de louage</a:t>
            </a:r>
            <a:endParaRPr lang="en-US" sz="900" dirty="0"/>
          </a:p>
        </p:txBody>
      </p:sp>
      <p:sp>
        <p:nvSpPr>
          <p:cNvPr id="27" name="Shape 25"/>
          <p:cNvSpPr/>
          <p:nvPr/>
        </p:nvSpPr>
        <p:spPr>
          <a:xfrm>
            <a:off x="6912864" y="1261872"/>
            <a:ext cx="2084832" cy="2331720"/>
          </a:xfrm>
          <a:prstGeom prst="rect">
            <a:avLst/>
          </a:prstGeom>
          <a:solidFill>
            <a:srgbClr val="E8F1FA"/>
          </a:solidFill>
          <a:ln w="6350">
            <a:solidFill>
              <a:srgbClr val="D0DCE8"/>
            </a:solidFill>
            <a:prstDash val="solid"/>
          </a:ln>
        </p:spPr>
        <p:txBody>
          <a:bodyPr/>
          <a:lstStyle/>
          <a:p>
            <a:endParaRPr lang="fr-FR"/>
          </a:p>
        </p:txBody>
      </p:sp>
      <p:sp>
        <p:nvSpPr>
          <p:cNvPr id="28" name="Shape 26"/>
          <p:cNvSpPr/>
          <p:nvPr/>
        </p:nvSpPr>
        <p:spPr>
          <a:xfrm>
            <a:off x="6912864" y="1261872"/>
            <a:ext cx="2084832" cy="347472"/>
          </a:xfrm>
          <a:prstGeom prst="rect">
            <a:avLst/>
          </a:prstGeom>
          <a:solidFill>
            <a:srgbClr val="F4A227"/>
          </a:solidFill>
          <a:ln w="12700">
            <a:solidFill>
              <a:srgbClr val="F4A227"/>
            </a:solidFill>
            <a:prstDash val="solid"/>
          </a:ln>
        </p:spPr>
        <p:txBody>
          <a:bodyPr/>
          <a:lstStyle/>
          <a:p>
            <a:endParaRPr lang="fr-FR"/>
          </a:p>
        </p:txBody>
      </p:sp>
      <p:sp>
        <p:nvSpPr>
          <p:cNvPr id="29" name="Text 27"/>
          <p:cNvSpPr/>
          <p:nvPr/>
        </p:nvSpPr>
        <p:spPr>
          <a:xfrm>
            <a:off x="6958584" y="1261872"/>
            <a:ext cx="1993392" cy="34747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ACTIONNAIRE</a:t>
            </a:r>
            <a:endParaRPr lang="en-US" sz="1100" dirty="0"/>
          </a:p>
        </p:txBody>
      </p:sp>
      <p:sp>
        <p:nvSpPr>
          <p:cNvPr id="30" name="Text 28"/>
          <p:cNvSpPr/>
          <p:nvPr/>
        </p:nvSpPr>
        <p:spPr>
          <a:xfrm>
            <a:off x="6986016" y="1645920"/>
            <a:ext cx="1938528" cy="1261872"/>
          </a:xfrm>
          <a:prstGeom prst="rect">
            <a:avLst/>
          </a:prstGeom>
          <a:noFill/>
          <a:ln/>
        </p:spPr>
        <p:txBody>
          <a:bodyPr wrap="square" rtlCol="0" anchor="ctr"/>
          <a:lstStyle/>
          <a:p>
            <a:pPr marL="0" indent="0" algn="ctr">
              <a:buNone/>
            </a:pPr>
            <a:r>
              <a:rPr lang="en-US" sz="1050" dirty="0">
                <a:solidFill>
                  <a:srgbClr val="3A3A3A"/>
                </a:solidFill>
                <a:latin typeface="Calibri" pitchFamily="34" charset="0"/>
                <a:ea typeface="Calibri" pitchFamily="34" charset="-122"/>
                <a:cs typeface="Calibri" pitchFamily="34" charset="-120"/>
              </a:rPr>
              <a:t>Parts dans société</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ADS collective</a:t>
            </a:r>
            <a:endParaRPr lang="en-US" sz="1050" dirty="0"/>
          </a:p>
          <a:p>
            <a:pPr marL="0" indent="0" algn="ctr">
              <a:buNone/>
            </a:pPr>
            <a:r>
              <a:rPr lang="en-US" sz="1050" dirty="0">
                <a:solidFill>
                  <a:srgbClr val="3A3A3A"/>
                </a:solidFill>
                <a:latin typeface="Calibri" pitchFamily="34" charset="0"/>
                <a:ea typeface="Calibri" pitchFamily="34" charset="-122"/>
                <a:cs typeface="Calibri" pitchFamily="34" charset="-120"/>
              </a:rPr>
              <a:t>Partage des bénéfices</a:t>
            </a:r>
            <a:endParaRPr lang="en-US" sz="1050" dirty="0"/>
          </a:p>
        </p:txBody>
      </p:sp>
      <p:sp>
        <p:nvSpPr>
          <p:cNvPr id="31" name="Shape 29"/>
          <p:cNvSpPr/>
          <p:nvPr/>
        </p:nvSpPr>
        <p:spPr>
          <a:xfrm>
            <a:off x="7004304" y="3337560"/>
            <a:ext cx="1901952" cy="237744"/>
          </a:xfrm>
          <a:prstGeom prst="rect">
            <a:avLst/>
          </a:prstGeom>
          <a:solidFill>
            <a:srgbClr val="F4A227"/>
          </a:solidFill>
          <a:ln w="12700">
            <a:solidFill>
              <a:srgbClr val="F4A227"/>
            </a:solidFill>
            <a:prstDash val="solid"/>
          </a:ln>
        </p:spPr>
        <p:txBody>
          <a:bodyPr/>
          <a:lstStyle/>
          <a:p>
            <a:endParaRPr lang="fr-FR"/>
          </a:p>
        </p:txBody>
      </p:sp>
      <p:sp>
        <p:nvSpPr>
          <p:cNvPr id="32" name="Text 30"/>
          <p:cNvSpPr/>
          <p:nvPr/>
        </p:nvSpPr>
        <p:spPr>
          <a:xfrm>
            <a:off x="7004304" y="3337560"/>
            <a:ext cx="1901952" cy="237744"/>
          </a:xfrm>
          <a:prstGeom prst="rect">
            <a:avLst/>
          </a:prstGeom>
          <a:noFill/>
          <a:ln/>
        </p:spPr>
        <p:txBody>
          <a:bodyPr wrap="square"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Ex : Taxi Radio</a:t>
            </a:r>
            <a:endParaRPr lang="en-US" sz="900" dirty="0"/>
          </a:p>
        </p:txBody>
      </p:sp>
      <p:sp>
        <p:nvSpPr>
          <p:cNvPr id="33" name="Text 31"/>
          <p:cNvSpPr/>
          <p:nvPr/>
        </p:nvSpPr>
        <p:spPr>
          <a:xfrm>
            <a:off x="274320" y="3675888"/>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Le calcul du tarif taxi :</a:t>
            </a:r>
            <a:endParaRPr lang="en-US" sz="1200" dirty="0"/>
          </a:p>
        </p:txBody>
      </p:sp>
      <p:sp>
        <p:nvSpPr>
          <p:cNvPr id="34" name="Shape 32"/>
          <p:cNvSpPr/>
          <p:nvPr/>
        </p:nvSpPr>
        <p:spPr>
          <a:xfrm>
            <a:off x="274320" y="3977640"/>
            <a:ext cx="2011680" cy="502920"/>
          </a:xfrm>
          <a:prstGeom prst="rect">
            <a:avLst/>
          </a:prstGeom>
          <a:solidFill>
            <a:srgbClr val="1A3A5C"/>
          </a:solidFill>
          <a:ln w="12700">
            <a:solidFill>
              <a:srgbClr val="1A3A5C"/>
            </a:solidFill>
            <a:prstDash val="solid"/>
          </a:ln>
        </p:spPr>
        <p:txBody>
          <a:bodyPr/>
          <a:lstStyle/>
          <a:p>
            <a:endParaRPr lang="fr-FR"/>
          </a:p>
        </p:txBody>
      </p:sp>
      <p:sp>
        <p:nvSpPr>
          <p:cNvPr id="35" name="Text 33"/>
          <p:cNvSpPr/>
          <p:nvPr/>
        </p:nvSpPr>
        <p:spPr>
          <a:xfrm>
            <a:off x="274320" y="3977640"/>
            <a:ext cx="20116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Prise en charge</a:t>
            </a:r>
            <a:endParaRPr lang="en-US" sz="1050" dirty="0"/>
          </a:p>
        </p:txBody>
      </p:sp>
      <p:sp>
        <p:nvSpPr>
          <p:cNvPr id="36" name="Shape 34"/>
          <p:cNvSpPr/>
          <p:nvPr/>
        </p:nvSpPr>
        <p:spPr>
          <a:xfrm>
            <a:off x="2487168" y="3977640"/>
            <a:ext cx="2011680" cy="502920"/>
          </a:xfrm>
          <a:prstGeom prst="rect">
            <a:avLst/>
          </a:prstGeom>
          <a:solidFill>
            <a:srgbClr val="2860A8"/>
          </a:solidFill>
          <a:ln w="12700">
            <a:solidFill>
              <a:srgbClr val="2860A8"/>
            </a:solidFill>
            <a:prstDash val="solid"/>
          </a:ln>
        </p:spPr>
        <p:txBody>
          <a:bodyPr/>
          <a:lstStyle/>
          <a:p>
            <a:endParaRPr lang="fr-FR"/>
          </a:p>
        </p:txBody>
      </p:sp>
      <p:sp>
        <p:nvSpPr>
          <p:cNvPr id="37" name="Text 35"/>
          <p:cNvSpPr/>
          <p:nvPr/>
        </p:nvSpPr>
        <p:spPr>
          <a:xfrm>
            <a:off x="2487168" y="3977640"/>
            <a:ext cx="20116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 Km parcourus</a:t>
            </a:r>
            <a:endParaRPr lang="en-US" sz="1050" dirty="0"/>
          </a:p>
        </p:txBody>
      </p:sp>
      <p:sp>
        <p:nvSpPr>
          <p:cNvPr id="38" name="Shape 36"/>
          <p:cNvSpPr/>
          <p:nvPr/>
        </p:nvSpPr>
        <p:spPr>
          <a:xfrm>
            <a:off x="4700016" y="3977640"/>
            <a:ext cx="2011680" cy="502920"/>
          </a:xfrm>
          <a:prstGeom prst="rect">
            <a:avLst/>
          </a:prstGeom>
          <a:solidFill>
            <a:srgbClr val="00897B"/>
          </a:solidFill>
          <a:ln w="12700">
            <a:solidFill>
              <a:srgbClr val="00897B"/>
            </a:solidFill>
            <a:prstDash val="solid"/>
          </a:ln>
        </p:spPr>
        <p:txBody>
          <a:bodyPr/>
          <a:lstStyle/>
          <a:p>
            <a:endParaRPr lang="fr-FR"/>
          </a:p>
        </p:txBody>
      </p:sp>
      <p:sp>
        <p:nvSpPr>
          <p:cNvPr id="39" name="Text 37"/>
          <p:cNvSpPr/>
          <p:nvPr/>
        </p:nvSpPr>
        <p:spPr>
          <a:xfrm>
            <a:off x="4700016" y="3977640"/>
            <a:ext cx="20116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  Suppléments</a:t>
            </a:r>
            <a:endParaRPr lang="en-US" sz="1050" dirty="0"/>
          </a:p>
        </p:txBody>
      </p:sp>
      <p:sp>
        <p:nvSpPr>
          <p:cNvPr id="40" name="Shape 38"/>
          <p:cNvSpPr/>
          <p:nvPr/>
        </p:nvSpPr>
        <p:spPr>
          <a:xfrm>
            <a:off x="6912864" y="3977640"/>
            <a:ext cx="2011680" cy="502920"/>
          </a:xfrm>
          <a:prstGeom prst="rect">
            <a:avLst/>
          </a:prstGeom>
          <a:solidFill>
            <a:srgbClr val="F4A227"/>
          </a:solidFill>
          <a:ln w="12700">
            <a:solidFill>
              <a:srgbClr val="F4A227"/>
            </a:solidFill>
            <a:prstDash val="solid"/>
          </a:ln>
        </p:spPr>
        <p:txBody>
          <a:bodyPr/>
          <a:lstStyle/>
          <a:p>
            <a:endParaRPr lang="fr-FR"/>
          </a:p>
        </p:txBody>
      </p:sp>
      <p:sp>
        <p:nvSpPr>
          <p:cNvPr id="41" name="Text 39"/>
          <p:cNvSpPr/>
          <p:nvPr/>
        </p:nvSpPr>
        <p:spPr>
          <a:xfrm>
            <a:off x="6912864" y="3977640"/>
            <a:ext cx="2011680" cy="502920"/>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 TARIF FINAL</a:t>
            </a:r>
            <a:endParaRPr lang="en-US" sz="1050" dirty="0"/>
          </a:p>
        </p:txBody>
      </p:sp>
      <p:sp>
        <p:nvSpPr>
          <p:cNvPr id="42" name="Text 40"/>
          <p:cNvSpPr/>
          <p:nvPr/>
        </p:nvSpPr>
        <p:spPr>
          <a:xfrm>
            <a:off x="274320" y="4544568"/>
            <a:ext cx="8595360" cy="274320"/>
          </a:xfrm>
          <a:prstGeom prst="rect">
            <a:avLst/>
          </a:prstGeom>
          <a:noFill/>
          <a:ln/>
        </p:spPr>
        <p:txBody>
          <a:bodyPr wrap="square" rtlCol="0" anchor="t"/>
          <a:lstStyle/>
          <a:p>
            <a:pPr marL="0" indent="0">
              <a:buNone/>
            </a:pPr>
            <a:r>
              <a:rPr lang="en-US" sz="950" dirty="0">
                <a:solidFill>
                  <a:srgbClr val="6B7A8D"/>
                </a:solidFill>
                <a:latin typeface="Calibri" pitchFamily="34" charset="0"/>
                <a:ea typeface="Calibri" pitchFamily="34" charset="-122"/>
                <a:cs typeface="Calibri" pitchFamily="34" charset="-120"/>
              </a:rPr>
              <a:t>Suppléments autorisés : 5e passager — 4e bagage — équipements spéciaux — animaux — nuit / dimanche / fériés. Tarifs fixés par ARRÊTÉ PRÉFECTORAL — pas libres.</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La maraude — Définition légale et règles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Droit exclusif du taxi — 3 formes définies par le Code des transports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24/88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La maraude est l'un des droits les plus importants du taxi et l'une des distinctions fondamentales avec le VTC. Elle désigne le fait de rechercher des clients sur la voie publique sans réservation préalable. Ce droit est exclusivement réservé aux taxis.</a:t>
            </a:r>
            <a:endParaRPr lang="en-US" sz="1200" dirty="0"/>
          </a:p>
        </p:txBody>
      </p:sp>
      <p:sp>
        <p:nvSpPr>
          <p:cNvPr id="10" name="Shape 8"/>
          <p:cNvSpPr/>
          <p:nvPr/>
        </p:nvSpPr>
        <p:spPr>
          <a:xfrm>
            <a:off x="274320" y="1627632"/>
            <a:ext cx="8595360" cy="123444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859536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LES 3 FORMES DE MARAUDE (définies par le Code des transports)</a:t>
            </a:r>
            <a:endParaRPr lang="en-US" sz="1050" dirty="0"/>
          </a:p>
        </p:txBody>
      </p:sp>
      <p:sp>
        <p:nvSpPr>
          <p:cNvPr id="13" name="Text 11"/>
          <p:cNvSpPr/>
          <p:nvPr/>
        </p:nvSpPr>
        <p:spPr>
          <a:xfrm>
            <a:off x="384048" y="1975104"/>
            <a:ext cx="8412480" cy="84124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1. Le fait de PRENDRE EN CHARGE un client sur la voie publique SANS réservation préalable.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2. Le fait d'ÊTRE EN QUÊTE DE CLIENTÈLE sur la voie publique (circuler lentement en cherchant des passagers).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3. Le fait de dépasser 1 HEURE d'attente pour récupérer un client dans une gare ou un aéroport par rapport à l'horaire prévu.</a:t>
            </a:r>
            <a:endParaRPr lang="en-US" sz="1000" dirty="0"/>
          </a:p>
        </p:txBody>
      </p:sp>
      <p:sp>
        <p:nvSpPr>
          <p:cNvPr id="14" name="Shape 12"/>
          <p:cNvSpPr/>
          <p:nvPr/>
        </p:nvSpPr>
        <p:spPr>
          <a:xfrm>
            <a:off x="274320" y="2944368"/>
            <a:ext cx="4160520" cy="1005840"/>
          </a:xfrm>
          <a:prstGeom prst="rect">
            <a:avLst/>
          </a:prstGeom>
          <a:solidFill>
            <a:srgbClr val="E8F3E8"/>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274320" y="2944368"/>
            <a:ext cx="4160520" cy="301752"/>
          </a:xfrm>
          <a:prstGeom prst="rect">
            <a:avLst/>
          </a:prstGeom>
          <a:solidFill>
            <a:srgbClr val="2E7D32"/>
          </a:solidFill>
          <a:ln w="12700">
            <a:solidFill>
              <a:srgbClr val="2E7D32"/>
            </a:solidFill>
            <a:prstDash val="solid"/>
          </a:ln>
        </p:spPr>
        <p:txBody>
          <a:bodyPr/>
          <a:lstStyle/>
          <a:p>
            <a:endParaRPr lang="fr-FR"/>
          </a:p>
        </p:txBody>
      </p:sp>
      <p:sp>
        <p:nvSpPr>
          <p:cNvPr id="16" name="Text 14"/>
          <p:cNvSpPr/>
          <p:nvPr/>
        </p:nvSpPr>
        <p:spPr>
          <a:xfrm>
            <a:off x="365760" y="294436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TAXI — Maraude AUTORISÉE ✔</a:t>
            </a:r>
            <a:endParaRPr lang="en-US" sz="1050" dirty="0"/>
          </a:p>
        </p:txBody>
      </p:sp>
      <p:sp>
        <p:nvSpPr>
          <p:cNvPr id="17" name="Text 15"/>
          <p:cNvSpPr/>
          <p:nvPr/>
        </p:nvSpPr>
        <p:spPr>
          <a:xfrm>
            <a:off x="384048" y="3291840"/>
            <a:ext cx="3977640" cy="61264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Autorisée UNIQUEMENT dans la zone de rattachement du taxi.</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HORS de la zone : réservation préalable obligatoire (comme un VTC).</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Peut stationner aux emplacements TAXI (tête de station).</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Lumignon VERT = libre — Lumignon ROUGE = occupé.</a:t>
            </a:r>
            <a:endParaRPr lang="en-US" sz="1000" dirty="0"/>
          </a:p>
        </p:txBody>
      </p:sp>
      <p:sp>
        <p:nvSpPr>
          <p:cNvPr id="18" name="Shape 16"/>
          <p:cNvSpPr/>
          <p:nvPr/>
        </p:nvSpPr>
        <p:spPr>
          <a:xfrm>
            <a:off x="4709160" y="2944368"/>
            <a:ext cx="4160520" cy="1005840"/>
          </a:xfrm>
          <a:prstGeom prst="rect">
            <a:avLst/>
          </a:prstGeom>
          <a:solidFill>
            <a:srgbClr val="FDECE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9" name="Shape 17"/>
          <p:cNvSpPr/>
          <p:nvPr/>
        </p:nvSpPr>
        <p:spPr>
          <a:xfrm>
            <a:off x="4709160" y="2944368"/>
            <a:ext cx="4160520" cy="301752"/>
          </a:xfrm>
          <a:prstGeom prst="rect">
            <a:avLst/>
          </a:prstGeom>
          <a:solidFill>
            <a:srgbClr val="C0392B"/>
          </a:solidFill>
          <a:ln w="12700">
            <a:solidFill>
              <a:srgbClr val="C0392B"/>
            </a:solidFill>
            <a:prstDash val="solid"/>
          </a:ln>
        </p:spPr>
        <p:txBody>
          <a:bodyPr/>
          <a:lstStyle/>
          <a:p>
            <a:endParaRPr lang="fr-FR"/>
          </a:p>
        </p:txBody>
      </p:sp>
      <p:sp>
        <p:nvSpPr>
          <p:cNvPr id="20" name="Text 18"/>
          <p:cNvSpPr/>
          <p:nvPr/>
        </p:nvSpPr>
        <p:spPr>
          <a:xfrm>
            <a:off x="4800600" y="294436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VTC / VMDTR — Maraude INTERDITE ✖</a:t>
            </a:r>
            <a:endParaRPr lang="en-US" sz="1050" dirty="0"/>
          </a:p>
        </p:txBody>
      </p:sp>
      <p:sp>
        <p:nvSpPr>
          <p:cNvPr id="21" name="Text 19"/>
          <p:cNvSpPr/>
          <p:nvPr/>
        </p:nvSpPr>
        <p:spPr>
          <a:xfrm>
            <a:off x="4818888" y="3291840"/>
            <a:ext cx="3977640" cy="61264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Jamais de prise en charge sans réservation préalable enregistrée.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Interdit de stationner aux emplacements taxis.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Sanction : DÉLIT — 1 an de prison + 15 000 € d'amende.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Même règle pour le VMDTR : réservation toujours obligatoire.</a:t>
            </a:r>
            <a:endParaRPr lang="en-US" sz="1000" dirty="0"/>
          </a:p>
        </p:txBody>
      </p:sp>
      <p:sp>
        <p:nvSpPr>
          <p:cNvPr id="22" name="Shape 20"/>
          <p:cNvSpPr/>
          <p:nvPr/>
        </p:nvSpPr>
        <p:spPr>
          <a:xfrm>
            <a:off x="274320" y="4041648"/>
            <a:ext cx="8595360" cy="347472"/>
          </a:xfrm>
          <a:prstGeom prst="rect">
            <a:avLst/>
          </a:prstGeom>
          <a:solidFill>
            <a:srgbClr val="FEF0EE"/>
          </a:solidFill>
          <a:ln w="19050">
            <a:solidFill>
              <a:srgbClr val="C0392B"/>
            </a:solidFill>
            <a:prstDash val="solid"/>
          </a:ln>
        </p:spPr>
        <p:txBody>
          <a:bodyPr/>
          <a:lstStyle/>
          <a:p>
            <a:endParaRPr lang="fr-FR"/>
          </a:p>
        </p:txBody>
      </p:sp>
      <p:sp>
        <p:nvSpPr>
          <p:cNvPr id="23" name="Shape 21"/>
          <p:cNvSpPr/>
          <p:nvPr/>
        </p:nvSpPr>
        <p:spPr>
          <a:xfrm>
            <a:off x="274320" y="4041648"/>
            <a:ext cx="54864" cy="347472"/>
          </a:xfrm>
          <a:prstGeom prst="rect">
            <a:avLst/>
          </a:prstGeom>
          <a:solidFill>
            <a:srgbClr val="C0392B"/>
          </a:solidFill>
          <a:ln w="12700">
            <a:solidFill>
              <a:srgbClr val="C0392B"/>
            </a:solidFill>
            <a:prstDash val="solid"/>
          </a:ln>
        </p:spPr>
        <p:txBody>
          <a:bodyPr/>
          <a:lstStyle/>
          <a:p>
            <a:endParaRPr lang="fr-FR"/>
          </a:p>
        </p:txBody>
      </p:sp>
      <p:sp>
        <p:nvSpPr>
          <p:cNvPr id="24" name="Text 22"/>
          <p:cNvSpPr/>
          <p:nvPr/>
        </p:nvSpPr>
        <p:spPr>
          <a:xfrm>
            <a:off x="384048" y="4041648"/>
            <a:ext cx="8467344" cy="34747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Maraude VTC = DÉLIT : 1 an d'emprisonnement + 15 000 € d'amende. La simple présence visible sur la voie publique en attente de clients sans réservation peut être qualifiée de maraude.</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La maraude et les conditions du véhicule taxi — Schémas</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25/88</a:t>
            </a:r>
            <a:endParaRPr lang="en-US" sz="800" dirty="0"/>
          </a:p>
        </p:txBody>
      </p:sp>
      <p:sp>
        <p:nvSpPr>
          <p:cNvPr id="8" name="Text 6"/>
          <p:cNvSpPr/>
          <p:nvPr/>
        </p:nvSpPr>
        <p:spPr>
          <a:xfrm>
            <a:off x="274320" y="88696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Taxi vs VTC : qui peut faire quoi sur la voie publique ?</a:t>
            </a:r>
            <a:endParaRPr lang="en-US" sz="1200" dirty="0"/>
          </a:p>
        </p:txBody>
      </p:sp>
      <p:sp>
        <p:nvSpPr>
          <p:cNvPr id="9" name="Shape 7"/>
          <p:cNvSpPr/>
          <p:nvPr/>
        </p:nvSpPr>
        <p:spPr>
          <a:xfrm>
            <a:off x="274320" y="1234440"/>
            <a:ext cx="4160520" cy="347472"/>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74320" y="1234440"/>
            <a:ext cx="41605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  TAXI</a:t>
            </a:r>
            <a:endParaRPr lang="en-US" sz="1300" dirty="0"/>
          </a:p>
        </p:txBody>
      </p:sp>
      <p:sp>
        <p:nvSpPr>
          <p:cNvPr id="11" name="Shape 9"/>
          <p:cNvSpPr/>
          <p:nvPr/>
        </p:nvSpPr>
        <p:spPr>
          <a:xfrm>
            <a:off x="4709160" y="1234440"/>
            <a:ext cx="4160520" cy="347472"/>
          </a:xfrm>
          <a:prstGeom prst="rect">
            <a:avLst/>
          </a:prstGeom>
          <a:solidFill>
            <a:srgbClr val="2860A8"/>
          </a:solidFill>
          <a:ln w="12700">
            <a:solidFill>
              <a:srgbClr val="2860A8"/>
            </a:solidFill>
            <a:prstDash val="solid"/>
          </a:ln>
        </p:spPr>
        <p:txBody>
          <a:bodyPr/>
          <a:lstStyle/>
          <a:p>
            <a:endParaRPr lang="fr-FR"/>
          </a:p>
        </p:txBody>
      </p:sp>
      <p:sp>
        <p:nvSpPr>
          <p:cNvPr id="12" name="Text 10"/>
          <p:cNvSpPr/>
          <p:nvPr/>
        </p:nvSpPr>
        <p:spPr>
          <a:xfrm>
            <a:off x="4709160" y="1234440"/>
            <a:ext cx="4160520" cy="347472"/>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  VTC</a:t>
            </a:r>
            <a:endParaRPr lang="en-US" sz="1300" dirty="0"/>
          </a:p>
        </p:txBody>
      </p:sp>
      <p:sp>
        <p:nvSpPr>
          <p:cNvPr id="13" name="Shape 11"/>
          <p:cNvSpPr/>
          <p:nvPr/>
        </p:nvSpPr>
        <p:spPr>
          <a:xfrm>
            <a:off x="274320" y="1627632"/>
            <a:ext cx="4160520" cy="320040"/>
          </a:xfrm>
          <a:prstGeom prst="rect">
            <a:avLst/>
          </a:prstGeom>
          <a:solidFill>
            <a:srgbClr val="E8F1FA"/>
          </a:solidFill>
          <a:ln w="6350">
            <a:solidFill>
              <a:srgbClr val="D0DCE8"/>
            </a:solidFill>
            <a:prstDash val="solid"/>
          </a:ln>
        </p:spPr>
        <p:txBody>
          <a:bodyPr/>
          <a:lstStyle/>
          <a:p>
            <a:endParaRPr lang="fr-FR"/>
          </a:p>
        </p:txBody>
      </p:sp>
      <p:sp>
        <p:nvSpPr>
          <p:cNvPr id="14" name="Text 12"/>
          <p:cNvSpPr/>
          <p:nvPr/>
        </p:nvSpPr>
        <p:spPr>
          <a:xfrm>
            <a:off x="384048" y="1655064"/>
            <a:ext cx="3931920" cy="265176"/>
          </a:xfrm>
          <a:prstGeom prst="rect">
            <a:avLst/>
          </a:prstGeom>
          <a:noFill/>
          <a:ln/>
        </p:spPr>
        <p:txBody>
          <a:bodyPr wrap="square"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 Maraude dans la zone de rattachement</a:t>
            </a:r>
            <a:endParaRPr lang="en-US" sz="1000" dirty="0"/>
          </a:p>
        </p:txBody>
      </p:sp>
      <p:sp>
        <p:nvSpPr>
          <p:cNvPr id="15" name="Shape 13"/>
          <p:cNvSpPr/>
          <p:nvPr/>
        </p:nvSpPr>
        <p:spPr>
          <a:xfrm>
            <a:off x="274320" y="1975104"/>
            <a:ext cx="4160520" cy="320040"/>
          </a:xfrm>
          <a:prstGeom prst="rect">
            <a:avLst/>
          </a:prstGeom>
          <a:solidFill>
            <a:srgbClr val="FFFFFF"/>
          </a:solidFill>
          <a:ln w="6350">
            <a:solidFill>
              <a:srgbClr val="D0DCE8"/>
            </a:solidFill>
            <a:prstDash val="solid"/>
          </a:ln>
        </p:spPr>
        <p:txBody>
          <a:bodyPr/>
          <a:lstStyle/>
          <a:p>
            <a:endParaRPr lang="fr-FR"/>
          </a:p>
        </p:txBody>
      </p:sp>
      <p:sp>
        <p:nvSpPr>
          <p:cNvPr id="16" name="Text 14"/>
          <p:cNvSpPr/>
          <p:nvPr/>
        </p:nvSpPr>
        <p:spPr>
          <a:xfrm>
            <a:off x="384048" y="2002536"/>
            <a:ext cx="3931920" cy="265176"/>
          </a:xfrm>
          <a:prstGeom prst="rect">
            <a:avLst/>
          </a:prstGeom>
          <a:noFill/>
          <a:ln/>
        </p:spPr>
        <p:txBody>
          <a:bodyPr wrap="square"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 Stationnement emplacements TAXI</a:t>
            </a:r>
            <a:endParaRPr lang="en-US" sz="1000" dirty="0"/>
          </a:p>
        </p:txBody>
      </p:sp>
      <p:sp>
        <p:nvSpPr>
          <p:cNvPr id="17" name="Shape 15"/>
          <p:cNvSpPr/>
          <p:nvPr/>
        </p:nvSpPr>
        <p:spPr>
          <a:xfrm>
            <a:off x="274320" y="2322576"/>
            <a:ext cx="4160520" cy="320040"/>
          </a:xfrm>
          <a:prstGeom prst="rect">
            <a:avLst/>
          </a:prstGeom>
          <a:solidFill>
            <a:srgbClr val="E8F1FA"/>
          </a:solidFill>
          <a:ln w="6350">
            <a:solidFill>
              <a:srgbClr val="D0DCE8"/>
            </a:solidFill>
            <a:prstDash val="solid"/>
          </a:ln>
        </p:spPr>
        <p:txBody>
          <a:bodyPr/>
          <a:lstStyle/>
          <a:p>
            <a:endParaRPr lang="fr-FR"/>
          </a:p>
        </p:txBody>
      </p:sp>
      <p:sp>
        <p:nvSpPr>
          <p:cNvPr id="18" name="Text 16"/>
          <p:cNvSpPr/>
          <p:nvPr/>
        </p:nvSpPr>
        <p:spPr>
          <a:xfrm>
            <a:off x="384048" y="2350008"/>
            <a:ext cx="3931920" cy="265176"/>
          </a:xfrm>
          <a:prstGeom prst="rect">
            <a:avLst/>
          </a:prstGeom>
          <a:noFill/>
          <a:ln/>
        </p:spPr>
        <p:txBody>
          <a:bodyPr wrap="square"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 Lumignon vert = disponible</a:t>
            </a:r>
            <a:endParaRPr lang="en-US" sz="1000" dirty="0"/>
          </a:p>
        </p:txBody>
      </p:sp>
      <p:sp>
        <p:nvSpPr>
          <p:cNvPr id="19" name="Shape 17"/>
          <p:cNvSpPr/>
          <p:nvPr/>
        </p:nvSpPr>
        <p:spPr>
          <a:xfrm>
            <a:off x="274320" y="2670048"/>
            <a:ext cx="4160520" cy="320040"/>
          </a:xfrm>
          <a:prstGeom prst="rect">
            <a:avLst/>
          </a:prstGeom>
          <a:solidFill>
            <a:srgbClr val="FFFFFF"/>
          </a:solidFill>
          <a:ln w="6350">
            <a:solidFill>
              <a:srgbClr val="D0DCE8"/>
            </a:solidFill>
            <a:prstDash val="solid"/>
          </a:ln>
        </p:spPr>
        <p:txBody>
          <a:bodyPr/>
          <a:lstStyle/>
          <a:p>
            <a:endParaRPr lang="fr-FR"/>
          </a:p>
        </p:txBody>
      </p:sp>
      <p:sp>
        <p:nvSpPr>
          <p:cNvPr id="20" name="Text 18"/>
          <p:cNvSpPr/>
          <p:nvPr/>
        </p:nvSpPr>
        <p:spPr>
          <a:xfrm>
            <a:off x="384048" y="2697480"/>
            <a:ext cx="3931920" cy="265176"/>
          </a:xfrm>
          <a:prstGeom prst="rect">
            <a:avLst/>
          </a:prstGeom>
          <a:noFill/>
          <a:ln/>
        </p:spPr>
        <p:txBody>
          <a:bodyPr wrap="square"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 Prise en charge immédiate dans la rue</a:t>
            </a:r>
            <a:endParaRPr lang="en-US" sz="1000" dirty="0"/>
          </a:p>
        </p:txBody>
      </p:sp>
      <p:sp>
        <p:nvSpPr>
          <p:cNvPr id="21" name="Shape 19"/>
          <p:cNvSpPr/>
          <p:nvPr/>
        </p:nvSpPr>
        <p:spPr>
          <a:xfrm>
            <a:off x="274320" y="3017520"/>
            <a:ext cx="4160520" cy="320040"/>
          </a:xfrm>
          <a:prstGeom prst="rect">
            <a:avLst/>
          </a:prstGeom>
          <a:solidFill>
            <a:srgbClr val="E8F1FA"/>
          </a:solidFill>
          <a:ln w="6350">
            <a:solidFill>
              <a:srgbClr val="D0DCE8"/>
            </a:solidFill>
            <a:prstDash val="solid"/>
          </a:ln>
        </p:spPr>
        <p:txBody>
          <a:bodyPr/>
          <a:lstStyle/>
          <a:p>
            <a:endParaRPr lang="fr-FR"/>
          </a:p>
        </p:txBody>
      </p:sp>
      <p:sp>
        <p:nvSpPr>
          <p:cNvPr id="22" name="Text 20"/>
          <p:cNvSpPr/>
          <p:nvPr/>
        </p:nvSpPr>
        <p:spPr>
          <a:xfrm>
            <a:off x="384048" y="3044952"/>
            <a:ext cx="3931920" cy="265176"/>
          </a:xfrm>
          <a:prstGeom prst="rect">
            <a:avLst/>
          </a:prstGeom>
          <a:noFill/>
          <a:ln/>
        </p:spPr>
        <p:txBody>
          <a:bodyPr wrap="square" rtlCol="0" anchor="ctr"/>
          <a:lstStyle/>
          <a:p>
            <a:pPr marL="0" indent="0">
              <a:buNone/>
            </a:pPr>
            <a:r>
              <a:rPr lang="en-US" sz="1000" dirty="0">
                <a:solidFill>
                  <a:srgbClr val="C0392B"/>
                </a:solidFill>
                <a:latin typeface="Calibri" pitchFamily="34" charset="0"/>
                <a:ea typeface="Calibri" pitchFamily="34" charset="-122"/>
                <a:cs typeface="Calibri" pitchFamily="34" charset="-120"/>
              </a:rPr>
              <a:t>✘ Hors zone → réservation obligatoire</a:t>
            </a:r>
            <a:endParaRPr lang="en-US" sz="1000" dirty="0"/>
          </a:p>
        </p:txBody>
      </p:sp>
      <p:sp>
        <p:nvSpPr>
          <p:cNvPr id="23" name="Shape 21"/>
          <p:cNvSpPr/>
          <p:nvPr/>
        </p:nvSpPr>
        <p:spPr>
          <a:xfrm>
            <a:off x="4709160" y="1627632"/>
            <a:ext cx="4160520" cy="320040"/>
          </a:xfrm>
          <a:prstGeom prst="rect">
            <a:avLst/>
          </a:prstGeom>
          <a:solidFill>
            <a:srgbClr val="E8F1FA"/>
          </a:solidFill>
          <a:ln w="6350">
            <a:solidFill>
              <a:srgbClr val="D0DCE8"/>
            </a:solidFill>
            <a:prstDash val="solid"/>
          </a:ln>
        </p:spPr>
        <p:txBody>
          <a:bodyPr/>
          <a:lstStyle/>
          <a:p>
            <a:endParaRPr lang="fr-FR"/>
          </a:p>
        </p:txBody>
      </p:sp>
      <p:sp>
        <p:nvSpPr>
          <p:cNvPr id="24" name="Text 22"/>
          <p:cNvSpPr/>
          <p:nvPr/>
        </p:nvSpPr>
        <p:spPr>
          <a:xfrm>
            <a:off x="4818888" y="1655064"/>
            <a:ext cx="3931920" cy="265176"/>
          </a:xfrm>
          <a:prstGeom prst="rect">
            <a:avLst/>
          </a:prstGeom>
          <a:noFill/>
          <a:ln/>
        </p:spPr>
        <p:txBody>
          <a:bodyPr wrap="square" rtlCol="0" anchor="ctr"/>
          <a:lstStyle/>
          <a:p>
            <a:pPr marL="0" indent="0">
              <a:buNone/>
            </a:pPr>
            <a:r>
              <a:rPr lang="en-US" sz="1000" dirty="0">
                <a:solidFill>
                  <a:srgbClr val="C0392B"/>
                </a:solidFill>
                <a:latin typeface="Calibri" pitchFamily="34" charset="0"/>
                <a:ea typeface="Calibri" pitchFamily="34" charset="-122"/>
                <a:cs typeface="Calibri" pitchFamily="34" charset="-120"/>
              </a:rPr>
              <a:t>✘ Maraude INTERDITE partout</a:t>
            </a:r>
            <a:endParaRPr lang="en-US" sz="1000" dirty="0"/>
          </a:p>
        </p:txBody>
      </p:sp>
      <p:sp>
        <p:nvSpPr>
          <p:cNvPr id="25" name="Shape 23"/>
          <p:cNvSpPr/>
          <p:nvPr/>
        </p:nvSpPr>
        <p:spPr>
          <a:xfrm>
            <a:off x="4709160" y="1975104"/>
            <a:ext cx="4160520" cy="320040"/>
          </a:xfrm>
          <a:prstGeom prst="rect">
            <a:avLst/>
          </a:prstGeom>
          <a:solidFill>
            <a:srgbClr val="FFFFFF"/>
          </a:solidFill>
          <a:ln w="6350">
            <a:solidFill>
              <a:srgbClr val="D0DCE8"/>
            </a:solidFill>
            <a:prstDash val="solid"/>
          </a:ln>
        </p:spPr>
        <p:txBody>
          <a:bodyPr/>
          <a:lstStyle/>
          <a:p>
            <a:endParaRPr lang="fr-FR"/>
          </a:p>
        </p:txBody>
      </p:sp>
      <p:sp>
        <p:nvSpPr>
          <p:cNvPr id="26" name="Text 24"/>
          <p:cNvSpPr/>
          <p:nvPr/>
        </p:nvSpPr>
        <p:spPr>
          <a:xfrm>
            <a:off x="4818888" y="2002536"/>
            <a:ext cx="3931920" cy="265176"/>
          </a:xfrm>
          <a:prstGeom prst="rect">
            <a:avLst/>
          </a:prstGeom>
          <a:noFill/>
          <a:ln/>
        </p:spPr>
        <p:txBody>
          <a:bodyPr wrap="square" rtlCol="0" anchor="ctr"/>
          <a:lstStyle/>
          <a:p>
            <a:pPr marL="0" indent="0">
              <a:buNone/>
            </a:pPr>
            <a:r>
              <a:rPr lang="en-US" sz="1000" dirty="0">
                <a:solidFill>
                  <a:srgbClr val="C0392B"/>
                </a:solidFill>
                <a:latin typeface="Calibri" pitchFamily="34" charset="0"/>
                <a:ea typeface="Calibri" pitchFamily="34" charset="-122"/>
                <a:cs typeface="Calibri" pitchFamily="34" charset="-120"/>
              </a:rPr>
              <a:t>✘ Emplacements taxi INTERDITS</a:t>
            </a:r>
            <a:endParaRPr lang="en-US" sz="1000" dirty="0"/>
          </a:p>
        </p:txBody>
      </p:sp>
      <p:sp>
        <p:nvSpPr>
          <p:cNvPr id="27" name="Shape 25"/>
          <p:cNvSpPr/>
          <p:nvPr/>
        </p:nvSpPr>
        <p:spPr>
          <a:xfrm>
            <a:off x="4709160" y="2322576"/>
            <a:ext cx="4160520" cy="320040"/>
          </a:xfrm>
          <a:prstGeom prst="rect">
            <a:avLst/>
          </a:prstGeom>
          <a:solidFill>
            <a:srgbClr val="E8F1FA"/>
          </a:solidFill>
          <a:ln w="6350">
            <a:solidFill>
              <a:srgbClr val="D0DCE8"/>
            </a:solidFill>
            <a:prstDash val="solid"/>
          </a:ln>
        </p:spPr>
        <p:txBody>
          <a:bodyPr/>
          <a:lstStyle/>
          <a:p>
            <a:endParaRPr lang="fr-FR"/>
          </a:p>
        </p:txBody>
      </p:sp>
      <p:sp>
        <p:nvSpPr>
          <p:cNvPr id="28" name="Text 26"/>
          <p:cNvSpPr/>
          <p:nvPr/>
        </p:nvSpPr>
        <p:spPr>
          <a:xfrm>
            <a:off x="4818888" y="2350008"/>
            <a:ext cx="3931920" cy="265176"/>
          </a:xfrm>
          <a:prstGeom prst="rect">
            <a:avLst/>
          </a:prstGeom>
          <a:noFill/>
          <a:ln/>
        </p:spPr>
        <p:txBody>
          <a:bodyPr wrap="square" rtlCol="0" anchor="ctr"/>
          <a:lstStyle/>
          <a:p>
            <a:pPr marL="0" indent="0">
              <a:buNone/>
            </a:pPr>
            <a:r>
              <a:rPr lang="en-US" sz="1000" dirty="0">
                <a:solidFill>
                  <a:srgbClr val="C0392B"/>
                </a:solidFill>
                <a:latin typeface="Calibri" pitchFamily="34" charset="0"/>
                <a:ea typeface="Calibri" pitchFamily="34" charset="-122"/>
                <a:cs typeface="Calibri" pitchFamily="34" charset="-120"/>
              </a:rPr>
              <a:t>✘ Pas de signalétique de disponibilité</a:t>
            </a:r>
            <a:endParaRPr lang="en-US" sz="1000" dirty="0"/>
          </a:p>
        </p:txBody>
      </p:sp>
      <p:sp>
        <p:nvSpPr>
          <p:cNvPr id="29" name="Shape 27"/>
          <p:cNvSpPr/>
          <p:nvPr/>
        </p:nvSpPr>
        <p:spPr>
          <a:xfrm>
            <a:off x="4709160" y="2670048"/>
            <a:ext cx="4160520" cy="320040"/>
          </a:xfrm>
          <a:prstGeom prst="rect">
            <a:avLst/>
          </a:prstGeom>
          <a:solidFill>
            <a:srgbClr val="FFFFFF"/>
          </a:solidFill>
          <a:ln w="6350">
            <a:solidFill>
              <a:srgbClr val="D0DCE8"/>
            </a:solidFill>
            <a:prstDash val="solid"/>
          </a:ln>
        </p:spPr>
        <p:txBody>
          <a:bodyPr/>
          <a:lstStyle/>
          <a:p>
            <a:endParaRPr lang="fr-FR"/>
          </a:p>
        </p:txBody>
      </p:sp>
      <p:sp>
        <p:nvSpPr>
          <p:cNvPr id="30" name="Text 28"/>
          <p:cNvSpPr/>
          <p:nvPr/>
        </p:nvSpPr>
        <p:spPr>
          <a:xfrm>
            <a:off x="4818888" y="2697480"/>
            <a:ext cx="3931920" cy="265176"/>
          </a:xfrm>
          <a:prstGeom prst="rect">
            <a:avLst/>
          </a:prstGeom>
          <a:noFill/>
          <a:ln/>
        </p:spPr>
        <p:txBody>
          <a:bodyPr wrap="square" rtlCol="0" anchor="ctr"/>
          <a:lstStyle/>
          <a:p>
            <a:pPr marL="0" indent="0">
              <a:buNone/>
            </a:pPr>
            <a:r>
              <a:rPr lang="en-US" sz="1000" dirty="0">
                <a:solidFill>
                  <a:srgbClr val="C0392B"/>
                </a:solidFill>
                <a:latin typeface="Calibri" pitchFamily="34" charset="0"/>
                <a:ea typeface="Calibri" pitchFamily="34" charset="-122"/>
                <a:cs typeface="Calibri" pitchFamily="34" charset="-120"/>
              </a:rPr>
              <a:t>✘ Jamais de prise en charge sans réservation</a:t>
            </a:r>
            <a:endParaRPr lang="en-US" sz="1000" dirty="0"/>
          </a:p>
        </p:txBody>
      </p:sp>
      <p:sp>
        <p:nvSpPr>
          <p:cNvPr id="31" name="Shape 29"/>
          <p:cNvSpPr/>
          <p:nvPr/>
        </p:nvSpPr>
        <p:spPr>
          <a:xfrm>
            <a:off x="4709160" y="3017520"/>
            <a:ext cx="4160520" cy="320040"/>
          </a:xfrm>
          <a:prstGeom prst="rect">
            <a:avLst/>
          </a:prstGeom>
          <a:solidFill>
            <a:srgbClr val="E8F1FA"/>
          </a:solidFill>
          <a:ln w="6350">
            <a:solidFill>
              <a:srgbClr val="D0DCE8"/>
            </a:solidFill>
            <a:prstDash val="solid"/>
          </a:ln>
        </p:spPr>
        <p:txBody>
          <a:bodyPr/>
          <a:lstStyle/>
          <a:p>
            <a:endParaRPr lang="fr-FR"/>
          </a:p>
        </p:txBody>
      </p:sp>
      <p:sp>
        <p:nvSpPr>
          <p:cNvPr id="32" name="Text 30"/>
          <p:cNvSpPr/>
          <p:nvPr/>
        </p:nvSpPr>
        <p:spPr>
          <a:xfrm>
            <a:off x="4818888" y="3044952"/>
            <a:ext cx="3931920" cy="265176"/>
          </a:xfrm>
          <a:prstGeom prst="rect">
            <a:avLst/>
          </a:prstGeom>
          <a:noFill/>
          <a:ln/>
        </p:spPr>
        <p:txBody>
          <a:bodyPr wrap="square" rtlCol="0" anchor="ctr"/>
          <a:lstStyle/>
          <a:p>
            <a:pPr marL="0" indent="0">
              <a:buNone/>
            </a:pPr>
            <a:r>
              <a:rPr lang="en-US" sz="1000" b="1" dirty="0">
                <a:solidFill>
                  <a:srgbClr val="2E7D32"/>
                </a:solidFill>
                <a:latin typeface="Calibri" pitchFamily="34" charset="0"/>
                <a:ea typeface="Calibri" pitchFamily="34" charset="-122"/>
                <a:cs typeface="Calibri" pitchFamily="34" charset="-120"/>
              </a:rPr>
              <a:t>✔ Réservation → prise en charge autorisée</a:t>
            </a:r>
            <a:endParaRPr lang="en-US" sz="1000" dirty="0"/>
          </a:p>
        </p:txBody>
      </p:sp>
      <p:sp>
        <p:nvSpPr>
          <p:cNvPr id="33" name="Text 31"/>
          <p:cNvSpPr/>
          <p:nvPr/>
        </p:nvSpPr>
        <p:spPr>
          <a:xfrm>
            <a:off x="274320" y="349300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Conditions du véhicule taxi (exemple Lyon — à vérifier selon votre département) :</a:t>
            </a:r>
            <a:endParaRPr lang="en-US" sz="1200" dirty="0"/>
          </a:p>
        </p:txBody>
      </p:sp>
      <p:sp>
        <p:nvSpPr>
          <p:cNvPr id="34" name="Shape 32"/>
          <p:cNvSpPr/>
          <p:nvPr/>
        </p:nvSpPr>
        <p:spPr>
          <a:xfrm>
            <a:off x="274320" y="3822192"/>
            <a:ext cx="1645920" cy="896112"/>
          </a:xfrm>
          <a:prstGeom prst="rect">
            <a:avLst/>
          </a:prstGeom>
          <a:solidFill>
            <a:srgbClr val="E8F1FA"/>
          </a:solidFill>
          <a:ln w="6350">
            <a:solidFill>
              <a:srgbClr val="D0DCE8"/>
            </a:solidFill>
            <a:prstDash val="solid"/>
          </a:ln>
        </p:spPr>
        <p:txBody>
          <a:bodyPr/>
          <a:lstStyle/>
          <a:p>
            <a:endParaRPr lang="fr-FR"/>
          </a:p>
        </p:txBody>
      </p:sp>
      <p:sp>
        <p:nvSpPr>
          <p:cNvPr id="35" name="Shape 33"/>
          <p:cNvSpPr/>
          <p:nvPr/>
        </p:nvSpPr>
        <p:spPr>
          <a:xfrm>
            <a:off x="274320" y="3822192"/>
            <a:ext cx="1645920" cy="347472"/>
          </a:xfrm>
          <a:prstGeom prst="rect">
            <a:avLst/>
          </a:prstGeom>
          <a:solidFill>
            <a:srgbClr val="1A3A5C"/>
          </a:solidFill>
          <a:ln w="12700">
            <a:solidFill>
              <a:srgbClr val="1A3A5C"/>
            </a:solidFill>
            <a:prstDash val="solid"/>
          </a:ln>
        </p:spPr>
        <p:txBody>
          <a:bodyPr/>
          <a:lstStyle/>
          <a:p>
            <a:endParaRPr lang="fr-FR"/>
          </a:p>
        </p:txBody>
      </p:sp>
      <p:sp>
        <p:nvSpPr>
          <p:cNvPr id="36" name="Text 34"/>
          <p:cNvSpPr/>
          <p:nvPr/>
        </p:nvSpPr>
        <p:spPr>
          <a:xfrm>
            <a:off x="274320" y="3822192"/>
            <a:ext cx="16459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&lt; 10 ans</a:t>
            </a:r>
            <a:endParaRPr lang="en-US" sz="1200" dirty="0"/>
          </a:p>
        </p:txBody>
      </p:sp>
      <p:sp>
        <p:nvSpPr>
          <p:cNvPr id="37" name="Text 35"/>
          <p:cNvSpPr/>
          <p:nvPr/>
        </p:nvSpPr>
        <p:spPr>
          <a:xfrm>
            <a:off x="320040" y="4187952"/>
            <a:ext cx="1554480" cy="512064"/>
          </a:xfrm>
          <a:prstGeom prst="rect">
            <a:avLst/>
          </a:prstGeom>
          <a:noFill/>
          <a:ln/>
        </p:spPr>
        <p:txBody>
          <a:bodyPr wrap="square" rtlCol="0" anchor="ctr"/>
          <a:lstStyle/>
          <a:p>
            <a:pPr marL="0" indent="0" algn="ctr">
              <a:buNone/>
            </a:pPr>
            <a:r>
              <a:rPr lang="en-US" sz="900" dirty="0">
                <a:solidFill>
                  <a:srgbClr val="3A3A3A"/>
                </a:solidFill>
                <a:latin typeface="Calibri" pitchFamily="34" charset="0"/>
                <a:ea typeface="Calibri" pitchFamily="34" charset="-122"/>
                <a:cs typeface="Calibri" pitchFamily="34" charset="-120"/>
              </a:rPr>
              <a:t>Âge max du véhicule</a:t>
            </a:r>
            <a:endParaRPr lang="en-US" sz="900" dirty="0"/>
          </a:p>
          <a:p>
            <a:pPr marL="0" indent="0" algn="ctr">
              <a:buNone/>
            </a:pPr>
            <a:r>
              <a:rPr lang="en-US" sz="900" dirty="0">
                <a:solidFill>
                  <a:srgbClr val="3A3A3A"/>
                </a:solidFill>
                <a:latin typeface="Calibri" pitchFamily="34" charset="0"/>
                <a:ea typeface="Calibri" pitchFamily="34" charset="-122"/>
                <a:cs typeface="Calibri" pitchFamily="34" charset="-120"/>
              </a:rPr>
              <a:t>(varie selon commune)</a:t>
            </a:r>
            <a:endParaRPr lang="en-US" sz="900" dirty="0"/>
          </a:p>
        </p:txBody>
      </p:sp>
      <p:sp>
        <p:nvSpPr>
          <p:cNvPr id="38" name="Shape 36"/>
          <p:cNvSpPr/>
          <p:nvPr/>
        </p:nvSpPr>
        <p:spPr>
          <a:xfrm>
            <a:off x="2011680" y="3822192"/>
            <a:ext cx="1645920" cy="896112"/>
          </a:xfrm>
          <a:prstGeom prst="rect">
            <a:avLst/>
          </a:prstGeom>
          <a:solidFill>
            <a:srgbClr val="E8F1FA"/>
          </a:solidFill>
          <a:ln w="6350">
            <a:solidFill>
              <a:srgbClr val="D0DCE8"/>
            </a:solidFill>
            <a:prstDash val="solid"/>
          </a:ln>
        </p:spPr>
        <p:txBody>
          <a:bodyPr/>
          <a:lstStyle/>
          <a:p>
            <a:endParaRPr lang="fr-FR"/>
          </a:p>
        </p:txBody>
      </p:sp>
      <p:sp>
        <p:nvSpPr>
          <p:cNvPr id="39" name="Shape 37"/>
          <p:cNvSpPr/>
          <p:nvPr/>
        </p:nvSpPr>
        <p:spPr>
          <a:xfrm>
            <a:off x="2011680" y="3822192"/>
            <a:ext cx="1645920" cy="347472"/>
          </a:xfrm>
          <a:prstGeom prst="rect">
            <a:avLst/>
          </a:prstGeom>
          <a:solidFill>
            <a:srgbClr val="2860A8"/>
          </a:solidFill>
          <a:ln w="12700">
            <a:solidFill>
              <a:srgbClr val="2860A8"/>
            </a:solidFill>
            <a:prstDash val="solid"/>
          </a:ln>
        </p:spPr>
        <p:txBody>
          <a:bodyPr/>
          <a:lstStyle/>
          <a:p>
            <a:endParaRPr lang="fr-FR"/>
          </a:p>
        </p:txBody>
      </p:sp>
      <p:sp>
        <p:nvSpPr>
          <p:cNvPr id="40" name="Text 38"/>
          <p:cNvSpPr/>
          <p:nvPr/>
        </p:nvSpPr>
        <p:spPr>
          <a:xfrm>
            <a:off x="2011680" y="3822192"/>
            <a:ext cx="16459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Min 3 pass.</a:t>
            </a:r>
            <a:endParaRPr lang="en-US" sz="1200" dirty="0"/>
          </a:p>
        </p:txBody>
      </p:sp>
      <p:sp>
        <p:nvSpPr>
          <p:cNvPr id="41" name="Text 39"/>
          <p:cNvSpPr/>
          <p:nvPr/>
        </p:nvSpPr>
        <p:spPr>
          <a:xfrm>
            <a:off x="2057400" y="4187952"/>
            <a:ext cx="1554480" cy="512064"/>
          </a:xfrm>
          <a:prstGeom prst="rect">
            <a:avLst/>
          </a:prstGeom>
          <a:noFill/>
          <a:ln/>
        </p:spPr>
        <p:txBody>
          <a:bodyPr wrap="square" rtlCol="0" anchor="ctr"/>
          <a:lstStyle/>
          <a:p>
            <a:pPr marL="0" indent="0" algn="ctr">
              <a:buNone/>
            </a:pPr>
            <a:r>
              <a:rPr lang="en-US" sz="900" dirty="0">
                <a:solidFill>
                  <a:srgbClr val="3A3A3A"/>
                </a:solidFill>
                <a:latin typeface="Calibri" pitchFamily="34" charset="0"/>
                <a:ea typeface="Calibri" pitchFamily="34" charset="-122"/>
                <a:cs typeface="Calibri" pitchFamily="34" charset="-120"/>
              </a:rPr>
              <a:t>Capacité d'accueil</a:t>
            </a:r>
            <a:endParaRPr lang="en-US" sz="900" dirty="0"/>
          </a:p>
          <a:p>
            <a:pPr marL="0" indent="0" algn="ctr">
              <a:buNone/>
            </a:pPr>
            <a:r>
              <a:rPr lang="en-US" sz="900" dirty="0">
                <a:solidFill>
                  <a:srgbClr val="3A3A3A"/>
                </a:solidFill>
                <a:latin typeface="Calibri" pitchFamily="34" charset="0"/>
                <a:ea typeface="Calibri" pitchFamily="34" charset="-122"/>
                <a:cs typeface="Calibri" pitchFamily="34" charset="-120"/>
              </a:rPr>
              <a:t>confortable + bagages</a:t>
            </a:r>
            <a:endParaRPr lang="en-US" sz="900" dirty="0"/>
          </a:p>
        </p:txBody>
      </p:sp>
      <p:sp>
        <p:nvSpPr>
          <p:cNvPr id="42" name="Shape 40"/>
          <p:cNvSpPr/>
          <p:nvPr/>
        </p:nvSpPr>
        <p:spPr>
          <a:xfrm>
            <a:off x="3749040" y="3822192"/>
            <a:ext cx="1645920" cy="896112"/>
          </a:xfrm>
          <a:prstGeom prst="rect">
            <a:avLst/>
          </a:prstGeom>
          <a:solidFill>
            <a:srgbClr val="E8F1FA"/>
          </a:solidFill>
          <a:ln w="6350">
            <a:solidFill>
              <a:srgbClr val="D0DCE8"/>
            </a:solidFill>
            <a:prstDash val="solid"/>
          </a:ln>
        </p:spPr>
        <p:txBody>
          <a:bodyPr/>
          <a:lstStyle/>
          <a:p>
            <a:endParaRPr lang="fr-FR"/>
          </a:p>
        </p:txBody>
      </p:sp>
      <p:sp>
        <p:nvSpPr>
          <p:cNvPr id="43" name="Shape 41"/>
          <p:cNvSpPr/>
          <p:nvPr/>
        </p:nvSpPr>
        <p:spPr>
          <a:xfrm>
            <a:off x="3749040" y="3822192"/>
            <a:ext cx="1645920" cy="347472"/>
          </a:xfrm>
          <a:prstGeom prst="rect">
            <a:avLst/>
          </a:prstGeom>
          <a:solidFill>
            <a:srgbClr val="00897B"/>
          </a:solidFill>
          <a:ln w="12700">
            <a:solidFill>
              <a:srgbClr val="00897B"/>
            </a:solidFill>
            <a:prstDash val="solid"/>
          </a:ln>
        </p:spPr>
        <p:txBody>
          <a:bodyPr/>
          <a:lstStyle/>
          <a:p>
            <a:endParaRPr lang="fr-FR"/>
          </a:p>
        </p:txBody>
      </p:sp>
      <p:sp>
        <p:nvSpPr>
          <p:cNvPr id="44" name="Text 42"/>
          <p:cNvSpPr/>
          <p:nvPr/>
        </p:nvSpPr>
        <p:spPr>
          <a:xfrm>
            <a:off x="3749040" y="3822192"/>
            <a:ext cx="16459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Couleur</a:t>
            </a:r>
            <a:endParaRPr lang="en-US" sz="1200" dirty="0"/>
          </a:p>
        </p:txBody>
      </p:sp>
      <p:sp>
        <p:nvSpPr>
          <p:cNvPr id="45" name="Text 43"/>
          <p:cNvSpPr/>
          <p:nvPr/>
        </p:nvSpPr>
        <p:spPr>
          <a:xfrm>
            <a:off x="3794760" y="4187952"/>
            <a:ext cx="1554480" cy="512064"/>
          </a:xfrm>
          <a:prstGeom prst="rect">
            <a:avLst/>
          </a:prstGeom>
          <a:noFill/>
          <a:ln/>
        </p:spPr>
        <p:txBody>
          <a:bodyPr wrap="square" rtlCol="0" anchor="ctr"/>
          <a:lstStyle/>
          <a:p>
            <a:pPr marL="0" indent="0" algn="ctr">
              <a:buNone/>
            </a:pPr>
            <a:r>
              <a:rPr lang="en-US" sz="900" dirty="0">
                <a:solidFill>
                  <a:srgbClr val="3A3A3A"/>
                </a:solidFill>
                <a:latin typeface="Calibri" pitchFamily="34" charset="0"/>
                <a:ea typeface="Calibri" pitchFamily="34" charset="-122"/>
                <a:cs typeface="Calibri" pitchFamily="34" charset="-120"/>
              </a:rPr>
              <a:t>Blanche, grise</a:t>
            </a:r>
            <a:endParaRPr lang="en-US" sz="900" dirty="0"/>
          </a:p>
          <a:p>
            <a:pPr marL="0" indent="0" algn="ctr">
              <a:buNone/>
            </a:pPr>
            <a:r>
              <a:rPr lang="en-US" sz="900" dirty="0">
                <a:solidFill>
                  <a:srgbClr val="3A3A3A"/>
                </a:solidFill>
                <a:latin typeface="Calibri" pitchFamily="34" charset="0"/>
                <a:ea typeface="Calibri" pitchFamily="34" charset="-122"/>
                <a:cs typeface="Calibri" pitchFamily="34" charset="-120"/>
              </a:rPr>
              <a:t>ou noire (Lyon)</a:t>
            </a:r>
            <a:endParaRPr lang="en-US" sz="900" dirty="0"/>
          </a:p>
        </p:txBody>
      </p:sp>
      <p:sp>
        <p:nvSpPr>
          <p:cNvPr id="46" name="Shape 44"/>
          <p:cNvSpPr/>
          <p:nvPr/>
        </p:nvSpPr>
        <p:spPr>
          <a:xfrm>
            <a:off x="5486400" y="3822192"/>
            <a:ext cx="1645920" cy="896112"/>
          </a:xfrm>
          <a:prstGeom prst="rect">
            <a:avLst/>
          </a:prstGeom>
          <a:solidFill>
            <a:srgbClr val="E8F1FA"/>
          </a:solidFill>
          <a:ln w="6350">
            <a:solidFill>
              <a:srgbClr val="D0DCE8"/>
            </a:solidFill>
            <a:prstDash val="solid"/>
          </a:ln>
        </p:spPr>
        <p:txBody>
          <a:bodyPr/>
          <a:lstStyle/>
          <a:p>
            <a:endParaRPr lang="fr-FR"/>
          </a:p>
        </p:txBody>
      </p:sp>
      <p:sp>
        <p:nvSpPr>
          <p:cNvPr id="47" name="Shape 45"/>
          <p:cNvSpPr/>
          <p:nvPr/>
        </p:nvSpPr>
        <p:spPr>
          <a:xfrm>
            <a:off x="5486400" y="3822192"/>
            <a:ext cx="1645920" cy="347472"/>
          </a:xfrm>
          <a:prstGeom prst="rect">
            <a:avLst/>
          </a:prstGeom>
          <a:solidFill>
            <a:srgbClr val="F4A227"/>
          </a:solidFill>
          <a:ln w="12700">
            <a:solidFill>
              <a:srgbClr val="F4A227"/>
            </a:solidFill>
            <a:prstDash val="solid"/>
          </a:ln>
        </p:spPr>
        <p:txBody>
          <a:bodyPr/>
          <a:lstStyle/>
          <a:p>
            <a:endParaRPr lang="fr-FR"/>
          </a:p>
        </p:txBody>
      </p:sp>
      <p:sp>
        <p:nvSpPr>
          <p:cNvPr id="48" name="Text 46"/>
          <p:cNvSpPr/>
          <p:nvPr/>
        </p:nvSpPr>
        <p:spPr>
          <a:xfrm>
            <a:off x="5486400" y="3822192"/>
            <a:ext cx="16459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Signalétique</a:t>
            </a:r>
            <a:endParaRPr lang="en-US" sz="1200" dirty="0"/>
          </a:p>
        </p:txBody>
      </p:sp>
      <p:sp>
        <p:nvSpPr>
          <p:cNvPr id="49" name="Text 47"/>
          <p:cNvSpPr/>
          <p:nvPr/>
        </p:nvSpPr>
        <p:spPr>
          <a:xfrm>
            <a:off x="5532120" y="4187952"/>
            <a:ext cx="1554480" cy="512064"/>
          </a:xfrm>
          <a:prstGeom prst="rect">
            <a:avLst/>
          </a:prstGeom>
          <a:noFill/>
          <a:ln/>
        </p:spPr>
        <p:txBody>
          <a:bodyPr wrap="square" rtlCol="0" anchor="ctr"/>
          <a:lstStyle/>
          <a:p>
            <a:pPr marL="0" indent="0" algn="ctr">
              <a:buNone/>
            </a:pPr>
            <a:r>
              <a:rPr lang="en-US" sz="900" dirty="0">
                <a:solidFill>
                  <a:srgbClr val="3A3A3A"/>
                </a:solidFill>
                <a:latin typeface="Calibri" pitchFamily="34" charset="0"/>
                <a:ea typeface="Calibri" pitchFamily="34" charset="-122"/>
                <a:cs typeface="Calibri" pitchFamily="34" charset="-120"/>
              </a:rPr>
              <a:t>Dispositif lumineux</a:t>
            </a:r>
            <a:endParaRPr lang="en-US" sz="900" dirty="0"/>
          </a:p>
          <a:p>
            <a:pPr marL="0" indent="0" algn="ctr">
              <a:buNone/>
            </a:pPr>
            <a:r>
              <a:rPr lang="en-US" sz="900" dirty="0">
                <a:solidFill>
                  <a:srgbClr val="3A3A3A"/>
                </a:solidFill>
                <a:latin typeface="Calibri" pitchFamily="34" charset="0"/>
                <a:ea typeface="Calibri" pitchFamily="34" charset="-122"/>
                <a:cs typeface="Calibri" pitchFamily="34" charset="-120"/>
              </a:rPr>
              <a:t>TAXI + commune</a:t>
            </a:r>
            <a:endParaRPr lang="en-US" sz="900" dirty="0"/>
          </a:p>
        </p:txBody>
      </p:sp>
      <p:sp>
        <p:nvSpPr>
          <p:cNvPr id="50" name="Shape 48"/>
          <p:cNvSpPr/>
          <p:nvPr/>
        </p:nvSpPr>
        <p:spPr>
          <a:xfrm>
            <a:off x="7223760" y="3822192"/>
            <a:ext cx="1645920" cy="896112"/>
          </a:xfrm>
          <a:prstGeom prst="rect">
            <a:avLst/>
          </a:prstGeom>
          <a:solidFill>
            <a:srgbClr val="E8F1FA"/>
          </a:solidFill>
          <a:ln w="6350">
            <a:solidFill>
              <a:srgbClr val="D0DCE8"/>
            </a:solidFill>
            <a:prstDash val="solid"/>
          </a:ln>
        </p:spPr>
        <p:txBody>
          <a:bodyPr/>
          <a:lstStyle/>
          <a:p>
            <a:endParaRPr lang="fr-FR"/>
          </a:p>
        </p:txBody>
      </p:sp>
      <p:sp>
        <p:nvSpPr>
          <p:cNvPr id="51" name="Shape 49"/>
          <p:cNvSpPr/>
          <p:nvPr/>
        </p:nvSpPr>
        <p:spPr>
          <a:xfrm>
            <a:off x="7223760" y="3822192"/>
            <a:ext cx="1645920" cy="347472"/>
          </a:xfrm>
          <a:prstGeom prst="rect">
            <a:avLst/>
          </a:prstGeom>
          <a:solidFill>
            <a:srgbClr val="1A3A5C"/>
          </a:solidFill>
          <a:ln w="12700">
            <a:solidFill>
              <a:srgbClr val="1A3A5C"/>
            </a:solidFill>
            <a:prstDash val="solid"/>
          </a:ln>
        </p:spPr>
        <p:txBody>
          <a:bodyPr/>
          <a:lstStyle/>
          <a:p>
            <a:endParaRPr lang="fr-FR"/>
          </a:p>
        </p:txBody>
      </p:sp>
      <p:sp>
        <p:nvSpPr>
          <p:cNvPr id="52" name="Text 50"/>
          <p:cNvSpPr/>
          <p:nvPr/>
        </p:nvSpPr>
        <p:spPr>
          <a:xfrm>
            <a:off x="7223760" y="3822192"/>
            <a:ext cx="16459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Taximètre</a:t>
            </a:r>
            <a:endParaRPr lang="en-US" sz="1200" dirty="0"/>
          </a:p>
        </p:txBody>
      </p:sp>
      <p:sp>
        <p:nvSpPr>
          <p:cNvPr id="53" name="Text 51"/>
          <p:cNvSpPr/>
          <p:nvPr/>
        </p:nvSpPr>
        <p:spPr>
          <a:xfrm>
            <a:off x="7269480" y="4187952"/>
            <a:ext cx="1554480" cy="512064"/>
          </a:xfrm>
          <a:prstGeom prst="rect">
            <a:avLst/>
          </a:prstGeom>
          <a:noFill/>
          <a:ln/>
        </p:spPr>
        <p:txBody>
          <a:bodyPr wrap="square" rtlCol="0" anchor="ctr"/>
          <a:lstStyle/>
          <a:p>
            <a:pPr marL="0" indent="0" algn="ctr">
              <a:buNone/>
            </a:pPr>
            <a:r>
              <a:rPr lang="en-US" sz="900" dirty="0">
                <a:solidFill>
                  <a:srgbClr val="3A3A3A"/>
                </a:solidFill>
                <a:latin typeface="Calibri" pitchFamily="34" charset="0"/>
                <a:ea typeface="Calibri" pitchFamily="34" charset="-122"/>
                <a:cs typeface="Calibri" pitchFamily="34" charset="-120"/>
              </a:rPr>
              <a:t>Homologué</a:t>
            </a:r>
            <a:endParaRPr lang="en-US" sz="900" dirty="0"/>
          </a:p>
          <a:p>
            <a:pPr marL="0" indent="0" algn="ctr">
              <a:buNone/>
            </a:pPr>
            <a:r>
              <a:rPr lang="en-US" sz="900" dirty="0">
                <a:solidFill>
                  <a:srgbClr val="3A3A3A"/>
                </a:solidFill>
                <a:latin typeface="Calibri" pitchFamily="34" charset="0"/>
                <a:ea typeface="Calibri" pitchFamily="34" charset="-122"/>
                <a:cs typeface="Calibri" pitchFamily="34" charset="-120"/>
              </a:rPr>
              <a:t>Carnet métrologique</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6. Réglementation des VTC</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Voiture de Transport avec Chauffeur — Réservation toujours obligatoire</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26/88</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Réglementation des VTC — Cadre légal, statut et tarifs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Code des transports — Registre National VTC — DRIEAT</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27/88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VTC se distingue fondamentalement du taxi par deux règles absolues : la réservation préalable est toujours obligatoire et les tarifs sont librement fixés à l'avance. Il peut exercer sur toute la France sans restriction géographique.</a:t>
            </a:r>
            <a:endParaRPr lang="en-US" sz="1200" dirty="0"/>
          </a:p>
        </p:txBody>
      </p:sp>
      <p:sp>
        <p:nvSpPr>
          <p:cNvPr id="10" name="Shape 8"/>
          <p:cNvSpPr/>
          <p:nvPr/>
        </p:nvSpPr>
        <p:spPr>
          <a:xfrm>
            <a:off x="274320" y="1627632"/>
            <a:ext cx="4160520" cy="126187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416052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CADRE RÉGLEMENTAIRE VTC</a:t>
            </a:r>
            <a:endParaRPr lang="en-US" sz="1050" dirty="0"/>
          </a:p>
        </p:txBody>
      </p:sp>
      <p:sp>
        <p:nvSpPr>
          <p:cNvPr id="13" name="Text 11"/>
          <p:cNvSpPr/>
          <p:nvPr/>
        </p:nvSpPr>
        <p:spPr>
          <a:xfrm>
            <a:off x="384048" y="1975104"/>
            <a:ext cx="3977640" cy="86868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Texte : Code des transports.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Inscription obligatoire au REGISTRE NATIONAL des VTC (DRIEAT). Vignette VTC sur le véhicule.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Exercer sans inscription au registre : DÉLIT — 1 an + 15 000 €.</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Peut exercer sur TOUTE LA FRANCE — aucune restriction géographique.</a:t>
            </a:r>
            <a:endParaRPr lang="en-US" sz="1000" dirty="0"/>
          </a:p>
        </p:txBody>
      </p:sp>
      <p:sp>
        <p:nvSpPr>
          <p:cNvPr id="14" name="Shape 12"/>
          <p:cNvSpPr/>
          <p:nvPr/>
        </p:nvSpPr>
        <p:spPr>
          <a:xfrm>
            <a:off x="4709160" y="1627632"/>
            <a:ext cx="4160520" cy="126187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4709160" y="1627632"/>
            <a:ext cx="4160520" cy="30175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480060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STATUT ET TARIFS VTC</a:t>
            </a:r>
            <a:endParaRPr lang="en-US" sz="1050" dirty="0"/>
          </a:p>
        </p:txBody>
      </p:sp>
      <p:sp>
        <p:nvSpPr>
          <p:cNvPr id="17" name="Text 15"/>
          <p:cNvSpPr/>
          <p:nvPr/>
        </p:nvSpPr>
        <p:spPr>
          <a:xfrm>
            <a:off x="4818888" y="1975104"/>
            <a:ext cx="3977640" cy="86868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Statut : SALARIÉ (Uber, Bolt…) OU INDÉPENDANT (micro-entrepreneur).</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Tarif : FORFAIT LIBRE fixé à l'avance. Prix communiqué AVANT le départ.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de taximètre mais un système de calcul du prix est requis.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RC Circulation (titre onéreux) + RC Professionnelle obligatoires.</a:t>
            </a:r>
            <a:endParaRPr lang="en-US" sz="1000" dirty="0"/>
          </a:p>
        </p:txBody>
      </p:sp>
      <p:sp>
        <p:nvSpPr>
          <p:cNvPr id="18" name="Shape 16"/>
          <p:cNvSpPr/>
          <p:nvPr/>
        </p:nvSpPr>
        <p:spPr>
          <a:xfrm>
            <a:off x="274320" y="2980944"/>
            <a:ext cx="8595360" cy="384048"/>
          </a:xfrm>
          <a:prstGeom prst="rect">
            <a:avLst/>
          </a:prstGeom>
          <a:solidFill>
            <a:srgbClr val="FEF0EE"/>
          </a:solidFill>
          <a:ln w="19050">
            <a:solidFill>
              <a:srgbClr val="C0392B"/>
            </a:solidFill>
            <a:prstDash val="solid"/>
          </a:ln>
        </p:spPr>
        <p:txBody>
          <a:bodyPr/>
          <a:lstStyle/>
          <a:p>
            <a:endParaRPr lang="fr-FR"/>
          </a:p>
        </p:txBody>
      </p:sp>
      <p:sp>
        <p:nvSpPr>
          <p:cNvPr id="19" name="Shape 17"/>
          <p:cNvSpPr/>
          <p:nvPr/>
        </p:nvSpPr>
        <p:spPr>
          <a:xfrm>
            <a:off x="274320" y="2980944"/>
            <a:ext cx="54864" cy="384048"/>
          </a:xfrm>
          <a:prstGeom prst="rect">
            <a:avLst/>
          </a:prstGeom>
          <a:solidFill>
            <a:srgbClr val="C0392B"/>
          </a:solidFill>
          <a:ln w="12700">
            <a:solidFill>
              <a:srgbClr val="C0392B"/>
            </a:solidFill>
            <a:prstDash val="solid"/>
          </a:ln>
        </p:spPr>
        <p:txBody>
          <a:bodyPr/>
          <a:lstStyle/>
          <a:p>
            <a:endParaRPr lang="fr-FR"/>
          </a:p>
        </p:txBody>
      </p:sp>
      <p:sp>
        <p:nvSpPr>
          <p:cNvPr id="20" name="Text 18"/>
          <p:cNvSpPr/>
          <p:nvPr/>
        </p:nvSpPr>
        <p:spPr>
          <a:xfrm>
            <a:off x="384048" y="2980944"/>
            <a:ext cx="8467344" cy="384048"/>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LA RÈGLE D'OR DU VTC : Réservation PRÉALABLE OBLIGATOIRE — toujours. Jamais de prise en charge dans la rue. Maraude = DÉLIT : 1 an + 15 000 €.</a:t>
            </a:r>
            <a:endParaRPr lang="en-US" sz="1000" dirty="0"/>
          </a:p>
        </p:txBody>
      </p:sp>
      <p:sp>
        <p:nvSpPr>
          <p:cNvPr id="21" name="Shape 19"/>
          <p:cNvSpPr/>
          <p:nvPr/>
        </p:nvSpPr>
        <p:spPr>
          <a:xfrm>
            <a:off x="274320" y="3438144"/>
            <a:ext cx="8595360" cy="96012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22" name="Shape 20"/>
          <p:cNvSpPr/>
          <p:nvPr/>
        </p:nvSpPr>
        <p:spPr>
          <a:xfrm>
            <a:off x="274320" y="3438144"/>
            <a:ext cx="8595360" cy="301752"/>
          </a:xfrm>
          <a:prstGeom prst="rect">
            <a:avLst/>
          </a:prstGeom>
          <a:solidFill>
            <a:srgbClr val="2860A8"/>
          </a:solidFill>
          <a:ln w="12700">
            <a:solidFill>
              <a:srgbClr val="2860A8"/>
            </a:solidFill>
            <a:prstDash val="solid"/>
          </a:ln>
        </p:spPr>
        <p:txBody>
          <a:bodyPr/>
          <a:lstStyle/>
          <a:p>
            <a:endParaRPr lang="fr-FR"/>
          </a:p>
        </p:txBody>
      </p:sp>
      <p:sp>
        <p:nvSpPr>
          <p:cNvPr id="23" name="Text 21"/>
          <p:cNvSpPr/>
          <p:nvPr/>
        </p:nvSpPr>
        <p:spPr>
          <a:xfrm>
            <a:off x="365760" y="3438144"/>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CONDITIONS D'ACCÈS VTC</a:t>
            </a:r>
            <a:endParaRPr lang="en-US" sz="1050" dirty="0"/>
          </a:p>
        </p:txBody>
      </p:sp>
      <p:sp>
        <p:nvSpPr>
          <p:cNvPr id="24" name="Text 22"/>
          <p:cNvSpPr/>
          <p:nvPr/>
        </p:nvSpPr>
        <p:spPr>
          <a:xfrm>
            <a:off x="384048" y="3785616"/>
            <a:ext cx="8412480" cy="56692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Carte professionnelle T3P (examen réussi — tronc commun avec taxi). Aucune équivalence par expérience.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Certificat médical valide. Casier judiciaire B2 vierge. Permis B hors période probatoire.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PSC1 NON obligatoire pour les VTC. Inscription individuelle au Registre national des VTC.</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Conditions du véhicule VTC — Les 5 critères obligatoires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Art. R3122-1 Code des transports — Sauf hybrides, électriques et véhicules de collection</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28/88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véhicule VTC doit répondre à des critères précis fixés par le Code des transports. Ces critères visent à garantir un niveau de confort et de sécurité élevé pour les passagers. Ils diffèrent des critères applicables aux taxis.</a:t>
            </a:r>
            <a:endParaRPr lang="en-US" sz="1200" dirty="0"/>
          </a:p>
        </p:txBody>
      </p:sp>
      <p:sp>
        <p:nvSpPr>
          <p:cNvPr id="10" name="Shape 8"/>
          <p:cNvSpPr/>
          <p:nvPr/>
        </p:nvSpPr>
        <p:spPr>
          <a:xfrm>
            <a:off x="274320" y="1600200"/>
            <a:ext cx="2560320" cy="1298448"/>
          </a:xfrm>
          <a:prstGeom prst="rect">
            <a:avLst/>
          </a:prstGeom>
          <a:solidFill>
            <a:srgbClr val="E8F1FA"/>
          </a:solidFill>
          <a:ln w="6350">
            <a:solidFill>
              <a:srgbClr val="D0DCE8"/>
            </a:solidFill>
            <a:prstDash val="solid"/>
          </a:ln>
        </p:spPr>
        <p:txBody>
          <a:bodyPr/>
          <a:lstStyle/>
          <a:p>
            <a:endParaRPr lang="fr-FR"/>
          </a:p>
        </p:txBody>
      </p:sp>
      <p:sp>
        <p:nvSpPr>
          <p:cNvPr id="11" name="Shape 9"/>
          <p:cNvSpPr/>
          <p:nvPr/>
        </p:nvSpPr>
        <p:spPr>
          <a:xfrm>
            <a:off x="274320" y="1600200"/>
            <a:ext cx="256032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38328" y="1600200"/>
            <a:ext cx="2468880"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PLACES</a:t>
            </a:r>
            <a:endParaRPr lang="en-US" sz="1100" dirty="0"/>
          </a:p>
        </p:txBody>
      </p:sp>
      <p:sp>
        <p:nvSpPr>
          <p:cNvPr id="13" name="Text 11"/>
          <p:cNvSpPr/>
          <p:nvPr/>
        </p:nvSpPr>
        <p:spPr>
          <a:xfrm>
            <a:off x="320040" y="1920240"/>
            <a:ext cx="2468880" cy="457200"/>
          </a:xfrm>
          <a:prstGeom prst="rect">
            <a:avLst/>
          </a:prstGeom>
          <a:noFill/>
          <a:ln/>
        </p:spPr>
        <p:txBody>
          <a:bodyPr wrap="square" rtlCol="0" anchor="ctr"/>
          <a:lstStyle/>
          <a:p>
            <a:pPr marL="0" indent="0" algn="ctr">
              <a:buNone/>
            </a:pPr>
            <a:r>
              <a:rPr lang="en-US" sz="1500" b="1" dirty="0">
                <a:solidFill>
                  <a:srgbClr val="1A3A5C"/>
                </a:solidFill>
                <a:latin typeface="Calibri" pitchFamily="34" charset="0"/>
                <a:ea typeface="Calibri" pitchFamily="34" charset="-122"/>
                <a:cs typeface="Calibri" pitchFamily="34" charset="-120"/>
              </a:rPr>
              <a:t>4 à 9 places</a:t>
            </a:r>
            <a:endParaRPr lang="en-US" sz="1500" dirty="0"/>
          </a:p>
          <a:p>
            <a:pPr marL="0" indent="0" algn="ctr">
              <a:buNone/>
            </a:pPr>
            <a:r>
              <a:rPr lang="en-US" sz="1500" b="1" dirty="0">
                <a:solidFill>
                  <a:srgbClr val="1A3A5C"/>
                </a:solidFill>
                <a:latin typeface="Calibri" pitchFamily="34" charset="0"/>
                <a:ea typeface="Calibri" pitchFamily="34" charset="-122"/>
                <a:cs typeface="Calibri" pitchFamily="34" charset="-120"/>
              </a:rPr>
              <a:t>chauffeur compris</a:t>
            </a:r>
            <a:endParaRPr lang="en-US" sz="1500" dirty="0"/>
          </a:p>
        </p:txBody>
      </p:sp>
      <p:sp>
        <p:nvSpPr>
          <p:cNvPr id="14" name="Text 12"/>
          <p:cNvSpPr/>
          <p:nvPr/>
        </p:nvSpPr>
        <p:spPr>
          <a:xfrm>
            <a:off x="347472" y="2404872"/>
            <a:ext cx="2450592" cy="475488"/>
          </a:xfrm>
          <a:prstGeom prst="rect">
            <a:avLst/>
          </a:prstGeom>
          <a:noFill/>
          <a:ln/>
        </p:spPr>
        <p:txBody>
          <a:bodyPr wrap="square" rtlCol="0" anchor="t"/>
          <a:lstStyle/>
          <a:p>
            <a:pPr marL="0" indent="0" algn="ctr">
              <a:buNone/>
            </a:pPr>
            <a:r>
              <a:rPr lang="en-US" sz="950" dirty="0">
                <a:solidFill>
                  <a:srgbClr val="6B7A8D"/>
                </a:solidFill>
                <a:latin typeface="Calibri" pitchFamily="34" charset="0"/>
                <a:ea typeface="Calibri" pitchFamily="34" charset="-122"/>
                <a:cs typeface="Calibri" pitchFamily="34" charset="-120"/>
              </a:rPr>
              <a:t>Un VTC ne peut pas avoir</a:t>
            </a:r>
            <a:endParaRPr lang="en-US" sz="950" dirty="0"/>
          </a:p>
          <a:p>
            <a:pPr marL="0" indent="0" algn="ctr">
              <a:buNone/>
            </a:pPr>
            <a:r>
              <a:rPr lang="en-US" sz="950" dirty="0">
                <a:solidFill>
                  <a:srgbClr val="6B7A8D"/>
                </a:solidFill>
                <a:latin typeface="Calibri" pitchFamily="34" charset="0"/>
                <a:ea typeface="Calibri" pitchFamily="34" charset="-122"/>
                <a:cs typeface="Calibri" pitchFamily="34" charset="-120"/>
              </a:rPr>
              <a:t>plus de 8 passagers.</a:t>
            </a:r>
            <a:endParaRPr lang="en-US" sz="950" dirty="0"/>
          </a:p>
        </p:txBody>
      </p:sp>
      <p:sp>
        <p:nvSpPr>
          <p:cNvPr id="15" name="Shape 13"/>
          <p:cNvSpPr/>
          <p:nvPr/>
        </p:nvSpPr>
        <p:spPr>
          <a:xfrm>
            <a:off x="3200400" y="1600200"/>
            <a:ext cx="2560320" cy="1298448"/>
          </a:xfrm>
          <a:prstGeom prst="rect">
            <a:avLst/>
          </a:prstGeom>
          <a:solidFill>
            <a:srgbClr val="E8F1FA"/>
          </a:solidFill>
          <a:ln w="6350">
            <a:solidFill>
              <a:srgbClr val="D0DCE8"/>
            </a:solidFill>
            <a:prstDash val="solid"/>
          </a:ln>
        </p:spPr>
        <p:txBody>
          <a:bodyPr/>
          <a:lstStyle/>
          <a:p>
            <a:endParaRPr lang="fr-FR"/>
          </a:p>
        </p:txBody>
      </p:sp>
      <p:sp>
        <p:nvSpPr>
          <p:cNvPr id="16" name="Shape 14"/>
          <p:cNvSpPr/>
          <p:nvPr/>
        </p:nvSpPr>
        <p:spPr>
          <a:xfrm>
            <a:off x="3200400" y="1600200"/>
            <a:ext cx="2560320" cy="301752"/>
          </a:xfrm>
          <a:prstGeom prst="rect">
            <a:avLst/>
          </a:prstGeom>
          <a:solidFill>
            <a:srgbClr val="2860A8"/>
          </a:solidFill>
          <a:ln w="12700">
            <a:solidFill>
              <a:srgbClr val="2860A8"/>
            </a:solidFill>
            <a:prstDash val="solid"/>
          </a:ln>
        </p:spPr>
        <p:txBody>
          <a:bodyPr/>
          <a:lstStyle/>
          <a:p>
            <a:endParaRPr lang="fr-FR"/>
          </a:p>
        </p:txBody>
      </p:sp>
      <p:sp>
        <p:nvSpPr>
          <p:cNvPr id="17" name="Text 15"/>
          <p:cNvSpPr/>
          <p:nvPr/>
        </p:nvSpPr>
        <p:spPr>
          <a:xfrm>
            <a:off x="3264408" y="1600200"/>
            <a:ext cx="2468880"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ÂGE</a:t>
            </a:r>
            <a:endParaRPr lang="en-US" sz="1100" dirty="0"/>
          </a:p>
        </p:txBody>
      </p:sp>
      <p:sp>
        <p:nvSpPr>
          <p:cNvPr id="18" name="Text 16"/>
          <p:cNvSpPr/>
          <p:nvPr/>
        </p:nvSpPr>
        <p:spPr>
          <a:xfrm>
            <a:off x="3246120" y="1920240"/>
            <a:ext cx="2468880" cy="457200"/>
          </a:xfrm>
          <a:prstGeom prst="rect">
            <a:avLst/>
          </a:prstGeom>
          <a:noFill/>
          <a:ln/>
        </p:spPr>
        <p:txBody>
          <a:bodyPr wrap="square" rtlCol="0" anchor="ctr"/>
          <a:lstStyle/>
          <a:p>
            <a:pPr marL="0" indent="0" algn="ctr">
              <a:buNone/>
            </a:pPr>
            <a:r>
              <a:rPr lang="en-US" sz="1500" b="1" dirty="0">
                <a:solidFill>
                  <a:srgbClr val="2860A8"/>
                </a:solidFill>
                <a:latin typeface="Calibri" pitchFamily="34" charset="0"/>
                <a:ea typeface="Calibri" pitchFamily="34" charset="-122"/>
                <a:cs typeface="Calibri" pitchFamily="34" charset="-120"/>
              </a:rPr>
              <a:t>Moins de</a:t>
            </a:r>
            <a:endParaRPr lang="en-US" sz="1500" dirty="0"/>
          </a:p>
          <a:p>
            <a:pPr marL="0" indent="0" algn="ctr">
              <a:buNone/>
            </a:pPr>
            <a:r>
              <a:rPr lang="en-US" sz="1500" b="1" dirty="0">
                <a:solidFill>
                  <a:srgbClr val="2860A8"/>
                </a:solidFill>
                <a:latin typeface="Calibri" pitchFamily="34" charset="0"/>
                <a:ea typeface="Calibri" pitchFamily="34" charset="-122"/>
                <a:cs typeface="Calibri" pitchFamily="34" charset="-120"/>
              </a:rPr>
              <a:t>7 ans</a:t>
            </a:r>
            <a:endParaRPr lang="en-US" sz="1500" dirty="0"/>
          </a:p>
        </p:txBody>
      </p:sp>
      <p:sp>
        <p:nvSpPr>
          <p:cNvPr id="19" name="Text 17"/>
          <p:cNvSpPr/>
          <p:nvPr/>
        </p:nvSpPr>
        <p:spPr>
          <a:xfrm>
            <a:off x="3273552" y="2404872"/>
            <a:ext cx="2450592" cy="475488"/>
          </a:xfrm>
          <a:prstGeom prst="rect">
            <a:avLst/>
          </a:prstGeom>
          <a:noFill/>
          <a:ln/>
        </p:spPr>
        <p:txBody>
          <a:bodyPr wrap="square" rtlCol="0" anchor="t"/>
          <a:lstStyle/>
          <a:p>
            <a:pPr marL="0" indent="0" algn="ctr">
              <a:buNone/>
            </a:pPr>
            <a:r>
              <a:rPr lang="en-US" sz="950" dirty="0">
                <a:solidFill>
                  <a:srgbClr val="6B7A8D"/>
                </a:solidFill>
                <a:latin typeface="Calibri" pitchFamily="34" charset="0"/>
                <a:ea typeface="Calibri" pitchFamily="34" charset="-122"/>
                <a:cs typeface="Calibri" pitchFamily="34" charset="-120"/>
              </a:rPr>
              <a:t>Sauf hybrides, électriques</a:t>
            </a:r>
            <a:endParaRPr lang="en-US" sz="950" dirty="0"/>
          </a:p>
          <a:p>
            <a:pPr marL="0" indent="0" algn="ctr">
              <a:buNone/>
            </a:pPr>
            <a:r>
              <a:rPr lang="en-US" sz="950" dirty="0">
                <a:solidFill>
                  <a:srgbClr val="6B7A8D"/>
                </a:solidFill>
                <a:latin typeface="Calibri" pitchFamily="34" charset="0"/>
                <a:ea typeface="Calibri" pitchFamily="34" charset="-122"/>
                <a:cs typeface="Calibri" pitchFamily="34" charset="-120"/>
              </a:rPr>
              <a:t>ou véhicules de collection.</a:t>
            </a:r>
            <a:endParaRPr lang="en-US" sz="950" dirty="0"/>
          </a:p>
        </p:txBody>
      </p:sp>
      <p:sp>
        <p:nvSpPr>
          <p:cNvPr id="20" name="Shape 18"/>
          <p:cNvSpPr/>
          <p:nvPr/>
        </p:nvSpPr>
        <p:spPr>
          <a:xfrm>
            <a:off x="6126480" y="1600200"/>
            <a:ext cx="2560320" cy="1298448"/>
          </a:xfrm>
          <a:prstGeom prst="rect">
            <a:avLst/>
          </a:prstGeom>
          <a:solidFill>
            <a:srgbClr val="E8F1FA"/>
          </a:solidFill>
          <a:ln w="6350">
            <a:solidFill>
              <a:srgbClr val="D0DCE8"/>
            </a:solidFill>
            <a:prstDash val="solid"/>
          </a:ln>
        </p:spPr>
        <p:txBody>
          <a:bodyPr/>
          <a:lstStyle/>
          <a:p>
            <a:endParaRPr lang="fr-FR"/>
          </a:p>
        </p:txBody>
      </p:sp>
      <p:sp>
        <p:nvSpPr>
          <p:cNvPr id="21" name="Shape 19"/>
          <p:cNvSpPr/>
          <p:nvPr/>
        </p:nvSpPr>
        <p:spPr>
          <a:xfrm>
            <a:off x="6126480" y="1600200"/>
            <a:ext cx="2560320" cy="301752"/>
          </a:xfrm>
          <a:prstGeom prst="rect">
            <a:avLst/>
          </a:prstGeom>
          <a:solidFill>
            <a:srgbClr val="00897B"/>
          </a:solidFill>
          <a:ln w="12700">
            <a:solidFill>
              <a:srgbClr val="00897B"/>
            </a:solidFill>
            <a:prstDash val="solid"/>
          </a:ln>
        </p:spPr>
        <p:txBody>
          <a:bodyPr/>
          <a:lstStyle/>
          <a:p>
            <a:endParaRPr lang="fr-FR"/>
          </a:p>
        </p:txBody>
      </p:sp>
      <p:sp>
        <p:nvSpPr>
          <p:cNvPr id="22" name="Text 20"/>
          <p:cNvSpPr/>
          <p:nvPr/>
        </p:nvSpPr>
        <p:spPr>
          <a:xfrm>
            <a:off x="6190488" y="1600200"/>
            <a:ext cx="2468880"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PORTES</a:t>
            </a:r>
            <a:endParaRPr lang="en-US" sz="1100" dirty="0"/>
          </a:p>
        </p:txBody>
      </p:sp>
      <p:sp>
        <p:nvSpPr>
          <p:cNvPr id="23" name="Text 21"/>
          <p:cNvSpPr/>
          <p:nvPr/>
        </p:nvSpPr>
        <p:spPr>
          <a:xfrm>
            <a:off x="6172200" y="1920240"/>
            <a:ext cx="2468880" cy="457200"/>
          </a:xfrm>
          <a:prstGeom prst="rect">
            <a:avLst/>
          </a:prstGeom>
          <a:noFill/>
          <a:ln/>
        </p:spPr>
        <p:txBody>
          <a:bodyPr wrap="square" rtlCol="0" anchor="ctr"/>
          <a:lstStyle/>
          <a:p>
            <a:pPr marL="0" indent="0" algn="ctr">
              <a:buNone/>
            </a:pPr>
            <a:r>
              <a:rPr lang="en-US" sz="1500" b="1" dirty="0">
                <a:solidFill>
                  <a:srgbClr val="00897B"/>
                </a:solidFill>
                <a:latin typeface="Calibri" pitchFamily="34" charset="0"/>
                <a:ea typeface="Calibri" pitchFamily="34" charset="-122"/>
                <a:cs typeface="Calibri" pitchFamily="34" charset="-120"/>
              </a:rPr>
              <a:t>Minimum</a:t>
            </a:r>
            <a:endParaRPr lang="en-US" sz="1500" dirty="0"/>
          </a:p>
          <a:p>
            <a:pPr marL="0" indent="0" algn="ctr">
              <a:buNone/>
            </a:pPr>
            <a:r>
              <a:rPr lang="en-US" sz="1500" b="1" dirty="0">
                <a:solidFill>
                  <a:srgbClr val="00897B"/>
                </a:solidFill>
                <a:latin typeface="Calibri" pitchFamily="34" charset="0"/>
                <a:ea typeface="Calibri" pitchFamily="34" charset="-122"/>
                <a:cs typeface="Calibri" pitchFamily="34" charset="-120"/>
              </a:rPr>
              <a:t>4 portes</a:t>
            </a:r>
            <a:endParaRPr lang="en-US" sz="1500" dirty="0"/>
          </a:p>
        </p:txBody>
      </p:sp>
      <p:sp>
        <p:nvSpPr>
          <p:cNvPr id="24" name="Text 22"/>
          <p:cNvSpPr/>
          <p:nvPr/>
        </p:nvSpPr>
        <p:spPr>
          <a:xfrm>
            <a:off x="6199632" y="2404872"/>
            <a:ext cx="2450592" cy="475488"/>
          </a:xfrm>
          <a:prstGeom prst="rect">
            <a:avLst/>
          </a:prstGeom>
          <a:noFill/>
          <a:ln/>
        </p:spPr>
        <p:txBody>
          <a:bodyPr wrap="square" rtlCol="0" anchor="t"/>
          <a:lstStyle/>
          <a:p>
            <a:pPr marL="0" indent="0" algn="ctr">
              <a:buNone/>
            </a:pPr>
            <a:r>
              <a:rPr lang="en-US" sz="950" dirty="0">
                <a:solidFill>
                  <a:srgbClr val="6B7A8D"/>
                </a:solidFill>
                <a:latin typeface="Calibri" pitchFamily="34" charset="0"/>
                <a:ea typeface="Calibri" pitchFamily="34" charset="-122"/>
                <a:cs typeface="Calibri" pitchFamily="34" charset="-120"/>
              </a:rPr>
              <a:t>Véhicule 2 portes ou 3 portes</a:t>
            </a:r>
            <a:endParaRPr lang="en-US" sz="950" dirty="0"/>
          </a:p>
          <a:p>
            <a:pPr marL="0" indent="0" algn="ctr">
              <a:buNone/>
            </a:pPr>
            <a:r>
              <a:rPr lang="en-US" sz="950" dirty="0">
                <a:solidFill>
                  <a:srgbClr val="6B7A8D"/>
                </a:solidFill>
                <a:latin typeface="Calibri" pitchFamily="34" charset="0"/>
                <a:ea typeface="Calibri" pitchFamily="34" charset="-122"/>
                <a:cs typeface="Calibri" pitchFamily="34" charset="-120"/>
              </a:rPr>
              <a:t>non accepté.</a:t>
            </a:r>
            <a:endParaRPr lang="en-US" sz="950" dirty="0"/>
          </a:p>
        </p:txBody>
      </p:sp>
      <p:sp>
        <p:nvSpPr>
          <p:cNvPr id="25" name="Shape 23"/>
          <p:cNvSpPr/>
          <p:nvPr/>
        </p:nvSpPr>
        <p:spPr>
          <a:xfrm>
            <a:off x="274320" y="3063240"/>
            <a:ext cx="2560320" cy="1298448"/>
          </a:xfrm>
          <a:prstGeom prst="rect">
            <a:avLst/>
          </a:prstGeom>
          <a:solidFill>
            <a:srgbClr val="E8F1FA"/>
          </a:solidFill>
          <a:ln w="6350">
            <a:solidFill>
              <a:srgbClr val="D0DCE8"/>
            </a:solidFill>
            <a:prstDash val="solid"/>
          </a:ln>
        </p:spPr>
        <p:txBody>
          <a:bodyPr/>
          <a:lstStyle/>
          <a:p>
            <a:endParaRPr lang="fr-FR"/>
          </a:p>
        </p:txBody>
      </p:sp>
      <p:sp>
        <p:nvSpPr>
          <p:cNvPr id="26" name="Shape 24"/>
          <p:cNvSpPr/>
          <p:nvPr/>
        </p:nvSpPr>
        <p:spPr>
          <a:xfrm>
            <a:off x="274320" y="3063240"/>
            <a:ext cx="2560320" cy="301752"/>
          </a:xfrm>
          <a:prstGeom prst="rect">
            <a:avLst/>
          </a:prstGeom>
          <a:solidFill>
            <a:srgbClr val="F4A227"/>
          </a:solidFill>
          <a:ln w="12700">
            <a:solidFill>
              <a:srgbClr val="F4A227"/>
            </a:solidFill>
            <a:prstDash val="solid"/>
          </a:ln>
        </p:spPr>
        <p:txBody>
          <a:bodyPr/>
          <a:lstStyle/>
          <a:p>
            <a:endParaRPr lang="fr-FR"/>
          </a:p>
        </p:txBody>
      </p:sp>
      <p:sp>
        <p:nvSpPr>
          <p:cNvPr id="27" name="Text 25"/>
          <p:cNvSpPr/>
          <p:nvPr/>
        </p:nvSpPr>
        <p:spPr>
          <a:xfrm>
            <a:off x="338328" y="3063240"/>
            <a:ext cx="2468880"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DIMENSIONS</a:t>
            </a:r>
            <a:endParaRPr lang="en-US" sz="1100" dirty="0"/>
          </a:p>
        </p:txBody>
      </p:sp>
      <p:sp>
        <p:nvSpPr>
          <p:cNvPr id="28" name="Text 26"/>
          <p:cNvSpPr/>
          <p:nvPr/>
        </p:nvSpPr>
        <p:spPr>
          <a:xfrm>
            <a:off x="320040" y="3383280"/>
            <a:ext cx="2468880" cy="457200"/>
          </a:xfrm>
          <a:prstGeom prst="rect">
            <a:avLst/>
          </a:prstGeom>
          <a:noFill/>
          <a:ln/>
        </p:spPr>
        <p:txBody>
          <a:bodyPr wrap="square" rtlCol="0" anchor="ctr"/>
          <a:lstStyle/>
          <a:p>
            <a:pPr marL="0" indent="0" algn="ctr">
              <a:buNone/>
            </a:pPr>
            <a:r>
              <a:rPr lang="en-US" sz="1500" b="1" dirty="0">
                <a:solidFill>
                  <a:srgbClr val="F4A227"/>
                </a:solidFill>
                <a:latin typeface="Calibri" pitchFamily="34" charset="0"/>
                <a:ea typeface="Calibri" pitchFamily="34" charset="-122"/>
                <a:cs typeface="Calibri" pitchFamily="34" charset="-120"/>
              </a:rPr>
              <a:t>4,50 m × 1,70 m</a:t>
            </a:r>
            <a:endParaRPr lang="en-US" sz="1500" dirty="0"/>
          </a:p>
        </p:txBody>
      </p:sp>
      <p:sp>
        <p:nvSpPr>
          <p:cNvPr id="29" name="Text 27"/>
          <p:cNvSpPr/>
          <p:nvPr/>
        </p:nvSpPr>
        <p:spPr>
          <a:xfrm>
            <a:off x="347472" y="3867912"/>
            <a:ext cx="2450592" cy="475488"/>
          </a:xfrm>
          <a:prstGeom prst="rect">
            <a:avLst/>
          </a:prstGeom>
          <a:noFill/>
          <a:ln/>
        </p:spPr>
        <p:txBody>
          <a:bodyPr wrap="square" rtlCol="0" anchor="t"/>
          <a:lstStyle/>
          <a:p>
            <a:pPr marL="0" indent="0" algn="ctr">
              <a:buNone/>
            </a:pPr>
            <a:r>
              <a:rPr lang="en-US" sz="950" dirty="0">
                <a:solidFill>
                  <a:srgbClr val="6B7A8D"/>
                </a:solidFill>
                <a:latin typeface="Calibri" pitchFamily="34" charset="0"/>
                <a:ea typeface="Calibri" pitchFamily="34" charset="-122"/>
                <a:cs typeface="Calibri" pitchFamily="34" charset="-120"/>
              </a:rPr>
              <a:t>Dimensions minimales</a:t>
            </a:r>
            <a:endParaRPr lang="en-US" sz="950" dirty="0"/>
          </a:p>
          <a:p>
            <a:pPr marL="0" indent="0" algn="ctr">
              <a:buNone/>
            </a:pPr>
            <a:r>
              <a:rPr lang="en-US" sz="950" dirty="0">
                <a:solidFill>
                  <a:srgbClr val="6B7A8D"/>
                </a:solidFill>
                <a:latin typeface="Calibri" pitchFamily="34" charset="0"/>
                <a:ea typeface="Calibri" pitchFamily="34" charset="-122"/>
                <a:cs typeface="Calibri" pitchFamily="34" charset="-120"/>
              </a:rPr>
              <a:t>hors tout requises.</a:t>
            </a:r>
            <a:endParaRPr lang="en-US" sz="950" dirty="0"/>
          </a:p>
        </p:txBody>
      </p:sp>
      <p:sp>
        <p:nvSpPr>
          <p:cNvPr id="30" name="Shape 28"/>
          <p:cNvSpPr/>
          <p:nvPr/>
        </p:nvSpPr>
        <p:spPr>
          <a:xfrm>
            <a:off x="3200400" y="3063240"/>
            <a:ext cx="2560320" cy="1298448"/>
          </a:xfrm>
          <a:prstGeom prst="rect">
            <a:avLst/>
          </a:prstGeom>
          <a:solidFill>
            <a:srgbClr val="E8F1FA"/>
          </a:solidFill>
          <a:ln w="6350">
            <a:solidFill>
              <a:srgbClr val="D0DCE8"/>
            </a:solidFill>
            <a:prstDash val="solid"/>
          </a:ln>
        </p:spPr>
        <p:txBody>
          <a:bodyPr/>
          <a:lstStyle/>
          <a:p>
            <a:endParaRPr lang="fr-FR"/>
          </a:p>
        </p:txBody>
      </p:sp>
      <p:sp>
        <p:nvSpPr>
          <p:cNvPr id="31" name="Shape 29"/>
          <p:cNvSpPr/>
          <p:nvPr/>
        </p:nvSpPr>
        <p:spPr>
          <a:xfrm>
            <a:off x="3200400" y="3063240"/>
            <a:ext cx="2560320" cy="301752"/>
          </a:xfrm>
          <a:prstGeom prst="rect">
            <a:avLst/>
          </a:prstGeom>
          <a:solidFill>
            <a:srgbClr val="C0392B"/>
          </a:solidFill>
          <a:ln w="12700">
            <a:solidFill>
              <a:srgbClr val="C0392B"/>
            </a:solidFill>
            <a:prstDash val="solid"/>
          </a:ln>
        </p:spPr>
        <p:txBody>
          <a:bodyPr/>
          <a:lstStyle/>
          <a:p>
            <a:endParaRPr lang="fr-FR"/>
          </a:p>
        </p:txBody>
      </p:sp>
      <p:sp>
        <p:nvSpPr>
          <p:cNvPr id="32" name="Text 30"/>
          <p:cNvSpPr/>
          <p:nvPr/>
        </p:nvSpPr>
        <p:spPr>
          <a:xfrm>
            <a:off x="3264408" y="3063240"/>
            <a:ext cx="2468880" cy="301752"/>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PUISSANCE</a:t>
            </a:r>
            <a:endParaRPr lang="en-US" sz="1100" dirty="0"/>
          </a:p>
        </p:txBody>
      </p:sp>
      <p:sp>
        <p:nvSpPr>
          <p:cNvPr id="33" name="Text 31"/>
          <p:cNvSpPr/>
          <p:nvPr/>
        </p:nvSpPr>
        <p:spPr>
          <a:xfrm>
            <a:off x="3246120" y="3383280"/>
            <a:ext cx="2468880" cy="457200"/>
          </a:xfrm>
          <a:prstGeom prst="rect">
            <a:avLst/>
          </a:prstGeom>
          <a:noFill/>
          <a:ln/>
        </p:spPr>
        <p:txBody>
          <a:bodyPr wrap="square" rtlCol="0" anchor="ctr"/>
          <a:lstStyle/>
          <a:p>
            <a:pPr marL="0" indent="0" algn="ctr">
              <a:buNone/>
            </a:pPr>
            <a:r>
              <a:rPr lang="en-US" sz="1500" b="1" dirty="0">
                <a:solidFill>
                  <a:srgbClr val="C0392B"/>
                </a:solidFill>
                <a:latin typeface="Calibri" pitchFamily="34" charset="0"/>
                <a:ea typeface="Calibri" pitchFamily="34" charset="-122"/>
                <a:cs typeface="Calibri" pitchFamily="34" charset="-120"/>
              </a:rPr>
              <a:t>Minimum 84 kW</a:t>
            </a:r>
            <a:endParaRPr lang="en-US" sz="1500" dirty="0"/>
          </a:p>
        </p:txBody>
      </p:sp>
      <p:sp>
        <p:nvSpPr>
          <p:cNvPr id="34" name="Text 32"/>
          <p:cNvSpPr/>
          <p:nvPr/>
        </p:nvSpPr>
        <p:spPr>
          <a:xfrm>
            <a:off x="3273552" y="3867912"/>
            <a:ext cx="2450592" cy="475488"/>
          </a:xfrm>
          <a:prstGeom prst="rect">
            <a:avLst/>
          </a:prstGeom>
          <a:noFill/>
          <a:ln/>
        </p:spPr>
        <p:txBody>
          <a:bodyPr wrap="square" rtlCol="0" anchor="t"/>
          <a:lstStyle/>
          <a:p>
            <a:pPr marL="0" indent="0" algn="ctr">
              <a:buNone/>
            </a:pPr>
            <a:r>
              <a:rPr lang="en-US" sz="950" dirty="0">
                <a:solidFill>
                  <a:srgbClr val="6B7A8D"/>
                </a:solidFill>
                <a:latin typeface="Calibri" pitchFamily="34" charset="0"/>
                <a:ea typeface="Calibri" pitchFamily="34" charset="-122"/>
                <a:cs typeface="Calibri" pitchFamily="34" charset="-120"/>
              </a:rPr>
              <a:t>Environ 114 chevaux.</a:t>
            </a:r>
            <a:endParaRPr lang="en-US" sz="950" dirty="0"/>
          </a:p>
          <a:p>
            <a:pPr marL="0" indent="0" algn="ctr">
              <a:buNone/>
            </a:pPr>
            <a:r>
              <a:rPr lang="en-US" sz="950" dirty="0">
                <a:solidFill>
                  <a:srgbClr val="6B7A8D"/>
                </a:solidFill>
                <a:latin typeface="Calibri" pitchFamily="34" charset="0"/>
                <a:ea typeface="Calibri" pitchFamily="34" charset="-122"/>
                <a:cs typeface="Calibri" pitchFamily="34" charset="-120"/>
              </a:rPr>
              <a:t>Garantit confort de motorisation.</a:t>
            </a:r>
            <a:endParaRPr lang="en-US" sz="950" dirty="0"/>
          </a:p>
        </p:txBody>
      </p:sp>
      <p:sp>
        <p:nvSpPr>
          <p:cNvPr id="35" name="Shape 33"/>
          <p:cNvSpPr/>
          <p:nvPr/>
        </p:nvSpPr>
        <p:spPr>
          <a:xfrm>
            <a:off x="274320" y="4462272"/>
            <a:ext cx="8595360" cy="292608"/>
          </a:xfrm>
          <a:prstGeom prst="rect">
            <a:avLst/>
          </a:prstGeom>
          <a:solidFill>
            <a:srgbClr val="EDF7EE"/>
          </a:solidFill>
          <a:ln w="19050">
            <a:solidFill>
              <a:srgbClr val="2E7D32"/>
            </a:solidFill>
            <a:prstDash val="solid"/>
          </a:ln>
        </p:spPr>
        <p:txBody>
          <a:bodyPr/>
          <a:lstStyle/>
          <a:p>
            <a:endParaRPr lang="fr-FR"/>
          </a:p>
        </p:txBody>
      </p:sp>
      <p:sp>
        <p:nvSpPr>
          <p:cNvPr id="36" name="Shape 34"/>
          <p:cNvSpPr/>
          <p:nvPr/>
        </p:nvSpPr>
        <p:spPr>
          <a:xfrm>
            <a:off x="274320" y="4462272"/>
            <a:ext cx="54864" cy="292608"/>
          </a:xfrm>
          <a:prstGeom prst="rect">
            <a:avLst/>
          </a:prstGeom>
          <a:solidFill>
            <a:srgbClr val="2E7D32"/>
          </a:solidFill>
          <a:ln w="12700">
            <a:solidFill>
              <a:srgbClr val="2E7D32"/>
            </a:solidFill>
            <a:prstDash val="solid"/>
          </a:ln>
        </p:spPr>
        <p:txBody>
          <a:bodyPr/>
          <a:lstStyle/>
          <a:p>
            <a:endParaRPr lang="fr-FR"/>
          </a:p>
        </p:txBody>
      </p:sp>
      <p:sp>
        <p:nvSpPr>
          <p:cNvPr id="37" name="Text 35"/>
          <p:cNvSpPr/>
          <p:nvPr/>
        </p:nvSpPr>
        <p:spPr>
          <a:xfrm>
            <a:off x="384048" y="4462272"/>
            <a:ext cx="8467344" cy="292608"/>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Formation continue identique au taxi : 14 heures tous les 5 ans. PSC1 non obligatoire pour les VTC (contrairement aux taxis).</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Conditions véhicule VTC — Schéma visuel + comparatif Taxi/VTC</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29/88</a:t>
            </a:r>
            <a:endParaRPr lang="en-US" sz="800" dirty="0"/>
          </a:p>
        </p:txBody>
      </p:sp>
      <p:sp>
        <p:nvSpPr>
          <p:cNvPr id="8" name="Text 6"/>
          <p:cNvSpPr/>
          <p:nvPr/>
        </p:nvSpPr>
        <p:spPr>
          <a:xfrm>
            <a:off x="274320" y="88696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Les 5 critères du véhicule VTC en un coup d'œil :</a:t>
            </a:r>
            <a:endParaRPr lang="en-US" sz="1200" dirty="0"/>
          </a:p>
        </p:txBody>
      </p:sp>
      <p:sp>
        <p:nvSpPr>
          <p:cNvPr id="9" name="Shape 7"/>
          <p:cNvSpPr/>
          <p:nvPr/>
        </p:nvSpPr>
        <p:spPr>
          <a:xfrm>
            <a:off x="2560320" y="1234440"/>
            <a:ext cx="4023360" cy="1920240"/>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560320" y="1234440"/>
            <a:ext cx="4023360" cy="1920240"/>
          </a:xfrm>
          <a:prstGeom prst="rect">
            <a:avLst/>
          </a:prstGeom>
          <a:noFill/>
          <a:ln/>
        </p:spPr>
        <p:txBody>
          <a:bodyPr wrap="square" rtlCol="0" anchor="ctr"/>
          <a:lstStyle/>
          <a:p>
            <a:pPr marL="0" indent="0" algn="ctr">
              <a:buNone/>
            </a:pPr>
            <a:r>
              <a:rPr lang="en-US" sz="4800" b="1" dirty="0">
                <a:solidFill>
                  <a:srgbClr val="FFFFFF"/>
                </a:solidFill>
                <a:latin typeface="Calibri" pitchFamily="34" charset="0"/>
                <a:ea typeface="Calibri" pitchFamily="34" charset="-122"/>
                <a:cs typeface="Calibri" pitchFamily="34" charset="-120"/>
              </a:rPr>
              <a:t>VTC</a:t>
            </a:r>
            <a:endParaRPr lang="en-US" sz="4800" dirty="0"/>
          </a:p>
        </p:txBody>
      </p:sp>
      <p:sp>
        <p:nvSpPr>
          <p:cNvPr id="11" name="Text 9"/>
          <p:cNvSpPr/>
          <p:nvPr/>
        </p:nvSpPr>
        <p:spPr>
          <a:xfrm>
            <a:off x="2560320" y="2514600"/>
            <a:ext cx="4023360" cy="502920"/>
          </a:xfrm>
          <a:prstGeom prst="rect">
            <a:avLst/>
          </a:prstGeom>
          <a:noFill/>
          <a:ln/>
        </p:spPr>
        <p:txBody>
          <a:bodyPr wrap="square" rtlCol="0" anchor="ctr"/>
          <a:lstStyle/>
          <a:p>
            <a:pPr marL="0" indent="0" algn="ctr">
              <a:buNone/>
            </a:pPr>
            <a:r>
              <a:rPr lang="en-US" sz="1200" i="1" dirty="0">
                <a:solidFill>
                  <a:srgbClr val="00B4D8"/>
                </a:solidFill>
                <a:latin typeface="Calibri" pitchFamily="34" charset="0"/>
                <a:ea typeface="Calibri" pitchFamily="34" charset="-122"/>
                <a:cs typeface="Calibri" pitchFamily="34" charset="-120"/>
              </a:rPr>
              <a:t>VÉHICULE</a:t>
            </a:r>
            <a:endParaRPr lang="en-US" sz="1200" dirty="0"/>
          </a:p>
        </p:txBody>
      </p:sp>
      <p:sp>
        <p:nvSpPr>
          <p:cNvPr id="12" name="Shape 10"/>
          <p:cNvSpPr/>
          <p:nvPr/>
        </p:nvSpPr>
        <p:spPr>
          <a:xfrm>
            <a:off x="91440" y="1298448"/>
            <a:ext cx="2194560" cy="658368"/>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91440" y="1298448"/>
            <a:ext cx="2194560"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 à 9 places</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(chauffeur compris)</a:t>
            </a:r>
            <a:endParaRPr lang="en-US" sz="1000" dirty="0"/>
          </a:p>
        </p:txBody>
      </p:sp>
      <p:sp>
        <p:nvSpPr>
          <p:cNvPr id="14" name="Shape 12"/>
          <p:cNvSpPr/>
          <p:nvPr/>
        </p:nvSpPr>
        <p:spPr>
          <a:xfrm>
            <a:off x="91440" y="2240280"/>
            <a:ext cx="2194560" cy="658368"/>
          </a:xfrm>
          <a:prstGeom prst="rect">
            <a:avLst/>
          </a:prstGeom>
          <a:solidFill>
            <a:srgbClr val="2860A8"/>
          </a:solidFill>
          <a:ln w="12700">
            <a:solidFill>
              <a:srgbClr val="2860A8"/>
            </a:solidFill>
            <a:prstDash val="solid"/>
          </a:ln>
        </p:spPr>
        <p:txBody>
          <a:bodyPr/>
          <a:lstStyle/>
          <a:p>
            <a:endParaRPr lang="fr-FR"/>
          </a:p>
        </p:txBody>
      </p:sp>
      <p:sp>
        <p:nvSpPr>
          <p:cNvPr id="15" name="Text 13"/>
          <p:cNvSpPr/>
          <p:nvPr/>
        </p:nvSpPr>
        <p:spPr>
          <a:xfrm>
            <a:off x="91440" y="2240280"/>
            <a:ext cx="2194560"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Min 4 portes</a:t>
            </a:r>
            <a:endParaRPr lang="en-US" sz="1000" dirty="0"/>
          </a:p>
        </p:txBody>
      </p:sp>
      <p:sp>
        <p:nvSpPr>
          <p:cNvPr id="16" name="Shape 14"/>
          <p:cNvSpPr/>
          <p:nvPr/>
        </p:nvSpPr>
        <p:spPr>
          <a:xfrm>
            <a:off x="6812280" y="1298448"/>
            <a:ext cx="2194560" cy="658368"/>
          </a:xfrm>
          <a:prstGeom prst="rect">
            <a:avLst/>
          </a:prstGeom>
          <a:solidFill>
            <a:srgbClr val="F4A227"/>
          </a:solidFill>
          <a:ln w="12700">
            <a:solidFill>
              <a:srgbClr val="F4A227"/>
            </a:solidFill>
            <a:prstDash val="solid"/>
          </a:ln>
        </p:spPr>
        <p:txBody>
          <a:bodyPr/>
          <a:lstStyle/>
          <a:p>
            <a:endParaRPr lang="fr-FR"/>
          </a:p>
        </p:txBody>
      </p:sp>
      <p:sp>
        <p:nvSpPr>
          <p:cNvPr id="17" name="Text 15"/>
          <p:cNvSpPr/>
          <p:nvPr/>
        </p:nvSpPr>
        <p:spPr>
          <a:xfrm>
            <a:off x="6812280" y="1298448"/>
            <a:ext cx="2194560"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&lt; 7 ans</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(hors hybrides)</a:t>
            </a:r>
            <a:endParaRPr lang="en-US" sz="1000" dirty="0"/>
          </a:p>
        </p:txBody>
      </p:sp>
      <p:sp>
        <p:nvSpPr>
          <p:cNvPr id="18" name="Shape 16"/>
          <p:cNvSpPr/>
          <p:nvPr/>
        </p:nvSpPr>
        <p:spPr>
          <a:xfrm>
            <a:off x="6812280" y="2240280"/>
            <a:ext cx="2194560" cy="658368"/>
          </a:xfrm>
          <a:prstGeom prst="rect">
            <a:avLst/>
          </a:prstGeom>
          <a:solidFill>
            <a:srgbClr val="F4A227"/>
          </a:solidFill>
          <a:ln w="12700">
            <a:solidFill>
              <a:srgbClr val="F4A227"/>
            </a:solidFill>
            <a:prstDash val="solid"/>
          </a:ln>
        </p:spPr>
        <p:txBody>
          <a:bodyPr/>
          <a:lstStyle/>
          <a:p>
            <a:endParaRPr lang="fr-FR"/>
          </a:p>
        </p:txBody>
      </p:sp>
      <p:sp>
        <p:nvSpPr>
          <p:cNvPr id="19" name="Text 17"/>
          <p:cNvSpPr/>
          <p:nvPr/>
        </p:nvSpPr>
        <p:spPr>
          <a:xfrm>
            <a:off x="6812280" y="2240280"/>
            <a:ext cx="2194560" cy="65836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4,50 m × 1,70 m</a:t>
            </a:r>
            <a:endParaRPr lang="en-US" sz="1000" dirty="0"/>
          </a:p>
          <a:p>
            <a:pPr marL="0" indent="0" algn="ctr">
              <a:buNone/>
            </a:pPr>
            <a:r>
              <a:rPr lang="en-US" sz="1000" b="1" dirty="0">
                <a:solidFill>
                  <a:srgbClr val="FFFFFF"/>
                </a:solidFill>
                <a:latin typeface="Calibri" pitchFamily="34" charset="0"/>
                <a:ea typeface="Calibri" pitchFamily="34" charset="-122"/>
                <a:cs typeface="Calibri" pitchFamily="34" charset="-120"/>
              </a:rPr>
              <a:t>84 kW min</a:t>
            </a:r>
            <a:endParaRPr lang="en-US" sz="1000" dirty="0"/>
          </a:p>
        </p:txBody>
      </p:sp>
      <p:sp>
        <p:nvSpPr>
          <p:cNvPr id="20" name="Text 18"/>
          <p:cNvSpPr/>
          <p:nvPr/>
        </p:nvSpPr>
        <p:spPr>
          <a:xfrm>
            <a:off x="274320" y="3273552"/>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Tableau comparatif — Taxi vs VTC :</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274320" y="3566160"/>
          <a:ext cx="8595360" cy="1389888"/>
        </p:xfrm>
        <a:graphic>
          <a:graphicData uri="http://schemas.openxmlformats.org/drawingml/2006/table">
            <a:tbl>
              <a:tblPr/>
              <a:tblGrid>
                <a:gridCol w="32004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198555">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Critère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TAXI</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50" b="1" dirty="0">
                          <a:solidFill>
                            <a:srgbClr val="FFFFFF"/>
                          </a:solidFill>
                          <a:latin typeface="Calibri" pitchFamily="34" charset="0"/>
                          <a:ea typeface="Calibri" pitchFamily="34" charset="-122"/>
                          <a:cs typeface="Calibri" pitchFamily="34" charset="-120"/>
                        </a:rPr>
                        <a:t>VTC</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extLst>
                  <a:ext uri="{0D108BD9-81ED-4DB2-BD59-A6C34878D82A}">
                    <a16:rowId xmlns:a16="http://schemas.microsoft.com/office/drawing/2014/main" val="10000"/>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Maraude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Zone de rattachement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Interdite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Tarif</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Réglementé (préfectoral)</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Libre (fixé avant course)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2"/>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Signalétique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Lumineux TAXI + commune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Vignette VTC</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Âge véhicule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&lt; 10 ans (variable)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&lt; 7 ans (sauf exceptions)</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4"/>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PSC1</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Facultatif</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98555">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Zone d'exercice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Zone de rattachement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Toute la France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6b. Réglementation des VMDTR</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Véhicules Motorisés à Deux ou Trois Roues — Moto-taxi</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32/88</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Réglementation des VMDTR — Cadre légal, statut et tarifs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Véhicules Motorisés à Deux ou Trois Roues — Code des transports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33/88</a:t>
            </a:r>
            <a:endParaRPr lang="en-US" sz="800" dirty="0"/>
          </a:p>
        </p:txBody>
      </p:sp>
      <p:sp>
        <p:nvSpPr>
          <p:cNvPr id="9" name="Text 7"/>
          <p:cNvSpPr/>
          <p:nvPr/>
        </p:nvSpPr>
        <p:spPr>
          <a:xfrm>
            <a:off x="274320" y="1078992"/>
            <a:ext cx="8595360" cy="502920"/>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VMDTR (Véhicule Motorisé à Deux ou Trois Roues) est la troisième profession T3P. Comme le VTC, la réservation préalable est TOUJOURS obligatoire. Il ne peut transporter qu'un seul passager à la fois. Exercé principalement sous forme de « moto-taxi ».</a:t>
            </a:r>
            <a:endParaRPr lang="en-US" sz="1200" dirty="0"/>
          </a:p>
        </p:txBody>
      </p:sp>
      <p:sp>
        <p:nvSpPr>
          <p:cNvPr id="10" name="Shape 8"/>
          <p:cNvSpPr/>
          <p:nvPr/>
        </p:nvSpPr>
        <p:spPr>
          <a:xfrm>
            <a:off x="274320" y="1664208"/>
            <a:ext cx="4160520" cy="171907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64208"/>
            <a:ext cx="416052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6420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CADRE RÉGLEMENTAIRE VMDTR</a:t>
            </a:r>
            <a:endParaRPr lang="en-US" sz="1050" dirty="0"/>
          </a:p>
        </p:txBody>
      </p:sp>
      <p:sp>
        <p:nvSpPr>
          <p:cNvPr id="13" name="Text 11"/>
          <p:cNvSpPr/>
          <p:nvPr/>
        </p:nvSpPr>
        <p:spPr>
          <a:xfrm>
            <a:off x="384048" y="2011680"/>
            <a:ext cx="3977640" cy="132588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Texte de référence : Code des transports.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Autorité compétente : Ministère de la Transition écologique et de la Cohésion des territoires.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d'inscription à un registre national (contrairement au VTC).</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Carte professionnelle VMDTR obligatoire — délivrée par la préfecture.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Réservation PRÉALABLE obligatoire — maraude INTERDITE.</a:t>
            </a:r>
            <a:endParaRPr lang="en-US" sz="1000" dirty="0"/>
          </a:p>
        </p:txBody>
      </p:sp>
      <p:sp>
        <p:nvSpPr>
          <p:cNvPr id="14" name="Shape 12"/>
          <p:cNvSpPr/>
          <p:nvPr/>
        </p:nvSpPr>
        <p:spPr>
          <a:xfrm>
            <a:off x="4709160" y="1664208"/>
            <a:ext cx="4160520" cy="171907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4709160" y="1664208"/>
            <a:ext cx="4160520" cy="301752"/>
          </a:xfrm>
          <a:prstGeom prst="rect">
            <a:avLst/>
          </a:prstGeom>
          <a:solidFill>
            <a:srgbClr val="1A3A5C"/>
          </a:solidFill>
          <a:ln w="12700">
            <a:solidFill>
              <a:srgbClr val="1A3A5C"/>
            </a:solidFill>
            <a:prstDash val="solid"/>
          </a:ln>
        </p:spPr>
        <p:txBody>
          <a:bodyPr/>
          <a:lstStyle/>
          <a:p>
            <a:endParaRPr lang="fr-FR"/>
          </a:p>
        </p:txBody>
      </p:sp>
      <p:sp>
        <p:nvSpPr>
          <p:cNvPr id="16" name="Text 14"/>
          <p:cNvSpPr/>
          <p:nvPr/>
        </p:nvSpPr>
        <p:spPr>
          <a:xfrm>
            <a:off x="4800600" y="166420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STATUT ET TARIFS VMDTR</a:t>
            </a:r>
            <a:endParaRPr lang="en-US" sz="1050" dirty="0"/>
          </a:p>
        </p:txBody>
      </p:sp>
      <p:sp>
        <p:nvSpPr>
          <p:cNvPr id="17" name="Text 15"/>
          <p:cNvSpPr/>
          <p:nvPr/>
        </p:nvSpPr>
        <p:spPr>
          <a:xfrm>
            <a:off x="4818888" y="2011680"/>
            <a:ext cx="3977640" cy="132588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Statut : SALARIÉ ou TRAVAILLEUR INDÉPENDANT.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Tarif : forfait libre OU tarif horokilométrique — fixé à l'avance.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Prix communiqué AVANT le départ.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Pas de taximètre — système de calcul de prix requis.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RC Circulation (titre onéreux) + RC Professionnelle obligatoires.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1 passager maximum à bord.</a:t>
            </a:r>
            <a:endParaRPr lang="en-US" sz="1000" dirty="0"/>
          </a:p>
        </p:txBody>
      </p:sp>
      <p:sp>
        <p:nvSpPr>
          <p:cNvPr id="18" name="Shape 16"/>
          <p:cNvSpPr/>
          <p:nvPr/>
        </p:nvSpPr>
        <p:spPr>
          <a:xfrm>
            <a:off x="274320" y="3456432"/>
            <a:ext cx="8595360" cy="384048"/>
          </a:xfrm>
          <a:prstGeom prst="rect">
            <a:avLst/>
          </a:prstGeom>
          <a:solidFill>
            <a:srgbClr val="C0392B"/>
          </a:solidFill>
          <a:ln w="12700">
            <a:solidFill>
              <a:srgbClr val="C0392B"/>
            </a:solidFill>
            <a:prstDash val="solid"/>
          </a:ln>
        </p:spPr>
        <p:txBody>
          <a:bodyPr/>
          <a:lstStyle/>
          <a:p>
            <a:endParaRPr lang="fr-FR"/>
          </a:p>
        </p:txBody>
      </p:sp>
      <p:sp>
        <p:nvSpPr>
          <p:cNvPr id="19" name="Text 17"/>
          <p:cNvSpPr/>
          <p:nvPr/>
        </p:nvSpPr>
        <p:spPr>
          <a:xfrm>
            <a:off x="274320" y="3456432"/>
            <a:ext cx="8595360" cy="384048"/>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RÈGLE D'OR DU VMDTR : Réservation PRÉALABLE OBLIGATOIRE — 1 passager max — Maraude = DÉLIT : 1 an + 15 000 €</a:t>
            </a:r>
            <a:endParaRPr lang="en-US" sz="1000" dirty="0"/>
          </a:p>
        </p:txBody>
      </p:sp>
      <p:sp>
        <p:nvSpPr>
          <p:cNvPr id="20" name="Shape 18"/>
          <p:cNvSpPr/>
          <p:nvPr/>
        </p:nvSpPr>
        <p:spPr>
          <a:xfrm>
            <a:off x="274320" y="3913632"/>
            <a:ext cx="8595360" cy="292608"/>
          </a:xfrm>
          <a:prstGeom prst="rect">
            <a:avLst/>
          </a:prstGeom>
          <a:solidFill>
            <a:srgbClr val="D4530A"/>
          </a:solidFill>
          <a:ln w="12700">
            <a:solidFill>
              <a:srgbClr val="D4530A"/>
            </a:solidFill>
            <a:prstDash val="solid"/>
          </a:ln>
        </p:spPr>
        <p:txBody>
          <a:bodyPr/>
          <a:lstStyle/>
          <a:p>
            <a:endParaRPr lang="fr-FR"/>
          </a:p>
        </p:txBody>
      </p:sp>
      <p:sp>
        <p:nvSpPr>
          <p:cNvPr id="21" name="Text 19"/>
          <p:cNvSpPr/>
          <p:nvPr/>
        </p:nvSpPr>
        <p:spPr>
          <a:xfrm>
            <a:off x="274320" y="3913632"/>
            <a:ext cx="8595360" cy="292608"/>
          </a:xfrm>
          <a:prstGeom prst="rect">
            <a:avLst/>
          </a:prstGeom>
          <a:noFill/>
          <a:ln/>
        </p:spPr>
        <p:txBody>
          <a:bodyPr wrap="square"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SANCTIONS SPÉCIFIQUES VMDTR</a:t>
            </a:r>
            <a:endParaRPr lang="en-US" sz="1050" dirty="0"/>
          </a:p>
        </p:txBody>
      </p:sp>
      <p:sp>
        <p:nvSpPr>
          <p:cNvPr id="22" name="Shape 20"/>
          <p:cNvSpPr/>
          <p:nvPr/>
        </p:nvSpPr>
        <p:spPr>
          <a:xfrm>
            <a:off x="274320" y="4251960"/>
            <a:ext cx="8595360" cy="228600"/>
          </a:xfrm>
          <a:prstGeom prst="rect">
            <a:avLst/>
          </a:prstGeom>
          <a:solidFill>
            <a:srgbClr val="E8F1FA"/>
          </a:solidFill>
          <a:ln w="6350">
            <a:solidFill>
              <a:srgbClr val="D0DCE8"/>
            </a:solidFill>
            <a:prstDash val="solid"/>
          </a:ln>
        </p:spPr>
        <p:txBody>
          <a:bodyPr/>
          <a:lstStyle/>
          <a:p>
            <a:endParaRPr lang="fr-FR"/>
          </a:p>
        </p:txBody>
      </p:sp>
      <p:sp>
        <p:nvSpPr>
          <p:cNvPr id="23" name="Shape 21"/>
          <p:cNvSpPr/>
          <p:nvPr/>
        </p:nvSpPr>
        <p:spPr>
          <a:xfrm>
            <a:off x="274320" y="4251960"/>
            <a:ext cx="1005840" cy="228600"/>
          </a:xfrm>
          <a:prstGeom prst="rect">
            <a:avLst/>
          </a:prstGeom>
          <a:solidFill>
            <a:srgbClr val="D4530A"/>
          </a:solidFill>
          <a:ln w="12700">
            <a:solidFill>
              <a:srgbClr val="D4530A"/>
            </a:solidFill>
            <a:prstDash val="solid"/>
          </a:ln>
        </p:spPr>
        <p:txBody>
          <a:bodyPr/>
          <a:lstStyle/>
          <a:p>
            <a:endParaRPr lang="fr-FR"/>
          </a:p>
        </p:txBody>
      </p:sp>
      <p:sp>
        <p:nvSpPr>
          <p:cNvPr id="24" name="Text 22"/>
          <p:cNvSpPr/>
          <p:nvPr/>
        </p:nvSpPr>
        <p:spPr>
          <a:xfrm>
            <a:off x="274320" y="4251960"/>
            <a:ext cx="1005840"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3ème classe</a:t>
            </a:r>
            <a:endParaRPr lang="en-US" sz="850" dirty="0"/>
          </a:p>
        </p:txBody>
      </p:sp>
      <p:sp>
        <p:nvSpPr>
          <p:cNvPr id="25" name="Text 23"/>
          <p:cNvSpPr/>
          <p:nvPr/>
        </p:nvSpPr>
        <p:spPr>
          <a:xfrm>
            <a:off x="1353312" y="4270248"/>
            <a:ext cx="5166360" cy="182880"/>
          </a:xfrm>
          <a:prstGeom prst="rect">
            <a:avLst/>
          </a:prstGeom>
          <a:noFill/>
          <a:ln/>
        </p:spPr>
        <p:txBody>
          <a:bodyPr wrap="square" rtlCol="0" anchor="ctr"/>
          <a:lstStyle/>
          <a:p>
            <a:pPr marL="0" indent="0">
              <a:buNone/>
            </a:pPr>
            <a:r>
              <a:rPr lang="en-US" sz="850" dirty="0">
                <a:solidFill>
                  <a:srgbClr val="3A3A3A"/>
                </a:solidFill>
                <a:latin typeface="Calibri" pitchFamily="34" charset="0"/>
                <a:ea typeface="Calibri" pitchFamily="34" charset="-122"/>
                <a:cs typeface="Calibri" pitchFamily="34" charset="-120"/>
              </a:rPr>
              <a:t>Exercice avec moto non-conforme (&lt; 40 kW ou &gt; 5 ans)</a:t>
            </a:r>
            <a:endParaRPr lang="en-US" sz="850" dirty="0"/>
          </a:p>
        </p:txBody>
      </p:sp>
      <p:sp>
        <p:nvSpPr>
          <p:cNvPr id="26" name="Text 24"/>
          <p:cNvSpPr/>
          <p:nvPr/>
        </p:nvSpPr>
        <p:spPr>
          <a:xfrm>
            <a:off x="6565392" y="4270248"/>
            <a:ext cx="2212848" cy="182880"/>
          </a:xfrm>
          <a:prstGeom prst="rect">
            <a:avLst/>
          </a:prstGeom>
          <a:noFill/>
          <a:ln/>
        </p:spPr>
        <p:txBody>
          <a:bodyPr wrap="square" rtlCol="0" anchor="ctr"/>
          <a:lstStyle/>
          <a:p>
            <a:pPr marL="0" indent="0" algn="r">
              <a:buNone/>
            </a:pPr>
            <a:r>
              <a:rPr lang="en-US" sz="850" b="1" dirty="0">
                <a:solidFill>
                  <a:srgbClr val="C0392B"/>
                </a:solidFill>
                <a:latin typeface="Calibri" pitchFamily="34" charset="0"/>
                <a:ea typeface="Calibri" pitchFamily="34" charset="-122"/>
                <a:cs typeface="Calibri" pitchFamily="34" charset="-120"/>
              </a:rPr>
              <a:t>Amende jusqu'à 450 €</a:t>
            </a:r>
            <a:endParaRPr lang="en-US" sz="850" dirty="0"/>
          </a:p>
        </p:txBody>
      </p:sp>
      <p:sp>
        <p:nvSpPr>
          <p:cNvPr id="27" name="Shape 25"/>
          <p:cNvSpPr/>
          <p:nvPr/>
        </p:nvSpPr>
        <p:spPr>
          <a:xfrm>
            <a:off x="274320" y="4507992"/>
            <a:ext cx="8595360" cy="228600"/>
          </a:xfrm>
          <a:prstGeom prst="rect">
            <a:avLst/>
          </a:prstGeom>
          <a:solidFill>
            <a:srgbClr val="FFFFFF"/>
          </a:solidFill>
          <a:ln w="6350">
            <a:solidFill>
              <a:srgbClr val="D0DCE8"/>
            </a:solidFill>
            <a:prstDash val="solid"/>
          </a:ln>
        </p:spPr>
        <p:txBody>
          <a:bodyPr/>
          <a:lstStyle/>
          <a:p>
            <a:endParaRPr lang="fr-FR"/>
          </a:p>
        </p:txBody>
      </p:sp>
      <p:sp>
        <p:nvSpPr>
          <p:cNvPr id="28" name="Shape 26"/>
          <p:cNvSpPr/>
          <p:nvPr/>
        </p:nvSpPr>
        <p:spPr>
          <a:xfrm>
            <a:off x="274320" y="4507992"/>
            <a:ext cx="1005840" cy="228600"/>
          </a:xfrm>
          <a:prstGeom prst="rect">
            <a:avLst/>
          </a:prstGeom>
          <a:solidFill>
            <a:srgbClr val="D4530A"/>
          </a:solidFill>
          <a:ln w="12700">
            <a:solidFill>
              <a:srgbClr val="D4530A"/>
            </a:solidFill>
            <a:prstDash val="solid"/>
          </a:ln>
        </p:spPr>
        <p:txBody>
          <a:bodyPr/>
          <a:lstStyle/>
          <a:p>
            <a:endParaRPr lang="fr-FR"/>
          </a:p>
        </p:txBody>
      </p:sp>
      <p:sp>
        <p:nvSpPr>
          <p:cNvPr id="29" name="Text 27"/>
          <p:cNvSpPr/>
          <p:nvPr/>
        </p:nvSpPr>
        <p:spPr>
          <a:xfrm>
            <a:off x="274320" y="4507992"/>
            <a:ext cx="1005840"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Délit</a:t>
            </a:r>
            <a:endParaRPr lang="en-US" sz="850" dirty="0"/>
          </a:p>
        </p:txBody>
      </p:sp>
      <p:sp>
        <p:nvSpPr>
          <p:cNvPr id="30" name="Text 28"/>
          <p:cNvSpPr/>
          <p:nvPr/>
        </p:nvSpPr>
        <p:spPr>
          <a:xfrm>
            <a:off x="1353312" y="4526280"/>
            <a:ext cx="5166360" cy="182880"/>
          </a:xfrm>
          <a:prstGeom prst="rect">
            <a:avLst/>
          </a:prstGeom>
          <a:noFill/>
          <a:ln/>
        </p:spPr>
        <p:txBody>
          <a:bodyPr wrap="square" rtlCol="0" anchor="ctr"/>
          <a:lstStyle/>
          <a:p>
            <a:pPr marL="0" indent="0">
              <a:buNone/>
            </a:pPr>
            <a:r>
              <a:rPr lang="en-US" sz="850" dirty="0">
                <a:solidFill>
                  <a:srgbClr val="3A3A3A"/>
                </a:solidFill>
                <a:latin typeface="Calibri" pitchFamily="34" charset="0"/>
                <a:ea typeface="Calibri" pitchFamily="34" charset="-122"/>
                <a:cs typeface="Calibri" pitchFamily="34" charset="-120"/>
              </a:rPr>
              <a:t>Prise en charge sans réservation préalable</a:t>
            </a:r>
            <a:endParaRPr lang="en-US" sz="850" dirty="0"/>
          </a:p>
        </p:txBody>
      </p:sp>
      <p:sp>
        <p:nvSpPr>
          <p:cNvPr id="31" name="Text 29"/>
          <p:cNvSpPr/>
          <p:nvPr/>
        </p:nvSpPr>
        <p:spPr>
          <a:xfrm>
            <a:off x="6565392" y="4526280"/>
            <a:ext cx="2212848" cy="182880"/>
          </a:xfrm>
          <a:prstGeom prst="rect">
            <a:avLst/>
          </a:prstGeom>
          <a:noFill/>
          <a:ln/>
        </p:spPr>
        <p:txBody>
          <a:bodyPr wrap="square" rtlCol="0" anchor="ctr"/>
          <a:lstStyle/>
          <a:p>
            <a:pPr marL="0" indent="0" algn="r">
              <a:buNone/>
            </a:pPr>
            <a:r>
              <a:rPr lang="en-US" sz="850" b="1" dirty="0">
                <a:solidFill>
                  <a:srgbClr val="C0392B"/>
                </a:solidFill>
                <a:latin typeface="Calibri" pitchFamily="34" charset="0"/>
                <a:ea typeface="Calibri" pitchFamily="34" charset="-122"/>
                <a:cs typeface="Calibri" pitchFamily="34" charset="-120"/>
              </a:rPr>
              <a:t>1 an de prison + 15 000 €</a:t>
            </a:r>
            <a:endParaRPr lang="en-US" sz="850" dirty="0"/>
          </a:p>
        </p:txBody>
      </p:sp>
      <p:sp>
        <p:nvSpPr>
          <p:cNvPr id="32" name="Shape 30"/>
          <p:cNvSpPr/>
          <p:nvPr/>
        </p:nvSpPr>
        <p:spPr>
          <a:xfrm>
            <a:off x="274320" y="4764024"/>
            <a:ext cx="8595360" cy="228600"/>
          </a:xfrm>
          <a:prstGeom prst="rect">
            <a:avLst/>
          </a:prstGeom>
          <a:solidFill>
            <a:srgbClr val="E8F1FA"/>
          </a:solidFill>
          <a:ln w="6350">
            <a:solidFill>
              <a:srgbClr val="D0DCE8"/>
            </a:solidFill>
            <a:prstDash val="solid"/>
          </a:ln>
        </p:spPr>
        <p:txBody>
          <a:bodyPr/>
          <a:lstStyle/>
          <a:p>
            <a:endParaRPr lang="fr-FR"/>
          </a:p>
        </p:txBody>
      </p:sp>
      <p:sp>
        <p:nvSpPr>
          <p:cNvPr id="33" name="Shape 31"/>
          <p:cNvSpPr/>
          <p:nvPr/>
        </p:nvSpPr>
        <p:spPr>
          <a:xfrm>
            <a:off x="274320" y="4764024"/>
            <a:ext cx="1005840" cy="228600"/>
          </a:xfrm>
          <a:prstGeom prst="rect">
            <a:avLst/>
          </a:prstGeom>
          <a:solidFill>
            <a:srgbClr val="D4530A"/>
          </a:solidFill>
          <a:ln w="12700">
            <a:solidFill>
              <a:srgbClr val="D4530A"/>
            </a:solidFill>
            <a:prstDash val="solid"/>
          </a:ln>
        </p:spPr>
        <p:txBody>
          <a:bodyPr/>
          <a:lstStyle/>
          <a:p>
            <a:endParaRPr lang="fr-FR"/>
          </a:p>
        </p:txBody>
      </p:sp>
      <p:sp>
        <p:nvSpPr>
          <p:cNvPr id="34" name="Text 32"/>
          <p:cNvSpPr/>
          <p:nvPr/>
        </p:nvSpPr>
        <p:spPr>
          <a:xfrm>
            <a:off x="274320" y="4764024"/>
            <a:ext cx="1005840" cy="228600"/>
          </a:xfrm>
          <a:prstGeom prst="rect">
            <a:avLst/>
          </a:prstGeom>
          <a:noFill/>
          <a:ln/>
        </p:spPr>
        <p:txBody>
          <a:bodyPr wrap="square" lIns="0" tIns="0" rIns="0" bIns="0" rtlCol="0" anchor="ctr"/>
          <a:lstStyle/>
          <a:p>
            <a:pPr marL="0" indent="0" algn="ctr">
              <a:buNone/>
            </a:pPr>
            <a:r>
              <a:rPr lang="en-US" sz="850" b="1" dirty="0">
                <a:solidFill>
                  <a:srgbClr val="FFFFFF"/>
                </a:solidFill>
                <a:latin typeface="Calibri" pitchFamily="34" charset="0"/>
                <a:ea typeface="Calibri" pitchFamily="34" charset="-122"/>
                <a:cs typeface="Calibri" pitchFamily="34" charset="-120"/>
              </a:rPr>
              <a:t>Délit</a:t>
            </a:r>
            <a:endParaRPr lang="en-US" sz="850" dirty="0"/>
          </a:p>
        </p:txBody>
      </p:sp>
      <p:sp>
        <p:nvSpPr>
          <p:cNvPr id="35" name="Text 33"/>
          <p:cNvSpPr/>
          <p:nvPr/>
        </p:nvSpPr>
        <p:spPr>
          <a:xfrm>
            <a:off x="1353312" y="4782312"/>
            <a:ext cx="5166360" cy="182880"/>
          </a:xfrm>
          <a:prstGeom prst="rect">
            <a:avLst/>
          </a:prstGeom>
          <a:noFill/>
          <a:ln/>
        </p:spPr>
        <p:txBody>
          <a:bodyPr wrap="square" rtlCol="0" anchor="ctr"/>
          <a:lstStyle/>
          <a:p>
            <a:pPr marL="0" indent="0">
              <a:buNone/>
            </a:pPr>
            <a:r>
              <a:rPr lang="en-US" sz="850" dirty="0">
                <a:solidFill>
                  <a:srgbClr val="3A3A3A"/>
                </a:solidFill>
                <a:latin typeface="Calibri" pitchFamily="34" charset="0"/>
                <a:ea typeface="Calibri" pitchFamily="34" charset="-122"/>
                <a:cs typeface="Calibri" pitchFamily="34" charset="-120"/>
              </a:rPr>
              <a:t>Exercice sans carte professionnelle VMDTR valide</a:t>
            </a:r>
            <a:endParaRPr lang="en-US" sz="850" dirty="0"/>
          </a:p>
        </p:txBody>
      </p:sp>
      <p:sp>
        <p:nvSpPr>
          <p:cNvPr id="36" name="Text 34"/>
          <p:cNvSpPr/>
          <p:nvPr/>
        </p:nvSpPr>
        <p:spPr>
          <a:xfrm>
            <a:off x="6565392" y="4782312"/>
            <a:ext cx="2212848" cy="182880"/>
          </a:xfrm>
          <a:prstGeom prst="rect">
            <a:avLst/>
          </a:prstGeom>
          <a:noFill/>
          <a:ln/>
        </p:spPr>
        <p:txBody>
          <a:bodyPr wrap="square" rtlCol="0" anchor="ctr"/>
          <a:lstStyle/>
          <a:p>
            <a:pPr marL="0" indent="0" algn="r">
              <a:buNone/>
            </a:pPr>
            <a:r>
              <a:rPr lang="en-US" sz="850" b="1" dirty="0">
                <a:solidFill>
                  <a:srgbClr val="C0392B"/>
                </a:solidFill>
                <a:latin typeface="Calibri" pitchFamily="34" charset="0"/>
                <a:ea typeface="Calibri" pitchFamily="34" charset="-122"/>
                <a:cs typeface="Calibri" pitchFamily="34" charset="-120"/>
              </a:rPr>
              <a:t>Classe 5 + jusqu'à 1 500 €</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Conditions d'accès à la profession VMDTR</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Permis, carte professionnelle, visite médicale, casier judiciaire</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34/88</a:t>
            </a:r>
            <a:endParaRPr lang="en-US" sz="800" dirty="0"/>
          </a:p>
        </p:txBody>
      </p:sp>
      <p:sp>
        <p:nvSpPr>
          <p:cNvPr id="9" name="Shape 7"/>
          <p:cNvSpPr/>
          <p:nvPr/>
        </p:nvSpPr>
        <p:spPr>
          <a:xfrm>
            <a:off x="274320" y="960120"/>
            <a:ext cx="8595360" cy="347472"/>
          </a:xfrm>
          <a:prstGeom prst="rect">
            <a:avLst/>
          </a:prstGeom>
          <a:solidFill>
            <a:srgbClr val="6B7A8D"/>
          </a:solidFill>
          <a:ln w="12700">
            <a:solidFill>
              <a:srgbClr val="6B7A8D"/>
            </a:solidFill>
            <a:prstDash val="solid"/>
          </a:ln>
        </p:spPr>
        <p:txBody>
          <a:bodyPr/>
          <a:lstStyle/>
          <a:p>
            <a:endParaRPr lang="fr-FR"/>
          </a:p>
        </p:txBody>
      </p:sp>
      <p:sp>
        <p:nvSpPr>
          <p:cNvPr id="10" name="Text 8"/>
          <p:cNvSpPr/>
          <p:nvPr/>
        </p:nvSpPr>
        <p:spPr>
          <a:xfrm>
            <a:off x="274320" y="960120"/>
            <a:ext cx="859536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CONDITIONS D'ACCÈS À LA CARTE PROFESSIONNELLE VMDTR</a:t>
            </a:r>
            <a:endParaRPr lang="en-US" sz="1200" dirty="0"/>
          </a:p>
        </p:txBody>
      </p:sp>
      <p:sp>
        <p:nvSpPr>
          <p:cNvPr id="11" name="Shape 9"/>
          <p:cNvSpPr/>
          <p:nvPr/>
        </p:nvSpPr>
        <p:spPr>
          <a:xfrm>
            <a:off x="274320" y="1389888"/>
            <a:ext cx="4160520" cy="1737360"/>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389888"/>
            <a:ext cx="4160520" cy="320040"/>
          </a:xfrm>
          <a:prstGeom prst="rect">
            <a:avLst/>
          </a:prstGeom>
          <a:solidFill>
            <a:srgbClr val="6B7A8D"/>
          </a:solidFill>
          <a:ln w="12700">
            <a:solidFill>
              <a:srgbClr val="6B7A8D"/>
            </a:solidFill>
            <a:prstDash val="solid"/>
          </a:ln>
        </p:spPr>
        <p:txBody>
          <a:bodyPr/>
          <a:lstStyle/>
          <a:p>
            <a:endParaRPr lang="fr-FR"/>
          </a:p>
        </p:txBody>
      </p:sp>
      <p:sp>
        <p:nvSpPr>
          <p:cNvPr id="13" name="Text 11"/>
          <p:cNvSpPr/>
          <p:nvPr/>
        </p:nvSpPr>
        <p:spPr>
          <a:xfrm>
            <a:off x="347472" y="1389888"/>
            <a:ext cx="4005072" cy="32004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 PERMIS DE CONDUIRE CATÉGORIE A</a:t>
            </a:r>
            <a:endParaRPr lang="en-US" sz="950" dirty="0"/>
          </a:p>
        </p:txBody>
      </p:sp>
      <p:sp>
        <p:nvSpPr>
          <p:cNvPr id="14" name="Text 12"/>
          <p:cNvSpPr/>
          <p:nvPr/>
        </p:nvSpPr>
        <p:spPr>
          <a:xfrm>
            <a:off x="365760" y="1737360"/>
            <a:ext cx="3977640" cy="10789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Permis de conduire de catégorie A depuis AU MOINS 3 ANS.</a:t>
            </a:r>
            <a:endParaRPr lang="en-US" sz="880" dirty="0"/>
          </a:p>
          <a:p>
            <a:pPr marL="0" indent="0">
              <a:buNone/>
            </a:pP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Le permis doit être hors période probatoire.</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Permis A1 ou A2 insuffisant — seul le permis A (sans restriction) est accepté.</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Si permis obtenu en conduite accompagnée : délai réduit possible.</a:t>
            </a:r>
            <a:endParaRPr lang="en-US" sz="880" dirty="0"/>
          </a:p>
        </p:txBody>
      </p:sp>
      <p:sp>
        <p:nvSpPr>
          <p:cNvPr id="15" name="Shape 13"/>
          <p:cNvSpPr/>
          <p:nvPr/>
        </p:nvSpPr>
        <p:spPr>
          <a:xfrm>
            <a:off x="274320" y="2834640"/>
            <a:ext cx="4160520" cy="292608"/>
          </a:xfrm>
          <a:prstGeom prst="rect">
            <a:avLst/>
          </a:prstGeom>
          <a:solidFill>
            <a:srgbClr val="E8F0F8"/>
          </a:solidFill>
          <a:ln w="6350">
            <a:solidFill>
              <a:srgbClr val="D0DCE8"/>
            </a:solidFill>
            <a:prstDash val="solid"/>
          </a:ln>
        </p:spPr>
        <p:txBody>
          <a:bodyPr/>
          <a:lstStyle/>
          <a:p>
            <a:endParaRPr lang="fr-FR"/>
          </a:p>
        </p:txBody>
      </p:sp>
      <p:sp>
        <p:nvSpPr>
          <p:cNvPr id="16" name="Text 14"/>
          <p:cNvSpPr/>
          <p:nvPr/>
        </p:nvSpPr>
        <p:spPr>
          <a:xfrm>
            <a:off x="365760" y="2852928"/>
            <a:ext cx="3977640" cy="256032"/>
          </a:xfrm>
          <a:prstGeom prst="rect">
            <a:avLst/>
          </a:prstGeom>
          <a:noFill/>
          <a:ln/>
        </p:spPr>
        <p:txBody>
          <a:bodyPr wrap="square" rtlCol="0" anchor="ctr"/>
          <a:lstStyle/>
          <a:p>
            <a:pPr marL="0" indent="0">
              <a:buNone/>
            </a:pPr>
            <a:r>
              <a:rPr lang="en-US" sz="800" i="1" dirty="0">
                <a:solidFill>
                  <a:srgbClr val="1A3A5C"/>
                </a:solidFill>
                <a:latin typeface="Calibri" pitchFamily="34" charset="0"/>
                <a:ea typeface="Calibri" pitchFamily="34" charset="-122"/>
                <a:cs typeface="Calibri" pitchFamily="34" charset="-120"/>
              </a:rPr>
              <a:t>💡 Attention : contrairement au VTC/Taxi (permis B), le VMDTR exige le permis A moto — 3 ans minimum</a:t>
            </a:r>
            <a:endParaRPr lang="en-US" sz="800" dirty="0"/>
          </a:p>
        </p:txBody>
      </p:sp>
      <p:sp>
        <p:nvSpPr>
          <p:cNvPr id="17" name="Shape 15"/>
          <p:cNvSpPr/>
          <p:nvPr/>
        </p:nvSpPr>
        <p:spPr>
          <a:xfrm>
            <a:off x="4709160" y="1389888"/>
            <a:ext cx="4160520" cy="1737360"/>
          </a:xfrm>
          <a:prstGeom prst="rect">
            <a:avLst/>
          </a:prstGeom>
          <a:solidFill>
            <a:srgbClr val="E8F1FA"/>
          </a:solidFill>
          <a:ln w="6350">
            <a:solidFill>
              <a:srgbClr val="D0DCE8"/>
            </a:solidFill>
            <a:prstDash val="solid"/>
          </a:ln>
        </p:spPr>
        <p:txBody>
          <a:bodyPr/>
          <a:lstStyle/>
          <a:p>
            <a:endParaRPr lang="fr-FR"/>
          </a:p>
        </p:txBody>
      </p:sp>
      <p:sp>
        <p:nvSpPr>
          <p:cNvPr id="18" name="Shape 16"/>
          <p:cNvSpPr/>
          <p:nvPr/>
        </p:nvSpPr>
        <p:spPr>
          <a:xfrm>
            <a:off x="4709160" y="1389888"/>
            <a:ext cx="4160520" cy="320040"/>
          </a:xfrm>
          <a:prstGeom prst="rect">
            <a:avLst/>
          </a:prstGeom>
          <a:solidFill>
            <a:srgbClr val="1A3A5C"/>
          </a:solidFill>
          <a:ln w="12700">
            <a:solidFill>
              <a:srgbClr val="1A3A5C"/>
            </a:solidFill>
            <a:prstDash val="solid"/>
          </a:ln>
        </p:spPr>
        <p:txBody>
          <a:bodyPr/>
          <a:lstStyle/>
          <a:p>
            <a:endParaRPr lang="fr-FR"/>
          </a:p>
        </p:txBody>
      </p:sp>
      <p:sp>
        <p:nvSpPr>
          <p:cNvPr id="19" name="Text 17"/>
          <p:cNvSpPr/>
          <p:nvPr/>
        </p:nvSpPr>
        <p:spPr>
          <a:xfrm>
            <a:off x="4782312" y="1389888"/>
            <a:ext cx="4005072" cy="32004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 CARTE PROFESSIONNELLE VMDTR</a:t>
            </a:r>
            <a:endParaRPr lang="en-US" sz="950" dirty="0"/>
          </a:p>
        </p:txBody>
      </p:sp>
      <p:sp>
        <p:nvSpPr>
          <p:cNvPr id="20" name="Text 18"/>
          <p:cNvSpPr/>
          <p:nvPr/>
        </p:nvSpPr>
        <p:spPr>
          <a:xfrm>
            <a:off x="4800600" y="1737360"/>
            <a:ext cx="3977640" cy="10789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Réussir l'examen T3P (tronc commun) OU justifier d'une expérience professionnelle dans le transport de personnes d'au moins 12 mois au cours des 10 années précédant la demande.</a:t>
            </a:r>
            <a:endParaRPr lang="en-US" sz="880" dirty="0"/>
          </a:p>
          <a:p>
            <a:pPr marL="0" indent="0">
              <a:buNone/>
            </a:pP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La carte est délivrée par la préfecture dans un délai maximum de 3 mois.</a:t>
            </a:r>
            <a:endParaRPr lang="en-US" sz="880" dirty="0"/>
          </a:p>
        </p:txBody>
      </p:sp>
      <p:sp>
        <p:nvSpPr>
          <p:cNvPr id="21" name="Shape 19"/>
          <p:cNvSpPr/>
          <p:nvPr/>
        </p:nvSpPr>
        <p:spPr>
          <a:xfrm>
            <a:off x="4709160" y="2834640"/>
            <a:ext cx="4160520" cy="292608"/>
          </a:xfrm>
          <a:prstGeom prst="rect">
            <a:avLst/>
          </a:prstGeom>
          <a:solidFill>
            <a:srgbClr val="E8F0F8"/>
          </a:solidFill>
          <a:ln w="6350">
            <a:solidFill>
              <a:srgbClr val="D0DCE8"/>
            </a:solidFill>
            <a:prstDash val="solid"/>
          </a:ln>
        </p:spPr>
        <p:txBody>
          <a:bodyPr/>
          <a:lstStyle/>
          <a:p>
            <a:endParaRPr lang="fr-FR"/>
          </a:p>
        </p:txBody>
      </p:sp>
      <p:sp>
        <p:nvSpPr>
          <p:cNvPr id="22" name="Text 20"/>
          <p:cNvSpPr/>
          <p:nvPr/>
        </p:nvSpPr>
        <p:spPr>
          <a:xfrm>
            <a:off x="4800600" y="2852928"/>
            <a:ext cx="3977640" cy="256032"/>
          </a:xfrm>
          <a:prstGeom prst="rect">
            <a:avLst/>
          </a:prstGeom>
          <a:noFill/>
          <a:ln/>
        </p:spPr>
        <p:txBody>
          <a:bodyPr wrap="square" rtlCol="0" anchor="ctr"/>
          <a:lstStyle/>
          <a:p>
            <a:pPr marL="0" indent="0">
              <a:buNone/>
            </a:pPr>
            <a:r>
              <a:rPr lang="en-US" sz="800" i="1" dirty="0">
                <a:solidFill>
                  <a:srgbClr val="1A3A5C"/>
                </a:solidFill>
                <a:latin typeface="Calibri" pitchFamily="34" charset="0"/>
                <a:ea typeface="Calibri" pitchFamily="34" charset="-122"/>
                <a:cs typeface="Calibri" pitchFamily="34" charset="-120"/>
              </a:rPr>
              <a:t>💡 Carte apposée sur le véhicule — photographie visible de l'extérieur obligatoire</a:t>
            </a:r>
            <a:endParaRPr lang="en-US" sz="800" dirty="0"/>
          </a:p>
        </p:txBody>
      </p:sp>
      <p:sp>
        <p:nvSpPr>
          <p:cNvPr id="23" name="Shape 21"/>
          <p:cNvSpPr/>
          <p:nvPr/>
        </p:nvSpPr>
        <p:spPr>
          <a:xfrm>
            <a:off x="274320" y="3218688"/>
            <a:ext cx="4160520" cy="1737360"/>
          </a:xfrm>
          <a:prstGeom prst="rect">
            <a:avLst/>
          </a:prstGeom>
          <a:solidFill>
            <a:srgbClr val="E8F1FA"/>
          </a:solidFill>
          <a:ln w="6350">
            <a:solidFill>
              <a:srgbClr val="D0DCE8"/>
            </a:solidFill>
            <a:prstDash val="solid"/>
          </a:ln>
        </p:spPr>
        <p:txBody>
          <a:bodyPr/>
          <a:lstStyle/>
          <a:p>
            <a:endParaRPr lang="fr-FR"/>
          </a:p>
        </p:txBody>
      </p:sp>
      <p:sp>
        <p:nvSpPr>
          <p:cNvPr id="24" name="Shape 22"/>
          <p:cNvSpPr/>
          <p:nvPr/>
        </p:nvSpPr>
        <p:spPr>
          <a:xfrm>
            <a:off x="274320" y="3218688"/>
            <a:ext cx="4160520" cy="320040"/>
          </a:xfrm>
          <a:prstGeom prst="rect">
            <a:avLst/>
          </a:prstGeom>
          <a:solidFill>
            <a:srgbClr val="2860A8"/>
          </a:solidFill>
          <a:ln w="12700">
            <a:solidFill>
              <a:srgbClr val="2860A8"/>
            </a:solidFill>
            <a:prstDash val="solid"/>
          </a:ln>
        </p:spPr>
        <p:txBody>
          <a:bodyPr/>
          <a:lstStyle/>
          <a:p>
            <a:endParaRPr lang="fr-FR"/>
          </a:p>
        </p:txBody>
      </p:sp>
      <p:sp>
        <p:nvSpPr>
          <p:cNvPr id="25" name="Text 23"/>
          <p:cNvSpPr/>
          <p:nvPr/>
        </p:nvSpPr>
        <p:spPr>
          <a:xfrm>
            <a:off x="347472" y="3218688"/>
            <a:ext cx="4005072" cy="32004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 VISITE MÉDICALE</a:t>
            </a:r>
            <a:endParaRPr lang="en-US" sz="950" dirty="0"/>
          </a:p>
        </p:txBody>
      </p:sp>
      <p:sp>
        <p:nvSpPr>
          <p:cNvPr id="26" name="Text 24"/>
          <p:cNvSpPr/>
          <p:nvPr/>
        </p:nvSpPr>
        <p:spPr>
          <a:xfrm>
            <a:off x="365760" y="3566160"/>
            <a:ext cx="3977640" cy="10789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Visite médicale obligatoire auprès d'un médecin agréé par la préfecture.</a:t>
            </a:r>
            <a:endParaRPr lang="en-US" sz="880" dirty="0"/>
          </a:p>
          <a:p>
            <a:pPr marL="0" indent="0">
              <a:buNone/>
            </a:pP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Fréquence identique aux autres T3P :</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 20 à 60 ans : tous les 5 ans</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 60 à 76 ans : tous les 2 ans</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 76 ans et + : tous les ans</a:t>
            </a:r>
            <a:endParaRPr lang="en-US" sz="880" dirty="0"/>
          </a:p>
        </p:txBody>
      </p:sp>
      <p:sp>
        <p:nvSpPr>
          <p:cNvPr id="27" name="Shape 25"/>
          <p:cNvSpPr/>
          <p:nvPr/>
        </p:nvSpPr>
        <p:spPr>
          <a:xfrm>
            <a:off x="274320" y="4663440"/>
            <a:ext cx="4160520" cy="292608"/>
          </a:xfrm>
          <a:prstGeom prst="rect">
            <a:avLst/>
          </a:prstGeom>
          <a:solidFill>
            <a:srgbClr val="E8F0F8"/>
          </a:solidFill>
          <a:ln w="6350">
            <a:solidFill>
              <a:srgbClr val="D0DCE8"/>
            </a:solidFill>
            <a:prstDash val="solid"/>
          </a:ln>
        </p:spPr>
        <p:txBody>
          <a:bodyPr/>
          <a:lstStyle/>
          <a:p>
            <a:endParaRPr lang="fr-FR"/>
          </a:p>
        </p:txBody>
      </p:sp>
      <p:sp>
        <p:nvSpPr>
          <p:cNvPr id="28" name="Text 26"/>
          <p:cNvSpPr/>
          <p:nvPr/>
        </p:nvSpPr>
        <p:spPr>
          <a:xfrm>
            <a:off x="365760" y="4681728"/>
            <a:ext cx="3977640" cy="256032"/>
          </a:xfrm>
          <a:prstGeom prst="rect">
            <a:avLst/>
          </a:prstGeom>
          <a:noFill/>
          <a:ln/>
        </p:spPr>
        <p:txBody>
          <a:bodyPr wrap="square" rtlCol="0" anchor="ctr"/>
          <a:lstStyle/>
          <a:p>
            <a:pPr marL="0" indent="0">
              <a:buNone/>
            </a:pPr>
            <a:r>
              <a:rPr lang="en-US" sz="800" i="1" dirty="0">
                <a:solidFill>
                  <a:srgbClr val="1A3A5C"/>
                </a:solidFill>
                <a:latin typeface="Calibri" pitchFamily="34" charset="0"/>
                <a:ea typeface="Calibri" pitchFamily="34" charset="-122"/>
                <a:cs typeface="Calibri" pitchFamily="34" charset="-120"/>
              </a:rPr>
              <a:t>💡 Sans attestation médicale valide → Classe 4 d'amende et impossibilité de travailler</a:t>
            </a:r>
            <a:endParaRPr lang="en-US" sz="800" dirty="0"/>
          </a:p>
        </p:txBody>
      </p:sp>
      <p:sp>
        <p:nvSpPr>
          <p:cNvPr id="29" name="Shape 27"/>
          <p:cNvSpPr/>
          <p:nvPr/>
        </p:nvSpPr>
        <p:spPr>
          <a:xfrm>
            <a:off x="4709160" y="3218688"/>
            <a:ext cx="4160520" cy="1737360"/>
          </a:xfrm>
          <a:prstGeom prst="rect">
            <a:avLst/>
          </a:prstGeom>
          <a:solidFill>
            <a:srgbClr val="E8F1FA"/>
          </a:solidFill>
          <a:ln w="6350">
            <a:solidFill>
              <a:srgbClr val="D0DCE8"/>
            </a:solidFill>
            <a:prstDash val="solid"/>
          </a:ln>
        </p:spPr>
        <p:txBody>
          <a:bodyPr/>
          <a:lstStyle/>
          <a:p>
            <a:endParaRPr lang="fr-FR"/>
          </a:p>
        </p:txBody>
      </p:sp>
      <p:sp>
        <p:nvSpPr>
          <p:cNvPr id="30" name="Shape 28"/>
          <p:cNvSpPr/>
          <p:nvPr/>
        </p:nvSpPr>
        <p:spPr>
          <a:xfrm>
            <a:off x="4709160" y="3218688"/>
            <a:ext cx="4160520" cy="320040"/>
          </a:xfrm>
          <a:prstGeom prst="rect">
            <a:avLst/>
          </a:prstGeom>
          <a:solidFill>
            <a:srgbClr val="F4A227"/>
          </a:solidFill>
          <a:ln w="12700">
            <a:solidFill>
              <a:srgbClr val="F4A227"/>
            </a:solidFill>
            <a:prstDash val="solid"/>
          </a:ln>
        </p:spPr>
        <p:txBody>
          <a:bodyPr/>
          <a:lstStyle/>
          <a:p>
            <a:endParaRPr lang="fr-FR"/>
          </a:p>
        </p:txBody>
      </p:sp>
      <p:sp>
        <p:nvSpPr>
          <p:cNvPr id="31" name="Text 29"/>
          <p:cNvSpPr/>
          <p:nvPr/>
        </p:nvSpPr>
        <p:spPr>
          <a:xfrm>
            <a:off x="4782312" y="3218688"/>
            <a:ext cx="4005072" cy="320040"/>
          </a:xfrm>
          <a:prstGeom prst="rect">
            <a:avLst/>
          </a:prstGeom>
          <a:noFill/>
          <a:ln/>
        </p:spPr>
        <p:txBody>
          <a:bodyPr wrap="square" lIns="0" tIns="0" rIns="0" bIns="0" rtlCol="0" anchor="ctr"/>
          <a:lstStyle/>
          <a:p>
            <a:pPr marL="0" indent="0">
              <a:buNone/>
            </a:pPr>
            <a:r>
              <a:rPr lang="en-US" sz="950" b="1" dirty="0">
                <a:solidFill>
                  <a:srgbClr val="FFFFFF"/>
                </a:solidFill>
                <a:latin typeface="Calibri" pitchFamily="34" charset="0"/>
                <a:ea typeface="Calibri" pitchFamily="34" charset="-122"/>
                <a:cs typeface="Calibri" pitchFamily="34" charset="-120"/>
              </a:rPr>
              <a:t>📄 CASIER JUDICIAIRE B2 VIERGE</a:t>
            </a:r>
            <a:endParaRPr lang="en-US" sz="950" dirty="0"/>
          </a:p>
        </p:txBody>
      </p:sp>
      <p:sp>
        <p:nvSpPr>
          <p:cNvPr id="32" name="Text 30"/>
          <p:cNvSpPr/>
          <p:nvPr/>
        </p:nvSpPr>
        <p:spPr>
          <a:xfrm>
            <a:off x="4800600" y="3566160"/>
            <a:ext cx="3977640" cy="10789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Le bulletin n°2 du casier judiciaire ne doit pas mentionner certaines condamnations incompatibles avec l'exercice du T3P (voir fiche spécifique mentions B2).</a:t>
            </a:r>
            <a:endParaRPr lang="en-US" sz="880" dirty="0"/>
          </a:p>
          <a:p>
            <a:pPr marL="0" indent="0">
              <a:buNone/>
            </a:pP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Casier vérifié à chaque renouvellement de la carte professionnelle.</a:t>
            </a:r>
            <a:endParaRPr lang="en-US" sz="880" dirty="0"/>
          </a:p>
        </p:txBody>
      </p:sp>
      <p:sp>
        <p:nvSpPr>
          <p:cNvPr id="33" name="Shape 31"/>
          <p:cNvSpPr/>
          <p:nvPr/>
        </p:nvSpPr>
        <p:spPr>
          <a:xfrm>
            <a:off x="4709160" y="4663440"/>
            <a:ext cx="4160520" cy="292608"/>
          </a:xfrm>
          <a:prstGeom prst="rect">
            <a:avLst/>
          </a:prstGeom>
          <a:solidFill>
            <a:srgbClr val="E8F0F8"/>
          </a:solidFill>
          <a:ln w="6350">
            <a:solidFill>
              <a:srgbClr val="D0DCE8"/>
            </a:solidFill>
            <a:prstDash val="solid"/>
          </a:ln>
        </p:spPr>
        <p:txBody>
          <a:bodyPr/>
          <a:lstStyle/>
          <a:p>
            <a:endParaRPr lang="fr-FR"/>
          </a:p>
        </p:txBody>
      </p:sp>
      <p:sp>
        <p:nvSpPr>
          <p:cNvPr id="34" name="Text 32"/>
          <p:cNvSpPr/>
          <p:nvPr/>
        </p:nvSpPr>
        <p:spPr>
          <a:xfrm>
            <a:off x="4800600" y="4681728"/>
            <a:ext cx="3977640" cy="256032"/>
          </a:xfrm>
          <a:prstGeom prst="rect">
            <a:avLst/>
          </a:prstGeom>
          <a:noFill/>
          <a:ln/>
        </p:spPr>
        <p:txBody>
          <a:bodyPr wrap="square" rtlCol="0" anchor="ctr"/>
          <a:lstStyle/>
          <a:p>
            <a:pPr marL="0" indent="0">
              <a:buNone/>
            </a:pPr>
            <a:r>
              <a:rPr lang="en-US" sz="800" i="1" dirty="0">
                <a:solidFill>
                  <a:srgbClr val="1A3A5C"/>
                </a:solidFill>
                <a:latin typeface="Calibri" pitchFamily="34" charset="0"/>
                <a:ea typeface="Calibri" pitchFamily="34" charset="-122"/>
                <a:cs typeface="Calibri" pitchFamily="34" charset="-120"/>
              </a:rPr>
              <a:t>💡 Condamnations définitives uniquement (après délai de 10 jours)</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Conditions du véhicule VMDTR</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Critères obligatoires — Moteur, âge, équipements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35/88</a:t>
            </a:r>
            <a:endParaRPr lang="en-US" sz="800" dirty="0"/>
          </a:p>
        </p:txBody>
      </p:sp>
      <p:sp>
        <p:nvSpPr>
          <p:cNvPr id="9" name="Shape 7"/>
          <p:cNvSpPr/>
          <p:nvPr/>
        </p:nvSpPr>
        <p:spPr>
          <a:xfrm>
            <a:off x="274320" y="960120"/>
            <a:ext cx="8595360" cy="347472"/>
          </a:xfrm>
          <a:prstGeom prst="rect">
            <a:avLst/>
          </a:prstGeom>
          <a:solidFill>
            <a:srgbClr val="6B7A8D"/>
          </a:solidFill>
          <a:ln w="12700">
            <a:solidFill>
              <a:srgbClr val="6B7A8D"/>
            </a:solidFill>
            <a:prstDash val="solid"/>
          </a:ln>
        </p:spPr>
        <p:txBody>
          <a:bodyPr/>
          <a:lstStyle/>
          <a:p>
            <a:endParaRPr lang="fr-FR"/>
          </a:p>
        </p:txBody>
      </p:sp>
      <p:sp>
        <p:nvSpPr>
          <p:cNvPr id="10" name="Text 8"/>
          <p:cNvSpPr/>
          <p:nvPr/>
        </p:nvSpPr>
        <p:spPr>
          <a:xfrm>
            <a:off x="274320" y="960120"/>
            <a:ext cx="859536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LE VÉHICULE MOTORISÉ À DEUX OU TROIS ROUES — Critères réglementaires</a:t>
            </a:r>
            <a:endParaRPr lang="en-US" sz="1200" dirty="0"/>
          </a:p>
        </p:txBody>
      </p:sp>
      <p:sp>
        <p:nvSpPr>
          <p:cNvPr id="11" name="Shape 9"/>
          <p:cNvSpPr/>
          <p:nvPr/>
        </p:nvSpPr>
        <p:spPr>
          <a:xfrm>
            <a:off x="274320" y="1389888"/>
            <a:ext cx="4160520" cy="1737360"/>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389888"/>
            <a:ext cx="4160520" cy="320040"/>
          </a:xfrm>
          <a:prstGeom prst="rect">
            <a:avLst/>
          </a:prstGeom>
          <a:solidFill>
            <a:srgbClr val="6B7A8D"/>
          </a:solidFill>
          <a:ln w="12700">
            <a:solidFill>
              <a:srgbClr val="6B7A8D"/>
            </a:solidFill>
            <a:prstDash val="solid"/>
          </a:ln>
        </p:spPr>
        <p:txBody>
          <a:bodyPr/>
          <a:lstStyle/>
          <a:p>
            <a:endParaRPr lang="fr-FR"/>
          </a:p>
        </p:txBody>
      </p:sp>
      <p:sp>
        <p:nvSpPr>
          <p:cNvPr id="13" name="Text 11"/>
          <p:cNvSpPr/>
          <p:nvPr/>
        </p:nvSpPr>
        <p:spPr>
          <a:xfrm>
            <a:off x="347472" y="1389888"/>
            <a:ext cx="4005072"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ÂGE MAXIMUM</a:t>
            </a:r>
            <a:endParaRPr lang="en-US" sz="1000" dirty="0"/>
          </a:p>
        </p:txBody>
      </p:sp>
      <p:sp>
        <p:nvSpPr>
          <p:cNvPr id="14" name="Shape 12"/>
          <p:cNvSpPr/>
          <p:nvPr/>
        </p:nvSpPr>
        <p:spPr>
          <a:xfrm>
            <a:off x="1645920" y="1773936"/>
            <a:ext cx="1417320" cy="685800"/>
          </a:xfrm>
          <a:prstGeom prst="rect">
            <a:avLst/>
          </a:prstGeom>
          <a:solidFill>
            <a:srgbClr val="6B7A8D"/>
          </a:solidFill>
          <a:ln w="12700">
            <a:solidFill>
              <a:srgbClr val="6B7A8D"/>
            </a:solidFill>
            <a:prstDash val="solid"/>
          </a:ln>
        </p:spPr>
        <p:txBody>
          <a:bodyPr/>
          <a:lstStyle/>
          <a:p>
            <a:endParaRPr lang="fr-FR"/>
          </a:p>
        </p:txBody>
      </p:sp>
      <p:sp>
        <p:nvSpPr>
          <p:cNvPr id="15" name="Text 13"/>
          <p:cNvSpPr/>
          <p:nvPr/>
        </p:nvSpPr>
        <p:spPr>
          <a:xfrm>
            <a:off x="1645920" y="1773936"/>
            <a:ext cx="141732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&lt; 5 ANS</a:t>
            </a:r>
            <a:endParaRPr lang="en-US" sz="2800" dirty="0"/>
          </a:p>
        </p:txBody>
      </p:sp>
      <p:sp>
        <p:nvSpPr>
          <p:cNvPr id="16" name="Text 14"/>
          <p:cNvSpPr/>
          <p:nvPr/>
        </p:nvSpPr>
        <p:spPr>
          <a:xfrm>
            <a:off x="365760" y="2505456"/>
            <a:ext cx="3977640" cy="594360"/>
          </a:xfrm>
          <a:prstGeom prst="rect">
            <a:avLst/>
          </a:prstGeom>
          <a:noFill/>
          <a:ln/>
        </p:spPr>
        <p:txBody>
          <a:bodyPr wrap="square" rtlCol="0" anchor="t"/>
          <a:lstStyle/>
          <a:p>
            <a:pPr marL="0" indent="0">
              <a:buNone/>
            </a:pPr>
            <a:r>
              <a:rPr lang="en-US" sz="900" dirty="0">
                <a:solidFill>
                  <a:srgbClr val="3A3A3A"/>
                </a:solidFill>
                <a:latin typeface="Calibri" pitchFamily="34" charset="0"/>
                <a:ea typeface="Calibri" pitchFamily="34" charset="-122"/>
                <a:cs typeface="Calibri" pitchFamily="34" charset="-120"/>
              </a:rPr>
              <a:t>Le véhicule VMDTR doit avoir moins de 5 ans au moment de l'utilisation professionnelle. (Contrairement au VTC : &lt; 7 ans, Taxi : &lt; 10 ans)</a:t>
            </a:r>
            <a:endParaRPr lang="en-US" sz="900" dirty="0"/>
          </a:p>
        </p:txBody>
      </p:sp>
      <p:sp>
        <p:nvSpPr>
          <p:cNvPr id="17" name="Shape 15"/>
          <p:cNvSpPr/>
          <p:nvPr/>
        </p:nvSpPr>
        <p:spPr>
          <a:xfrm>
            <a:off x="4709160" y="1389888"/>
            <a:ext cx="4160520" cy="1737360"/>
          </a:xfrm>
          <a:prstGeom prst="rect">
            <a:avLst/>
          </a:prstGeom>
          <a:solidFill>
            <a:srgbClr val="E8F1FA"/>
          </a:solidFill>
          <a:ln w="6350">
            <a:solidFill>
              <a:srgbClr val="D0DCE8"/>
            </a:solidFill>
            <a:prstDash val="solid"/>
          </a:ln>
        </p:spPr>
        <p:txBody>
          <a:bodyPr/>
          <a:lstStyle/>
          <a:p>
            <a:endParaRPr lang="fr-FR"/>
          </a:p>
        </p:txBody>
      </p:sp>
      <p:sp>
        <p:nvSpPr>
          <p:cNvPr id="18" name="Shape 16"/>
          <p:cNvSpPr/>
          <p:nvPr/>
        </p:nvSpPr>
        <p:spPr>
          <a:xfrm>
            <a:off x="4709160" y="1389888"/>
            <a:ext cx="4160520" cy="320040"/>
          </a:xfrm>
          <a:prstGeom prst="rect">
            <a:avLst/>
          </a:prstGeom>
          <a:solidFill>
            <a:srgbClr val="1A3A5C"/>
          </a:solidFill>
          <a:ln w="12700">
            <a:solidFill>
              <a:srgbClr val="1A3A5C"/>
            </a:solidFill>
            <a:prstDash val="solid"/>
          </a:ln>
        </p:spPr>
        <p:txBody>
          <a:bodyPr/>
          <a:lstStyle/>
          <a:p>
            <a:endParaRPr lang="fr-FR"/>
          </a:p>
        </p:txBody>
      </p:sp>
      <p:sp>
        <p:nvSpPr>
          <p:cNvPr id="19" name="Text 17"/>
          <p:cNvSpPr/>
          <p:nvPr/>
        </p:nvSpPr>
        <p:spPr>
          <a:xfrm>
            <a:off x="4782312" y="1389888"/>
            <a:ext cx="4005072"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PUISSANCE NETTE MOTEUR</a:t>
            </a:r>
            <a:endParaRPr lang="en-US" sz="1000" dirty="0"/>
          </a:p>
        </p:txBody>
      </p:sp>
      <p:sp>
        <p:nvSpPr>
          <p:cNvPr id="20" name="Shape 18"/>
          <p:cNvSpPr/>
          <p:nvPr/>
        </p:nvSpPr>
        <p:spPr>
          <a:xfrm>
            <a:off x="6080760" y="1773936"/>
            <a:ext cx="1417320" cy="685800"/>
          </a:xfrm>
          <a:prstGeom prst="rect">
            <a:avLst/>
          </a:prstGeom>
          <a:solidFill>
            <a:srgbClr val="1A3A5C"/>
          </a:solidFill>
          <a:ln w="12700">
            <a:solidFill>
              <a:srgbClr val="1A3A5C"/>
            </a:solidFill>
            <a:prstDash val="solid"/>
          </a:ln>
        </p:spPr>
        <p:txBody>
          <a:bodyPr/>
          <a:lstStyle/>
          <a:p>
            <a:endParaRPr lang="fr-FR"/>
          </a:p>
        </p:txBody>
      </p:sp>
      <p:sp>
        <p:nvSpPr>
          <p:cNvPr id="21" name="Text 19"/>
          <p:cNvSpPr/>
          <p:nvPr/>
        </p:nvSpPr>
        <p:spPr>
          <a:xfrm>
            <a:off x="6080760" y="1773936"/>
            <a:ext cx="141732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 40 kW</a:t>
            </a:r>
            <a:endParaRPr lang="en-US" sz="2800" dirty="0"/>
          </a:p>
        </p:txBody>
      </p:sp>
      <p:sp>
        <p:nvSpPr>
          <p:cNvPr id="22" name="Text 20"/>
          <p:cNvSpPr/>
          <p:nvPr/>
        </p:nvSpPr>
        <p:spPr>
          <a:xfrm>
            <a:off x="4800600" y="2505456"/>
            <a:ext cx="3977640" cy="594360"/>
          </a:xfrm>
          <a:prstGeom prst="rect">
            <a:avLst/>
          </a:prstGeom>
          <a:noFill/>
          <a:ln/>
        </p:spPr>
        <p:txBody>
          <a:bodyPr wrap="square" rtlCol="0" anchor="t"/>
          <a:lstStyle/>
          <a:p>
            <a:pPr marL="0" indent="0">
              <a:buNone/>
            </a:pPr>
            <a:r>
              <a:rPr lang="en-US" sz="900" dirty="0">
                <a:solidFill>
                  <a:srgbClr val="3A3A3A"/>
                </a:solidFill>
                <a:latin typeface="Calibri" pitchFamily="34" charset="0"/>
                <a:ea typeface="Calibri" pitchFamily="34" charset="-122"/>
                <a:cs typeface="Calibri" pitchFamily="34" charset="-120"/>
              </a:rPr>
              <a:t>Le moteur doit avoir une puissance nette supérieure ou égale à 40 kW. Un moteur insuffisant = infraction de 3ème classe.</a:t>
            </a:r>
            <a:endParaRPr lang="en-US" sz="900" dirty="0"/>
          </a:p>
        </p:txBody>
      </p:sp>
      <p:sp>
        <p:nvSpPr>
          <p:cNvPr id="23" name="Shape 21"/>
          <p:cNvSpPr/>
          <p:nvPr/>
        </p:nvSpPr>
        <p:spPr>
          <a:xfrm>
            <a:off x="274320" y="3218688"/>
            <a:ext cx="4160520" cy="1737360"/>
          </a:xfrm>
          <a:prstGeom prst="rect">
            <a:avLst/>
          </a:prstGeom>
          <a:solidFill>
            <a:srgbClr val="E8F1FA"/>
          </a:solidFill>
          <a:ln w="6350">
            <a:solidFill>
              <a:srgbClr val="D0DCE8"/>
            </a:solidFill>
            <a:prstDash val="solid"/>
          </a:ln>
        </p:spPr>
        <p:txBody>
          <a:bodyPr/>
          <a:lstStyle/>
          <a:p>
            <a:endParaRPr lang="fr-FR"/>
          </a:p>
        </p:txBody>
      </p:sp>
      <p:sp>
        <p:nvSpPr>
          <p:cNvPr id="24" name="Shape 22"/>
          <p:cNvSpPr/>
          <p:nvPr/>
        </p:nvSpPr>
        <p:spPr>
          <a:xfrm>
            <a:off x="274320" y="3218688"/>
            <a:ext cx="4160520" cy="320040"/>
          </a:xfrm>
          <a:prstGeom prst="rect">
            <a:avLst/>
          </a:prstGeom>
          <a:solidFill>
            <a:srgbClr val="2860A8"/>
          </a:solidFill>
          <a:ln w="12700">
            <a:solidFill>
              <a:srgbClr val="2860A8"/>
            </a:solidFill>
            <a:prstDash val="solid"/>
          </a:ln>
        </p:spPr>
        <p:txBody>
          <a:bodyPr/>
          <a:lstStyle/>
          <a:p>
            <a:endParaRPr lang="fr-FR"/>
          </a:p>
        </p:txBody>
      </p:sp>
      <p:sp>
        <p:nvSpPr>
          <p:cNvPr id="25" name="Text 23"/>
          <p:cNvSpPr/>
          <p:nvPr/>
        </p:nvSpPr>
        <p:spPr>
          <a:xfrm>
            <a:off x="347472" y="3218688"/>
            <a:ext cx="4005072"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PASSAGER MAXIMUM</a:t>
            </a:r>
            <a:endParaRPr lang="en-US" sz="1000" dirty="0"/>
          </a:p>
        </p:txBody>
      </p:sp>
      <p:sp>
        <p:nvSpPr>
          <p:cNvPr id="26" name="Shape 24"/>
          <p:cNvSpPr/>
          <p:nvPr/>
        </p:nvSpPr>
        <p:spPr>
          <a:xfrm>
            <a:off x="1645920" y="3602736"/>
            <a:ext cx="1417320" cy="685800"/>
          </a:xfrm>
          <a:prstGeom prst="rect">
            <a:avLst/>
          </a:prstGeom>
          <a:solidFill>
            <a:srgbClr val="2860A8"/>
          </a:solidFill>
          <a:ln w="12700">
            <a:solidFill>
              <a:srgbClr val="2860A8"/>
            </a:solidFill>
            <a:prstDash val="solid"/>
          </a:ln>
        </p:spPr>
        <p:txBody>
          <a:bodyPr/>
          <a:lstStyle/>
          <a:p>
            <a:endParaRPr lang="fr-FR"/>
          </a:p>
        </p:txBody>
      </p:sp>
      <p:sp>
        <p:nvSpPr>
          <p:cNvPr id="27" name="Text 25"/>
          <p:cNvSpPr/>
          <p:nvPr/>
        </p:nvSpPr>
        <p:spPr>
          <a:xfrm>
            <a:off x="1645920" y="3602736"/>
            <a:ext cx="141732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1</a:t>
            </a:r>
            <a:endParaRPr lang="en-US" sz="2800" dirty="0"/>
          </a:p>
        </p:txBody>
      </p:sp>
      <p:sp>
        <p:nvSpPr>
          <p:cNvPr id="28" name="Text 26"/>
          <p:cNvSpPr/>
          <p:nvPr/>
        </p:nvSpPr>
        <p:spPr>
          <a:xfrm>
            <a:off x="365760" y="4334256"/>
            <a:ext cx="3977640" cy="594360"/>
          </a:xfrm>
          <a:prstGeom prst="rect">
            <a:avLst/>
          </a:prstGeom>
          <a:noFill/>
          <a:ln/>
        </p:spPr>
        <p:txBody>
          <a:bodyPr wrap="square" rtlCol="0" anchor="t"/>
          <a:lstStyle/>
          <a:p>
            <a:pPr marL="0" indent="0">
              <a:buNone/>
            </a:pPr>
            <a:r>
              <a:rPr lang="en-US" sz="900" dirty="0">
                <a:solidFill>
                  <a:srgbClr val="3A3A3A"/>
                </a:solidFill>
                <a:latin typeface="Calibri" pitchFamily="34" charset="0"/>
                <a:ea typeface="Calibri" pitchFamily="34" charset="-122"/>
                <a:cs typeface="Calibri" pitchFamily="34" charset="-120"/>
              </a:rPr>
              <a:t>Le VMDTR ne peut transporter qu'un seul passager à la fois — en plus du conducteur. Pas de copassager supplémentaire.</a:t>
            </a:r>
            <a:endParaRPr lang="en-US" sz="900" dirty="0"/>
          </a:p>
        </p:txBody>
      </p:sp>
      <p:sp>
        <p:nvSpPr>
          <p:cNvPr id="29" name="Shape 27"/>
          <p:cNvSpPr/>
          <p:nvPr/>
        </p:nvSpPr>
        <p:spPr>
          <a:xfrm>
            <a:off x="4709160" y="3218688"/>
            <a:ext cx="4160520" cy="1737360"/>
          </a:xfrm>
          <a:prstGeom prst="rect">
            <a:avLst/>
          </a:prstGeom>
          <a:solidFill>
            <a:srgbClr val="E8F1FA"/>
          </a:solidFill>
          <a:ln w="6350">
            <a:solidFill>
              <a:srgbClr val="D0DCE8"/>
            </a:solidFill>
            <a:prstDash val="solid"/>
          </a:ln>
        </p:spPr>
        <p:txBody>
          <a:bodyPr/>
          <a:lstStyle/>
          <a:p>
            <a:endParaRPr lang="fr-FR"/>
          </a:p>
        </p:txBody>
      </p:sp>
      <p:sp>
        <p:nvSpPr>
          <p:cNvPr id="30" name="Shape 28"/>
          <p:cNvSpPr/>
          <p:nvPr/>
        </p:nvSpPr>
        <p:spPr>
          <a:xfrm>
            <a:off x="4709160" y="3218688"/>
            <a:ext cx="4160520" cy="320040"/>
          </a:xfrm>
          <a:prstGeom prst="rect">
            <a:avLst/>
          </a:prstGeom>
          <a:solidFill>
            <a:srgbClr val="F4A227"/>
          </a:solidFill>
          <a:ln w="12700">
            <a:solidFill>
              <a:srgbClr val="F4A227"/>
            </a:solidFill>
            <a:prstDash val="solid"/>
          </a:ln>
        </p:spPr>
        <p:txBody>
          <a:bodyPr/>
          <a:lstStyle/>
          <a:p>
            <a:endParaRPr lang="fr-FR"/>
          </a:p>
        </p:txBody>
      </p:sp>
      <p:sp>
        <p:nvSpPr>
          <p:cNvPr id="31" name="Text 29"/>
          <p:cNvSpPr/>
          <p:nvPr/>
        </p:nvSpPr>
        <p:spPr>
          <a:xfrm>
            <a:off x="4782312" y="3218688"/>
            <a:ext cx="4005072" cy="32004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ÉQUIPEMENTS DE PROTECTION</a:t>
            </a:r>
            <a:endParaRPr lang="en-US" sz="1000" dirty="0"/>
          </a:p>
        </p:txBody>
      </p:sp>
      <p:sp>
        <p:nvSpPr>
          <p:cNvPr id="32" name="Shape 30"/>
          <p:cNvSpPr/>
          <p:nvPr/>
        </p:nvSpPr>
        <p:spPr>
          <a:xfrm>
            <a:off x="6080760" y="3602736"/>
            <a:ext cx="1417320" cy="685800"/>
          </a:xfrm>
          <a:prstGeom prst="rect">
            <a:avLst/>
          </a:prstGeom>
          <a:solidFill>
            <a:srgbClr val="F4A227"/>
          </a:solidFill>
          <a:ln w="12700">
            <a:solidFill>
              <a:srgbClr val="F4A227"/>
            </a:solidFill>
            <a:prstDash val="solid"/>
          </a:ln>
        </p:spPr>
        <p:txBody>
          <a:bodyPr/>
          <a:lstStyle/>
          <a:p>
            <a:endParaRPr lang="fr-FR"/>
          </a:p>
        </p:txBody>
      </p:sp>
      <p:sp>
        <p:nvSpPr>
          <p:cNvPr id="33" name="Text 31"/>
          <p:cNvSpPr/>
          <p:nvPr/>
        </p:nvSpPr>
        <p:spPr>
          <a:xfrm>
            <a:off x="6080760" y="3602736"/>
            <a:ext cx="1417320" cy="685800"/>
          </a:xfrm>
          <a:prstGeom prst="rect">
            <a:avLst/>
          </a:prstGeom>
          <a:noFill/>
          <a:ln/>
        </p:spPr>
        <p:txBody>
          <a:bodyPr wrap="square" rtlCol="0" anchor="ctr"/>
          <a:lstStyle/>
          <a:p>
            <a:pPr marL="0" indent="0" algn="ctr">
              <a:buNone/>
            </a:pPr>
            <a:r>
              <a:rPr lang="en-US" sz="2800" b="1" dirty="0">
                <a:solidFill>
                  <a:srgbClr val="FFFFFF"/>
                </a:solidFill>
                <a:latin typeface="Calibri" pitchFamily="34" charset="0"/>
                <a:ea typeface="Calibri" pitchFamily="34" charset="-122"/>
                <a:cs typeface="Calibri" pitchFamily="34" charset="-120"/>
              </a:rPr>
              <a:t>EPI</a:t>
            </a:r>
            <a:endParaRPr lang="en-US" sz="2800" dirty="0"/>
          </a:p>
        </p:txBody>
      </p:sp>
      <p:sp>
        <p:nvSpPr>
          <p:cNvPr id="34" name="Text 32"/>
          <p:cNvSpPr/>
          <p:nvPr/>
        </p:nvSpPr>
        <p:spPr>
          <a:xfrm>
            <a:off x="4800600" y="4334256"/>
            <a:ext cx="3977640" cy="594360"/>
          </a:xfrm>
          <a:prstGeom prst="rect">
            <a:avLst/>
          </a:prstGeom>
          <a:noFill/>
          <a:ln/>
        </p:spPr>
        <p:txBody>
          <a:bodyPr wrap="square" rtlCol="0" anchor="t"/>
          <a:lstStyle/>
          <a:p>
            <a:pPr marL="0" indent="0">
              <a:buNone/>
            </a:pPr>
            <a:r>
              <a:rPr lang="en-US" sz="900" dirty="0">
                <a:solidFill>
                  <a:srgbClr val="3A3A3A"/>
                </a:solidFill>
                <a:latin typeface="Calibri" pitchFamily="34" charset="0"/>
                <a:ea typeface="Calibri" pitchFamily="34" charset="-122"/>
                <a:cs typeface="Calibri" pitchFamily="34" charset="-120"/>
              </a:rPr>
              <a:t>Casque homologué obligatoire pour le conducteur ET le passager. Veste, gants, pantalons de protection recommandés/obligatoires selon réglementation.</a:t>
            </a:r>
            <a:endParaRPr lang="en-US" sz="900" dirty="0"/>
          </a:p>
        </p:txBody>
      </p:sp>
      <p:sp>
        <p:nvSpPr>
          <p:cNvPr id="35" name="Shape 33"/>
          <p:cNvSpPr/>
          <p:nvPr/>
        </p:nvSpPr>
        <p:spPr>
          <a:xfrm>
            <a:off x="274320" y="5047488"/>
            <a:ext cx="8595360" cy="347472"/>
          </a:xfrm>
          <a:prstGeom prst="rect">
            <a:avLst/>
          </a:prstGeom>
          <a:solidFill>
            <a:srgbClr val="D4530A"/>
          </a:solidFill>
          <a:ln w="12700">
            <a:solidFill>
              <a:srgbClr val="D4530A"/>
            </a:solidFill>
            <a:prstDash val="solid"/>
          </a:ln>
        </p:spPr>
        <p:txBody>
          <a:bodyPr/>
          <a:lstStyle/>
          <a:p>
            <a:endParaRPr lang="fr-FR"/>
          </a:p>
        </p:txBody>
      </p:sp>
      <p:sp>
        <p:nvSpPr>
          <p:cNvPr id="36" name="Text 34"/>
          <p:cNvSpPr/>
          <p:nvPr/>
        </p:nvSpPr>
        <p:spPr>
          <a:xfrm>
            <a:off x="274320" y="5047488"/>
            <a:ext cx="8595360" cy="347472"/>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  Exercice avec moto NON CONFORME (puissance &lt; 40 kW OU âge &gt; 5 ans) = Contravention de 3ème classe — Amende jusqu'à 450 €</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Documents de contrôle VMDTR et comparatif des 3 professions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Ce que doit présenter un conducteur VMDTR lors d'un contrôle</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36/88</a:t>
            </a:r>
            <a:endParaRPr lang="en-US" sz="800" dirty="0"/>
          </a:p>
        </p:txBody>
      </p:sp>
      <p:sp>
        <p:nvSpPr>
          <p:cNvPr id="9" name="Shape 7"/>
          <p:cNvSpPr/>
          <p:nvPr/>
        </p:nvSpPr>
        <p:spPr>
          <a:xfrm>
            <a:off x="274320" y="960120"/>
            <a:ext cx="4160520" cy="320040"/>
          </a:xfrm>
          <a:prstGeom prst="rect">
            <a:avLst/>
          </a:prstGeom>
          <a:solidFill>
            <a:srgbClr val="6B7A8D"/>
          </a:solidFill>
          <a:ln w="12700">
            <a:solidFill>
              <a:srgbClr val="6B7A8D"/>
            </a:solidFill>
            <a:prstDash val="solid"/>
          </a:ln>
        </p:spPr>
        <p:txBody>
          <a:bodyPr/>
          <a:lstStyle/>
          <a:p>
            <a:endParaRPr lang="fr-FR"/>
          </a:p>
        </p:txBody>
      </p:sp>
      <p:sp>
        <p:nvSpPr>
          <p:cNvPr id="10" name="Text 8"/>
          <p:cNvSpPr/>
          <p:nvPr/>
        </p:nvSpPr>
        <p:spPr>
          <a:xfrm>
            <a:off x="274320" y="960120"/>
            <a:ext cx="4160520" cy="32004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DOCUMENTS VMDTR EN CAS DE CONTRÔLE</a:t>
            </a:r>
            <a:endParaRPr lang="en-US" sz="1000" dirty="0"/>
          </a:p>
        </p:txBody>
      </p:sp>
      <p:sp>
        <p:nvSpPr>
          <p:cNvPr id="11" name="Shape 9"/>
          <p:cNvSpPr/>
          <p:nvPr/>
        </p:nvSpPr>
        <p:spPr>
          <a:xfrm>
            <a:off x="274320" y="1353312"/>
            <a:ext cx="4160520" cy="310896"/>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353312"/>
            <a:ext cx="256032" cy="310896"/>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274320" y="1353312"/>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4" name="Text 12"/>
          <p:cNvSpPr/>
          <p:nvPr/>
        </p:nvSpPr>
        <p:spPr>
          <a:xfrm>
            <a:off x="594360" y="1371600"/>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Permis de conduire catégorie A</a:t>
            </a:r>
            <a:endParaRPr lang="en-US" sz="950" dirty="0"/>
          </a:p>
        </p:txBody>
      </p:sp>
      <p:sp>
        <p:nvSpPr>
          <p:cNvPr id="15" name="Shape 13"/>
          <p:cNvSpPr/>
          <p:nvPr/>
        </p:nvSpPr>
        <p:spPr>
          <a:xfrm>
            <a:off x="274320" y="1700784"/>
            <a:ext cx="4160520" cy="310896"/>
          </a:xfrm>
          <a:prstGeom prst="rect">
            <a:avLst/>
          </a:prstGeom>
          <a:solidFill>
            <a:srgbClr val="FFFFFF"/>
          </a:solidFill>
          <a:ln w="6350">
            <a:solidFill>
              <a:srgbClr val="D0DCE8"/>
            </a:solidFill>
            <a:prstDash val="solid"/>
          </a:ln>
        </p:spPr>
        <p:txBody>
          <a:bodyPr/>
          <a:lstStyle/>
          <a:p>
            <a:endParaRPr lang="fr-FR"/>
          </a:p>
        </p:txBody>
      </p:sp>
      <p:sp>
        <p:nvSpPr>
          <p:cNvPr id="16" name="Shape 14"/>
          <p:cNvSpPr/>
          <p:nvPr/>
        </p:nvSpPr>
        <p:spPr>
          <a:xfrm>
            <a:off x="274320" y="1700784"/>
            <a:ext cx="256032" cy="310896"/>
          </a:xfrm>
          <a:prstGeom prst="rect">
            <a:avLst/>
          </a:prstGeom>
          <a:solidFill>
            <a:srgbClr val="2860A8"/>
          </a:solidFill>
          <a:ln w="12700">
            <a:solidFill>
              <a:srgbClr val="2860A8"/>
            </a:solidFill>
            <a:prstDash val="solid"/>
          </a:ln>
        </p:spPr>
        <p:txBody>
          <a:bodyPr/>
          <a:lstStyle/>
          <a:p>
            <a:endParaRPr lang="fr-FR"/>
          </a:p>
        </p:txBody>
      </p:sp>
      <p:sp>
        <p:nvSpPr>
          <p:cNvPr id="17" name="Text 15"/>
          <p:cNvSpPr/>
          <p:nvPr/>
        </p:nvSpPr>
        <p:spPr>
          <a:xfrm>
            <a:off x="274320" y="1700784"/>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8" name="Text 16"/>
          <p:cNvSpPr/>
          <p:nvPr/>
        </p:nvSpPr>
        <p:spPr>
          <a:xfrm>
            <a:off x="594360" y="1719072"/>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Carte professionnelle VMDTR</a:t>
            </a:r>
            <a:endParaRPr lang="en-US" sz="950" dirty="0"/>
          </a:p>
        </p:txBody>
      </p:sp>
      <p:sp>
        <p:nvSpPr>
          <p:cNvPr id="19" name="Shape 17"/>
          <p:cNvSpPr/>
          <p:nvPr/>
        </p:nvSpPr>
        <p:spPr>
          <a:xfrm>
            <a:off x="274320" y="2048256"/>
            <a:ext cx="4160520" cy="310896"/>
          </a:xfrm>
          <a:prstGeom prst="rect">
            <a:avLst/>
          </a:prstGeom>
          <a:solidFill>
            <a:srgbClr val="E8F1FA"/>
          </a:solidFill>
          <a:ln w="6350">
            <a:solidFill>
              <a:srgbClr val="D0DCE8"/>
            </a:solidFill>
            <a:prstDash val="solid"/>
          </a:ln>
        </p:spPr>
        <p:txBody>
          <a:bodyPr/>
          <a:lstStyle/>
          <a:p>
            <a:endParaRPr lang="fr-FR"/>
          </a:p>
        </p:txBody>
      </p:sp>
      <p:sp>
        <p:nvSpPr>
          <p:cNvPr id="20" name="Shape 18"/>
          <p:cNvSpPr/>
          <p:nvPr/>
        </p:nvSpPr>
        <p:spPr>
          <a:xfrm>
            <a:off x="274320" y="2048256"/>
            <a:ext cx="256032" cy="310896"/>
          </a:xfrm>
          <a:prstGeom prst="rect">
            <a:avLst/>
          </a:prstGeom>
          <a:solidFill>
            <a:srgbClr val="2860A8"/>
          </a:solidFill>
          <a:ln w="12700">
            <a:solidFill>
              <a:srgbClr val="2860A8"/>
            </a:solidFill>
            <a:prstDash val="solid"/>
          </a:ln>
        </p:spPr>
        <p:txBody>
          <a:bodyPr/>
          <a:lstStyle/>
          <a:p>
            <a:endParaRPr lang="fr-FR"/>
          </a:p>
        </p:txBody>
      </p:sp>
      <p:sp>
        <p:nvSpPr>
          <p:cNvPr id="21" name="Text 19"/>
          <p:cNvSpPr/>
          <p:nvPr/>
        </p:nvSpPr>
        <p:spPr>
          <a:xfrm>
            <a:off x="274320" y="2048256"/>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2" name="Text 20"/>
          <p:cNvSpPr/>
          <p:nvPr/>
        </p:nvSpPr>
        <p:spPr>
          <a:xfrm>
            <a:off x="594360" y="2066544"/>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Attestation d'assurance RC Circulation (titre onéreux)</a:t>
            </a:r>
            <a:endParaRPr lang="en-US" sz="950" dirty="0"/>
          </a:p>
        </p:txBody>
      </p:sp>
      <p:sp>
        <p:nvSpPr>
          <p:cNvPr id="23" name="Shape 21"/>
          <p:cNvSpPr/>
          <p:nvPr/>
        </p:nvSpPr>
        <p:spPr>
          <a:xfrm>
            <a:off x="274320" y="2395728"/>
            <a:ext cx="4160520" cy="310896"/>
          </a:xfrm>
          <a:prstGeom prst="rect">
            <a:avLst/>
          </a:prstGeom>
          <a:solidFill>
            <a:srgbClr val="FFFFFF"/>
          </a:solidFill>
          <a:ln w="6350">
            <a:solidFill>
              <a:srgbClr val="D0DCE8"/>
            </a:solidFill>
            <a:prstDash val="solid"/>
          </a:ln>
        </p:spPr>
        <p:txBody>
          <a:bodyPr/>
          <a:lstStyle/>
          <a:p>
            <a:endParaRPr lang="fr-FR"/>
          </a:p>
        </p:txBody>
      </p:sp>
      <p:sp>
        <p:nvSpPr>
          <p:cNvPr id="24" name="Shape 22"/>
          <p:cNvSpPr/>
          <p:nvPr/>
        </p:nvSpPr>
        <p:spPr>
          <a:xfrm>
            <a:off x="274320" y="2395728"/>
            <a:ext cx="256032" cy="310896"/>
          </a:xfrm>
          <a:prstGeom prst="rect">
            <a:avLst/>
          </a:prstGeom>
          <a:solidFill>
            <a:srgbClr val="2860A8"/>
          </a:solidFill>
          <a:ln w="12700">
            <a:solidFill>
              <a:srgbClr val="2860A8"/>
            </a:solidFill>
            <a:prstDash val="solid"/>
          </a:ln>
        </p:spPr>
        <p:txBody>
          <a:bodyPr/>
          <a:lstStyle/>
          <a:p>
            <a:endParaRPr lang="fr-FR"/>
          </a:p>
        </p:txBody>
      </p:sp>
      <p:sp>
        <p:nvSpPr>
          <p:cNvPr id="25" name="Text 23"/>
          <p:cNvSpPr/>
          <p:nvPr/>
        </p:nvSpPr>
        <p:spPr>
          <a:xfrm>
            <a:off x="274320" y="2395728"/>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6" name="Text 24"/>
          <p:cNvSpPr/>
          <p:nvPr/>
        </p:nvSpPr>
        <p:spPr>
          <a:xfrm>
            <a:off x="594360" y="2414016"/>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Attestation RC Professionnelle (exploitation)</a:t>
            </a:r>
            <a:endParaRPr lang="en-US" sz="950" dirty="0"/>
          </a:p>
        </p:txBody>
      </p:sp>
      <p:sp>
        <p:nvSpPr>
          <p:cNvPr id="27" name="Shape 25"/>
          <p:cNvSpPr/>
          <p:nvPr/>
        </p:nvSpPr>
        <p:spPr>
          <a:xfrm>
            <a:off x="274320" y="2743200"/>
            <a:ext cx="4160520" cy="310896"/>
          </a:xfrm>
          <a:prstGeom prst="rect">
            <a:avLst/>
          </a:prstGeom>
          <a:solidFill>
            <a:srgbClr val="E8F1FA"/>
          </a:solidFill>
          <a:ln w="6350">
            <a:solidFill>
              <a:srgbClr val="D0DCE8"/>
            </a:solidFill>
            <a:prstDash val="solid"/>
          </a:ln>
        </p:spPr>
        <p:txBody>
          <a:bodyPr/>
          <a:lstStyle/>
          <a:p>
            <a:endParaRPr lang="fr-FR"/>
          </a:p>
        </p:txBody>
      </p:sp>
      <p:sp>
        <p:nvSpPr>
          <p:cNvPr id="28" name="Shape 26"/>
          <p:cNvSpPr/>
          <p:nvPr/>
        </p:nvSpPr>
        <p:spPr>
          <a:xfrm>
            <a:off x="274320" y="2743200"/>
            <a:ext cx="256032" cy="310896"/>
          </a:xfrm>
          <a:prstGeom prst="rect">
            <a:avLst/>
          </a:prstGeom>
          <a:solidFill>
            <a:srgbClr val="2860A8"/>
          </a:solidFill>
          <a:ln w="12700">
            <a:solidFill>
              <a:srgbClr val="2860A8"/>
            </a:solidFill>
            <a:prstDash val="solid"/>
          </a:ln>
        </p:spPr>
        <p:txBody>
          <a:bodyPr/>
          <a:lstStyle/>
          <a:p>
            <a:endParaRPr lang="fr-FR"/>
          </a:p>
        </p:txBody>
      </p:sp>
      <p:sp>
        <p:nvSpPr>
          <p:cNvPr id="29" name="Text 27"/>
          <p:cNvSpPr/>
          <p:nvPr/>
        </p:nvSpPr>
        <p:spPr>
          <a:xfrm>
            <a:off x="274320" y="2743200"/>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0" name="Text 28"/>
          <p:cNvSpPr/>
          <p:nvPr/>
        </p:nvSpPr>
        <p:spPr>
          <a:xfrm>
            <a:off x="594360" y="2761488"/>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Billet individuel (trace de la réservation préalable)</a:t>
            </a:r>
            <a:endParaRPr lang="en-US" sz="950" dirty="0"/>
          </a:p>
        </p:txBody>
      </p:sp>
      <p:sp>
        <p:nvSpPr>
          <p:cNvPr id="31" name="Shape 29"/>
          <p:cNvSpPr/>
          <p:nvPr/>
        </p:nvSpPr>
        <p:spPr>
          <a:xfrm>
            <a:off x="274320" y="3090672"/>
            <a:ext cx="4160520" cy="310896"/>
          </a:xfrm>
          <a:prstGeom prst="rect">
            <a:avLst/>
          </a:prstGeom>
          <a:solidFill>
            <a:srgbClr val="FFFFFF"/>
          </a:solidFill>
          <a:ln w="6350">
            <a:solidFill>
              <a:srgbClr val="D0DCE8"/>
            </a:solidFill>
            <a:prstDash val="solid"/>
          </a:ln>
        </p:spPr>
        <p:txBody>
          <a:bodyPr/>
          <a:lstStyle/>
          <a:p>
            <a:endParaRPr lang="fr-FR"/>
          </a:p>
        </p:txBody>
      </p:sp>
      <p:sp>
        <p:nvSpPr>
          <p:cNvPr id="32" name="Shape 30"/>
          <p:cNvSpPr/>
          <p:nvPr/>
        </p:nvSpPr>
        <p:spPr>
          <a:xfrm>
            <a:off x="274320" y="3090672"/>
            <a:ext cx="256032" cy="310896"/>
          </a:xfrm>
          <a:prstGeom prst="rect">
            <a:avLst/>
          </a:prstGeom>
          <a:solidFill>
            <a:srgbClr val="2860A8"/>
          </a:solidFill>
          <a:ln w="12700">
            <a:solidFill>
              <a:srgbClr val="2860A8"/>
            </a:solidFill>
            <a:prstDash val="solid"/>
          </a:ln>
        </p:spPr>
        <p:txBody>
          <a:bodyPr/>
          <a:lstStyle/>
          <a:p>
            <a:endParaRPr lang="fr-FR"/>
          </a:p>
        </p:txBody>
      </p:sp>
      <p:sp>
        <p:nvSpPr>
          <p:cNvPr id="33" name="Text 31"/>
          <p:cNvSpPr/>
          <p:nvPr/>
        </p:nvSpPr>
        <p:spPr>
          <a:xfrm>
            <a:off x="274320" y="3090672"/>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4" name="Text 32"/>
          <p:cNvSpPr/>
          <p:nvPr/>
        </p:nvSpPr>
        <p:spPr>
          <a:xfrm>
            <a:off x="594360" y="3108960"/>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Carte grise du véhicule</a:t>
            </a:r>
            <a:endParaRPr lang="en-US" sz="950" dirty="0"/>
          </a:p>
        </p:txBody>
      </p:sp>
      <p:sp>
        <p:nvSpPr>
          <p:cNvPr id="35" name="Shape 33"/>
          <p:cNvSpPr/>
          <p:nvPr/>
        </p:nvSpPr>
        <p:spPr>
          <a:xfrm>
            <a:off x="274320" y="3438144"/>
            <a:ext cx="4160520" cy="310896"/>
          </a:xfrm>
          <a:prstGeom prst="rect">
            <a:avLst/>
          </a:prstGeom>
          <a:solidFill>
            <a:srgbClr val="E8F1FA"/>
          </a:solidFill>
          <a:ln w="6350">
            <a:solidFill>
              <a:srgbClr val="D0DCE8"/>
            </a:solidFill>
            <a:prstDash val="solid"/>
          </a:ln>
        </p:spPr>
        <p:txBody>
          <a:bodyPr/>
          <a:lstStyle/>
          <a:p>
            <a:endParaRPr lang="fr-FR"/>
          </a:p>
        </p:txBody>
      </p:sp>
      <p:sp>
        <p:nvSpPr>
          <p:cNvPr id="36" name="Shape 34"/>
          <p:cNvSpPr/>
          <p:nvPr/>
        </p:nvSpPr>
        <p:spPr>
          <a:xfrm>
            <a:off x="274320" y="3438144"/>
            <a:ext cx="256032" cy="310896"/>
          </a:xfrm>
          <a:prstGeom prst="rect">
            <a:avLst/>
          </a:prstGeom>
          <a:solidFill>
            <a:srgbClr val="2860A8"/>
          </a:solidFill>
          <a:ln w="12700">
            <a:solidFill>
              <a:srgbClr val="2860A8"/>
            </a:solidFill>
            <a:prstDash val="solid"/>
          </a:ln>
        </p:spPr>
        <p:txBody>
          <a:bodyPr/>
          <a:lstStyle/>
          <a:p>
            <a:endParaRPr lang="fr-FR"/>
          </a:p>
        </p:txBody>
      </p:sp>
      <p:sp>
        <p:nvSpPr>
          <p:cNvPr id="37" name="Text 35"/>
          <p:cNvSpPr/>
          <p:nvPr/>
        </p:nvSpPr>
        <p:spPr>
          <a:xfrm>
            <a:off x="274320" y="3438144"/>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8" name="Text 36"/>
          <p:cNvSpPr/>
          <p:nvPr/>
        </p:nvSpPr>
        <p:spPr>
          <a:xfrm>
            <a:off x="594360" y="3456432"/>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Attestation d'entretien du véhicule</a:t>
            </a:r>
            <a:endParaRPr lang="en-US" sz="950" dirty="0"/>
          </a:p>
        </p:txBody>
      </p:sp>
      <p:sp>
        <p:nvSpPr>
          <p:cNvPr id="39" name="Shape 37"/>
          <p:cNvSpPr/>
          <p:nvPr/>
        </p:nvSpPr>
        <p:spPr>
          <a:xfrm>
            <a:off x="274320" y="3785616"/>
            <a:ext cx="4160520" cy="310896"/>
          </a:xfrm>
          <a:prstGeom prst="rect">
            <a:avLst/>
          </a:prstGeom>
          <a:solidFill>
            <a:srgbClr val="FFFFFF"/>
          </a:solidFill>
          <a:ln w="6350">
            <a:solidFill>
              <a:srgbClr val="D0DCE8"/>
            </a:solidFill>
            <a:prstDash val="solid"/>
          </a:ln>
        </p:spPr>
        <p:txBody>
          <a:bodyPr/>
          <a:lstStyle/>
          <a:p>
            <a:endParaRPr lang="fr-FR"/>
          </a:p>
        </p:txBody>
      </p:sp>
      <p:sp>
        <p:nvSpPr>
          <p:cNvPr id="40" name="Shape 38"/>
          <p:cNvSpPr/>
          <p:nvPr/>
        </p:nvSpPr>
        <p:spPr>
          <a:xfrm>
            <a:off x="274320" y="3785616"/>
            <a:ext cx="256032" cy="310896"/>
          </a:xfrm>
          <a:prstGeom prst="rect">
            <a:avLst/>
          </a:prstGeom>
          <a:solidFill>
            <a:srgbClr val="2860A8"/>
          </a:solidFill>
          <a:ln w="12700">
            <a:solidFill>
              <a:srgbClr val="2860A8"/>
            </a:solidFill>
            <a:prstDash val="solid"/>
          </a:ln>
        </p:spPr>
        <p:txBody>
          <a:bodyPr/>
          <a:lstStyle/>
          <a:p>
            <a:endParaRPr lang="fr-FR"/>
          </a:p>
        </p:txBody>
      </p:sp>
      <p:sp>
        <p:nvSpPr>
          <p:cNvPr id="41" name="Text 39"/>
          <p:cNvSpPr/>
          <p:nvPr/>
        </p:nvSpPr>
        <p:spPr>
          <a:xfrm>
            <a:off x="274320" y="3785616"/>
            <a:ext cx="256032" cy="310896"/>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2" name="Text 40"/>
          <p:cNvSpPr/>
          <p:nvPr/>
        </p:nvSpPr>
        <p:spPr>
          <a:xfrm>
            <a:off x="594360" y="3803904"/>
            <a:ext cx="3767328" cy="256032"/>
          </a:xfrm>
          <a:prstGeom prst="rect">
            <a:avLst/>
          </a:prstGeom>
          <a:noFill/>
          <a:ln/>
        </p:spPr>
        <p:txBody>
          <a:bodyPr wrap="square" rtlCol="0" anchor="ctr"/>
          <a:lstStyle/>
          <a:p>
            <a:pPr marL="0" indent="0">
              <a:buNone/>
            </a:pPr>
            <a:r>
              <a:rPr lang="en-US" sz="950" dirty="0">
                <a:solidFill>
                  <a:srgbClr val="3A3A3A"/>
                </a:solidFill>
                <a:latin typeface="Calibri" pitchFamily="34" charset="0"/>
                <a:ea typeface="Calibri" pitchFamily="34" charset="-122"/>
                <a:cs typeface="Calibri" pitchFamily="34" charset="-120"/>
              </a:rPr>
              <a:t>Attestation médicale valide</a:t>
            </a:r>
            <a:endParaRPr lang="en-US" sz="950" dirty="0"/>
          </a:p>
        </p:txBody>
      </p:sp>
      <p:sp>
        <p:nvSpPr>
          <p:cNvPr id="43" name="Shape 41"/>
          <p:cNvSpPr/>
          <p:nvPr/>
        </p:nvSpPr>
        <p:spPr>
          <a:xfrm>
            <a:off x="4709160" y="960120"/>
            <a:ext cx="4160520" cy="320040"/>
          </a:xfrm>
          <a:prstGeom prst="rect">
            <a:avLst/>
          </a:prstGeom>
          <a:solidFill>
            <a:srgbClr val="1A3A5C"/>
          </a:solidFill>
          <a:ln w="12700">
            <a:solidFill>
              <a:srgbClr val="1A3A5C"/>
            </a:solidFill>
            <a:prstDash val="solid"/>
          </a:ln>
        </p:spPr>
        <p:txBody>
          <a:bodyPr/>
          <a:lstStyle/>
          <a:p>
            <a:endParaRPr lang="fr-FR"/>
          </a:p>
        </p:txBody>
      </p:sp>
      <p:sp>
        <p:nvSpPr>
          <p:cNvPr id="44" name="Text 42"/>
          <p:cNvSpPr/>
          <p:nvPr/>
        </p:nvSpPr>
        <p:spPr>
          <a:xfrm>
            <a:off x="4709160" y="960120"/>
            <a:ext cx="4160520" cy="320040"/>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TABLEAU COMPARATIF — 3 PROFESSIONS T3P</a:t>
            </a:r>
            <a:endParaRPr lang="en-US" sz="9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709160" y="1353312"/>
          <a:ext cx="4160520" cy="3154680"/>
        </p:xfrm>
        <a:graphic>
          <a:graphicData uri="http://schemas.openxmlformats.org/drawingml/2006/table">
            <a:tbl>
              <a:tblPr/>
              <a:tblGrid>
                <a:gridCol w="1234440">
                  <a:extLst>
                    <a:ext uri="{9D8B030D-6E8A-4147-A177-3AD203B41FA5}">
                      <a16:colId xmlns:a16="http://schemas.microsoft.com/office/drawing/2014/main" val="20000"/>
                    </a:ext>
                  </a:extLst>
                </a:gridCol>
                <a:gridCol w="978408">
                  <a:extLst>
                    <a:ext uri="{9D8B030D-6E8A-4147-A177-3AD203B41FA5}">
                      <a16:colId xmlns:a16="http://schemas.microsoft.com/office/drawing/2014/main" val="20001"/>
                    </a:ext>
                  </a:extLst>
                </a:gridCol>
                <a:gridCol w="978408">
                  <a:extLst>
                    <a:ext uri="{9D8B030D-6E8A-4147-A177-3AD203B41FA5}">
                      <a16:colId xmlns:a16="http://schemas.microsoft.com/office/drawing/2014/main" val="20002"/>
                    </a:ext>
                  </a:extLst>
                </a:gridCol>
                <a:gridCol w="969264">
                  <a:extLst>
                    <a:ext uri="{9D8B030D-6E8A-4147-A177-3AD203B41FA5}">
                      <a16:colId xmlns:a16="http://schemas.microsoft.com/office/drawing/2014/main" val="20003"/>
                    </a:ext>
                  </a:extLst>
                </a:gridCol>
              </a:tblGrid>
              <a:tr h="286789">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Critère</a:t>
                      </a:r>
                      <a:endParaRPr lang="en-US" sz="8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 TAXI</a:t>
                      </a:r>
                      <a:endParaRPr lang="en-US" sz="8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2860A8"/>
                    </a:solidFill>
                  </a:tcPr>
                </a:tc>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 VTC</a:t>
                      </a:r>
                      <a:endParaRPr lang="en-US" sz="8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850" b="1" dirty="0">
                          <a:solidFill>
                            <a:srgbClr val="FFFFFF"/>
                          </a:solidFill>
                          <a:latin typeface="Calibri" pitchFamily="34" charset="0"/>
                          <a:ea typeface="Calibri" pitchFamily="34" charset="-122"/>
                          <a:cs typeface="Calibri" pitchFamily="34" charset="-120"/>
                        </a:rPr>
                        <a:t>🛵 VMDTR</a:t>
                      </a:r>
                      <a:endParaRPr lang="en-US" sz="8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6B7A8D"/>
                    </a:solidFill>
                  </a:tcPr>
                </a:tc>
                <a:extLst>
                  <a:ext uri="{0D108BD9-81ED-4DB2-BD59-A6C34878D82A}">
                    <a16:rowId xmlns:a16="http://schemas.microsoft.com/office/drawing/2014/main" val="10000"/>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Permis requis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Permis B</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Permis B</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Permis A (3 ans)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Maraude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Zone seule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Interdite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Interdite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2"/>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Passagers max</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4 à 7</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4 à 8</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1 seul</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Âge véhicule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&lt; 10 ans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&lt; 7 ans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&lt; 5 ans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4"/>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Puissance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Variable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Min 84 kW</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Min 40 kW</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PSC1</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Obligatoire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Facultatif</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Facultatif</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6"/>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Taximètre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Obligatoire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Registre DRIEAT</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Obligatoire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8"/>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ADS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Obligatoire</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 Non</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86789">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Formation 14h/5 ans</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880" dirty="0">
                          <a:solidFill>
                            <a:srgbClr val="3A3A3A"/>
                          </a:solidFill>
                          <a:latin typeface="Calibri" pitchFamily="34" charset="0"/>
                          <a:ea typeface="Calibri" pitchFamily="34" charset="-122"/>
                          <a:cs typeface="Calibri" pitchFamily="34" charset="-120"/>
                        </a:rPr>
                        <a:t>✔</a:t>
                      </a:r>
                      <a:endParaRPr lang="en-US" sz="88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7. Les organismes autour du T3P et centres de formation</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Préfecture, DRIEAT, CMA, Ministère — Centres agréés — Fin Partie 1</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40/88</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organismes gravitant autour du T3P</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Organismes administratifs, consulaires, représentatifs et de contrôle</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33/88</a:t>
            </a:r>
            <a:endParaRPr lang="en-US" sz="800" dirty="0"/>
          </a:p>
        </p:txBody>
      </p:sp>
      <p:sp>
        <p:nvSpPr>
          <p:cNvPr id="9" name="Text 7"/>
          <p:cNvSpPr/>
          <p:nvPr/>
        </p:nvSpPr>
        <p:spPr>
          <a:xfrm>
            <a:off x="274320" y="1078992"/>
            <a:ext cx="8595360" cy="347472"/>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Le secteur T3P est encadré par plusieurs institutions complémentaires. À l'examen, il faut savoir quel organisme est responsable de quelle mission.</a:t>
            </a:r>
            <a:endParaRPr lang="en-US" sz="1200" dirty="0"/>
          </a:p>
        </p:txBody>
      </p:sp>
      <p:sp>
        <p:nvSpPr>
          <p:cNvPr id="10" name="Shape 8"/>
          <p:cNvSpPr/>
          <p:nvPr/>
        </p:nvSpPr>
        <p:spPr>
          <a:xfrm>
            <a:off x="274320" y="1481328"/>
            <a:ext cx="4315968" cy="685800"/>
          </a:xfrm>
          <a:prstGeom prst="rect">
            <a:avLst/>
          </a:prstGeom>
          <a:solidFill>
            <a:srgbClr val="E8F1FA"/>
          </a:solidFill>
          <a:ln w="6350">
            <a:solidFill>
              <a:srgbClr val="D0DCE8"/>
            </a:solidFill>
            <a:prstDash val="solid"/>
          </a:ln>
        </p:spPr>
        <p:txBody>
          <a:bodyPr/>
          <a:lstStyle/>
          <a:p>
            <a:endParaRPr lang="fr-FR"/>
          </a:p>
        </p:txBody>
      </p:sp>
      <p:sp>
        <p:nvSpPr>
          <p:cNvPr id="11" name="Shape 9"/>
          <p:cNvSpPr/>
          <p:nvPr/>
        </p:nvSpPr>
        <p:spPr>
          <a:xfrm>
            <a:off x="274320" y="1481328"/>
            <a:ext cx="4315968" cy="237744"/>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47472" y="1481328"/>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PRÉFECTURE / PRÉFET</a:t>
            </a:r>
            <a:endParaRPr lang="en-US" sz="900" dirty="0"/>
          </a:p>
        </p:txBody>
      </p:sp>
      <p:sp>
        <p:nvSpPr>
          <p:cNvPr id="13" name="Text 11"/>
          <p:cNvSpPr/>
          <p:nvPr/>
        </p:nvSpPr>
        <p:spPr>
          <a:xfrm>
            <a:off x="365760" y="1737360"/>
            <a:ext cx="4178808" cy="411480"/>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Enregistrement des documents administratifs carte Taxi/VTC/VMDTR</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Application et contrôle des lois concernant les activités T3P</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Délivre et retire les cartes professionnelles T3P</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Délivre les autorisations de stationnement (ADS) pour les taxis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Agrée les centres de formation pour une durée de 5 ans renouvelable</a:t>
            </a:r>
            <a:endParaRPr lang="en-US" sz="850" dirty="0"/>
          </a:p>
        </p:txBody>
      </p:sp>
      <p:sp>
        <p:nvSpPr>
          <p:cNvPr id="14" name="Shape 12"/>
          <p:cNvSpPr/>
          <p:nvPr/>
        </p:nvSpPr>
        <p:spPr>
          <a:xfrm>
            <a:off x="4681728" y="1481328"/>
            <a:ext cx="4315968" cy="685800"/>
          </a:xfrm>
          <a:prstGeom prst="rect">
            <a:avLst/>
          </a:prstGeom>
          <a:solidFill>
            <a:srgbClr val="E8F1FA"/>
          </a:solidFill>
          <a:ln w="6350">
            <a:solidFill>
              <a:srgbClr val="D0DCE8"/>
            </a:solidFill>
            <a:prstDash val="solid"/>
          </a:ln>
        </p:spPr>
        <p:txBody>
          <a:bodyPr/>
          <a:lstStyle/>
          <a:p>
            <a:endParaRPr lang="fr-FR"/>
          </a:p>
        </p:txBody>
      </p:sp>
      <p:sp>
        <p:nvSpPr>
          <p:cNvPr id="15" name="Shape 13"/>
          <p:cNvSpPr/>
          <p:nvPr/>
        </p:nvSpPr>
        <p:spPr>
          <a:xfrm>
            <a:off x="4681728" y="1481328"/>
            <a:ext cx="4315968" cy="237744"/>
          </a:xfrm>
          <a:prstGeom prst="rect">
            <a:avLst/>
          </a:prstGeom>
          <a:solidFill>
            <a:srgbClr val="F4A227"/>
          </a:solidFill>
          <a:ln w="12700">
            <a:solidFill>
              <a:srgbClr val="F4A227"/>
            </a:solidFill>
            <a:prstDash val="solid"/>
          </a:ln>
        </p:spPr>
        <p:txBody>
          <a:bodyPr/>
          <a:lstStyle/>
          <a:p>
            <a:endParaRPr lang="fr-FR"/>
          </a:p>
        </p:txBody>
      </p:sp>
      <p:sp>
        <p:nvSpPr>
          <p:cNvPr id="16" name="Text 14"/>
          <p:cNvSpPr/>
          <p:nvPr/>
        </p:nvSpPr>
        <p:spPr>
          <a:xfrm>
            <a:off x="4754880" y="1481328"/>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MINISTÈRE DE LA TRANSITION ÉCOLOGIQUE ET SOLIDAIRE</a:t>
            </a:r>
            <a:endParaRPr lang="en-US" sz="900" dirty="0"/>
          </a:p>
        </p:txBody>
      </p:sp>
      <p:sp>
        <p:nvSpPr>
          <p:cNvPr id="17" name="Text 15"/>
          <p:cNvSpPr/>
          <p:nvPr/>
        </p:nvSpPr>
        <p:spPr>
          <a:xfrm>
            <a:off x="4773168" y="1737360"/>
            <a:ext cx="4178808" cy="411480"/>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Prépare et suit la politique de l'État à l'égard des taxis et des VTC</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Répertorie la réglementation liée aux professions T3P</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Inscription au registre des VTC</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Demande de vignette VTC</a:t>
            </a:r>
            <a:endParaRPr lang="en-US" sz="850" dirty="0"/>
          </a:p>
        </p:txBody>
      </p:sp>
      <p:sp>
        <p:nvSpPr>
          <p:cNvPr id="18" name="Shape 16"/>
          <p:cNvSpPr/>
          <p:nvPr/>
        </p:nvSpPr>
        <p:spPr>
          <a:xfrm>
            <a:off x="274320" y="2240280"/>
            <a:ext cx="4315968" cy="685800"/>
          </a:xfrm>
          <a:prstGeom prst="rect">
            <a:avLst/>
          </a:prstGeom>
          <a:solidFill>
            <a:srgbClr val="E8F1FA"/>
          </a:solidFill>
          <a:ln w="6350">
            <a:solidFill>
              <a:srgbClr val="D0DCE8"/>
            </a:solidFill>
            <a:prstDash val="solid"/>
          </a:ln>
        </p:spPr>
        <p:txBody>
          <a:bodyPr/>
          <a:lstStyle/>
          <a:p>
            <a:endParaRPr lang="fr-FR"/>
          </a:p>
        </p:txBody>
      </p:sp>
      <p:sp>
        <p:nvSpPr>
          <p:cNvPr id="19" name="Shape 17"/>
          <p:cNvSpPr/>
          <p:nvPr/>
        </p:nvSpPr>
        <p:spPr>
          <a:xfrm>
            <a:off x="274320" y="2240280"/>
            <a:ext cx="4315968" cy="237744"/>
          </a:xfrm>
          <a:prstGeom prst="rect">
            <a:avLst/>
          </a:prstGeom>
          <a:solidFill>
            <a:srgbClr val="2860A8"/>
          </a:solidFill>
          <a:ln w="12700">
            <a:solidFill>
              <a:srgbClr val="2860A8"/>
            </a:solidFill>
            <a:prstDash val="solid"/>
          </a:ln>
        </p:spPr>
        <p:txBody>
          <a:bodyPr/>
          <a:lstStyle/>
          <a:p>
            <a:endParaRPr lang="fr-FR"/>
          </a:p>
        </p:txBody>
      </p:sp>
      <p:sp>
        <p:nvSpPr>
          <p:cNvPr id="20" name="Text 18"/>
          <p:cNvSpPr/>
          <p:nvPr/>
        </p:nvSpPr>
        <p:spPr>
          <a:xfrm>
            <a:off x="347472" y="2240280"/>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DRIEAT (île-de-France) / DREAL (autres régions)</a:t>
            </a:r>
            <a:endParaRPr lang="en-US" sz="900" dirty="0"/>
          </a:p>
        </p:txBody>
      </p:sp>
      <p:sp>
        <p:nvSpPr>
          <p:cNvPr id="21" name="Text 19"/>
          <p:cNvSpPr/>
          <p:nvPr/>
        </p:nvSpPr>
        <p:spPr>
          <a:xfrm>
            <a:off x="365760" y="2496312"/>
            <a:ext cx="4178808" cy="411480"/>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Enregistrement des entreprises de transport public (personnes et marchandises)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Délivrance des licences de transport de personnes et de marchandises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Contrôle l'application de la réglementation</a:t>
            </a:r>
            <a:endParaRPr lang="en-US" sz="850" dirty="0"/>
          </a:p>
        </p:txBody>
      </p:sp>
      <p:sp>
        <p:nvSpPr>
          <p:cNvPr id="22" name="Shape 20"/>
          <p:cNvSpPr/>
          <p:nvPr/>
        </p:nvSpPr>
        <p:spPr>
          <a:xfrm>
            <a:off x="4681728" y="2240280"/>
            <a:ext cx="4315968" cy="685800"/>
          </a:xfrm>
          <a:prstGeom prst="rect">
            <a:avLst/>
          </a:prstGeom>
          <a:solidFill>
            <a:srgbClr val="E8F1FA"/>
          </a:solidFill>
          <a:ln w="6350">
            <a:solidFill>
              <a:srgbClr val="D0DCE8"/>
            </a:solidFill>
            <a:prstDash val="solid"/>
          </a:ln>
        </p:spPr>
        <p:txBody>
          <a:bodyPr/>
          <a:lstStyle/>
          <a:p>
            <a:endParaRPr lang="fr-FR"/>
          </a:p>
        </p:txBody>
      </p:sp>
      <p:sp>
        <p:nvSpPr>
          <p:cNvPr id="23" name="Shape 21"/>
          <p:cNvSpPr/>
          <p:nvPr/>
        </p:nvSpPr>
        <p:spPr>
          <a:xfrm>
            <a:off x="4681728" y="2240280"/>
            <a:ext cx="4315968" cy="237744"/>
          </a:xfrm>
          <a:prstGeom prst="rect">
            <a:avLst/>
          </a:prstGeom>
          <a:solidFill>
            <a:srgbClr val="6B7A8D"/>
          </a:solidFill>
          <a:ln w="12700">
            <a:solidFill>
              <a:srgbClr val="6B7A8D"/>
            </a:solidFill>
            <a:prstDash val="solid"/>
          </a:ln>
        </p:spPr>
        <p:txBody>
          <a:bodyPr/>
          <a:lstStyle/>
          <a:p>
            <a:endParaRPr lang="fr-FR"/>
          </a:p>
        </p:txBody>
      </p:sp>
      <p:sp>
        <p:nvSpPr>
          <p:cNvPr id="24" name="Text 22"/>
          <p:cNvSpPr/>
          <p:nvPr/>
        </p:nvSpPr>
        <p:spPr>
          <a:xfrm>
            <a:off x="4754880" y="2240280"/>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CHAMBRE DES MÉTIERS ET DE L'ARTISANAT (CMA)</a:t>
            </a:r>
            <a:endParaRPr lang="en-US" sz="900" dirty="0"/>
          </a:p>
        </p:txBody>
      </p:sp>
      <p:sp>
        <p:nvSpPr>
          <p:cNvPr id="25" name="Text 23"/>
          <p:cNvSpPr/>
          <p:nvPr/>
        </p:nvSpPr>
        <p:spPr>
          <a:xfrm>
            <a:off x="4773168" y="2496312"/>
            <a:ext cx="4178808" cy="411480"/>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Centre d'examens TAXI / VTC / VMDTR</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Stage de préparation à l'installation pour la création d'une entreprise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Défenseur des intérêts généraux de l'artisanat et des chefs d'entreprise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Gère l'organisation et la formation de l'apprentissage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Tient le répertoire des métiers</a:t>
            </a:r>
            <a:endParaRPr lang="en-US" sz="850" dirty="0"/>
          </a:p>
        </p:txBody>
      </p:sp>
      <p:sp>
        <p:nvSpPr>
          <p:cNvPr id="26" name="Shape 24"/>
          <p:cNvSpPr/>
          <p:nvPr/>
        </p:nvSpPr>
        <p:spPr>
          <a:xfrm>
            <a:off x="274320" y="2999232"/>
            <a:ext cx="8595360" cy="685800"/>
          </a:xfrm>
          <a:prstGeom prst="rect">
            <a:avLst/>
          </a:prstGeom>
          <a:solidFill>
            <a:srgbClr val="E8F1FA"/>
          </a:solidFill>
          <a:ln w="6350">
            <a:solidFill>
              <a:srgbClr val="D0DCE8"/>
            </a:solidFill>
            <a:prstDash val="solid"/>
          </a:ln>
        </p:spPr>
        <p:txBody>
          <a:bodyPr/>
          <a:lstStyle/>
          <a:p>
            <a:endParaRPr lang="fr-FR"/>
          </a:p>
        </p:txBody>
      </p:sp>
      <p:sp>
        <p:nvSpPr>
          <p:cNvPr id="27" name="Shape 25"/>
          <p:cNvSpPr/>
          <p:nvPr/>
        </p:nvSpPr>
        <p:spPr>
          <a:xfrm>
            <a:off x="274320" y="2999232"/>
            <a:ext cx="8595360" cy="237744"/>
          </a:xfrm>
          <a:prstGeom prst="rect">
            <a:avLst/>
          </a:prstGeom>
          <a:solidFill>
            <a:srgbClr val="00897B"/>
          </a:solidFill>
          <a:ln w="12700">
            <a:solidFill>
              <a:srgbClr val="00897B"/>
            </a:solidFill>
            <a:prstDash val="solid"/>
          </a:ln>
        </p:spPr>
        <p:txBody>
          <a:bodyPr/>
          <a:lstStyle/>
          <a:p>
            <a:endParaRPr lang="fr-FR"/>
          </a:p>
        </p:txBody>
      </p:sp>
      <p:sp>
        <p:nvSpPr>
          <p:cNvPr id="28" name="Text 26"/>
          <p:cNvSpPr/>
          <p:nvPr/>
        </p:nvSpPr>
        <p:spPr>
          <a:xfrm>
            <a:off x="347472" y="2999232"/>
            <a:ext cx="8485632"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LES CENTRES DE FORMATION</a:t>
            </a:r>
            <a:endParaRPr lang="en-US" sz="900" dirty="0"/>
          </a:p>
        </p:txBody>
      </p:sp>
      <p:sp>
        <p:nvSpPr>
          <p:cNvPr id="29" name="Text 27"/>
          <p:cNvSpPr/>
          <p:nvPr/>
        </p:nvSpPr>
        <p:spPr>
          <a:xfrm>
            <a:off x="365760" y="3255264"/>
            <a:ext cx="8458200" cy="411480"/>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Dispensent les cours pour la préparation à l'examen de chauffeur TAXI, VTC et VMDTR</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Agréés par la préfecture pour une durée de 5 ans renouvelable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Proposent les formations continues obligatoires pour les chauffeurs TAXI, VTC et VMDTR</a:t>
            </a:r>
            <a:endParaRPr lang="en-US" sz="850" dirty="0"/>
          </a:p>
        </p:txBody>
      </p:sp>
      <p:sp>
        <p:nvSpPr>
          <p:cNvPr id="30" name="Shape 28"/>
          <p:cNvSpPr/>
          <p:nvPr/>
        </p:nvSpPr>
        <p:spPr>
          <a:xfrm>
            <a:off x="274320" y="3758184"/>
            <a:ext cx="8595360" cy="685800"/>
          </a:xfrm>
          <a:prstGeom prst="rect">
            <a:avLst/>
          </a:prstGeom>
          <a:solidFill>
            <a:srgbClr val="E8F1FA"/>
          </a:solidFill>
          <a:ln w="6350">
            <a:solidFill>
              <a:srgbClr val="D0DCE8"/>
            </a:solidFill>
            <a:prstDash val="solid"/>
          </a:ln>
        </p:spPr>
        <p:txBody>
          <a:bodyPr/>
          <a:lstStyle/>
          <a:p>
            <a:endParaRPr lang="fr-FR"/>
          </a:p>
        </p:txBody>
      </p:sp>
      <p:sp>
        <p:nvSpPr>
          <p:cNvPr id="31" name="Shape 29"/>
          <p:cNvSpPr/>
          <p:nvPr/>
        </p:nvSpPr>
        <p:spPr>
          <a:xfrm>
            <a:off x="274320" y="3758184"/>
            <a:ext cx="8595360" cy="237744"/>
          </a:xfrm>
          <a:prstGeom prst="rect">
            <a:avLst/>
          </a:prstGeom>
          <a:solidFill>
            <a:srgbClr val="C0392B"/>
          </a:solidFill>
          <a:ln w="12700">
            <a:solidFill>
              <a:srgbClr val="C0392B"/>
            </a:solidFill>
            <a:prstDash val="solid"/>
          </a:ln>
        </p:spPr>
        <p:txBody>
          <a:bodyPr/>
          <a:lstStyle/>
          <a:p>
            <a:endParaRPr lang="fr-FR"/>
          </a:p>
        </p:txBody>
      </p:sp>
      <p:sp>
        <p:nvSpPr>
          <p:cNvPr id="32" name="Text 30"/>
          <p:cNvSpPr/>
          <p:nvPr/>
        </p:nvSpPr>
        <p:spPr>
          <a:xfrm>
            <a:off x="347472" y="3758184"/>
            <a:ext cx="8485632"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LA COMMISSION DISCIPLINAIRE</a:t>
            </a:r>
            <a:endParaRPr lang="en-US" sz="900" dirty="0"/>
          </a:p>
        </p:txBody>
      </p:sp>
      <p:sp>
        <p:nvSpPr>
          <p:cNvPr id="33" name="Text 31"/>
          <p:cNvSpPr/>
          <p:nvPr/>
        </p:nvSpPr>
        <p:spPr>
          <a:xfrm>
            <a:off x="365760" y="4014216"/>
            <a:ext cx="8458200" cy="411480"/>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Peut comprendre jusqu'à 3 sections spécialisées : Taxis / VTC / VMDTR</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Composée à parts égales des membres du collège de l'État et du collège des professionnels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L'inculpé peut venir avec une personne de son choix</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Les organismes autour du T3P — Schéma de l'écosystème</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35/88</a:t>
            </a:r>
            <a:endParaRPr lang="en-US" sz="800" dirty="0"/>
          </a:p>
        </p:txBody>
      </p:sp>
      <p:sp>
        <p:nvSpPr>
          <p:cNvPr id="8" name="Text 6"/>
          <p:cNvSpPr/>
          <p:nvPr/>
        </p:nvSpPr>
        <p:spPr>
          <a:xfrm>
            <a:off x="274320" y="88696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Qui intervient auprès du conducteur T3P et pour quoi ?</a:t>
            </a:r>
            <a:endParaRPr lang="en-US" sz="1200" dirty="0"/>
          </a:p>
        </p:txBody>
      </p:sp>
      <p:sp>
        <p:nvSpPr>
          <p:cNvPr id="9" name="Shape 7"/>
          <p:cNvSpPr/>
          <p:nvPr/>
        </p:nvSpPr>
        <p:spPr>
          <a:xfrm>
            <a:off x="3520440" y="1993392"/>
            <a:ext cx="2103120" cy="804672"/>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3520440" y="1993392"/>
            <a:ext cx="2103120" cy="8046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CONDUCTEUR</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T3P</a:t>
            </a:r>
            <a:endParaRPr lang="en-US" sz="1200" dirty="0"/>
          </a:p>
        </p:txBody>
      </p:sp>
      <p:sp>
        <p:nvSpPr>
          <p:cNvPr id="11" name="Shape 9"/>
          <p:cNvSpPr/>
          <p:nvPr/>
        </p:nvSpPr>
        <p:spPr>
          <a:xfrm>
            <a:off x="137160" y="896112"/>
            <a:ext cx="2148840" cy="658368"/>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137160" y="896112"/>
            <a:ext cx="2148840" cy="65836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PRÉFECTURE</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(Carte pro / ADS)</a:t>
            </a:r>
            <a:endParaRPr lang="en-US" sz="950" dirty="0"/>
          </a:p>
        </p:txBody>
      </p:sp>
      <p:sp>
        <p:nvSpPr>
          <p:cNvPr id="13" name="Shape 11"/>
          <p:cNvSpPr/>
          <p:nvPr/>
        </p:nvSpPr>
        <p:spPr>
          <a:xfrm>
            <a:off x="2286000" y="1225296"/>
            <a:ext cx="1234440" cy="950976"/>
          </a:xfrm>
          <a:prstGeom prst="line">
            <a:avLst/>
          </a:prstGeom>
          <a:noFill/>
          <a:ln w="15240">
            <a:solidFill>
              <a:srgbClr val="1A3A5C"/>
            </a:solidFill>
            <a:prstDash val="solid"/>
          </a:ln>
        </p:spPr>
        <p:txBody>
          <a:bodyPr/>
          <a:lstStyle/>
          <a:p>
            <a:endParaRPr lang="fr-FR"/>
          </a:p>
        </p:txBody>
      </p:sp>
      <p:sp>
        <p:nvSpPr>
          <p:cNvPr id="14" name="Shape 12"/>
          <p:cNvSpPr/>
          <p:nvPr/>
        </p:nvSpPr>
        <p:spPr>
          <a:xfrm>
            <a:off x="137160" y="2331720"/>
            <a:ext cx="2148840" cy="658368"/>
          </a:xfrm>
          <a:prstGeom prst="rect">
            <a:avLst/>
          </a:prstGeom>
          <a:solidFill>
            <a:srgbClr val="2860A8"/>
          </a:solidFill>
          <a:ln w="12700">
            <a:solidFill>
              <a:srgbClr val="2860A8"/>
            </a:solidFill>
            <a:prstDash val="solid"/>
          </a:ln>
        </p:spPr>
        <p:txBody>
          <a:bodyPr/>
          <a:lstStyle/>
          <a:p>
            <a:endParaRPr lang="fr-FR"/>
          </a:p>
        </p:txBody>
      </p:sp>
      <p:sp>
        <p:nvSpPr>
          <p:cNvPr id="15" name="Text 13"/>
          <p:cNvSpPr/>
          <p:nvPr/>
        </p:nvSpPr>
        <p:spPr>
          <a:xfrm>
            <a:off x="137160" y="2331720"/>
            <a:ext cx="2148840" cy="65836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DRIEAT / DREAL</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(Registre VTC / LOTI)</a:t>
            </a:r>
            <a:endParaRPr lang="en-US" sz="950" dirty="0"/>
          </a:p>
        </p:txBody>
      </p:sp>
      <p:sp>
        <p:nvSpPr>
          <p:cNvPr id="16" name="Shape 14"/>
          <p:cNvSpPr/>
          <p:nvPr/>
        </p:nvSpPr>
        <p:spPr>
          <a:xfrm>
            <a:off x="2286000" y="2313432"/>
            <a:ext cx="1234440" cy="347472"/>
          </a:xfrm>
          <a:prstGeom prst="line">
            <a:avLst/>
          </a:prstGeom>
          <a:noFill/>
          <a:ln w="15240">
            <a:solidFill>
              <a:srgbClr val="2860A8"/>
            </a:solidFill>
            <a:prstDash val="solid"/>
          </a:ln>
        </p:spPr>
        <p:txBody>
          <a:bodyPr/>
          <a:lstStyle/>
          <a:p>
            <a:endParaRPr lang="fr-FR"/>
          </a:p>
        </p:txBody>
      </p:sp>
      <p:sp>
        <p:nvSpPr>
          <p:cNvPr id="17" name="Shape 15"/>
          <p:cNvSpPr/>
          <p:nvPr/>
        </p:nvSpPr>
        <p:spPr>
          <a:xfrm>
            <a:off x="137160" y="3749040"/>
            <a:ext cx="2148840" cy="658368"/>
          </a:xfrm>
          <a:prstGeom prst="rect">
            <a:avLst/>
          </a:prstGeom>
          <a:solidFill>
            <a:srgbClr val="00897B"/>
          </a:solidFill>
          <a:ln w="12700">
            <a:solidFill>
              <a:srgbClr val="00897B"/>
            </a:solidFill>
            <a:prstDash val="solid"/>
          </a:ln>
        </p:spPr>
        <p:txBody>
          <a:bodyPr/>
          <a:lstStyle/>
          <a:p>
            <a:endParaRPr lang="fr-FR"/>
          </a:p>
        </p:txBody>
      </p:sp>
      <p:sp>
        <p:nvSpPr>
          <p:cNvPr id="18" name="Text 16"/>
          <p:cNvSpPr/>
          <p:nvPr/>
        </p:nvSpPr>
        <p:spPr>
          <a:xfrm>
            <a:off x="137160" y="3749040"/>
            <a:ext cx="2148840" cy="65836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URSSAF</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(Cotisations sociales)</a:t>
            </a:r>
            <a:endParaRPr lang="en-US" sz="950" dirty="0"/>
          </a:p>
        </p:txBody>
      </p:sp>
      <p:sp>
        <p:nvSpPr>
          <p:cNvPr id="19" name="Shape 17"/>
          <p:cNvSpPr/>
          <p:nvPr/>
        </p:nvSpPr>
        <p:spPr>
          <a:xfrm>
            <a:off x="2286000" y="2450592"/>
            <a:ext cx="1234440" cy="1627632"/>
          </a:xfrm>
          <a:prstGeom prst="line">
            <a:avLst/>
          </a:prstGeom>
          <a:noFill/>
          <a:ln w="15240">
            <a:solidFill>
              <a:srgbClr val="00897B"/>
            </a:solidFill>
            <a:prstDash val="solid"/>
          </a:ln>
        </p:spPr>
        <p:txBody>
          <a:bodyPr/>
          <a:lstStyle/>
          <a:p>
            <a:endParaRPr lang="fr-FR"/>
          </a:p>
        </p:txBody>
      </p:sp>
      <p:sp>
        <p:nvSpPr>
          <p:cNvPr id="20" name="Shape 18"/>
          <p:cNvSpPr/>
          <p:nvPr/>
        </p:nvSpPr>
        <p:spPr>
          <a:xfrm>
            <a:off x="6766560" y="896112"/>
            <a:ext cx="2148840" cy="658368"/>
          </a:xfrm>
          <a:prstGeom prst="rect">
            <a:avLst/>
          </a:prstGeom>
          <a:solidFill>
            <a:srgbClr val="F4A227"/>
          </a:solidFill>
          <a:ln w="12700">
            <a:solidFill>
              <a:srgbClr val="F4A227"/>
            </a:solidFill>
            <a:prstDash val="solid"/>
          </a:ln>
        </p:spPr>
        <p:txBody>
          <a:bodyPr/>
          <a:lstStyle/>
          <a:p>
            <a:endParaRPr lang="fr-FR"/>
          </a:p>
        </p:txBody>
      </p:sp>
      <p:sp>
        <p:nvSpPr>
          <p:cNvPr id="21" name="Text 19"/>
          <p:cNvSpPr/>
          <p:nvPr/>
        </p:nvSpPr>
        <p:spPr>
          <a:xfrm>
            <a:off x="6766560" y="896112"/>
            <a:ext cx="2148840" cy="65836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CHAMBRE DES MÉTIERS</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(Examen / Formation)</a:t>
            </a:r>
            <a:endParaRPr lang="en-US" sz="950" dirty="0"/>
          </a:p>
        </p:txBody>
      </p:sp>
      <p:sp>
        <p:nvSpPr>
          <p:cNvPr id="22" name="Shape 20"/>
          <p:cNvSpPr/>
          <p:nvPr/>
        </p:nvSpPr>
        <p:spPr>
          <a:xfrm>
            <a:off x="5623560" y="1225296"/>
            <a:ext cx="1143000" cy="1362456"/>
          </a:xfrm>
          <a:prstGeom prst="line">
            <a:avLst/>
          </a:prstGeom>
          <a:noFill/>
          <a:ln w="15240">
            <a:solidFill>
              <a:srgbClr val="F4A227"/>
            </a:solidFill>
            <a:prstDash val="solid"/>
          </a:ln>
        </p:spPr>
        <p:txBody>
          <a:bodyPr/>
          <a:lstStyle/>
          <a:p>
            <a:endParaRPr lang="fr-FR"/>
          </a:p>
        </p:txBody>
      </p:sp>
      <p:sp>
        <p:nvSpPr>
          <p:cNvPr id="23" name="Shape 21"/>
          <p:cNvSpPr/>
          <p:nvPr/>
        </p:nvSpPr>
        <p:spPr>
          <a:xfrm>
            <a:off x="6766560" y="2331720"/>
            <a:ext cx="2148840" cy="658368"/>
          </a:xfrm>
          <a:prstGeom prst="rect">
            <a:avLst/>
          </a:prstGeom>
          <a:solidFill>
            <a:srgbClr val="C0392B"/>
          </a:solidFill>
          <a:ln w="12700">
            <a:solidFill>
              <a:srgbClr val="C0392B"/>
            </a:solidFill>
            <a:prstDash val="solid"/>
          </a:ln>
        </p:spPr>
        <p:txBody>
          <a:bodyPr/>
          <a:lstStyle/>
          <a:p>
            <a:endParaRPr lang="fr-FR"/>
          </a:p>
        </p:txBody>
      </p:sp>
      <p:sp>
        <p:nvSpPr>
          <p:cNvPr id="24" name="Text 22"/>
          <p:cNvSpPr/>
          <p:nvPr/>
        </p:nvSpPr>
        <p:spPr>
          <a:xfrm>
            <a:off x="6766560" y="2331720"/>
            <a:ext cx="2148840" cy="65836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POLICE / GENDARMERIE</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(Contrôle route)</a:t>
            </a:r>
            <a:endParaRPr lang="en-US" sz="950" dirty="0"/>
          </a:p>
        </p:txBody>
      </p:sp>
      <p:sp>
        <p:nvSpPr>
          <p:cNvPr id="25" name="Shape 23"/>
          <p:cNvSpPr/>
          <p:nvPr/>
        </p:nvSpPr>
        <p:spPr>
          <a:xfrm>
            <a:off x="5623560" y="2660904"/>
            <a:ext cx="1143000" cy="64008"/>
          </a:xfrm>
          <a:prstGeom prst="line">
            <a:avLst/>
          </a:prstGeom>
          <a:noFill/>
          <a:ln w="15240">
            <a:solidFill>
              <a:srgbClr val="C0392B"/>
            </a:solidFill>
            <a:prstDash val="solid"/>
          </a:ln>
        </p:spPr>
        <p:txBody>
          <a:bodyPr/>
          <a:lstStyle/>
          <a:p>
            <a:endParaRPr lang="fr-FR"/>
          </a:p>
        </p:txBody>
      </p:sp>
      <p:sp>
        <p:nvSpPr>
          <p:cNvPr id="26" name="Shape 24"/>
          <p:cNvSpPr/>
          <p:nvPr/>
        </p:nvSpPr>
        <p:spPr>
          <a:xfrm>
            <a:off x="6766560" y="3749040"/>
            <a:ext cx="2148840" cy="658368"/>
          </a:xfrm>
          <a:prstGeom prst="rect">
            <a:avLst/>
          </a:prstGeom>
          <a:solidFill>
            <a:srgbClr val="6B7A8D"/>
          </a:solidFill>
          <a:ln w="12700">
            <a:solidFill>
              <a:srgbClr val="6B7A8D"/>
            </a:solidFill>
            <a:prstDash val="solid"/>
          </a:ln>
        </p:spPr>
        <p:txBody>
          <a:bodyPr/>
          <a:lstStyle/>
          <a:p>
            <a:endParaRPr lang="fr-FR"/>
          </a:p>
        </p:txBody>
      </p:sp>
      <p:sp>
        <p:nvSpPr>
          <p:cNvPr id="27" name="Text 25"/>
          <p:cNvSpPr/>
          <p:nvPr/>
        </p:nvSpPr>
        <p:spPr>
          <a:xfrm>
            <a:off x="6766560" y="3749040"/>
            <a:ext cx="2148840" cy="65836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DGFIP / DGCCRF</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(Fiscal / Commercial)</a:t>
            </a:r>
            <a:endParaRPr lang="en-US" sz="950" dirty="0"/>
          </a:p>
        </p:txBody>
      </p:sp>
      <p:sp>
        <p:nvSpPr>
          <p:cNvPr id="28" name="Shape 26"/>
          <p:cNvSpPr/>
          <p:nvPr/>
        </p:nvSpPr>
        <p:spPr>
          <a:xfrm>
            <a:off x="5623560" y="2862072"/>
            <a:ext cx="1143000" cy="1216152"/>
          </a:xfrm>
          <a:prstGeom prst="line">
            <a:avLst/>
          </a:prstGeom>
          <a:noFill/>
          <a:ln w="15240">
            <a:solidFill>
              <a:srgbClr val="6B7A8D"/>
            </a:solidFill>
            <a:prstDash val="solid"/>
          </a:ln>
        </p:spPr>
        <p:txBody>
          <a:bodyPr/>
          <a:lstStyle/>
          <a:p>
            <a:endParaRPr lang="fr-FR"/>
          </a:p>
        </p:txBody>
      </p:sp>
      <p:sp>
        <p:nvSpPr>
          <p:cNvPr id="29" name="Shape 27"/>
          <p:cNvSpPr/>
          <p:nvPr/>
        </p:nvSpPr>
        <p:spPr>
          <a:xfrm>
            <a:off x="2560320" y="4526280"/>
            <a:ext cx="4023360" cy="475488"/>
          </a:xfrm>
          <a:prstGeom prst="rect">
            <a:avLst/>
          </a:prstGeom>
          <a:solidFill>
            <a:srgbClr val="0D2540"/>
          </a:solidFill>
          <a:ln w="12700">
            <a:solidFill>
              <a:srgbClr val="0D2540"/>
            </a:solidFill>
            <a:prstDash val="solid"/>
          </a:ln>
        </p:spPr>
        <p:txBody>
          <a:bodyPr/>
          <a:lstStyle/>
          <a:p>
            <a:endParaRPr lang="fr-FR"/>
          </a:p>
        </p:txBody>
      </p:sp>
      <p:sp>
        <p:nvSpPr>
          <p:cNvPr id="30" name="Text 28"/>
          <p:cNvSpPr/>
          <p:nvPr/>
        </p:nvSpPr>
        <p:spPr>
          <a:xfrm>
            <a:off x="2560320" y="4526280"/>
            <a:ext cx="4023360" cy="475488"/>
          </a:xfrm>
          <a:prstGeom prst="rect">
            <a:avLst/>
          </a:prstGeom>
          <a:noFill/>
          <a:ln/>
        </p:spPr>
        <p:txBody>
          <a:bodyPr wrap="square"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MINISTÈRE DES TRANSPORTS</a:t>
            </a:r>
            <a:endParaRPr lang="en-US" sz="950" dirty="0"/>
          </a:p>
          <a:p>
            <a:pPr marL="0" indent="0" algn="ctr">
              <a:buNone/>
            </a:pPr>
            <a:r>
              <a:rPr lang="en-US" sz="950" b="1" dirty="0">
                <a:solidFill>
                  <a:srgbClr val="FFFFFF"/>
                </a:solidFill>
                <a:latin typeface="Calibri" pitchFamily="34" charset="0"/>
                <a:ea typeface="Calibri" pitchFamily="34" charset="-122"/>
                <a:cs typeface="Calibri" pitchFamily="34" charset="-120"/>
              </a:rPr>
              <a:t>(politique nationale — lois et décrets)</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Synthèse — Les organismes gravitant autour du T3P (p.113)</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
        <p:nvSpPr>
          <p:cNvPr id="8" name="Shape 6"/>
          <p:cNvSpPr/>
          <p:nvPr/>
        </p:nvSpPr>
        <p:spPr>
          <a:xfrm>
            <a:off x="274320" y="932688"/>
            <a:ext cx="4315968" cy="749808"/>
          </a:xfrm>
          <a:prstGeom prst="rect">
            <a:avLst/>
          </a:prstGeom>
          <a:solidFill>
            <a:srgbClr val="E8F1FA"/>
          </a:solidFill>
          <a:ln w="6350">
            <a:solidFill>
              <a:srgbClr val="D0DCE8"/>
            </a:solidFill>
            <a:prstDash val="solid"/>
          </a:ln>
        </p:spPr>
        <p:txBody>
          <a:bodyPr/>
          <a:lstStyle/>
          <a:p>
            <a:endParaRPr lang="fr-FR"/>
          </a:p>
        </p:txBody>
      </p:sp>
      <p:sp>
        <p:nvSpPr>
          <p:cNvPr id="9" name="Shape 7"/>
          <p:cNvSpPr/>
          <p:nvPr/>
        </p:nvSpPr>
        <p:spPr>
          <a:xfrm>
            <a:off x="274320" y="932688"/>
            <a:ext cx="4315968" cy="237744"/>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347472" y="932688"/>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LES PRÉFECTURES</a:t>
            </a:r>
            <a:endParaRPr lang="en-US" sz="900" dirty="0"/>
          </a:p>
        </p:txBody>
      </p:sp>
      <p:sp>
        <p:nvSpPr>
          <p:cNvPr id="11" name="Text 9"/>
          <p:cNvSpPr/>
          <p:nvPr/>
        </p:nvSpPr>
        <p:spPr>
          <a:xfrm>
            <a:off x="365760" y="1188720"/>
            <a:ext cx="4178808" cy="4754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Enregistrement des documents administratifs carte Taxi/VTC/VMDTR</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Application et contrôle des lois concernant les taxis et les VTC</a:t>
            </a:r>
            <a:endParaRPr lang="en-US" sz="850" dirty="0"/>
          </a:p>
        </p:txBody>
      </p:sp>
      <p:sp>
        <p:nvSpPr>
          <p:cNvPr id="12" name="Shape 10"/>
          <p:cNvSpPr/>
          <p:nvPr/>
        </p:nvSpPr>
        <p:spPr>
          <a:xfrm>
            <a:off x="4681728" y="932688"/>
            <a:ext cx="4315968" cy="749808"/>
          </a:xfrm>
          <a:prstGeom prst="rect">
            <a:avLst/>
          </a:prstGeom>
          <a:solidFill>
            <a:srgbClr val="E8F1FA"/>
          </a:solidFill>
          <a:ln w="6350">
            <a:solidFill>
              <a:srgbClr val="D0DCE8"/>
            </a:solidFill>
            <a:prstDash val="solid"/>
          </a:ln>
        </p:spPr>
        <p:txBody>
          <a:bodyPr/>
          <a:lstStyle/>
          <a:p>
            <a:endParaRPr lang="fr-FR"/>
          </a:p>
        </p:txBody>
      </p:sp>
      <p:sp>
        <p:nvSpPr>
          <p:cNvPr id="13" name="Shape 11"/>
          <p:cNvSpPr/>
          <p:nvPr/>
        </p:nvSpPr>
        <p:spPr>
          <a:xfrm>
            <a:off x="4681728" y="932688"/>
            <a:ext cx="4315968" cy="237744"/>
          </a:xfrm>
          <a:prstGeom prst="rect">
            <a:avLst/>
          </a:prstGeom>
          <a:solidFill>
            <a:srgbClr val="F4A227"/>
          </a:solidFill>
          <a:ln w="12700">
            <a:solidFill>
              <a:srgbClr val="F4A227"/>
            </a:solidFill>
            <a:prstDash val="solid"/>
          </a:ln>
        </p:spPr>
        <p:txBody>
          <a:bodyPr/>
          <a:lstStyle/>
          <a:p>
            <a:endParaRPr lang="fr-FR"/>
          </a:p>
        </p:txBody>
      </p:sp>
      <p:sp>
        <p:nvSpPr>
          <p:cNvPr id="14" name="Text 12"/>
          <p:cNvSpPr/>
          <p:nvPr/>
        </p:nvSpPr>
        <p:spPr>
          <a:xfrm>
            <a:off x="4754880" y="932688"/>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MINISTÈRE DE LA TRANSITION ÉCOLOGIQUE ET SOLIDAIRE</a:t>
            </a:r>
            <a:endParaRPr lang="en-US" sz="900" dirty="0"/>
          </a:p>
        </p:txBody>
      </p:sp>
      <p:sp>
        <p:nvSpPr>
          <p:cNvPr id="15" name="Text 13"/>
          <p:cNvSpPr/>
          <p:nvPr/>
        </p:nvSpPr>
        <p:spPr>
          <a:xfrm>
            <a:off x="4773168" y="1188720"/>
            <a:ext cx="4178808" cy="4754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Prépare et suit la politique de l'État à l'égard des taxis et des VTC</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Inscription au registre des VTC — Demande de vignette VTC</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Répertorie la réglementation liée aux professions T3P</a:t>
            </a:r>
            <a:endParaRPr lang="en-US" sz="850" dirty="0"/>
          </a:p>
        </p:txBody>
      </p:sp>
      <p:sp>
        <p:nvSpPr>
          <p:cNvPr id="16" name="Shape 14"/>
          <p:cNvSpPr/>
          <p:nvPr/>
        </p:nvSpPr>
        <p:spPr>
          <a:xfrm>
            <a:off x="274320" y="1737360"/>
            <a:ext cx="4315968" cy="749808"/>
          </a:xfrm>
          <a:prstGeom prst="rect">
            <a:avLst/>
          </a:prstGeom>
          <a:solidFill>
            <a:srgbClr val="E8F1FA"/>
          </a:solidFill>
          <a:ln w="6350">
            <a:solidFill>
              <a:srgbClr val="D0DCE8"/>
            </a:solidFill>
            <a:prstDash val="solid"/>
          </a:ln>
        </p:spPr>
        <p:txBody>
          <a:bodyPr/>
          <a:lstStyle/>
          <a:p>
            <a:endParaRPr lang="fr-FR"/>
          </a:p>
        </p:txBody>
      </p:sp>
      <p:sp>
        <p:nvSpPr>
          <p:cNvPr id="17" name="Shape 15"/>
          <p:cNvSpPr/>
          <p:nvPr/>
        </p:nvSpPr>
        <p:spPr>
          <a:xfrm>
            <a:off x="274320" y="1737360"/>
            <a:ext cx="4315968" cy="237744"/>
          </a:xfrm>
          <a:prstGeom prst="rect">
            <a:avLst/>
          </a:prstGeom>
          <a:solidFill>
            <a:srgbClr val="2860A8"/>
          </a:solidFill>
          <a:ln w="12700">
            <a:solidFill>
              <a:srgbClr val="2860A8"/>
            </a:solidFill>
            <a:prstDash val="solid"/>
          </a:ln>
        </p:spPr>
        <p:txBody>
          <a:bodyPr/>
          <a:lstStyle/>
          <a:p>
            <a:endParaRPr lang="fr-FR"/>
          </a:p>
        </p:txBody>
      </p:sp>
      <p:sp>
        <p:nvSpPr>
          <p:cNvPr id="18" name="Text 16"/>
          <p:cNvSpPr/>
          <p:nvPr/>
        </p:nvSpPr>
        <p:spPr>
          <a:xfrm>
            <a:off x="347472" y="1737360"/>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DRIEAT (Île-de-France) / DREAL (autres régions)</a:t>
            </a:r>
            <a:endParaRPr lang="en-US" sz="900" dirty="0"/>
          </a:p>
        </p:txBody>
      </p:sp>
      <p:sp>
        <p:nvSpPr>
          <p:cNvPr id="19" name="Text 17"/>
          <p:cNvSpPr/>
          <p:nvPr/>
        </p:nvSpPr>
        <p:spPr>
          <a:xfrm>
            <a:off x="365760" y="1993392"/>
            <a:ext cx="4178808" cy="4754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Enregistrement des entreprises de transport public (personnes et marchandises)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Délivrance des licences de transport de personnes et de marchandises</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Contrôle l'application de la réglementation</a:t>
            </a:r>
            <a:endParaRPr lang="en-US" sz="850" dirty="0"/>
          </a:p>
        </p:txBody>
      </p:sp>
      <p:sp>
        <p:nvSpPr>
          <p:cNvPr id="20" name="Shape 18"/>
          <p:cNvSpPr/>
          <p:nvPr/>
        </p:nvSpPr>
        <p:spPr>
          <a:xfrm>
            <a:off x="4681728" y="1737360"/>
            <a:ext cx="4315968" cy="749808"/>
          </a:xfrm>
          <a:prstGeom prst="rect">
            <a:avLst/>
          </a:prstGeom>
          <a:solidFill>
            <a:srgbClr val="E8F1FA"/>
          </a:solidFill>
          <a:ln w="6350">
            <a:solidFill>
              <a:srgbClr val="D0DCE8"/>
            </a:solidFill>
            <a:prstDash val="solid"/>
          </a:ln>
        </p:spPr>
        <p:txBody>
          <a:bodyPr/>
          <a:lstStyle/>
          <a:p>
            <a:endParaRPr lang="fr-FR"/>
          </a:p>
        </p:txBody>
      </p:sp>
      <p:sp>
        <p:nvSpPr>
          <p:cNvPr id="21" name="Shape 19"/>
          <p:cNvSpPr/>
          <p:nvPr/>
        </p:nvSpPr>
        <p:spPr>
          <a:xfrm>
            <a:off x="4681728" y="1737360"/>
            <a:ext cx="4315968" cy="237744"/>
          </a:xfrm>
          <a:prstGeom prst="rect">
            <a:avLst/>
          </a:prstGeom>
          <a:solidFill>
            <a:srgbClr val="00897B"/>
          </a:solidFill>
          <a:ln w="12700">
            <a:solidFill>
              <a:srgbClr val="00897B"/>
            </a:solidFill>
            <a:prstDash val="solid"/>
          </a:ln>
        </p:spPr>
        <p:txBody>
          <a:bodyPr/>
          <a:lstStyle/>
          <a:p>
            <a:endParaRPr lang="fr-FR"/>
          </a:p>
        </p:txBody>
      </p:sp>
      <p:sp>
        <p:nvSpPr>
          <p:cNvPr id="22" name="Text 20"/>
          <p:cNvSpPr/>
          <p:nvPr/>
        </p:nvSpPr>
        <p:spPr>
          <a:xfrm>
            <a:off x="4754880" y="1737360"/>
            <a:ext cx="4206240"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CHAMBRE DES MÉTIERS ET DE L'ARTISANAT</a:t>
            </a:r>
            <a:endParaRPr lang="en-US" sz="900" dirty="0"/>
          </a:p>
        </p:txBody>
      </p:sp>
      <p:sp>
        <p:nvSpPr>
          <p:cNvPr id="23" name="Text 21"/>
          <p:cNvSpPr/>
          <p:nvPr/>
        </p:nvSpPr>
        <p:spPr>
          <a:xfrm>
            <a:off x="4773168" y="1993392"/>
            <a:ext cx="4178808" cy="4754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Centre d'examens TAXI/VTC/VMDTR</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Stage de préparation à l'installation pour la création d'une entreprise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Défenseur des intérêts généraux de l'artisanat et des chefs d'entreprise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Gère l'organisation et la formation de l'apprentissage — Tient le répertoire des métiers</a:t>
            </a:r>
            <a:endParaRPr lang="en-US" sz="850" dirty="0"/>
          </a:p>
        </p:txBody>
      </p:sp>
      <p:sp>
        <p:nvSpPr>
          <p:cNvPr id="24" name="Shape 22"/>
          <p:cNvSpPr/>
          <p:nvPr/>
        </p:nvSpPr>
        <p:spPr>
          <a:xfrm>
            <a:off x="274320" y="2542032"/>
            <a:ext cx="8595360" cy="749808"/>
          </a:xfrm>
          <a:prstGeom prst="rect">
            <a:avLst/>
          </a:prstGeom>
          <a:solidFill>
            <a:srgbClr val="E8F1FA"/>
          </a:solidFill>
          <a:ln w="6350">
            <a:solidFill>
              <a:srgbClr val="D0DCE8"/>
            </a:solidFill>
            <a:prstDash val="solid"/>
          </a:ln>
        </p:spPr>
        <p:txBody>
          <a:bodyPr/>
          <a:lstStyle/>
          <a:p>
            <a:endParaRPr lang="fr-FR"/>
          </a:p>
        </p:txBody>
      </p:sp>
      <p:sp>
        <p:nvSpPr>
          <p:cNvPr id="25" name="Shape 23"/>
          <p:cNvSpPr/>
          <p:nvPr/>
        </p:nvSpPr>
        <p:spPr>
          <a:xfrm>
            <a:off x="274320" y="2542032"/>
            <a:ext cx="8595360" cy="237744"/>
          </a:xfrm>
          <a:prstGeom prst="rect">
            <a:avLst/>
          </a:prstGeom>
          <a:solidFill>
            <a:srgbClr val="4A6B8A"/>
          </a:solidFill>
          <a:ln w="12700">
            <a:solidFill>
              <a:srgbClr val="4A6B8A"/>
            </a:solidFill>
            <a:prstDash val="solid"/>
          </a:ln>
        </p:spPr>
        <p:txBody>
          <a:bodyPr/>
          <a:lstStyle/>
          <a:p>
            <a:endParaRPr lang="fr-FR"/>
          </a:p>
        </p:txBody>
      </p:sp>
      <p:sp>
        <p:nvSpPr>
          <p:cNvPr id="26" name="Text 24"/>
          <p:cNvSpPr/>
          <p:nvPr/>
        </p:nvSpPr>
        <p:spPr>
          <a:xfrm>
            <a:off x="347472" y="2542032"/>
            <a:ext cx="8485632"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LES CENTRES DE FORMATION</a:t>
            </a:r>
            <a:endParaRPr lang="en-US" sz="900" dirty="0"/>
          </a:p>
        </p:txBody>
      </p:sp>
      <p:sp>
        <p:nvSpPr>
          <p:cNvPr id="27" name="Text 25"/>
          <p:cNvSpPr/>
          <p:nvPr/>
        </p:nvSpPr>
        <p:spPr>
          <a:xfrm>
            <a:off x="365760" y="2798064"/>
            <a:ext cx="8458200" cy="475488"/>
          </a:xfrm>
          <a:prstGeom prst="rect">
            <a:avLst/>
          </a:prstGeom>
          <a:noFill/>
          <a:ln/>
        </p:spPr>
        <p:txBody>
          <a:bodyPr wrap="square" rtlCol="0" anchor="t"/>
          <a:lstStyle/>
          <a:p>
            <a:pPr marL="0" indent="0">
              <a:buNone/>
            </a:pPr>
            <a:r>
              <a:rPr lang="en-US" sz="850" dirty="0">
                <a:solidFill>
                  <a:srgbClr val="3A3A3A"/>
                </a:solidFill>
                <a:latin typeface="Calibri" pitchFamily="34" charset="0"/>
                <a:ea typeface="Calibri" pitchFamily="34" charset="-122"/>
                <a:cs typeface="Calibri" pitchFamily="34" charset="-120"/>
              </a:rPr>
              <a:t>• Dispensent les cours pour la préparation à l'examen TAXI, VTC et VMDTR</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Agréés par la préfecture pour une durée de 5 ans renouvelable</a:t>
            </a:r>
            <a:endParaRPr lang="en-US" sz="850" dirty="0"/>
          </a:p>
          <a:p>
            <a:pPr marL="0" indent="0">
              <a:buNone/>
            </a:pPr>
            <a:r>
              <a:rPr lang="en-US" sz="850" dirty="0">
                <a:solidFill>
                  <a:srgbClr val="3A3A3A"/>
                </a:solidFill>
                <a:latin typeface="Calibri" pitchFamily="34" charset="0"/>
                <a:ea typeface="Calibri" pitchFamily="34" charset="-122"/>
                <a:cs typeface="Calibri" pitchFamily="34" charset="-120"/>
              </a:rPr>
              <a:t>• Proposent les formations continues obligatoires pour les chauffeurs T3P</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8. Les assurances obligatoires</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RC Circulation + RC Professionnelle — Loi Badinter — FGAO</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36/88</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Les 2 assurances obligatoires pour tout conducteur T3P</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RC de circulation + RC professionnelle — Toutes deux obligatoires et cumulatives</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37/88</a:t>
            </a:r>
            <a:endParaRPr lang="en-US" sz="800" dirty="0"/>
          </a:p>
        </p:txBody>
      </p:sp>
      <p:sp>
        <p:nvSpPr>
          <p:cNvPr id="9" name="Text 7"/>
          <p:cNvSpPr/>
          <p:nvPr/>
        </p:nvSpPr>
        <p:spPr>
          <a:xfrm>
            <a:off x="274320" y="1078992"/>
            <a:ext cx="8595360" cy="475488"/>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Tout conducteur T3P doit impérativement souscrire DEUX contrats d'assurance distincts. Ces deux assurances couvrent des risques différents et sont complémentaires. Oublier de déclarer l'usage professionnel peut entraîner un refus total d'indemnisation.</a:t>
            </a:r>
            <a:endParaRPr lang="en-US" sz="1200" dirty="0"/>
          </a:p>
        </p:txBody>
      </p:sp>
      <p:sp>
        <p:nvSpPr>
          <p:cNvPr id="10" name="Shape 8"/>
          <p:cNvSpPr/>
          <p:nvPr/>
        </p:nvSpPr>
        <p:spPr>
          <a:xfrm>
            <a:off x="274320" y="1627632"/>
            <a:ext cx="4160520" cy="208483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1" name="Shape 9"/>
          <p:cNvSpPr/>
          <p:nvPr/>
        </p:nvSpPr>
        <p:spPr>
          <a:xfrm>
            <a:off x="274320" y="1627632"/>
            <a:ext cx="4160520" cy="301752"/>
          </a:xfrm>
          <a:prstGeom prst="rect">
            <a:avLst/>
          </a:prstGeom>
          <a:solidFill>
            <a:srgbClr val="1A3A5C"/>
          </a:solidFill>
          <a:ln w="12700">
            <a:solidFill>
              <a:srgbClr val="1A3A5C"/>
            </a:solidFill>
            <a:prstDash val="solid"/>
          </a:ln>
        </p:spPr>
        <p:txBody>
          <a:bodyPr/>
          <a:lstStyle/>
          <a:p>
            <a:endParaRPr lang="fr-FR"/>
          </a:p>
        </p:txBody>
      </p:sp>
      <p:sp>
        <p:nvSpPr>
          <p:cNvPr id="12" name="Text 10"/>
          <p:cNvSpPr/>
          <p:nvPr/>
        </p:nvSpPr>
        <p:spPr>
          <a:xfrm>
            <a:off x="36576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1. RC CIRCULATION (à titre onéreux)</a:t>
            </a:r>
            <a:endParaRPr lang="en-US" sz="1050" dirty="0"/>
          </a:p>
        </p:txBody>
      </p:sp>
      <p:sp>
        <p:nvSpPr>
          <p:cNvPr id="13" name="Text 11"/>
          <p:cNvSpPr/>
          <p:nvPr/>
        </p:nvSpPr>
        <p:spPr>
          <a:xfrm>
            <a:off x="384048" y="1975104"/>
            <a:ext cx="3977640" cy="169164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Couvre les dommages CORPORELS, MATÉRIELS et IMMATÉRIELS causés à un client ou à un tiers AVEC L'IMPLICATION DU VÉHICULE.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Exemple : accident lors d'une course qui blesse le passager ou un autre usager de la route — le véhicule est impliqué.</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OBLIGATION : déclarer l'usage professionnel à l'assureur. Sans déclaration = fausse déclaration → risque de refus d'indemnisation total.</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Défaut d'assurance : DÉLIT — jusqu'à 3 750 € d'amende.</a:t>
            </a:r>
            <a:endParaRPr lang="en-US" sz="1000" dirty="0"/>
          </a:p>
        </p:txBody>
      </p:sp>
      <p:sp>
        <p:nvSpPr>
          <p:cNvPr id="14" name="Shape 12"/>
          <p:cNvSpPr/>
          <p:nvPr/>
        </p:nvSpPr>
        <p:spPr>
          <a:xfrm>
            <a:off x="4709160" y="1627632"/>
            <a:ext cx="4160520" cy="2084832"/>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5" name="Shape 13"/>
          <p:cNvSpPr/>
          <p:nvPr/>
        </p:nvSpPr>
        <p:spPr>
          <a:xfrm>
            <a:off x="4709160" y="1627632"/>
            <a:ext cx="4160520" cy="30175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4800600" y="1627632"/>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2. RC PROFESSIONNELLE (d'exploitation)</a:t>
            </a:r>
            <a:endParaRPr lang="en-US" sz="1050" dirty="0"/>
          </a:p>
        </p:txBody>
      </p:sp>
      <p:sp>
        <p:nvSpPr>
          <p:cNvPr id="17" name="Text 15"/>
          <p:cNvSpPr/>
          <p:nvPr/>
        </p:nvSpPr>
        <p:spPr>
          <a:xfrm>
            <a:off x="4818888" y="1975104"/>
            <a:ext cx="3977640" cy="1691640"/>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Couvre les dommages CORPORELS, MATÉRIELS et IMMATÉRIELS causés à un client ou à un tiers EN DEHORS DE TOUTE IMPLICATION DU VÉHICULE.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Exemple : un client glisse en montant dans le véhicule. Ou ses bagages sont endommagés lors du chargement. Le véhicule n'est pas impliqué dans un accident.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Les 3 éléments de la responsabilité civile : FAUTE + DOMMAGE + LIEN DE CAUSALITÉ.</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Sans ces 3 éléments simultanément, la responsabilité ne peut pas être engagée.</a:t>
            </a:r>
            <a:endParaRPr lang="en-US" sz="1000" dirty="0"/>
          </a:p>
        </p:txBody>
      </p:sp>
      <p:sp>
        <p:nvSpPr>
          <p:cNvPr id="18" name="Shape 16"/>
          <p:cNvSpPr/>
          <p:nvPr/>
        </p:nvSpPr>
        <p:spPr>
          <a:xfrm>
            <a:off x="274320" y="3785616"/>
            <a:ext cx="8595360" cy="868680"/>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9" name="Shape 17"/>
          <p:cNvSpPr/>
          <p:nvPr/>
        </p:nvSpPr>
        <p:spPr>
          <a:xfrm>
            <a:off x="274320" y="3785616"/>
            <a:ext cx="8595360" cy="301752"/>
          </a:xfrm>
          <a:prstGeom prst="rect">
            <a:avLst/>
          </a:prstGeom>
          <a:solidFill>
            <a:srgbClr val="1A3A5C"/>
          </a:solidFill>
          <a:ln w="12700">
            <a:solidFill>
              <a:srgbClr val="1A3A5C"/>
            </a:solidFill>
            <a:prstDash val="solid"/>
          </a:ln>
        </p:spPr>
        <p:txBody>
          <a:bodyPr/>
          <a:lstStyle/>
          <a:p>
            <a:endParaRPr lang="fr-FR"/>
          </a:p>
        </p:txBody>
      </p:sp>
      <p:sp>
        <p:nvSpPr>
          <p:cNvPr id="20" name="Text 18"/>
          <p:cNvSpPr/>
          <p:nvPr/>
        </p:nvSpPr>
        <p:spPr>
          <a:xfrm>
            <a:off x="365760" y="3785616"/>
            <a:ext cx="845820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LOI BADINTER (5 juillet 1985) — Protection des victimes + FGAO</a:t>
            </a:r>
            <a:endParaRPr lang="en-US" sz="1050" dirty="0"/>
          </a:p>
        </p:txBody>
      </p:sp>
      <p:sp>
        <p:nvSpPr>
          <p:cNvPr id="21" name="Text 19"/>
          <p:cNvSpPr/>
          <p:nvPr/>
        </p:nvSpPr>
        <p:spPr>
          <a:xfrm>
            <a:off x="384048" y="4133088"/>
            <a:ext cx="8412480" cy="475488"/>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La loi Badinter garantit l'indemnisation de TOUTES les victimes sous 3 conditions : accident de circulation + véhicule terrestre à moteur impliqué + implication du véhicule.</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FGAO (Fonds de Garantie des Assurances Obligatoires) : indemnise les victimes quand le responsable n'est PAS ASSURÉ ou n'est PAS IDENTIFIÉ (délit de fuite). Le conducteur non assuré reste personnellement redevable de la totalité des sommes versées.</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Les assurances — Schéma : qui couvre quoi ?</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38/88</a:t>
            </a:r>
            <a:endParaRPr lang="en-US" sz="800" dirty="0"/>
          </a:p>
        </p:txBody>
      </p:sp>
      <p:sp>
        <p:nvSpPr>
          <p:cNvPr id="8" name="Text 6"/>
          <p:cNvSpPr/>
          <p:nvPr/>
        </p:nvSpPr>
        <p:spPr>
          <a:xfrm>
            <a:off x="274320" y="88696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RC Circulation vs RC Professionnelle : les deux situations couvertes :</a:t>
            </a:r>
            <a:endParaRPr lang="en-US" sz="1200" dirty="0"/>
          </a:p>
        </p:txBody>
      </p:sp>
      <p:sp>
        <p:nvSpPr>
          <p:cNvPr id="9" name="Shape 7"/>
          <p:cNvSpPr/>
          <p:nvPr/>
        </p:nvSpPr>
        <p:spPr>
          <a:xfrm>
            <a:off x="274320" y="1234440"/>
            <a:ext cx="4160520" cy="3200400"/>
          </a:xfrm>
          <a:prstGeom prst="rect">
            <a:avLst/>
          </a:prstGeom>
          <a:solidFill>
            <a:srgbClr val="E8F1FA"/>
          </a:solidFill>
          <a:ln w="19050">
            <a:solidFill>
              <a:srgbClr val="1A3A5C"/>
            </a:solidFill>
            <a:prstDash val="solid"/>
          </a:ln>
        </p:spPr>
        <p:txBody>
          <a:bodyPr/>
          <a:lstStyle/>
          <a:p>
            <a:endParaRPr lang="fr-FR"/>
          </a:p>
        </p:txBody>
      </p:sp>
      <p:sp>
        <p:nvSpPr>
          <p:cNvPr id="10" name="Shape 8"/>
          <p:cNvSpPr/>
          <p:nvPr/>
        </p:nvSpPr>
        <p:spPr>
          <a:xfrm>
            <a:off x="274320" y="1234440"/>
            <a:ext cx="4160520" cy="347472"/>
          </a:xfrm>
          <a:prstGeom prst="rect">
            <a:avLst/>
          </a:prstGeom>
          <a:solidFill>
            <a:srgbClr val="1A3A5C"/>
          </a:solidFill>
          <a:ln w="12700">
            <a:solidFill>
              <a:srgbClr val="1A3A5C"/>
            </a:solidFill>
            <a:prstDash val="solid"/>
          </a:ln>
        </p:spPr>
        <p:txBody>
          <a:bodyPr/>
          <a:lstStyle/>
          <a:p>
            <a:endParaRPr lang="fr-FR"/>
          </a:p>
        </p:txBody>
      </p:sp>
      <p:sp>
        <p:nvSpPr>
          <p:cNvPr id="11" name="Text 9"/>
          <p:cNvSpPr/>
          <p:nvPr/>
        </p:nvSpPr>
        <p:spPr>
          <a:xfrm>
            <a:off x="274320" y="1234440"/>
            <a:ext cx="41605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RC CIRCULATION</a:t>
            </a:r>
            <a:endParaRPr lang="en-US" sz="1200" dirty="0"/>
          </a:p>
        </p:txBody>
      </p:sp>
      <p:sp>
        <p:nvSpPr>
          <p:cNvPr id="12" name="Text 10"/>
          <p:cNvSpPr/>
          <p:nvPr/>
        </p:nvSpPr>
        <p:spPr>
          <a:xfrm>
            <a:off x="457200" y="1645920"/>
            <a:ext cx="3794760" cy="594360"/>
          </a:xfrm>
          <a:prstGeom prst="rect">
            <a:avLst/>
          </a:prstGeom>
          <a:noFill/>
          <a:ln/>
        </p:spPr>
        <p:txBody>
          <a:bodyPr wrap="square" rtlCol="0" anchor="ctr"/>
          <a:lstStyle/>
          <a:p>
            <a:pPr marL="0" indent="0" algn="ctr">
              <a:buNone/>
            </a:pPr>
            <a:r>
              <a:rPr lang="en-US" sz="1300" b="1" dirty="0">
                <a:solidFill>
                  <a:srgbClr val="1A3A5C"/>
                </a:solidFill>
                <a:latin typeface="Calibri" pitchFamily="34" charset="0"/>
                <a:ea typeface="Calibri" pitchFamily="34" charset="-122"/>
                <a:cs typeface="Calibri" pitchFamily="34" charset="-120"/>
              </a:rPr>
              <a:t>VÉHICULE IMPLIQUÉ</a:t>
            </a:r>
            <a:endParaRPr lang="en-US" sz="1300" dirty="0"/>
          </a:p>
          <a:p>
            <a:pPr marL="0" indent="0" algn="ctr">
              <a:buNone/>
            </a:pPr>
            <a:r>
              <a:rPr lang="en-US" sz="1300" b="1" dirty="0">
                <a:solidFill>
                  <a:srgbClr val="1A3A5C"/>
                </a:solidFill>
                <a:latin typeface="Calibri" pitchFamily="34" charset="0"/>
                <a:ea typeface="Calibri" pitchFamily="34" charset="-122"/>
                <a:cs typeface="Calibri" pitchFamily="34" charset="-120"/>
              </a:rPr>
              <a:t>dans l'accident</a:t>
            </a:r>
            <a:endParaRPr lang="en-US" sz="1300" dirty="0"/>
          </a:p>
        </p:txBody>
      </p:sp>
      <p:sp>
        <p:nvSpPr>
          <p:cNvPr id="13" name="Text 11"/>
          <p:cNvSpPr/>
          <p:nvPr/>
        </p:nvSpPr>
        <p:spPr>
          <a:xfrm>
            <a:off x="365760" y="2286000"/>
            <a:ext cx="3931920" cy="2103120"/>
          </a:xfrm>
          <a:prstGeom prst="rect">
            <a:avLst/>
          </a:prstGeom>
          <a:noFill/>
          <a:ln/>
        </p:spPr>
        <p:txBody>
          <a:bodyPr wrap="square" rtlCol="0" anchor="t"/>
          <a:lstStyle/>
          <a:p>
            <a:pPr marL="0" indent="0">
              <a:buNone/>
            </a:pPr>
            <a:r>
              <a:rPr lang="en-US" sz="1050" dirty="0">
                <a:solidFill>
                  <a:srgbClr val="3A3A3A"/>
                </a:solidFill>
                <a:latin typeface="Calibri" pitchFamily="34" charset="0"/>
                <a:ea typeface="Calibri" pitchFamily="34" charset="-122"/>
                <a:cs typeface="Calibri" pitchFamily="34" charset="-120"/>
              </a:rPr>
              <a:t>Exemples :</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Accident avec un autre véhicule pendant une course</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Choc avec un piéton lors du trajet</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Collision dans un parking</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Tout dommage où le véhicule est impliqué</a:t>
            </a:r>
            <a:endParaRPr lang="en-US" sz="1050" dirty="0"/>
          </a:p>
          <a:p>
            <a:pPr marL="0" indent="0">
              <a:buNone/>
            </a:pP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Obligation : déclarer l'usage professionnel</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à l'assureur sinon refus d'indemnisation</a:t>
            </a:r>
            <a:endParaRPr lang="en-US" sz="1050" dirty="0"/>
          </a:p>
        </p:txBody>
      </p:sp>
      <p:sp>
        <p:nvSpPr>
          <p:cNvPr id="14" name="Shape 12"/>
          <p:cNvSpPr/>
          <p:nvPr/>
        </p:nvSpPr>
        <p:spPr>
          <a:xfrm>
            <a:off x="4709160" y="1234440"/>
            <a:ext cx="4160520" cy="3200400"/>
          </a:xfrm>
          <a:prstGeom prst="rect">
            <a:avLst/>
          </a:prstGeom>
          <a:solidFill>
            <a:srgbClr val="E8F1FA"/>
          </a:solidFill>
          <a:ln w="19050">
            <a:solidFill>
              <a:srgbClr val="2860A8"/>
            </a:solidFill>
            <a:prstDash val="solid"/>
          </a:ln>
        </p:spPr>
        <p:txBody>
          <a:bodyPr/>
          <a:lstStyle/>
          <a:p>
            <a:endParaRPr lang="fr-FR"/>
          </a:p>
        </p:txBody>
      </p:sp>
      <p:sp>
        <p:nvSpPr>
          <p:cNvPr id="15" name="Shape 13"/>
          <p:cNvSpPr/>
          <p:nvPr/>
        </p:nvSpPr>
        <p:spPr>
          <a:xfrm>
            <a:off x="4709160" y="1234440"/>
            <a:ext cx="4160520" cy="347472"/>
          </a:xfrm>
          <a:prstGeom prst="rect">
            <a:avLst/>
          </a:prstGeom>
          <a:solidFill>
            <a:srgbClr val="2860A8"/>
          </a:solidFill>
          <a:ln w="12700">
            <a:solidFill>
              <a:srgbClr val="2860A8"/>
            </a:solidFill>
            <a:prstDash val="solid"/>
          </a:ln>
        </p:spPr>
        <p:txBody>
          <a:bodyPr/>
          <a:lstStyle/>
          <a:p>
            <a:endParaRPr lang="fr-FR"/>
          </a:p>
        </p:txBody>
      </p:sp>
      <p:sp>
        <p:nvSpPr>
          <p:cNvPr id="16" name="Text 14"/>
          <p:cNvSpPr/>
          <p:nvPr/>
        </p:nvSpPr>
        <p:spPr>
          <a:xfrm>
            <a:off x="4709160" y="1234440"/>
            <a:ext cx="4160520" cy="347472"/>
          </a:xfrm>
          <a:prstGeom prst="rect">
            <a:avLst/>
          </a:prstGeom>
          <a:noFill/>
          <a:ln/>
        </p:spPr>
        <p:txBody>
          <a:bodyPr wrap="square"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RC PROFESSIONNELLE</a:t>
            </a:r>
            <a:endParaRPr lang="en-US" sz="1200" dirty="0"/>
          </a:p>
        </p:txBody>
      </p:sp>
      <p:sp>
        <p:nvSpPr>
          <p:cNvPr id="17" name="Text 15"/>
          <p:cNvSpPr/>
          <p:nvPr/>
        </p:nvSpPr>
        <p:spPr>
          <a:xfrm>
            <a:off x="4800600" y="1645920"/>
            <a:ext cx="3977640" cy="594360"/>
          </a:xfrm>
          <a:prstGeom prst="rect">
            <a:avLst/>
          </a:prstGeom>
          <a:noFill/>
          <a:ln/>
        </p:spPr>
        <p:txBody>
          <a:bodyPr wrap="square" rtlCol="0" anchor="ctr"/>
          <a:lstStyle/>
          <a:p>
            <a:pPr marL="0" indent="0" algn="ctr">
              <a:buNone/>
            </a:pPr>
            <a:r>
              <a:rPr lang="en-US" sz="1300" b="1" dirty="0">
                <a:solidFill>
                  <a:srgbClr val="2860A8"/>
                </a:solidFill>
                <a:latin typeface="Calibri" pitchFamily="34" charset="0"/>
                <a:ea typeface="Calibri" pitchFamily="34" charset="-122"/>
                <a:cs typeface="Calibri" pitchFamily="34" charset="-120"/>
              </a:rPr>
              <a:t>VÉHICULE NON IMPLIQUÉ</a:t>
            </a:r>
            <a:endParaRPr lang="en-US" sz="1300" dirty="0"/>
          </a:p>
          <a:p>
            <a:pPr marL="0" indent="0" algn="ctr">
              <a:buNone/>
            </a:pPr>
            <a:r>
              <a:rPr lang="en-US" sz="1300" b="1" dirty="0">
                <a:solidFill>
                  <a:srgbClr val="2860A8"/>
                </a:solidFill>
                <a:latin typeface="Calibri" pitchFamily="34" charset="0"/>
                <a:ea typeface="Calibri" pitchFamily="34" charset="-122"/>
                <a:cs typeface="Calibri" pitchFamily="34" charset="-120"/>
              </a:rPr>
              <a:t>pas d'accident de circulation</a:t>
            </a:r>
            <a:endParaRPr lang="en-US" sz="1300" dirty="0"/>
          </a:p>
        </p:txBody>
      </p:sp>
      <p:sp>
        <p:nvSpPr>
          <p:cNvPr id="18" name="Text 16"/>
          <p:cNvSpPr/>
          <p:nvPr/>
        </p:nvSpPr>
        <p:spPr>
          <a:xfrm>
            <a:off x="4800600" y="2286000"/>
            <a:ext cx="3977640" cy="2103120"/>
          </a:xfrm>
          <a:prstGeom prst="rect">
            <a:avLst/>
          </a:prstGeom>
          <a:noFill/>
          <a:ln/>
        </p:spPr>
        <p:txBody>
          <a:bodyPr wrap="square" rtlCol="0" anchor="t"/>
          <a:lstStyle/>
          <a:p>
            <a:pPr marL="0" indent="0">
              <a:buNone/>
            </a:pPr>
            <a:r>
              <a:rPr lang="en-US" sz="1050" dirty="0">
                <a:solidFill>
                  <a:srgbClr val="3A3A3A"/>
                </a:solidFill>
                <a:latin typeface="Calibri" pitchFamily="34" charset="0"/>
                <a:ea typeface="Calibri" pitchFamily="34" charset="-122"/>
                <a:cs typeface="Calibri" pitchFamily="34" charset="-120"/>
              </a:rPr>
              <a:t>Exemples :</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Client glisse en montant dans le véhicule</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Bagages endommagés lors du chargement</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Chute d'un passager à l'arrêt complet</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Mauvaise information causant un préjudice</a:t>
            </a:r>
            <a:endParaRPr lang="en-US" sz="1050" dirty="0"/>
          </a:p>
          <a:p>
            <a:pPr marL="0" indent="0">
              <a:buNone/>
            </a:pP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3 conditions : Faute + Dommage</a:t>
            </a:r>
            <a:endParaRPr lang="en-US" sz="1050" dirty="0"/>
          </a:p>
          <a:p>
            <a:pPr marL="0" indent="0">
              <a:buNone/>
            </a:pPr>
            <a:r>
              <a:rPr lang="en-US" sz="1050" dirty="0">
                <a:solidFill>
                  <a:srgbClr val="3A3A3A"/>
                </a:solidFill>
                <a:latin typeface="Calibri" pitchFamily="34" charset="0"/>
                <a:ea typeface="Calibri" pitchFamily="34" charset="-122"/>
                <a:cs typeface="Calibri" pitchFamily="34" charset="-120"/>
              </a:rPr>
              <a:t>+ Lien de causalité DIRECT</a:t>
            </a:r>
            <a:endParaRPr lang="en-US" sz="1050" dirty="0"/>
          </a:p>
        </p:txBody>
      </p:sp>
      <p:sp>
        <p:nvSpPr>
          <p:cNvPr id="19" name="Shape 17"/>
          <p:cNvSpPr/>
          <p:nvPr/>
        </p:nvSpPr>
        <p:spPr>
          <a:xfrm>
            <a:off x="274320" y="4526280"/>
            <a:ext cx="8595360" cy="274320"/>
          </a:xfrm>
          <a:prstGeom prst="rect">
            <a:avLst/>
          </a:prstGeom>
          <a:solidFill>
            <a:srgbClr val="FEF0EE"/>
          </a:solidFill>
          <a:ln w="19050">
            <a:solidFill>
              <a:srgbClr val="C0392B"/>
            </a:solidFill>
            <a:prstDash val="solid"/>
          </a:ln>
        </p:spPr>
        <p:txBody>
          <a:bodyPr/>
          <a:lstStyle/>
          <a:p>
            <a:endParaRPr lang="fr-FR"/>
          </a:p>
        </p:txBody>
      </p:sp>
      <p:sp>
        <p:nvSpPr>
          <p:cNvPr id="20" name="Shape 18"/>
          <p:cNvSpPr/>
          <p:nvPr/>
        </p:nvSpPr>
        <p:spPr>
          <a:xfrm>
            <a:off x="274320" y="4526280"/>
            <a:ext cx="54864" cy="274320"/>
          </a:xfrm>
          <a:prstGeom prst="rect">
            <a:avLst/>
          </a:prstGeom>
          <a:solidFill>
            <a:srgbClr val="C0392B"/>
          </a:solidFill>
          <a:ln w="12700">
            <a:solidFill>
              <a:srgbClr val="C0392B"/>
            </a:solidFill>
            <a:prstDash val="solid"/>
          </a:ln>
        </p:spPr>
        <p:txBody>
          <a:bodyPr/>
          <a:lstStyle/>
          <a:p>
            <a:endParaRPr lang="fr-FR"/>
          </a:p>
        </p:txBody>
      </p:sp>
      <p:sp>
        <p:nvSpPr>
          <p:cNvPr id="21" name="Text 19"/>
          <p:cNvSpPr/>
          <p:nvPr/>
        </p:nvSpPr>
        <p:spPr>
          <a:xfrm>
            <a:off x="384048" y="4526280"/>
            <a:ext cx="8467344" cy="274320"/>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Les 2 assurances sont CUMULATIVES et obligatoires. Ni l'une ni l'autre ne peut remplacer l'autre. Sanction : jusqu'à 3 750 € d'amende.</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9. Formation continue et visite médicale</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Obligations périodiques pour maintenir la carte professionnelle</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39/88</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Formation continue et visite médicale obligatoires</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Conditions de maintien de la carte professionnelle T3P</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42/88</a:t>
            </a:r>
            <a:endParaRPr lang="en-US" sz="800" dirty="0"/>
          </a:p>
        </p:txBody>
      </p:sp>
      <p:sp>
        <p:nvSpPr>
          <p:cNvPr id="9" name="Text 7"/>
          <p:cNvSpPr/>
          <p:nvPr/>
        </p:nvSpPr>
        <p:spPr>
          <a:xfrm>
            <a:off x="274320" y="1078992"/>
            <a:ext cx="8595360" cy="438912"/>
          </a:xfrm>
          <a:prstGeom prst="rect">
            <a:avLst/>
          </a:prstGeom>
          <a:noFill/>
          <a:ln/>
        </p:spPr>
        <p:txBody>
          <a:bodyPr wrap="square" rtlCol="0" anchor="t"/>
          <a:lstStyle/>
          <a:p>
            <a:pPr marL="0" indent="0">
              <a:buNone/>
            </a:pPr>
            <a:r>
              <a:rPr lang="en-US" sz="1200" dirty="0">
                <a:solidFill>
                  <a:srgbClr val="3A3A3A"/>
                </a:solidFill>
                <a:latin typeface="Calibri" pitchFamily="34" charset="0"/>
                <a:ea typeface="Calibri" pitchFamily="34" charset="-122"/>
                <a:cs typeface="Calibri" pitchFamily="34" charset="-120"/>
              </a:rPr>
              <a:t>Obtenir la carte professionnelle n'est qu'une première étape. Pour la conserver, deux obligations périodiques doivent être respectées : la formation continue et la visite médicale. Elles s'appliquent aux Taxis, VTC et VMDTR.</a:t>
            </a:r>
            <a:endParaRPr lang="en-US" sz="1200" dirty="0"/>
          </a:p>
        </p:txBody>
      </p:sp>
      <p:sp>
        <p:nvSpPr>
          <p:cNvPr id="10" name="Shape 8"/>
          <p:cNvSpPr/>
          <p:nvPr/>
        </p:nvSpPr>
        <p:spPr>
          <a:xfrm>
            <a:off x="274320" y="1572768"/>
            <a:ext cx="8595360" cy="384048"/>
          </a:xfrm>
          <a:prstGeom prst="rect">
            <a:avLst/>
          </a:prstGeom>
          <a:solidFill>
            <a:srgbClr val="1A3A5C"/>
          </a:solidFill>
          <a:ln w="12700">
            <a:solidFill>
              <a:srgbClr val="1A3A5C"/>
            </a:solidFill>
            <a:prstDash val="solid"/>
          </a:ln>
        </p:spPr>
        <p:txBody>
          <a:bodyPr/>
          <a:lstStyle/>
          <a:p>
            <a:endParaRPr lang="fr-FR"/>
          </a:p>
        </p:txBody>
      </p:sp>
      <p:sp>
        <p:nvSpPr>
          <p:cNvPr id="11" name="Text 9"/>
          <p:cNvSpPr/>
          <p:nvPr/>
        </p:nvSpPr>
        <p:spPr>
          <a:xfrm>
            <a:off x="274320" y="1572768"/>
            <a:ext cx="8595360" cy="384048"/>
          </a:xfrm>
          <a:prstGeom prst="rect">
            <a:avLst/>
          </a:prstGeom>
          <a:noFill/>
          <a:ln/>
        </p:spPr>
        <p:txBody>
          <a:bodyPr wrap="square"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FORMATION CONTINUE OBLIGATOIRE — 14 heures tous les 5 ANS — Taxi, VTC et VMDTR</a:t>
            </a:r>
            <a:endParaRPr lang="en-US" sz="1300" dirty="0"/>
          </a:p>
        </p:txBody>
      </p:sp>
      <p:sp>
        <p:nvSpPr>
          <p:cNvPr id="12" name="Shape 10"/>
          <p:cNvSpPr/>
          <p:nvPr/>
        </p:nvSpPr>
        <p:spPr>
          <a:xfrm>
            <a:off x="274320" y="2029968"/>
            <a:ext cx="4160520" cy="1207008"/>
          </a:xfrm>
          <a:prstGeom prst="rect">
            <a:avLst/>
          </a:prstGeom>
          <a:solidFill>
            <a:srgbClr val="E8F1F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3" name="Shape 11"/>
          <p:cNvSpPr/>
          <p:nvPr/>
        </p:nvSpPr>
        <p:spPr>
          <a:xfrm>
            <a:off x="274320" y="2029968"/>
            <a:ext cx="4160520" cy="301752"/>
          </a:xfrm>
          <a:prstGeom prst="rect">
            <a:avLst/>
          </a:prstGeom>
          <a:solidFill>
            <a:srgbClr val="2860A8"/>
          </a:solidFill>
          <a:ln w="12700">
            <a:solidFill>
              <a:srgbClr val="2860A8"/>
            </a:solidFill>
            <a:prstDash val="solid"/>
          </a:ln>
        </p:spPr>
        <p:txBody>
          <a:bodyPr/>
          <a:lstStyle/>
          <a:p>
            <a:endParaRPr lang="fr-FR"/>
          </a:p>
        </p:txBody>
      </p:sp>
      <p:sp>
        <p:nvSpPr>
          <p:cNvPr id="14" name="Text 12"/>
          <p:cNvSpPr/>
          <p:nvPr/>
        </p:nvSpPr>
        <p:spPr>
          <a:xfrm>
            <a:off x="365760" y="202996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CONTENU DE LA FORMATION</a:t>
            </a:r>
            <a:endParaRPr lang="en-US" sz="1050" dirty="0"/>
          </a:p>
        </p:txBody>
      </p:sp>
      <p:sp>
        <p:nvSpPr>
          <p:cNvPr id="15" name="Text 13"/>
          <p:cNvSpPr/>
          <p:nvPr/>
        </p:nvSpPr>
        <p:spPr>
          <a:xfrm>
            <a:off x="384048" y="2377440"/>
            <a:ext cx="3977640" cy="81381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Mise à jour réglementaire (nouvelles lois, arrêtés).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Révision de la sécurité routière spécifique T3P.</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Amélioration relation client — gestion situations difficiles.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Depuis 2024 : prévention des discriminations et des VSS.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Centre de formation AGRÉÉ par le Préfet (pour 5 ans).</a:t>
            </a:r>
            <a:endParaRPr lang="en-US" sz="1000" dirty="0"/>
          </a:p>
        </p:txBody>
      </p:sp>
      <p:sp>
        <p:nvSpPr>
          <p:cNvPr id="16" name="Shape 14"/>
          <p:cNvSpPr/>
          <p:nvPr/>
        </p:nvSpPr>
        <p:spPr>
          <a:xfrm>
            <a:off x="4709160" y="2029968"/>
            <a:ext cx="4160520" cy="1207008"/>
          </a:xfrm>
          <a:prstGeom prst="rect">
            <a:avLst/>
          </a:prstGeom>
          <a:solidFill>
            <a:srgbClr val="FDECEA"/>
          </a:solidFill>
          <a:ln w="6350">
            <a:solidFill>
              <a:srgbClr val="D0DCE8"/>
            </a:solidFill>
            <a:prstDash val="solid"/>
          </a:ln>
          <a:effectLst>
            <a:outerShdw blurRad="50800" dist="25400" dir="8100000" algn="bl" rotWithShape="0">
              <a:srgbClr val="000000">
                <a:alpha val="12000"/>
              </a:srgbClr>
            </a:outerShdw>
          </a:effectLst>
        </p:spPr>
        <p:txBody>
          <a:bodyPr/>
          <a:lstStyle/>
          <a:p>
            <a:endParaRPr lang="fr-FR"/>
          </a:p>
        </p:txBody>
      </p:sp>
      <p:sp>
        <p:nvSpPr>
          <p:cNvPr id="17" name="Shape 15"/>
          <p:cNvSpPr/>
          <p:nvPr/>
        </p:nvSpPr>
        <p:spPr>
          <a:xfrm>
            <a:off x="4709160" y="2029968"/>
            <a:ext cx="4160520" cy="301752"/>
          </a:xfrm>
          <a:prstGeom prst="rect">
            <a:avLst/>
          </a:prstGeom>
          <a:solidFill>
            <a:srgbClr val="C0392B"/>
          </a:solidFill>
          <a:ln w="12700">
            <a:solidFill>
              <a:srgbClr val="C0392B"/>
            </a:solidFill>
            <a:prstDash val="solid"/>
          </a:ln>
        </p:spPr>
        <p:txBody>
          <a:bodyPr/>
          <a:lstStyle/>
          <a:p>
            <a:endParaRPr lang="fr-FR"/>
          </a:p>
        </p:txBody>
      </p:sp>
      <p:sp>
        <p:nvSpPr>
          <p:cNvPr id="18" name="Text 16"/>
          <p:cNvSpPr/>
          <p:nvPr/>
        </p:nvSpPr>
        <p:spPr>
          <a:xfrm>
            <a:off x="4800600" y="2029968"/>
            <a:ext cx="4023360" cy="301752"/>
          </a:xfrm>
          <a:prstGeom prst="rect">
            <a:avLst/>
          </a:prstGeom>
          <a:noFill/>
          <a:ln/>
        </p:spPr>
        <p:txBody>
          <a:bodyPr wrap="square" lIns="0" tIns="0" rIns="0" bIns="0" rtlCol="0" anchor="ctr"/>
          <a:lstStyle/>
          <a:p>
            <a:pPr marL="0" indent="0">
              <a:buNone/>
            </a:pPr>
            <a:r>
              <a:rPr lang="en-US" sz="1050" b="1" dirty="0">
                <a:solidFill>
                  <a:srgbClr val="FFFFFF"/>
                </a:solidFill>
                <a:latin typeface="Calibri" pitchFamily="34" charset="0"/>
                <a:ea typeface="Calibri" pitchFamily="34" charset="-122"/>
                <a:cs typeface="Calibri" pitchFamily="34" charset="-120"/>
              </a:rPr>
              <a:t>CONSÉQUENCES DU NON-RESPECT</a:t>
            </a:r>
            <a:endParaRPr lang="en-US" sz="1050" dirty="0"/>
          </a:p>
        </p:txBody>
      </p:sp>
      <p:sp>
        <p:nvSpPr>
          <p:cNvPr id="19" name="Text 17"/>
          <p:cNvSpPr/>
          <p:nvPr/>
        </p:nvSpPr>
        <p:spPr>
          <a:xfrm>
            <a:off x="4818888" y="2377440"/>
            <a:ext cx="3977640" cy="813816"/>
          </a:xfrm>
          <a:prstGeom prst="rect">
            <a:avLst/>
          </a:prstGeom>
          <a:noFill/>
          <a:ln/>
        </p:spPr>
        <p:txBody>
          <a:bodyPr wrap="square" rtlCol="0" anchor="t"/>
          <a:lstStyle/>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La carte professionnelle NE PEUT PAS être renouvelée sans justificatif de formation.</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Exercer avec carte périmée = exercice illégal = DÉLIT.</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La formation peut être fractionnée sur les 5 ans.</a:t>
            </a:r>
            <a:endParaRPr lang="en-US" sz="1000" dirty="0"/>
          </a:p>
          <a:p>
            <a:pPr marL="342900" indent="-342900">
              <a:spcAft>
                <a:spcPts val="200"/>
              </a:spcAft>
              <a:buSzPct val="100000"/>
              <a:buChar char="•"/>
            </a:pPr>
            <a:r>
              <a:rPr lang="en-US" sz="1000" dirty="0">
                <a:solidFill>
                  <a:srgbClr val="3A3A3A"/>
                </a:solidFill>
                <a:latin typeface="Calibri" pitchFamily="34" charset="0"/>
                <a:ea typeface="Calibri" pitchFamily="34" charset="-122"/>
                <a:cs typeface="Calibri" pitchFamily="34" charset="-120"/>
              </a:rPr>
              <a:t>CPF mobilisable pour financer la formation continue.</a:t>
            </a:r>
            <a:endParaRPr lang="en-US" sz="1000" dirty="0"/>
          </a:p>
        </p:txBody>
      </p:sp>
      <p:sp>
        <p:nvSpPr>
          <p:cNvPr id="20" name="Text 18"/>
          <p:cNvSpPr/>
          <p:nvPr/>
        </p:nvSpPr>
        <p:spPr>
          <a:xfrm>
            <a:off x="274320" y="3310128"/>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Visite médicale obligatoire — Fréquence selon l'âge du conducteur :</a:t>
            </a:r>
            <a:endParaRPr lang="en-US" sz="1200" dirty="0"/>
          </a:p>
        </p:txBody>
      </p:sp>
      <p:sp>
        <p:nvSpPr>
          <p:cNvPr id="21" name="Shape 19"/>
          <p:cNvSpPr/>
          <p:nvPr/>
        </p:nvSpPr>
        <p:spPr>
          <a:xfrm>
            <a:off x="274320" y="3611880"/>
            <a:ext cx="2743200" cy="1097280"/>
          </a:xfrm>
          <a:prstGeom prst="rect">
            <a:avLst/>
          </a:prstGeom>
          <a:solidFill>
            <a:srgbClr val="E8F1FA"/>
          </a:solidFill>
          <a:ln w="6350">
            <a:solidFill>
              <a:srgbClr val="D0DCE8"/>
            </a:solidFill>
            <a:prstDash val="solid"/>
          </a:ln>
        </p:spPr>
        <p:txBody>
          <a:bodyPr/>
          <a:lstStyle/>
          <a:p>
            <a:endParaRPr lang="fr-FR"/>
          </a:p>
        </p:txBody>
      </p:sp>
      <p:sp>
        <p:nvSpPr>
          <p:cNvPr id="22" name="Shape 20"/>
          <p:cNvSpPr/>
          <p:nvPr/>
        </p:nvSpPr>
        <p:spPr>
          <a:xfrm>
            <a:off x="274320" y="3611880"/>
            <a:ext cx="2743200" cy="292608"/>
          </a:xfrm>
          <a:prstGeom prst="rect">
            <a:avLst/>
          </a:prstGeom>
          <a:solidFill>
            <a:srgbClr val="1A3A5C"/>
          </a:solidFill>
          <a:ln w="12700">
            <a:solidFill>
              <a:srgbClr val="1A3A5C"/>
            </a:solidFill>
            <a:prstDash val="solid"/>
          </a:ln>
        </p:spPr>
        <p:txBody>
          <a:bodyPr/>
          <a:lstStyle/>
          <a:p>
            <a:endParaRPr lang="fr-FR"/>
          </a:p>
        </p:txBody>
      </p:sp>
      <p:sp>
        <p:nvSpPr>
          <p:cNvPr id="23" name="Text 21"/>
          <p:cNvSpPr/>
          <p:nvPr/>
        </p:nvSpPr>
        <p:spPr>
          <a:xfrm>
            <a:off x="329184" y="3611880"/>
            <a:ext cx="265176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20 → 60 ans</a:t>
            </a:r>
            <a:endParaRPr lang="en-US" sz="1100" dirty="0"/>
          </a:p>
        </p:txBody>
      </p:sp>
      <p:sp>
        <p:nvSpPr>
          <p:cNvPr id="24" name="Text 22"/>
          <p:cNvSpPr/>
          <p:nvPr/>
        </p:nvSpPr>
        <p:spPr>
          <a:xfrm>
            <a:off x="320040" y="3931920"/>
            <a:ext cx="2651760" cy="749808"/>
          </a:xfrm>
          <a:prstGeom prst="rect">
            <a:avLst/>
          </a:prstGeom>
          <a:noFill/>
          <a:ln/>
        </p:spPr>
        <p:txBody>
          <a:bodyPr wrap="square" rtlCol="0" anchor="ctr"/>
          <a:lstStyle/>
          <a:p>
            <a:pPr marL="0" indent="0" algn="ctr">
              <a:buNone/>
            </a:pPr>
            <a:r>
              <a:rPr lang="en-US" sz="2000" b="1" dirty="0">
                <a:solidFill>
                  <a:srgbClr val="1A3A5C"/>
                </a:solidFill>
                <a:latin typeface="Calibri" pitchFamily="34" charset="0"/>
                <a:ea typeface="Calibri" pitchFamily="34" charset="-122"/>
                <a:cs typeface="Calibri" pitchFamily="34" charset="-120"/>
              </a:rPr>
              <a:t>Tous les</a:t>
            </a:r>
            <a:endParaRPr lang="en-US" sz="2000" dirty="0"/>
          </a:p>
          <a:p>
            <a:pPr marL="0" indent="0" algn="ctr">
              <a:buNone/>
            </a:pPr>
            <a:r>
              <a:rPr lang="en-US" sz="2000" b="1" dirty="0">
                <a:solidFill>
                  <a:srgbClr val="1A3A5C"/>
                </a:solidFill>
                <a:latin typeface="Calibri" pitchFamily="34" charset="0"/>
                <a:ea typeface="Calibri" pitchFamily="34" charset="-122"/>
                <a:cs typeface="Calibri" pitchFamily="34" charset="-120"/>
              </a:rPr>
              <a:t>5 ANS</a:t>
            </a:r>
            <a:endParaRPr lang="en-US" sz="2000" dirty="0"/>
          </a:p>
        </p:txBody>
      </p:sp>
      <p:sp>
        <p:nvSpPr>
          <p:cNvPr id="25" name="Shape 23"/>
          <p:cNvSpPr/>
          <p:nvPr/>
        </p:nvSpPr>
        <p:spPr>
          <a:xfrm>
            <a:off x="3154680" y="3611880"/>
            <a:ext cx="2743200" cy="1097280"/>
          </a:xfrm>
          <a:prstGeom prst="rect">
            <a:avLst/>
          </a:prstGeom>
          <a:solidFill>
            <a:srgbClr val="E8F1FA"/>
          </a:solidFill>
          <a:ln w="6350">
            <a:solidFill>
              <a:srgbClr val="D0DCE8"/>
            </a:solidFill>
            <a:prstDash val="solid"/>
          </a:ln>
        </p:spPr>
        <p:txBody>
          <a:bodyPr/>
          <a:lstStyle/>
          <a:p>
            <a:endParaRPr lang="fr-FR"/>
          </a:p>
        </p:txBody>
      </p:sp>
      <p:sp>
        <p:nvSpPr>
          <p:cNvPr id="26" name="Shape 24"/>
          <p:cNvSpPr/>
          <p:nvPr/>
        </p:nvSpPr>
        <p:spPr>
          <a:xfrm>
            <a:off x="3154680" y="3611880"/>
            <a:ext cx="2743200" cy="292608"/>
          </a:xfrm>
          <a:prstGeom prst="rect">
            <a:avLst/>
          </a:prstGeom>
          <a:solidFill>
            <a:srgbClr val="F4A227"/>
          </a:solidFill>
          <a:ln w="12700">
            <a:solidFill>
              <a:srgbClr val="F4A227"/>
            </a:solidFill>
            <a:prstDash val="solid"/>
          </a:ln>
        </p:spPr>
        <p:txBody>
          <a:bodyPr/>
          <a:lstStyle/>
          <a:p>
            <a:endParaRPr lang="fr-FR"/>
          </a:p>
        </p:txBody>
      </p:sp>
      <p:sp>
        <p:nvSpPr>
          <p:cNvPr id="27" name="Text 25"/>
          <p:cNvSpPr/>
          <p:nvPr/>
        </p:nvSpPr>
        <p:spPr>
          <a:xfrm>
            <a:off x="3209544" y="3611880"/>
            <a:ext cx="265176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60 → 76 ans</a:t>
            </a:r>
            <a:endParaRPr lang="en-US" sz="1100" dirty="0"/>
          </a:p>
        </p:txBody>
      </p:sp>
      <p:sp>
        <p:nvSpPr>
          <p:cNvPr id="28" name="Text 26"/>
          <p:cNvSpPr/>
          <p:nvPr/>
        </p:nvSpPr>
        <p:spPr>
          <a:xfrm>
            <a:off x="3200400" y="3931920"/>
            <a:ext cx="2651760" cy="749808"/>
          </a:xfrm>
          <a:prstGeom prst="rect">
            <a:avLst/>
          </a:prstGeom>
          <a:noFill/>
          <a:ln/>
        </p:spPr>
        <p:txBody>
          <a:bodyPr wrap="square" rtlCol="0" anchor="ctr"/>
          <a:lstStyle/>
          <a:p>
            <a:pPr marL="0" indent="0" algn="ctr">
              <a:buNone/>
            </a:pPr>
            <a:r>
              <a:rPr lang="en-US" sz="2000" b="1" dirty="0">
                <a:solidFill>
                  <a:srgbClr val="F4A227"/>
                </a:solidFill>
                <a:latin typeface="Calibri" pitchFamily="34" charset="0"/>
                <a:ea typeface="Calibri" pitchFamily="34" charset="-122"/>
                <a:cs typeface="Calibri" pitchFamily="34" charset="-120"/>
              </a:rPr>
              <a:t>Tous les</a:t>
            </a:r>
            <a:endParaRPr lang="en-US" sz="2000" dirty="0"/>
          </a:p>
          <a:p>
            <a:pPr marL="0" indent="0" algn="ctr">
              <a:buNone/>
            </a:pPr>
            <a:r>
              <a:rPr lang="en-US" sz="2000" b="1" dirty="0">
                <a:solidFill>
                  <a:srgbClr val="F4A227"/>
                </a:solidFill>
                <a:latin typeface="Calibri" pitchFamily="34" charset="0"/>
                <a:ea typeface="Calibri" pitchFamily="34" charset="-122"/>
                <a:cs typeface="Calibri" pitchFamily="34" charset="-120"/>
              </a:rPr>
              <a:t>2 ANS</a:t>
            </a:r>
            <a:endParaRPr lang="en-US" sz="2000" dirty="0"/>
          </a:p>
        </p:txBody>
      </p:sp>
      <p:sp>
        <p:nvSpPr>
          <p:cNvPr id="29" name="Shape 27"/>
          <p:cNvSpPr/>
          <p:nvPr/>
        </p:nvSpPr>
        <p:spPr>
          <a:xfrm>
            <a:off x="6035040" y="3611880"/>
            <a:ext cx="2743200" cy="1097280"/>
          </a:xfrm>
          <a:prstGeom prst="rect">
            <a:avLst/>
          </a:prstGeom>
          <a:solidFill>
            <a:srgbClr val="E8F1FA"/>
          </a:solidFill>
          <a:ln w="6350">
            <a:solidFill>
              <a:srgbClr val="D0DCE8"/>
            </a:solidFill>
            <a:prstDash val="solid"/>
          </a:ln>
        </p:spPr>
        <p:txBody>
          <a:bodyPr/>
          <a:lstStyle/>
          <a:p>
            <a:endParaRPr lang="fr-FR"/>
          </a:p>
        </p:txBody>
      </p:sp>
      <p:sp>
        <p:nvSpPr>
          <p:cNvPr id="30" name="Shape 28"/>
          <p:cNvSpPr/>
          <p:nvPr/>
        </p:nvSpPr>
        <p:spPr>
          <a:xfrm>
            <a:off x="6035040" y="3611880"/>
            <a:ext cx="2743200" cy="292608"/>
          </a:xfrm>
          <a:prstGeom prst="rect">
            <a:avLst/>
          </a:prstGeom>
          <a:solidFill>
            <a:srgbClr val="C0392B"/>
          </a:solidFill>
          <a:ln w="12700">
            <a:solidFill>
              <a:srgbClr val="C0392B"/>
            </a:solidFill>
            <a:prstDash val="solid"/>
          </a:ln>
        </p:spPr>
        <p:txBody>
          <a:bodyPr/>
          <a:lstStyle/>
          <a:p>
            <a:endParaRPr lang="fr-FR"/>
          </a:p>
        </p:txBody>
      </p:sp>
      <p:sp>
        <p:nvSpPr>
          <p:cNvPr id="31" name="Text 29"/>
          <p:cNvSpPr/>
          <p:nvPr/>
        </p:nvSpPr>
        <p:spPr>
          <a:xfrm>
            <a:off x="6089904" y="3611880"/>
            <a:ext cx="2651760" cy="292608"/>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76 ans et plus</a:t>
            </a:r>
            <a:endParaRPr lang="en-US" sz="1100" dirty="0"/>
          </a:p>
        </p:txBody>
      </p:sp>
      <p:sp>
        <p:nvSpPr>
          <p:cNvPr id="32" name="Text 30"/>
          <p:cNvSpPr/>
          <p:nvPr/>
        </p:nvSpPr>
        <p:spPr>
          <a:xfrm>
            <a:off x="6080760" y="3931920"/>
            <a:ext cx="2651760" cy="749808"/>
          </a:xfrm>
          <a:prstGeom prst="rect">
            <a:avLst/>
          </a:prstGeom>
          <a:noFill/>
          <a:ln/>
        </p:spPr>
        <p:txBody>
          <a:bodyPr wrap="square" rtlCol="0" anchor="ctr"/>
          <a:lstStyle/>
          <a:p>
            <a:pPr marL="0" indent="0" algn="ctr">
              <a:buNone/>
            </a:pPr>
            <a:r>
              <a:rPr lang="en-US" sz="2000" b="1" dirty="0">
                <a:solidFill>
                  <a:srgbClr val="C0392B"/>
                </a:solidFill>
                <a:latin typeface="Calibri" pitchFamily="34" charset="0"/>
                <a:ea typeface="Calibri" pitchFamily="34" charset="-122"/>
                <a:cs typeface="Calibri" pitchFamily="34" charset="-120"/>
              </a:rPr>
              <a:t>Chaque</a:t>
            </a:r>
            <a:endParaRPr lang="en-US" sz="2000" dirty="0"/>
          </a:p>
          <a:p>
            <a:pPr marL="0" indent="0" algn="ctr">
              <a:buNone/>
            </a:pPr>
            <a:r>
              <a:rPr lang="en-US" sz="2000" b="1" dirty="0">
                <a:solidFill>
                  <a:srgbClr val="C0392B"/>
                </a:solidFill>
                <a:latin typeface="Calibri" pitchFamily="34" charset="0"/>
                <a:ea typeface="Calibri" pitchFamily="34" charset="-122"/>
                <a:cs typeface="Calibri" pitchFamily="34" charset="-120"/>
              </a:rPr>
              <a:t>ANNÉE</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Formation et visite médicale — Schéma chronologique</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43/88</a:t>
            </a:r>
            <a:endParaRPr lang="en-US" sz="800" dirty="0"/>
          </a:p>
        </p:txBody>
      </p:sp>
      <p:sp>
        <p:nvSpPr>
          <p:cNvPr id="8" name="Text 6"/>
          <p:cNvSpPr/>
          <p:nvPr/>
        </p:nvSpPr>
        <p:spPr>
          <a:xfrm>
            <a:off x="274320" y="886968"/>
            <a:ext cx="8595360" cy="274320"/>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Schéma — Cycle de maintien de la carte professionnelle T3P dans le temps :</a:t>
            </a:r>
            <a:endParaRPr lang="en-US" sz="1200" dirty="0"/>
          </a:p>
        </p:txBody>
      </p:sp>
      <p:sp>
        <p:nvSpPr>
          <p:cNvPr id="9" name="Shape 7"/>
          <p:cNvSpPr/>
          <p:nvPr/>
        </p:nvSpPr>
        <p:spPr>
          <a:xfrm>
            <a:off x="457200" y="2029968"/>
            <a:ext cx="8229600" cy="0"/>
          </a:xfrm>
          <a:prstGeom prst="line">
            <a:avLst/>
          </a:prstGeom>
          <a:noFill/>
          <a:ln w="31750">
            <a:solidFill>
              <a:srgbClr val="2860A8"/>
            </a:solidFill>
            <a:prstDash val="solid"/>
          </a:ln>
        </p:spPr>
        <p:txBody>
          <a:bodyPr/>
          <a:lstStyle/>
          <a:p>
            <a:endParaRPr lang="fr-FR"/>
          </a:p>
        </p:txBody>
      </p:sp>
      <p:sp>
        <p:nvSpPr>
          <p:cNvPr id="10" name="Shape 8"/>
          <p:cNvSpPr/>
          <p:nvPr/>
        </p:nvSpPr>
        <p:spPr>
          <a:xfrm>
            <a:off x="384048" y="1901952"/>
            <a:ext cx="164592" cy="256032"/>
          </a:xfrm>
          <a:prstGeom prst="rect">
            <a:avLst/>
          </a:prstGeom>
          <a:solidFill>
            <a:srgbClr val="1A3A5C"/>
          </a:solidFill>
          <a:ln w="12700">
            <a:solidFill>
              <a:srgbClr val="1A3A5C"/>
            </a:solidFill>
            <a:prstDash val="solid"/>
          </a:ln>
        </p:spPr>
        <p:txBody>
          <a:bodyPr/>
          <a:lstStyle/>
          <a:p>
            <a:endParaRPr lang="fr-FR"/>
          </a:p>
        </p:txBody>
      </p:sp>
      <p:sp>
        <p:nvSpPr>
          <p:cNvPr id="11" name="Text 9"/>
          <p:cNvSpPr/>
          <p:nvPr/>
        </p:nvSpPr>
        <p:spPr>
          <a:xfrm>
            <a:off x="-274320" y="2212848"/>
            <a:ext cx="1463040" cy="566928"/>
          </a:xfrm>
          <a:prstGeom prst="rect">
            <a:avLst/>
          </a:prstGeom>
          <a:noFill/>
          <a:ln/>
        </p:spPr>
        <p:txBody>
          <a:bodyPr wrap="square" rtlCol="0" anchor="ctr"/>
          <a:lstStyle/>
          <a:p>
            <a:pPr marL="0" indent="0" algn="ctr">
              <a:buNone/>
            </a:pPr>
            <a:r>
              <a:rPr lang="en-US" sz="950" b="1" dirty="0">
                <a:solidFill>
                  <a:srgbClr val="1A3A5C"/>
                </a:solidFill>
                <a:latin typeface="Calibri" pitchFamily="34" charset="0"/>
                <a:ea typeface="Calibri" pitchFamily="34" charset="-122"/>
                <a:cs typeface="Calibri" pitchFamily="34" charset="-120"/>
              </a:rPr>
              <a:t>Obtention</a:t>
            </a:r>
            <a:endParaRPr lang="en-US" sz="950" dirty="0"/>
          </a:p>
          <a:p>
            <a:pPr marL="0" indent="0" algn="ctr">
              <a:buNone/>
            </a:pPr>
            <a:r>
              <a:rPr lang="en-US" sz="950" b="1" dirty="0">
                <a:solidFill>
                  <a:srgbClr val="1A3A5C"/>
                </a:solidFill>
                <a:latin typeface="Calibri" pitchFamily="34" charset="0"/>
                <a:ea typeface="Calibri" pitchFamily="34" charset="-122"/>
                <a:cs typeface="Calibri" pitchFamily="34" charset="-120"/>
              </a:rPr>
              <a:t>carte pro</a:t>
            </a:r>
            <a:endParaRPr lang="en-US" sz="950" dirty="0"/>
          </a:p>
        </p:txBody>
      </p:sp>
      <p:sp>
        <p:nvSpPr>
          <p:cNvPr id="12" name="Text 10"/>
          <p:cNvSpPr/>
          <p:nvPr/>
        </p:nvSpPr>
        <p:spPr>
          <a:xfrm>
            <a:off x="-182880" y="2816352"/>
            <a:ext cx="1280160" cy="347472"/>
          </a:xfrm>
          <a:prstGeom prst="rect">
            <a:avLst/>
          </a:prstGeom>
          <a:noFill/>
          <a:ln/>
        </p:spPr>
        <p:txBody>
          <a:bodyPr wrap="square" rtlCol="0" anchor="ctr"/>
          <a:lstStyle/>
          <a:p>
            <a:pPr marL="0" indent="0" algn="ctr">
              <a:buNone/>
            </a:pPr>
            <a:r>
              <a:rPr lang="en-US" sz="850" i="1" dirty="0">
                <a:solidFill>
                  <a:srgbClr val="6B7A8D"/>
                </a:solidFill>
                <a:latin typeface="Calibri" pitchFamily="34" charset="0"/>
                <a:ea typeface="Calibri" pitchFamily="34" charset="-122"/>
                <a:cs typeface="Calibri" pitchFamily="34" charset="-120"/>
              </a:rPr>
              <a:t>Examen réussi</a:t>
            </a:r>
            <a:endParaRPr lang="en-US" sz="850" dirty="0"/>
          </a:p>
        </p:txBody>
      </p:sp>
      <p:sp>
        <p:nvSpPr>
          <p:cNvPr id="13" name="Shape 11"/>
          <p:cNvSpPr/>
          <p:nvPr/>
        </p:nvSpPr>
        <p:spPr>
          <a:xfrm>
            <a:off x="2121408" y="1901952"/>
            <a:ext cx="164592" cy="256032"/>
          </a:xfrm>
          <a:prstGeom prst="rect">
            <a:avLst/>
          </a:prstGeom>
          <a:solidFill>
            <a:srgbClr val="2E7D32"/>
          </a:solidFill>
          <a:ln w="12700">
            <a:solidFill>
              <a:srgbClr val="2E7D32"/>
            </a:solidFill>
            <a:prstDash val="solid"/>
          </a:ln>
        </p:spPr>
        <p:txBody>
          <a:bodyPr/>
          <a:lstStyle/>
          <a:p>
            <a:endParaRPr lang="fr-FR"/>
          </a:p>
        </p:txBody>
      </p:sp>
      <p:sp>
        <p:nvSpPr>
          <p:cNvPr id="14" name="Text 12"/>
          <p:cNvSpPr/>
          <p:nvPr/>
        </p:nvSpPr>
        <p:spPr>
          <a:xfrm>
            <a:off x="1463040" y="2212848"/>
            <a:ext cx="1463040" cy="566928"/>
          </a:xfrm>
          <a:prstGeom prst="rect">
            <a:avLst/>
          </a:prstGeom>
          <a:noFill/>
          <a:ln/>
        </p:spPr>
        <p:txBody>
          <a:bodyPr wrap="square" rtlCol="0" anchor="ctr"/>
          <a:lstStyle/>
          <a:p>
            <a:pPr marL="0" indent="0" algn="ctr">
              <a:buNone/>
            </a:pPr>
            <a:r>
              <a:rPr lang="en-US" sz="950" b="1" dirty="0">
                <a:solidFill>
                  <a:srgbClr val="2E7D32"/>
                </a:solidFill>
                <a:latin typeface="Calibri" pitchFamily="34" charset="0"/>
                <a:ea typeface="Calibri" pitchFamily="34" charset="-122"/>
                <a:cs typeface="Calibri" pitchFamily="34" charset="-120"/>
              </a:rPr>
              <a:t>Visite méd.</a:t>
            </a:r>
            <a:endParaRPr lang="en-US" sz="950" dirty="0"/>
          </a:p>
          <a:p>
            <a:pPr marL="0" indent="0" algn="ctr">
              <a:buNone/>
            </a:pPr>
            <a:r>
              <a:rPr lang="en-US" sz="950" b="1" dirty="0">
                <a:solidFill>
                  <a:srgbClr val="2E7D32"/>
                </a:solidFill>
                <a:latin typeface="Calibri" pitchFamily="34" charset="0"/>
                <a:ea typeface="Calibri" pitchFamily="34" charset="-122"/>
                <a:cs typeface="Calibri" pitchFamily="34" charset="-120"/>
              </a:rPr>
              <a:t>(20-60 ans)</a:t>
            </a:r>
            <a:endParaRPr lang="en-US" sz="950" dirty="0"/>
          </a:p>
        </p:txBody>
      </p:sp>
      <p:sp>
        <p:nvSpPr>
          <p:cNvPr id="15" name="Text 13"/>
          <p:cNvSpPr/>
          <p:nvPr/>
        </p:nvSpPr>
        <p:spPr>
          <a:xfrm>
            <a:off x="1554480" y="2816352"/>
            <a:ext cx="1280160" cy="347472"/>
          </a:xfrm>
          <a:prstGeom prst="rect">
            <a:avLst/>
          </a:prstGeom>
          <a:noFill/>
          <a:ln/>
        </p:spPr>
        <p:txBody>
          <a:bodyPr wrap="square" rtlCol="0" anchor="ctr"/>
          <a:lstStyle/>
          <a:p>
            <a:pPr marL="0" indent="0" algn="ctr">
              <a:buNone/>
            </a:pPr>
            <a:r>
              <a:rPr lang="en-US" sz="850" i="1" dirty="0">
                <a:solidFill>
                  <a:srgbClr val="6B7A8D"/>
                </a:solidFill>
                <a:latin typeface="Calibri" pitchFamily="34" charset="0"/>
                <a:ea typeface="Calibri" pitchFamily="34" charset="-122"/>
                <a:cs typeface="Calibri" pitchFamily="34" charset="-120"/>
              </a:rPr>
              <a:t>Tous les 5 ans</a:t>
            </a:r>
            <a:endParaRPr lang="en-US" sz="850" dirty="0"/>
          </a:p>
        </p:txBody>
      </p:sp>
      <p:sp>
        <p:nvSpPr>
          <p:cNvPr id="16" name="Shape 14"/>
          <p:cNvSpPr/>
          <p:nvPr/>
        </p:nvSpPr>
        <p:spPr>
          <a:xfrm>
            <a:off x="4041648" y="1901952"/>
            <a:ext cx="164592" cy="256032"/>
          </a:xfrm>
          <a:prstGeom prst="rect">
            <a:avLst/>
          </a:prstGeom>
          <a:solidFill>
            <a:srgbClr val="2860A8"/>
          </a:solidFill>
          <a:ln w="12700">
            <a:solidFill>
              <a:srgbClr val="2860A8"/>
            </a:solidFill>
            <a:prstDash val="solid"/>
          </a:ln>
        </p:spPr>
        <p:txBody>
          <a:bodyPr/>
          <a:lstStyle/>
          <a:p>
            <a:endParaRPr lang="fr-FR"/>
          </a:p>
        </p:txBody>
      </p:sp>
      <p:sp>
        <p:nvSpPr>
          <p:cNvPr id="17" name="Text 15"/>
          <p:cNvSpPr/>
          <p:nvPr/>
        </p:nvSpPr>
        <p:spPr>
          <a:xfrm>
            <a:off x="3383280" y="2212848"/>
            <a:ext cx="1463040" cy="566928"/>
          </a:xfrm>
          <a:prstGeom prst="rect">
            <a:avLst/>
          </a:prstGeom>
          <a:noFill/>
          <a:ln/>
        </p:spPr>
        <p:txBody>
          <a:bodyPr wrap="square" rtlCol="0" anchor="ctr"/>
          <a:lstStyle/>
          <a:p>
            <a:pPr marL="0" indent="0" algn="ctr">
              <a:buNone/>
            </a:pPr>
            <a:r>
              <a:rPr lang="en-US" sz="950" b="1" dirty="0">
                <a:solidFill>
                  <a:srgbClr val="2860A8"/>
                </a:solidFill>
                <a:latin typeface="Calibri" pitchFamily="34" charset="0"/>
                <a:ea typeface="Calibri" pitchFamily="34" charset="-122"/>
                <a:cs typeface="Calibri" pitchFamily="34" charset="-120"/>
              </a:rPr>
              <a:t>Formation</a:t>
            </a:r>
            <a:endParaRPr lang="en-US" sz="950" dirty="0"/>
          </a:p>
          <a:p>
            <a:pPr marL="0" indent="0" algn="ctr">
              <a:buNone/>
            </a:pPr>
            <a:r>
              <a:rPr lang="en-US" sz="950" b="1" dirty="0">
                <a:solidFill>
                  <a:srgbClr val="2860A8"/>
                </a:solidFill>
                <a:latin typeface="Calibri" pitchFamily="34" charset="0"/>
                <a:ea typeface="Calibri" pitchFamily="34" charset="-122"/>
                <a:cs typeface="Calibri" pitchFamily="34" charset="-120"/>
              </a:rPr>
              <a:t>continue</a:t>
            </a:r>
            <a:endParaRPr lang="en-US" sz="950" dirty="0"/>
          </a:p>
        </p:txBody>
      </p:sp>
      <p:sp>
        <p:nvSpPr>
          <p:cNvPr id="18" name="Text 16"/>
          <p:cNvSpPr/>
          <p:nvPr/>
        </p:nvSpPr>
        <p:spPr>
          <a:xfrm>
            <a:off x="3474720" y="2816352"/>
            <a:ext cx="1280160" cy="347472"/>
          </a:xfrm>
          <a:prstGeom prst="rect">
            <a:avLst/>
          </a:prstGeom>
          <a:noFill/>
          <a:ln/>
        </p:spPr>
        <p:txBody>
          <a:bodyPr wrap="square" rtlCol="0" anchor="ctr"/>
          <a:lstStyle/>
          <a:p>
            <a:pPr marL="0" indent="0" algn="ctr">
              <a:buNone/>
            </a:pPr>
            <a:r>
              <a:rPr lang="en-US" sz="850" i="1" dirty="0">
                <a:solidFill>
                  <a:srgbClr val="6B7A8D"/>
                </a:solidFill>
                <a:latin typeface="Calibri" pitchFamily="34" charset="0"/>
                <a:ea typeface="Calibri" pitchFamily="34" charset="-122"/>
                <a:cs typeface="Calibri" pitchFamily="34" charset="-120"/>
              </a:rPr>
              <a:t>14h — Centre agréé</a:t>
            </a:r>
            <a:endParaRPr lang="en-US" sz="850" dirty="0"/>
          </a:p>
        </p:txBody>
      </p:sp>
      <p:sp>
        <p:nvSpPr>
          <p:cNvPr id="19" name="Shape 17"/>
          <p:cNvSpPr/>
          <p:nvPr/>
        </p:nvSpPr>
        <p:spPr>
          <a:xfrm>
            <a:off x="5870448" y="1901952"/>
            <a:ext cx="164592" cy="256032"/>
          </a:xfrm>
          <a:prstGeom prst="rect">
            <a:avLst/>
          </a:prstGeom>
          <a:solidFill>
            <a:srgbClr val="F4A227"/>
          </a:solidFill>
          <a:ln w="12700">
            <a:solidFill>
              <a:srgbClr val="F4A227"/>
            </a:solidFill>
            <a:prstDash val="solid"/>
          </a:ln>
        </p:spPr>
        <p:txBody>
          <a:bodyPr/>
          <a:lstStyle/>
          <a:p>
            <a:endParaRPr lang="fr-FR"/>
          </a:p>
        </p:txBody>
      </p:sp>
      <p:sp>
        <p:nvSpPr>
          <p:cNvPr id="20" name="Text 18"/>
          <p:cNvSpPr/>
          <p:nvPr/>
        </p:nvSpPr>
        <p:spPr>
          <a:xfrm>
            <a:off x="5212080" y="2212848"/>
            <a:ext cx="1463040" cy="566928"/>
          </a:xfrm>
          <a:prstGeom prst="rect">
            <a:avLst/>
          </a:prstGeom>
          <a:noFill/>
          <a:ln/>
        </p:spPr>
        <p:txBody>
          <a:bodyPr wrap="square" rtlCol="0" anchor="ctr"/>
          <a:lstStyle/>
          <a:p>
            <a:pPr marL="0" indent="0" algn="ctr">
              <a:buNone/>
            </a:pPr>
            <a:r>
              <a:rPr lang="en-US" sz="950" b="1" dirty="0">
                <a:solidFill>
                  <a:srgbClr val="F4A227"/>
                </a:solidFill>
                <a:latin typeface="Calibri" pitchFamily="34" charset="0"/>
                <a:ea typeface="Calibri" pitchFamily="34" charset="-122"/>
                <a:cs typeface="Calibri" pitchFamily="34" charset="-120"/>
              </a:rPr>
              <a:t>Visite méd.</a:t>
            </a:r>
            <a:endParaRPr lang="en-US" sz="950" dirty="0"/>
          </a:p>
          <a:p>
            <a:pPr marL="0" indent="0" algn="ctr">
              <a:buNone/>
            </a:pPr>
            <a:r>
              <a:rPr lang="en-US" sz="950" b="1" dirty="0">
                <a:solidFill>
                  <a:srgbClr val="F4A227"/>
                </a:solidFill>
                <a:latin typeface="Calibri" pitchFamily="34" charset="0"/>
                <a:ea typeface="Calibri" pitchFamily="34" charset="-122"/>
                <a:cs typeface="Calibri" pitchFamily="34" charset="-120"/>
              </a:rPr>
              <a:t>(60-76 ans)</a:t>
            </a:r>
            <a:endParaRPr lang="en-US" sz="950" dirty="0"/>
          </a:p>
        </p:txBody>
      </p:sp>
      <p:sp>
        <p:nvSpPr>
          <p:cNvPr id="21" name="Text 19"/>
          <p:cNvSpPr/>
          <p:nvPr/>
        </p:nvSpPr>
        <p:spPr>
          <a:xfrm>
            <a:off x="5303520" y="2816352"/>
            <a:ext cx="1280160" cy="347472"/>
          </a:xfrm>
          <a:prstGeom prst="rect">
            <a:avLst/>
          </a:prstGeom>
          <a:noFill/>
          <a:ln/>
        </p:spPr>
        <p:txBody>
          <a:bodyPr wrap="square" rtlCol="0" anchor="ctr"/>
          <a:lstStyle/>
          <a:p>
            <a:pPr marL="0" indent="0" algn="ctr">
              <a:buNone/>
            </a:pPr>
            <a:r>
              <a:rPr lang="en-US" sz="850" i="1" dirty="0">
                <a:solidFill>
                  <a:srgbClr val="6B7A8D"/>
                </a:solidFill>
                <a:latin typeface="Calibri" pitchFamily="34" charset="0"/>
                <a:ea typeface="Calibri" pitchFamily="34" charset="-122"/>
                <a:cs typeface="Calibri" pitchFamily="34" charset="-120"/>
              </a:rPr>
              <a:t>Tous les 2 ans</a:t>
            </a:r>
            <a:endParaRPr lang="en-US" sz="850" dirty="0"/>
          </a:p>
        </p:txBody>
      </p:sp>
      <p:sp>
        <p:nvSpPr>
          <p:cNvPr id="22" name="Shape 20"/>
          <p:cNvSpPr/>
          <p:nvPr/>
        </p:nvSpPr>
        <p:spPr>
          <a:xfrm>
            <a:off x="7699248" y="1901952"/>
            <a:ext cx="164592" cy="256032"/>
          </a:xfrm>
          <a:prstGeom prst="rect">
            <a:avLst/>
          </a:prstGeom>
          <a:solidFill>
            <a:srgbClr val="C0392B"/>
          </a:solidFill>
          <a:ln w="12700">
            <a:solidFill>
              <a:srgbClr val="C0392B"/>
            </a:solidFill>
            <a:prstDash val="solid"/>
          </a:ln>
        </p:spPr>
        <p:txBody>
          <a:bodyPr/>
          <a:lstStyle/>
          <a:p>
            <a:endParaRPr lang="fr-FR"/>
          </a:p>
        </p:txBody>
      </p:sp>
      <p:sp>
        <p:nvSpPr>
          <p:cNvPr id="23" name="Text 21"/>
          <p:cNvSpPr/>
          <p:nvPr/>
        </p:nvSpPr>
        <p:spPr>
          <a:xfrm>
            <a:off x="7040880" y="2212848"/>
            <a:ext cx="1463040" cy="566928"/>
          </a:xfrm>
          <a:prstGeom prst="rect">
            <a:avLst/>
          </a:prstGeom>
          <a:noFill/>
          <a:ln/>
        </p:spPr>
        <p:txBody>
          <a:bodyPr wrap="square" rtlCol="0" anchor="ctr"/>
          <a:lstStyle/>
          <a:p>
            <a:pPr marL="0" indent="0" algn="ctr">
              <a:buNone/>
            </a:pPr>
            <a:r>
              <a:rPr lang="en-US" sz="950" b="1" dirty="0">
                <a:solidFill>
                  <a:srgbClr val="C0392B"/>
                </a:solidFill>
                <a:latin typeface="Calibri" pitchFamily="34" charset="0"/>
                <a:ea typeface="Calibri" pitchFamily="34" charset="-122"/>
                <a:cs typeface="Calibri" pitchFamily="34" charset="-120"/>
              </a:rPr>
              <a:t>Visite méd.</a:t>
            </a:r>
            <a:endParaRPr lang="en-US" sz="950" dirty="0"/>
          </a:p>
          <a:p>
            <a:pPr marL="0" indent="0" algn="ctr">
              <a:buNone/>
            </a:pPr>
            <a:r>
              <a:rPr lang="en-US" sz="950" b="1" dirty="0">
                <a:solidFill>
                  <a:srgbClr val="C0392B"/>
                </a:solidFill>
                <a:latin typeface="Calibri" pitchFamily="34" charset="0"/>
                <a:ea typeface="Calibri" pitchFamily="34" charset="-122"/>
                <a:cs typeface="Calibri" pitchFamily="34" charset="-120"/>
              </a:rPr>
              <a:t>(76 ans+)</a:t>
            </a:r>
            <a:endParaRPr lang="en-US" sz="950" dirty="0"/>
          </a:p>
        </p:txBody>
      </p:sp>
      <p:sp>
        <p:nvSpPr>
          <p:cNvPr id="24" name="Text 22"/>
          <p:cNvSpPr/>
          <p:nvPr/>
        </p:nvSpPr>
        <p:spPr>
          <a:xfrm>
            <a:off x="7132320" y="2816352"/>
            <a:ext cx="1280160" cy="347472"/>
          </a:xfrm>
          <a:prstGeom prst="rect">
            <a:avLst/>
          </a:prstGeom>
          <a:noFill/>
          <a:ln/>
        </p:spPr>
        <p:txBody>
          <a:bodyPr wrap="square" rtlCol="0" anchor="ctr"/>
          <a:lstStyle/>
          <a:p>
            <a:pPr marL="0" indent="0" algn="ctr">
              <a:buNone/>
            </a:pPr>
            <a:r>
              <a:rPr lang="en-US" sz="850" i="1" dirty="0">
                <a:solidFill>
                  <a:srgbClr val="6B7A8D"/>
                </a:solidFill>
                <a:latin typeface="Calibri" pitchFamily="34" charset="0"/>
                <a:ea typeface="Calibri" pitchFamily="34" charset="-122"/>
                <a:cs typeface="Calibri" pitchFamily="34" charset="-120"/>
              </a:rPr>
              <a:t>Chaque année</a:t>
            </a:r>
            <a:endParaRPr lang="en-US" sz="850" dirty="0"/>
          </a:p>
        </p:txBody>
      </p:sp>
      <p:sp>
        <p:nvSpPr>
          <p:cNvPr id="25" name="Text 23"/>
          <p:cNvSpPr/>
          <p:nvPr/>
        </p:nvSpPr>
        <p:spPr>
          <a:xfrm>
            <a:off x="274320" y="3273552"/>
            <a:ext cx="8595360" cy="256032"/>
          </a:xfrm>
          <a:prstGeom prst="rect">
            <a:avLst/>
          </a:prstGeom>
          <a:noFill/>
          <a:ln/>
        </p:spPr>
        <p:txBody>
          <a:bodyPr wrap="square" rtlCol="0" anchor="t"/>
          <a:lstStyle/>
          <a:p>
            <a:pPr marL="0" indent="0">
              <a:buNone/>
            </a:pPr>
            <a:r>
              <a:rPr lang="en-US" sz="1200" b="1" dirty="0">
                <a:solidFill>
                  <a:srgbClr val="1A3A5C"/>
                </a:solidFill>
                <a:latin typeface="Calibri" pitchFamily="34" charset="0"/>
                <a:ea typeface="Calibri" pitchFamily="34" charset="-122"/>
                <a:cs typeface="Calibri" pitchFamily="34" charset="-120"/>
              </a:rPr>
              <a:t>Chiffres à retenir absolument :</a:t>
            </a:r>
            <a:endParaRPr lang="en-US" sz="1200" dirty="0"/>
          </a:p>
        </p:txBody>
      </p:sp>
      <p:sp>
        <p:nvSpPr>
          <p:cNvPr id="26" name="Shape 24"/>
          <p:cNvSpPr/>
          <p:nvPr/>
        </p:nvSpPr>
        <p:spPr>
          <a:xfrm>
            <a:off x="274320" y="3566160"/>
            <a:ext cx="1627632" cy="896112"/>
          </a:xfrm>
          <a:prstGeom prst="rect">
            <a:avLst/>
          </a:prstGeom>
          <a:solidFill>
            <a:srgbClr val="1A3A5C"/>
          </a:solidFill>
          <a:ln w="12700">
            <a:solidFill>
              <a:srgbClr val="1A3A5C"/>
            </a:solidFill>
            <a:prstDash val="solid"/>
          </a:ln>
        </p:spPr>
        <p:txBody>
          <a:bodyPr/>
          <a:lstStyle/>
          <a:p>
            <a:endParaRPr lang="fr-FR"/>
          </a:p>
        </p:txBody>
      </p:sp>
      <p:sp>
        <p:nvSpPr>
          <p:cNvPr id="27" name="Text 25"/>
          <p:cNvSpPr/>
          <p:nvPr/>
        </p:nvSpPr>
        <p:spPr>
          <a:xfrm>
            <a:off x="274320" y="3584448"/>
            <a:ext cx="1627632" cy="45720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14h</a:t>
            </a:r>
            <a:endParaRPr lang="en-US" sz="2600" dirty="0"/>
          </a:p>
        </p:txBody>
      </p:sp>
      <p:sp>
        <p:nvSpPr>
          <p:cNvPr id="28" name="Text 26"/>
          <p:cNvSpPr/>
          <p:nvPr/>
        </p:nvSpPr>
        <p:spPr>
          <a:xfrm>
            <a:off x="274320" y="4041648"/>
            <a:ext cx="1627632" cy="402336"/>
          </a:xfrm>
          <a:prstGeom prst="rect">
            <a:avLst/>
          </a:prstGeom>
          <a:noFill/>
          <a:ln/>
        </p:spPr>
        <p:txBody>
          <a:bodyPr wrap="square" rtlCol="0" anchor="ctr"/>
          <a:lstStyle/>
          <a:p>
            <a:pPr marL="0" indent="0" algn="ctr">
              <a:buNone/>
            </a:pPr>
            <a:r>
              <a:rPr lang="en-US" sz="850" i="1" dirty="0">
                <a:solidFill>
                  <a:srgbClr val="FFFFFF"/>
                </a:solidFill>
                <a:latin typeface="Calibri" pitchFamily="34" charset="0"/>
                <a:ea typeface="Calibri" pitchFamily="34" charset="-122"/>
                <a:cs typeface="Calibri" pitchFamily="34" charset="-120"/>
              </a:rPr>
              <a:t>Formation tous les 5 ans</a:t>
            </a:r>
            <a:endParaRPr lang="en-US" sz="850" dirty="0"/>
          </a:p>
        </p:txBody>
      </p:sp>
      <p:sp>
        <p:nvSpPr>
          <p:cNvPr id="29" name="Shape 27"/>
          <p:cNvSpPr/>
          <p:nvPr/>
        </p:nvSpPr>
        <p:spPr>
          <a:xfrm>
            <a:off x="2011680" y="3566160"/>
            <a:ext cx="1627632" cy="896112"/>
          </a:xfrm>
          <a:prstGeom prst="rect">
            <a:avLst/>
          </a:prstGeom>
          <a:solidFill>
            <a:srgbClr val="2E7D32"/>
          </a:solidFill>
          <a:ln w="12700">
            <a:solidFill>
              <a:srgbClr val="2E7D32"/>
            </a:solidFill>
            <a:prstDash val="solid"/>
          </a:ln>
        </p:spPr>
        <p:txBody>
          <a:bodyPr/>
          <a:lstStyle/>
          <a:p>
            <a:endParaRPr lang="fr-FR"/>
          </a:p>
        </p:txBody>
      </p:sp>
      <p:sp>
        <p:nvSpPr>
          <p:cNvPr id="30" name="Text 28"/>
          <p:cNvSpPr/>
          <p:nvPr/>
        </p:nvSpPr>
        <p:spPr>
          <a:xfrm>
            <a:off x="2011680" y="3584448"/>
            <a:ext cx="1627632" cy="45720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5 ans</a:t>
            </a:r>
            <a:endParaRPr lang="en-US" sz="2600" dirty="0"/>
          </a:p>
        </p:txBody>
      </p:sp>
      <p:sp>
        <p:nvSpPr>
          <p:cNvPr id="31" name="Text 29"/>
          <p:cNvSpPr/>
          <p:nvPr/>
        </p:nvSpPr>
        <p:spPr>
          <a:xfrm>
            <a:off x="2011680" y="4041648"/>
            <a:ext cx="1627632" cy="402336"/>
          </a:xfrm>
          <a:prstGeom prst="rect">
            <a:avLst/>
          </a:prstGeom>
          <a:noFill/>
          <a:ln/>
        </p:spPr>
        <p:txBody>
          <a:bodyPr wrap="square" rtlCol="0" anchor="ctr"/>
          <a:lstStyle/>
          <a:p>
            <a:pPr marL="0" indent="0" algn="ctr">
              <a:buNone/>
            </a:pPr>
            <a:r>
              <a:rPr lang="en-US" sz="850" i="1" dirty="0">
                <a:solidFill>
                  <a:srgbClr val="FFFFFF"/>
                </a:solidFill>
                <a:latin typeface="Calibri" pitchFamily="34" charset="0"/>
                <a:ea typeface="Calibri" pitchFamily="34" charset="-122"/>
                <a:cs typeface="Calibri" pitchFamily="34" charset="-120"/>
              </a:rPr>
              <a:t>Visite méd. (20-60 ans)</a:t>
            </a:r>
            <a:endParaRPr lang="en-US" sz="850" dirty="0"/>
          </a:p>
        </p:txBody>
      </p:sp>
      <p:sp>
        <p:nvSpPr>
          <p:cNvPr id="32" name="Shape 30"/>
          <p:cNvSpPr/>
          <p:nvPr/>
        </p:nvSpPr>
        <p:spPr>
          <a:xfrm>
            <a:off x="3749040" y="3566160"/>
            <a:ext cx="1627632" cy="896112"/>
          </a:xfrm>
          <a:prstGeom prst="rect">
            <a:avLst/>
          </a:prstGeom>
          <a:solidFill>
            <a:srgbClr val="F4A227"/>
          </a:solidFill>
          <a:ln w="12700">
            <a:solidFill>
              <a:srgbClr val="F4A227"/>
            </a:solidFill>
            <a:prstDash val="solid"/>
          </a:ln>
        </p:spPr>
        <p:txBody>
          <a:bodyPr/>
          <a:lstStyle/>
          <a:p>
            <a:endParaRPr lang="fr-FR"/>
          </a:p>
        </p:txBody>
      </p:sp>
      <p:sp>
        <p:nvSpPr>
          <p:cNvPr id="33" name="Text 31"/>
          <p:cNvSpPr/>
          <p:nvPr/>
        </p:nvSpPr>
        <p:spPr>
          <a:xfrm>
            <a:off x="3749040" y="3584448"/>
            <a:ext cx="1627632" cy="45720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2 ans</a:t>
            </a:r>
            <a:endParaRPr lang="en-US" sz="2600" dirty="0"/>
          </a:p>
        </p:txBody>
      </p:sp>
      <p:sp>
        <p:nvSpPr>
          <p:cNvPr id="34" name="Text 32"/>
          <p:cNvSpPr/>
          <p:nvPr/>
        </p:nvSpPr>
        <p:spPr>
          <a:xfrm>
            <a:off x="3749040" y="4041648"/>
            <a:ext cx="1627632" cy="402336"/>
          </a:xfrm>
          <a:prstGeom prst="rect">
            <a:avLst/>
          </a:prstGeom>
          <a:noFill/>
          <a:ln/>
        </p:spPr>
        <p:txBody>
          <a:bodyPr wrap="square" rtlCol="0" anchor="ctr"/>
          <a:lstStyle/>
          <a:p>
            <a:pPr marL="0" indent="0" algn="ctr">
              <a:buNone/>
            </a:pPr>
            <a:r>
              <a:rPr lang="en-US" sz="850" i="1" dirty="0">
                <a:solidFill>
                  <a:srgbClr val="FFFFFF"/>
                </a:solidFill>
                <a:latin typeface="Calibri" pitchFamily="34" charset="0"/>
                <a:ea typeface="Calibri" pitchFamily="34" charset="-122"/>
                <a:cs typeface="Calibri" pitchFamily="34" charset="-120"/>
              </a:rPr>
              <a:t>Visite méd. (60-76 ans)</a:t>
            </a:r>
            <a:endParaRPr lang="en-US" sz="850" dirty="0"/>
          </a:p>
        </p:txBody>
      </p:sp>
      <p:sp>
        <p:nvSpPr>
          <p:cNvPr id="35" name="Shape 33"/>
          <p:cNvSpPr/>
          <p:nvPr/>
        </p:nvSpPr>
        <p:spPr>
          <a:xfrm>
            <a:off x="5486400" y="3566160"/>
            <a:ext cx="1627632" cy="896112"/>
          </a:xfrm>
          <a:prstGeom prst="rect">
            <a:avLst/>
          </a:prstGeom>
          <a:solidFill>
            <a:srgbClr val="C0392B"/>
          </a:solidFill>
          <a:ln w="12700">
            <a:solidFill>
              <a:srgbClr val="C0392B"/>
            </a:solidFill>
            <a:prstDash val="solid"/>
          </a:ln>
        </p:spPr>
        <p:txBody>
          <a:bodyPr/>
          <a:lstStyle/>
          <a:p>
            <a:endParaRPr lang="fr-FR"/>
          </a:p>
        </p:txBody>
      </p:sp>
      <p:sp>
        <p:nvSpPr>
          <p:cNvPr id="36" name="Text 34"/>
          <p:cNvSpPr/>
          <p:nvPr/>
        </p:nvSpPr>
        <p:spPr>
          <a:xfrm>
            <a:off x="5486400" y="3584448"/>
            <a:ext cx="1627632" cy="45720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1 an</a:t>
            </a:r>
            <a:endParaRPr lang="en-US" sz="2600" dirty="0"/>
          </a:p>
        </p:txBody>
      </p:sp>
      <p:sp>
        <p:nvSpPr>
          <p:cNvPr id="37" name="Text 35"/>
          <p:cNvSpPr/>
          <p:nvPr/>
        </p:nvSpPr>
        <p:spPr>
          <a:xfrm>
            <a:off x="5486400" y="4041648"/>
            <a:ext cx="1627632" cy="402336"/>
          </a:xfrm>
          <a:prstGeom prst="rect">
            <a:avLst/>
          </a:prstGeom>
          <a:noFill/>
          <a:ln/>
        </p:spPr>
        <p:txBody>
          <a:bodyPr wrap="square" rtlCol="0" anchor="ctr"/>
          <a:lstStyle/>
          <a:p>
            <a:pPr marL="0" indent="0" algn="ctr">
              <a:buNone/>
            </a:pPr>
            <a:r>
              <a:rPr lang="en-US" sz="850" i="1" dirty="0">
                <a:solidFill>
                  <a:srgbClr val="FFFFFF"/>
                </a:solidFill>
                <a:latin typeface="Calibri" pitchFamily="34" charset="0"/>
                <a:ea typeface="Calibri" pitchFamily="34" charset="-122"/>
                <a:cs typeface="Calibri" pitchFamily="34" charset="-120"/>
              </a:rPr>
              <a:t>Visite méd. (76 ans+)</a:t>
            </a:r>
            <a:endParaRPr lang="en-US" sz="850" dirty="0"/>
          </a:p>
        </p:txBody>
      </p:sp>
      <p:sp>
        <p:nvSpPr>
          <p:cNvPr id="38" name="Shape 36"/>
          <p:cNvSpPr/>
          <p:nvPr/>
        </p:nvSpPr>
        <p:spPr>
          <a:xfrm>
            <a:off x="7223760" y="3566160"/>
            <a:ext cx="1627632" cy="896112"/>
          </a:xfrm>
          <a:prstGeom prst="rect">
            <a:avLst/>
          </a:prstGeom>
          <a:solidFill>
            <a:srgbClr val="2860A8"/>
          </a:solidFill>
          <a:ln w="12700">
            <a:solidFill>
              <a:srgbClr val="2860A8"/>
            </a:solidFill>
            <a:prstDash val="solid"/>
          </a:ln>
        </p:spPr>
        <p:txBody>
          <a:bodyPr/>
          <a:lstStyle/>
          <a:p>
            <a:endParaRPr lang="fr-FR"/>
          </a:p>
        </p:txBody>
      </p:sp>
      <p:sp>
        <p:nvSpPr>
          <p:cNvPr id="39" name="Text 37"/>
          <p:cNvSpPr/>
          <p:nvPr/>
        </p:nvSpPr>
        <p:spPr>
          <a:xfrm>
            <a:off x="7223760" y="3584448"/>
            <a:ext cx="1627632" cy="457200"/>
          </a:xfrm>
          <a:prstGeom prst="rect">
            <a:avLst/>
          </a:prstGeom>
          <a:noFill/>
          <a:ln/>
        </p:spPr>
        <p:txBody>
          <a:bodyPr wrap="square"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3 mois</a:t>
            </a:r>
            <a:endParaRPr lang="en-US" sz="2600" dirty="0"/>
          </a:p>
        </p:txBody>
      </p:sp>
      <p:sp>
        <p:nvSpPr>
          <p:cNvPr id="40" name="Text 38"/>
          <p:cNvSpPr/>
          <p:nvPr/>
        </p:nvSpPr>
        <p:spPr>
          <a:xfrm>
            <a:off x="7223760" y="4041648"/>
            <a:ext cx="1627632" cy="402336"/>
          </a:xfrm>
          <a:prstGeom prst="rect">
            <a:avLst/>
          </a:prstGeom>
          <a:noFill/>
          <a:ln/>
        </p:spPr>
        <p:txBody>
          <a:bodyPr wrap="square" rtlCol="0" anchor="ctr"/>
          <a:lstStyle/>
          <a:p>
            <a:pPr marL="0" indent="0" algn="ctr">
              <a:buNone/>
            </a:pPr>
            <a:r>
              <a:rPr lang="en-US" sz="850" i="1" dirty="0">
                <a:solidFill>
                  <a:srgbClr val="FFFFFF"/>
                </a:solidFill>
                <a:latin typeface="Calibri" pitchFamily="34" charset="0"/>
                <a:ea typeface="Calibri" pitchFamily="34" charset="-122"/>
                <a:cs typeface="Calibri" pitchFamily="34" charset="-120"/>
              </a:rPr>
              <a:t>Délai délivrance carte pro</a:t>
            </a:r>
            <a:endParaRPr lang="en-US" sz="850" dirty="0"/>
          </a:p>
        </p:txBody>
      </p:sp>
      <p:sp>
        <p:nvSpPr>
          <p:cNvPr id="41" name="Shape 39"/>
          <p:cNvSpPr/>
          <p:nvPr/>
        </p:nvSpPr>
        <p:spPr>
          <a:xfrm>
            <a:off x="274320" y="4544568"/>
            <a:ext cx="8595360" cy="256032"/>
          </a:xfrm>
          <a:prstGeom prst="rect">
            <a:avLst/>
          </a:prstGeom>
          <a:solidFill>
            <a:srgbClr val="EDF7EE"/>
          </a:solidFill>
          <a:ln w="19050">
            <a:solidFill>
              <a:srgbClr val="2E7D32"/>
            </a:solidFill>
            <a:prstDash val="solid"/>
          </a:ln>
        </p:spPr>
        <p:txBody>
          <a:bodyPr/>
          <a:lstStyle/>
          <a:p>
            <a:endParaRPr lang="fr-FR"/>
          </a:p>
        </p:txBody>
      </p:sp>
      <p:sp>
        <p:nvSpPr>
          <p:cNvPr id="42" name="Shape 40"/>
          <p:cNvSpPr/>
          <p:nvPr/>
        </p:nvSpPr>
        <p:spPr>
          <a:xfrm>
            <a:off x="274320" y="4544568"/>
            <a:ext cx="54864" cy="256032"/>
          </a:xfrm>
          <a:prstGeom prst="rect">
            <a:avLst/>
          </a:prstGeom>
          <a:solidFill>
            <a:srgbClr val="2E7D32"/>
          </a:solidFill>
          <a:ln w="12700">
            <a:solidFill>
              <a:srgbClr val="2E7D32"/>
            </a:solidFill>
            <a:prstDash val="solid"/>
          </a:ln>
        </p:spPr>
        <p:txBody>
          <a:bodyPr/>
          <a:lstStyle/>
          <a:p>
            <a:endParaRPr lang="fr-FR"/>
          </a:p>
        </p:txBody>
      </p:sp>
      <p:sp>
        <p:nvSpPr>
          <p:cNvPr id="43" name="Text 41"/>
          <p:cNvSpPr/>
          <p:nvPr/>
        </p:nvSpPr>
        <p:spPr>
          <a:xfrm>
            <a:off x="384048" y="4544568"/>
            <a:ext cx="8467344" cy="25603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Formation continue (14h/5ans) + Visite médicale : deux conditions cumulatives pour renouveler la carte professionnelle T3P.</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82296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82296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822960"/>
          </a:xfrm>
          <a:prstGeom prst="rect">
            <a:avLst/>
          </a:prstGeom>
          <a:noFill/>
          <a:ln/>
        </p:spPr>
        <p:txBody>
          <a:bodyPr wrap="square"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FICHE DE RÉVISION — Les chiffres et délais essentiels à retenir</a:t>
            </a:r>
            <a:endParaRPr lang="en-US" sz="2200" dirty="0"/>
          </a:p>
        </p:txBody>
      </p:sp>
      <p:sp>
        <p:nvSpPr>
          <p:cNvPr id="5" name="Shape 3"/>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6" name="Text 4"/>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7" name="Text 5"/>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44/88</a:t>
            </a:r>
            <a:endParaRPr lang="en-US" sz="800" dirty="0"/>
          </a:p>
        </p:txBody>
      </p:sp>
      <p:sp>
        <p:nvSpPr>
          <p:cNvPr id="8" name="Shape 6"/>
          <p:cNvSpPr/>
          <p:nvPr/>
        </p:nvSpPr>
        <p:spPr>
          <a:xfrm>
            <a:off x="274320" y="932688"/>
            <a:ext cx="4160520" cy="420624"/>
          </a:xfrm>
          <a:prstGeom prst="rect">
            <a:avLst/>
          </a:prstGeom>
          <a:solidFill>
            <a:srgbClr val="E8F1FA"/>
          </a:solidFill>
          <a:ln w="6350">
            <a:solidFill>
              <a:srgbClr val="D0DCE8"/>
            </a:solidFill>
            <a:prstDash val="solid"/>
          </a:ln>
        </p:spPr>
        <p:txBody>
          <a:bodyPr/>
          <a:lstStyle/>
          <a:p>
            <a:endParaRPr lang="fr-FR"/>
          </a:p>
        </p:txBody>
      </p:sp>
      <p:sp>
        <p:nvSpPr>
          <p:cNvPr id="9" name="Shape 7"/>
          <p:cNvSpPr/>
          <p:nvPr/>
        </p:nvSpPr>
        <p:spPr>
          <a:xfrm>
            <a:off x="274320" y="932688"/>
            <a:ext cx="960120" cy="420624"/>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74320" y="932688"/>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14h</a:t>
            </a:r>
            <a:endParaRPr lang="en-US" sz="1400" dirty="0"/>
          </a:p>
        </p:txBody>
      </p:sp>
      <p:sp>
        <p:nvSpPr>
          <p:cNvPr id="11" name="Text 9"/>
          <p:cNvSpPr/>
          <p:nvPr/>
        </p:nvSpPr>
        <p:spPr>
          <a:xfrm>
            <a:off x="1280160" y="987552"/>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Formation continue / 5 ans</a:t>
            </a:r>
            <a:endParaRPr lang="en-US" sz="1050" dirty="0"/>
          </a:p>
        </p:txBody>
      </p:sp>
      <p:sp>
        <p:nvSpPr>
          <p:cNvPr id="12" name="Shape 10"/>
          <p:cNvSpPr/>
          <p:nvPr/>
        </p:nvSpPr>
        <p:spPr>
          <a:xfrm>
            <a:off x="274320" y="1399032"/>
            <a:ext cx="4160520" cy="420624"/>
          </a:xfrm>
          <a:prstGeom prst="rect">
            <a:avLst/>
          </a:prstGeom>
          <a:solidFill>
            <a:srgbClr val="E8F1FA"/>
          </a:solidFill>
          <a:ln w="6350">
            <a:solidFill>
              <a:srgbClr val="D0DCE8"/>
            </a:solidFill>
            <a:prstDash val="solid"/>
          </a:ln>
        </p:spPr>
        <p:txBody>
          <a:bodyPr/>
          <a:lstStyle/>
          <a:p>
            <a:endParaRPr lang="fr-FR"/>
          </a:p>
        </p:txBody>
      </p:sp>
      <p:sp>
        <p:nvSpPr>
          <p:cNvPr id="13" name="Shape 11"/>
          <p:cNvSpPr/>
          <p:nvPr/>
        </p:nvSpPr>
        <p:spPr>
          <a:xfrm>
            <a:off x="274320" y="1399032"/>
            <a:ext cx="960120" cy="420624"/>
          </a:xfrm>
          <a:prstGeom prst="rect">
            <a:avLst/>
          </a:prstGeom>
          <a:solidFill>
            <a:srgbClr val="2E7D32"/>
          </a:solidFill>
          <a:ln w="12700">
            <a:solidFill>
              <a:srgbClr val="2E7D32"/>
            </a:solidFill>
            <a:prstDash val="solid"/>
          </a:ln>
        </p:spPr>
        <p:txBody>
          <a:bodyPr/>
          <a:lstStyle/>
          <a:p>
            <a:endParaRPr lang="fr-FR"/>
          </a:p>
        </p:txBody>
      </p:sp>
      <p:sp>
        <p:nvSpPr>
          <p:cNvPr id="14" name="Text 12"/>
          <p:cNvSpPr/>
          <p:nvPr/>
        </p:nvSpPr>
        <p:spPr>
          <a:xfrm>
            <a:off x="274320" y="1399032"/>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 ans</a:t>
            </a:r>
            <a:endParaRPr lang="en-US" sz="1400" dirty="0"/>
          </a:p>
        </p:txBody>
      </p:sp>
      <p:sp>
        <p:nvSpPr>
          <p:cNvPr id="15" name="Text 13"/>
          <p:cNvSpPr/>
          <p:nvPr/>
        </p:nvSpPr>
        <p:spPr>
          <a:xfrm>
            <a:off x="1280160" y="1453896"/>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Visite méd. 20-60 ans</a:t>
            </a:r>
            <a:endParaRPr lang="en-US" sz="1050" dirty="0"/>
          </a:p>
        </p:txBody>
      </p:sp>
      <p:sp>
        <p:nvSpPr>
          <p:cNvPr id="16" name="Shape 14"/>
          <p:cNvSpPr/>
          <p:nvPr/>
        </p:nvSpPr>
        <p:spPr>
          <a:xfrm>
            <a:off x="274320" y="1865376"/>
            <a:ext cx="4160520" cy="420624"/>
          </a:xfrm>
          <a:prstGeom prst="rect">
            <a:avLst/>
          </a:prstGeom>
          <a:solidFill>
            <a:srgbClr val="E8F1FA"/>
          </a:solidFill>
          <a:ln w="6350">
            <a:solidFill>
              <a:srgbClr val="D0DCE8"/>
            </a:solidFill>
            <a:prstDash val="solid"/>
          </a:ln>
        </p:spPr>
        <p:txBody>
          <a:bodyPr/>
          <a:lstStyle/>
          <a:p>
            <a:endParaRPr lang="fr-FR"/>
          </a:p>
        </p:txBody>
      </p:sp>
      <p:sp>
        <p:nvSpPr>
          <p:cNvPr id="17" name="Shape 15"/>
          <p:cNvSpPr/>
          <p:nvPr/>
        </p:nvSpPr>
        <p:spPr>
          <a:xfrm>
            <a:off x="274320" y="1865376"/>
            <a:ext cx="960120" cy="420624"/>
          </a:xfrm>
          <a:prstGeom prst="rect">
            <a:avLst/>
          </a:prstGeom>
          <a:solidFill>
            <a:srgbClr val="F4A227"/>
          </a:solidFill>
          <a:ln w="12700">
            <a:solidFill>
              <a:srgbClr val="F4A227"/>
            </a:solidFill>
            <a:prstDash val="solid"/>
          </a:ln>
        </p:spPr>
        <p:txBody>
          <a:bodyPr/>
          <a:lstStyle/>
          <a:p>
            <a:endParaRPr lang="fr-FR"/>
          </a:p>
        </p:txBody>
      </p:sp>
      <p:sp>
        <p:nvSpPr>
          <p:cNvPr id="18" name="Text 16"/>
          <p:cNvSpPr/>
          <p:nvPr/>
        </p:nvSpPr>
        <p:spPr>
          <a:xfrm>
            <a:off x="274320" y="1865376"/>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 ans</a:t>
            </a:r>
            <a:endParaRPr lang="en-US" sz="1400" dirty="0"/>
          </a:p>
        </p:txBody>
      </p:sp>
      <p:sp>
        <p:nvSpPr>
          <p:cNvPr id="19" name="Text 17"/>
          <p:cNvSpPr/>
          <p:nvPr/>
        </p:nvSpPr>
        <p:spPr>
          <a:xfrm>
            <a:off x="1280160" y="1920240"/>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Visite méd. 60-76 ans</a:t>
            </a:r>
            <a:endParaRPr lang="en-US" sz="1050" dirty="0"/>
          </a:p>
        </p:txBody>
      </p:sp>
      <p:sp>
        <p:nvSpPr>
          <p:cNvPr id="20" name="Shape 18"/>
          <p:cNvSpPr/>
          <p:nvPr/>
        </p:nvSpPr>
        <p:spPr>
          <a:xfrm>
            <a:off x="274320" y="2331720"/>
            <a:ext cx="4160520" cy="420624"/>
          </a:xfrm>
          <a:prstGeom prst="rect">
            <a:avLst/>
          </a:prstGeom>
          <a:solidFill>
            <a:srgbClr val="E8F1FA"/>
          </a:solidFill>
          <a:ln w="6350">
            <a:solidFill>
              <a:srgbClr val="D0DCE8"/>
            </a:solidFill>
            <a:prstDash val="solid"/>
          </a:ln>
        </p:spPr>
        <p:txBody>
          <a:bodyPr/>
          <a:lstStyle/>
          <a:p>
            <a:endParaRPr lang="fr-FR"/>
          </a:p>
        </p:txBody>
      </p:sp>
      <p:sp>
        <p:nvSpPr>
          <p:cNvPr id="21" name="Shape 19"/>
          <p:cNvSpPr/>
          <p:nvPr/>
        </p:nvSpPr>
        <p:spPr>
          <a:xfrm>
            <a:off x="274320" y="2331720"/>
            <a:ext cx="960120" cy="420624"/>
          </a:xfrm>
          <a:prstGeom prst="rect">
            <a:avLst/>
          </a:prstGeom>
          <a:solidFill>
            <a:srgbClr val="C0392B"/>
          </a:solidFill>
          <a:ln w="12700">
            <a:solidFill>
              <a:srgbClr val="C0392B"/>
            </a:solidFill>
            <a:prstDash val="solid"/>
          </a:ln>
        </p:spPr>
        <p:txBody>
          <a:bodyPr/>
          <a:lstStyle/>
          <a:p>
            <a:endParaRPr lang="fr-FR"/>
          </a:p>
        </p:txBody>
      </p:sp>
      <p:sp>
        <p:nvSpPr>
          <p:cNvPr id="22" name="Text 20"/>
          <p:cNvSpPr/>
          <p:nvPr/>
        </p:nvSpPr>
        <p:spPr>
          <a:xfrm>
            <a:off x="274320" y="2331720"/>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 an</a:t>
            </a:r>
            <a:endParaRPr lang="en-US" sz="1400" dirty="0"/>
          </a:p>
        </p:txBody>
      </p:sp>
      <p:sp>
        <p:nvSpPr>
          <p:cNvPr id="23" name="Text 21"/>
          <p:cNvSpPr/>
          <p:nvPr/>
        </p:nvSpPr>
        <p:spPr>
          <a:xfrm>
            <a:off x="1280160" y="2386584"/>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Visite méd. 76 ans+</a:t>
            </a:r>
            <a:endParaRPr lang="en-US" sz="1050" dirty="0"/>
          </a:p>
        </p:txBody>
      </p:sp>
      <p:sp>
        <p:nvSpPr>
          <p:cNvPr id="24" name="Shape 22"/>
          <p:cNvSpPr/>
          <p:nvPr/>
        </p:nvSpPr>
        <p:spPr>
          <a:xfrm>
            <a:off x="274320" y="2798064"/>
            <a:ext cx="4160520" cy="420624"/>
          </a:xfrm>
          <a:prstGeom prst="rect">
            <a:avLst/>
          </a:prstGeom>
          <a:solidFill>
            <a:srgbClr val="E8F1FA"/>
          </a:solidFill>
          <a:ln w="6350">
            <a:solidFill>
              <a:srgbClr val="D0DCE8"/>
            </a:solidFill>
            <a:prstDash val="solid"/>
          </a:ln>
        </p:spPr>
        <p:txBody>
          <a:bodyPr/>
          <a:lstStyle/>
          <a:p>
            <a:endParaRPr lang="fr-FR"/>
          </a:p>
        </p:txBody>
      </p:sp>
      <p:sp>
        <p:nvSpPr>
          <p:cNvPr id="25" name="Shape 23"/>
          <p:cNvSpPr/>
          <p:nvPr/>
        </p:nvSpPr>
        <p:spPr>
          <a:xfrm>
            <a:off x="274320" y="2798064"/>
            <a:ext cx="960120" cy="420624"/>
          </a:xfrm>
          <a:prstGeom prst="rect">
            <a:avLst/>
          </a:prstGeom>
          <a:solidFill>
            <a:srgbClr val="1A3A5C"/>
          </a:solidFill>
          <a:ln w="12700">
            <a:solidFill>
              <a:srgbClr val="1A3A5C"/>
            </a:solidFill>
            <a:prstDash val="solid"/>
          </a:ln>
        </p:spPr>
        <p:txBody>
          <a:bodyPr/>
          <a:lstStyle/>
          <a:p>
            <a:endParaRPr lang="fr-FR"/>
          </a:p>
        </p:txBody>
      </p:sp>
      <p:sp>
        <p:nvSpPr>
          <p:cNvPr id="26" name="Text 24"/>
          <p:cNvSpPr/>
          <p:nvPr/>
        </p:nvSpPr>
        <p:spPr>
          <a:xfrm>
            <a:off x="274320" y="2798064"/>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10 ans</a:t>
            </a:r>
            <a:endParaRPr lang="en-US" sz="1400" dirty="0"/>
          </a:p>
        </p:txBody>
      </p:sp>
      <p:sp>
        <p:nvSpPr>
          <p:cNvPr id="27" name="Text 25"/>
          <p:cNvSpPr/>
          <p:nvPr/>
        </p:nvSpPr>
        <p:spPr>
          <a:xfrm>
            <a:off x="1280160" y="2852928"/>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Non-inscription retrait carte</a:t>
            </a:r>
            <a:endParaRPr lang="en-US" sz="1050" dirty="0"/>
          </a:p>
        </p:txBody>
      </p:sp>
      <p:sp>
        <p:nvSpPr>
          <p:cNvPr id="28" name="Shape 26"/>
          <p:cNvSpPr/>
          <p:nvPr/>
        </p:nvSpPr>
        <p:spPr>
          <a:xfrm>
            <a:off x="274320" y="3264408"/>
            <a:ext cx="4160520" cy="420624"/>
          </a:xfrm>
          <a:prstGeom prst="rect">
            <a:avLst/>
          </a:prstGeom>
          <a:solidFill>
            <a:srgbClr val="E8F1FA"/>
          </a:solidFill>
          <a:ln w="6350">
            <a:solidFill>
              <a:srgbClr val="D0DCE8"/>
            </a:solidFill>
            <a:prstDash val="solid"/>
          </a:ln>
        </p:spPr>
        <p:txBody>
          <a:bodyPr/>
          <a:lstStyle/>
          <a:p>
            <a:endParaRPr lang="fr-FR"/>
          </a:p>
        </p:txBody>
      </p:sp>
      <p:sp>
        <p:nvSpPr>
          <p:cNvPr id="29" name="Shape 27"/>
          <p:cNvSpPr/>
          <p:nvPr/>
        </p:nvSpPr>
        <p:spPr>
          <a:xfrm>
            <a:off x="274320" y="3264408"/>
            <a:ext cx="960120" cy="420624"/>
          </a:xfrm>
          <a:prstGeom prst="rect">
            <a:avLst/>
          </a:prstGeom>
          <a:solidFill>
            <a:srgbClr val="2860A8"/>
          </a:solidFill>
          <a:ln w="12700">
            <a:solidFill>
              <a:srgbClr val="2860A8"/>
            </a:solidFill>
            <a:prstDash val="solid"/>
          </a:ln>
        </p:spPr>
        <p:txBody>
          <a:bodyPr/>
          <a:lstStyle/>
          <a:p>
            <a:endParaRPr lang="fr-FR"/>
          </a:p>
        </p:txBody>
      </p:sp>
      <p:sp>
        <p:nvSpPr>
          <p:cNvPr id="30" name="Text 28"/>
          <p:cNvSpPr/>
          <p:nvPr/>
        </p:nvSpPr>
        <p:spPr>
          <a:xfrm>
            <a:off x="274320" y="3264408"/>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 ans</a:t>
            </a:r>
            <a:endParaRPr lang="en-US" sz="1400" dirty="0"/>
          </a:p>
        </p:txBody>
      </p:sp>
      <p:sp>
        <p:nvSpPr>
          <p:cNvPr id="31" name="Text 29"/>
          <p:cNvSpPr/>
          <p:nvPr/>
        </p:nvSpPr>
        <p:spPr>
          <a:xfrm>
            <a:off x="1280160" y="3319272"/>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Non-inscription fraude examen</a:t>
            </a:r>
            <a:endParaRPr lang="en-US" sz="1050" dirty="0"/>
          </a:p>
        </p:txBody>
      </p:sp>
      <p:sp>
        <p:nvSpPr>
          <p:cNvPr id="32" name="Shape 30"/>
          <p:cNvSpPr/>
          <p:nvPr/>
        </p:nvSpPr>
        <p:spPr>
          <a:xfrm>
            <a:off x="274320" y="3730752"/>
            <a:ext cx="4160520" cy="420624"/>
          </a:xfrm>
          <a:prstGeom prst="rect">
            <a:avLst/>
          </a:prstGeom>
          <a:solidFill>
            <a:srgbClr val="E8F1FA"/>
          </a:solidFill>
          <a:ln w="6350">
            <a:solidFill>
              <a:srgbClr val="D0DCE8"/>
            </a:solidFill>
            <a:prstDash val="solid"/>
          </a:ln>
        </p:spPr>
        <p:txBody>
          <a:bodyPr/>
          <a:lstStyle/>
          <a:p>
            <a:endParaRPr lang="fr-FR"/>
          </a:p>
        </p:txBody>
      </p:sp>
      <p:sp>
        <p:nvSpPr>
          <p:cNvPr id="33" name="Shape 31"/>
          <p:cNvSpPr/>
          <p:nvPr/>
        </p:nvSpPr>
        <p:spPr>
          <a:xfrm>
            <a:off x="274320" y="3730752"/>
            <a:ext cx="960120" cy="420624"/>
          </a:xfrm>
          <a:prstGeom prst="rect">
            <a:avLst/>
          </a:prstGeom>
          <a:solidFill>
            <a:srgbClr val="2860A8"/>
          </a:solidFill>
          <a:ln w="12700">
            <a:solidFill>
              <a:srgbClr val="2860A8"/>
            </a:solidFill>
            <a:prstDash val="solid"/>
          </a:ln>
        </p:spPr>
        <p:txBody>
          <a:bodyPr/>
          <a:lstStyle/>
          <a:p>
            <a:endParaRPr lang="fr-FR"/>
          </a:p>
        </p:txBody>
      </p:sp>
      <p:sp>
        <p:nvSpPr>
          <p:cNvPr id="34" name="Text 32"/>
          <p:cNvSpPr/>
          <p:nvPr/>
        </p:nvSpPr>
        <p:spPr>
          <a:xfrm>
            <a:off x="274320" y="3730752"/>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 mois</a:t>
            </a:r>
            <a:endParaRPr lang="en-US" sz="1400" dirty="0"/>
          </a:p>
        </p:txBody>
      </p:sp>
      <p:sp>
        <p:nvSpPr>
          <p:cNvPr id="35" name="Text 33"/>
          <p:cNvSpPr/>
          <p:nvPr/>
        </p:nvSpPr>
        <p:spPr>
          <a:xfrm>
            <a:off x="1280160" y="3785616"/>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Délai délivrance carte pro</a:t>
            </a:r>
            <a:endParaRPr lang="en-US" sz="1050" dirty="0"/>
          </a:p>
        </p:txBody>
      </p:sp>
      <p:sp>
        <p:nvSpPr>
          <p:cNvPr id="36" name="Shape 34"/>
          <p:cNvSpPr/>
          <p:nvPr/>
        </p:nvSpPr>
        <p:spPr>
          <a:xfrm>
            <a:off x="274320" y="4197096"/>
            <a:ext cx="4160520" cy="420624"/>
          </a:xfrm>
          <a:prstGeom prst="rect">
            <a:avLst/>
          </a:prstGeom>
          <a:solidFill>
            <a:srgbClr val="E8F1FA"/>
          </a:solidFill>
          <a:ln w="6350">
            <a:solidFill>
              <a:srgbClr val="D0DCE8"/>
            </a:solidFill>
            <a:prstDash val="solid"/>
          </a:ln>
        </p:spPr>
        <p:txBody>
          <a:bodyPr/>
          <a:lstStyle/>
          <a:p>
            <a:endParaRPr lang="fr-FR"/>
          </a:p>
        </p:txBody>
      </p:sp>
      <p:sp>
        <p:nvSpPr>
          <p:cNvPr id="37" name="Shape 35"/>
          <p:cNvSpPr/>
          <p:nvPr/>
        </p:nvSpPr>
        <p:spPr>
          <a:xfrm>
            <a:off x="274320" y="4197096"/>
            <a:ext cx="960120" cy="420624"/>
          </a:xfrm>
          <a:prstGeom prst="rect">
            <a:avLst/>
          </a:prstGeom>
          <a:solidFill>
            <a:srgbClr val="C0392B"/>
          </a:solidFill>
          <a:ln w="12700">
            <a:solidFill>
              <a:srgbClr val="C0392B"/>
            </a:solidFill>
            <a:prstDash val="solid"/>
          </a:ln>
        </p:spPr>
        <p:txBody>
          <a:bodyPr/>
          <a:lstStyle/>
          <a:p>
            <a:endParaRPr lang="fr-FR"/>
          </a:p>
        </p:txBody>
      </p:sp>
      <p:sp>
        <p:nvSpPr>
          <p:cNvPr id="38" name="Text 36"/>
          <p:cNvSpPr/>
          <p:nvPr/>
        </p:nvSpPr>
        <p:spPr>
          <a:xfrm>
            <a:off x="274320" y="4197096"/>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15 000 €</a:t>
            </a:r>
            <a:endParaRPr lang="en-US" sz="1400" dirty="0"/>
          </a:p>
        </p:txBody>
      </p:sp>
      <p:sp>
        <p:nvSpPr>
          <p:cNvPr id="39" name="Text 37"/>
          <p:cNvSpPr/>
          <p:nvPr/>
        </p:nvSpPr>
        <p:spPr>
          <a:xfrm>
            <a:off x="1280160" y="4251960"/>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Amende exercice illégal T3P</a:t>
            </a:r>
            <a:endParaRPr lang="en-US" sz="1050" dirty="0"/>
          </a:p>
        </p:txBody>
      </p:sp>
      <p:sp>
        <p:nvSpPr>
          <p:cNvPr id="40" name="Shape 38"/>
          <p:cNvSpPr/>
          <p:nvPr/>
        </p:nvSpPr>
        <p:spPr>
          <a:xfrm>
            <a:off x="274320" y="4663440"/>
            <a:ext cx="4160520" cy="420624"/>
          </a:xfrm>
          <a:prstGeom prst="rect">
            <a:avLst/>
          </a:prstGeom>
          <a:solidFill>
            <a:srgbClr val="E8F1FA"/>
          </a:solidFill>
          <a:ln w="6350">
            <a:solidFill>
              <a:srgbClr val="D0DCE8"/>
            </a:solidFill>
            <a:prstDash val="solid"/>
          </a:ln>
        </p:spPr>
        <p:txBody>
          <a:bodyPr/>
          <a:lstStyle/>
          <a:p>
            <a:endParaRPr lang="fr-FR"/>
          </a:p>
        </p:txBody>
      </p:sp>
      <p:sp>
        <p:nvSpPr>
          <p:cNvPr id="41" name="Shape 39"/>
          <p:cNvSpPr/>
          <p:nvPr/>
        </p:nvSpPr>
        <p:spPr>
          <a:xfrm>
            <a:off x="274320" y="4663440"/>
            <a:ext cx="960120" cy="420624"/>
          </a:xfrm>
          <a:prstGeom prst="rect">
            <a:avLst/>
          </a:prstGeom>
          <a:solidFill>
            <a:srgbClr val="C0392B"/>
          </a:solidFill>
          <a:ln w="12700">
            <a:solidFill>
              <a:srgbClr val="C0392B"/>
            </a:solidFill>
            <a:prstDash val="solid"/>
          </a:ln>
        </p:spPr>
        <p:txBody>
          <a:bodyPr/>
          <a:lstStyle/>
          <a:p>
            <a:endParaRPr lang="fr-FR"/>
          </a:p>
        </p:txBody>
      </p:sp>
      <p:sp>
        <p:nvSpPr>
          <p:cNvPr id="42" name="Text 40"/>
          <p:cNvSpPr/>
          <p:nvPr/>
        </p:nvSpPr>
        <p:spPr>
          <a:xfrm>
            <a:off x="274320" y="4663440"/>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 an</a:t>
            </a:r>
            <a:endParaRPr lang="en-US" sz="1400" dirty="0"/>
          </a:p>
        </p:txBody>
      </p:sp>
      <p:sp>
        <p:nvSpPr>
          <p:cNvPr id="43" name="Text 41"/>
          <p:cNvSpPr/>
          <p:nvPr/>
        </p:nvSpPr>
        <p:spPr>
          <a:xfrm>
            <a:off x="1280160" y="4718304"/>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Prison exercice illégal T3P</a:t>
            </a:r>
            <a:endParaRPr lang="en-US" sz="1050" dirty="0"/>
          </a:p>
        </p:txBody>
      </p:sp>
      <p:sp>
        <p:nvSpPr>
          <p:cNvPr id="44" name="Shape 42"/>
          <p:cNvSpPr/>
          <p:nvPr/>
        </p:nvSpPr>
        <p:spPr>
          <a:xfrm>
            <a:off x="4663440" y="932688"/>
            <a:ext cx="4160520" cy="420624"/>
          </a:xfrm>
          <a:prstGeom prst="rect">
            <a:avLst/>
          </a:prstGeom>
          <a:solidFill>
            <a:srgbClr val="E8F1FA"/>
          </a:solidFill>
          <a:ln w="6350">
            <a:solidFill>
              <a:srgbClr val="D0DCE8"/>
            </a:solidFill>
            <a:prstDash val="solid"/>
          </a:ln>
        </p:spPr>
        <p:txBody>
          <a:bodyPr/>
          <a:lstStyle/>
          <a:p>
            <a:endParaRPr lang="fr-FR"/>
          </a:p>
        </p:txBody>
      </p:sp>
      <p:sp>
        <p:nvSpPr>
          <p:cNvPr id="45" name="Shape 43"/>
          <p:cNvSpPr/>
          <p:nvPr/>
        </p:nvSpPr>
        <p:spPr>
          <a:xfrm>
            <a:off x="4663440" y="932688"/>
            <a:ext cx="960120" cy="420624"/>
          </a:xfrm>
          <a:prstGeom prst="rect">
            <a:avLst/>
          </a:prstGeom>
          <a:solidFill>
            <a:srgbClr val="C0392B"/>
          </a:solidFill>
          <a:ln w="12700">
            <a:solidFill>
              <a:srgbClr val="C0392B"/>
            </a:solidFill>
            <a:prstDash val="solid"/>
          </a:ln>
        </p:spPr>
        <p:txBody>
          <a:bodyPr/>
          <a:lstStyle/>
          <a:p>
            <a:endParaRPr lang="fr-FR"/>
          </a:p>
        </p:txBody>
      </p:sp>
      <p:sp>
        <p:nvSpPr>
          <p:cNvPr id="46" name="Text 44"/>
          <p:cNvSpPr/>
          <p:nvPr/>
        </p:nvSpPr>
        <p:spPr>
          <a:xfrm>
            <a:off x="4663440" y="932688"/>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3 750 €</a:t>
            </a:r>
            <a:endParaRPr lang="en-US" sz="1400" dirty="0"/>
          </a:p>
        </p:txBody>
      </p:sp>
      <p:sp>
        <p:nvSpPr>
          <p:cNvPr id="47" name="Text 45"/>
          <p:cNvSpPr/>
          <p:nvPr/>
        </p:nvSpPr>
        <p:spPr>
          <a:xfrm>
            <a:off x="5669280" y="987552"/>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Amende défaut assurance</a:t>
            </a:r>
            <a:endParaRPr lang="en-US" sz="1050" dirty="0"/>
          </a:p>
        </p:txBody>
      </p:sp>
      <p:sp>
        <p:nvSpPr>
          <p:cNvPr id="48" name="Shape 46"/>
          <p:cNvSpPr/>
          <p:nvPr/>
        </p:nvSpPr>
        <p:spPr>
          <a:xfrm>
            <a:off x="4663440" y="1399032"/>
            <a:ext cx="4160520" cy="420624"/>
          </a:xfrm>
          <a:prstGeom prst="rect">
            <a:avLst/>
          </a:prstGeom>
          <a:solidFill>
            <a:srgbClr val="E8F1FA"/>
          </a:solidFill>
          <a:ln w="6350">
            <a:solidFill>
              <a:srgbClr val="D0DCE8"/>
            </a:solidFill>
            <a:prstDash val="solid"/>
          </a:ln>
        </p:spPr>
        <p:txBody>
          <a:bodyPr/>
          <a:lstStyle/>
          <a:p>
            <a:endParaRPr lang="fr-FR"/>
          </a:p>
        </p:txBody>
      </p:sp>
      <p:sp>
        <p:nvSpPr>
          <p:cNvPr id="49" name="Shape 47"/>
          <p:cNvSpPr/>
          <p:nvPr/>
        </p:nvSpPr>
        <p:spPr>
          <a:xfrm>
            <a:off x="4663440" y="1399032"/>
            <a:ext cx="960120" cy="420624"/>
          </a:xfrm>
          <a:prstGeom prst="rect">
            <a:avLst/>
          </a:prstGeom>
          <a:solidFill>
            <a:srgbClr val="1A3A5C"/>
          </a:solidFill>
          <a:ln w="12700">
            <a:solidFill>
              <a:srgbClr val="1A3A5C"/>
            </a:solidFill>
            <a:prstDash val="solid"/>
          </a:ln>
        </p:spPr>
        <p:txBody>
          <a:bodyPr/>
          <a:lstStyle/>
          <a:p>
            <a:endParaRPr lang="fr-FR"/>
          </a:p>
        </p:txBody>
      </p:sp>
      <p:sp>
        <p:nvSpPr>
          <p:cNvPr id="50" name="Text 48"/>
          <p:cNvSpPr/>
          <p:nvPr/>
        </p:nvSpPr>
        <p:spPr>
          <a:xfrm>
            <a:off x="4663440" y="1399032"/>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50</a:t>
            </a:r>
            <a:endParaRPr lang="en-US" sz="1400" dirty="0"/>
          </a:p>
        </p:txBody>
      </p:sp>
      <p:sp>
        <p:nvSpPr>
          <p:cNvPr id="51" name="Text 49"/>
          <p:cNvSpPr/>
          <p:nvPr/>
        </p:nvSpPr>
        <p:spPr>
          <a:xfrm>
            <a:off x="5669280" y="1453896"/>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Membres Comité national T3P</a:t>
            </a:r>
            <a:endParaRPr lang="en-US" sz="1050" dirty="0"/>
          </a:p>
        </p:txBody>
      </p:sp>
      <p:sp>
        <p:nvSpPr>
          <p:cNvPr id="52" name="Shape 50"/>
          <p:cNvSpPr/>
          <p:nvPr/>
        </p:nvSpPr>
        <p:spPr>
          <a:xfrm>
            <a:off x="4663440" y="1865376"/>
            <a:ext cx="4160520" cy="420624"/>
          </a:xfrm>
          <a:prstGeom prst="rect">
            <a:avLst/>
          </a:prstGeom>
          <a:solidFill>
            <a:srgbClr val="E8F1FA"/>
          </a:solidFill>
          <a:ln w="6350">
            <a:solidFill>
              <a:srgbClr val="D0DCE8"/>
            </a:solidFill>
            <a:prstDash val="solid"/>
          </a:ln>
        </p:spPr>
        <p:txBody>
          <a:bodyPr/>
          <a:lstStyle/>
          <a:p>
            <a:endParaRPr lang="fr-FR"/>
          </a:p>
        </p:txBody>
      </p:sp>
      <p:sp>
        <p:nvSpPr>
          <p:cNvPr id="53" name="Shape 51"/>
          <p:cNvSpPr/>
          <p:nvPr/>
        </p:nvSpPr>
        <p:spPr>
          <a:xfrm>
            <a:off x="4663440" y="1865376"/>
            <a:ext cx="960120" cy="420624"/>
          </a:xfrm>
          <a:prstGeom prst="rect">
            <a:avLst/>
          </a:prstGeom>
          <a:solidFill>
            <a:srgbClr val="1A3A5C"/>
          </a:solidFill>
          <a:ln w="12700">
            <a:solidFill>
              <a:srgbClr val="1A3A5C"/>
            </a:solidFill>
            <a:prstDash val="solid"/>
          </a:ln>
        </p:spPr>
        <p:txBody>
          <a:bodyPr/>
          <a:lstStyle/>
          <a:p>
            <a:endParaRPr lang="fr-FR"/>
          </a:p>
        </p:txBody>
      </p:sp>
      <p:sp>
        <p:nvSpPr>
          <p:cNvPr id="54" name="Text 52"/>
          <p:cNvSpPr/>
          <p:nvPr/>
        </p:nvSpPr>
        <p:spPr>
          <a:xfrm>
            <a:off x="4663440" y="1865376"/>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 ans</a:t>
            </a:r>
            <a:endParaRPr lang="en-US" sz="1400" dirty="0"/>
          </a:p>
        </p:txBody>
      </p:sp>
      <p:sp>
        <p:nvSpPr>
          <p:cNvPr id="55" name="Text 53"/>
          <p:cNvSpPr/>
          <p:nvPr/>
        </p:nvSpPr>
        <p:spPr>
          <a:xfrm>
            <a:off x="5669280" y="1920240"/>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Mandat Comité national</a:t>
            </a:r>
            <a:endParaRPr lang="en-US" sz="1050" dirty="0"/>
          </a:p>
        </p:txBody>
      </p:sp>
      <p:sp>
        <p:nvSpPr>
          <p:cNvPr id="56" name="Shape 54"/>
          <p:cNvSpPr/>
          <p:nvPr/>
        </p:nvSpPr>
        <p:spPr>
          <a:xfrm>
            <a:off x="4663440" y="2331720"/>
            <a:ext cx="4160520" cy="420624"/>
          </a:xfrm>
          <a:prstGeom prst="rect">
            <a:avLst/>
          </a:prstGeom>
          <a:solidFill>
            <a:srgbClr val="E8F1FA"/>
          </a:solidFill>
          <a:ln w="6350">
            <a:solidFill>
              <a:srgbClr val="D0DCE8"/>
            </a:solidFill>
            <a:prstDash val="solid"/>
          </a:ln>
        </p:spPr>
        <p:txBody>
          <a:bodyPr/>
          <a:lstStyle/>
          <a:p>
            <a:endParaRPr lang="fr-FR"/>
          </a:p>
        </p:txBody>
      </p:sp>
      <p:sp>
        <p:nvSpPr>
          <p:cNvPr id="57" name="Shape 55"/>
          <p:cNvSpPr/>
          <p:nvPr/>
        </p:nvSpPr>
        <p:spPr>
          <a:xfrm>
            <a:off x="4663440" y="2331720"/>
            <a:ext cx="960120" cy="420624"/>
          </a:xfrm>
          <a:prstGeom prst="rect">
            <a:avLst/>
          </a:prstGeom>
          <a:solidFill>
            <a:srgbClr val="2860A8"/>
          </a:solidFill>
          <a:ln w="12700">
            <a:solidFill>
              <a:srgbClr val="2860A8"/>
            </a:solidFill>
            <a:prstDash val="solid"/>
          </a:ln>
        </p:spPr>
        <p:txBody>
          <a:bodyPr/>
          <a:lstStyle/>
          <a:p>
            <a:endParaRPr lang="fr-FR"/>
          </a:p>
        </p:txBody>
      </p:sp>
      <p:sp>
        <p:nvSpPr>
          <p:cNvPr id="58" name="Text 56"/>
          <p:cNvSpPr/>
          <p:nvPr/>
        </p:nvSpPr>
        <p:spPr>
          <a:xfrm>
            <a:off x="4663440" y="2331720"/>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 ans</a:t>
            </a:r>
            <a:endParaRPr lang="en-US" sz="1400" dirty="0"/>
          </a:p>
        </p:txBody>
      </p:sp>
      <p:sp>
        <p:nvSpPr>
          <p:cNvPr id="59" name="Text 57"/>
          <p:cNvSpPr/>
          <p:nvPr/>
        </p:nvSpPr>
        <p:spPr>
          <a:xfrm>
            <a:off x="5669280" y="2386584"/>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Mandat commission locale</a:t>
            </a:r>
            <a:endParaRPr lang="en-US" sz="1050" dirty="0"/>
          </a:p>
        </p:txBody>
      </p:sp>
      <p:sp>
        <p:nvSpPr>
          <p:cNvPr id="60" name="Shape 58"/>
          <p:cNvSpPr/>
          <p:nvPr/>
        </p:nvSpPr>
        <p:spPr>
          <a:xfrm>
            <a:off x="4663440" y="2798064"/>
            <a:ext cx="4160520" cy="420624"/>
          </a:xfrm>
          <a:prstGeom prst="rect">
            <a:avLst/>
          </a:prstGeom>
          <a:solidFill>
            <a:srgbClr val="E8F1FA"/>
          </a:solidFill>
          <a:ln w="6350">
            <a:solidFill>
              <a:srgbClr val="D0DCE8"/>
            </a:solidFill>
            <a:prstDash val="solid"/>
          </a:ln>
        </p:spPr>
        <p:txBody>
          <a:bodyPr/>
          <a:lstStyle/>
          <a:p>
            <a:endParaRPr lang="fr-FR"/>
          </a:p>
        </p:txBody>
      </p:sp>
      <p:sp>
        <p:nvSpPr>
          <p:cNvPr id="61" name="Shape 59"/>
          <p:cNvSpPr/>
          <p:nvPr/>
        </p:nvSpPr>
        <p:spPr>
          <a:xfrm>
            <a:off x="4663440" y="2798064"/>
            <a:ext cx="960120" cy="420624"/>
          </a:xfrm>
          <a:prstGeom prst="rect">
            <a:avLst/>
          </a:prstGeom>
          <a:solidFill>
            <a:srgbClr val="2860A8"/>
          </a:solidFill>
          <a:ln w="12700">
            <a:solidFill>
              <a:srgbClr val="2860A8"/>
            </a:solidFill>
            <a:prstDash val="solid"/>
          </a:ln>
        </p:spPr>
        <p:txBody>
          <a:bodyPr/>
          <a:lstStyle/>
          <a:p>
            <a:endParaRPr lang="fr-FR"/>
          </a:p>
        </p:txBody>
      </p:sp>
      <p:sp>
        <p:nvSpPr>
          <p:cNvPr id="62" name="Text 60"/>
          <p:cNvSpPr/>
          <p:nvPr/>
        </p:nvSpPr>
        <p:spPr>
          <a:xfrm>
            <a:off x="4663440" y="2798064"/>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 fois/an</a:t>
            </a:r>
            <a:endParaRPr lang="en-US" sz="1400" dirty="0"/>
          </a:p>
        </p:txBody>
      </p:sp>
      <p:sp>
        <p:nvSpPr>
          <p:cNvPr id="63" name="Text 61"/>
          <p:cNvSpPr/>
          <p:nvPr/>
        </p:nvSpPr>
        <p:spPr>
          <a:xfrm>
            <a:off x="5669280" y="2852928"/>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Réunion commission locale</a:t>
            </a:r>
            <a:endParaRPr lang="en-US" sz="1050" dirty="0"/>
          </a:p>
        </p:txBody>
      </p:sp>
      <p:sp>
        <p:nvSpPr>
          <p:cNvPr id="64" name="Shape 62"/>
          <p:cNvSpPr/>
          <p:nvPr/>
        </p:nvSpPr>
        <p:spPr>
          <a:xfrm>
            <a:off x="4663440" y="3264408"/>
            <a:ext cx="4160520" cy="420624"/>
          </a:xfrm>
          <a:prstGeom prst="rect">
            <a:avLst/>
          </a:prstGeom>
          <a:solidFill>
            <a:srgbClr val="E8F1FA"/>
          </a:solidFill>
          <a:ln w="6350">
            <a:solidFill>
              <a:srgbClr val="D0DCE8"/>
            </a:solidFill>
            <a:prstDash val="solid"/>
          </a:ln>
        </p:spPr>
        <p:txBody>
          <a:bodyPr/>
          <a:lstStyle/>
          <a:p>
            <a:endParaRPr lang="fr-FR"/>
          </a:p>
        </p:txBody>
      </p:sp>
      <p:sp>
        <p:nvSpPr>
          <p:cNvPr id="65" name="Shape 63"/>
          <p:cNvSpPr/>
          <p:nvPr/>
        </p:nvSpPr>
        <p:spPr>
          <a:xfrm>
            <a:off x="4663440" y="3264408"/>
            <a:ext cx="960120" cy="420624"/>
          </a:xfrm>
          <a:prstGeom prst="rect">
            <a:avLst/>
          </a:prstGeom>
          <a:solidFill>
            <a:srgbClr val="F4A227"/>
          </a:solidFill>
          <a:ln w="12700">
            <a:solidFill>
              <a:srgbClr val="F4A227"/>
            </a:solidFill>
            <a:prstDash val="solid"/>
          </a:ln>
        </p:spPr>
        <p:txBody>
          <a:bodyPr/>
          <a:lstStyle/>
          <a:p>
            <a:endParaRPr lang="fr-FR"/>
          </a:p>
        </p:txBody>
      </p:sp>
      <p:sp>
        <p:nvSpPr>
          <p:cNvPr id="66" name="Text 64"/>
          <p:cNvSpPr/>
          <p:nvPr/>
        </p:nvSpPr>
        <p:spPr>
          <a:xfrm>
            <a:off x="4663440" y="3264408"/>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100 000</a:t>
            </a:r>
            <a:endParaRPr lang="en-US" sz="1400" dirty="0"/>
          </a:p>
        </p:txBody>
      </p:sp>
      <p:sp>
        <p:nvSpPr>
          <p:cNvPr id="67" name="Text 65"/>
          <p:cNvSpPr/>
          <p:nvPr/>
        </p:nvSpPr>
        <p:spPr>
          <a:xfrm>
            <a:off x="5669280" y="3319272"/>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Hab. — seuil services occas.</a:t>
            </a:r>
            <a:endParaRPr lang="en-US" sz="1050" dirty="0"/>
          </a:p>
        </p:txBody>
      </p:sp>
      <p:sp>
        <p:nvSpPr>
          <p:cNvPr id="68" name="Shape 66"/>
          <p:cNvSpPr/>
          <p:nvPr/>
        </p:nvSpPr>
        <p:spPr>
          <a:xfrm>
            <a:off x="4663440" y="3730752"/>
            <a:ext cx="4160520" cy="420624"/>
          </a:xfrm>
          <a:prstGeom prst="rect">
            <a:avLst/>
          </a:prstGeom>
          <a:solidFill>
            <a:srgbClr val="E8F1FA"/>
          </a:solidFill>
          <a:ln w="6350">
            <a:solidFill>
              <a:srgbClr val="D0DCE8"/>
            </a:solidFill>
            <a:prstDash val="solid"/>
          </a:ln>
        </p:spPr>
        <p:txBody>
          <a:bodyPr/>
          <a:lstStyle/>
          <a:p>
            <a:endParaRPr lang="fr-FR"/>
          </a:p>
        </p:txBody>
      </p:sp>
      <p:sp>
        <p:nvSpPr>
          <p:cNvPr id="69" name="Shape 67"/>
          <p:cNvSpPr/>
          <p:nvPr/>
        </p:nvSpPr>
        <p:spPr>
          <a:xfrm>
            <a:off x="4663440" y="3730752"/>
            <a:ext cx="960120" cy="420624"/>
          </a:xfrm>
          <a:prstGeom prst="rect">
            <a:avLst/>
          </a:prstGeom>
          <a:solidFill>
            <a:srgbClr val="F4A227"/>
          </a:solidFill>
          <a:ln w="12700">
            <a:solidFill>
              <a:srgbClr val="F4A227"/>
            </a:solidFill>
            <a:prstDash val="solid"/>
          </a:ln>
        </p:spPr>
        <p:txBody>
          <a:bodyPr/>
          <a:lstStyle/>
          <a:p>
            <a:endParaRPr lang="fr-FR"/>
          </a:p>
        </p:txBody>
      </p:sp>
      <p:sp>
        <p:nvSpPr>
          <p:cNvPr id="70" name="Text 68"/>
          <p:cNvSpPr/>
          <p:nvPr/>
        </p:nvSpPr>
        <p:spPr>
          <a:xfrm>
            <a:off x="4663440" y="3730752"/>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10 places</a:t>
            </a:r>
            <a:endParaRPr lang="en-US" sz="1400" dirty="0"/>
          </a:p>
        </p:txBody>
      </p:sp>
      <p:sp>
        <p:nvSpPr>
          <p:cNvPr id="71" name="Text 69"/>
          <p:cNvSpPr/>
          <p:nvPr/>
        </p:nvSpPr>
        <p:spPr>
          <a:xfrm>
            <a:off x="5669280" y="3785616"/>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Mini véhicule services occas.</a:t>
            </a:r>
            <a:endParaRPr lang="en-US" sz="1050" dirty="0"/>
          </a:p>
        </p:txBody>
      </p:sp>
      <p:sp>
        <p:nvSpPr>
          <p:cNvPr id="72" name="Shape 70"/>
          <p:cNvSpPr/>
          <p:nvPr/>
        </p:nvSpPr>
        <p:spPr>
          <a:xfrm>
            <a:off x="4663440" y="4197096"/>
            <a:ext cx="4160520" cy="420624"/>
          </a:xfrm>
          <a:prstGeom prst="rect">
            <a:avLst/>
          </a:prstGeom>
          <a:solidFill>
            <a:srgbClr val="E8F1FA"/>
          </a:solidFill>
          <a:ln w="6350">
            <a:solidFill>
              <a:srgbClr val="D0DCE8"/>
            </a:solidFill>
            <a:prstDash val="solid"/>
          </a:ln>
        </p:spPr>
        <p:txBody>
          <a:bodyPr/>
          <a:lstStyle/>
          <a:p>
            <a:endParaRPr lang="fr-FR"/>
          </a:p>
        </p:txBody>
      </p:sp>
      <p:sp>
        <p:nvSpPr>
          <p:cNvPr id="73" name="Shape 71"/>
          <p:cNvSpPr/>
          <p:nvPr/>
        </p:nvSpPr>
        <p:spPr>
          <a:xfrm>
            <a:off x="4663440" y="4197096"/>
            <a:ext cx="960120" cy="420624"/>
          </a:xfrm>
          <a:prstGeom prst="rect">
            <a:avLst/>
          </a:prstGeom>
          <a:solidFill>
            <a:srgbClr val="2E7D32"/>
          </a:solidFill>
          <a:ln w="12700">
            <a:solidFill>
              <a:srgbClr val="2E7D32"/>
            </a:solidFill>
            <a:prstDash val="solid"/>
          </a:ln>
        </p:spPr>
        <p:txBody>
          <a:bodyPr/>
          <a:lstStyle/>
          <a:p>
            <a:endParaRPr lang="fr-FR"/>
          </a:p>
        </p:txBody>
      </p:sp>
      <p:sp>
        <p:nvSpPr>
          <p:cNvPr id="74" name="Text 72"/>
          <p:cNvSpPr/>
          <p:nvPr/>
        </p:nvSpPr>
        <p:spPr>
          <a:xfrm>
            <a:off x="4663440" y="4197096"/>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12/20</a:t>
            </a:r>
            <a:endParaRPr lang="en-US" sz="1400" dirty="0"/>
          </a:p>
        </p:txBody>
      </p:sp>
      <p:sp>
        <p:nvSpPr>
          <p:cNvPr id="75" name="Text 73"/>
          <p:cNvSpPr/>
          <p:nvPr/>
        </p:nvSpPr>
        <p:spPr>
          <a:xfrm>
            <a:off x="5669280" y="4251960"/>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Note min. épreuve pratique</a:t>
            </a:r>
            <a:endParaRPr lang="en-US" sz="1050" dirty="0"/>
          </a:p>
        </p:txBody>
      </p:sp>
      <p:sp>
        <p:nvSpPr>
          <p:cNvPr id="76" name="Shape 74"/>
          <p:cNvSpPr/>
          <p:nvPr/>
        </p:nvSpPr>
        <p:spPr>
          <a:xfrm>
            <a:off x="4663440" y="4663440"/>
            <a:ext cx="4160520" cy="420624"/>
          </a:xfrm>
          <a:prstGeom prst="rect">
            <a:avLst/>
          </a:prstGeom>
          <a:solidFill>
            <a:srgbClr val="E8F1FA"/>
          </a:solidFill>
          <a:ln w="6350">
            <a:solidFill>
              <a:srgbClr val="D0DCE8"/>
            </a:solidFill>
            <a:prstDash val="solid"/>
          </a:ln>
        </p:spPr>
        <p:txBody>
          <a:bodyPr/>
          <a:lstStyle/>
          <a:p>
            <a:endParaRPr lang="fr-FR"/>
          </a:p>
        </p:txBody>
      </p:sp>
      <p:sp>
        <p:nvSpPr>
          <p:cNvPr id="77" name="Shape 75"/>
          <p:cNvSpPr/>
          <p:nvPr/>
        </p:nvSpPr>
        <p:spPr>
          <a:xfrm>
            <a:off x="4663440" y="4663440"/>
            <a:ext cx="960120" cy="420624"/>
          </a:xfrm>
          <a:prstGeom prst="rect">
            <a:avLst/>
          </a:prstGeom>
          <a:solidFill>
            <a:srgbClr val="C0392B"/>
          </a:solidFill>
          <a:ln w="12700">
            <a:solidFill>
              <a:srgbClr val="C0392B"/>
            </a:solidFill>
            <a:prstDash val="solid"/>
          </a:ln>
        </p:spPr>
        <p:txBody>
          <a:bodyPr/>
          <a:lstStyle/>
          <a:p>
            <a:endParaRPr lang="fr-FR"/>
          </a:p>
        </p:txBody>
      </p:sp>
      <p:sp>
        <p:nvSpPr>
          <p:cNvPr id="78" name="Text 76"/>
          <p:cNvSpPr/>
          <p:nvPr/>
        </p:nvSpPr>
        <p:spPr>
          <a:xfrm>
            <a:off x="4663440" y="4663440"/>
            <a:ext cx="960120" cy="420624"/>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6/20</a:t>
            </a:r>
            <a:endParaRPr lang="en-US" sz="1400" dirty="0"/>
          </a:p>
        </p:txBody>
      </p:sp>
      <p:sp>
        <p:nvSpPr>
          <p:cNvPr id="79" name="Text 77"/>
          <p:cNvSpPr/>
          <p:nvPr/>
        </p:nvSpPr>
        <p:spPr>
          <a:xfrm>
            <a:off x="5669280" y="4718304"/>
            <a:ext cx="3108960" cy="310896"/>
          </a:xfrm>
          <a:prstGeom prst="rect">
            <a:avLst/>
          </a:prstGeom>
          <a:noFill/>
          <a:ln/>
        </p:spPr>
        <p:txBody>
          <a:bodyPr wrap="square" rtlCol="0" anchor="ctr"/>
          <a:lstStyle/>
          <a:p>
            <a:pPr marL="0" indent="0">
              <a:buNone/>
            </a:pPr>
            <a:r>
              <a:rPr lang="en-US" sz="1050" dirty="0">
                <a:solidFill>
                  <a:srgbClr val="3A3A3A"/>
                </a:solidFill>
                <a:latin typeface="Calibri" pitchFamily="34" charset="0"/>
                <a:ea typeface="Calibri" pitchFamily="34" charset="-122"/>
                <a:cs typeface="Calibri" pitchFamily="34" charset="-120"/>
              </a:rPr>
              <a:t>Note éliminatoire théorique</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2540"/>
        </a:solidFill>
        <a:effectLst/>
      </p:bgPr>
    </p:bg>
    <p:spTree>
      <p:nvGrpSpPr>
        <p:cNvPr id="1" name=""/>
        <p:cNvGrpSpPr/>
        <p:nvPr/>
      </p:nvGrpSpPr>
      <p:grpSpPr>
        <a:xfrm>
          <a:off x="0" y="0"/>
          <a:ext cx="0" cy="0"/>
          <a:chOff x="0" y="0"/>
          <a:chExt cx="0" cy="0"/>
        </a:xfrm>
      </p:grpSpPr>
      <p:sp>
        <p:nvSpPr>
          <p:cNvPr id="2" name="Shape 0"/>
          <p:cNvSpPr/>
          <p:nvPr/>
        </p:nvSpPr>
        <p:spPr>
          <a:xfrm>
            <a:off x="0" y="0"/>
            <a:ext cx="320040" cy="5143500"/>
          </a:xfrm>
          <a:prstGeom prst="rect">
            <a:avLst/>
          </a:prstGeom>
          <a:solidFill>
            <a:srgbClr val="00B4D8"/>
          </a:solidFill>
          <a:ln w="12700">
            <a:solidFill>
              <a:srgbClr val="00B4D8"/>
            </a:solidFill>
            <a:prstDash val="solid"/>
          </a:ln>
        </p:spPr>
        <p:txBody>
          <a:bodyPr/>
          <a:lstStyle/>
          <a:p>
            <a:endParaRPr lang="fr-FR"/>
          </a:p>
        </p:txBody>
      </p:sp>
      <p:sp>
        <p:nvSpPr>
          <p:cNvPr id="3" name="Shape 1"/>
          <p:cNvSpPr/>
          <p:nvPr/>
        </p:nvSpPr>
        <p:spPr>
          <a:xfrm>
            <a:off x="320040" y="1828800"/>
            <a:ext cx="8503920" cy="45720"/>
          </a:xfrm>
          <a:prstGeom prst="rect">
            <a:avLst/>
          </a:prstGeom>
          <a:solidFill>
            <a:srgbClr val="2860A8"/>
          </a:solidFill>
          <a:ln w="12700">
            <a:solidFill>
              <a:srgbClr val="2860A8"/>
            </a:solidFill>
            <a:prstDash val="solid"/>
          </a:ln>
        </p:spPr>
        <p:txBody>
          <a:bodyPr/>
          <a:lstStyle/>
          <a:p>
            <a:endParaRPr lang="fr-FR"/>
          </a:p>
        </p:txBody>
      </p:sp>
      <p:sp>
        <p:nvSpPr>
          <p:cNvPr id="4" name="Text 2"/>
          <p:cNvSpPr/>
          <p:nvPr/>
        </p:nvSpPr>
        <p:spPr>
          <a:xfrm>
            <a:off x="594360" y="822960"/>
            <a:ext cx="8229600" cy="914400"/>
          </a:xfrm>
          <a:prstGeom prst="rect">
            <a:avLst/>
          </a:prstGeom>
          <a:noFill/>
          <a:ln/>
        </p:spPr>
        <p:txBody>
          <a:bodyPr wrap="square"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Synthèse Partie 1 — Révision pages 107 à 112</a:t>
            </a:r>
            <a:endParaRPr lang="en-US" sz="3000" dirty="0"/>
          </a:p>
        </p:txBody>
      </p:sp>
      <p:sp>
        <p:nvSpPr>
          <p:cNvPr id="5" name="Text 3"/>
          <p:cNvSpPr/>
          <p:nvPr/>
        </p:nvSpPr>
        <p:spPr>
          <a:xfrm>
            <a:off x="594360" y="1965960"/>
            <a:ext cx="8229600" cy="502920"/>
          </a:xfrm>
          <a:prstGeom prst="rect">
            <a:avLst/>
          </a:prstGeom>
          <a:noFill/>
          <a:ln/>
        </p:spPr>
        <p:txBody>
          <a:bodyPr wrap="square" rtlCol="0" anchor="ctr"/>
          <a:lstStyle/>
          <a:p>
            <a:pPr marL="0" indent="0">
              <a:buNone/>
            </a:pPr>
            <a:r>
              <a:rPr lang="en-US" sz="1400" i="1" dirty="0">
                <a:solidFill>
                  <a:srgbClr val="00B4D8"/>
                </a:solidFill>
                <a:latin typeface="Calibri" pitchFamily="34" charset="0"/>
                <a:ea typeface="Calibri" pitchFamily="34" charset="-122"/>
                <a:cs typeface="Calibri" pitchFamily="34" charset="-120"/>
              </a:rPr>
              <a:t>Définition T3P · Non-inscription · Assurances · Maraude · Carte pro · Permis</a:t>
            </a:r>
            <a:endParaRPr lang="en-US" sz="14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Définition du T3P et cas de non-inscription à l'examen</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Livre pages 107-108-109</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
        <p:nvSpPr>
          <p:cNvPr id="9" name="Shape 7"/>
          <p:cNvSpPr/>
          <p:nvPr/>
        </p:nvSpPr>
        <p:spPr>
          <a:xfrm>
            <a:off x="274320" y="932688"/>
            <a:ext cx="8595360" cy="274320"/>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74320" y="932688"/>
            <a:ext cx="859536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DÉFINITION DES PRESTATIONS T3P (Code des transports)</a:t>
            </a:r>
            <a:endParaRPr lang="en-US" sz="1000" dirty="0"/>
          </a:p>
        </p:txBody>
      </p:sp>
      <p:sp>
        <p:nvSpPr>
          <p:cNvPr id="11" name="Shape 9"/>
          <p:cNvSpPr/>
          <p:nvPr/>
        </p:nvSpPr>
        <p:spPr>
          <a:xfrm>
            <a:off x="274320" y="1243584"/>
            <a:ext cx="8595360" cy="621792"/>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243584"/>
            <a:ext cx="54864" cy="621792"/>
          </a:xfrm>
          <a:prstGeom prst="rect">
            <a:avLst/>
          </a:prstGeom>
          <a:solidFill>
            <a:srgbClr val="1A3A5C"/>
          </a:solidFill>
          <a:ln w="12700">
            <a:solidFill>
              <a:srgbClr val="1A3A5C"/>
            </a:solidFill>
            <a:prstDash val="solid"/>
          </a:ln>
        </p:spPr>
        <p:txBody>
          <a:bodyPr/>
          <a:lstStyle/>
          <a:p>
            <a:endParaRPr lang="fr-FR"/>
          </a:p>
        </p:txBody>
      </p:sp>
      <p:sp>
        <p:nvSpPr>
          <p:cNvPr id="13" name="Text 11"/>
          <p:cNvSpPr/>
          <p:nvPr/>
        </p:nvSpPr>
        <p:spPr>
          <a:xfrm>
            <a:off x="411480" y="1261872"/>
            <a:ext cx="8321040" cy="585216"/>
          </a:xfrm>
          <a:prstGeom prst="rect">
            <a:avLst/>
          </a:prstGeom>
          <a:noFill/>
          <a:ln/>
        </p:spPr>
        <p:txBody>
          <a:bodyPr wrap="square" rtlCol="0" anchor="ctr"/>
          <a:lstStyle/>
          <a:p>
            <a:pPr marL="0" indent="0">
              <a:buNone/>
            </a:pPr>
            <a:r>
              <a:rPr lang="en-US" sz="920" dirty="0">
                <a:solidFill>
                  <a:srgbClr val="3A3A3A"/>
                </a:solidFill>
                <a:latin typeface="Calibri" pitchFamily="34" charset="0"/>
                <a:ea typeface="Calibri" pitchFamily="34" charset="-122"/>
                <a:cs typeface="Calibri" pitchFamily="34" charset="-120"/>
              </a:rPr>
              <a:t>Les prestations de transports publics particuliers sont des prestations de transport public routier de personnes qui NE relèvent NI des transports publics collectifs NI du transport privé routier de personnes.</a:t>
            </a:r>
            <a:endParaRPr lang="en-US" sz="920" dirty="0"/>
          </a:p>
          <a:p>
            <a:pPr marL="0" indent="0">
              <a:buNone/>
            </a:pPr>
            <a:r>
              <a:rPr lang="en-US" sz="920" dirty="0">
                <a:solidFill>
                  <a:srgbClr val="3A3A3A"/>
                </a:solidFill>
                <a:latin typeface="Calibri" pitchFamily="34" charset="0"/>
                <a:ea typeface="Calibri" pitchFamily="34" charset="-122"/>
                <a:cs typeface="Calibri" pitchFamily="34" charset="-120"/>
              </a:rPr>
              <a:t>Elles sont exécutées, à titre onéreux, par les taxis, les voitures de transport avec chauffeur et les véhicules motorisés à deux ou trois roues.</a:t>
            </a:r>
            <a:endParaRPr lang="en-US" sz="920" dirty="0"/>
          </a:p>
        </p:txBody>
      </p:sp>
      <p:sp>
        <p:nvSpPr>
          <p:cNvPr id="14" name="Shape 12"/>
          <p:cNvSpPr/>
          <p:nvPr/>
        </p:nvSpPr>
        <p:spPr>
          <a:xfrm>
            <a:off x="274320" y="1938528"/>
            <a:ext cx="8595360" cy="274320"/>
          </a:xfrm>
          <a:prstGeom prst="rect">
            <a:avLst/>
          </a:prstGeom>
          <a:solidFill>
            <a:srgbClr val="C0392B"/>
          </a:solidFill>
          <a:ln w="12700">
            <a:solidFill>
              <a:srgbClr val="C0392B"/>
            </a:solidFill>
            <a:prstDash val="solid"/>
          </a:ln>
        </p:spPr>
        <p:txBody>
          <a:bodyPr/>
          <a:lstStyle/>
          <a:p>
            <a:endParaRPr lang="fr-FR"/>
          </a:p>
        </p:txBody>
      </p:sp>
      <p:sp>
        <p:nvSpPr>
          <p:cNvPr id="15" name="Text 13"/>
          <p:cNvSpPr/>
          <p:nvPr/>
        </p:nvSpPr>
        <p:spPr>
          <a:xfrm>
            <a:off x="274320" y="1938528"/>
            <a:ext cx="859536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LES 3 CAS DE NON-INSCRIPTION À UN EXAMEN T3P</a:t>
            </a:r>
            <a:endParaRPr lang="en-US" sz="1000" dirty="0"/>
          </a:p>
        </p:txBody>
      </p:sp>
      <p:sp>
        <p:nvSpPr>
          <p:cNvPr id="16" name="Shape 14"/>
          <p:cNvSpPr/>
          <p:nvPr/>
        </p:nvSpPr>
        <p:spPr>
          <a:xfrm>
            <a:off x="274320" y="2267712"/>
            <a:ext cx="2724912" cy="2084832"/>
          </a:xfrm>
          <a:prstGeom prst="rect">
            <a:avLst/>
          </a:prstGeom>
          <a:solidFill>
            <a:srgbClr val="E8F1FA"/>
          </a:solidFill>
          <a:ln w="6350">
            <a:solidFill>
              <a:srgbClr val="D0DCE8"/>
            </a:solidFill>
            <a:prstDash val="solid"/>
          </a:ln>
        </p:spPr>
        <p:txBody>
          <a:bodyPr/>
          <a:lstStyle/>
          <a:p>
            <a:endParaRPr lang="fr-FR"/>
          </a:p>
        </p:txBody>
      </p:sp>
      <p:sp>
        <p:nvSpPr>
          <p:cNvPr id="17" name="Shape 15"/>
          <p:cNvSpPr/>
          <p:nvPr/>
        </p:nvSpPr>
        <p:spPr>
          <a:xfrm>
            <a:off x="274320" y="2267712"/>
            <a:ext cx="2724912" cy="274320"/>
          </a:xfrm>
          <a:prstGeom prst="rect">
            <a:avLst/>
          </a:prstGeom>
          <a:solidFill>
            <a:srgbClr val="C0392B"/>
          </a:solidFill>
          <a:ln w="12700">
            <a:solidFill>
              <a:srgbClr val="C0392B"/>
            </a:solidFill>
            <a:prstDash val="solid"/>
          </a:ln>
        </p:spPr>
        <p:txBody>
          <a:bodyPr/>
          <a:lstStyle/>
          <a:p>
            <a:endParaRPr lang="fr-FR"/>
          </a:p>
        </p:txBody>
      </p:sp>
      <p:sp>
        <p:nvSpPr>
          <p:cNvPr id="18" name="Text 16"/>
          <p:cNvSpPr/>
          <p:nvPr/>
        </p:nvSpPr>
        <p:spPr>
          <a:xfrm>
            <a:off x="347472" y="2267712"/>
            <a:ext cx="2578608" cy="274320"/>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1er CAS — Retrait définitif de carte</a:t>
            </a:r>
            <a:endParaRPr lang="en-US" sz="850" dirty="0"/>
          </a:p>
        </p:txBody>
      </p:sp>
      <p:sp>
        <p:nvSpPr>
          <p:cNvPr id="19" name="Text 17"/>
          <p:cNvSpPr/>
          <p:nvPr/>
        </p:nvSpPr>
        <p:spPr>
          <a:xfrm>
            <a:off x="365760" y="2560320"/>
            <a:ext cx="2542032" cy="1773936"/>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Il a fait l'objet, dans les DIX ANS qui précèdent sa demande, d'un retrait DÉFINITIF de sa carte professionnelle.</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(Suite à une violation de la réglementation T3P par le conducteur)</a:t>
            </a:r>
            <a:endParaRPr lang="en-US" sz="880" dirty="0"/>
          </a:p>
        </p:txBody>
      </p:sp>
      <p:sp>
        <p:nvSpPr>
          <p:cNvPr id="20" name="Shape 18"/>
          <p:cNvSpPr/>
          <p:nvPr/>
        </p:nvSpPr>
        <p:spPr>
          <a:xfrm>
            <a:off x="3154680" y="2267712"/>
            <a:ext cx="2724912" cy="2084832"/>
          </a:xfrm>
          <a:prstGeom prst="rect">
            <a:avLst/>
          </a:prstGeom>
          <a:solidFill>
            <a:srgbClr val="E8F1FA"/>
          </a:solidFill>
          <a:ln w="6350">
            <a:solidFill>
              <a:srgbClr val="D0DCE8"/>
            </a:solidFill>
            <a:prstDash val="solid"/>
          </a:ln>
        </p:spPr>
        <p:txBody>
          <a:bodyPr/>
          <a:lstStyle/>
          <a:p>
            <a:endParaRPr lang="fr-FR"/>
          </a:p>
        </p:txBody>
      </p:sp>
      <p:sp>
        <p:nvSpPr>
          <p:cNvPr id="21" name="Shape 19"/>
          <p:cNvSpPr/>
          <p:nvPr/>
        </p:nvSpPr>
        <p:spPr>
          <a:xfrm>
            <a:off x="3154680" y="2267712"/>
            <a:ext cx="2724912" cy="274320"/>
          </a:xfrm>
          <a:prstGeom prst="rect">
            <a:avLst/>
          </a:prstGeom>
          <a:solidFill>
            <a:srgbClr val="F4A227"/>
          </a:solidFill>
          <a:ln w="12700">
            <a:solidFill>
              <a:srgbClr val="F4A227"/>
            </a:solidFill>
            <a:prstDash val="solid"/>
          </a:ln>
        </p:spPr>
        <p:txBody>
          <a:bodyPr/>
          <a:lstStyle/>
          <a:p>
            <a:endParaRPr lang="fr-FR"/>
          </a:p>
        </p:txBody>
      </p:sp>
      <p:sp>
        <p:nvSpPr>
          <p:cNvPr id="22" name="Text 20"/>
          <p:cNvSpPr/>
          <p:nvPr/>
        </p:nvSpPr>
        <p:spPr>
          <a:xfrm>
            <a:off x="3227832" y="2267712"/>
            <a:ext cx="2578608" cy="274320"/>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2ème CAS — Fraude à un examen</a:t>
            </a:r>
            <a:endParaRPr lang="en-US" sz="850" dirty="0"/>
          </a:p>
        </p:txBody>
      </p:sp>
      <p:sp>
        <p:nvSpPr>
          <p:cNvPr id="23" name="Text 21"/>
          <p:cNvSpPr/>
          <p:nvPr/>
        </p:nvSpPr>
        <p:spPr>
          <a:xfrm>
            <a:off x="3246120" y="2560320"/>
            <a:ext cx="2542032" cy="1773936"/>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Il a fait l'objet, dans les CINQ ANS qui précèdent sa demande, d'une exclusion pour fraude lors d'une session à l'un des examens des professions T3P.</a:t>
            </a:r>
            <a:endParaRPr lang="en-US" sz="880" dirty="0"/>
          </a:p>
        </p:txBody>
      </p:sp>
      <p:sp>
        <p:nvSpPr>
          <p:cNvPr id="24" name="Shape 22"/>
          <p:cNvSpPr/>
          <p:nvPr/>
        </p:nvSpPr>
        <p:spPr>
          <a:xfrm>
            <a:off x="6035040" y="2267712"/>
            <a:ext cx="2724912" cy="2084832"/>
          </a:xfrm>
          <a:prstGeom prst="rect">
            <a:avLst/>
          </a:prstGeom>
          <a:solidFill>
            <a:srgbClr val="E8F1FA"/>
          </a:solidFill>
          <a:ln w="6350">
            <a:solidFill>
              <a:srgbClr val="D0DCE8"/>
            </a:solidFill>
            <a:prstDash val="solid"/>
          </a:ln>
        </p:spPr>
        <p:txBody>
          <a:bodyPr/>
          <a:lstStyle/>
          <a:p>
            <a:endParaRPr lang="fr-FR"/>
          </a:p>
        </p:txBody>
      </p:sp>
      <p:sp>
        <p:nvSpPr>
          <p:cNvPr id="25" name="Shape 23"/>
          <p:cNvSpPr/>
          <p:nvPr/>
        </p:nvSpPr>
        <p:spPr>
          <a:xfrm>
            <a:off x="6035040" y="2267712"/>
            <a:ext cx="2724912" cy="274320"/>
          </a:xfrm>
          <a:prstGeom prst="rect">
            <a:avLst/>
          </a:prstGeom>
          <a:solidFill>
            <a:srgbClr val="1A3A5C"/>
          </a:solidFill>
          <a:ln w="12700">
            <a:solidFill>
              <a:srgbClr val="1A3A5C"/>
            </a:solidFill>
            <a:prstDash val="solid"/>
          </a:ln>
        </p:spPr>
        <p:txBody>
          <a:bodyPr/>
          <a:lstStyle/>
          <a:p>
            <a:endParaRPr lang="fr-FR"/>
          </a:p>
        </p:txBody>
      </p:sp>
      <p:sp>
        <p:nvSpPr>
          <p:cNvPr id="26" name="Text 24"/>
          <p:cNvSpPr/>
          <p:nvPr/>
        </p:nvSpPr>
        <p:spPr>
          <a:xfrm>
            <a:off x="6108192" y="2267712"/>
            <a:ext cx="2578608" cy="274320"/>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3ème CAS — Permis probatoire</a:t>
            </a:r>
            <a:endParaRPr lang="en-US" sz="850" dirty="0"/>
          </a:p>
        </p:txBody>
      </p:sp>
      <p:sp>
        <p:nvSpPr>
          <p:cNvPr id="27" name="Text 25"/>
          <p:cNvSpPr/>
          <p:nvPr/>
        </p:nvSpPr>
        <p:spPr>
          <a:xfrm>
            <a:off x="6126480" y="2560320"/>
            <a:ext cx="2542032" cy="1773936"/>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Le délai probatoire applicable à son permis n'est pas expiré.</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2 ans minimum en conduite accompagnée ou 3 ans en conduite normale.</a:t>
            </a:r>
            <a:endParaRPr lang="en-US" sz="880" dirty="0"/>
          </a:p>
        </p:txBody>
      </p:sp>
      <p:sp>
        <p:nvSpPr>
          <p:cNvPr id="28" name="Shape 26"/>
          <p:cNvSpPr/>
          <p:nvPr/>
        </p:nvSpPr>
        <p:spPr>
          <a:xfrm>
            <a:off x="274320" y="4462272"/>
            <a:ext cx="8595360" cy="347472"/>
          </a:xfrm>
          <a:prstGeom prst="rect">
            <a:avLst/>
          </a:prstGeom>
          <a:solidFill>
            <a:srgbClr val="FFFBEB"/>
          </a:solidFill>
          <a:ln w="19050">
            <a:solidFill>
              <a:srgbClr val="F4A227"/>
            </a:solidFill>
            <a:prstDash val="solid"/>
          </a:ln>
        </p:spPr>
        <p:txBody>
          <a:bodyPr/>
          <a:lstStyle/>
          <a:p>
            <a:endParaRPr lang="fr-FR"/>
          </a:p>
        </p:txBody>
      </p:sp>
      <p:sp>
        <p:nvSpPr>
          <p:cNvPr id="29" name="Shape 27"/>
          <p:cNvSpPr/>
          <p:nvPr/>
        </p:nvSpPr>
        <p:spPr>
          <a:xfrm>
            <a:off x="274320" y="4462272"/>
            <a:ext cx="54864" cy="347472"/>
          </a:xfrm>
          <a:prstGeom prst="rect">
            <a:avLst/>
          </a:prstGeom>
          <a:solidFill>
            <a:srgbClr val="F4A227"/>
          </a:solidFill>
          <a:ln w="12700">
            <a:solidFill>
              <a:srgbClr val="F4A227"/>
            </a:solidFill>
            <a:prstDash val="solid"/>
          </a:ln>
        </p:spPr>
        <p:txBody>
          <a:bodyPr/>
          <a:lstStyle/>
          <a:p>
            <a:endParaRPr lang="fr-FR"/>
          </a:p>
        </p:txBody>
      </p:sp>
      <p:sp>
        <p:nvSpPr>
          <p:cNvPr id="30" name="Text 28"/>
          <p:cNvSpPr/>
          <p:nvPr/>
        </p:nvSpPr>
        <p:spPr>
          <a:xfrm>
            <a:off x="384048" y="4462272"/>
            <a:ext cx="8467344" cy="34747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ℹ  ATTENTION : une condamnation DÉFINITIVE n'est pas une condamnation temporaire. Le délai de recours est en général de 10 jours après le prononcé du jugement.</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Assurances, visite médicale, formation continue et maraude</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Livre pages 108-109-110</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
        <p:nvSpPr>
          <p:cNvPr id="9" name="Shape 7"/>
          <p:cNvSpPr/>
          <p:nvPr/>
        </p:nvSpPr>
        <p:spPr>
          <a:xfrm>
            <a:off x="274320" y="932688"/>
            <a:ext cx="4160520" cy="256032"/>
          </a:xfrm>
          <a:prstGeom prst="rect">
            <a:avLst/>
          </a:prstGeom>
          <a:solidFill>
            <a:srgbClr val="2860A8"/>
          </a:solidFill>
          <a:ln w="12700">
            <a:solidFill>
              <a:srgbClr val="2860A8"/>
            </a:solidFill>
            <a:prstDash val="solid"/>
          </a:ln>
        </p:spPr>
        <p:txBody>
          <a:bodyPr/>
          <a:lstStyle/>
          <a:p>
            <a:endParaRPr lang="fr-FR"/>
          </a:p>
        </p:txBody>
      </p:sp>
      <p:sp>
        <p:nvSpPr>
          <p:cNvPr id="10" name="Text 8"/>
          <p:cNvSpPr/>
          <p:nvPr/>
        </p:nvSpPr>
        <p:spPr>
          <a:xfrm>
            <a:off x="274320" y="932688"/>
            <a:ext cx="4160520" cy="25603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LES 2 ASSURANCES OBLIGATOIRES T3P</a:t>
            </a:r>
            <a:endParaRPr lang="en-US" sz="900" dirty="0"/>
          </a:p>
        </p:txBody>
      </p:sp>
      <p:sp>
        <p:nvSpPr>
          <p:cNvPr id="11" name="Shape 9"/>
          <p:cNvSpPr/>
          <p:nvPr/>
        </p:nvSpPr>
        <p:spPr>
          <a:xfrm>
            <a:off x="274320" y="1243584"/>
            <a:ext cx="4160520" cy="960120"/>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243584"/>
            <a:ext cx="4160520" cy="237744"/>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347472" y="1243584"/>
            <a:ext cx="4005072" cy="237744"/>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RC CIRCULATION</a:t>
            </a:r>
            <a:endParaRPr lang="en-US" sz="850" dirty="0"/>
          </a:p>
        </p:txBody>
      </p:sp>
      <p:sp>
        <p:nvSpPr>
          <p:cNvPr id="14" name="Text 12"/>
          <p:cNvSpPr/>
          <p:nvPr/>
        </p:nvSpPr>
        <p:spPr>
          <a:xfrm>
            <a:off x="365760" y="1499616"/>
            <a:ext cx="3950208" cy="685800"/>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Dommages corporels, matériels ou immatériels causés à un client ou un tiers AVEC implication du véhicule.</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Ex : accident avec un automobiliste.</a:t>
            </a:r>
            <a:endParaRPr lang="en-US" sz="880" dirty="0"/>
          </a:p>
        </p:txBody>
      </p:sp>
      <p:sp>
        <p:nvSpPr>
          <p:cNvPr id="15" name="Shape 13"/>
          <p:cNvSpPr/>
          <p:nvPr/>
        </p:nvSpPr>
        <p:spPr>
          <a:xfrm>
            <a:off x="274320" y="2267712"/>
            <a:ext cx="4160520" cy="960120"/>
          </a:xfrm>
          <a:prstGeom prst="rect">
            <a:avLst/>
          </a:prstGeom>
          <a:solidFill>
            <a:srgbClr val="E8F1FA"/>
          </a:solidFill>
          <a:ln w="6350">
            <a:solidFill>
              <a:srgbClr val="D0DCE8"/>
            </a:solidFill>
            <a:prstDash val="solid"/>
          </a:ln>
        </p:spPr>
        <p:txBody>
          <a:bodyPr/>
          <a:lstStyle/>
          <a:p>
            <a:endParaRPr lang="fr-FR"/>
          </a:p>
        </p:txBody>
      </p:sp>
      <p:sp>
        <p:nvSpPr>
          <p:cNvPr id="16" name="Shape 14"/>
          <p:cNvSpPr/>
          <p:nvPr/>
        </p:nvSpPr>
        <p:spPr>
          <a:xfrm>
            <a:off x="274320" y="2267712"/>
            <a:ext cx="4160520" cy="237744"/>
          </a:xfrm>
          <a:prstGeom prst="rect">
            <a:avLst/>
          </a:prstGeom>
          <a:solidFill>
            <a:srgbClr val="1A3A5C"/>
          </a:solidFill>
          <a:ln w="12700">
            <a:solidFill>
              <a:srgbClr val="1A3A5C"/>
            </a:solidFill>
            <a:prstDash val="solid"/>
          </a:ln>
        </p:spPr>
        <p:txBody>
          <a:bodyPr/>
          <a:lstStyle/>
          <a:p>
            <a:endParaRPr lang="fr-FR"/>
          </a:p>
        </p:txBody>
      </p:sp>
      <p:sp>
        <p:nvSpPr>
          <p:cNvPr id="17" name="Text 15"/>
          <p:cNvSpPr/>
          <p:nvPr/>
        </p:nvSpPr>
        <p:spPr>
          <a:xfrm>
            <a:off x="347472" y="2267712"/>
            <a:ext cx="4005072" cy="237744"/>
          </a:xfrm>
          <a:prstGeom prst="rect">
            <a:avLst/>
          </a:prstGeom>
          <a:noFill/>
          <a:ln/>
        </p:spPr>
        <p:txBody>
          <a:bodyPr wrap="square" lIns="0" tIns="0" rIns="0" bIns="0"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RC PROFESSIONNELLE D'EXPLOITATION</a:t>
            </a:r>
            <a:endParaRPr lang="en-US" sz="850" dirty="0"/>
          </a:p>
        </p:txBody>
      </p:sp>
      <p:sp>
        <p:nvSpPr>
          <p:cNvPr id="18" name="Text 16"/>
          <p:cNvSpPr/>
          <p:nvPr/>
        </p:nvSpPr>
        <p:spPr>
          <a:xfrm>
            <a:off x="365760" y="2523744"/>
            <a:ext cx="3950208" cy="685800"/>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Dommages corporels, matériels ou immatériels causés à un client ou un tiers EN DEHORS de toute implication du véhicule.</a:t>
            </a:r>
            <a:endParaRPr lang="en-US" sz="880" dirty="0"/>
          </a:p>
          <a:p>
            <a:pPr marL="0" indent="0">
              <a:buNone/>
            </a:pPr>
            <a:r>
              <a:rPr lang="en-US" sz="880" dirty="0">
                <a:solidFill>
                  <a:srgbClr val="3A3A3A"/>
                </a:solidFill>
                <a:latin typeface="Calibri" pitchFamily="34" charset="0"/>
                <a:ea typeface="Calibri" pitchFamily="34" charset="-122"/>
                <a:cs typeface="Calibri" pitchFamily="34" charset="-120"/>
              </a:rPr>
              <a:t>Ex : détérioration des bagages.</a:t>
            </a:r>
            <a:endParaRPr lang="en-US" sz="880" dirty="0"/>
          </a:p>
        </p:txBody>
      </p:sp>
      <p:sp>
        <p:nvSpPr>
          <p:cNvPr id="19" name="Shape 17"/>
          <p:cNvSpPr/>
          <p:nvPr/>
        </p:nvSpPr>
        <p:spPr>
          <a:xfrm>
            <a:off x="4709160" y="932688"/>
            <a:ext cx="4160520" cy="256032"/>
          </a:xfrm>
          <a:prstGeom prst="rect">
            <a:avLst/>
          </a:prstGeom>
          <a:solidFill>
            <a:srgbClr val="F4A227"/>
          </a:solidFill>
          <a:ln w="12700">
            <a:solidFill>
              <a:srgbClr val="F4A227"/>
            </a:solidFill>
            <a:prstDash val="solid"/>
          </a:ln>
        </p:spPr>
        <p:txBody>
          <a:bodyPr/>
          <a:lstStyle/>
          <a:p>
            <a:endParaRPr lang="fr-FR"/>
          </a:p>
        </p:txBody>
      </p:sp>
      <p:sp>
        <p:nvSpPr>
          <p:cNvPr id="20" name="Text 18"/>
          <p:cNvSpPr/>
          <p:nvPr/>
        </p:nvSpPr>
        <p:spPr>
          <a:xfrm>
            <a:off x="4709160" y="932688"/>
            <a:ext cx="4160520" cy="25603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VISITE MÉDICALE OBLIGATOIRE</a:t>
            </a:r>
            <a:endParaRPr lang="en-US" sz="900" dirty="0"/>
          </a:p>
        </p:txBody>
      </p:sp>
      <p:sp>
        <p:nvSpPr>
          <p:cNvPr id="21" name="Shape 19"/>
          <p:cNvSpPr/>
          <p:nvPr/>
        </p:nvSpPr>
        <p:spPr>
          <a:xfrm>
            <a:off x="4709160" y="1243584"/>
            <a:ext cx="4160520" cy="594360"/>
          </a:xfrm>
          <a:prstGeom prst="rect">
            <a:avLst/>
          </a:prstGeom>
          <a:solidFill>
            <a:srgbClr val="E8F1FA"/>
          </a:solidFill>
          <a:ln w="6350">
            <a:solidFill>
              <a:srgbClr val="D0DCE8"/>
            </a:solidFill>
            <a:prstDash val="solid"/>
          </a:ln>
        </p:spPr>
        <p:txBody>
          <a:bodyPr/>
          <a:lstStyle/>
          <a:p>
            <a:endParaRPr lang="fr-FR"/>
          </a:p>
        </p:txBody>
      </p:sp>
      <p:sp>
        <p:nvSpPr>
          <p:cNvPr id="22" name="Shape 20"/>
          <p:cNvSpPr/>
          <p:nvPr/>
        </p:nvSpPr>
        <p:spPr>
          <a:xfrm>
            <a:off x="4709160" y="1243584"/>
            <a:ext cx="1097280" cy="594360"/>
          </a:xfrm>
          <a:prstGeom prst="rect">
            <a:avLst/>
          </a:prstGeom>
          <a:solidFill>
            <a:srgbClr val="2E7D32"/>
          </a:solidFill>
          <a:ln w="12700">
            <a:solidFill>
              <a:srgbClr val="2E7D32"/>
            </a:solidFill>
            <a:prstDash val="solid"/>
          </a:ln>
        </p:spPr>
        <p:txBody>
          <a:bodyPr/>
          <a:lstStyle/>
          <a:p>
            <a:endParaRPr lang="fr-FR"/>
          </a:p>
        </p:txBody>
      </p:sp>
      <p:sp>
        <p:nvSpPr>
          <p:cNvPr id="23" name="Text 21"/>
          <p:cNvSpPr/>
          <p:nvPr/>
        </p:nvSpPr>
        <p:spPr>
          <a:xfrm>
            <a:off x="4709160" y="1243584"/>
            <a:ext cx="1097280" cy="59436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20 à 60 ans</a:t>
            </a:r>
            <a:endParaRPr lang="en-US" sz="900" dirty="0"/>
          </a:p>
        </p:txBody>
      </p:sp>
      <p:sp>
        <p:nvSpPr>
          <p:cNvPr id="24" name="Text 22"/>
          <p:cNvSpPr/>
          <p:nvPr/>
        </p:nvSpPr>
        <p:spPr>
          <a:xfrm>
            <a:off x="5870448" y="1335024"/>
            <a:ext cx="2926080" cy="43891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Tous les 5 ans</a:t>
            </a:r>
            <a:endParaRPr lang="en-US" sz="900" dirty="0"/>
          </a:p>
        </p:txBody>
      </p:sp>
      <p:sp>
        <p:nvSpPr>
          <p:cNvPr id="25" name="Shape 23"/>
          <p:cNvSpPr/>
          <p:nvPr/>
        </p:nvSpPr>
        <p:spPr>
          <a:xfrm>
            <a:off x="4709160" y="1901952"/>
            <a:ext cx="4160520" cy="594360"/>
          </a:xfrm>
          <a:prstGeom prst="rect">
            <a:avLst/>
          </a:prstGeom>
          <a:solidFill>
            <a:srgbClr val="E8F1FA"/>
          </a:solidFill>
          <a:ln w="6350">
            <a:solidFill>
              <a:srgbClr val="D0DCE8"/>
            </a:solidFill>
            <a:prstDash val="solid"/>
          </a:ln>
        </p:spPr>
        <p:txBody>
          <a:bodyPr/>
          <a:lstStyle/>
          <a:p>
            <a:endParaRPr lang="fr-FR"/>
          </a:p>
        </p:txBody>
      </p:sp>
      <p:sp>
        <p:nvSpPr>
          <p:cNvPr id="26" name="Shape 24"/>
          <p:cNvSpPr/>
          <p:nvPr/>
        </p:nvSpPr>
        <p:spPr>
          <a:xfrm>
            <a:off x="4709160" y="1901952"/>
            <a:ext cx="1097280" cy="594360"/>
          </a:xfrm>
          <a:prstGeom prst="rect">
            <a:avLst/>
          </a:prstGeom>
          <a:solidFill>
            <a:srgbClr val="F4A227"/>
          </a:solidFill>
          <a:ln w="12700">
            <a:solidFill>
              <a:srgbClr val="F4A227"/>
            </a:solidFill>
            <a:prstDash val="solid"/>
          </a:ln>
        </p:spPr>
        <p:txBody>
          <a:bodyPr/>
          <a:lstStyle/>
          <a:p>
            <a:endParaRPr lang="fr-FR"/>
          </a:p>
        </p:txBody>
      </p:sp>
      <p:sp>
        <p:nvSpPr>
          <p:cNvPr id="27" name="Text 25"/>
          <p:cNvSpPr/>
          <p:nvPr/>
        </p:nvSpPr>
        <p:spPr>
          <a:xfrm>
            <a:off x="4709160" y="1901952"/>
            <a:ext cx="1097280" cy="59436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60 à 76 ans</a:t>
            </a:r>
            <a:endParaRPr lang="en-US" sz="900" dirty="0"/>
          </a:p>
        </p:txBody>
      </p:sp>
      <p:sp>
        <p:nvSpPr>
          <p:cNvPr id="28" name="Text 26"/>
          <p:cNvSpPr/>
          <p:nvPr/>
        </p:nvSpPr>
        <p:spPr>
          <a:xfrm>
            <a:off x="5870448" y="1993392"/>
            <a:ext cx="2926080" cy="43891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Tous les 2 ans (lendemain date anniversaire des 60 ans)</a:t>
            </a:r>
            <a:endParaRPr lang="en-US" sz="900" dirty="0"/>
          </a:p>
        </p:txBody>
      </p:sp>
      <p:sp>
        <p:nvSpPr>
          <p:cNvPr id="29" name="Shape 27"/>
          <p:cNvSpPr/>
          <p:nvPr/>
        </p:nvSpPr>
        <p:spPr>
          <a:xfrm>
            <a:off x="4709160" y="2560320"/>
            <a:ext cx="4160520" cy="594360"/>
          </a:xfrm>
          <a:prstGeom prst="rect">
            <a:avLst/>
          </a:prstGeom>
          <a:solidFill>
            <a:srgbClr val="E8F1FA"/>
          </a:solidFill>
          <a:ln w="6350">
            <a:solidFill>
              <a:srgbClr val="D0DCE8"/>
            </a:solidFill>
            <a:prstDash val="solid"/>
          </a:ln>
        </p:spPr>
        <p:txBody>
          <a:bodyPr/>
          <a:lstStyle/>
          <a:p>
            <a:endParaRPr lang="fr-FR"/>
          </a:p>
        </p:txBody>
      </p:sp>
      <p:sp>
        <p:nvSpPr>
          <p:cNvPr id="30" name="Shape 28"/>
          <p:cNvSpPr/>
          <p:nvPr/>
        </p:nvSpPr>
        <p:spPr>
          <a:xfrm>
            <a:off x="4709160" y="2560320"/>
            <a:ext cx="1097280" cy="594360"/>
          </a:xfrm>
          <a:prstGeom prst="rect">
            <a:avLst/>
          </a:prstGeom>
          <a:solidFill>
            <a:srgbClr val="C0392B"/>
          </a:solidFill>
          <a:ln w="12700">
            <a:solidFill>
              <a:srgbClr val="C0392B"/>
            </a:solidFill>
            <a:prstDash val="solid"/>
          </a:ln>
        </p:spPr>
        <p:txBody>
          <a:bodyPr/>
          <a:lstStyle/>
          <a:p>
            <a:endParaRPr lang="fr-FR"/>
          </a:p>
        </p:txBody>
      </p:sp>
      <p:sp>
        <p:nvSpPr>
          <p:cNvPr id="31" name="Text 29"/>
          <p:cNvSpPr/>
          <p:nvPr/>
        </p:nvSpPr>
        <p:spPr>
          <a:xfrm>
            <a:off x="4709160" y="2560320"/>
            <a:ext cx="1097280" cy="594360"/>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À partir de 76 ans</a:t>
            </a:r>
            <a:endParaRPr lang="en-US" sz="900" dirty="0"/>
          </a:p>
        </p:txBody>
      </p:sp>
      <p:sp>
        <p:nvSpPr>
          <p:cNvPr id="32" name="Text 30"/>
          <p:cNvSpPr/>
          <p:nvPr/>
        </p:nvSpPr>
        <p:spPr>
          <a:xfrm>
            <a:off x="5870448" y="2651760"/>
            <a:ext cx="2926080" cy="438912"/>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Chaque année (lendemain date anniversaire)</a:t>
            </a:r>
            <a:endParaRPr lang="en-US" sz="900" dirty="0"/>
          </a:p>
        </p:txBody>
      </p:sp>
      <p:sp>
        <p:nvSpPr>
          <p:cNvPr id="33" name="Shape 31"/>
          <p:cNvSpPr/>
          <p:nvPr/>
        </p:nvSpPr>
        <p:spPr>
          <a:xfrm>
            <a:off x="4709160" y="3273552"/>
            <a:ext cx="4160520" cy="256032"/>
          </a:xfrm>
          <a:prstGeom prst="rect">
            <a:avLst/>
          </a:prstGeom>
          <a:solidFill>
            <a:srgbClr val="1A3A5C"/>
          </a:solidFill>
          <a:ln w="12700">
            <a:solidFill>
              <a:srgbClr val="1A3A5C"/>
            </a:solidFill>
            <a:prstDash val="solid"/>
          </a:ln>
        </p:spPr>
        <p:txBody>
          <a:bodyPr/>
          <a:lstStyle/>
          <a:p>
            <a:endParaRPr lang="fr-FR"/>
          </a:p>
        </p:txBody>
      </p:sp>
      <p:sp>
        <p:nvSpPr>
          <p:cNvPr id="34" name="Text 32"/>
          <p:cNvSpPr/>
          <p:nvPr/>
        </p:nvSpPr>
        <p:spPr>
          <a:xfrm>
            <a:off x="4709160" y="3273552"/>
            <a:ext cx="4160520" cy="25603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FORMATION CONTINUE OBLIGATOIRE</a:t>
            </a:r>
            <a:endParaRPr lang="en-US" sz="900" dirty="0"/>
          </a:p>
        </p:txBody>
      </p:sp>
      <p:sp>
        <p:nvSpPr>
          <p:cNvPr id="35" name="Shape 33"/>
          <p:cNvSpPr/>
          <p:nvPr/>
        </p:nvSpPr>
        <p:spPr>
          <a:xfrm>
            <a:off x="4709160" y="3566160"/>
            <a:ext cx="4160520" cy="475488"/>
          </a:xfrm>
          <a:prstGeom prst="rect">
            <a:avLst/>
          </a:prstGeom>
          <a:solidFill>
            <a:srgbClr val="E8F1FA"/>
          </a:solidFill>
          <a:ln w="6350">
            <a:solidFill>
              <a:srgbClr val="D0DCE8"/>
            </a:solidFill>
            <a:prstDash val="solid"/>
          </a:ln>
        </p:spPr>
        <p:txBody>
          <a:bodyPr/>
          <a:lstStyle/>
          <a:p>
            <a:endParaRPr lang="fr-FR"/>
          </a:p>
        </p:txBody>
      </p:sp>
      <p:sp>
        <p:nvSpPr>
          <p:cNvPr id="36" name="Text 34"/>
          <p:cNvSpPr/>
          <p:nvPr/>
        </p:nvSpPr>
        <p:spPr>
          <a:xfrm>
            <a:off x="4782312" y="3602736"/>
            <a:ext cx="4005072" cy="402336"/>
          </a:xfrm>
          <a:prstGeom prst="rect">
            <a:avLst/>
          </a:prstGeom>
          <a:noFill/>
          <a:ln/>
        </p:spPr>
        <p:txBody>
          <a:bodyPr wrap="square" rtlCol="0" anchor="ctr"/>
          <a:lstStyle/>
          <a:p>
            <a:pPr marL="0" indent="0">
              <a:buNone/>
            </a:pPr>
            <a:r>
              <a:rPr lang="en-US" sz="950" b="1" dirty="0">
                <a:solidFill>
                  <a:srgbClr val="1A3A5C"/>
                </a:solidFill>
                <a:latin typeface="Calibri" pitchFamily="34" charset="0"/>
                <a:ea typeface="Calibri" pitchFamily="34" charset="-122"/>
                <a:cs typeface="Calibri" pitchFamily="34" charset="-120"/>
              </a:rPr>
              <a:t>TAXI / VTC / VMDTR : Tous les 5 ans — 14 heures — auprès d'un centre de formation agréé par le préfet.</a:t>
            </a:r>
            <a:endParaRPr lang="en-US" sz="950" dirty="0"/>
          </a:p>
        </p:txBody>
      </p:sp>
      <p:sp>
        <p:nvSpPr>
          <p:cNvPr id="37" name="Shape 35"/>
          <p:cNvSpPr/>
          <p:nvPr/>
        </p:nvSpPr>
        <p:spPr>
          <a:xfrm>
            <a:off x="274320" y="3273552"/>
            <a:ext cx="4160520" cy="256032"/>
          </a:xfrm>
          <a:prstGeom prst="rect">
            <a:avLst/>
          </a:prstGeom>
          <a:solidFill>
            <a:srgbClr val="C0392B"/>
          </a:solidFill>
          <a:ln w="12700">
            <a:solidFill>
              <a:srgbClr val="C0392B"/>
            </a:solidFill>
            <a:prstDash val="solid"/>
          </a:ln>
        </p:spPr>
        <p:txBody>
          <a:bodyPr/>
          <a:lstStyle/>
          <a:p>
            <a:endParaRPr lang="fr-FR"/>
          </a:p>
        </p:txBody>
      </p:sp>
      <p:sp>
        <p:nvSpPr>
          <p:cNvPr id="38" name="Text 36"/>
          <p:cNvSpPr/>
          <p:nvPr/>
        </p:nvSpPr>
        <p:spPr>
          <a:xfrm>
            <a:off x="274320" y="3273552"/>
            <a:ext cx="4160520" cy="25603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LA MARAUDE — TABLEAU DES RÈGLES</a:t>
            </a:r>
            <a:endParaRPr lang="en-US" sz="9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274320" y="3566160"/>
          <a:ext cx="4160520" cy="960120"/>
        </p:xfrm>
        <a:graphic>
          <a:graphicData uri="http://schemas.openxmlformats.org/drawingml/2006/table">
            <a:tbl>
              <a:tblPr/>
              <a:tblGrid>
                <a:gridCol w="118872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tblGrid>
              <a:tr h="240030">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Profession</a:t>
                      </a:r>
                      <a:endParaRPr lang="en-US" sz="9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Prise en charge voie publique</a:t>
                      </a:r>
                      <a:endParaRPr lang="en-US" sz="9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A3A5C"/>
                    </a:solidFill>
                  </a:tcPr>
                </a:tc>
                <a:extLst>
                  <a:ext uri="{0D108BD9-81ED-4DB2-BD59-A6C34878D82A}">
                    <a16:rowId xmlns:a16="http://schemas.microsoft.com/office/drawing/2014/main" val="10000"/>
                  </a:ext>
                </a:extLst>
              </a:tr>
              <a:tr h="240030">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TAXI</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Oui — uniquement dans la zone de rattachement</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0030">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VTC</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Non — réservation préalable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E8F1FA"/>
                    </a:solidFill>
                  </a:tcPr>
                </a:tc>
                <a:extLst>
                  <a:ext uri="{0D108BD9-81ED-4DB2-BD59-A6C34878D82A}">
                    <a16:rowId xmlns:a16="http://schemas.microsoft.com/office/drawing/2014/main" val="10002"/>
                  </a:ext>
                </a:extLst>
              </a:tr>
              <a:tr h="240030">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 VMDTR</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950" dirty="0">
                          <a:solidFill>
                            <a:srgbClr val="3A3A3A"/>
                          </a:solidFill>
                          <a:latin typeface="Calibri" pitchFamily="34" charset="0"/>
                          <a:ea typeface="Calibri" pitchFamily="34" charset="-122"/>
                          <a:cs typeface="Calibri" pitchFamily="34" charset="-120"/>
                        </a:rPr>
                        <a:t>Non — réservation préalable obligatoire</a:t>
                      </a:r>
                      <a:endParaRPr lang="en-US" sz="9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40" name="Shape 37"/>
          <p:cNvSpPr/>
          <p:nvPr/>
        </p:nvSpPr>
        <p:spPr>
          <a:xfrm>
            <a:off x="274320" y="4608576"/>
            <a:ext cx="8595360" cy="237744"/>
          </a:xfrm>
          <a:prstGeom prst="rect">
            <a:avLst/>
          </a:prstGeom>
          <a:solidFill>
            <a:srgbClr val="2860A8"/>
          </a:solidFill>
          <a:ln w="12700">
            <a:solidFill>
              <a:srgbClr val="2860A8"/>
            </a:solidFill>
            <a:prstDash val="solid"/>
          </a:ln>
        </p:spPr>
        <p:txBody>
          <a:bodyPr/>
          <a:lstStyle/>
          <a:p>
            <a:endParaRPr lang="fr-FR"/>
          </a:p>
        </p:txBody>
      </p:sp>
      <p:sp>
        <p:nvSpPr>
          <p:cNvPr id="41" name="Text 38"/>
          <p:cNvSpPr/>
          <p:nvPr/>
        </p:nvSpPr>
        <p:spPr>
          <a:xfrm>
            <a:off x="347472" y="4608576"/>
            <a:ext cx="8458200" cy="237744"/>
          </a:xfrm>
          <a:prstGeom prst="rect">
            <a:avLst/>
          </a:prstGeom>
          <a:noFill/>
          <a:ln/>
        </p:spPr>
        <p:txBody>
          <a:bodyPr wrap="square" rtlCol="0" anchor="ctr"/>
          <a:lstStyle/>
          <a:p>
            <a:pPr marL="0" indent="0">
              <a:buNone/>
            </a:pPr>
            <a:r>
              <a:rPr lang="en-US" sz="850" b="1" dirty="0">
                <a:solidFill>
                  <a:srgbClr val="FFFFFF"/>
                </a:solidFill>
                <a:latin typeface="Calibri" pitchFamily="34" charset="0"/>
                <a:ea typeface="Calibri" pitchFamily="34" charset="-122"/>
                <a:cs typeface="Calibri" pitchFamily="34" charset="-120"/>
              </a:rPr>
              <a:t>SOURCES DE LA RÉGLEMENTATION — Les 3 professions s'appuient sur : Code des transports | Textes préfectoraux (Taxi) | EPCI/Métropole (Taxi)</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Documents de contrôle et délivrance de la carte professionnelle</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Livre pages 110-111</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
        <p:nvSpPr>
          <p:cNvPr id="9" name="Shape 7"/>
          <p:cNvSpPr/>
          <p:nvPr/>
        </p:nvSpPr>
        <p:spPr>
          <a:xfrm>
            <a:off x="274320" y="932688"/>
            <a:ext cx="4160520" cy="274320"/>
          </a:xfrm>
          <a:prstGeom prst="rect">
            <a:avLst/>
          </a:prstGeom>
          <a:solidFill>
            <a:srgbClr val="1A3A5C"/>
          </a:solidFill>
          <a:ln w="12700">
            <a:solidFill>
              <a:srgbClr val="1A3A5C"/>
            </a:solidFill>
            <a:prstDash val="solid"/>
          </a:ln>
        </p:spPr>
        <p:txBody>
          <a:bodyPr/>
          <a:lstStyle/>
          <a:p>
            <a:endParaRPr lang="fr-FR"/>
          </a:p>
        </p:txBody>
      </p:sp>
      <p:sp>
        <p:nvSpPr>
          <p:cNvPr id="10" name="Text 8"/>
          <p:cNvSpPr/>
          <p:nvPr/>
        </p:nvSpPr>
        <p:spPr>
          <a:xfrm>
            <a:off x="274320" y="932688"/>
            <a:ext cx="416052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DOCUMENTS VÉHICULE</a:t>
            </a:r>
            <a:endParaRPr lang="en-US" sz="1000" dirty="0"/>
          </a:p>
        </p:txBody>
      </p:sp>
      <p:sp>
        <p:nvSpPr>
          <p:cNvPr id="11" name="Shape 9"/>
          <p:cNvSpPr/>
          <p:nvPr/>
        </p:nvSpPr>
        <p:spPr>
          <a:xfrm>
            <a:off x="274320" y="1252728"/>
            <a:ext cx="4160520" cy="292608"/>
          </a:xfrm>
          <a:prstGeom prst="rect">
            <a:avLst/>
          </a:prstGeom>
          <a:solidFill>
            <a:srgbClr val="E8F1FA"/>
          </a:solidFill>
          <a:ln w="6350">
            <a:solidFill>
              <a:srgbClr val="D0DCE8"/>
            </a:solidFill>
            <a:prstDash val="solid"/>
          </a:ln>
        </p:spPr>
        <p:txBody>
          <a:bodyPr/>
          <a:lstStyle/>
          <a:p>
            <a:endParaRPr lang="fr-FR"/>
          </a:p>
        </p:txBody>
      </p:sp>
      <p:sp>
        <p:nvSpPr>
          <p:cNvPr id="12" name="Shape 10"/>
          <p:cNvSpPr/>
          <p:nvPr/>
        </p:nvSpPr>
        <p:spPr>
          <a:xfrm>
            <a:off x="274320" y="1252728"/>
            <a:ext cx="228600" cy="292608"/>
          </a:xfrm>
          <a:prstGeom prst="rect">
            <a:avLst/>
          </a:prstGeom>
          <a:solidFill>
            <a:srgbClr val="2860A8"/>
          </a:solidFill>
          <a:ln w="12700">
            <a:solidFill>
              <a:srgbClr val="2860A8"/>
            </a:solidFill>
            <a:prstDash val="solid"/>
          </a:ln>
        </p:spPr>
        <p:txBody>
          <a:bodyPr/>
          <a:lstStyle/>
          <a:p>
            <a:endParaRPr lang="fr-FR"/>
          </a:p>
        </p:txBody>
      </p:sp>
      <p:sp>
        <p:nvSpPr>
          <p:cNvPr id="13" name="Text 11"/>
          <p:cNvSpPr/>
          <p:nvPr/>
        </p:nvSpPr>
        <p:spPr>
          <a:xfrm>
            <a:off x="274320" y="1252728"/>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4" name="Text 12"/>
          <p:cNvSpPr/>
          <p:nvPr/>
        </p:nvSpPr>
        <p:spPr>
          <a:xfrm>
            <a:off x="548640" y="1271016"/>
            <a:ext cx="3794760" cy="237744"/>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Carte grise</a:t>
            </a:r>
            <a:endParaRPr lang="en-US" sz="900" dirty="0"/>
          </a:p>
        </p:txBody>
      </p:sp>
      <p:sp>
        <p:nvSpPr>
          <p:cNvPr id="15" name="Shape 13"/>
          <p:cNvSpPr/>
          <p:nvPr/>
        </p:nvSpPr>
        <p:spPr>
          <a:xfrm>
            <a:off x="274320" y="1581912"/>
            <a:ext cx="4160520" cy="292608"/>
          </a:xfrm>
          <a:prstGeom prst="rect">
            <a:avLst/>
          </a:prstGeom>
          <a:solidFill>
            <a:srgbClr val="FFFFFF"/>
          </a:solidFill>
          <a:ln w="6350">
            <a:solidFill>
              <a:srgbClr val="D0DCE8"/>
            </a:solidFill>
            <a:prstDash val="solid"/>
          </a:ln>
        </p:spPr>
        <p:txBody>
          <a:bodyPr/>
          <a:lstStyle/>
          <a:p>
            <a:endParaRPr lang="fr-FR"/>
          </a:p>
        </p:txBody>
      </p:sp>
      <p:sp>
        <p:nvSpPr>
          <p:cNvPr id="16" name="Shape 14"/>
          <p:cNvSpPr/>
          <p:nvPr/>
        </p:nvSpPr>
        <p:spPr>
          <a:xfrm>
            <a:off x="274320" y="1581912"/>
            <a:ext cx="228600" cy="292608"/>
          </a:xfrm>
          <a:prstGeom prst="rect">
            <a:avLst/>
          </a:prstGeom>
          <a:solidFill>
            <a:srgbClr val="2860A8"/>
          </a:solidFill>
          <a:ln w="12700">
            <a:solidFill>
              <a:srgbClr val="2860A8"/>
            </a:solidFill>
            <a:prstDash val="solid"/>
          </a:ln>
        </p:spPr>
        <p:txBody>
          <a:bodyPr/>
          <a:lstStyle/>
          <a:p>
            <a:endParaRPr lang="fr-FR"/>
          </a:p>
        </p:txBody>
      </p:sp>
      <p:sp>
        <p:nvSpPr>
          <p:cNvPr id="17" name="Text 15"/>
          <p:cNvSpPr/>
          <p:nvPr/>
        </p:nvSpPr>
        <p:spPr>
          <a:xfrm>
            <a:off x="274320" y="1581912"/>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18" name="Text 16"/>
          <p:cNvSpPr/>
          <p:nvPr/>
        </p:nvSpPr>
        <p:spPr>
          <a:xfrm>
            <a:off x="548640" y="1600200"/>
            <a:ext cx="3794760" cy="237744"/>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Contrôle technique ou attestation d'entretien</a:t>
            </a:r>
            <a:endParaRPr lang="en-US" sz="900" dirty="0"/>
          </a:p>
        </p:txBody>
      </p:sp>
      <p:sp>
        <p:nvSpPr>
          <p:cNvPr id="19" name="Shape 17"/>
          <p:cNvSpPr/>
          <p:nvPr/>
        </p:nvSpPr>
        <p:spPr>
          <a:xfrm>
            <a:off x="274320" y="1911096"/>
            <a:ext cx="4160520" cy="292608"/>
          </a:xfrm>
          <a:prstGeom prst="rect">
            <a:avLst/>
          </a:prstGeom>
          <a:solidFill>
            <a:srgbClr val="E8F1FA"/>
          </a:solidFill>
          <a:ln w="6350">
            <a:solidFill>
              <a:srgbClr val="D0DCE8"/>
            </a:solidFill>
            <a:prstDash val="solid"/>
          </a:ln>
        </p:spPr>
        <p:txBody>
          <a:bodyPr/>
          <a:lstStyle/>
          <a:p>
            <a:endParaRPr lang="fr-FR"/>
          </a:p>
        </p:txBody>
      </p:sp>
      <p:sp>
        <p:nvSpPr>
          <p:cNvPr id="20" name="Shape 18"/>
          <p:cNvSpPr/>
          <p:nvPr/>
        </p:nvSpPr>
        <p:spPr>
          <a:xfrm>
            <a:off x="274320" y="1911096"/>
            <a:ext cx="228600" cy="292608"/>
          </a:xfrm>
          <a:prstGeom prst="rect">
            <a:avLst/>
          </a:prstGeom>
          <a:solidFill>
            <a:srgbClr val="2860A8"/>
          </a:solidFill>
          <a:ln w="12700">
            <a:solidFill>
              <a:srgbClr val="2860A8"/>
            </a:solidFill>
            <a:prstDash val="solid"/>
          </a:ln>
        </p:spPr>
        <p:txBody>
          <a:bodyPr/>
          <a:lstStyle/>
          <a:p>
            <a:endParaRPr lang="fr-FR"/>
          </a:p>
        </p:txBody>
      </p:sp>
      <p:sp>
        <p:nvSpPr>
          <p:cNvPr id="21" name="Text 19"/>
          <p:cNvSpPr/>
          <p:nvPr/>
        </p:nvSpPr>
        <p:spPr>
          <a:xfrm>
            <a:off x="274320" y="1911096"/>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2" name="Text 20"/>
          <p:cNvSpPr/>
          <p:nvPr/>
        </p:nvSpPr>
        <p:spPr>
          <a:xfrm>
            <a:off x="548640" y="1929384"/>
            <a:ext cx="3794760" cy="237744"/>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Attestation d'assurance à titre onéreux</a:t>
            </a:r>
            <a:endParaRPr lang="en-US" sz="900" dirty="0"/>
          </a:p>
        </p:txBody>
      </p:sp>
      <p:sp>
        <p:nvSpPr>
          <p:cNvPr id="23" name="Shape 21"/>
          <p:cNvSpPr/>
          <p:nvPr/>
        </p:nvSpPr>
        <p:spPr>
          <a:xfrm>
            <a:off x="274320" y="2240280"/>
            <a:ext cx="4160520" cy="292608"/>
          </a:xfrm>
          <a:prstGeom prst="rect">
            <a:avLst/>
          </a:prstGeom>
          <a:solidFill>
            <a:srgbClr val="FFFFFF"/>
          </a:solidFill>
          <a:ln w="6350">
            <a:solidFill>
              <a:srgbClr val="D0DCE8"/>
            </a:solidFill>
            <a:prstDash val="solid"/>
          </a:ln>
        </p:spPr>
        <p:txBody>
          <a:bodyPr/>
          <a:lstStyle/>
          <a:p>
            <a:endParaRPr lang="fr-FR"/>
          </a:p>
        </p:txBody>
      </p:sp>
      <p:sp>
        <p:nvSpPr>
          <p:cNvPr id="24" name="Shape 22"/>
          <p:cNvSpPr/>
          <p:nvPr/>
        </p:nvSpPr>
        <p:spPr>
          <a:xfrm>
            <a:off x="274320" y="2240280"/>
            <a:ext cx="228600" cy="292608"/>
          </a:xfrm>
          <a:prstGeom prst="rect">
            <a:avLst/>
          </a:prstGeom>
          <a:solidFill>
            <a:srgbClr val="2860A8"/>
          </a:solidFill>
          <a:ln w="12700">
            <a:solidFill>
              <a:srgbClr val="2860A8"/>
            </a:solidFill>
            <a:prstDash val="solid"/>
          </a:ln>
        </p:spPr>
        <p:txBody>
          <a:bodyPr/>
          <a:lstStyle/>
          <a:p>
            <a:endParaRPr lang="fr-FR"/>
          </a:p>
        </p:txBody>
      </p:sp>
      <p:sp>
        <p:nvSpPr>
          <p:cNvPr id="25" name="Text 23"/>
          <p:cNvSpPr/>
          <p:nvPr/>
        </p:nvSpPr>
        <p:spPr>
          <a:xfrm>
            <a:off x="274320" y="2240280"/>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26" name="Text 24"/>
          <p:cNvSpPr/>
          <p:nvPr/>
        </p:nvSpPr>
        <p:spPr>
          <a:xfrm>
            <a:off x="548640" y="2258568"/>
            <a:ext cx="3794760" cy="237744"/>
          </a:xfrm>
          <a:prstGeom prst="rect">
            <a:avLst/>
          </a:prstGeom>
          <a:noFill/>
          <a:ln/>
        </p:spPr>
        <p:txBody>
          <a:bodyPr wrap="square" rtlCol="0" anchor="ctr"/>
          <a:lstStyle/>
          <a:p>
            <a:pPr marL="0" indent="0">
              <a:buNone/>
            </a:pPr>
            <a:r>
              <a:rPr lang="en-US" sz="900" dirty="0">
                <a:solidFill>
                  <a:srgbClr val="3A3A3A"/>
                </a:solidFill>
                <a:latin typeface="Calibri" pitchFamily="34" charset="0"/>
                <a:ea typeface="Calibri" pitchFamily="34" charset="-122"/>
                <a:cs typeface="Calibri" pitchFamily="34" charset="-120"/>
              </a:rPr>
              <a:t>Permis A ou B</a:t>
            </a:r>
            <a:endParaRPr lang="en-US" sz="900" dirty="0"/>
          </a:p>
        </p:txBody>
      </p:sp>
      <p:sp>
        <p:nvSpPr>
          <p:cNvPr id="27" name="Shape 25"/>
          <p:cNvSpPr/>
          <p:nvPr/>
        </p:nvSpPr>
        <p:spPr>
          <a:xfrm>
            <a:off x="4709160" y="932688"/>
            <a:ext cx="4160520" cy="274320"/>
          </a:xfrm>
          <a:prstGeom prst="rect">
            <a:avLst/>
          </a:prstGeom>
          <a:solidFill>
            <a:srgbClr val="2860A8"/>
          </a:solidFill>
          <a:ln w="12700">
            <a:solidFill>
              <a:srgbClr val="2860A8"/>
            </a:solidFill>
            <a:prstDash val="solid"/>
          </a:ln>
        </p:spPr>
        <p:txBody>
          <a:bodyPr/>
          <a:lstStyle/>
          <a:p>
            <a:endParaRPr lang="fr-FR"/>
          </a:p>
        </p:txBody>
      </p:sp>
      <p:sp>
        <p:nvSpPr>
          <p:cNvPr id="28" name="Text 26"/>
          <p:cNvSpPr/>
          <p:nvPr/>
        </p:nvSpPr>
        <p:spPr>
          <a:xfrm>
            <a:off x="4709160" y="932688"/>
            <a:ext cx="416052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 DOCUMENTS PROFESSION</a:t>
            </a:r>
            <a:endParaRPr lang="en-US" sz="1000" dirty="0"/>
          </a:p>
        </p:txBody>
      </p:sp>
      <p:sp>
        <p:nvSpPr>
          <p:cNvPr id="29" name="Shape 27"/>
          <p:cNvSpPr/>
          <p:nvPr/>
        </p:nvSpPr>
        <p:spPr>
          <a:xfrm>
            <a:off x="4709160" y="1252728"/>
            <a:ext cx="4160520" cy="292608"/>
          </a:xfrm>
          <a:prstGeom prst="rect">
            <a:avLst/>
          </a:prstGeom>
          <a:solidFill>
            <a:srgbClr val="E8F1FA"/>
          </a:solidFill>
          <a:ln w="6350">
            <a:solidFill>
              <a:srgbClr val="D0DCE8"/>
            </a:solidFill>
            <a:prstDash val="solid"/>
          </a:ln>
        </p:spPr>
        <p:txBody>
          <a:bodyPr/>
          <a:lstStyle/>
          <a:p>
            <a:endParaRPr lang="fr-FR"/>
          </a:p>
        </p:txBody>
      </p:sp>
      <p:sp>
        <p:nvSpPr>
          <p:cNvPr id="30" name="Shape 28"/>
          <p:cNvSpPr/>
          <p:nvPr/>
        </p:nvSpPr>
        <p:spPr>
          <a:xfrm>
            <a:off x="4709160" y="1252728"/>
            <a:ext cx="228600" cy="292608"/>
          </a:xfrm>
          <a:prstGeom prst="rect">
            <a:avLst/>
          </a:prstGeom>
          <a:solidFill>
            <a:srgbClr val="1A3A5C"/>
          </a:solidFill>
          <a:ln w="12700">
            <a:solidFill>
              <a:srgbClr val="1A3A5C"/>
            </a:solidFill>
            <a:prstDash val="solid"/>
          </a:ln>
        </p:spPr>
        <p:txBody>
          <a:bodyPr/>
          <a:lstStyle/>
          <a:p>
            <a:endParaRPr lang="fr-FR"/>
          </a:p>
        </p:txBody>
      </p:sp>
      <p:sp>
        <p:nvSpPr>
          <p:cNvPr id="31" name="Text 29"/>
          <p:cNvSpPr/>
          <p:nvPr/>
        </p:nvSpPr>
        <p:spPr>
          <a:xfrm>
            <a:off x="4709160" y="1252728"/>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2" name="Text 30"/>
          <p:cNvSpPr/>
          <p:nvPr/>
        </p:nvSpPr>
        <p:spPr>
          <a:xfrm>
            <a:off x="4983480" y="1271016"/>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Carte professionnelle T3P</a:t>
            </a:r>
            <a:endParaRPr lang="en-US" sz="880" dirty="0"/>
          </a:p>
        </p:txBody>
      </p:sp>
      <p:sp>
        <p:nvSpPr>
          <p:cNvPr id="33" name="Shape 31"/>
          <p:cNvSpPr/>
          <p:nvPr/>
        </p:nvSpPr>
        <p:spPr>
          <a:xfrm>
            <a:off x="4709160" y="1581912"/>
            <a:ext cx="4160520" cy="292608"/>
          </a:xfrm>
          <a:prstGeom prst="rect">
            <a:avLst/>
          </a:prstGeom>
          <a:solidFill>
            <a:srgbClr val="FFFFFF"/>
          </a:solidFill>
          <a:ln w="6350">
            <a:solidFill>
              <a:srgbClr val="D0DCE8"/>
            </a:solidFill>
            <a:prstDash val="solid"/>
          </a:ln>
        </p:spPr>
        <p:txBody>
          <a:bodyPr/>
          <a:lstStyle/>
          <a:p>
            <a:endParaRPr lang="fr-FR"/>
          </a:p>
        </p:txBody>
      </p:sp>
      <p:sp>
        <p:nvSpPr>
          <p:cNvPr id="34" name="Shape 32"/>
          <p:cNvSpPr/>
          <p:nvPr/>
        </p:nvSpPr>
        <p:spPr>
          <a:xfrm>
            <a:off x="4709160" y="1581912"/>
            <a:ext cx="228600" cy="292608"/>
          </a:xfrm>
          <a:prstGeom prst="rect">
            <a:avLst/>
          </a:prstGeom>
          <a:solidFill>
            <a:srgbClr val="1A3A5C"/>
          </a:solidFill>
          <a:ln w="12700">
            <a:solidFill>
              <a:srgbClr val="1A3A5C"/>
            </a:solidFill>
            <a:prstDash val="solid"/>
          </a:ln>
        </p:spPr>
        <p:txBody>
          <a:bodyPr/>
          <a:lstStyle/>
          <a:p>
            <a:endParaRPr lang="fr-FR"/>
          </a:p>
        </p:txBody>
      </p:sp>
      <p:sp>
        <p:nvSpPr>
          <p:cNvPr id="35" name="Text 33"/>
          <p:cNvSpPr/>
          <p:nvPr/>
        </p:nvSpPr>
        <p:spPr>
          <a:xfrm>
            <a:off x="4709160" y="1581912"/>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36" name="Text 34"/>
          <p:cNvSpPr/>
          <p:nvPr/>
        </p:nvSpPr>
        <p:spPr>
          <a:xfrm>
            <a:off x="4983480" y="1600200"/>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Attestation médicale ou visite médicale</a:t>
            </a:r>
            <a:endParaRPr lang="en-US" sz="880" dirty="0"/>
          </a:p>
        </p:txBody>
      </p:sp>
      <p:sp>
        <p:nvSpPr>
          <p:cNvPr id="37" name="Shape 35"/>
          <p:cNvSpPr/>
          <p:nvPr/>
        </p:nvSpPr>
        <p:spPr>
          <a:xfrm>
            <a:off x="4709160" y="1911096"/>
            <a:ext cx="4160520" cy="292608"/>
          </a:xfrm>
          <a:prstGeom prst="rect">
            <a:avLst/>
          </a:prstGeom>
          <a:solidFill>
            <a:srgbClr val="E8F1FA"/>
          </a:solidFill>
          <a:ln w="6350">
            <a:solidFill>
              <a:srgbClr val="D0DCE8"/>
            </a:solidFill>
            <a:prstDash val="solid"/>
          </a:ln>
        </p:spPr>
        <p:txBody>
          <a:bodyPr/>
          <a:lstStyle/>
          <a:p>
            <a:endParaRPr lang="fr-FR"/>
          </a:p>
        </p:txBody>
      </p:sp>
      <p:sp>
        <p:nvSpPr>
          <p:cNvPr id="38" name="Shape 36"/>
          <p:cNvSpPr/>
          <p:nvPr/>
        </p:nvSpPr>
        <p:spPr>
          <a:xfrm>
            <a:off x="4709160" y="1911096"/>
            <a:ext cx="228600" cy="292608"/>
          </a:xfrm>
          <a:prstGeom prst="rect">
            <a:avLst/>
          </a:prstGeom>
          <a:solidFill>
            <a:srgbClr val="1A3A5C"/>
          </a:solidFill>
          <a:ln w="12700">
            <a:solidFill>
              <a:srgbClr val="1A3A5C"/>
            </a:solidFill>
            <a:prstDash val="solid"/>
          </a:ln>
        </p:spPr>
        <p:txBody>
          <a:bodyPr/>
          <a:lstStyle/>
          <a:p>
            <a:endParaRPr lang="fr-FR"/>
          </a:p>
        </p:txBody>
      </p:sp>
      <p:sp>
        <p:nvSpPr>
          <p:cNvPr id="39" name="Text 37"/>
          <p:cNvSpPr/>
          <p:nvPr/>
        </p:nvSpPr>
        <p:spPr>
          <a:xfrm>
            <a:off x="4709160" y="1911096"/>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0" name="Text 38"/>
          <p:cNvSpPr/>
          <p:nvPr/>
        </p:nvSpPr>
        <p:spPr>
          <a:xfrm>
            <a:off x="4983480" y="1929384"/>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Billet individuel ou collectif ou carnet de bord (sauf taxi)</a:t>
            </a:r>
            <a:endParaRPr lang="en-US" sz="880" dirty="0"/>
          </a:p>
        </p:txBody>
      </p:sp>
      <p:sp>
        <p:nvSpPr>
          <p:cNvPr id="41" name="Shape 39"/>
          <p:cNvSpPr/>
          <p:nvPr/>
        </p:nvSpPr>
        <p:spPr>
          <a:xfrm>
            <a:off x="4709160" y="2240280"/>
            <a:ext cx="4160520" cy="292608"/>
          </a:xfrm>
          <a:prstGeom prst="rect">
            <a:avLst/>
          </a:prstGeom>
          <a:solidFill>
            <a:srgbClr val="FFFFFF"/>
          </a:solidFill>
          <a:ln w="6350">
            <a:solidFill>
              <a:srgbClr val="D0DCE8"/>
            </a:solidFill>
            <a:prstDash val="solid"/>
          </a:ln>
        </p:spPr>
        <p:txBody>
          <a:bodyPr/>
          <a:lstStyle/>
          <a:p>
            <a:endParaRPr lang="fr-FR"/>
          </a:p>
        </p:txBody>
      </p:sp>
      <p:sp>
        <p:nvSpPr>
          <p:cNvPr id="42" name="Shape 40"/>
          <p:cNvSpPr/>
          <p:nvPr/>
        </p:nvSpPr>
        <p:spPr>
          <a:xfrm>
            <a:off x="4709160" y="2240280"/>
            <a:ext cx="228600" cy="292608"/>
          </a:xfrm>
          <a:prstGeom prst="rect">
            <a:avLst/>
          </a:prstGeom>
          <a:solidFill>
            <a:srgbClr val="1A3A5C"/>
          </a:solidFill>
          <a:ln w="12700">
            <a:solidFill>
              <a:srgbClr val="1A3A5C"/>
            </a:solidFill>
            <a:prstDash val="solid"/>
          </a:ln>
        </p:spPr>
        <p:txBody>
          <a:bodyPr/>
          <a:lstStyle/>
          <a:p>
            <a:endParaRPr lang="fr-FR"/>
          </a:p>
        </p:txBody>
      </p:sp>
      <p:sp>
        <p:nvSpPr>
          <p:cNvPr id="43" name="Text 41"/>
          <p:cNvSpPr/>
          <p:nvPr/>
        </p:nvSpPr>
        <p:spPr>
          <a:xfrm>
            <a:off x="4709160" y="2240280"/>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4" name="Text 42"/>
          <p:cNvSpPr/>
          <p:nvPr/>
        </p:nvSpPr>
        <p:spPr>
          <a:xfrm>
            <a:off x="4983480" y="2258568"/>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Licence (ADS ou inscription au registre)</a:t>
            </a:r>
            <a:endParaRPr lang="en-US" sz="880" dirty="0"/>
          </a:p>
        </p:txBody>
      </p:sp>
      <p:sp>
        <p:nvSpPr>
          <p:cNvPr id="45" name="Shape 43"/>
          <p:cNvSpPr/>
          <p:nvPr/>
        </p:nvSpPr>
        <p:spPr>
          <a:xfrm>
            <a:off x="4709160" y="2569464"/>
            <a:ext cx="4160520" cy="292608"/>
          </a:xfrm>
          <a:prstGeom prst="rect">
            <a:avLst/>
          </a:prstGeom>
          <a:solidFill>
            <a:srgbClr val="E8F1FA"/>
          </a:solidFill>
          <a:ln w="6350">
            <a:solidFill>
              <a:srgbClr val="D0DCE8"/>
            </a:solidFill>
            <a:prstDash val="solid"/>
          </a:ln>
        </p:spPr>
        <p:txBody>
          <a:bodyPr/>
          <a:lstStyle/>
          <a:p>
            <a:endParaRPr lang="fr-FR"/>
          </a:p>
        </p:txBody>
      </p:sp>
      <p:sp>
        <p:nvSpPr>
          <p:cNvPr id="46" name="Shape 44"/>
          <p:cNvSpPr/>
          <p:nvPr/>
        </p:nvSpPr>
        <p:spPr>
          <a:xfrm>
            <a:off x="4709160" y="2569464"/>
            <a:ext cx="228600" cy="292608"/>
          </a:xfrm>
          <a:prstGeom prst="rect">
            <a:avLst/>
          </a:prstGeom>
          <a:solidFill>
            <a:srgbClr val="1A3A5C"/>
          </a:solidFill>
          <a:ln w="12700">
            <a:solidFill>
              <a:srgbClr val="1A3A5C"/>
            </a:solidFill>
            <a:prstDash val="solid"/>
          </a:ln>
        </p:spPr>
        <p:txBody>
          <a:bodyPr/>
          <a:lstStyle/>
          <a:p>
            <a:endParaRPr lang="fr-FR"/>
          </a:p>
        </p:txBody>
      </p:sp>
      <p:sp>
        <p:nvSpPr>
          <p:cNvPr id="47" name="Text 45"/>
          <p:cNvSpPr/>
          <p:nvPr/>
        </p:nvSpPr>
        <p:spPr>
          <a:xfrm>
            <a:off x="4709160" y="2569464"/>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48" name="Text 46"/>
          <p:cNvSpPr/>
          <p:nvPr/>
        </p:nvSpPr>
        <p:spPr>
          <a:xfrm>
            <a:off x="4983480" y="2587752"/>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Pour salariés : contrat de travail + DPAE</a:t>
            </a:r>
            <a:endParaRPr lang="en-US" sz="880" dirty="0"/>
          </a:p>
        </p:txBody>
      </p:sp>
      <p:sp>
        <p:nvSpPr>
          <p:cNvPr id="49" name="Shape 47"/>
          <p:cNvSpPr/>
          <p:nvPr/>
        </p:nvSpPr>
        <p:spPr>
          <a:xfrm>
            <a:off x="4709160" y="2898648"/>
            <a:ext cx="4160520" cy="292608"/>
          </a:xfrm>
          <a:prstGeom prst="rect">
            <a:avLst/>
          </a:prstGeom>
          <a:solidFill>
            <a:srgbClr val="FFFFFF"/>
          </a:solidFill>
          <a:ln w="6350">
            <a:solidFill>
              <a:srgbClr val="D0DCE8"/>
            </a:solidFill>
            <a:prstDash val="solid"/>
          </a:ln>
        </p:spPr>
        <p:txBody>
          <a:bodyPr/>
          <a:lstStyle/>
          <a:p>
            <a:endParaRPr lang="fr-FR"/>
          </a:p>
        </p:txBody>
      </p:sp>
      <p:sp>
        <p:nvSpPr>
          <p:cNvPr id="50" name="Shape 48"/>
          <p:cNvSpPr/>
          <p:nvPr/>
        </p:nvSpPr>
        <p:spPr>
          <a:xfrm>
            <a:off x="4709160" y="2898648"/>
            <a:ext cx="228600" cy="292608"/>
          </a:xfrm>
          <a:prstGeom prst="rect">
            <a:avLst/>
          </a:prstGeom>
          <a:solidFill>
            <a:srgbClr val="1A3A5C"/>
          </a:solidFill>
          <a:ln w="12700">
            <a:solidFill>
              <a:srgbClr val="1A3A5C"/>
            </a:solidFill>
            <a:prstDash val="solid"/>
          </a:ln>
        </p:spPr>
        <p:txBody>
          <a:bodyPr/>
          <a:lstStyle/>
          <a:p>
            <a:endParaRPr lang="fr-FR"/>
          </a:p>
        </p:txBody>
      </p:sp>
      <p:sp>
        <p:nvSpPr>
          <p:cNvPr id="51" name="Text 49"/>
          <p:cNvSpPr/>
          <p:nvPr/>
        </p:nvSpPr>
        <p:spPr>
          <a:xfrm>
            <a:off x="4709160" y="2898648"/>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52" name="Text 50"/>
          <p:cNvSpPr/>
          <p:nvPr/>
        </p:nvSpPr>
        <p:spPr>
          <a:xfrm>
            <a:off x="4983480" y="2916936"/>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Carnet de notes concernant les tarifs</a:t>
            </a:r>
            <a:endParaRPr lang="en-US" sz="880" dirty="0"/>
          </a:p>
        </p:txBody>
      </p:sp>
      <p:sp>
        <p:nvSpPr>
          <p:cNvPr id="53" name="Shape 51"/>
          <p:cNvSpPr/>
          <p:nvPr/>
        </p:nvSpPr>
        <p:spPr>
          <a:xfrm>
            <a:off x="4709160" y="3227832"/>
            <a:ext cx="4160520" cy="292608"/>
          </a:xfrm>
          <a:prstGeom prst="rect">
            <a:avLst/>
          </a:prstGeom>
          <a:solidFill>
            <a:srgbClr val="E8F1FA"/>
          </a:solidFill>
          <a:ln w="6350">
            <a:solidFill>
              <a:srgbClr val="D0DCE8"/>
            </a:solidFill>
            <a:prstDash val="solid"/>
          </a:ln>
        </p:spPr>
        <p:txBody>
          <a:bodyPr/>
          <a:lstStyle/>
          <a:p>
            <a:endParaRPr lang="fr-FR"/>
          </a:p>
        </p:txBody>
      </p:sp>
      <p:sp>
        <p:nvSpPr>
          <p:cNvPr id="54" name="Shape 52"/>
          <p:cNvSpPr/>
          <p:nvPr/>
        </p:nvSpPr>
        <p:spPr>
          <a:xfrm>
            <a:off x="4709160" y="3227832"/>
            <a:ext cx="228600" cy="292608"/>
          </a:xfrm>
          <a:prstGeom prst="rect">
            <a:avLst/>
          </a:prstGeom>
          <a:solidFill>
            <a:srgbClr val="1A3A5C"/>
          </a:solidFill>
          <a:ln w="12700">
            <a:solidFill>
              <a:srgbClr val="1A3A5C"/>
            </a:solidFill>
            <a:prstDash val="solid"/>
          </a:ln>
        </p:spPr>
        <p:txBody>
          <a:bodyPr/>
          <a:lstStyle/>
          <a:p>
            <a:endParaRPr lang="fr-FR"/>
          </a:p>
        </p:txBody>
      </p:sp>
      <p:sp>
        <p:nvSpPr>
          <p:cNvPr id="55" name="Text 53"/>
          <p:cNvSpPr/>
          <p:nvPr/>
        </p:nvSpPr>
        <p:spPr>
          <a:xfrm>
            <a:off x="4709160" y="3227832"/>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56" name="Text 54"/>
          <p:cNvSpPr/>
          <p:nvPr/>
        </p:nvSpPr>
        <p:spPr>
          <a:xfrm>
            <a:off x="4983480" y="3246120"/>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Carnet métrologique taximètre (taxi)</a:t>
            </a:r>
            <a:endParaRPr lang="en-US" sz="880" dirty="0"/>
          </a:p>
        </p:txBody>
      </p:sp>
      <p:sp>
        <p:nvSpPr>
          <p:cNvPr id="57" name="Shape 55"/>
          <p:cNvSpPr/>
          <p:nvPr/>
        </p:nvSpPr>
        <p:spPr>
          <a:xfrm>
            <a:off x="4709160" y="3557016"/>
            <a:ext cx="4160520" cy="292608"/>
          </a:xfrm>
          <a:prstGeom prst="rect">
            <a:avLst/>
          </a:prstGeom>
          <a:solidFill>
            <a:srgbClr val="FFFFFF"/>
          </a:solidFill>
          <a:ln w="6350">
            <a:solidFill>
              <a:srgbClr val="D0DCE8"/>
            </a:solidFill>
            <a:prstDash val="solid"/>
          </a:ln>
        </p:spPr>
        <p:txBody>
          <a:bodyPr/>
          <a:lstStyle/>
          <a:p>
            <a:endParaRPr lang="fr-FR"/>
          </a:p>
        </p:txBody>
      </p:sp>
      <p:sp>
        <p:nvSpPr>
          <p:cNvPr id="58" name="Shape 56"/>
          <p:cNvSpPr/>
          <p:nvPr/>
        </p:nvSpPr>
        <p:spPr>
          <a:xfrm>
            <a:off x="4709160" y="3557016"/>
            <a:ext cx="228600" cy="292608"/>
          </a:xfrm>
          <a:prstGeom prst="rect">
            <a:avLst/>
          </a:prstGeom>
          <a:solidFill>
            <a:srgbClr val="1A3A5C"/>
          </a:solidFill>
          <a:ln w="12700">
            <a:solidFill>
              <a:srgbClr val="1A3A5C"/>
            </a:solidFill>
            <a:prstDash val="solid"/>
          </a:ln>
        </p:spPr>
        <p:txBody>
          <a:bodyPr/>
          <a:lstStyle/>
          <a:p>
            <a:endParaRPr lang="fr-FR"/>
          </a:p>
        </p:txBody>
      </p:sp>
      <p:sp>
        <p:nvSpPr>
          <p:cNvPr id="59" name="Text 57"/>
          <p:cNvSpPr/>
          <p:nvPr/>
        </p:nvSpPr>
        <p:spPr>
          <a:xfrm>
            <a:off x="4709160" y="3557016"/>
            <a:ext cx="228600" cy="292608"/>
          </a:xfrm>
          <a:prstGeom prst="rect">
            <a:avLst/>
          </a:prstGeom>
          <a:noFill/>
          <a:ln/>
        </p:spPr>
        <p:txBody>
          <a:bodyPr wrap="square" rtlCol="0" anchor="ctr"/>
          <a:lstStyle/>
          <a:p>
            <a:pPr marL="0" indent="0" algn="ctr">
              <a:buNone/>
            </a:pPr>
            <a:r>
              <a:rPr lang="en-US" sz="700" dirty="0">
                <a:solidFill>
                  <a:srgbClr val="FFFFFF"/>
                </a:solidFill>
                <a:latin typeface="Calibri" pitchFamily="34" charset="0"/>
                <a:ea typeface="Calibri" pitchFamily="34" charset="-122"/>
                <a:cs typeface="Calibri" pitchFamily="34" charset="-120"/>
              </a:rPr>
              <a:t>▶</a:t>
            </a:r>
            <a:endParaRPr lang="en-US" sz="700" dirty="0"/>
          </a:p>
        </p:txBody>
      </p:sp>
      <p:sp>
        <p:nvSpPr>
          <p:cNvPr id="60" name="Text 58"/>
          <p:cNvSpPr/>
          <p:nvPr/>
        </p:nvSpPr>
        <p:spPr>
          <a:xfrm>
            <a:off x="4983480" y="3575304"/>
            <a:ext cx="3767328" cy="237744"/>
          </a:xfrm>
          <a:prstGeom prst="rect">
            <a:avLst/>
          </a:prstGeom>
          <a:noFill/>
          <a:ln/>
        </p:spPr>
        <p:txBody>
          <a:bodyPr wrap="square" rtlCol="0" anchor="ctr"/>
          <a:lstStyle/>
          <a:p>
            <a:pPr marL="0" indent="0">
              <a:buNone/>
            </a:pPr>
            <a:r>
              <a:rPr lang="en-US" sz="880" dirty="0">
                <a:solidFill>
                  <a:srgbClr val="3A3A3A"/>
                </a:solidFill>
                <a:latin typeface="Calibri" pitchFamily="34" charset="0"/>
                <a:ea typeface="Calibri" pitchFamily="34" charset="-122"/>
                <a:cs typeface="Calibri" pitchFamily="34" charset="-120"/>
              </a:rPr>
              <a:t>Attestation de formation continue</a:t>
            </a:r>
            <a:endParaRPr lang="en-US" sz="880" dirty="0"/>
          </a:p>
        </p:txBody>
      </p:sp>
      <p:sp>
        <p:nvSpPr>
          <p:cNvPr id="61" name="Shape 59"/>
          <p:cNvSpPr/>
          <p:nvPr/>
        </p:nvSpPr>
        <p:spPr>
          <a:xfrm>
            <a:off x="274320" y="3950208"/>
            <a:ext cx="8595360" cy="274320"/>
          </a:xfrm>
          <a:prstGeom prst="rect">
            <a:avLst/>
          </a:prstGeom>
          <a:solidFill>
            <a:srgbClr val="6B7A8D"/>
          </a:solidFill>
          <a:ln w="12700">
            <a:solidFill>
              <a:srgbClr val="6B7A8D"/>
            </a:solidFill>
            <a:prstDash val="solid"/>
          </a:ln>
        </p:spPr>
        <p:txBody>
          <a:bodyPr/>
          <a:lstStyle/>
          <a:p>
            <a:endParaRPr lang="fr-FR"/>
          </a:p>
        </p:txBody>
      </p:sp>
      <p:sp>
        <p:nvSpPr>
          <p:cNvPr id="62" name="Text 60"/>
          <p:cNvSpPr/>
          <p:nvPr/>
        </p:nvSpPr>
        <p:spPr>
          <a:xfrm>
            <a:off x="274320" y="3950208"/>
            <a:ext cx="859536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LA CARTE PROFESSIONNELLE — CONDITIONS DE DÉLIVRANCE</a:t>
            </a:r>
            <a:endParaRPr lang="en-US" sz="1000" dirty="0"/>
          </a:p>
        </p:txBody>
      </p:sp>
      <p:sp>
        <p:nvSpPr>
          <p:cNvPr id="63" name="Shape 61"/>
          <p:cNvSpPr/>
          <p:nvPr/>
        </p:nvSpPr>
        <p:spPr>
          <a:xfrm>
            <a:off x="274320" y="4279392"/>
            <a:ext cx="2724912" cy="896112"/>
          </a:xfrm>
          <a:prstGeom prst="rect">
            <a:avLst/>
          </a:prstGeom>
          <a:solidFill>
            <a:srgbClr val="E8F1FA"/>
          </a:solidFill>
          <a:ln w="6350">
            <a:solidFill>
              <a:srgbClr val="D0DCE8"/>
            </a:solidFill>
            <a:prstDash val="solid"/>
          </a:ln>
        </p:spPr>
        <p:txBody>
          <a:bodyPr/>
          <a:lstStyle/>
          <a:p>
            <a:endParaRPr lang="fr-FR"/>
          </a:p>
        </p:txBody>
      </p:sp>
      <p:sp>
        <p:nvSpPr>
          <p:cNvPr id="64" name="Shape 62"/>
          <p:cNvSpPr/>
          <p:nvPr/>
        </p:nvSpPr>
        <p:spPr>
          <a:xfrm>
            <a:off x="274320" y="4279392"/>
            <a:ext cx="2724912" cy="237744"/>
          </a:xfrm>
          <a:prstGeom prst="rect">
            <a:avLst/>
          </a:prstGeom>
          <a:solidFill>
            <a:srgbClr val="2860A8"/>
          </a:solidFill>
          <a:ln w="12700">
            <a:solidFill>
              <a:srgbClr val="2860A8"/>
            </a:solidFill>
            <a:prstDash val="solid"/>
          </a:ln>
        </p:spPr>
        <p:txBody>
          <a:bodyPr/>
          <a:lstStyle/>
          <a:p>
            <a:endParaRPr lang="fr-FR"/>
          </a:p>
        </p:txBody>
      </p:sp>
      <p:sp>
        <p:nvSpPr>
          <p:cNvPr id="65" name="Text 63"/>
          <p:cNvSpPr/>
          <p:nvPr/>
        </p:nvSpPr>
        <p:spPr>
          <a:xfrm>
            <a:off x="347472" y="4279392"/>
            <a:ext cx="2578608"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Permis hors période probatoire</a:t>
            </a:r>
            <a:endParaRPr lang="en-US" sz="900" dirty="0"/>
          </a:p>
        </p:txBody>
      </p:sp>
      <p:sp>
        <p:nvSpPr>
          <p:cNvPr id="66" name="Text 64"/>
          <p:cNvSpPr/>
          <p:nvPr/>
        </p:nvSpPr>
        <p:spPr>
          <a:xfrm>
            <a:off x="365760" y="4535424"/>
            <a:ext cx="2542032" cy="6217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Titulaire d'un permis B (taxi/VTC) ou A 3 ans (VMDTR), hors période probatoire.</a:t>
            </a:r>
            <a:endParaRPr lang="en-US" sz="880" dirty="0"/>
          </a:p>
        </p:txBody>
      </p:sp>
      <p:sp>
        <p:nvSpPr>
          <p:cNvPr id="67" name="Shape 65"/>
          <p:cNvSpPr/>
          <p:nvPr/>
        </p:nvSpPr>
        <p:spPr>
          <a:xfrm>
            <a:off x="3154680" y="4279392"/>
            <a:ext cx="2724912" cy="896112"/>
          </a:xfrm>
          <a:prstGeom prst="rect">
            <a:avLst/>
          </a:prstGeom>
          <a:solidFill>
            <a:srgbClr val="E8F1FA"/>
          </a:solidFill>
          <a:ln w="6350">
            <a:solidFill>
              <a:srgbClr val="D0DCE8"/>
            </a:solidFill>
            <a:prstDash val="solid"/>
          </a:ln>
        </p:spPr>
        <p:txBody>
          <a:bodyPr/>
          <a:lstStyle/>
          <a:p>
            <a:endParaRPr lang="fr-FR"/>
          </a:p>
        </p:txBody>
      </p:sp>
      <p:sp>
        <p:nvSpPr>
          <p:cNvPr id="68" name="Shape 66"/>
          <p:cNvSpPr/>
          <p:nvPr/>
        </p:nvSpPr>
        <p:spPr>
          <a:xfrm>
            <a:off x="3154680" y="4279392"/>
            <a:ext cx="2724912" cy="237744"/>
          </a:xfrm>
          <a:prstGeom prst="rect">
            <a:avLst/>
          </a:prstGeom>
          <a:solidFill>
            <a:srgbClr val="F4A227"/>
          </a:solidFill>
          <a:ln w="12700">
            <a:solidFill>
              <a:srgbClr val="F4A227"/>
            </a:solidFill>
            <a:prstDash val="solid"/>
          </a:ln>
        </p:spPr>
        <p:txBody>
          <a:bodyPr/>
          <a:lstStyle/>
          <a:p>
            <a:endParaRPr lang="fr-FR"/>
          </a:p>
        </p:txBody>
      </p:sp>
      <p:sp>
        <p:nvSpPr>
          <p:cNvPr id="69" name="Text 67"/>
          <p:cNvSpPr/>
          <p:nvPr/>
        </p:nvSpPr>
        <p:spPr>
          <a:xfrm>
            <a:off x="3227832" y="4279392"/>
            <a:ext cx="2578608"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Aptitude professionnelle</a:t>
            </a:r>
            <a:endParaRPr lang="en-US" sz="900" dirty="0"/>
          </a:p>
        </p:txBody>
      </p:sp>
      <p:sp>
        <p:nvSpPr>
          <p:cNvPr id="70" name="Text 68"/>
          <p:cNvSpPr/>
          <p:nvPr/>
        </p:nvSpPr>
        <p:spPr>
          <a:xfrm>
            <a:off x="3246120" y="4535424"/>
            <a:ext cx="2542032" cy="6217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Examen réussi OU expérience pro de 12 mois minimum dans les 10 ans précédant la demande.</a:t>
            </a:r>
            <a:endParaRPr lang="en-US" sz="880" dirty="0"/>
          </a:p>
        </p:txBody>
      </p:sp>
      <p:sp>
        <p:nvSpPr>
          <p:cNvPr id="71" name="Shape 69"/>
          <p:cNvSpPr/>
          <p:nvPr/>
        </p:nvSpPr>
        <p:spPr>
          <a:xfrm>
            <a:off x="6035040" y="4279392"/>
            <a:ext cx="2724912" cy="896112"/>
          </a:xfrm>
          <a:prstGeom prst="rect">
            <a:avLst/>
          </a:prstGeom>
          <a:solidFill>
            <a:srgbClr val="E8F1FA"/>
          </a:solidFill>
          <a:ln w="6350">
            <a:solidFill>
              <a:srgbClr val="D0DCE8"/>
            </a:solidFill>
            <a:prstDash val="solid"/>
          </a:ln>
        </p:spPr>
        <p:txBody>
          <a:bodyPr/>
          <a:lstStyle/>
          <a:p>
            <a:endParaRPr lang="fr-FR"/>
          </a:p>
        </p:txBody>
      </p:sp>
      <p:sp>
        <p:nvSpPr>
          <p:cNvPr id="72" name="Shape 70"/>
          <p:cNvSpPr/>
          <p:nvPr/>
        </p:nvSpPr>
        <p:spPr>
          <a:xfrm>
            <a:off x="6035040" y="4279392"/>
            <a:ext cx="2724912" cy="237744"/>
          </a:xfrm>
          <a:prstGeom prst="rect">
            <a:avLst/>
          </a:prstGeom>
          <a:solidFill>
            <a:srgbClr val="6B7A8D"/>
          </a:solidFill>
          <a:ln w="12700">
            <a:solidFill>
              <a:srgbClr val="6B7A8D"/>
            </a:solidFill>
            <a:prstDash val="solid"/>
          </a:ln>
        </p:spPr>
        <p:txBody>
          <a:bodyPr/>
          <a:lstStyle/>
          <a:p>
            <a:endParaRPr lang="fr-FR"/>
          </a:p>
        </p:txBody>
      </p:sp>
      <p:sp>
        <p:nvSpPr>
          <p:cNvPr id="73" name="Text 71"/>
          <p:cNvSpPr/>
          <p:nvPr/>
        </p:nvSpPr>
        <p:spPr>
          <a:xfrm>
            <a:off x="6108192" y="4279392"/>
            <a:ext cx="2578608" cy="237744"/>
          </a:xfrm>
          <a:prstGeom prst="rect">
            <a:avLst/>
          </a:prstGeom>
          <a:noFill/>
          <a:ln/>
        </p:spPr>
        <p:txBody>
          <a:bodyPr wrap="square" lIns="0" tIns="0" rIns="0" bIns="0" rtlCol="0" anchor="ctr"/>
          <a:lstStyle/>
          <a:p>
            <a:pPr marL="0" indent="0">
              <a:buNone/>
            </a:pPr>
            <a:r>
              <a:rPr lang="en-US" sz="900" b="1" dirty="0">
                <a:solidFill>
                  <a:srgbClr val="FFFFFF"/>
                </a:solidFill>
                <a:latin typeface="Calibri" pitchFamily="34" charset="0"/>
                <a:ea typeface="Calibri" pitchFamily="34" charset="-122"/>
                <a:cs typeface="Calibri" pitchFamily="34" charset="-120"/>
              </a:rPr>
              <a:t>Honorabilité professionnelle</a:t>
            </a:r>
            <a:endParaRPr lang="en-US" sz="900" dirty="0"/>
          </a:p>
        </p:txBody>
      </p:sp>
      <p:sp>
        <p:nvSpPr>
          <p:cNvPr id="74" name="Text 72"/>
          <p:cNvSpPr/>
          <p:nvPr/>
        </p:nvSpPr>
        <p:spPr>
          <a:xfrm>
            <a:off x="6126480" y="4535424"/>
            <a:ext cx="2542032" cy="621792"/>
          </a:xfrm>
          <a:prstGeom prst="rect">
            <a:avLst/>
          </a:prstGeom>
          <a:noFill/>
          <a:ln/>
        </p:spPr>
        <p:txBody>
          <a:bodyPr wrap="square" rtlCol="0" anchor="t"/>
          <a:lstStyle/>
          <a:p>
            <a:pPr marL="0" indent="0">
              <a:buNone/>
            </a:pPr>
            <a:r>
              <a:rPr lang="en-US" sz="880" dirty="0">
                <a:solidFill>
                  <a:srgbClr val="3A3A3A"/>
                </a:solidFill>
                <a:latin typeface="Calibri" pitchFamily="34" charset="0"/>
                <a:ea typeface="Calibri" pitchFamily="34" charset="-122"/>
                <a:cs typeface="Calibri" pitchFamily="34" charset="-120"/>
              </a:rPr>
              <a:t>Casier judiciaire B2 vierge des mentions incompatibles avec l'exercice du T3P.</a:t>
            </a:r>
            <a:endParaRPr lang="en-US" sz="880" dirty="0"/>
          </a:p>
        </p:txBody>
      </p:sp>
      <p:sp>
        <p:nvSpPr>
          <p:cNvPr id="75" name="Shape 73"/>
          <p:cNvSpPr/>
          <p:nvPr/>
        </p:nvSpPr>
        <p:spPr>
          <a:xfrm>
            <a:off x="274320" y="5248656"/>
            <a:ext cx="8595360" cy="256032"/>
          </a:xfrm>
          <a:prstGeom prst="rect">
            <a:avLst/>
          </a:prstGeom>
          <a:solidFill>
            <a:srgbClr val="EDF7EE"/>
          </a:solidFill>
          <a:ln w="19050">
            <a:solidFill>
              <a:srgbClr val="2E7D32"/>
            </a:solidFill>
            <a:prstDash val="solid"/>
          </a:ln>
        </p:spPr>
        <p:txBody>
          <a:bodyPr/>
          <a:lstStyle/>
          <a:p>
            <a:endParaRPr lang="fr-FR"/>
          </a:p>
        </p:txBody>
      </p:sp>
      <p:sp>
        <p:nvSpPr>
          <p:cNvPr id="76" name="Shape 74"/>
          <p:cNvSpPr/>
          <p:nvPr/>
        </p:nvSpPr>
        <p:spPr>
          <a:xfrm>
            <a:off x="274320" y="5248656"/>
            <a:ext cx="54864" cy="256032"/>
          </a:xfrm>
          <a:prstGeom prst="rect">
            <a:avLst/>
          </a:prstGeom>
          <a:solidFill>
            <a:srgbClr val="2E7D32"/>
          </a:solidFill>
          <a:ln w="12700">
            <a:solidFill>
              <a:srgbClr val="2E7D32"/>
            </a:solidFill>
            <a:prstDash val="solid"/>
          </a:ln>
        </p:spPr>
        <p:txBody>
          <a:bodyPr/>
          <a:lstStyle/>
          <a:p>
            <a:endParaRPr lang="fr-FR"/>
          </a:p>
        </p:txBody>
      </p:sp>
      <p:sp>
        <p:nvSpPr>
          <p:cNvPr id="77" name="Text 75"/>
          <p:cNvSpPr/>
          <p:nvPr/>
        </p:nvSpPr>
        <p:spPr>
          <a:xfrm>
            <a:off x="384048" y="5248656"/>
            <a:ext cx="8467344" cy="256032"/>
          </a:xfrm>
          <a:prstGeom prst="rect">
            <a:avLst/>
          </a:prstGeom>
          <a:noFill/>
          <a:ln/>
        </p:spPr>
        <p:txBody>
          <a:bodyPr wrap="square" rtlCol="0" anchor="ctr"/>
          <a:lstStyle/>
          <a:p>
            <a:pPr marL="0" indent="0">
              <a:buNone/>
            </a:pPr>
            <a:r>
              <a:rPr lang="en-US" sz="1000" dirty="0">
                <a:solidFill>
                  <a:srgbClr val="3A3A3A"/>
                </a:solidFill>
                <a:latin typeface="Calibri" pitchFamily="34" charset="0"/>
                <a:ea typeface="Calibri" pitchFamily="34" charset="-122"/>
                <a:cs typeface="Calibri" pitchFamily="34" charset="-120"/>
              </a:rPr>
              <a:t>✔  Délai maximum de délivrance : 3 mois. La carte doit être apposée sur le pare-brise (côté photo visible de l'extérieur). Restitution obligatoire à la cessation d'activité.</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1005840"/>
          </a:xfrm>
          <a:prstGeom prst="rect">
            <a:avLst/>
          </a:prstGeom>
          <a:solidFill>
            <a:srgbClr val="1A3A5C"/>
          </a:solidFill>
          <a:ln w="12700">
            <a:solidFill>
              <a:srgbClr val="1A3A5C"/>
            </a:solidFill>
            <a:prstDash val="solid"/>
          </a:ln>
        </p:spPr>
        <p:txBody>
          <a:bodyPr/>
          <a:lstStyle/>
          <a:p>
            <a:endParaRPr lang="fr-FR"/>
          </a:p>
        </p:txBody>
      </p:sp>
      <p:sp>
        <p:nvSpPr>
          <p:cNvPr id="3" name="Shape 1"/>
          <p:cNvSpPr/>
          <p:nvPr/>
        </p:nvSpPr>
        <p:spPr>
          <a:xfrm>
            <a:off x="0" y="0"/>
            <a:ext cx="54864" cy="1005840"/>
          </a:xfrm>
          <a:prstGeom prst="rect">
            <a:avLst/>
          </a:prstGeom>
          <a:solidFill>
            <a:srgbClr val="00B4D8"/>
          </a:solidFill>
          <a:ln w="12700">
            <a:solidFill>
              <a:srgbClr val="00B4D8"/>
            </a:solidFill>
            <a:prstDash val="solid"/>
          </a:ln>
        </p:spPr>
        <p:txBody>
          <a:bodyPr/>
          <a:lstStyle/>
          <a:p>
            <a:endParaRPr lang="fr-FR"/>
          </a:p>
        </p:txBody>
      </p:sp>
      <p:sp>
        <p:nvSpPr>
          <p:cNvPr id="4" name="Text 2"/>
          <p:cNvSpPr/>
          <p:nvPr/>
        </p:nvSpPr>
        <p:spPr>
          <a:xfrm>
            <a:off x="201168" y="0"/>
            <a:ext cx="8778240" cy="6400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Perte des 6 points du permis et casier judiciaire B2</a:t>
            </a:r>
            <a:endParaRPr lang="en-US" sz="2100" dirty="0"/>
          </a:p>
        </p:txBody>
      </p:sp>
      <p:sp>
        <p:nvSpPr>
          <p:cNvPr id="5" name="Text 3"/>
          <p:cNvSpPr/>
          <p:nvPr/>
        </p:nvSpPr>
        <p:spPr>
          <a:xfrm>
            <a:off x="201168" y="640080"/>
            <a:ext cx="8778240" cy="347472"/>
          </a:xfrm>
          <a:prstGeom prst="rect">
            <a:avLst/>
          </a:prstGeom>
          <a:noFill/>
          <a:ln/>
        </p:spPr>
        <p:txBody>
          <a:bodyPr wrap="square" rtlCol="0" anchor="ctr"/>
          <a:lstStyle/>
          <a:p>
            <a:pPr marL="0" indent="0">
              <a:buNone/>
            </a:pPr>
            <a:r>
              <a:rPr lang="en-US" sz="1100" i="1" dirty="0">
                <a:solidFill>
                  <a:srgbClr val="00B4D8"/>
                </a:solidFill>
                <a:latin typeface="Calibri" pitchFamily="34" charset="0"/>
                <a:ea typeface="Calibri" pitchFamily="34" charset="-122"/>
                <a:cs typeface="Calibri" pitchFamily="34" charset="-120"/>
              </a:rPr>
              <a:t>Livre pages 111-112</a:t>
            </a:r>
            <a:endParaRPr lang="en-US" sz="1100" dirty="0"/>
          </a:p>
        </p:txBody>
      </p:sp>
      <p:sp>
        <p:nvSpPr>
          <p:cNvPr id="6" name="Shape 4"/>
          <p:cNvSpPr/>
          <p:nvPr/>
        </p:nvSpPr>
        <p:spPr>
          <a:xfrm>
            <a:off x="0" y="4910328"/>
            <a:ext cx="9144000" cy="233172"/>
          </a:xfrm>
          <a:prstGeom prst="rect">
            <a:avLst/>
          </a:prstGeom>
          <a:solidFill>
            <a:srgbClr val="0D2540"/>
          </a:solidFill>
          <a:ln w="12700">
            <a:solidFill>
              <a:srgbClr val="0D2540"/>
            </a:solidFill>
            <a:prstDash val="solid"/>
          </a:ln>
        </p:spPr>
        <p:txBody>
          <a:bodyPr/>
          <a:lstStyle/>
          <a:p>
            <a:endParaRPr lang="fr-FR"/>
          </a:p>
        </p:txBody>
      </p:sp>
      <p:sp>
        <p:nvSpPr>
          <p:cNvPr id="7" name="Text 5"/>
          <p:cNvSpPr/>
          <p:nvPr/>
        </p:nvSpPr>
        <p:spPr>
          <a:xfrm>
            <a:off x="182880" y="4910328"/>
            <a:ext cx="7498080" cy="233172"/>
          </a:xfrm>
          <a:prstGeom prst="rect">
            <a:avLst/>
          </a:prstGeom>
          <a:noFill/>
          <a:ln/>
        </p:spPr>
        <p:txBody>
          <a:bodyPr wrap="square" rtlCol="0" anchor="ctr"/>
          <a:lstStyle/>
          <a:p>
            <a:pPr marL="0" indent="0">
              <a:buNone/>
            </a:pPr>
            <a:r>
              <a:rPr lang="en-US" sz="750" dirty="0">
                <a:solidFill>
                  <a:srgbClr val="00B4D8"/>
                </a:solidFill>
                <a:latin typeface="Calibri" pitchFamily="34" charset="0"/>
                <a:ea typeface="Calibri" pitchFamily="34" charset="-122"/>
                <a:cs typeface="Calibri" pitchFamily="34" charset="-120"/>
              </a:rPr>
              <a:t>FTRANSPORT - SERVICES PRO  •  Formation certifiée Qualiopi  •  Éligible CPF  •  Lyon</a:t>
            </a:r>
            <a:endParaRPr lang="en-US" sz="750" dirty="0"/>
          </a:p>
        </p:txBody>
      </p:sp>
      <p:sp>
        <p:nvSpPr>
          <p:cNvPr id="8" name="Text 6"/>
          <p:cNvSpPr/>
          <p:nvPr/>
        </p:nvSpPr>
        <p:spPr>
          <a:xfrm>
            <a:off x="8229600" y="4910328"/>
            <a:ext cx="777240" cy="233172"/>
          </a:xfrm>
          <a:prstGeom prst="rect">
            <a:avLst/>
          </a:prstGeom>
          <a:noFill/>
          <a:ln/>
        </p:spPr>
        <p:txBody>
          <a:bodyPr wrap="square" rtlCol="0" anchor="ctr"/>
          <a:lstStyle/>
          <a:p>
            <a:pPr marL="0" indent="0" algn="r">
              <a:buNone/>
            </a:pPr>
            <a:r>
              <a:rPr lang="en-US" sz="800" dirty="0">
                <a:solidFill>
                  <a:srgbClr val="FFFFFF"/>
                </a:solidFill>
                <a:latin typeface="Calibri" pitchFamily="34" charset="0"/>
                <a:ea typeface="Calibri" pitchFamily="34" charset="-122"/>
                <a:cs typeface="Calibri" pitchFamily="34" charset="-120"/>
              </a:rPr>
              <a:t>0/88</a:t>
            </a:r>
            <a:endParaRPr lang="en-US" sz="800" dirty="0"/>
          </a:p>
        </p:txBody>
      </p:sp>
      <p:sp>
        <p:nvSpPr>
          <p:cNvPr id="9" name="Shape 7"/>
          <p:cNvSpPr/>
          <p:nvPr/>
        </p:nvSpPr>
        <p:spPr>
          <a:xfrm>
            <a:off x="274320" y="932688"/>
            <a:ext cx="8595360" cy="274320"/>
          </a:xfrm>
          <a:prstGeom prst="rect">
            <a:avLst/>
          </a:prstGeom>
          <a:solidFill>
            <a:srgbClr val="C0392B"/>
          </a:solidFill>
          <a:ln w="12700">
            <a:solidFill>
              <a:srgbClr val="C0392B"/>
            </a:solidFill>
            <a:prstDash val="solid"/>
          </a:ln>
        </p:spPr>
        <p:txBody>
          <a:bodyPr/>
          <a:lstStyle/>
          <a:p>
            <a:endParaRPr lang="fr-FR"/>
          </a:p>
        </p:txBody>
      </p:sp>
      <p:sp>
        <p:nvSpPr>
          <p:cNvPr id="10" name="Text 8"/>
          <p:cNvSpPr/>
          <p:nvPr/>
        </p:nvSpPr>
        <p:spPr>
          <a:xfrm>
            <a:off x="274320" y="932688"/>
            <a:ext cx="8595360" cy="274320"/>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LA PERTE DE 6 POINTS SUR LE PERMIS DE CONDUIRE</a:t>
            </a:r>
            <a:endParaRPr lang="en-US" sz="1000" dirty="0"/>
          </a:p>
        </p:txBody>
      </p:sp>
      <p:sp>
        <p:nvSpPr>
          <p:cNvPr id="11" name="Shape 9"/>
          <p:cNvSpPr/>
          <p:nvPr/>
        </p:nvSpPr>
        <p:spPr>
          <a:xfrm>
            <a:off x="274320" y="1261872"/>
            <a:ext cx="4160520" cy="237744"/>
          </a:xfrm>
          <a:prstGeom prst="rect">
            <a:avLst/>
          </a:prstGeom>
          <a:solidFill>
            <a:srgbClr val="F4A227"/>
          </a:solidFill>
          <a:ln w="12700">
            <a:solidFill>
              <a:srgbClr val="F4A227"/>
            </a:solidFill>
            <a:prstDash val="solid"/>
          </a:ln>
        </p:spPr>
        <p:txBody>
          <a:bodyPr/>
          <a:lstStyle/>
          <a:p>
            <a:endParaRPr lang="fr-FR"/>
          </a:p>
        </p:txBody>
      </p:sp>
      <p:sp>
        <p:nvSpPr>
          <p:cNvPr id="12" name="Text 10"/>
          <p:cNvSpPr/>
          <p:nvPr/>
        </p:nvSpPr>
        <p:spPr>
          <a:xfrm>
            <a:off x="274320" y="1261872"/>
            <a:ext cx="4160520" cy="237744"/>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LES CONTRAVENTIONS — 6 pts retirés</a:t>
            </a:r>
            <a:endParaRPr lang="en-US" sz="900" dirty="0"/>
          </a:p>
        </p:txBody>
      </p:sp>
      <p:sp>
        <p:nvSpPr>
          <p:cNvPr id="13" name="Shape 11"/>
          <p:cNvSpPr/>
          <p:nvPr/>
        </p:nvSpPr>
        <p:spPr>
          <a:xfrm>
            <a:off x="274320" y="1536192"/>
            <a:ext cx="4160520" cy="274320"/>
          </a:xfrm>
          <a:prstGeom prst="rect">
            <a:avLst/>
          </a:prstGeom>
          <a:solidFill>
            <a:srgbClr val="E8F1FA"/>
          </a:solidFill>
          <a:ln w="6350">
            <a:solidFill>
              <a:srgbClr val="D0DCE8"/>
            </a:solidFill>
            <a:prstDash val="solid"/>
          </a:ln>
        </p:spPr>
        <p:txBody>
          <a:bodyPr/>
          <a:lstStyle/>
          <a:p>
            <a:endParaRPr lang="fr-FR"/>
          </a:p>
        </p:txBody>
      </p:sp>
      <p:sp>
        <p:nvSpPr>
          <p:cNvPr id="14" name="Text 12"/>
          <p:cNvSpPr/>
          <p:nvPr/>
        </p:nvSpPr>
        <p:spPr>
          <a:xfrm>
            <a:off x="384048" y="1554480"/>
            <a:ext cx="3931920" cy="237744"/>
          </a:xfrm>
          <a:prstGeom prst="rect">
            <a:avLst/>
          </a:prstGeom>
          <a:noFill/>
          <a:ln/>
        </p:spPr>
        <p:txBody>
          <a:bodyPr wrap="square" rtlCol="0" anchor="ctr"/>
          <a:lstStyle/>
          <a:p>
            <a:pPr marL="0" indent="0">
              <a:buNone/>
            </a:pPr>
            <a:r>
              <a:rPr lang="en-US" sz="850" dirty="0">
                <a:solidFill>
                  <a:srgbClr val="3A3A3A"/>
                </a:solidFill>
                <a:latin typeface="Calibri" pitchFamily="34" charset="0"/>
                <a:ea typeface="Calibri" pitchFamily="34" charset="-122"/>
                <a:cs typeface="Calibri" pitchFamily="34" charset="-120"/>
              </a:rPr>
              <a:t>▶ Alcool 0,25 à 0,4 mg/litre d'air expiré (0,5 à 0,8 g/l de sang)</a:t>
            </a:r>
            <a:endParaRPr lang="en-US" sz="850" dirty="0"/>
          </a:p>
        </p:txBody>
      </p:sp>
      <p:sp>
        <p:nvSpPr>
          <p:cNvPr id="15" name="Shape 13"/>
          <p:cNvSpPr/>
          <p:nvPr/>
        </p:nvSpPr>
        <p:spPr>
          <a:xfrm>
            <a:off x="274320" y="1847088"/>
            <a:ext cx="4160520" cy="274320"/>
          </a:xfrm>
          <a:prstGeom prst="rect">
            <a:avLst/>
          </a:prstGeom>
          <a:solidFill>
            <a:srgbClr val="FFFFFF"/>
          </a:solidFill>
          <a:ln w="6350">
            <a:solidFill>
              <a:srgbClr val="D0DCE8"/>
            </a:solidFill>
            <a:prstDash val="solid"/>
          </a:ln>
        </p:spPr>
        <p:txBody>
          <a:bodyPr/>
          <a:lstStyle/>
          <a:p>
            <a:endParaRPr lang="fr-FR"/>
          </a:p>
        </p:txBody>
      </p:sp>
      <p:sp>
        <p:nvSpPr>
          <p:cNvPr id="16" name="Text 14"/>
          <p:cNvSpPr/>
          <p:nvPr/>
        </p:nvSpPr>
        <p:spPr>
          <a:xfrm>
            <a:off x="384048" y="1865376"/>
            <a:ext cx="3931920" cy="237744"/>
          </a:xfrm>
          <a:prstGeom prst="rect">
            <a:avLst/>
          </a:prstGeom>
          <a:noFill/>
          <a:ln/>
        </p:spPr>
        <p:txBody>
          <a:bodyPr wrap="square" rtlCol="0" anchor="ctr"/>
          <a:lstStyle/>
          <a:p>
            <a:pPr marL="0" indent="0">
              <a:buNone/>
            </a:pPr>
            <a:r>
              <a:rPr lang="en-US" sz="850" dirty="0">
                <a:solidFill>
                  <a:srgbClr val="3A3A3A"/>
                </a:solidFill>
                <a:latin typeface="Calibri" pitchFamily="34" charset="0"/>
                <a:ea typeface="Calibri" pitchFamily="34" charset="-122"/>
                <a:cs typeface="Calibri" pitchFamily="34" charset="-120"/>
              </a:rPr>
              <a:t>▶ Excès de vitesse &gt; 50 km/h (radar auto ou mobile)</a:t>
            </a:r>
            <a:endParaRPr lang="en-US" sz="850" dirty="0"/>
          </a:p>
        </p:txBody>
      </p:sp>
      <p:sp>
        <p:nvSpPr>
          <p:cNvPr id="17" name="Shape 15"/>
          <p:cNvSpPr/>
          <p:nvPr/>
        </p:nvSpPr>
        <p:spPr>
          <a:xfrm>
            <a:off x="274320" y="2157984"/>
            <a:ext cx="4160520" cy="274320"/>
          </a:xfrm>
          <a:prstGeom prst="rect">
            <a:avLst/>
          </a:prstGeom>
          <a:solidFill>
            <a:srgbClr val="E8F1FA"/>
          </a:solidFill>
          <a:ln w="6350">
            <a:solidFill>
              <a:srgbClr val="D0DCE8"/>
            </a:solidFill>
            <a:prstDash val="solid"/>
          </a:ln>
        </p:spPr>
        <p:txBody>
          <a:bodyPr/>
          <a:lstStyle/>
          <a:p>
            <a:endParaRPr lang="fr-FR"/>
          </a:p>
        </p:txBody>
      </p:sp>
      <p:sp>
        <p:nvSpPr>
          <p:cNvPr id="18" name="Text 16"/>
          <p:cNvSpPr/>
          <p:nvPr/>
        </p:nvSpPr>
        <p:spPr>
          <a:xfrm>
            <a:off x="384048" y="2176272"/>
            <a:ext cx="3931920" cy="237744"/>
          </a:xfrm>
          <a:prstGeom prst="rect">
            <a:avLst/>
          </a:prstGeom>
          <a:noFill/>
          <a:ln/>
        </p:spPr>
        <p:txBody>
          <a:bodyPr wrap="square" rtlCol="0" anchor="ctr"/>
          <a:lstStyle/>
          <a:p>
            <a:pPr marL="0" indent="0">
              <a:buNone/>
            </a:pPr>
            <a:r>
              <a:rPr lang="en-US" sz="850" dirty="0">
                <a:solidFill>
                  <a:srgbClr val="3A3A3A"/>
                </a:solidFill>
                <a:latin typeface="Calibri" pitchFamily="34" charset="0"/>
                <a:ea typeface="Calibri" pitchFamily="34" charset="-122"/>
                <a:cs typeface="Calibri" pitchFamily="34" charset="-120"/>
              </a:rPr>
              <a:t>▶ Utilisation d'un détecteur de radar ou avertisseur antiradars</a:t>
            </a:r>
            <a:endParaRPr lang="en-US" sz="850" dirty="0"/>
          </a:p>
        </p:txBody>
      </p:sp>
      <p:sp>
        <p:nvSpPr>
          <p:cNvPr id="19" name="Shape 17"/>
          <p:cNvSpPr/>
          <p:nvPr/>
        </p:nvSpPr>
        <p:spPr>
          <a:xfrm>
            <a:off x="4709160" y="1261872"/>
            <a:ext cx="4160520" cy="237744"/>
          </a:xfrm>
          <a:prstGeom prst="rect">
            <a:avLst/>
          </a:prstGeom>
          <a:solidFill>
            <a:srgbClr val="C0392B"/>
          </a:solidFill>
          <a:ln w="12700">
            <a:solidFill>
              <a:srgbClr val="C0392B"/>
            </a:solidFill>
            <a:prstDash val="solid"/>
          </a:ln>
        </p:spPr>
        <p:txBody>
          <a:bodyPr/>
          <a:lstStyle/>
          <a:p>
            <a:endParaRPr lang="fr-FR"/>
          </a:p>
        </p:txBody>
      </p:sp>
      <p:sp>
        <p:nvSpPr>
          <p:cNvPr id="20" name="Text 18"/>
          <p:cNvSpPr/>
          <p:nvPr/>
        </p:nvSpPr>
        <p:spPr>
          <a:xfrm>
            <a:off x="4709160" y="1261872"/>
            <a:ext cx="4160520" cy="237744"/>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LES DÉLITS — 6 pts retirés</a:t>
            </a:r>
            <a:endParaRPr lang="en-US" sz="900" dirty="0"/>
          </a:p>
        </p:txBody>
      </p:sp>
      <p:sp>
        <p:nvSpPr>
          <p:cNvPr id="21" name="Shape 19"/>
          <p:cNvSpPr/>
          <p:nvPr/>
        </p:nvSpPr>
        <p:spPr>
          <a:xfrm>
            <a:off x="4709160" y="1536192"/>
            <a:ext cx="4160520" cy="237744"/>
          </a:xfrm>
          <a:prstGeom prst="rect">
            <a:avLst/>
          </a:prstGeom>
          <a:solidFill>
            <a:srgbClr val="E8F1FA"/>
          </a:solidFill>
          <a:ln w="6350">
            <a:solidFill>
              <a:srgbClr val="D0DCE8"/>
            </a:solidFill>
            <a:prstDash val="solid"/>
          </a:ln>
        </p:spPr>
        <p:txBody>
          <a:bodyPr/>
          <a:lstStyle/>
          <a:p>
            <a:endParaRPr lang="fr-FR"/>
          </a:p>
        </p:txBody>
      </p:sp>
      <p:sp>
        <p:nvSpPr>
          <p:cNvPr id="22" name="Text 20"/>
          <p:cNvSpPr/>
          <p:nvPr/>
        </p:nvSpPr>
        <p:spPr>
          <a:xfrm>
            <a:off x="4818888" y="1554480"/>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Alcool ≥ 0,40 mg/litre d'air expiré (≥ 0,8 g/l de sang)</a:t>
            </a:r>
            <a:endParaRPr lang="en-US" sz="800" dirty="0"/>
          </a:p>
        </p:txBody>
      </p:sp>
      <p:sp>
        <p:nvSpPr>
          <p:cNvPr id="23" name="Shape 21"/>
          <p:cNvSpPr/>
          <p:nvPr/>
        </p:nvSpPr>
        <p:spPr>
          <a:xfrm>
            <a:off x="4709160" y="1801368"/>
            <a:ext cx="4160520" cy="237744"/>
          </a:xfrm>
          <a:prstGeom prst="rect">
            <a:avLst/>
          </a:prstGeom>
          <a:solidFill>
            <a:srgbClr val="FFFFFF"/>
          </a:solidFill>
          <a:ln w="6350">
            <a:solidFill>
              <a:srgbClr val="D0DCE8"/>
            </a:solidFill>
            <a:prstDash val="solid"/>
          </a:ln>
        </p:spPr>
        <p:txBody>
          <a:bodyPr/>
          <a:lstStyle/>
          <a:p>
            <a:endParaRPr lang="fr-FR"/>
          </a:p>
        </p:txBody>
      </p:sp>
      <p:sp>
        <p:nvSpPr>
          <p:cNvPr id="24" name="Text 22"/>
          <p:cNvSpPr/>
          <p:nvPr/>
        </p:nvSpPr>
        <p:spPr>
          <a:xfrm>
            <a:off x="4818888" y="1819656"/>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Conduite en état d'ivresse manifeste</a:t>
            </a:r>
            <a:endParaRPr lang="en-US" sz="800" dirty="0"/>
          </a:p>
        </p:txBody>
      </p:sp>
      <p:sp>
        <p:nvSpPr>
          <p:cNvPr id="25" name="Shape 23"/>
          <p:cNvSpPr/>
          <p:nvPr/>
        </p:nvSpPr>
        <p:spPr>
          <a:xfrm>
            <a:off x="4709160" y="2066544"/>
            <a:ext cx="4160520" cy="237744"/>
          </a:xfrm>
          <a:prstGeom prst="rect">
            <a:avLst/>
          </a:prstGeom>
          <a:solidFill>
            <a:srgbClr val="E8F1FA"/>
          </a:solidFill>
          <a:ln w="6350">
            <a:solidFill>
              <a:srgbClr val="D0DCE8"/>
            </a:solidFill>
            <a:prstDash val="solid"/>
          </a:ln>
        </p:spPr>
        <p:txBody>
          <a:bodyPr/>
          <a:lstStyle/>
          <a:p>
            <a:endParaRPr lang="fr-FR"/>
          </a:p>
        </p:txBody>
      </p:sp>
      <p:sp>
        <p:nvSpPr>
          <p:cNvPr id="26" name="Text 24"/>
          <p:cNvSpPr/>
          <p:nvPr/>
        </p:nvSpPr>
        <p:spPr>
          <a:xfrm>
            <a:off x="4818888" y="2084832"/>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Conduite après consommation de stupéfiants</a:t>
            </a:r>
            <a:endParaRPr lang="en-US" sz="800" dirty="0"/>
          </a:p>
        </p:txBody>
      </p:sp>
      <p:sp>
        <p:nvSpPr>
          <p:cNvPr id="27" name="Shape 25"/>
          <p:cNvSpPr/>
          <p:nvPr/>
        </p:nvSpPr>
        <p:spPr>
          <a:xfrm>
            <a:off x="4709160" y="2331720"/>
            <a:ext cx="4160520" cy="237744"/>
          </a:xfrm>
          <a:prstGeom prst="rect">
            <a:avLst/>
          </a:prstGeom>
          <a:solidFill>
            <a:srgbClr val="FFFFFF"/>
          </a:solidFill>
          <a:ln w="6350">
            <a:solidFill>
              <a:srgbClr val="D0DCE8"/>
            </a:solidFill>
            <a:prstDash val="solid"/>
          </a:ln>
        </p:spPr>
        <p:txBody>
          <a:bodyPr/>
          <a:lstStyle/>
          <a:p>
            <a:endParaRPr lang="fr-FR"/>
          </a:p>
        </p:txBody>
      </p:sp>
      <p:sp>
        <p:nvSpPr>
          <p:cNvPr id="28" name="Text 26"/>
          <p:cNvSpPr/>
          <p:nvPr/>
        </p:nvSpPr>
        <p:spPr>
          <a:xfrm>
            <a:off x="4818888" y="2350008"/>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Refus de se soumettre aux tests (alcool ou stupéfiants)</a:t>
            </a:r>
            <a:endParaRPr lang="en-US" sz="800" dirty="0"/>
          </a:p>
        </p:txBody>
      </p:sp>
      <p:sp>
        <p:nvSpPr>
          <p:cNvPr id="29" name="Shape 27"/>
          <p:cNvSpPr/>
          <p:nvPr/>
        </p:nvSpPr>
        <p:spPr>
          <a:xfrm>
            <a:off x="4709160" y="2596896"/>
            <a:ext cx="4160520" cy="237744"/>
          </a:xfrm>
          <a:prstGeom prst="rect">
            <a:avLst/>
          </a:prstGeom>
          <a:solidFill>
            <a:srgbClr val="E8F1FA"/>
          </a:solidFill>
          <a:ln w="6350">
            <a:solidFill>
              <a:srgbClr val="D0DCE8"/>
            </a:solidFill>
            <a:prstDash val="solid"/>
          </a:ln>
        </p:spPr>
        <p:txBody>
          <a:bodyPr/>
          <a:lstStyle/>
          <a:p>
            <a:endParaRPr lang="fr-FR"/>
          </a:p>
        </p:txBody>
      </p:sp>
      <p:sp>
        <p:nvSpPr>
          <p:cNvPr id="30" name="Text 28"/>
          <p:cNvSpPr/>
          <p:nvPr/>
        </p:nvSpPr>
        <p:spPr>
          <a:xfrm>
            <a:off x="4818888" y="2615184"/>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Homicide ou blessures involontaires (incapacité de travail)</a:t>
            </a:r>
            <a:endParaRPr lang="en-US" sz="800" dirty="0"/>
          </a:p>
        </p:txBody>
      </p:sp>
      <p:sp>
        <p:nvSpPr>
          <p:cNvPr id="31" name="Shape 29"/>
          <p:cNvSpPr/>
          <p:nvPr/>
        </p:nvSpPr>
        <p:spPr>
          <a:xfrm>
            <a:off x="4709160" y="2862072"/>
            <a:ext cx="4160520" cy="237744"/>
          </a:xfrm>
          <a:prstGeom prst="rect">
            <a:avLst/>
          </a:prstGeom>
          <a:solidFill>
            <a:srgbClr val="FFFFFF"/>
          </a:solidFill>
          <a:ln w="6350">
            <a:solidFill>
              <a:srgbClr val="D0DCE8"/>
            </a:solidFill>
            <a:prstDash val="solid"/>
          </a:ln>
        </p:spPr>
        <p:txBody>
          <a:bodyPr/>
          <a:lstStyle/>
          <a:p>
            <a:endParaRPr lang="fr-FR"/>
          </a:p>
        </p:txBody>
      </p:sp>
      <p:sp>
        <p:nvSpPr>
          <p:cNvPr id="32" name="Text 30"/>
          <p:cNvSpPr/>
          <p:nvPr/>
        </p:nvSpPr>
        <p:spPr>
          <a:xfrm>
            <a:off x="4818888" y="2880360"/>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Délit de fuite</a:t>
            </a:r>
            <a:endParaRPr lang="en-US" sz="800" dirty="0"/>
          </a:p>
        </p:txBody>
      </p:sp>
      <p:sp>
        <p:nvSpPr>
          <p:cNvPr id="33" name="Shape 31"/>
          <p:cNvSpPr/>
          <p:nvPr/>
        </p:nvSpPr>
        <p:spPr>
          <a:xfrm>
            <a:off x="4709160" y="3127248"/>
            <a:ext cx="4160520" cy="237744"/>
          </a:xfrm>
          <a:prstGeom prst="rect">
            <a:avLst/>
          </a:prstGeom>
          <a:solidFill>
            <a:srgbClr val="E8F1FA"/>
          </a:solidFill>
          <a:ln w="6350">
            <a:solidFill>
              <a:srgbClr val="D0DCE8"/>
            </a:solidFill>
            <a:prstDash val="solid"/>
          </a:ln>
        </p:spPr>
        <p:txBody>
          <a:bodyPr/>
          <a:lstStyle/>
          <a:p>
            <a:endParaRPr lang="fr-FR"/>
          </a:p>
        </p:txBody>
      </p:sp>
      <p:sp>
        <p:nvSpPr>
          <p:cNvPr id="34" name="Text 32"/>
          <p:cNvSpPr/>
          <p:nvPr/>
        </p:nvSpPr>
        <p:spPr>
          <a:xfrm>
            <a:off x="4818888" y="3145536"/>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Refus d'obtempérer ou de s'immobiliser</a:t>
            </a:r>
            <a:endParaRPr lang="en-US" sz="800" dirty="0"/>
          </a:p>
        </p:txBody>
      </p:sp>
      <p:sp>
        <p:nvSpPr>
          <p:cNvPr id="35" name="Shape 33"/>
          <p:cNvSpPr/>
          <p:nvPr/>
        </p:nvSpPr>
        <p:spPr>
          <a:xfrm>
            <a:off x="4709160" y="3392424"/>
            <a:ext cx="4160520" cy="237744"/>
          </a:xfrm>
          <a:prstGeom prst="rect">
            <a:avLst/>
          </a:prstGeom>
          <a:solidFill>
            <a:srgbClr val="FFFFFF"/>
          </a:solidFill>
          <a:ln w="6350">
            <a:solidFill>
              <a:srgbClr val="D0DCE8"/>
            </a:solidFill>
            <a:prstDash val="solid"/>
          </a:ln>
        </p:spPr>
        <p:txBody>
          <a:bodyPr/>
          <a:lstStyle/>
          <a:p>
            <a:endParaRPr lang="fr-FR"/>
          </a:p>
        </p:txBody>
      </p:sp>
      <p:sp>
        <p:nvSpPr>
          <p:cNvPr id="36" name="Text 34"/>
          <p:cNvSpPr/>
          <p:nvPr/>
        </p:nvSpPr>
        <p:spPr>
          <a:xfrm>
            <a:off x="4818888" y="3410712"/>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Gêne ou entrave à la circulation</a:t>
            </a:r>
            <a:endParaRPr lang="en-US" sz="800" dirty="0"/>
          </a:p>
        </p:txBody>
      </p:sp>
      <p:sp>
        <p:nvSpPr>
          <p:cNvPr id="37" name="Shape 35"/>
          <p:cNvSpPr/>
          <p:nvPr/>
        </p:nvSpPr>
        <p:spPr>
          <a:xfrm>
            <a:off x="4709160" y="3657600"/>
            <a:ext cx="4160520" cy="237744"/>
          </a:xfrm>
          <a:prstGeom prst="rect">
            <a:avLst/>
          </a:prstGeom>
          <a:solidFill>
            <a:srgbClr val="E8F1FA"/>
          </a:solidFill>
          <a:ln w="6350">
            <a:solidFill>
              <a:srgbClr val="D0DCE8"/>
            </a:solidFill>
            <a:prstDash val="solid"/>
          </a:ln>
        </p:spPr>
        <p:txBody>
          <a:bodyPr/>
          <a:lstStyle/>
          <a:p>
            <a:endParaRPr lang="fr-FR"/>
          </a:p>
        </p:txBody>
      </p:sp>
      <p:sp>
        <p:nvSpPr>
          <p:cNvPr id="38" name="Text 36"/>
          <p:cNvSpPr/>
          <p:nvPr/>
        </p:nvSpPr>
        <p:spPr>
          <a:xfrm>
            <a:off x="4818888" y="3675888"/>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Usage volontaire de fausses plaques d'immatriculation</a:t>
            </a:r>
            <a:endParaRPr lang="en-US" sz="800" dirty="0"/>
          </a:p>
        </p:txBody>
      </p:sp>
      <p:sp>
        <p:nvSpPr>
          <p:cNvPr id="39" name="Shape 37"/>
          <p:cNvSpPr/>
          <p:nvPr/>
        </p:nvSpPr>
        <p:spPr>
          <a:xfrm>
            <a:off x="4709160" y="3922776"/>
            <a:ext cx="4160520" cy="237744"/>
          </a:xfrm>
          <a:prstGeom prst="rect">
            <a:avLst/>
          </a:prstGeom>
          <a:solidFill>
            <a:srgbClr val="FFFFFF"/>
          </a:solidFill>
          <a:ln w="6350">
            <a:solidFill>
              <a:srgbClr val="D0DCE8"/>
            </a:solidFill>
            <a:prstDash val="solid"/>
          </a:ln>
        </p:spPr>
        <p:txBody>
          <a:bodyPr/>
          <a:lstStyle/>
          <a:p>
            <a:endParaRPr lang="fr-FR"/>
          </a:p>
        </p:txBody>
      </p:sp>
      <p:sp>
        <p:nvSpPr>
          <p:cNvPr id="40" name="Text 38"/>
          <p:cNvSpPr/>
          <p:nvPr/>
        </p:nvSpPr>
        <p:spPr>
          <a:xfrm>
            <a:off x="4818888" y="3941064"/>
            <a:ext cx="3931920" cy="201168"/>
          </a:xfrm>
          <a:prstGeom prst="rect">
            <a:avLst/>
          </a:prstGeom>
          <a:noFill/>
          <a:ln/>
        </p:spPr>
        <p:txBody>
          <a:bodyPr wrap="square" rtlCol="0" anchor="ctr"/>
          <a:lstStyle/>
          <a:p>
            <a:pPr marL="0" indent="0">
              <a:buNone/>
            </a:pPr>
            <a:r>
              <a:rPr lang="en-US" sz="800" dirty="0">
                <a:solidFill>
                  <a:srgbClr val="3A3A3A"/>
                </a:solidFill>
                <a:latin typeface="Calibri" pitchFamily="34" charset="0"/>
                <a:ea typeface="Calibri" pitchFamily="34" charset="-122"/>
                <a:cs typeface="Calibri" pitchFamily="34" charset="-120"/>
              </a:rPr>
              <a:t>▶ Conduite malgré retrait/suspension/annulation de permis</a:t>
            </a:r>
            <a:endParaRPr lang="en-US" sz="800" dirty="0"/>
          </a:p>
        </p:txBody>
      </p:sp>
      <p:sp>
        <p:nvSpPr>
          <p:cNvPr id="41" name="Shape 39"/>
          <p:cNvSpPr/>
          <p:nvPr/>
        </p:nvSpPr>
        <p:spPr>
          <a:xfrm>
            <a:off x="274320" y="4206240"/>
            <a:ext cx="8595360" cy="256032"/>
          </a:xfrm>
          <a:prstGeom prst="rect">
            <a:avLst/>
          </a:prstGeom>
          <a:solidFill>
            <a:srgbClr val="1A3A5C"/>
          </a:solidFill>
          <a:ln w="12700">
            <a:solidFill>
              <a:srgbClr val="1A3A5C"/>
            </a:solidFill>
            <a:prstDash val="solid"/>
          </a:ln>
        </p:spPr>
        <p:txBody>
          <a:bodyPr/>
          <a:lstStyle/>
          <a:p>
            <a:endParaRPr lang="fr-FR"/>
          </a:p>
        </p:txBody>
      </p:sp>
      <p:sp>
        <p:nvSpPr>
          <p:cNvPr id="42" name="Text 40"/>
          <p:cNvSpPr/>
          <p:nvPr/>
        </p:nvSpPr>
        <p:spPr>
          <a:xfrm>
            <a:off x="274320" y="4206240"/>
            <a:ext cx="8595360" cy="256032"/>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MENTIONS DU B2 INCOMPATIBLES AVEC L'EXERCICE DU T3P — 3 CONDAMNATIONS DÉFINITIVES</a:t>
            </a:r>
            <a:endParaRPr lang="en-US" sz="900" dirty="0"/>
          </a:p>
        </p:txBody>
      </p:sp>
      <p:sp>
        <p:nvSpPr>
          <p:cNvPr id="43" name="Shape 41"/>
          <p:cNvSpPr/>
          <p:nvPr/>
        </p:nvSpPr>
        <p:spPr>
          <a:xfrm>
            <a:off x="274320" y="4517136"/>
            <a:ext cx="2724912" cy="749808"/>
          </a:xfrm>
          <a:prstGeom prst="rect">
            <a:avLst/>
          </a:prstGeom>
          <a:solidFill>
            <a:srgbClr val="E8F1FA"/>
          </a:solidFill>
          <a:ln w="6350">
            <a:solidFill>
              <a:srgbClr val="D0DCE8"/>
            </a:solidFill>
            <a:prstDash val="solid"/>
          </a:ln>
        </p:spPr>
        <p:txBody>
          <a:bodyPr/>
          <a:lstStyle/>
          <a:p>
            <a:endParaRPr lang="fr-FR"/>
          </a:p>
        </p:txBody>
      </p:sp>
      <p:sp>
        <p:nvSpPr>
          <p:cNvPr id="44" name="Shape 42"/>
          <p:cNvSpPr/>
          <p:nvPr/>
        </p:nvSpPr>
        <p:spPr>
          <a:xfrm>
            <a:off x="274320" y="4517136"/>
            <a:ext cx="2724912" cy="219456"/>
          </a:xfrm>
          <a:prstGeom prst="rect">
            <a:avLst/>
          </a:prstGeom>
          <a:solidFill>
            <a:srgbClr val="C0392B"/>
          </a:solidFill>
          <a:ln w="12700">
            <a:solidFill>
              <a:srgbClr val="C0392B"/>
            </a:solidFill>
            <a:prstDash val="solid"/>
          </a:ln>
        </p:spPr>
        <p:txBody>
          <a:bodyPr/>
          <a:lstStyle/>
          <a:p>
            <a:endParaRPr lang="fr-FR"/>
          </a:p>
        </p:txBody>
      </p:sp>
      <p:sp>
        <p:nvSpPr>
          <p:cNvPr id="45" name="Text 43"/>
          <p:cNvSpPr/>
          <p:nvPr/>
        </p:nvSpPr>
        <p:spPr>
          <a:xfrm>
            <a:off x="347472" y="4517136"/>
            <a:ext cx="2578608" cy="219456"/>
          </a:xfrm>
          <a:prstGeom prst="rect">
            <a:avLst/>
          </a:prstGeom>
          <a:noFill/>
          <a:ln/>
        </p:spPr>
        <p:txBody>
          <a:bodyPr wrap="square" lIns="0" tIns="0" rIns="0" bIns="0" rtlCol="0" anchor="ctr"/>
          <a:lstStyle/>
          <a:p>
            <a:pPr marL="0" indent="0">
              <a:buNone/>
            </a:pPr>
            <a:r>
              <a:rPr lang="en-US" sz="820" b="1" dirty="0">
                <a:solidFill>
                  <a:srgbClr val="FFFFFF"/>
                </a:solidFill>
                <a:latin typeface="Calibri" pitchFamily="34" charset="0"/>
                <a:ea typeface="Calibri" pitchFamily="34" charset="-122"/>
                <a:cs typeface="Calibri" pitchFamily="34" charset="-120"/>
              </a:rPr>
              <a:t>Délit permis (retrait 6 pts)</a:t>
            </a:r>
            <a:endParaRPr lang="en-US" sz="820" dirty="0"/>
          </a:p>
        </p:txBody>
      </p:sp>
      <p:sp>
        <p:nvSpPr>
          <p:cNvPr id="46" name="Text 44"/>
          <p:cNvSpPr/>
          <p:nvPr/>
        </p:nvSpPr>
        <p:spPr>
          <a:xfrm>
            <a:off x="365760" y="4754880"/>
            <a:ext cx="2542032" cy="502920"/>
          </a:xfrm>
          <a:prstGeom prst="rect">
            <a:avLst/>
          </a:prstGeom>
          <a:noFill/>
          <a:ln/>
        </p:spPr>
        <p:txBody>
          <a:bodyPr wrap="square" rtlCol="0" anchor="t"/>
          <a:lstStyle/>
          <a:p>
            <a:pPr marL="0" indent="0">
              <a:buNone/>
            </a:pPr>
            <a:r>
              <a:rPr lang="en-US" sz="780" dirty="0">
                <a:solidFill>
                  <a:srgbClr val="3A3A3A"/>
                </a:solidFill>
                <a:latin typeface="Calibri" pitchFamily="34" charset="0"/>
                <a:ea typeface="Calibri" pitchFamily="34" charset="-122"/>
                <a:cs typeface="Calibri" pitchFamily="34" charset="-120"/>
              </a:rPr>
              <a:t>Condamnation définitive pour un délit du Code de la route donnant lieu à une réduction de la moitié du nombre maximal de points du permis.</a:t>
            </a:r>
            <a:endParaRPr lang="en-US" sz="780" dirty="0"/>
          </a:p>
        </p:txBody>
      </p:sp>
      <p:sp>
        <p:nvSpPr>
          <p:cNvPr id="47" name="Shape 45"/>
          <p:cNvSpPr/>
          <p:nvPr/>
        </p:nvSpPr>
        <p:spPr>
          <a:xfrm>
            <a:off x="3154680" y="4517136"/>
            <a:ext cx="2724912" cy="749808"/>
          </a:xfrm>
          <a:prstGeom prst="rect">
            <a:avLst/>
          </a:prstGeom>
          <a:solidFill>
            <a:srgbClr val="E8F1FA"/>
          </a:solidFill>
          <a:ln w="6350">
            <a:solidFill>
              <a:srgbClr val="D0DCE8"/>
            </a:solidFill>
            <a:prstDash val="solid"/>
          </a:ln>
        </p:spPr>
        <p:txBody>
          <a:bodyPr/>
          <a:lstStyle/>
          <a:p>
            <a:endParaRPr lang="fr-FR"/>
          </a:p>
        </p:txBody>
      </p:sp>
      <p:sp>
        <p:nvSpPr>
          <p:cNvPr id="48" name="Shape 46"/>
          <p:cNvSpPr/>
          <p:nvPr/>
        </p:nvSpPr>
        <p:spPr>
          <a:xfrm>
            <a:off x="3154680" y="4517136"/>
            <a:ext cx="2724912" cy="219456"/>
          </a:xfrm>
          <a:prstGeom prst="rect">
            <a:avLst/>
          </a:prstGeom>
          <a:solidFill>
            <a:srgbClr val="F4A227"/>
          </a:solidFill>
          <a:ln w="12700">
            <a:solidFill>
              <a:srgbClr val="F4A227"/>
            </a:solidFill>
            <a:prstDash val="solid"/>
          </a:ln>
        </p:spPr>
        <p:txBody>
          <a:bodyPr/>
          <a:lstStyle/>
          <a:p>
            <a:endParaRPr lang="fr-FR"/>
          </a:p>
        </p:txBody>
      </p:sp>
      <p:sp>
        <p:nvSpPr>
          <p:cNvPr id="49" name="Text 47"/>
          <p:cNvSpPr/>
          <p:nvPr/>
        </p:nvSpPr>
        <p:spPr>
          <a:xfrm>
            <a:off x="3227832" y="4517136"/>
            <a:ext cx="2578608" cy="219456"/>
          </a:xfrm>
          <a:prstGeom prst="rect">
            <a:avLst/>
          </a:prstGeom>
          <a:noFill/>
          <a:ln/>
        </p:spPr>
        <p:txBody>
          <a:bodyPr wrap="square" lIns="0" tIns="0" rIns="0" bIns="0" rtlCol="0" anchor="ctr"/>
          <a:lstStyle/>
          <a:p>
            <a:pPr marL="0" indent="0">
              <a:buNone/>
            </a:pPr>
            <a:r>
              <a:rPr lang="en-US" sz="820" b="1" dirty="0">
                <a:solidFill>
                  <a:srgbClr val="FFFFFF"/>
                </a:solidFill>
                <a:latin typeface="Calibri" pitchFamily="34" charset="0"/>
                <a:ea typeface="Calibri" pitchFamily="34" charset="-122"/>
                <a:cs typeface="Calibri" pitchFamily="34" charset="-120"/>
              </a:rPr>
              <a:t>Peine criminelle ou correctionnelle ≥ 6 mois</a:t>
            </a:r>
            <a:endParaRPr lang="en-US" sz="820" dirty="0"/>
          </a:p>
        </p:txBody>
      </p:sp>
      <p:sp>
        <p:nvSpPr>
          <p:cNvPr id="50" name="Text 48"/>
          <p:cNvSpPr/>
          <p:nvPr/>
        </p:nvSpPr>
        <p:spPr>
          <a:xfrm>
            <a:off x="3246120" y="4754880"/>
            <a:ext cx="2542032" cy="502920"/>
          </a:xfrm>
          <a:prstGeom prst="rect">
            <a:avLst/>
          </a:prstGeom>
          <a:noFill/>
          <a:ln/>
        </p:spPr>
        <p:txBody>
          <a:bodyPr wrap="square" rtlCol="0" anchor="t"/>
          <a:lstStyle/>
          <a:p>
            <a:pPr marL="0" indent="0">
              <a:buNone/>
            </a:pPr>
            <a:r>
              <a:rPr lang="en-US" sz="780" dirty="0">
                <a:solidFill>
                  <a:srgbClr val="3A3A3A"/>
                </a:solidFill>
                <a:latin typeface="Calibri" pitchFamily="34" charset="0"/>
                <a:ea typeface="Calibri" pitchFamily="34" charset="-122"/>
                <a:cs typeface="Calibri" pitchFamily="34" charset="-120"/>
              </a:rPr>
              <a:t>Vol, escroquerie, abus de confiance, atteinte à l'intégrité, agression sexuelle, trafic d'armes, extorsion, stupéfiants.</a:t>
            </a:r>
            <a:endParaRPr lang="en-US" sz="780" dirty="0"/>
          </a:p>
        </p:txBody>
      </p:sp>
      <p:sp>
        <p:nvSpPr>
          <p:cNvPr id="51" name="Shape 49"/>
          <p:cNvSpPr/>
          <p:nvPr/>
        </p:nvSpPr>
        <p:spPr>
          <a:xfrm>
            <a:off x="6035040" y="4517136"/>
            <a:ext cx="2724912" cy="749808"/>
          </a:xfrm>
          <a:prstGeom prst="rect">
            <a:avLst/>
          </a:prstGeom>
          <a:solidFill>
            <a:srgbClr val="E8F1FA"/>
          </a:solidFill>
          <a:ln w="6350">
            <a:solidFill>
              <a:srgbClr val="D0DCE8"/>
            </a:solidFill>
            <a:prstDash val="solid"/>
          </a:ln>
        </p:spPr>
        <p:txBody>
          <a:bodyPr/>
          <a:lstStyle/>
          <a:p>
            <a:endParaRPr lang="fr-FR"/>
          </a:p>
        </p:txBody>
      </p:sp>
      <p:sp>
        <p:nvSpPr>
          <p:cNvPr id="52" name="Shape 50"/>
          <p:cNvSpPr/>
          <p:nvPr/>
        </p:nvSpPr>
        <p:spPr>
          <a:xfrm>
            <a:off x="6035040" y="4517136"/>
            <a:ext cx="2724912" cy="219456"/>
          </a:xfrm>
          <a:prstGeom prst="rect">
            <a:avLst/>
          </a:prstGeom>
          <a:solidFill>
            <a:srgbClr val="1A3A5C"/>
          </a:solidFill>
          <a:ln w="12700">
            <a:solidFill>
              <a:srgbClr val="1A3A5C"/>
            </a:solidFill>
            <a:prstDash val="solid"/>
          </a:ln>
        </p:spPr>
        <p:txBody>
          <a:bodyPr/>
          <a:lstStyle/>
          <a:p>
            <a:endParaRPr lang="fr-FR"/>
          </a:p>
        </p:txBody>
      </p:sp>
      <p:sp>
        <p:nvSpPr>
          <p:cNvPr id="53" name="Text 51"/>
          <p:cNvSpPr/>
          <p:nvPr/>
        </p:nvSpPr>
        <p:spPr>
          <a:xfrm>
            <a:off x="6108192" y="4517136"/>
            <a:ext cx="2578608" cy="219456"/>
          </a:xfrm>
          <a:prstGeom prst="rect">
            <a:avLst/>
          </a:prstGeom>
          <a:noFill/>
          <a:ln/>
        </p:spPr>
        <p:txBody>
          <a:bodyPr wrap="square" lIns="0" tIns="0" rIns="0" bIns="0" rtlCol="0" anchor="ctr"/>
          <a:lstStyle/>
          <a:p>
            <a:pPr marL="0" indent="0">
              <a:buNone/>
            </a:pPr>
            <a:r>
              <a:rPr lang="en-US" sz="820" b="1" dirty="0">
                <a:solidFill>
                  <a:srgbClr val="FFFFFF"/>
                </a:solidFill>
                <a:latin typeface="Calibri" pitchFamily="34" charset="0"/>
                <a:ea typeface="Calibri" pitchFamily="34" charset="-122"/>
                <a:cs typeface="Calibri" pitchFamily="34" charset="-120"/>
              </a:rPr>
              <a:t>Conduite sans permis / malgré annulation</a:t>
            </a:r>
            <a:endParaRPr lang="en-US" sz="820" dirty="0"/>
          </a:p>
        </p:txBody>
      </p:sp>
      <p:sp>
        <p:nvSpPr>
          <p:cNvPr id="54" name="Text 52"/>
          <p:cNvSpPr/>
          <p:nvPr/>
        </p:nvSpPr>
        <p:spPr>
          <a:xfrm>
            <a:off x="6126480" y="4754880"/>
            <a:ext cx="2542032" cy="502920"/>
          </a:xfrm>
          <a:prstGeom prst="rect">
            <a:avLst/>
          </a:prstGeom>
          <a:noFill/>
          <a:ln/>
        </p:spPr>
        <p:txBody>
          <a:bodyPr wrap="square" rtlCol="0" anchor="t"/>
          <a:lstStyle/>
          <a:p>
            <a:pPr marL="0" indent="0">
              <a:buNone/>
            </a:pPr>
            <a:r>
              <a:rPr lang="en-US" sz="780" dirty="0">
                <a:solidFill>
                  <a:srgbClr val="3A3A3A"/>
                </a:solidFill>
                <a:latin typeface="Calibri" pitchFamily="34" charset="0"/>
                <a:ea typeface="Calibri" pitchFamily="34" charset="-122"/>
                <a:cs typeface="Calibri" pitchFamily="34" charset="-120"/>
              </a:rPr>
              <a:t>Conduite sans permis, malgré l'annulation, l'interdiction d'obtenir le permis, ou refus de restitution après invalidation.</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7952</Words>
  <Application>Microsoft Office PowerPoint</Application>
  <PresentationFormat>Affichage à l'écran (16:9)</PresentationFormat>
  <Paragraphs>1153</Paragraphs>
  <Slides>50</Slides>
  <Notes>50</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50</vt:i4>
      </vt:variant>
    </vt:vector>
  </HeadingPairs>
  <TitlesOfParts>
    <vt:vector size="53"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Réglementation T3P — FTRANSPORT</dc:title>
  <dc:subject>PptxGenJS Presentation</dc:subject>
  <dc:creator>PptxGenJS</dc:creator>
  <cp:lastModifiedBy>naoufal guenichi</cp:lastModifiedBy>
  <cp:revision>1</cp:revision>
  <dcterms:created xsi:type="dcterms:W3CDTF">2026-02-22T21:39:09Z</dcterms:created>
  <dcterms:modified xsi:type="dcterms:W3CDTF">2026-02-23T21:46:54Z</dcterms:modified>
</cp:coreProperties>
</file>