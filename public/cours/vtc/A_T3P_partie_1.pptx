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oufal guenichi" userId="858fd4b3-0f44-4d07-ab42-9c2b2bf873b3" providerId="ADAL" clId="{5ADB1776-59AF-4A69-8422-CB66C8AF09C6}"/>
    <pc:docChg chg="undo custSel addSld delSld">
      <pc:chgData name="naoufal guenichi" userId="858fd4b3-0f44-4d07-ab42-9c2b2bf873b3" providerId="ADAL" clId="{5ADB1776-59AF-4A69-8422-CB66C8AF09C6}" dt="2026-02-23T21:46:52.840" v="40" actId="47"/>
      <pc:docMkLst>
        <pc:docMk/>
      </pc:docMkLst>
      <pc:sldChg chg="add del">
        <pc:chgData name="naoufal guenichi" userId="858fd4b3-0f44-4d07-ab42-9c2b2bf873b3" providerId="ADAL" clId="{5ADB1776-59AF-4A69-8422-CB66C8AF09C6}" dt="2026-02-23T21:46:52.840" v="40" actId="47"/>
        <pc:sldMkLst>
          <pc:docMk/>
          <pc:sldMk cId="0" sldId="306"/>
        </pc:sldMkLst>
      </pc:sldChg>
      <pc:sldChg chg="del">
        <pc:chgData name="naoufal guenichi" userId="858fd4b3-0f44-4d07-ab42-9c2b2bf873b3" providerId="ADAL" clId="{5ADB1776-59AF-4A69-8422-CB66C8AF09C6}" dt="2026-02-23T21:46:52.200" v="39" actId="47"/>
        <pc:sldMkLst>
          <pc:docMk/>
          <pc:sldMk cId="0" sldId="307"/>
        </pc:sldMkLst>
      </pc:sldChg>
      <pc:sldChg chg="del">
        <pc:chgData name="naoufal guenichi" userId="858fd4b3-0f44-4d07-ab42-9c2b2bf873b3" providerId="ADAL" clId="{5ADB1776-59AF-4A69-8422-CB66C8AF09C6}" dt="2026-02-23T21:46:51.769" v="38" actId="47"/>
        <pc:sldMkLst>
          <pc:docMk/>
          <pc:sldMk cId="0" sldId="308"/>
        </pc:sldMkLst>
      </pc:sldChg>
      <pc:sldChg chg="del">
        <pc:chgData name="naoufal guenichi" userId="858fd4b3-0f44-4d07-ab42-9c2b2bf873b3" providerId="ADAL" clId="{5ADB1776-59AF-4A69-8422-CB66C8AF09C6}" dt="2026-02-23T21:46:51.370" v="37" actId="47"/>
        <pc:sldMkLst>
          <pc:docMk/>
          <pc:sldMk cId="0" sldId="309"/>
        </pc:sldMkLst>
      </pc:sldChg>
      <pc:sldChg chg="del">
        <pc:chgData name="naoufal guenichi" userId="858fd4b3-0f44-4d07-ab42-9c2b2bf873b3" providerId="ADAL" clId="{5ADB1776-59AF-4A69-8422-CB66C8AF09C6}" dt="2026-02-23T21:46:51.035" v="36" actId="47"/>
        <pc:sldMkLst>
          <pc:docMk/>
          <pc:sldMk cId="0" sldId="310"/>
        </pc:sldMkLst>
      </pc:sldChg>
      <pc:sldChg chg="del">
        <pc:chgData name="naoufal guenichi" userId="858fd4b3-0f44-4d07-ab42-9c2b2bf873b3" providerId="ADAL" clId="{5ADB1776-59AF-4A69-8422-CB66C8AF09C6}" dt="2026-02-23T21:46:50.669" v="35" actId="47"/>
        <pc:sldMkLst>
          <pc:docMk/>
          <pc:sldMk cId="0" sldId="311"/>
        </pc:sldMkLst>
      </pc:sldChg>
      <pc:sldChg chg="del">
        <pc:chgData name="naoufal guenichi" userId="858fd4b3-0f44-4d07-ab42-9c2b2bf873b3" providerId="ADAL" clId="{5ADB1776-59AF-4A69-8422-CB66C8AF09C6}" dt="2026-02-23T21:46:50.384" v="34" actId="47"/>
        <pc:sldMkLst>
          <pc:docMk/>
          <pc:sldMk cId="0" sldId="312"/>
        </pc:sldMkLst>
      </pc:sldChg>
      <pc:sldChg chg="del">
        <pc:chgData name="naoufal guenichi" userId="858fd4b3-0f44-4d07-ab42-9c2b2bf873b3" providerId="ADAL" clId="{5ADB1776-59AF-4A69-8422-CB66C8AF09C6}" dt="2026-02-23T21:46:49.995" v="33" actId="47"/>
        <pc:sldMkLst>
          <pc:docMk/>
          <pc:sldMk cId="0" sldId="313"/>
        </pc:sldMkLst>
      </pc:sldChg>
      <pc:sldChg chg="del">
        <pc:chgData name="naoufal guenichi" userId="858fd4b3-0f44-4d07-ab42-9c2b2bf873b3" providerId="ADAL" clId="{5ADB1776-59AF-4A69-8422-CB66C8AF09C6}" dt="2026-02-23T21:46:49.818" v="32" actId="47"/>
        <pc:sldMkLst>
          <pc:docMk/>
          <pc:sldMk cId="0" sldId="314"/>
        </pc:sldMkLst>
      </pc:sldChg>
      <pc:sldChg chg="del">
        <pc:chgData name="naoufal guenichi" userId="858fd4b3-0f44-4d07-ab42-9c2b2bf873b3" providerId="ADAL" clId="{5ADB1776-59AF-4A69-8422-CB66C8AF09C6}" dt="2026-02-23T21:46:49.435" v="31" actId="47"/>
        <pc:sldMkLst>
          <pc:docMk/>
          <pc:sldMk cId="0" sldId="315"/>
        </pc:sldMkLst>
      </pc:sldChg>
      <pc:sldChg chg="del">
        <pc:chgData name="naoufal guenichi" userId="858fd4b3-0f44-4d07-ab42-9c2b2bf873b3" providerId="ADAL" clId="{5ADB1776-59AF-4A69-8422-CB66C8AF09C6}" dt="2026-02-23T21:46:48.931" v="30" actId="47"/>
        <pc:sldMkLst>
          <pc:docMk/>
          <pc:sldMk cId="0" sldId="316"/>
        </pc:sldMkLst>
      </pc:sldChg>
      <pc:sldChg chg="del">
        <pc:chgData name="naoufal guenichi" userId="858fd4b3-0f44-4d07-ab42-9c2b2bf873b3" providerId="ADAL" clId="{5ADB1776-59AF-4A69-8422-CB66C8AF09C6}" dt="2026-02-23T21:46:48.574" v="29" actId="47"/>
        <pc:sldMkLst>
          <pc:docMk/>
          <pc:sldMk cId="0" sldId="317"/>
        </pc:sldMkLst>
      </pc:sldChg>
      <pc:sldChg chg="del">
        <pc:chgData name="naoufal guenichi" userId="858fd4b3-0f44-4d07-ab42-9c2b2bf873b3" providerId="ADAL" clId="{5ADB1776-59AF-4A69-8422-CB66C8AF09C6}" dt="2026-02-23T21:46:48.345" v="28" actId="47"/>
        <pc:sldMkLst>
          <pc:docMk/>
          <pc:sldMk cId="0" sldId="318"/>
        </pc:sldMkLst>
      </pc:sldChg>
      <pc:sldChg chg="del">
        <pc:chgData name="naoufal guenichi" userId="858fd4b3-0f44-4d07-ab42-9c2b2bf873b3" providerId="ADAL" clId="{5ADB1776-59AF-4A69-8422-CB66C8AF09C6}" dt="2026-02-23T21:46:48.081" v="27" actId="47"/>
        <pc:sldMkLst>
          <pc:docMk/>
          <pc:sldMk cId="0" sldId="319"/>
        </pc:sldMkLst>
      </pc:sldChg>
      <pc:sldChg chg="del">
        <pc:chgData name="naoufal guenichi" userId="858fd4b3-0f44-4d07-ab42-9c2b2bf873b3" providerId="ADAL" clId="{5ADB1776-59AF-4A69-8422-CB66C8AF09C6}" dt="2026-02-23T21:46:47.626" v="26" actId="47"/>
        <pc:sldMkLst>
          <pc:docMk/>
          <pc:sldMk cId="0" sldId="320"/>
        </pc:sldMkLst>
      </pc:sldChg>
      <pc:sldChg chg="del">
        <pc:chgData name="naoufal guenichi" userId="858fd4b3-0f44-4d07-ab42-9c2b2bf873b3" providerId="ADAL" clId="{5ADB1776-59AF-4A69-8422-CB66C8AF09C6}" dt="2026-02-23T21:46:47.390" v="25" actId="47"/>
        <pc:sldMkLst>
          <pc:docMk/>
          <pc:sldMk cId="0" sldId="321"/>
        </pc:sldMkLst>
      </pc:sldChg>
      <pc:sldChg chg="del">
        <pc:chgData name="naoufal guenichi" userId="858fd4b3-0f44-4d07-ab42-9c2b2bf873b3" providerId="ADAL" clId="{5ADB1776-59AF-4A69-8422-CB66C8AF09C6}" dt="2026-02-23T21:46:46.976" v="24" actId="47"/>
        <pc:sldMkLst>
          <pc:docMk/>
          <pc:sldMk cId="0" sldId="322"/>
        </pc:sldMkLst>
      </pc:sldChg>
      <pc:sldChg chg="del">
        <pc:chgData name="naoufal guenichi" userId="858fd4b3-0f44-4d07-ab42-9c2b2bf873b3" providerId="ADAL" clId="{5ADB1776-59AF-4A69-8422-CB66C8AF09C6}" dt="2026-02-23T21:46:46.772" v="23" actId="47"/>
        <pc:sldMkLst>
          <pc:docMk/>
          <pc:sldMk cId="0" sldId="323"/>
        </pc:sldMkLst>
      </pc:sldChg>
      <pc:sldChg chg="del">
        <pc:chgData name="naoufal guenichi" userId="858fd4b3-0f44-4d07-ab42-9c2b2bf873b3" providerId="ADAL" clId="{5ADB1776-59AF-4A69-8422-CB66C8AF09C6}" dt="2026-02-23T21:46:46.488" v="22" actId="47"/>
        <pc:sldMkLst>
          <pc:docMk/>
          <pc:sldMk cId="0" sldId="324"/>
        </pc:sldMkLst>
      </pc:sldChg>
      <pc:sldChg chg="del">
        <pc:chgData name="naoufal guenichi" userId="858fd4b3-0f44-4d07-ab42-9c2b2bf873b3" providerId="ADAL" clId="{5ADB1776-59AF-4A69-8422-CB66C8AF09C6}" dt="2026-02-23T21:46:46.242" v="21" actId="47"/>
        <pc:sldMkLst>
          <pc:docMk/>
          <pc:sldMk cId="0" sldId="325"/>
        </pc:sldMkLst>
      </pc:sldChg>
      <pc:sldChg chg="del">
        <pc:chgData name="naoufal guenichi" userId="858fd4b3-0f44-4d07-ab42-9c2b2bf873b3" providerId="ADAL" clId="{5ADB1776-59AF-4A69-8422-CB66C8AF09C6}" dt="2026-02-23T21:46:45.861" v="20" actId="47"/>
        <pc:sldMkLst>
          <pc:docMk/>
          <pc:sldMk cId="0" sldId="326"/>
        </pc:sldMkLst>
      </pc:sldChg>
      <pc:sldChg chg="del">
        <pc:chgData name="naoufal guenichi" userId="858fd4b3-0f44-4d07-ab42-9c2b2bf873b3" providerId="ADAL" clId="{5ADB1776-59AF-4A69-8422-CB66C8AF09C6}" dt="2026-02-23T21:46:45.626" v="19" actId="47"/>
        <pc:sldMkLst>
          <pc:docMk/>
          <pc:sldMk cId="0" sldId="327"/>
        </pc:sldMkLst>
      </pc:sldChg>
      <pc:sldChg chg="del">
        <pc:chgData name="naoufal guenichi" userId="858fd4b3-0f44-4d07-ab42-9c2b2bf873b3" providerId="ADAL" clId="{5ADB1776-59AF-4A69-8422-CB66C8AF09C6}" dt="2026-02-23T21:46:45.417" v="18" actId="47"/>
        <pc:sldMkLst>
          <pc:docMk/>
          <pc:sldMk cId="0" sldId="328"/>
        </pc:sldMkLst>
      </pc:sldChg>
      <pc:sldChg chg="del">
        <pc:chgData name="naoufal guenichi" userId="858fd4b3-0f44-4d07-ab42-9c2b2bf873b3" providerId="ADAL" clId="{5ADB1776-59AF-4A69-8422-CB66C8AF09C6}" dt="2026-02-23T21:46:45.159" v="17" actId="47"/>
        <pc:sldMkLst>
          <pc:docMk/>
          <pc:sldMk cId="0" sldId="329"/>
        </pc:sldMkLst>
      </pc:sldChg>
      <pc:sldChg chg="del">
        <pc:chgData name="naoufal guenichi" userId="858fd4b3-0f44-4d07-ab42-9c2b2bf873b3" providerId="ADAL" clId="{5ADB1776-59AF-4A69-8422-CB66C8AF09C6}" dt="2026-02-23T21:46:44.874" v="16" actId="47"/>
        <pc:sldMkLst>
          <pc:docMk/>
          <pc:sldMk cId="0" sldId="330"/>
        </pc:sldMkLst>
      </pc:sldChg>
      <pc:sldChg chg="del">
        <pc:chgData name="naoufal guenichi" userId="858fd4b3-0f44-4d07-ab42-9c2b2bf873b3" providerId="ADAL" clId="{5ADB1776-59AF-4A69-8422-CB66C8AF09C6}" dt="2026-02-23T21:46:44.628" v="15" actId="47"/>
        <pc:sldMkLst>
          <pc:docMk/>
          <pc:sldMk cId="0" sldId="331"/>
        </pc:sldMkLst>
      </pc:sldChg>
      <pc:sldChg chg="del">
        <pc:chgData name="naoufal guenichi" userId="858fd4b3-0f44-4d07-ab42-9c2b2bf873b3" providerId="ADAL" clId="{5ADB1776-59AF-4A69-8422-CB66C8AF09C6}" dt="2026-02-23T21:46:44.318" v="14" actId="47"/>
        <pc:sldMkLst>
          <pc:docMk/>
          <pc:sldMk cId="0" sldId="332"/>
        </pc:sldMkLst>
      </pc:sldChg>
      <pc:sldChg chg="del">
        <pc:chgData name="naoufal guenichi" userId="858fd4b3-0f44-4d07-ab42-9c2b2bf873b3" providerId="ADAL" clId="{5ADB1776-59AF-4A69-8422-CB66C8AF09C6}" dt="2026-02-23T21:46:43.976" v="13" actId="47"/>
        <pc:sldMkLst>
          <pc:docMk/>
          <pc:sldMk cId="0" sldId="333"/>
        </pc:sldMkLst>
      </pc:sldChg>
      <pc:sldChg chg="del">
        <pc:chgData name="naoufal guenichi" userId="858fd4b3-0f44-4d07-ab42-9c2b2bf873b3" providerId="ADAL" clId="{5ADB1776-59AF-4A69-8422-CB66C8AF09C6}" dt="2026-02-23T21:46:43.492" v="12" actId="47"/>
        <pc:sldMkLst>
          <pc:docMk/>
          <pc:sldMk cId="0" sldId="334"/>
        </pc:sldMkLst>
      </pc:sldChg>
      <pc:sldChg chg="del">
        <pc:chgData name="naoufal guenichi" userId="858fd4b3-0f44-4d07-ab42-9c2b2bf873b3" providerId="ADAL" clId="{5ADB1776-59AF-4A69-8422-CB66C8AF09C6}" dt="2026-02-23T21:46:43.148" v="11" actId="47"/>
        <pc:sldMkLst>
          <pc:docMk/>
          <pc:sldMk cId="0" sldId="335"/>
        </pc:sldMkLst>
      </pc:sldChg>
      <pc:sldChg chg="del">
        <pc:chgData name="naoufal guenichi" userId="858fd4b3-0f44-4d07-ab42-9c2b2bf873b3" providerId="ADAL" clId="{5ADB1776-59AF-4A69-8422-CB66C8AF09C6}" dt="2026-02-23T21:46:42.482" v="10" actId="47"/>
        <pc:sldMkLst>
          <pc:docMk/>
          <pc:sldMk cId="0" sldId="336"/>
        </pc:sldMkLst>
      </pc:sldChg>
      <pc:sldChg chg="del">
        <pc:chgData name="naoufal guenichi" userId="858fd4b3-0f44-4d07-ab42-9c2b2bf873b3" providerId="ADAL" clId="{5ADB1776-59AF-4A69-8422-CB66C8AF09C6}" dt="2026-02-23T21:46:42.243" v="9" actId="47"/>
        <pc:sldMkLst>
          <pc:docMk/>
          <pc:sldMk cId="0" sldId="337"/>
        </pc:sldMkLst>
      </pc:sldChg>
      <pc:sldChg chg="del">
        <pc:chgData name="naoufal guenichi" userId="858fd4b3-0f44-4d07-ab42-9c2b2bf873b3" providerId="ADAL" clId="{5ADB1776-59AF-4A69-8422-CB66C8AF09C6}" dt="2026-02-23T21:46:41.955" v="8" actId="47"/>
        <pc:sldMkLst>
          <pc:docMk/>
          <pc:sldMk cId="0" sldId="338"/>
        </pc:sldMkLst>
      </pc:sldChg>
      <pc:sldChg chg="del">
        <pc:chgData name="naoufal guenichi" userId="858fd4b3-0f44-4d07-ab42-9c2b2bf873b3" providerId="ADAL" clId="{5ADB1776-59AF-4A69-8422-CB66C8AF09C6}" dt="2026-02-23T21:46:41.636" v="7" actId="47"/>
        <pc:sldMkLst>
          <pc:docMk/>
          <pc:sldMk cId="0" sldId="339"/>
        </pc:sldMkLst>
      </pc:sldChg>
      <pc:sldChg chg="del">
        <pc:chgData name="naoufal guenichi" userId="858fd4b3-0f44-4d07-ab42-9c2b2bf873b3" providerId="ADAL" clId="{5ADB1776-59AF-4A69-8422-CB66C8AF09C6}" dt="2026-02-23T21:46:41.300" v="6" actId="47"/>
        <pc:sldMkLst>
          <pc:docMk/>
          <pc:sldMk cId="0" sldId="340"/>
        </pc:sldMkLst>
      </pc:sldChg>
      <pc:sldChg chg="del">
        <pc:chgData name="naoufal guenichi" userId="858fd4b3-0f44-4d07-ab42-9c2b2bf873b3" providerId="ADAL" clId="{5ADB1776-59AF-4A69-8422-CB66C8AF09C6}" dt="2026-02-23T21:46:40.972" v="5" actId="47"/>
        <pc:sldMkLst>
          <pc:docMk/>
          <pc:sldMk cId="0" sldId="341"/>
        </pc:sldMkLst>
      </pc:sldChg>
      <pc:sldChg chg="del">
        <pc:chgData name="naoufal guenichi" userId="858fd4b3-0f44-4d07-ab42-9c2b2bf873b3" providerId="ADAL" clId="{5ADB1776-59AF-4A69-8422-CB66C8AF09C6}" dt="2026-02-23T21:46:40.572" v="4" actId="47"/>
        <pc:sldMkLst>
          <pc:docMk/>
          <pc:sldMk cId="0" sldId="342"/>
        </pc:sldMkLst>
      </pc:sldChg>
      <pc:sldChg chg="del">
        <pc:chgData name="naoufal guenichi" userId="858fd4b3-0f44-4d07-ab42-9c2b2bf873b3" providerId="ADAL" clId="{5ADB1776-59AF-4A69-8422-CB66C8AF09C6}" dt="2026-02-23T21:46:40.162" v="3" actId="47"/>
        <pc:sldMkLst>
          <pc:docMk/>
          <pc:sldMk cId="0" sldId="343"/>
        </pc:sldMkLst>
      </pc:sldChg>
      <pc:sldChg chg="del">
        <pc:chgData name="naoufal guenichi" userId="858fd4b3-0f44-4d07-ab42-9c2b2bf873b3" providerId="ADAL" clId="{5ADB1776-59AF-4A69-8422-CB66C8AF09C6}" dt="2026-02-23T21:46:39.720" v="2" actId="47"/>
        <pc:sldMkLst>
          <pc:docMk/>
          <pc:sldMk cId="0" sldId="34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773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65760" y="0"/>
            <a:ext cx="109728" cy="514350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731520" y="502920"/>
            <a:ext cx="8229600" cy="2834640"/>
          </a:xfrm>
          <a:prstGeom prst="rect">
            <a:avLst/>
          </a:prstGeom>
          <a:noFill/>
          <a:ln/>
        </p:spPr>
        <p:txBody>
          <a:bodyPr wrap="square" rtlCol="0" anchor="ctr"/>
          <a:lstStyle/>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RÉGLEMENTATION DU</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TRANSPORT PUBLIC</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PARTICULIER DE PERSONNES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prévention des discriminations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des violences sexuelles et sexistes</a:t>
            </a:r>
            <a:endParaRPr lang="en-US" sz="2800" dirty="0"/>
          </a:p>
        </p:txBody>
      </p:sp>
      <p:sp>
        <p:nvSpPr>
          <p:cNvPr id="5" name="Text 3"/>
          <p:cNvSpPr/>
          <p:nvPr/>
        </p:nvSpPr>
        <p:spPr>
          <a:xfrm>
            <a:off x="731520" y="3401568"/>
            <a:ext cx="8229600" cy="320040"/>
          </a:xfrm>
          <a:prstGeom prst="rect">
            <a:avLst/>
          </a:prstGeom>
          <a:noFill/>
          <a:ln/>
        </p:spPr>
        <p:txBody>
          <a:bodyPr wrap="square" rtlCol="0" anchor="ctr"/>
          <a:lstStyle/>
          <a:p>
            <a:pPr marL="0" indent="0">
              <a:buNone/>
            </a:pPr>
            <a:r>
              <a:rPr lang="en-US" sz="1100" i="1" dirty="0">
                <a:solidFill>
                  <a:srgbClr val="8AB4D4"/>
                </a:solidFill>
                <a:latin typeface="Calibri" pitchFamily="34" charset="0"/>
                <a:ea typeface="Calibri" pitchFamily="34" charset="-122"/>
                <a:cs typeface="Calibri" pitchFamily="34" charset="-120"/>
              </a:rPr>
              <a:t>Arrêté du 20 mars 2024 — En vigueur depuis le 1ᵉʳ avril 2024</a:t>
            </a:r>
            <a:endParaRPr lang="en-US" sz="1100" dirty="0"/>
          </a:p>
        </p:txBody>
      </p:sp>
      <p:sp>
        <p:nvSpPr>
          <p:cNvPr id="6" name="Shape 4"/>
          <p:cNvSpPr/>
          <p:nvPr/>
        </p:nvSpPr>
        <p:spPr>
          <a:xfrm>
            <a:off x="731520" y="3931920"/>
            <a:ext cx="4114800" cy="621792"/>
          </a:xfrm>
          <a:prstGeom prst="rect">
            <a:avLst/>
          </a:prstGeom>
          <a:solidFill>
            <a:srgbClr val="1A3A5C"/>
          </a:solidFill>
          <a:ln w="12700">
            <a:solidFill>
              <a:srgbClr val="00B4D8"/>
            </a:solidFill>
            <a:prstDash val="solid"/>
          </a:ln>
        </p:spPr>
        <p:txBody>
          <a:bodyPr/>
          <a:lstStyle/>
          <a:p>
            <a:endParaRPr lang="fr-FR"/>
          </a:p>
        </p:txBody>
      </p:sp>
      <p:sp>
        <p:nvSpPr>
          <p:cNvPr id="7" name="Text 5"/>
          <p:cNvSpPr/>
          <p:nvPr/>
        </p:nvSpPr>
        <p:spPr>
          <a:xfrm>
            <a:off x="731520" y="3931920"/>
            <a:ext cx="4114800" cy="621792"/>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FTRANSPORT - SERVICES PRO</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Formation certifiée Qualiopi  •  Éligible CPF  •  Lyon</a:t>
            </a:r>
            <a:endParaRPr lang="en-US" sz="1000" dirty="0"/>
          </a:p>
        </p:txBody>
      </p:sp>
      <p:sp>
        <p:nvSpPr>
          <p:cNvPr id="8" name="Text 6"/>
          <p:cNvSpPr/>
          <p:nvPr/>
        </p:nvSpPr>
        <p:spPr>
          <a:xfrm>
            <a:off x="8321040" y="4846320"/>
            <a:ext cx="731520" cy="228600"/>
          </a:xfrm>
          <a:prstGeom prst="rect">
            <a:avLst/>
          </a:prstGeom>
          <a:noFill/>
          <a:ln/>
        </p:spPr>
        <p:txBody>
          <a:bodyPr wrap="square" rtlCol="0" anchor="ctr"/>
          <a:lstStyle/>
          <a:p>
            <a:pPr marL="0" indent="0" algn="r">
              <a:buNone/>
            </a:pPr>
            <a:r>
              <a:rPr lang="en-US" sz="900" dirty="0">
                <a:solidFill>
                  <a:srgbClr val="00B4D8"/>
                </a:solidFill>
                <a:latin typeface="Calibri" pitchFamily="34" charset="0"/>
                <a:ea typeface="Calibri" pitchFamily="34" charset="-122"/>
                <a:cs typeface="Calibri" pitchFamily="34" charset="-120"/>
              </a:rPr>
              <a:t>1/88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SOMMAIRE — Plan du cours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2/88</a:t>
            </a:r>
            <a:endParaRPr lang="en-US" sz="800" dirty="0"/>
          </a:p>
        </p:txBody>
      </p:sp>
      <p:sp>
        <p:nvSpPr>
          <p:cNvPr id="8" name="Shape 6"/>
          <p:cNvSpPr/>
          <p:nvPr/>
        </p:nvSpPr>
        <p:spPr>
          <a:xfrm>
            <a:off x="274320" y="932688"/>
            <a:ext cx="4206240" cy="429768"/>
          </a:xfrm>
          <a:prstGeom prst="rect">
            <a:avLst/>
          </a:prstGeom>
          <a:solidFill>
            <a:srgbClr val="E8F1FA"/>
          </a:solidFill>
          <a:ln w="6350">
            <a:solidFill>
              <a:srgbClr val="DDE6F0"/>
            </a:solidFill>
            <a:prstDash val="solid"/>
          </a:ln>
        </p:spPr>
        <p:txBody>
          <a:bodyPr/>
          <a:lstStyle/>
          <a:p>
            <a:endParaRPr lang="fr-FR"/>
          </a:p>
        </p:txBody>
      </p:sp>
      <p:sp>
        <p:nvSpPr>
          <p:cNvPr id="9" name="Shape 7"/>
          <p:cNvSpPr/>
          <p:nvPr/>
        </p:nvSpPr>
        <p:spPr>
          <a:xfrm>
            <a:off x="274320" y="932688"/>
            <a:ext cx="384048" cy="429768"/>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731520" y="978408"/>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Transport public ou transport privé ?</a:t>
            </a:r>
            <a:endParaRPr lang="en-US" sz="1050" dirty="0"/>
          </a:p>
        </p:txBody>
      </p:sp>
      <p:sp>
        <p:nvSpPr>
          <p:cNvPr id="12" name="Shape 10"/>
          <p:cNvSpPr/>
          <p:nvPr/>
        </p:nvSpPr>
        <p:spPr>
          <a:xfrm>
            <a:off x="4160520" y="1005840"/>
            <a:ext cx="274320" cy="274320"/>
          </a:xfrm>
          <a:prstGeom prst="rect">
            <a:avLst/>
          </a:prstGeom>
          <a:solidFill>
            <a:srgbClr val="1A3A5C"/>
          </a:solidFill>
          <a:ln w="12700">
            <a:solidFill>
              <a:srgbClr val="1A3A5C"/>
            </a:solidFill>
            <a:prstDash val="solid"/>
          </a:ln>
        </p:spPr>
        <p:txBody>
          <a:bodyPr/>
          <a:lstStyle/>
          <a:p>
            <a:endParaRPr lang="fr-FR"/>
          </a:p>
        </p:txBody>
      </p:sp>
      <p:sp>
        <p:nvSpPr>
          <p:cNvPr id="13" name="Text 11"/>
          <p:cNvSpPr/>
          <p:nvPr/>
        </p:nvSpPr>
        <p:spPr>
          <a:xfrm>
            <a:off x="4160520" y="100584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4" name="Shape 12"/>
          <p:cNvSpPr/>
          <p:nvPr/>
        </p:nvSpPr>
        <p:spPr>
          <a:xfrm>
            <a:off x="274320" y="1426464"/>
            <a:ext cx="4206240" cy="429768"/>
          </a:xfrm>
          <a:prstGeom prst="rect">
            <a:avLst/>
          </a:prstGeom>
          <a:solidFill>
            <a:srgbClr val="E8F1FA"/>
          </a:solidFill>
          <a:ln w="6350">
            <a:solidFill>
              <a:srgbClr val="DDE6F0"/>
            </a:solidFill>
            <a:prstDash val="solid"/>
          </a:ln>
        </p:spPr>
        <p:txBody>
          <a:bodyPr/>
          <a:lstStyle/>
          <a:p>
            <a:endParaRPr lang="fr-FR"/>
          </a:p>
        </p:txBody>
      </p:sp>
      <p:sp>
        <p:nvSpPr>
          <p:cNvPr id="15" name="Shape 13"/>
          <p:cNvSpPr/>
          <p:nvPr/>
        </p:nvSpPr>
        <p:spPr>
          <a:xfrm>
            <a:off x="274320" y="1426464"/>
            <a:ext cx="384048" cy="429768"/>
          </a:xfrm>
          <a:prstGeom prst="rect">
            <a:avLst/>
          </a:prstGeom>
          <a:solidFill>
            <a:srgbClr val="1A3A5C"/>
          </a:solidFill>
          <a:ln w="12700">
            <a:solidFill>
              <a:srgbClr val="1A3A5C"/>
            </a:solidFill>
            <a:prstDash val="solid"/>
          </a:ln>
        </p:spPr>
        <p:txBody>
          <a:bodyPr/>
          <a:lstStyle/>
          <a:p>
            <a:endParaRPr lang="fr-FR"/>
          </a:p>
        </p:txBody>
      </p:sp>
      <p:sp>
        <p:nvSpPr>
          <p:cNvPr id="16" name="Text 14"/>
          <p:cNvSpPr/>
          <p:nvPr/>
        </p:nvSpPr>
        <p:spPr>
          <a:xfrm>
            <a:off x="274320" y="1426464"/>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7" name="Text 15"/>
          <p:cNvSpPr/>
          <p:nvPr/>
        </p:nvSpPr>
        <p:spPr>
          <a:xfrm>
            <a:off x="731520" y="1472184"/>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 transport public collectif</a:t>
            </a:r>
            <a:endParaRPr lang="en-US" sz="1050" dirty="0"/>
          </a:p>
        </p:txBody>
      </p:sp>
      <p:sp>
        <p:nvSpPr>
          <p:cNvPr id="18" name="Shape 16"/>
          <p:cNvSpPr/>
          <p:nvPr/>
        </p:nvSpPr>
        <p:spPr>
          <a:xfrm>
            <a:off x="4160520" y="1499616"/>
            <a:ext cx="274320" cy="27432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160520" y="149961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0" name="Shape 18"/>
          <p:cNvSpPr/>
          <p:nvPr/>
        </p:nvSpPr>
        <p:spPr>
          <a:xfrm>
            <a:off x="274320" y="1920240"/>
            <a:ext cx="4206240" cy="429768"/>
          </a:xfrm>
          <a:prstGeom prst="rect">
            <a:avLst/>
          </a:prstGeom>
          <a:solidFill>
            <a:srgbClr val="E8F1FA"/>
          </a:solidFill>
          <a:ln w="6350">
            <a:solidFill>
              <a:srgbClr val="DDE6F0"/>
            </a:solidFill>
            <a:prstDash val="solid"/>
          </a:ln>
        </p:spPr>
        <p:txBody>
          <a:bodyPr/>
          <a:lstStyle/>
          <a:p>
            <a:endParaRPr lang="fr-FR"/>
          </a:p>
        </p:txBody>
      </p:sp>
      <p:sp>
        <p:nvSpPr>
          <p:cNvPr id="21" name="Shape 19"/>
          <p:cNvSpPr/>
          <p:nvPr/>
        </p:nvSpPr>
        <p:spPr>
          <a:xfrm>
            <a:off x="274320" y="1920240"/>
            <a:ext cx="384048" cy="429768"/>
          </a:xfrm>
          <a:prstGeom prst="rect">
            <a:avLst/>
          </a:prstGeom>
          <a:solidFill>
            <a:srgbClr val="1A3A5C"/>
          </a:solidFill>
          <a:ln w="12700">
            <a:solidFill>
              <a:srgbClr val="1A3A5C"/>
            </a:solidFill>
            <a:prstDash val="solid"/>
          </a:ln>
        </p:spPr>
        <p:txBody>
          <a:bodyPr/>
          <a:lstStyle/>
          <a:p>
            <a:endParaRPr lang="fr-FR"/>
          </a:p>
        </p:txBody>
      </p:sp>
      <p:sp>
        <p:nvSpPr>
          <p:cNvPr id="22" name="Text 20"/>
          <p:cNvSpPr/>
          <p:nvPr/>
        </p:nvSpPr>
        <p:spPr>
          <a:xfrm>
            <a:off x="274320" y="1920240"/>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3" name="Text 21"/>
          <p:cNvSpPr/>
          <p:nvPr/>
        </p:nvSpPr>
        <p:spPr>
          <a:xfrm>
            <a:off x="731520" y="1965960"/>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La loi LOTI — Définition du T3P</a:t>
            </a:r>
            <a:endParaRPr lang="en-US" sz="1050" dirty="0"/>
          </a:p>
        </p:txBody>
      </p:sp>
      <p:sp>
        <p:nvSpPr>
          <p:cNvPr id="24" name="Shape 22"/>
          <p:cNvSpPr/>
          <p:nvPr/>
        </p:nvSpPr>
        <p:spPr>
          <a:xfrm>
            <a:off x="4160520" y="1993392"/>
            <a:ext cx="274320" cy="274320"/>
          </a:xfrm>
          <a:prstGeom prst="rect">
            <a:avLst/>
          </a:prstGeom>
          <a:solidFill>
            <a:srgbClr val="1A3A5C"/>
          </a:solidFill>
          <a:ln w="12700">
            <a:solidFill>
              <a:srgbClr val="1A3A5C"/>
            </a:solidFill>
            <a:prstDash val="solid"/>
          </a:ln>
        </p:spPr>
        <p:txBody>
          <a:bodyPr/>
          <a:lstStyle/>
          <a:p>
            <a:endParaRPr lang="fr-FR"/>
          </a:p>
        </p:txBody>
      </p:sp>
      <p:sp>
        <p:nvSpPr>
          <p:cNvPr id="25" name="Text 23"/>
          <p:cNvSpPr/>
          <p:nvPr/>
        </p:nvSpPr>
        <p:spPr>
          <a:xfrm>
            <a:off x="4160520" y="199339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12</a:t>
            </a:r>
            <a:endParaRPr lang="en-US" sz="900" dirty="0"/>
          </a:p>
        </p:txBody>
      </p:sp>
      <p:sp>
        <p:nvSpPr>
          <p:cNvPr id="26" name="Shape 24"/>
          <p:cNvSpPr/>
          <p:nvPr/>
        </p:nvSpPr>
        <p:spPr>
          <a:xfrm>
            <a:off x="274320" y="2414016"/>
            <a:ext cx="4206240" cy="429768"/>
          </a:xfrm>
          <a:prstGeom prst="rect">
            <a:avLst/>
          </a:prstGeom>
          <a:solidFill>
            <a:srgbClr val="E8F1FA"/>
          </a:solidFill>
          <a:ln w="6350">
            <a:solidFill>
              <a:srgbClr val="DDE6F0"/>
            </a:solidFill>
            <a:prstDash val="solid"/>
          </a:ln>
        </p:spPr>
        <p:txBody>
          <a:bodyPr/>
          <a:lstStyle/>
          <a:p>
            <a:endParaRPr lang="fr-FR"/>
          </a:p>
        </p:txBody>
      </p:sp>
      <p:sp>
        <p:nvSpPr>
          <p:cNvPr id="27" name="Shape 25"/>
          <p:cNvSpPr/>
          <p:nvPr/>
        </p:nvSpPr>
        <p:spPr>
          <a:xfrm>
            <a:off x="274320" y="2414016"/>
            <a:ext cx="384048" cy="429768"/>
          </a:xfrm>
          <a:prstGeom prst="rect">
            <a:avLst/>
          </a:prstGeom>
          <a:solidFill>
            <a:srgbClr val="1A3A5C"/>
          </a:solidFill>
          <a:ln w="12700">
            <a:solidFill>
              <a:srgbClr val="1A3A5C"/>
            </a:solidFill>
            <a:prstDash val="solid"/>
          </a:ln>
        </p:spPr>
        <p:txBody>
          <a:bodyPr/>
          <a:lstStyle/>
          <a:p>
            <a:endParaRPr lang="fr-FR"/>
          </a:p>
        </p:txBody>
      </p:sp>
      <p:sp>
        <p:nvSpPr>
          <p:cNvPr id="28" name="Text 26"/>
          <p:cNvSpPr/>
          <p:nvPr/>
        </p:nvSpPr>
        <p:spPr>
          <a:xfrm>
            <a:off x="274320" y="2414016"/>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31520" y="2459736"/>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Non-inscription aux examens T3P</a:t>
            </a:r>
            <a:endParaRPr lang="en-US" sz="1050" dirty="0"/>
          </a:p>
        </p:txBody>
      </p:sp>
      <p:sp>
        <p:nvSpPr>
          <p:cNvPr id="30" name="Shape 28"/>
          <p:cNvSpPr/>
          <p:nvPr/>
        </p:nvSpPr>
        <p:spPr>
          <a:xfrm>
            <a:off x="4160520" y="2487168"/>
            <a:ext cx="274320" cy="274320"/>
          </a:xfrm>
          <a:prstGeom prst="rect">
            <a:avLst/>
          </a:prstGeom>
          <a:solidFill>
            <a:srgbClr val="1A3A5C"/>
          </a:solidFill>
          <a:ln w="12700">
            <a:solidFill>
              <a:srgbClr val="1A3A5C"/>
            </a:solidFill>
            <a:prstDash val="solid"/>
          </a:ln>
        </p:spPr>
        <p:txBody>
          <a:bodyPr/>
          <a:lstStyle/>
          <a:p>
            <a:endParaRPr lang="fr-FR"/>
          </a:p>
        </p:txBody>
      </p:sp>
      <p:sp>
        <p:nvSpPr>
          <p:cNvPr id="31" name="Text 29"/>
          <p:cNvSpPr/>
          <p:nvPr/>
        </p:nvSpPr>
        <p:spPr>
          <a:xfrm>
            <a:off x="4160520" y="248716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a:t>
            </a:r>
            <a:endParaRPr lang="en-US" sz="900" dirty="0"/>
          </a:p>
        </p:txBody>
      </p:sp>
      <p:sp>
        <p:nvSpPr>
          <p:cNvPr id="32" name="Shape 30"/>
          <p:cNvSpPr/>
          <p:nvPr/>
        </p:nvSpPr>
        <p:spPr>
          <a:xfrm>
            <a:off x="274320" y="2907792"/>
            <a:ext cx="4206240" cy="429768"/>
          </a:xfrm>
          <a:prstGeom prst="rect">
            <a:avLst/>
          </a:prstGeom>
          <a:solidFill>
            <a:srgbClr val="E8F1FA"/>
          </a:solidFill>
          <a:ln w="6350">
            <a:solidFill>
              <a:srgbClr val="DDE6F0"/>
            </a:solidFill>
            <a:prstDash val="solid"/>
          </a:ln>
        </p:spPr>
        <p:txBody>
          <a:bodyPr/>
          <a:lstStyle/>
          <a:p>
            <a:endParaRPr lang="fr-FR"/>
          </a:p>
        </p:txBody>
      </p:sp>
      <p:sp>
        <p:nvSpPr>
          <p:cNvPr id="33" name="Shape 31"/>
          <p:cNvSpPr/>
          <p:nvPr/>
        </p:nvSpPr>
        <p:spPr>
          <a:xfrm>
            <a:off x="274320" y="2907792"/>
            <a:ext cx="384048" cy="429768"/>
          </a:xfrm>
          <a:prstGeom prst="rect">
            <a:avLst/>
          </a:prstGeom>
          <a:solidFill>
            <a:srgbClr val="1A3A5C"/>
          </a:solidFill>
          <a:ln w="12700">
            <a:solidFill>
              <a:srgbClr val="1A3A5C"/>
            </a:solidFill>
            <a:prstDash val="solid"/>
          </a:ln>
        </p:spPr>
        <p:txBody>
          <a:bodyPr/>
          <a:lstStyle/>
          <a:p>
            <a:endParaRPr lang="fr-FR"/>
          </a:p>
        </p:txBody>
      </p:sp>
      <p:sp>
        <p:nvSpPr>
          <p:cNvPr id="34" name="Text 32"/>
          <p:cNvSpPr/>
          <p:nvPr/>
        </p:nvSpPr>
        <p:spPr>
          <a:xfrm>
            <a:off x="274320" y="290779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5" name="Text 33"/>
          <p:cNvSpPr/>
          <p:nvPr/>
        </p:nvSpPr>
        <p:spPr>
          <a:xfrm>
            <a:off x="731520" y="2953512"/>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Taxis</a:t>
            </a:r>
            <a:endParaRPr lang="en-US" sz="1050" dirty="0"/>
          </a:p>
        </p:txBody>
      </p:sp>
      <p:sp>
        <p:nvSpPr>
          <p:cNvPr id="36" name="Shape 34"/>
          <p:cNvSpPr/>
          <p:nvPr/>
        </p:nvSpPr>
        <p:spPr>
          <a:xfrm>
            <a:off x="4160520" y="2980944"/>
            <a:ext cx="274320" cy="274320"/>
          </a:xfrm>
          <a:prstGeom prst="rect">
            <a:avLst/>
          </a:prstGeom>
          <a:solidFill>
            <a:srgbClr val="1A3A5C"/>
          </a:solidFill>
          <a:ln w="12700">
            <a:solidFill>
              <a:srgbClr val="1A3A5C"/>
            </a:solidFill>
            <a:prstDash val="solid"/>
          </a:ln>
        </p:spPr>
        <p:txBody>
          <a:bodyPr/>
          <a:lstStyle/>
          <a:p>
            <a:endParaRPr lang="fr-FR"/>
          </a:p>
        </p:txBody>
      </p:sp>
      <p:sp>
        <p:nvSpPr>
          <p:cNvPr id="37" name="Text 35"/>
          <p:cNvSpPr/>
          <p:nvPr/>
        </p:nvSpPr>
        <p:spPr>
          <a:xfrm>
            <a:off x="4160520" y="298094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16</a:t>
            </a:r>
            <a:endParaRPr lang="en-US" sz="900" dirty="0"/>
          </a:p>
        </p:txBody>
      </p:sp>
      <p:sp>
        <p:nvSpPr>
          <p:cNvPr id="38" name="Shape 36"/>
          <p:cNvSpPr/>
          <p:nvPr/>
        </p:nvSpPr>
        <p:spPr>
          <a:xfrm>
            <a:off x="274320" y="3401568"/>
            <a:ext cx="4206240" cy="429768"/>
          </a:xfrm>
          <a:prstGeom prst="rect">
            <a:avLst/>
          </a:prstGeom>
          <a:solidFill>
            <a:srgbClr val="E8F1FA"/>
          </a:solidFill>
          <a:ln w="6350">
            <a:solidFill>
              <a:srgbClr val="DDE6F0"/>
            </a:solidFill>
            <a:prstDash val="solid"/>
          </a:ln>
        </p:spPr>
        <p:txBody>
          <a:bodyPr/>
          <a:lstStyle/>
          <a:p>
            <a:endParaRPr lang="fr-FR"/>
          </a:p>
        </p:txBody>
      </p:sp>
      <p:sp>
        <p:nvSpPr>
          <p:cNvPr id="39" name="Shape 37"/>
          <p:cNvSpPr/>
          <p:nvPr/>
        </p:nvSpPr>
        <p:spPr>
          <a:xfrm>
            <a:off x="274320" y="3401568"/>
            <a:ext cx="384048" cy="429768"/>
          </a:xfrm>
          <a:prstGeom prst="rect">
            <a:avLst/>
          </a:prstGeom>
          <a:solidFill>
            <a:srgbClr val="1A3A5C"/>
          </a:solidFill>
          <a:ln w="12700">
            <a:solidFill>
              <a:srgbClr val="1A3A5C"/>
            </a:solidFill>
            <a:prstDash val="solid"/>
          </a:ln>
        </p:spPr>
        <p:txBody>
          <a:bodyPr/>
          <a:lstStyle/>
          <a:p>
            <a:endParaRPr lang="fr-FR"/>
          </a:p>
        </p:txBody>
      </p:sp>
      <p:sp>
        <p:nvSpPr>
          <p:cNvPr id="40" name="Text 38"/>
          <p:cNvSpPr/>
          <p:nvPr/>
        </p:nvSpPr>
        <p:spPr>
          <a:xfrm>
            <a:off x="274320" y="340156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41" name="Text 39"/>
          <p:cNvSpPr/>
          <p:nvPr/>
        </p:nvSpPr>
        <p:spPr>
          <a:xfrm>
            <a:off x="731520" y="3447288"/>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VTC</a:t>
            </a:r>
            <a:endParaRPr lang="en-US" sz="1050" dirty="0"/>
          </a:p>
        </p:txBody>
      </p:sp>
      <p:sp>
        <p:nvSpPr>
          <p:cNvPr id="42" name="Shape 40"/>
          <p:cNvSpPr/>
          <p:nvPr/>
        </p:nvSpPr>
        <p:spPr>
          <a:xfrm>
            <a:off x="4160520" y="3474720"/>
            <a:ext cx="274320" cy="274320"/>
          </a:xfrm>
          <a:prstGeom prst="rect">
            <a:avLst/>
          </a:prstGeom>
          <a:solidFill>
            <a:srgbClr val="1A3A5C"/>
          </a:solidFill>
          <a:ln w="12700">
            <a:solidFill>
              <a:srgbClr val="1A3A5C"/>
            </a:solidFill>
            <a:prstDash val="solid"/>
          </a:ln>
        </p:spPr>
        <p:txBody>
          <a:bodyPr/>
          <a:lstStyle/>
          <a:p>
            <a:endParaRPr lang="fr-FR"/>
          </a:p>
        </p:txBody>
      </p:sp>
      <p:sp>
        <p:nvSpPr>
          <p:cNvPr id="43" name="Text 41"/>
          <p:cNvSpPr/>
          <p:nvPr/>
        </p:nvSpPr>
        <p:spPr>
          <a:xfrm>
            <a:off x="4160520" y="347472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25</a:t>
            </a:r>
            <a:endParaRPr lang="en-US" sz="900" dirty="0"/>
          </a:p>
        </p:txBody>
      </p:sp>
      <p:sp>
        <p:nvSpPr>
          <p:cNvPr id="44" name="Shape 42"/>
          <p:cNvSpPr/>
          <p:nvPr/>
        </p:nvSpPr>
        <p:spPr>
          <a:xfrm>
            <a:off x="274320" y="3895344"/>
            <a:ext cx="4206240" cy="429768"/>
          </a:xfrm>
          <a:prstGeom prst="rect">
            <a:avLst/>
          </a:prstGeom>
          <a:solidFill>
            <a:srgbClr val="E8F1FA"/>
          </a:solidFill>
          <a:ln w="6350">
            <a:solidFill>
              <a:srgbClr val="DDE6F0"/>
            </a:solidFill>
            <a:prstDash val="solid"/>
          </a:ln>
        </p:spPr>
        <p:txBody>
          <a:bodyPr/>
          <a:lstStyle/>
          <a:p>
            <a:endParaRPr lang="fr-FR"/>
          </a:p>
        </p:txBody>
      </p:sp>
      <p:sp>
        <p:nvSpPr>
          <p:cNvPr id="45" name="Shape 43"/>
          <p:cNvSpPr/>
          <p:nvPr/>
        </p:nvSpPr>
        <p:spPr>
          <a:xfrm>
            <a:off x="274320" y="3895344"/>
            <a:ext cx="384048" cy="429768"/>
          </a:xfrm>
          <a:prstGeom prst="rect">
            <a:avLst/>
          </a:prstGeom>
          <a:solidFill>
            <a:srgbClr val="1A3A5C"/>
          </a:solidFill>
          <a:ln w="12700">
            <a:solidFill>
              <a:srgbClr val="1A3A5C"/>
            </a:solidFill>
            <a:prstDash val="solid"/>
          </a:ln>
        </p:spPr>
        <p:txBody>
          <a:bodyPr/>
          <a:lstStyle/>
          <a:p>
            <a:endParaRPr lang="fr-FR"/>
          </a:p>
        </p:txBody>
      </p:sp>
      <p:sp>
        <p:nvSpPr>
          <p:cNvPr id="46" name="Text 44"/>
          <p:cNvSpPr/>
          <p:nvPr/>
        </p:nvSpPr>
        <p:spPr>
          <a:xfrm>
            <a:off x="274320" y="3895344"/>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6b</a:t>
            </a:r>
            <a:endParaRPr lang="en-US" sz="1100" dirty="0"/>
          </a:p>
        </p:txBody>
      </p:sp>
      <p:sp>
        <p:nvSpPr>
          <p:cNvPr id="47" name="Text 45"/>
          <p:cNvSpPr/>
          <p:nvPr/>
        </p:nvSpPr>
        <p:spPr>
          <a:xfrm>
            <a:off x="731520" y="3941064"/>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VMDTR</a:t>
            </a:r>
            <a:endParaRPr lang="en-US" sz="1050" dirty="0"/>
          </a:p>
        </p:txBody>
      </p:sp>
      <p:sp>
        <p:nvSpPr>
          <p:cNvPr id="48" name="Shape 46"/>
          <p:cNvSpPr/>
          <p:nvPr/>
        </p:nvSpPr>
        <p:spPr>
          <a:xfrm>
            <a:off x="4160520" y="3968496"/>
            <a:ext cx="274320" cy="274320"/>
          </a:xfrm>
          <a:prstGeom prst="rect">
            <a:avLst/>
          </a:prstGeom>
          <a:solidFill>
            <a:srgbClr val="1A3A5C"/>
          </a:solidFill>
          <a:ln w="12700">
            <a:solidFill>
              <a:srgbClr val="1A3A5C"/>
            </a:solidFill>
            <a:prstDash val="solid"/>
          </a:ln>
        </p:spPr>
        <p:txBody>
          <a:bodyPr/>
          <a:lstStyle/>
          <a:p>
            <a:endParaRPr lang="fr-FR"/>
          </a:p>
        </p:txBody>
      </p:sp>
      <p:sp>
        <p:nvSpPr>
          <p:cNvPr id="49" name="Text 47"/>
          <p:cNvSpPr/>
          <p:nvPr/>
        </p:nvSpPr>
        <p:spPr>
          <a:xfrm>
            <a:off x="4160520" y="396849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30</a:t>
            </a:r>
            <a:endParaRPr lang="en-US" sz="900" dirty="0"/>
          </a:p>
        </p:txBody>
      </p:sp>
      <p:sp>
        <p:nvSpPr>
          <p:cNvPr id="50" name="Shape 48"/>
          <p:cNvSpPr/>
          <p:nvPr/>
        </p:nvSpPr>
        <p:spPr>
          <a:xfrm>
            <a:off x="274320" y="4389120"/>
            <a:ext cx="4206240" cy="429768"/>
          </a:xfrm>
          <a:prstGeom prst="rect">
            <a:avLst/>
          </a:prstGeom>
          <a:solidFill>
            <a:srgbClr val="E8F1FA"/>
          </a:solidFill>
          <a:ln w="6350">
            <a:solidFill>
              <a:srgbClr val="DDE6F0"/>
            </a:solidFill>
            <a:prstDash val="solid"/>
          </a:ln>
        </p:spPr>
        <p:txBody>
          <a:bodyPr/>
          <a:lstStyle/>
          <a:p>
            <a:endParaRPr lang="fr-FR"/>
          </a:p>
        </p:txBody>
      </p:sp>
      <p:sp>
        <p:nvSpPr>
          <p:cNvPr id="51" name="Shape 49"/>
          <p:cNvSpPr/>
          <p:nvPr/>
        </p:nvSpPr>
        <p:spPr>
          <a:xfrm>
            <a:off x="274320" y="4389120"/>
            <a:ext cx="384048" cy="429768"/>
          </a:xfrm>
          <a:prstGeom prst="rect">
            <a:avLst/>
          </a:prstGeom>
          <a:solidFill>
            <a:srgbClr val="1A3A5C"/>
          </a:solidFill>
          <a:ln w="12700">
            <a:solidFill>
              <a:srgbClr val="1A3A5C"/>
            </a:solidFill>
            <a:prstDash val="solid"/>
          </a:ln>
        </p:spPr>
        <p:txBody>
          <a:bodyPr/>
          <a:lstStyle/>
          <a:p>
            <a:endParaRPr lang="fr-FR"/>
          </a:p>
        </p:txBody>
      </p:sp>
      <p:sp>
        <p:nvSpPr>
          <p:cNvPr id="52" name="Text 50"/>
          <p:cNvSpPr/>
          <p:nvPr/>
        </p:nvSpPr>
        <p:spPr>
          <a:xfrm>
            <a:off x="274320" y="4389120"/>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3" name="Text 51"/>
          <p:cNvSpPr/>
          <p:nvPr/>
        </p:nvSpPr>
        <p:spPr>
          <a:xfrm>
            <a:off x="731520" y="4434840"/>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Organismes autour du T3P + Centres de formation</a:t>
            </a:r>
            <a:endParaRPr lang="en-US" sz="1050" dirty="0"/>
          </a:p>
        </p:txBody>
      </p:sp>
      <p:sp>
        <p:nvSpPr>
          <p:cNvPr id="54" name="Shape 52"/>
          <p:cNvSpPr/>
          <p:nvPr/>
        </p:nvSpPr>
        <p:spPr>
          <a:xfrm>
            <a:off x="4160520" y="4462272"/>
            <a:ext cx="274320" cy="274320"/>
          </a:xfrm>
          <a:prstGeom prst="rect">
            <a:avLst/>
          </a:prstGeom>
          <a:solidFill>
            <a:srgbClr val="1A3A5C"/>
          </a:solidFill>
          <a:ln w="12700">
            <a:solidFill>
              <a:srgbClr val="1A3A5C"/>
            </a:solidFill>
            <a:prstDash val="solid"/>
          </a:ln>
        </p:spPr>
        <p:txBody>
          <a:bodyPr/>
          <a:lstStyle/>
          <a:p>
            <a:endParaRPr lang="fr-FR"/>
          </a:p>
        </p:txBody>
      </p:sp>
      <p:sp>
        <p:nvSpPr>
          <p:cNvPr id="55" name="Text 53"/>
          <p:cNvSpPr/>
          <p:nvPr/>
        </p:nvSpPr>
        <p:spPr>
          <a:xfrm>
            <a:off x="4160520" y="446227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35</a:t>
            </a:r>
            <a:endParaRPr lang="en-US" sz="900" dirty="0"/>
          </a:p>
        </p:txBody>
      </p:sp>
      <p:sp>
        <p:nvSpPr>
          <p:cNvPr id="56" name="Shape 54"/>
          <p:cNvSpPr/>
          <p:nvPr/>
        </p:nvSpPr>
        <p:spPr>
          <a:xfrm>
            <a:off x="274320" y="4882896"/>
            <a:ext cx="4206240" cy="429768"/>
          </a:xfrm>
          <a:prstGeom prst="rect">
            <a:avLst/>
          </a:prstGeom>
          <a:solidFill>
            <a:srgbClr val="E8F1FA"/>
          </a:solidFill>
          <a:ln w="6350">
            <a:solidFill>
              <a:srgbClr val="DDE6F0"/>
            </a:solidFill>
            <a:prstDash val="solid"/>
          </a:ln>
        </p:spPr>
        <p:txBody>
          <a:bodyPr/>
          <a:lstStyle/>
          <a:p>
            <a:endParaRPr lang="fr-FR"/>
          </a:p>
        </p:txBody>
      </p:sp>
      <p:sp>
        <p:nvSpPr>
          <p:cNvPr id="57" name="Shape 55"/>
          <p:cNvSpPr/>
          <p:nvPr/>
        </p:nvSpPr>
        <p:spPr>
          <a:xfrm>
            <a:off x="274320" y="4882896"/>
            <a:ext cx="384048" cy="429768"/>
          </a:xfrm>
          <a:prstGeom prst="rect">
            <a:avLst/>
          </a:prstGeom>
          <a:solidFill>
            <a:srgbClr val="1A3A5C"/>
          </a:solidFill>
          <a:ln w="12700">
            <a:solidFill>
              <a:srgbClr val="1A3A5C"/>
            </a:solidFill>
            <a:prstDash val="solid"/>
          </a:ln>
        </p:spPr>
        <p:txBody>
          <a:bodyPr/>
          <a:lstStyle/>
          <a:p>
            <a:endParaRPr lang="fr-FR"/>
          </a:p>
        </p:txBody>
      </p:sp>
      <p:sp>
        <p:nvSpPr>
          <p:cNvPr id="58" name="Text 56"/>
          <p:cNvSpPr/>
          <p:nvPr/>
        </p:nvSpPr>
        <p:spPr>
          <a:xfrm>
            <a:off x="274320" y="4882896"/>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7"/>
          <p:cNvSpPr/>
          <p:nvPr/>
        </p:nvSpPr>
        <p:spPr>
          <a:xfrm>
            <a:off x="731520" y="4928616"/>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Les assurances obligatoires</a:t>
            </a:r>
            <a:endParaRPr lang="en-US" sz="1050" dirty="0"/>
          </a:p>
        </p:txBody>
      </p:sp>
      <p:sp>
        <p:nvSpPr>
          <p:cNvPr id="60" name="Shape 58"/>
          <p:cNvSpPr/>
          <p:nvPr/>
        </p:nvSpPr>
        <p:spPr>
          <a:xfrm>
            <a:off x="4160520" y="4956048"/>
            <a:ext cx="274320" cy="274320"/>
          </a:xfrm>
          <a:prstGeom prst="rect">
            <a:avLst/>
          </a:prstGeom>
          <a:solidFill>
            <a:srgbClr val="1A3A5C"/>
          </a:solidFill>
          <a:ln w="12700">
            <a:solidFill>
              <a:srgbClr val="1A3A5C"/>
            </a:solidFill>
            <a:prstDash val="solid"/>
          </a:ln>
        </p:spPr>
        <p:txBody>
          <a:bodyPr/>
          <a:lstStyle/>
          <a:p>
            <a:endParaRPr lang="fr-FR"/>
          </a:p>
        </p:txBody>
      </p:sp>
      <p:sp>
        <p:nvSpPr>
          <p:cNvPr id="61" name="Text 59"/>
          <p:cNvSpPr/>
          <p:nvPr/>
        </p:nvSpPr>
        <p:spPr>
          <a:xfrm>
            <a:off x="4160520" y="495604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39</a:t>
            </a:r>
            <a:endParaRPr lang="en-US" sz="900" dirty="0"/>
          </a:p>
        </p:txBody>
      </p:sp>
      <p:sp>
        <p:nvSpPr>
          <p:cNvPr id="62" name="Shape 60"/>
          <p:cNvSpPr/>
          <p:nvPr/>
        </p:nvSpPr>
        <p:spPr>
          <a:xfrm>
            <a:off x="274320" y="5376672"/>
            <a:ext cx="4206240" cy="429768"/>
          </a:xfrm>
          <a:prstGeom prst="rect">
            <a:avLst/>
          </a:prstGeom>
          <a:solidFill>
            <a:srgbClr val="E8F1FA"/>
          </a:solidFill>
          <a:ln w="6350">
            <a:solidFill>
              <a:srgbClr val="DDE6F0"/>
            </a:solidFill>
            <a:prstDash val="solid"/>
          </a:ln>
        </p:spPr>
        <p:txBody>
          <a:bodyPr/>
          <a:lstStyle/>
          <a:p>
            <a:endParaRPr lang="fr-FR"/>
          </a:p>
        </p:txBody>
      </p:sp>
      <p:sp>
        <p:nvSpPr>
          <p:cNvPr id="63" name="Shape 61"/>
          <p:cNvSpPr/>
          <p:nvPr/>
        </p:nvSpPr>
        <p:spPr>
          <a:xfrm>
            <a:off x="274320" y="5376672"/>
            <a:ext cx="384048" cy="429768"/>
          </a:xfrm>
          <a:prstGeom prst="rect">
            <a:avLst/>
          </a:prstGeom>
          <a:solidFill>
            <a:srgbClr val="1A3A5C"/>
          </a:solidFill>
          <a:ln w="12700">
            <a:solidFill>
              <a:srgbClr val="1A3A5C"/>
            </a:solidFill>
            <a:prstDash val="solid"/>
          </a:ln>
        </p:spPr>
        <p:txBody>
          <a:bodyPr/>
          <a:lstStyle/>
          <a:p>
            <a:endParaRPr lang="fr-FR"/>
          </a:p>
        </p:txBody>
      </p:sp>
      <p:sp>
        <p:nvSpPr>
          <p:cNvPr id="64" name="Text 62"/>
          <p:cNvSpPr/>
          <p:nvPr/>
        </p:nvSpPr>
        <p:spPr>
          <a:xfrm>
            <a:off x="274320" y="537667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5" name="Text 63"/>
          <p:cNvSpPr/>
          <p:nvPr/>
        </p:nvSpPr>
        <p:spPr>
          <a:xfrm>
            <a:off x="731520" y="5422392"/>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Formation continue et visite médicale</a:t>
            </a:r>
            <a:endParaRPr lang="en-US" sz="1050" dirty="0"/>
          </a:p>
        </p:txBody>
      </p:sp>
      <p:sp>
        <p:nvSpPr>
          <p:cNvPr id="66" name="Shape 64"/>
          <p:cNvSpPr/>
          <p:nvPr/>
        </p:nvSpPr>
        <p:spPr>
          <a:xfrm>
            <a:off x="4160520" y="5449824"/>
            <a:ext cx="274320" cy="274320"/>
          </a:xfrm>
          <a:prstGeom prst="rect">
            <a:avLst/>
          </a:prstGeom>
          <a:solidFill>
            <a:srgbClr val="1A3A5C"/>
          </a:solidFill>
          <a:ln w="12700">
            <a:solidFill>
              <a:srgbClr val="1A3A5C"/>
            </a:solidFill>
            <a:prstDash val="solid"/>
          </a:ln>
        </p:spPr>
        <p:txBody>
          <a:bodyPr/>
          <a:lstStyle/>
          <a:p>
            <a:endParaRPr lang="fr-FR"/>
          </a:p>
        </p:txBody>
      </p:sp>
      <p:sp>
        <p:nvSpPr>
          <p:cNvPr id="67" name="Text 65"/>
          <p:cNvSpPr/>
          <p:nvPr/>
        </p:nvSpPr>
        <p:spPr>
          <a:xfrm>
            <a:off x="4160520" y="544982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42</a:t>
            </a:r>
            <a:endParaRPr lang="en-US" sz="900" dirty="0"/>
          </a:p>
        </p:txBody>
      </p:sp>
      <p:sp>
        <p:nvSpPr>
          <p:cNvPr id="68" name="Shape 66"/>
          <p:cNvSpPr/>
          <p:nvPr/>
        </p:nvSpPr>
        <p:spPr>
          <a:xfrm>
            <a:off x="4663440" y="932688"/>
            <a:ext cx="4206240" cy="292608"/>
          </a:xfrm>
          <a:prstGeom prst="rect">
            <a:avLst/>
          </a:prstGeom>
          <a:solidFill>
            <a:srgbClr val="1A3A5C"/>
          </a:solidFill>
          <a:ln w="12700">
            <a:solidFill>
              <a:srgbClr val="1A3A5C"/>
            </a:solidFill>
            <a:prstDash val="solid"/>
          </a:ln>
        </p:spPr>
        <p:txBody>
          <a:bodyPr/>
          <a:lstStyle/>
          <a:p>
            <a:endParaRPr lang="fr-FR"/>
          </a:p>
        </p:txBody>
      </p:sp>
      <p:sp>
        <p:nvSpPr>
          <p:cNvPr id="69" name="Text 67"/>
          <p:cNvSpPr/>
          <p:nvPr/>
        </p:nvSpPr>
        <p:spPr>
          <a:xfrm>
            <a:off x="4663440" y="932688"/>
            <a:ext cx="4206240" cy="29260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PARTIE 2 —</a:t>
            </a:r>
            <a:endParaRPr lang="en-US" sz="1000" dirty="0"/>
          </a:p>
        </p:txBody>
      </p:sp>
      <p:sp>
        <p:nvSpPr>
          <p:cNvPr id="70" name="Shape 68"/>
          <p:cNvSpPr/>
          <p:nvPr/>
        </p:nvSpPr>
        <p:spPr>
          <a:xfrm>
            <a:off x="4663440" y="1261872"/>
            <a:ext cx="4206240" cy="429768"/>
          </a:xfrm>
          <a:prstGeom prst="rect">
            <a:avLst/>
          </a:prstGeom>
          <a:solidFill>
            <a:srgbClr val="E8F1FA"/>
          </a:solidFill>
          <a:ln w="6350">
            <a:solidFill>
              <a:srgbClr val="DDE6F0"/>
            </a:solidFill>
            <a:prstDash val="solid"/>
          </a:ln>
        </p:spPr>
        <p:txBody>
          <a:bodyPr/>
          <a:lstStyle/>
          <a:p>
            <a:endParaRPr lang="fr-FR"/>
          </a:p>
        </p:txBody>
      </p:sp>
      <p:sp>
        <p:nvSpPr>
          <p:cNvPr id="71" name="Shape 69"/>
          <p:cNvSpPr/>
          <p:nvPr/>
        </p:nvSpPr>
        <p:spPr>
          <a:xfrm>
            <a:off x="4663440" y="1261872"/>
            <a:ext cx="384048" cy="429768"/>
          </a:xfrm>
          <a:prstGeom prst="rect">
            <a:avLst/>
          </a:prstGeom>
          <a:solidFill>
            <a:srgbClr val="1A3A5C"/>
          </a:solidFill>
          <a:ln w="12700">
            <a:solidFill>
              <a:srgbClr val="1A3A5C"/>
            </a:solidFill>
            <a:prstDash val="solid"/>
          </a:ln>
        </p:spPr>
        <p:txBody>
          <a:bodyPr/>
          <a:lstStyle/>
          <a:p>
            <a:endParaRPr lang="fr-FR"/>
          </a:p>
        </p:txBody>
      </p:sp>
      <p:sp>
        <p:nvSpPr>
          <p:cNvPr id="72" name="Text 70"/>
          <p:cNvSpPr/>
          <p:nvPr/>
        </p:nvSpPr>
        <p:spPr>
          <a:xfrm>
            <a:off x="4663440" y="126187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8b</a:t>
            </a:r>
            <a:endParaRPr lang="en-US" sz="1100" dirty="0"/>
          </a:p>
        </p:txBody>
      </p:sp>
      <p:sp>
        <p:nvSpPr>
          <p:cNvPr id="73" name="Text 71"/>
          <p:cNvSpPr/>
          <p:nvPr/>
        </p:nvSpPr>
        <p:spPr>
          <a:xfrm>
            <a:off x="5120640" y="1307592"/>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Agents de contrôle et documents</a:t>
            </a:r>
            <a:endParaRPr lang="en-US" sz="1050" dirty="0"/>
          </a:p>
        </p:txBody>
      </p:sp>
      <p:sp>
        <p:nvSpPr>
          <p:cNvPr id="74" name="Shape 72"/>
          <p:cNvSpPr/>
          <p:nvPr/>
        </p:nvSpPr>
        <p:spPr>
          <a:xfrm>
            <a:off x="8549640" y="1335024"/>
            <a:ext cx="274320" cy="274320"/>
          </a:xfrm>
          <a:prstGeom prst="rect">
            <a:avLst/>
          </a:prstGeom>
          <a:solidFill>
            <a:srgbClr val="1A3A5C"/>
          </a:solidFill>
          <a:ln w="12700">
            <a:solidFill>
              <a:srgbClr val="1A3A5C"/>
            </a:solidFill>
            <a:prstDash val="solid"/>
          </a:ln>
        </p:spPr>
        <p:txBody>
          <a:bodyPr/>
          <a:lstStyle/>
          <a:p>
            <a:endParaRPr lang="fr-FR"/>
          </a:p>
        </p:txBody>
      </p:sp>
      <p:sp>
        <p:nvSpPr>
          <p:cNvPr id="75" name="Text 73"/>
          <p:cNvSpPr/>
          <p:nvPr/>
        </p:nvSpPr>
        <p:spPr>
          <a:xfrm>
            <a:off x="8549640" y="133502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53</a:t>
            </a:r>
            <a:endParaRPr lang="en-US" sz="900" dirty="0"/>
          </a:p>
        </p:txBody>
      </p:sp>
      <p:sp>
        <p:nvSpPr>
          <p:cNvPr id="76" name="Shape 74"/>
          <p:cNvSpPr/>
          <p:nvPr/>
        </p:nvSpPr>
        <p:spPr>
          <a:xfrm>
            <a:off x="4663440" y="1755648"/>
            <a:ext cx="4206240" cy="429768"/>
          </a:xfrm>
          <a:prstGeom prst="rect">
            <a:avLst/>
          </a:prstGeom>
          <a:solidFill>
            <a:srgbClr val="E8F1FA"/>
          </a:solidFill>
          <a:ln w="6350">
            <a:solidFill>
              <a:srgbClr val="DDE6F0"/>
            </a:solidFill>
            <a:prstDash val="solid"/>
          </a:ln>
        </p:spPr>
        <p:txBody>
          <a:bodyPr/>
          <a:lstStyle/>
          <a:p>
            <a:endParaRPr lang="fr-FR"/>
          </a:p>
        </p:txBody>
      </p:sp>
      <p:sp>
        <p:nvSpPr>
          <p:cNvPr id="77" name="Shape 75"/>
          <p:cNvSpPr/>
          <p:nvPr/>
        </p:nvSpPr>
        <p:spPr>
          <a:xfrm>
            <a:off x="4663440" y="1755648"/>
            <a:ext cx="384048" cy="429768"/>
          </a:xfrm>
          <a:prstGeom prst="rect">
            <a:avLst/>
          </a:prstGeom>
          <a:solidFill>
            <a:srgbClr val="1A3A5C"/>
          </a:solidFill>
          <a:ln w="12700">
            <a:solidFill>
              <a:srgbClr val="1A3A5C"/>
            </a:solidFill>
            <a:prstDash val="solid"/>
          </a:ln>
        </p:spPr>
        <p:txBody>
          <a:bodyPr/>
          <a:lstStyle/>
          <a:p>
            <a:endParaRPr lang="fr-FR"/>
          </a:p>
        </p:txBody>
      </p:sp>
      <p:sp>
        <p:nvSpPr>
          <p:cNvPr id="78" name="Text 76"/>
          <p:cNvSpPr/>
          <p:nvPr/>
        </p:nvSpPr>
        <p:spPr>
          <a:xfrm>
            <a:off x="4663440" y="175564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9" name="Text 77"/>
          <p:cNvSpPr/>
          <p:nvPr/>
        </p:nvSpPr>
        <p:spPr>
          <a:xfrm>
            <a:off x="5120640" y="1801368"/>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Les juridictions compétentes</a:t>
            </a:r>
            <a:endParaRPr lang="en-US" sz="1050" dirty="0"/>
          </a:p>
        </p:txBody>
      </p:sp>
      <p:sp>
        <p:nvSpPr>
          <p:cNvPr id="80" name="Shape 78"/>
          <p:cNvSpPr/>
          <p:nvPr/>
        </p:nvSpPr>
        <p:spPr>
          <a:xfrm>
            <a:off x="8549640" y="1828800"/>
            <a:ext cx="274320" cy="274320"/>
          </a:xfrm>
          <a:prstGeom prst="rect">
            <a:avLst/>
          </a:prstGeom>
          <a:solidFill>
            <a:srgbClr val="1A3A5C"/>
          </a:solidFill>
          <a:ln w="12700">
            <a:solidFill>
              <a:srgbClr val="1A3A5C"/>
            </a:solidFill>
            <a:prstDash val="solid"/>
          </a:ln>
        </p:spPr>
        <p:txBody>
          <a:bodyPr/>
          <a:lstStyle/>
          <a:p>
            <a:endParaRPr lang="fr-FR"/>
          </a:p>
        </p:txBody>
      </p:sp>
      <p:sp>
        <p:nvSpPr>
          <p:cNvPr id="81" name="Text 79"/>
          <p:cNvSpPr/>
          <p:nvPr/>
        </p:nvSpPr>
        <p:spPr>
          <a:xfrm>
            <a:off x="8549640" y="182880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54</a:t>
            </a:r>
            <a:endParaRPr lang="en-US" sz="900" dirty="0"/>
          </a:p>
        </p:txBody>
      </p:sp>
      <p:sp>
        <p:nvSpPr>
          <p:cNvPr id="82" name="Shape 80"/>
          <p:cNvSpPr/>
          <p:nvPr/>
        </p:nvSpPr>
        <p:spPr>
          <a:xfrm>
            <a:off x="4663440" y="2249424"/>
            <a:ext cx="4206240" cy="429768"/>
          </a:xfrm>
          <a:prstGeom prst="rect">
            <a:avLst/>
          </a:prstGeom>
          <a:solidFill>
            <a:srgbClr val="E8F1FA"/>
          </a:solidFill>
          <a:ln w="6350">
            <a:solidFill>
              <a:srgbClr val="DDE6F0"/>
            </a:solidFill>
            <a:prstDash val="solid"/>
          </a:ln>
        </p:spPr>
        <p:txBody>
          <a:bodyPr/>
          <a:lstStyle/>
          <a:p>
            <a:endParaRPr lang="fr-FR"/>
          </a:p>
        </p:txBody>
      </p:sp>
      <p:sp>
        <p:nvSpPr>
          <p:cNvPr id="83" name="Shape 81"/>
          <p:cNvSpPr/>
          <p:nvPr/>
        </p:nvSpPr>
        <p:spPr>
          <a:xfrm>
            <a:off x="4663440" y="2249424"/>
            <a:ext cx="384048" cy="429768"/>
          </a:xfrm>
          <a:prstGeom prst="rect">
            <a:avLst/>
          </a:prstGeom>
          <a:solidFill>
            <a:srgbClr val="1A3A5C"/>
          </a:solidFill>
          <a:ln w="12700">
            <a:solidFill>
              <a:srgbClr val="1A3A5C"/>
            </a:solidFill>
            <a:prstDash val="solid"/>
          </a:ln>
        </p:spPr>
        <p:txBody>
          <a:bodyPr/>
          <a:lstStyle/>
          <a:p>
            <a:endParaRPr lang="fr-FR"/>
          </a:p>
        </p:txBody>
      </p:sp>
      <p:sp>
        <p:nvSpPr>
          <p:cNvPr id="84" name="Text 82"/>
          <p:cNvSpPr/>
          <p:nvPr/>
        </p:nvSpPr>
        <p:spPr>
          <a:xfrm>
            <a:off x="4663440" y="2249424"/>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85" name="Text 83"/>
          <p:cNvSpPr/>
          <p:nvPr/>
        </p:nvSpPr>
        <p:spPr>
          <a:xfrm>
            <a:off x="5120640" y="2295144"/>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Sanctions et voies de recours</a:t>
            </a:r>
            <a:endParaRPr lang="en-US" sz="1050" dirty="0"/>
          </a:p>
        </p:txBody>
      </p:sp>
      <p:sp>
        <p:nvSpPr>
          <p:cNvPr id="86" name="Shape 84"/>
          <p:cNvSpPr/>
          <p:nvPr/>
        </p:nvSpPr>
        <p:spPr>
          <a:xfrm>
            <a:off x="8549640" y="2322576"/>
            <a:ext cx="274320" cy="274320"/>
          </a:xfrm>
          <a:prstGeom prst="rect">
            <a:avLst/>
          </a:prstGeom>
          <a:solidFill>
            <a:srgbClr val="1A3A5C"/>
          </a:solidFill>
          <a:ln w="12700">
            <a:solidFill>
              <a:srgbClr val="1A3A5C"/>
            </a:solidFill>
            <a:prstDash val="solid"/>
          </a:ln>
        </p:spPr>
        <p:txBody>
          <a:bodyPr/>
          <a:lstStyle/>
          <a:p>
            <a:endParaRPr lang="fr-FR"/>
          </a:p>
        </p:txBody>
      </p:sp>
      <p:sp>
        <p:nvSpPr>
          <p:cNvPr id="87" name="Text 85"/>
          <p:cNvSpPr/>
          <p:nvPr/>
        </p:nvSpPr>
        <p:spPr>
          <a:xfrm>
            <a:off x="8549640" y="232257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57</a:t>
            </a:r>
            <a:endParaRPr lang="en-US" sz="900" dirty="0"/>
          </a:p>
        </p:txBody>
      </p:sp>
      <p:sp>
        <p:nvSpPr>
          <p:cNvPr id="88" name="Shape 86"/>
          <p:cNvSpPr/>
          <p:nvPr/>
        </p:nvSpPr>
        <p:spPr>
          <a:xfrm>
            <a:off x="4663440" y="2743200"/>
            <a:ext cx="4206240" cy="429768"/>
          </a:xfrm>
          <a:prstGeom prst="rect">
            <a:avLst/>
          </a:prstGeom>
          <a:solidFill>
            <a:srgbClr val="E8F1FA"/>
          </a:solidFill>
          <a:ln w="6350">
            <a:solidFill>
              <a:srgbClr val="DDE6F0"/>
            </a:solidFill>
            <a:prstDash val="solid"/>
          </a:ln>
        </p:spPr>
        <p:txBody>
          <a:bodyPr/>
          <a:lstStyle/>
          <a:p>
            <a:endParaRPr lang="fr-FR"/>
          </a:p>
        </p:txBody>
      </p:sp>
      <p:sp>
        <p:nvSpPr>
          <p:cNvPr id="89" name="Shape 87"/>
          <p:cNvSpPr/>
          <p:nvPr/>
        </p:nvSpPr>
        <p:spPr>
          <a:xfrm>
            <a:off x="4663440" y="2743200"/>
            <a:ext cx="384048" cy="429768"/>
          </a:xfrm>
          <a:prstGeom prst="rect">
            <a:avLst/>
          </a:prstGeom>
          <a:solidFill>
            <a:srgbClr val="1A3A5C"/>
          </a:solidFill>
          <a:ln w="12700">
            <a:solidFill>
              <a:srgbClr val="1A3A5C"/>
            </a:solidFill>
            <a:prstDash val="solid"/>
          </a:ln>
        </p:spPr>
        <p:txBody>
          <a:bodyPr/>
          <a:lstStyle/>
          <a:p>
            <a:endParaRPr lang="fr-FR"/>
          </a:p>
        </p:txBody>
      </p:sp>
      <p:sp>
        <p:nvSpPr>
          <p:cNvPr id="90" name="Text 88"/>
          <p:cNvSpPr/>
          <p:nvPr/>
        </p:nvSpPr>
        <p:spPr>
          <a:xfrm>
            <a:off x="4663440" y="2743200"/>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91" name="Text 89"/>
          <p:cNvSpPr/>
          <p:nvPr/>
        </p:nvSpPr>
        <p:spPr>
          <a:xfrm>
            <a:off x="5120640" y="2788920"/>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Transport de Personnes à Mobilité Réduite (TPMR)</a:t>
            </a:r>
            <a:endParaRPr lang="en-US" sz="1050" dirty="0"/>
          </a:p>
        </p:txBody>
      </p:sp>
      <p:sp>
        <p:nvSpPr>
          <p:cNvPr id="92" name="Shape 90"/>
          <p:cNvSpPr/>
          <p:nvPr/>
        </p:nvSpPr>
        <p:spPr>
          <a:xfrm>
            <a:off x="8549640" y="2816352"/>
            <a:ext cx="274320" cy="274320"/>
          </a:xfrm>
          <a:prstGeom prst="rect">
            <a:avLst/>
          </a:prstGeom>
          <a:solidFill>
            <a:srgbClr val="1A3A5C"/>
          </a:solidFill>
          <a:ln w="12700">
            <a:solidFill>
              <a:srgbClr val="1A3A5C"/>
            </a:solidFill>
            <a:prstDash val="solid"/>
          </a:ln>
        </p:spPr>
        <p:txBody>
          <a:bodyPr/>
          <a:lstStyle/>
          <a:p>
            <a:endParaRPr lang="fr-FR"/>
          </a:p>
        </p:txBody>
      </p:sp>
      <p:sp>
        <p:nvSpPr>
          <p:cNvPr id="93" name="Text 91"/>
          <p:cNvSpPr/>
          <p:nvPr/>
        </p:nvSpPr>
        <p:spPr>
          <a:xfrm>
            <a:off x="8549640" y="281635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61</a:t>
            </a:r>
            <a:endParaRPr lang="en-US" sz="900" dirty="0"/>
          </a:p>
        </p:txBody>
      </p:sp>
      <p:sp>
        <p:nvSpPr>
          <p:cNvPr id="94" name="Shape 92"/>
          <p:cNvSpPr/>
          <p:nvPr/>
        </p:nvSpPr>
        <p:spPr>
          <a:xfrm>
            <a:off x="4663440" y="3236976"/>
            <a:ext cx="4206240" cy="429768"/>
          </a:xfrm>
          <a:prstGeom prst="rect">
            <a:avLst/>
          </a:prstGeom>
          <a:solidFill>
            <a:srgbClr val="E8F1FA"/>
          </a:solidFill>
          <a:ln w="6350">
            <a:solidFill>
              <a:srgbClr val="DDE6F0"/>
            </a:solidFill>
            <a:prstDash val="solid"/>
          </a:ln>
        </p:spPr>
        <p:txBody>
          <a:bodyPr/>
          <a:lstStyle/>
          <a:p>
            <a:endParaRPr lang="fr-FR"/>
          </a:p>
        </p:txBody>
      </p:sp>
      <p:sp>
        <p:nvSpPr>
          <p:cNvPr id="95" name="Shape 93"/>
          <p:cNvSpPr/>
          <p:nvPr/>
        </p:nvSpPr>
        <p:spPr>
          <a:xfrm>
            <a:off x="4663440" y="3236976"/>
            <a:ext cx="384048" cy="429768"/>
          </a:xfrm>
          <a:prstGeom prst="rect">
            <a:avLst/>
          </a:prstGeom>
          <a:solidFill>
            <a:srgbClr val="1A3A5C"/>
          </a:solidFill>
          <a:ln w="12700">
            <a:solidFill>
              <a:srgbClr val="1A3A5C"/>
            </a:solidFill>
            <a:prstDash val="solid"/>
          </a:ln>
        </p:spPr>
        <p:txBody>
          <a:bodyPr/>
          <a:lstStyle/>
          <a:p>
            <a:endParaRPr lang="fr-FR"/>
          </a:p>
        </p:txBody>
      </p:sp>
      <p:sp>
        <p:nvSpPr>
          <p:cNvPr id="96" name="Text 94"/>
          <p:cNvSpPr/>
          <p:nvPr/>
        </p:nvSpPr>
        <p:spPr>
          <a:xfrm>
            <a:off x="4663440" y="3236976"/>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97" name="Text 95"/>
          <p:cNvSpPr/>
          <p:nvPr/>
        </p:nvSpPr>
        <p:spPr>
          <a:xfrm>
            <a:off x="5120640" y="3282696"/>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Covoiturage et transport privé</a:t>
            </a:r>
            <a:endParaRPr lang="en-US" sz="1050" dirty="0"/>
          </a:p>
        </p:txBody>
      </p:sp>
      <p:sp>
        <p:nvSpPr>
          <p:cNvPr id="98" name="Shape 96"/>
          <p:cNvSpPr/>
          <p:nvPr/>
        </p:nvSpPr>
        <p:spPr>
          <a:xfrm>
            <a:off x="8549640" y="3310128"/>
            <a:ext cx="274320" cy="274320"/>
          </a:xfrm>
          <a:prstGeom prst="rect">
            <a:avLst/>
          </a:prstGeom>
          <a:solidFill>
            <a:srgbClr val="1A3A5C"/>
          </a:solidFill>
          <a:ln w="12700">
            <a:solidFill>
              <a:srgbClr val="1A3A5C"/>
            </a:solidFill>
            <a:prstDash val="solid"/>
          </a:ln>
        </p:spPr>
        <p:txBody>
          <a:bodyPr/>
          <a:lstStyle/>
          <a:p>
            <a:endParaRPr lang="fr-FR"/>
          </a:p>
        </p:txBody>
      </p:sp>
      <p:sp>
        <p:nvSpPr>
          <p:cNvPr id="99" name="Text 97"/>
          <p:cNvSpPr/>
          <p:nvPr/>
        </p:nvSpPr>
        <p:spPr>
          <a:xfrm>
            <a:off x="8549640" y="331012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63</a:t>
            </a:r>
            <a:endParaRPr lang="en-US" sz="900" dirty="0"/>
          </a:p>
        </p:txBody>
      </p:sp>
      <p:sp>
        <p:nvSpPr>
          <p:cNvPr id="100" name="Shape 98"/>
          <p:cNvSpPr/>
          <p:nvPr/>
        </p:nvSpPr>
        <p:spPr>
          <a:xfrm>
            <a:off x="4663440" y="3730752"/>
            <a:ext cx="4206240" cy="429768"/>
          </a:xfrm>
          <a:prstGeom prst="rect">
            <a:avLst/>
          </a:prstGeom>
          <a:solidFill>
            <a:srgbClr val="E8F1FA"/>
          </a:solidFill>
          <a:ln w="6350">
            <a:solidFill>
              <a:srgbClr val="DDE6F0"/>
            </a:solidFill>
            <a:prstDash val="solid"/>
          </a:ln>
        </p:spPr>
        <p:txBody>
          <a:bodyPr/>
          <a:lstStyle/>
          <a:p>
            <a:endParaRPr lang="fr-FR"/>
          </a:p>
        </p:txBody>
      </p:sp>
      <p:sp>
        <p:nvSpPr>
          <p:cNvPr id="101" name="Shape 99"/>
          <p:cNvSpPr/>
          <p:nvPr/>
        </p:nvSpPr>
        <p:spPr>
          <a:xfrm>
            <a:off x="4663440" y="3730752"/>
            <a:ext cx="384048" cy="429768"/>
          </a:xfrm>
          <a:prstGeom prst="rect">
            <a:avLst/>
          </a:prstGeom>
          <a:solidFill>
            <a:srgbClr val="1A3A5C"/>
          </a:solidFill>
          <a:ln w="12700">
            <a:solidFill>
              <a:srgbClr val="1A3A5C"/>
            </a:solidFill>
            <a:prstDash val="solid"/>
          </a:ln>
        </p:spPr>
        <p:txBody>
          <a:bodyPr/>
          <a:lstStyle/>
          <a:p>
            <a:endParaRPr lang="fr-FR"/>
          </a:p>
        </p:txBody>
      </p:sp>
      <p:sp>
        <p:nvSpPr>
          <p:cNvPr id="102" name="Text 100"/>
          <p:cNvSpPr/>
          <p:nvPr/>
        </p:nvSpPr>
        <p:spPr>
          <a:xfrm>
            <a:off x="4663440" y="373075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14</a:t>
            </a:r>
            <a:endParaRPr lang="en-US" sz="1100" dirty="0"/>
          </a:p>
        </p:txBody>
      </p:sp>
      <p:sp>
        <p:nvSpPr>
          <p:cNvPr id="103" name="Text 101"/>
          <p:cNvSpPr/>
          <p:nvPr/>
        </p:nvSpPr>
        <p:spPr>
          <a:xfrm>
            <a:off x="5120640" y="3776472"/>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Les intermédiaires</a:t>
            </a:r>
            <a:endParaRPr lang="en-US" sz="1050" dirty="0"/>
          </a:p>
        </p:txBody>
      </p:sp>
      <p:sp>
        <p:nvSpPr>
          <p:cNvPr id="104" name="Shape 102"/>
          <p:cNvSpPr/>
          <p:nvPr/>
        </p:nvSpPr>
        <p:spPr>
          <a:xfrm>
            <a:off x="8549640" y="3803904"/>
            <a:ext cx="274320" cy="274320"/>
          </a:xfrm>
          <a:prstGeom prst="rect">
            <a:avLst/>
          </a:prstGeom>
          <a:solidFill>
            <a:srgbClr val="1A3A5C"/>
          </a:solidFill>
          <a:ln w="12700">
            <a:solidFill>
              <a:srgbClr val="1A3A5C"/>
            </a:solidFill>
            <a:prstDash val="solid"/>
          </a:ln>
        </p:spPr>
        <p:txBody>
          <a:bodyPr/>
          <a:lstStyle/>
          <a:p>
            <a:endParaRPr lang="fr-FR"/>
          </a:p>
        </p:txBody>
      </p:sp>
      <p:sp>
        <p:nvSpPr>
          <p:cNvPr id="105" name="Text 103"/>
          <p:cNvSpPr/>
          <p:nvPr/>
        </p:nvSpPr>
        <p:spPr>
          <a:xfrm>
            <a:off x="8549640" y="380390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65</a:t>
            </a:r>
            <a:endParaRPr lang="en-US" sz="900" dirty="0"/>
          </a:p>
        </p:txBody>
      </p:sp>
      <p:sp>
        <p:nvSpPr>
          <p:cNvPr id="106" name="Shape 104"/>
          <p:cNvSpPr/>
          <p:nvPr/>
        </p:nvSpPr>
        <p:spPr>
          <a:xfrm>
            <a:off x="4663440" y="4224528"/>
            <a:ext cx="4206240" cy="429768"/>
          </a:xfrm>
          <a:prstGeom prst="rect">
            <a:avLst/>
          </a:prstGeom>
          <a:solidFill>
            <a:srgbClr val="E8F1FA"/>
          </a:solidFill>
          <a:ln w="6350">
            <a:solidFill>
              <a:srgbClr val="DDE6F0"/>
            </a:solidFill>
            <a:prstDash val="solid"/>
          </a:ln>
        </p:spPr>
        <p:txBody>
          <a:bodyPr/>
          <a:lstStyle/>
          <a:p>
            <a:endParaRPr lang="fr-FR"/>
          </a:p>
        </p:txBody>
      </p:sp>
      <p:sp>
        <p:nvSpPr>
          <p:cNvPr id="107" name="Shape 105"/>
          <p:cNvSpPr/>
          <p:nvPr/>
        </p:nvSpPr>
        <p:spPr>
          <a:xfrm>
            <a:off x="4663440" y="4224528"/>
            <a:ext cx="384048" cy="429768"/>
          </a:xfrm>
          <a:prstGeom prst="rect">
            <a:avLst/>
          </a:prstGeom>
          <a:solidFill>
            <a:srgbClr val="1A3A5C"/>
          </a:solidFill>
          <a:ln w="12700">
            <a:solidFill>
              <a:srgbClr val="1A3A5C"/>
            </a:solidFill>
            <a:prstDash val="solid"/>
          </a:ln>
        </p:spPr>
        <p:txBody>
          <a:bodyPr/>
          <a:lstStyle/>
          <a:p>
            <a:endParaRPr lang="fr-FR"/>
          </a:p>
        </p:txBody>
      </p:sp>
      <p:sp>
        <p:nvSpPr>
          <p:cNvPr id="108" name="Text 106"/>
          <p:cNvSpPr/>
          <p:nvPr/>
        </p:nvSpPr>
        <p:spPr>
          <a:xfrm>
            <a:off x="4663440" y="422452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15</a:t>
            </a:r>
            <a:endParaRPr lang="en-US" sz="1100" dirty="0"/>
          </a:p>
        </p:txBody>
      </p:sp>
      <p:sp>
        <p:nvSpPr>
          <p:cNvPr id="109" name="Text 107"/>
          <p:cNvSpPr/>
          <p:nvPr/>
        </p:nvSpPr>
        <p:spPr>
          <a:xfrm>
            <a:off x="5120640" y="4270248"/>
            <a:ext cx="320040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VSS et discriminations</a:t>
            </a:r>
            <a:endParaRPr lang="en-US" sz="1050" dirty="0"/>
          </a:p>
        </p:txBody>
      </p:sp>
      <p:sp>
        <p:nvSpPr>
          <p:cNvPr id="110" name="Shape 108"/>
          <p:cNvSpPr/>
          <p:nvPr/>
        </p:nvSpPr>
        <p:spPr>
          <a:xfrm>
            <a:off x="8549640" y="4297680"/>
            <a:ext cx="274320" cy="274320"/>
          </a:xfrm>
          <a:prstGeom prst="rect">
            <a:avLst/>
          </a:prstGeom>
          <a:solidFill>
            <a:srgbClr val="1A3A5C"/>
          </a:solidFill>
          <a:ln w="12700">
            <a:solidFill>
              <a:srgbClr val="1A3A5C"/>
            </a:solidFill>
            <a:prstDash val="solid"/>
          </a:ln>
        </p:spPr>
        <p:txBody>
          <a:bodyPr/>
          <a:lstStyle/>
          <a:p>
            <a:endParaRPr lang="fr-FR"/>
          </a:p>
        </p:txBody>
      </p:sp>
      <p:sp>
        <p:nvSpPr>
          <p:cNvPr id="111" name="Text 109"/>
          <p:cNvSpPr/>
          <p:nvPr/>
        </p:nvSpPr>
        <p:spPr>
          <a:xfrm>
            <a:off x="8549640" y="429768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1. Transport public ou transport privé ?</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Comprendre la classification fondamentale du transport de personnes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Transport public ou transport privé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4/88</a:t>
            </a:r>
            <a:endParaRPr lang="en-US" sz="800" dirty="0"/>
          </a:p>
        </p:txBody>
      </p:sp>
      <p:sp>
        <p:nvSpPr>
          <p:cNvPr id="8" name="Text 6"/>
          <p:cNvSpPr/>
          <p:nvPr/>
        </p:nvSpPr>
        <p:spPr>
          <a:xfrm>
            <a:off x="274320" y="914400"/>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d'aborder la réglementation des taxis et des VTC, il est indispensable de comprendre comment le transport de personnes est classifié en France. Cette distinction détermine quelles règles s'appliquent et qui a besoin d'une carte professionnelle.</a:t>
            </a:r>
            <a:endParaRPr lang="en-US" sz="1200" dirty="0"/>
          </a:p>
        </p:txBody>
      </p:sp>
      <p:sp>
        <p:nvSpPr>
          <p:cNvPr id="9" name="Shape 7"/>
          <p:cNvSpPr/>
          <p:nvPr/>
        </p:nvSpPr>
        <p:spPr>
          <a:xfrm>
            <a:off x="27432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0" name="Shape 8"/>
          <p:cNvSpPr/>
          <p:nvPr/>
        </p:nvSpPr>
        <p:spPr>
          <a:xfrm>
            <a:off x="274320" y="1481328"/>
            <a:ext cx="4160520" cy="301752"/>
          </a:xfrm>
          <a:prstGeom prst="rect">
            <a:avLst/>
          </a:prstGeom>
          <a:solidFill>
            <a:srgbClr val="2860A8"/>
          </a:solidFill>
          <a:ln w="12700">
            <a:solidFill>
              <a:srgbClr val="2860A8"/>
            </a:solidFill>
            <a:prstDash val="solid"/>
          </a:ln>
        </p:spPr>
        <p:txBody>
          <a:bodyPr/>
          <a:lstStyle/>
          <a:p>
            <a:endParaRPr lang="fr-FR"/>
          </a:p>
        </p:txBody>
      </p:sp>
      <p:sp>
        <p:nvSpPr>
          <p:cNvPr id="11" name="Text 9"/>
          <p:cNvSpPr/>
          <p:nvPr/>
        </p:nvSpPr>
        <p:spPr>
          <a:xfrm>
            <a:off x="36576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PRIVÉ — Pour compte propre</a:t>
            </a:r>
            <a:endParaRPr lang="en-US" sz="1050" dirty="0"/>
          </a:p>
        </p:txBody>
      </p:sp>
      <p:sp>
        <p:nvSpPr>
          <p:cNvPr id="12" name="Text 10"/>
          <p:cNvSpPr/>
          <p:nvPr/>
        </p:nvSpPr>
        <p:spPr>
          <a:xfrm>
            <a:off x="38404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son propre compte, sans ouvrir le service au public.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Aucune autorisation administrative spécifique n'est requise.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nécessaire.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entreprise avec son propre minibus pour ses salariés.</a:t>
            </a:r>
            <a:endParaRPr lang="en-US" sz="1000" dirty="0"/>
          </a:p>
        </p:txBody>
      </p:sp>
      <p:sp>
        <p:nvSpPr>
          <p:cNvPr id="13" name="Shape 11"/>
          <p:cNvSpPr/>
          <p:nvPr/>
        </p:nvSpPr>
        <p:spPr>
          <a:xfrm>
            <a:off x="470916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4" name="Shape 12"/>
          <p:cNvSpPr/>
          <p:nvPr/>
        </p:nvSpPr>
        <p:spPr>
          <a:xfrm>
            <a:off x="4709160" y="1481328"/>
            <a:ext cx="4160520" cy="301752"/>
          </a:xfrm>
          <a:prstGeom prst="rect">
            <a:avLst/>
          </a:prstGeom>
          <a:solidFill>
            <a:srgbClr val="1A3A5C"/>
          </a:solidFill>
          <a:ln w="12700">
            <a:solidFill>
              <a:srgbClr val="1A3A5C"/>
            </a:solidFill>
            <a:prstDash val="solid"/>
          </a:ln>
        </p:spPr>
        <p:txBody>
          <a:bodyPr/>
          <a:lstStyle/>
          <a:p>
            <a:endParaRPr lang="fr-FR"/>
          </a:p>
        </p:txBody>
      </p:sp>
      <p:sp>
        <p:nvSpPr>
          <p:cNvPr id="15" name="Text 13"/>
          <p:cNvSpPr/>
          <p:nvPr/>
        </p:nvSpPr>
        <p:spPr>
          <a:xfrm>
            <a:off x="480060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PUBLIC — Pour compte d'autrui</a:t>
            </a:r>
            <a:endParaRPr lang="en-US" sz="1050" dirty="0"/>
          </a:p>
        </p:txBody>
      </p:sp>
      <p:sp>
        <p:nvSpPr>
          <p:cNvPr id="16" name="Text 14"/>
          <p:cNvSpPr/>
          <p:nvPr/>
        </p:nvSpPr>
        <p:spPr>
          <a:xfrm>
            <a:off x="481888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un CLIENT, contre rémunération.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 ouvert à quiconque souhaite l'utiliser.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 autorisations administratives sont nécessaires.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école commandant un car, client appelant un taxi.</a:t>
            </a:r>
            <a:endParaRPr lang="en-US" sz="1000" dirty="0"/>
          </a:p>
        </p:txBody>
      </p:sp>
      <p:sp>
        <p:nvSpPr>
          <p:cNvPr id="17" name="Shape 15"/>
          <p:cNvSpPr/>
          <p:nvPr/>
        </p:nvSpPr>
        <p:spPr>
          <a:xfrm>
            <a:off x="274320" y="3172968"/>
            <a:ext cx="8595360" cy="411480"/>
          </a:xfrm>
          <a:prstGeom prst="rect">
            <a:avLst/>
          </a:prstGeom>
          <a:solidFill>
            <a:srgbClr val="EDF7EE"/>
          </a:solidFill>
          <a:ln w="19050">
            <a:solidFill>
              <a:srgbClr val="2E7D32"/>
            </a:solidFill>
            <a:prstDash val="solid"/>
          </a:ln>
        </p:spPr>
        <p:txBody>
          <a:bodyPr/>
          <a:lstStyle/>
          <a:p>
            <a:endParaRPr lang="fr-FR"/>
          </a:p>
        </p:txBody>
      </p:sp>
      <p:sp>
        <p:nvSpPr>
          <p:cNvPr id="18" name="Shape 16"/>
          <p:cNvSpPr/>
          <p:nvPr/>
        </p:nvSpPr>
        <p:spPr>
          <a:xfrm>
            <a:off x="274320" y="3172968"/>
            <a:ext cx="54864" cy="411480"/>
          </a:xfrm>
          <a:prstGeom prst="rect">
            <a:avLst/>
          </a:prstGeom>
          <a:solidFill>
            <a:srgbClr val="2E7D32"/>
          </a:solidFill>
          <a:ln w="12700">
            <a:solidFill>
              <a:srgbClr val="2E7D32"/>
            </a:solidFill>
            <a:prstDash val="solid"/>
          </a:ln>
        </p:spPr>
        <p:txBody>
          <a:bodyPr/>
          <a:lstStyle/>
          <a:p>
            <a:endParaRPr lang="fr-FR"/>
          </a:p>
        </p:txBody>
      </p:sp>
      <p:sp>
        <p:nvSpPr>
          <p:cNvPr id="19" name="Text 17"/>
          <p:cNvSpPr/>
          <p:nvPr/>
        </p:nvSpPr>
        <p:spPr>
          <a:xfrm>
            <a:off x="384048" y="3172968"/>
            <a:ext cx="8467344" cy="41148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clé : TRANSPORT PRIVÉ = pour soi-même, pas de carte pro. TRANSPORT PUBLIC = pour un client, contre paiement = réglementation obligatoire.</a:t>
            </a:r>
            <a:endParaRPr lang="en-US" sz="1000" dirty="0"/>
          </a:p>
        </p:txBody>
      </p:sp>
      <p:sp>
        <p:nvSpPr>
          <p:cNvPr id="20" name="Text 18"/>
          <p:cNvSpPr/>
          <p:nvPr/>
        </p:nvSpPr>
        <p:spPr>
          <a:xfrm>
            <a:off x="274320" y="3648456"/>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2 grandes catégories :</a:t>
            </a:r>
            <a:endParaRPr lang="en-US" sz="1200" dirty="0"/>
          </a:p>
        </p:txBody>
      </p:sp>
      <p:sp>
        <p:nvSpPr>
          <p:cNvPr id="21" name="Shape 19"/>
          <p:cNvSpPr/>
          <p:nvPr/>
        </p:nvSpPr>
        <p:spPr>
          <a:xfrm>
            <a:off x="274320" y="3931920"/>
            <a:ext cx="4160520" cy="658368"/>
          </a:xfrm>
          <a:prstGeom prst="rect">
            <a:avLst/>
          </a:prstGeom>
          <a:solidFill>
            <a:srgbClr val="2860A8"/>
          </a:solidFill>
          <a:ln w="12700">
            <a:solidFill>
              <a:srgbClr val="2860A8"/>
            </a:solidFill>
            <a:prstDash val="solid"/>
          </a:ln>
        </p:spPr>
        <p:txBody>
          <a:bodyPr/>
          <a:lstStyle/>
          <a:p>
            <a:endParaRPr lang="fr-FR"/>
          </a:p>
        </p:txBody>
      </p:sp>
      <p:sp>
        <p:nvSpPr>
          <p:cNvPr id="22" name="Text 20"/>
          <p:cNvSpPr/>
          <p:nvPr/>
        </p:nvSpPr>
        <p:spPr>
          <a:xfrm>
            <a:off x="27432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PUBLIC</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(rémunéré — pour autrui)</a:t>
            </a:r>
            <a:endParaRPr lang="en-US" sz="1200" dirty="0"/>
          </a:p>
        </p:txBody>
      </p:sp>
      <p:sp>
        <p:nvSpPr>
          <p:cNvPr id="23" name="Shape 21"/>
          <p:cNvSpPr/>
          <p:nvPr/>
        </p:nvSpPr>
        <p:spPr>
          <a:xfrm>
            <a:off x="4709160" y="3931920"/>
            <a:ext cx="4160520" cy="658368"/>
          </a:xfrm>
          <a:prstGeom prst="rect">
            <a:avLst/>
          </a:prstGeom>
          <a:solidFill>
            <a:srgbClr val="1A3A5C"/>
          </a:solidFill>
          <a:ln w="12700">
            <a:solidFill>
              <a:srgbClr val="1A3A5C"/>
            </a:solidFill>
            <a:prstDash val="solid"/>
          </a:ln>
        </p:spPr>
        <p:txBody>
          <a:bodyPr/>
          <a:lstStyle/>
          <a:p>
            <a:endParaRPr lang="fr-FR"/>
          </a:p>
        </p:txBody>
      </p:sp>
      <p:sp>
        <p:nvSpPr>
          <p:cNvPr id="24" name="Text 22"/>
          <p:cNvSpPr/>
          <p:nvPr/>
        </p:nvSpPr>
        <p:spPr>
          <a:xfrm>
            <a:off x="470916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PRIVÉ</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(non rémunéré — pour soi)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 transport public — Deux grandes familles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5/88</a:t>
            </a:r>
            <a:endParaRPr lang="en-US" sz="800" dirty="0"/>
          </a:p>
        </p:txBody>
      </p:sp>
      <p:sp>
        <p:nvSpPr>
          <p:cNvPr id="8" name="Text 6"/>
          <p:cNvSpPr/>
          <p:nvPr/>
        </p:nvSpPr>
        <p:spPr>
          <a:xfrm>
            <a:off x="274320" y="914400"/>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transport PUBLIC se divise en deux grandes catégories. La distinction est fondamentale : elle détermine si vous avez besoin d'une carte professionnelle T3P ou non.</a:t>
            </a:r>
            <a:endParaRPr lang="en-US" sz="1200" dirty="0"/>
          </a:p>
        </p:txBody>
      </p:sp>
      <p:sp>
        <p:nvSpPr>
          <p:cNvPr id="9" name="Shape 7"/>
          <p:cNvSpPr/>
          <p:nvPr/>
        </p:nvSpPr>
        <p:spPr>
          <a:xfrm>
            <a:off x="3383280" y="1417320"/>
            <a:ext cx="2377440" cy="384048"/>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383280" y="1417320"/>
            <a:ext cx="237744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TRANSPORT PUBLIC</a:t>
            </a:r>
            <a:endParaRPr lang="en-US" sz="1100" dirty="0"/>
          </a:p>
        </p:txBody>
      </p:sp>
      <p:sp>
        <p:nvSpPr>
          <p:cNvPr id="11" name="Shape 9"/>
          <p:cNvSpPr/>
          <p:nvPr/>
        </p:nvSpPr>
        <p:spPr>
          <a:xfrm>
            <a:off x="4572000" y="1801368"/>
            <a:ext cx="0" cy="256032"/>
          </a:xfrm>
          <a:prstGeom prst="line">
            <a:avLst/>
          </a:prstGeom>
          <a:noFill/>
          <a:ln w="25400">
            <a:solidFill>
              <a:srgbClr val="2860A8"/>
            </a:solidFill>
            <a:prstDash val="solid"/>
          </a:ln>
        </p:spPr>
        <p:txBody>
          <a:bodyPr/>
          <a:lstStyle/>
          <a:p>
            <a:endParaRPr lang="fr-FR"/>
          </a:p>
        </p:txBody>
      </p:sp>
      <p:sp>
        <p:nvSpPr>
          <p:cNvPr id="12" name="Shape 10"/>
          <p:cNvSpPr/>
          <p:nvPr/>
        </p:nvSpPr>
        <p:spPr>
          <a:xfrm>
            <a:off x="2057400" y="2057400"/>
            <a:ext cx="5029200" cy="0"/>
          </a:xfrm>
          <a:prstGeom prst="line">
            <a:avLst/>
          </a:prstGeom>
          <a:noFill/>
          <a:ln w="25400">
            <a:solidFill>
              <a:srgbClr val="2860A8"/>
            </a:solidFill>
            <a:prstDash val="solid"/>
          </a:ln>
        </p:spPr>
        <p:txBody>
          <a:bodyPr/>
          <a:lstStyle/>
          <a:p>
            <a:endParaRPr lang="fr-FR"/>
          </a:p>
        </p:txBody>
      </p:sp>
      <p:sp>
        <p:nvSpPr>
          <p:cNvPr id="13" name="Shape 11"/>
          <p:cNvSpPr/>
          <p:nvPr/>
        </p:nvSpPr>
        <p:spPr>
          <a:xfrm>
            <a:off x="2057400" y="2057400"/>
            <a:ext cx="0" cy="201168"/>
          </a:xfrm>
          <a:prstGeom prst="line">
            <a:avLst/>
          </a:prstGeom>
          <a:noFill/>
          <a:ln w="25400">
            <a:solidFill>
              <a:srgbClr val="2860A8"/>
            </a:solidFill>
            <a:prstDash val="solid"/>
          </a:ln>
        </p:spPr>
        <p:txBody>
          <a:bodyPr/>
          <a:lstStyle/>
          <a:p>
            <a:endParaRPr lang="fr-FR"/>
          </a:p>
        </p:txBody>
      </p:sp>
      <p:sp>
        <p:nvSpPr>
          <p:cNvPr id="14" name="Shape 12"/>
          <p:cNvSpPr/>
          <p:nvPr/>
        </p:nvSpPr>
        <p:spPr>
          <a:xfrm>
            <a:off x="7086600" y="2057400"/>
            <a:ext cx="0" cy="201168"/>
          </a:xfrm>
          <a:prstGeom prst="line">
            <a:avLst/>
          </a:prstGeom>
          <a:noFill/>
          <a:ln w="25400">
            <a:solidFill>
              <a:srgbClr val="2860A8"/>
            </a:solidFill>
            <a:prstDash val="solid"/>
          </a:ln>
        </p:spPr>
        <p:txBody>
          <a:bodyPr/>
          <a:lstStyle/>
          <a:p>
            <a:endParaRPr lang="fr-FR"/>
          </a:p>
        </p:txBody>
      </p:sp>
      <p:sp>
        <p:nvSpPr>
          <p:cNvPr id="15" name="Shape 13"/>
          <p:cNvSpPr/>
          <p:nvPr/>
        </p:nvSpPr>
        <p:spPr>
          <a:xfrm>
            <a:off x="274320" y="2258568"/>
            <a:ext cx="3566160" cy="384048"/>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274320" y="2258568"/>
            <a:ext cx="3566160" cy="38404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TRANSPORT PUBLIC COLLECTIF</a:t>
            </a:r>
            <a:endParaRPr lang="en-US" sz="1050" dirty="0"/>
          </a:p>
        </p:txBody>
      </p:sp>
      <p:sp>
        <p:nvSpPr>
          <p:cNvPr id="17" name="Shape 15"/>
          <p:cNvSpPr/>
          <p:nvPr/>
        </p:nvSpPr>
        <p:spPr>
          <a:xfrm>
            <a:off x="822960" y="2468880"/>
            <a:ext cx="0" cy="274320"/>
          </a:xfrm>
          <a:prstGeom prst="line">
            <a:avLst/>
          </a:prstGeom>
          <a:noFill/>
          <a:ln w="19050">
            <a:solidFill>
              <a:srgbClr val="2860A8"/>
            </a:solidFill>
            <a:prstDash val="solid"/>
          </a:ln>
        </p:spPr>
        <p:txBody>
          <a:bodyPr/>
          <a:lstStyle/>
          <a:p>
            <a:endParaRPr lang="fr-FR"/>
          </a:p>
        </p:txBody>
      </p:sp>
      <p:sp>
        <p:nvSpPr>
          <p:cNvPr id="18" name="Shape 16"/>
          <p:cNvSpPr/>
          <p:nvPr/>
        </p:nvSpPr>
        <p:spPr>
          <a:xfrm>
            <a:off x="274320" y="2743200"/>
            <a:ext cx="1097280" cy="1005840"/>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2743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réguliers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Bus TCL, métro, TER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Horaires et lignes FIXES</a:t>
            </a:r>
            <a:endParaRPr lang="en-US" sz="850" dirty="0"/>
          </a:p>
        </p:txBody>
      </p:sp>
      <p:sp>
        <p:nvSpPr>
          <p:cNvPr id="20" name="Shape 18"/>
          <p:cNvSpPr/>
          <p:nvPr/>
        </p:nvSpPr>
        <p:spPr>
          <a:xfrm>
            <a:off x="1874520" y="2468880"/>
            <a:ext cx="0" cy="274320"/>
          </a:xfrm>
          <a:prstGeom prst="line">
            <a:avLst/>
          </a:prstGeom>
          <a:noFill/>
          <a:ln w="19050">
            <a:solidFill>
              <a:srgbClr val="2E86C1"/>
            </a:solidFill>
            <a:prstDash val="solid"/>
          </a:ln>
        </p:spPr>
        <p:txBody>
          <a:bodyPr/>
          <a:lstStyle/>
          <a:p>
            <a:endParaRPr lang="fr-FR"/>
          </a:p>
        </p:txBody>
      </p:sp>
      <p:sp>
        <p:nvSpPr>
          <p:cNvPr id="21" name="Shape 19"/>
          <p:cNvSpPr/>
          <p:nvPr/>
        </p:nvSpPr>
        <p:spPr>
          <a:xfrm>
            <a:off x="1325880" y="2743200"/>
            <a:ext cx="1097280" cy="1005840"/>
          </a:xfrm>
          <a:prstGeom prst="rect">
            <a:avLst/>
          </a:prstGeom>
          <a:solidFill>
            <a:srgbClr val="2E86C1"/>
          </a:solidFill>
          <a:ln w="12700">
            <a:solidFill>
              <a:srgbClr val="2E86C1"/>
            </a:solidFill>
            <a:prstDash val="solid"/>
          </a:ln>
        </p:spPr>
        <p:txBody>
          <a:bodyPr/>
          <a:lstStyle/>
          <a:p>
            <a:endParaRPr lang="fr-FR"/>
          </a:p>
        </p:txBody>
      </p:sp>
      <p:sp>
        <p:nvSpPr>
          <p:cNvPr id="22" name="Text 20"/>
          <p:cNvSpPr/>
          <p:nvPr/>
        </p:nvSpPr>
        <p:spPr>
          <a:xfrm>
            <a:off x="13258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à la demande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Transport flexible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Selon réservations usagers</a:t>
            </a:r>
            <a:endParaRPr lang="en-US" sz="850" dirty="0"/>
          </a:p>
        </p:txBody>
      </p:sp>
      <p:sp>
        <p:nvSpPr>
          <p:cNvPr id="23" name="Shape 21"/>
          <p:cNvSpPr/>
          <p:nvPr/>
        </p:nvSpPr>
        <p:spPr>
          <a:xfrm>
            <a:off x="2926080" y="2468880"/>
            <a:ext cx="0" cy="274320"/>
          </a:xfrm>
          <a:prstGeom prst="line">
            <a:avLst/>
          </a:prstGeom>
          <a:noFill/>
          <a:ln w="19050">
            <a:solidFill>
              <a:srgbClr val="1A5276"/>
            </a:solidFill>
            <a:prstDash val="solid"/>
          </a:ln>
        </p:spPr>
        <p:txBody>
          <a:bodyPr/>
          <a:lstStyle/>
          <a:p>
            <a:endParaRPr lang="fr-FR"/>
          </a:p>
        </p:txBody>
      </p:sp>
      <p:sp>
        <p:nvSpPr>
          <p:cNvPr id="24" name="Shape 22"/>
          <p:cNvSpPr/>
          <p:nvPr/>
        </p:nvSpPr>
        <p:spPr>
          <a:xfrm>
            <a:off x="237744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25" name="Text 23"/>
          <p:cNvSpPr/>
          <p:nvPr/>
        </p:nvSpPr>
        <p:spPr>
          <a:xfrm>
            <a:off x="237744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occasionnels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Cars tourisme, sorties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Groupes — billet collectif</a:t>
            </a:r>
            <a:endParaRPr lang="en-US" sz="850" dirty="0"/>
          </a:p>
        </p:txBody>
      </p:sp>
      <p:sp>
        <p:nvSpPr>
          <p:cNvPr id="26" name="Shape 24"/>
          <p:cNvSpPr/>
          <p:nvPr/>
        </p:nvSpPr>
        <p:spPr>
          <a:xfrm>
            <a:off x="5303520" y="2258568"/>
            <a:ext cx="3566160" cy="38404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5303520" y="2258568"/>
            <a:ext cx="35661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TRANSPORT PUBLIC PARTICULIER (T3P)</a:t>
            </a:r>
            <a:endParaRPr lang="en-US" sz="1000" dirty="0"/>
          </a:p>
        </p:txBody>
      </p:sp>
      <p:sp>
        <p:nvSpPr>
          <p:cNvPr id="28" name="Shape 26"/>
          <p:cNvSpPr/>
          <p:nvPr/>
        </p:nvSpPr>
        <p:spPr>
          <a:xfrm>
            <a:off x="5852160" y="2468880"/>
            <a:ext cx="0" cy="274320"/>
          </a:xfrm>
          <a:prstGeom prst="line">
            <a:avLst/>
          </a:prstGeom>
          <a:noFill/>
          <a:ln w="19050">
            <a:solidFill>
              <a:srgbClr val="1A3A5C"/>
            </a:solidFill>
            <a:prstDash val="solid"/>
          </a:ln>
        </p:spPr>
        <p:txBody>
          <a:bodyPr/>
          <a:lstStyle/>
          <a:p>
            <a:endParaRPr lang="fr-FR"/>
          </a:p>
        </p:txBody>
      </p:sp>
      <p:sp>
        <p:nvSpPr>
          <p:cNvPr id="29" name="Shape 27"/>
          <p:cNvSpPr/>
          <p:nvPr/>
        </p:nvSpPr>
        <p:spPr>
          <a:xfrm>
            <a:off x="5303520" y="2743200"/>
            <a:ext cx="1097280" cy="1005840"/>
          </a:xfrm>
          <a:prstGeom prst="rect">
            <a:avLst/>
          </a:prstGeom>
          <a:solidFill>
            <a:srgbClr val="1A3A5C"/>
          </a:solidFill>
          <a:ln w="12700">
            <a:solidFill>
              <a:srgbClr val="1A3A5C"/>
            </a:solidFill>
            <a:prstDash val="solid"/>
          </a:ln>
        </p:spPr>
        <p:txBody>
          <a:bodyPr/>
          <a:lstStyle/>
          <a:p>
            <a:endParaRPr lang="fr-FR"/>
          </a:p>
        </p:txBody>
      </p:sp>
      <p:sp>
        <p:nvSpPr>
          <p:cNvPr id="30" name="Text 28"/>
          <p:cNvSpPr/>
          <p:nvPr/>
        </p:nvSpPr>
        <p:spPr>
          <a:xfrm>
            <a:off x="53035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TAXI</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Maraude dans la zone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ADS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réglementé</a:t>
            </a:r>
            <a:endParaRPr lang="en-US" sz="850" dirty="0"/>
          </a:p>
        </p:txBody>
      </p:sp>
      <p:sp>
        <p:nvSpPr>
          <p:cNvPr id="31" name="Shape 29"/>
          <p:cNvSpPr/>
          <p:nvPr/>
        </p:nvSpPr>
        <p:spPr>
          <a:xfrm>
            <a:off x="6949440" y="2468880"/>
            <a:ext cx="0" cy="274320"/>
          </a:xfrm>
          <a:prstGeom prst="line">
            <a:avLst/>
          </a:prstGeom>
          <a:noFill/>
          <a:ln w="19050">
            <a:solidFill>
              <a:srgbClr val="0D5FA8"/>
            </a:solidFill>
            <a:prstDash val="solid"/>
          </a:ln>
        </p:spPr>
        <p:txBody>
          <a:bodyPr/>
          <a:lstStyle/>
          <a:p>
            <a:endParaRPr lang="fr-FR"/>
          </a:p>
        </p:txBody>
      </p:sp>
      <p:sp>
        <p:nvSpPr>
          <p:cNvPr id="32" name="Shape 30"/>
          <p:cNvSpPr/>
          <p:nvPr/>
        </p:nvSpPr>
        <p:spPr>
          <a:xfrm>
            <a:off x="6400800" y="2743200"/>
            <a:ext cx="1097280" cy="1005840"/>
          </a:xfrm>
          <a:prstGeom prst="rect">
            <a:avLst/>
          </a:prstGeom>
          <a:solidFill>
            <a:srgbClr val="0D5FA8"/>
          </a:solidFill>
          <a:ln w="12700">
            <a:solidFill>
              <a:srgbClr val="0D5FA8"/>
            </a:solidFill>
            <a:prstDash val="solid"/>
          </a:ln>
        </p:spPr>
        <p:txBody>
          <a:bodyPr/>
          <a:lstStyle/>
          <a:p>
            <a:endParaRPr lang="fr-FR"/>
          </a:p>
        </p:txBody>
      </p:sp>
      <p:sp>
        <p:nvSpPr>
          <p:cNvPr id="33" name="Text 31"/>
          <p:cNvSpPr/>
          <p:nvPr/>
        </p:nvSpPr>
        <p:spPr>
          <a:xfrm>
            <a:off x="640080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VTC</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Registre national</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libre</a:t>
            </a:r>
            <a:endParaRPr lang="en-US" sz="850" dirty="0"/>
          </a:p>
        </p:txBody>
      </p:sp>
      <p:sp>
        <p:nvSpPr>
          <p:cNvPr id="34" name="Shape 32"/>
          <p:cNvSpPr/>
          <p:nvPr/>
        </p:nvSpPr>
        <p:spPr>
          <a:xfrm>
            <a:off x="8046720" y="2468880"/>
            <a:ext cx="0" cy="274320"/>
          </a:xfrm>
          <a:prstGeom prst="line">
            <a:avLst/>
          </a:prstGeom>
          <a:noFill/>
          <a:ln w="19050">
            <a:solidFill>
              <a:srgbClr val="1A5276"/>
            </a:solidFill>
            <a:prstDash val="solid"/>
          </a:ln>
        </p:spPr>
        <p:txBody>
          <a:bodyPr/>
          <a:lstStyle/>
          <a:p>
            <a:endParaRPr lang="fr-FR"/>
          </a:p>
        </p:txBody>
      </p:sp>
      <p:sp>
        <p:nvSpPr>
          <p:cNvPr id="35" name="Shape 33"/>
          <p:cNvSpPr/>
          <p:nvPr/>
        </p:nvSpPr>
        <p:spPr>
          <a:xfrm>
            <a:off x="749808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36" name="Text 34"/>
          <p:cNvSpPr/>
          <p:nvPr/>
        </p:nvSpPr>
        <p:spPr>
          <a:xfrm>
            <a:off x="74980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VMDTR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Moto/3-roues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Max 1 passager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p:txBody>
      </p:sp>
      <p:sp>
        <p:nvSpPr>
          <p:cNvPr id="37" name="Shape 35"/>
          <p:cNvSpPr/>
          <p:nvPr/>
        </p:nvSpPr>
        <p:spPr>
          <a:xfrm>
            <a:off x="274320" y="3858768"/>
            <a:ext cx="8595360" cy="384048"/>
          </a:xfrm>
          <a:prstGeom prst="rect">
            <a:avLst/>
          </a:prstGeom>
          <a:solidFill>
            <a:srgbClr val="EDF7EE"/>
          </a:solidFill>
          <a:ln w="19050">
            <a:solidFill>
              <a:srgbClr val="2E7D32"/>
            </a:solidFill>
            <a:prstDash val="solid"/>
          </a:ln>
        </p:spPr>
        <p:txBody>
          <a:bodyPr/>
          <a:lstStyle/>
          <a:p>
            <a:endParaRPr lang="fr-FR"/>
          </a:p>
        </p:txBody>
      </p:sp>
      <p:sp>
        <p:nvSpPr>
          <p:cNvPr id="38" name="Shape 36"/>
          <p:cNvSpPr/>
          <p:nvPr/>
        </p:nvSpPr>
        <p:spPr>
          <a:xfrm>
            <a:off x="274320" y="3858768"/>
            <a:ext cx="54864" cy="384048"/>
          </a:xfrm>
          <a:prstGeom prst="rect">
            <a:avLst/>
          </a:prstGeom>
          <a:solidFill>
            <a:srgbClr val="2E7D32"/>
          </a:solidFill>
          <a:ln w="12700">
            <a:solidFill>
              <a:srgbClr val="2E7D32"/>
            </a:solidFill>
            <a:prstDash val="solid"/>
          </a:ln>
        </p:spPr>
        <p:txBody>
          <a:bodyPr/>
          <a:lstStyle/>
          <a:p>
            <a:endParaRPr lang="fr-FR"/>
          </a:p>
        </p:txBody>
      </p:sp>
      <p:sp>
        <p:nvSpPr>
          <p:cNvPr id="39" name="Text 37"/>
          <p:cNvSpPr/>
          <p:nvPr/>
        </p:nvSpPr>
        <p:spPr>
          <a:xfrm>
            <a:off x="384048" y="3858768"/>
            <a:ext cx="8467344" cy="38404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À retenir : Seul le transport PUBLIC PARTICULIER (T3P) nécessite une carte professionnelle. Taxi, VTC et VMDTR sont les 3 professions T3P.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2.1 — Les services réguliers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Dessertes urbaines et interurbaines à horaires et trajets fixes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6/88</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réguliers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L3111-1 Code des transports — Loi 2015-990 du 6 août 2015</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réguliers sont la forme la plus connue du transport collectif. Ce sont les lignes de bus, de métro, de tramway que vous empruntez au quotidien. Leur organisation est précisément définie par le Code des transports.</a:t>
            </a:r>
            <a:endParaRPr lang="en-US" sz="1200" dirty="0"/>
          </a:p>
        </p:txBody>
      </p:sp>
      <p:sp>
        <p:nvSpPr>
          <p:cNvPr id="10" name="Shape 8"/>
          <p:cNvSpPr/>
          <p:nvPr/>
        </p:nvSpPr>
        <p:spPr>
          <a:xfrm>
            <a:off x="274320" y="1627632"/>
            <a:ext cx="8595360" cy="148132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 Ce que dit le Code des transports</a:t>
            </a:r>
            <a:endParaRPr lang="en-US" sz="1050" dirty="0"/>
          </a:p>
        </p:txBody>
      </p:sp>
      <p:sp>
        <p:nvSpPr>
          <p:cNvPr id="13" name="Text 11"/>
          <p:cNvSpPr/>
          <p:nvPr/>
        </p:nvSpPr>
        <p:spPr>
          <a:xfrm>
            <a:off x="384048" y="1975104"/>
            <a:ext cx="8412480" cy="108813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Services collectifs offerts à la place, dont les ITINÉRAIRES, POINTS D'ARRÊT, HORAIRES, FRÉQUENCES et TARIFS sont fixés et publiés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Ils peuvent être URBAINS (en ville) ou EXTRA-URBAINS (entre villes). Les transports scolaires sont aussi des services réguliers.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Organisés par des collectivités locales (mairie, métropole, conseil général) en tant qu'Autorité Organisatrice de Mobilité (AOM).</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la loi 2015-990 du 6 août 2015 : liaisons interurbaines &gt; 100 km peuvent aussi être organisées sur INITIATIVE PRIVÉE (Flixbus, BlaBlaBus).</a:t>
            </a:r>
            <a:endParaRPr lang="en-US" sz="1000" dirty="0"/>
          </a:p>
        </p:txBody>
      </p:sp>
      <p:sp>
        <p:nvSpPr>
          <p:cNvPr id="14" name="Shape 12"/>
          <p:cNvSpPr/>
          <p:nvPr/>
        </p:nvSpPr>
        <p:spPr>
          <a:xfrm>
            <a:off x="27432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12724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TCL Lyon : lignes de métro, tramway et bus avec horaires affichés.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RATP Paris : RER, métro, bus franciliens.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TER SNCF : trains régionaux entre villes.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Cars scolaires : ramassage à heure et itinéraire fixes.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Flixbus / BlaBlaBus : liaisons longue distance &gt; 100 km sur initiative privée.</a:t>
            </a:r>
            <a:endParaRPr lang="en-US" sz="1000" dirty="0"/>
          </a:p>
        </p:txBody>
      </p:sp>
      <p:sp>
        <p:nvSpPr>
          <p:cNvPr id="18" name="Shape 16"/>
          <p:cNvSpPr/>
          <p:nvPr/>
        </p:nvSpPr>
        <p:spPr>
          <a:xfrm>
            <a:off x="470916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12724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CARACTÉRISE UN SERVICE RÉGULIER</a:t>
            </a:r>
            <a:endParaRPr lang="en-US" sz="1050" dirty="0"/>
          </a:p>
        </p:txBody>
      </p:sp>
      <p:sp>
        <p:nvSpPr>
          <p:cNvPr id="21" name="Text 19"/>
          <p:cNvSpPr/>
          <p:nvPr/>
        </p:nvSpPr>
        <p:spPr>
          <a:xfrm>
            <a:off x="481888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Itinéraire FIXE — ne change pas selon les passagers.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Horaires PUBLICS — connus à l'avance par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UNIQUE et identique pour tous les usagers.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Ouvert à TOUS sans réservation obligatoire.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ou un opérateur délégué.</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services réguliers — Schéma de fonctionnement</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8/88</a:t>
            </a:r>
            <a:endParaRPr lang="en-US" sz="800" dirty="0"/>
          </a:p>
        </p:txBody>
      </p:sp>
      <p:sp>
        <p:nvSpPr>
          <p:cNvPr id="8" name="Text 6"/>
          <p:cNvSpPr/>
          <p:nvPr/>
        </p:nvSpPr>
        <p:spPr>
          <a:xfrm>
            <a:off x="274320" y="896112"/>
            <a:ext cx="8595360" cy="32004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fonctionne un service régulier de transport collectif ?</a:t>
            </a:r>
            <a:endParaRPr lang="en-US" sz="1200" dirty="0"/>
          </a:p>
        </p:txBody>
      </p:sp>
      <p:sp>
        <p:nvSpPr>
          <p:cNvPr id="9" name="Shape 7"/>
          <p:cNvSpPr/>
          <p:nvPr/>
        </p:nvSpPr>
        <p:spPr>
          <a:xfrm>
            <a:off x="320040" y="1298448"/>
            <a:ext cx="1965960" cy="1115568"/>
          </a:xfrm>
          <a:prstGeom prst="rect">
            <a:avLst/>
          </a:prstGeom>
          <a:solidFill>
            <a:srgbClr val="2E4B8A"/>
          </a:solidFill>
          <a:ln w="12700">
            <a:solidFill>
              <a:srgbClr val="2E4B8A"/>
            </a:solidFill>
            <a:prstDash val="solid"/>
          </a:ln>
        </p:spPr>
        <p:txBody>
          <a:bodyPr/>
          <a:lstStyle/>
          <a:p>
            <a:endParaRPr lang="fr-FR"/>
          </a:p>
        </p:txBody>
      </p:sp>
      <p:sp>
        <p:nvSpPr>
          <p:cNvPr id="10" name="Text 8"/>
          <p:cNvSpPr/>
          <p:nvPr/>
        </p:nvSpPr>
        <p:spPr>
          <a:xfrm>
            <a:off x="320040"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AUTORITÉ</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ORGANISATRICE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(AOM)</a:t>
            </a:r>
            <a:endParaRPr lang="en-US" sz="1000" dirty="0"/>
          </a:p>
        </p:txBody>
      </p:sp>
      <p:sp>
        <p:nvSpPr>
          <p:cNvPr id="11" name="Text 9"/>
          <p:cNvSpPr/>
          <p:nvPr/>
        </p:nvSpPr>
        <p:spPr>
          <a:xfrm>
            <a:off x="320040"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Mairie, Métropole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Conseil Général</a:t>
            </a:r>
            <a:endParaRPr lang="en-US" sz="900" dirty="0"/>
          </a:p>
        </p:txBody>
      </p:sp>
      <p:sp>
        <p:nvSpPr>
          <p:cNvPr id="12" name="Text 10"/>
          <p:cNvSpPr/>
          <p:nvPr/>
        </p:nvSpPr>
        <p:spPr>
          <a:xfrm>
            <a:off x="2286000"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2532888" y="1298448"/>
            <a:ext cx="1965960" cy="1115568"/>
          </a:xfrm>
          <a:prstGeom prst="rect">
            <a:avLst/>
          </a:prstGeom>
          <a:solidFill>
            <a:srgbClr val="2860A8"/>
          </a:solidFill>
          <a:ln w="12700">
            <a:solidFill>
              <a:srgbClr val="2860A8"/>
            </a:solidFill>
            <a:prstDash val="solid"/>
          </a:ln>
        </p:spPr>
        <p:txBody>
          <a:bodyPr/>
          <a:lstStyle/>
          <a:p>
            <a:endParaRPr lang="fr-FR"/>
          </a:p>
        </p:txBody>
      </p:sp>
      <p:sp>
        <p:nvSpPr>
          <p:cNvPr id="14" name="Text 12"/>
          <p:cNvSpPr/>
          <p:nvPr/>
        </p:nvSpPr>
        <p:spPr>
          <a:xfrm>
            <a:off x="2532888"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OPÉRATEUR</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DE TRANSPORT</a:t>
            </a:r>
            <a:endParaRPr lang="en-US" sz="1000" dirty="0"/>
          </a:p>
        </p:txBody>
      </p:sp>
      <p:sp>
        <p:nvSpPr>
          <p:cNvPr id="15" name="Text 13"/>
          <p:cNvSpPr/>
          <p:nvPr/>
        </p:nvSpPr>
        <p:spPr>
          <a:xfrm>
            <a:off x="2532888"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Entreprise publique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ou privée déléguée</a:t>
            </a:r>
            <a:endParaRPr lang="en-US" sz="900" dirty="0"/>
          </a:p>
        </p:txBody>
      </p:sp>
      <p:sp>
        <p:nvSpPr>
          <p:cNvPr id="16" name="Text 14"/>
          <p:cNvSpPr/>
          <p:nvPr/>
        </p:nvSpPr>
        <p:spPr>
          <a:xfrm>
            <a:off x="4498848"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4745736" y="1298448"/>
            <a:ext cx="1965960" cy="1115568"/>
          </a:xfrm>
          <a:prstGeom prst="rect">
            <a:avLst/>
          </a:prstGeom>
          <a:solidFill>
            <a:srgbClr val="00897B"/>
          </a:solidFill>
          <a:ln w="12700">
            <a:solidFill>
              <a:srgbClr val="00897B"/>
            </a:solidFill>
            <a:prstDash val="solid"/>
          </a:ln>
        </p:spPr>
        <p:txBody>
          <a:bodyPr/>
          <a:lstStyle/>
          <a:p>
            <a:endParaRPr lang="fr-FR"/>
          </a:p>
        </p:txBody>
      </p:sp>
      <p:sp>
        <p:nvSpPr>
          <p:cNvPr id="18" name="Text 16"/>
          <p:cNvSpPr/>
          <p:nvPr/>
        </p:nvSpPr>
        <p:spPr>
          <a:xfrm>
            <a:off x="4745736"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LIGNE FIXE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Horaires publiés</a:t>
            </a:r>
            <a:endParaRPr lang="en-US" sz="1000" dirty="0"/>
          </a:p>
        </p:txBody>
      </p:sp>
      <p:sp>
        <p:nvSpPr>
          <p:cNvPr id="19" name="Text 17"/>
          <p:cNvSpPr/>
          <p:nvPr/>
        </p:nvSpPr>
        <p:spPr>
          <a:xfrm>
            <a:off x="4745736"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Arrêts définis</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Tarif affiché</a:t>
            </a:r>
            <a:endParaRPr lang="en-US" sz="900" dirty="0"/>
          </a:p>
        </p:txBody>
      </p:sp>
      <p:sp>
        <p:nvSpPr>
          <p:cNvPr id="20" name="Text 18"/>
          <p:cNvSpPr/>
          <p:nvPr/>
        </p:nvSpPr>
        <p:spPr>
          <a:xfrm>
            <a:off x="6711696"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21" name="Shape 19"/>
          <p:cNvSpPr/>
          <p:nvPr/>
        </p:nvSpPr>
        <p:spPr>
          <a:xfrm>
            <a:off x="6958584" y="1298448"/>
            <a:ext cx="1965960" cy="1115568"/>
          </a:xfrm>
          <a:prstGeom prst="rect">
            <a:avLst/>
          </a:prstGeom>
          <a:solidFill>
            <a:srgbClr val="1A3A5C"/>
          </a:solidFill>
          <a:ln w="12700">
            <a:solidFill>
              <a:srgbClr val="1A3A5C"/>
            </a:solidFill>
            <a:prstDash val="solid"/>
          </a:ln>
        </p:spPr>
        <p:txBody>
          <a:bodyPr/>
          <a:lstStyle/>
          <a:p>
            <a:endParaRPr lang="fr-FR"/>
          </a:p>
        </p:txBody>
      </p:sp>
      <p:sp>
        <p:nvSpPr>
          <p:cNvPr id="22" name="Text 20"/>
          <p:cNvSpPr/>
          <p:nvPr/>
        </p:nvSpPr>
        <p:spPr>
          <a:xfrm>
            <a:off x="6958584"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USAGERS</a:t>
            </a:r>
            <a:endParaRPr lang="en-US" sz="1000" dirty="0"/>
          </a:p>
        </p:txBody>
      </p:sp>
      <p:sp>
        <p:nvSpPr>
          <p:cNvPr id="23" name="Text 21"/>
          <p:cNvSpPr/>
          <p:nvPr/>
        </p:nvSpPr>
        <p:spPr>
          <a:xfrm>
            <a:off x="6958584"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Paiement titre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de transport</a:t>
            </a:r>
            <a:endParaRPr lang="en-US" sz="900" dirty="0"/>
          </a:p>
        </p:txBody>
      </p:sp>
      <p:sp>
        <p:nvSpPr>
          <p:cNvPr id="24" name="Text 22"/>
          <p:cNvSpPr/>
          <p:nvPr/>
        </p:nvSpPr>
        <p:spPr>
          <a:xfrm>
            <a:off x="274320" y="2542032"/>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Exemples de services réguliers en France :</a:t>
            </a:r>
            <a:endParaRPr lang="en-US" sz="1200" dirty="0"/>
          </a:p>
        </p:txBody>
      </p:sp>
      <p:sp>
        <p:nvSpPr>
          <p:cNvPr id="25" name="Shape 23"/>
          <p:cNvSpPr/>
          <p:nvPr/>
        </p:nvSpPr>
        <p:spPr>
          <a:xfrm>
            <a:off x="27432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27432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27" name="Text 25"/>
          <p:cNvSpPr/>
          <p:nvPr/>
        </p:nvSpPr>
        <p:spPr>
          <a:xfrm>
            <a:off x="32004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Bus / Métro</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Tramway</a:t>
            </a:r>
            <a:endParaRPr lang="en-US" sz="900" dirty="0"/>
          </a:p>
        </p:txBody>
      </p:sp>
      <p:sp>
        <p:nvSpPr>
          <p:cNvPr id="28" name="Text 26"/>
          <p:cNvSpPr/>
          <p:nvPr/>
        </p:nvSpPr>
        <p:spPr>
          <a:xfrm>
            <a:off x="32004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TCL, RATP</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RTM Marseille</a:t>
            </a:r>
            <a:endParaRPr lang="en-US" sz="850" dirty="0"/>
          </a:p>
        </p:txBody>
      </p:sp>
      <p:sp>
        <p:nvSpPr>
          <p:cNvPr id="29" name="Text 27"/>
          <p:cNvSpPr/>
          <p:nvPr/>
        </p:nvSpPr>
        <p:spPr>
          <a:xfrm>
            <a:off x="32004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Ligne A</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Lyon</a:t>
            </a:r>
            <a:endParaRPr lang="en-US" sz="800" dirty="0"/>
          </a:p>
        </p:txBody>
      </p:sp>
      <p:sp>
        <p:nvSpPr>
          <p:cNvPr id="30" name="Shape 28"/>
          <p:cNvSpPr/>
          <p:nvPr/>
        </p:nvSpPr>
        <p:spPr>
          <a:xfrm>
            <a:off x="2011680" y="2907792"/>
            <a:ext cx="1645920" cy="1188720"/>
          </a:xfrm>
          <a:prstGeom prst="rect">
            <a:avLst/>
          </a:prstGeom>
          <a:solidFill>
            <a:srgbClr val="FFFFFF"/>
          </a:solidFill>
          <a:ln w="6350">
            <a:solidFill>
              <a:srgbClr val="D0DCE8"/>
            </a:solidFill>
            <a:prstDash val="solid"/>
          </a:ln>
        </p:spPr>
        <p:txBody>
          <a:bodyPr/>
          <a:lstStyle/>
          <a:p>
            <a:endParaRPr lang="fr-FR"/>
          </a:p>
        </p:txBody>
      </p:sp>
      <p:sp>
        <p:nvSpPr>
          <p:cNvPr id="31" name="Shape 29"/>
          <p:cNvSpPr/>
          <p:nvPr/>
        </p:nvSpPr>
        <p:spPr>
          <a:xfrm>
            <a:off x="201168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32" name="Text 30"/>
          <p:cNvSpPr/>
          <p:nvPr/>
        </p:nvSpPr>
        <p:spPr>
          <a:xfrm>
            <a:off x="205740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TER / TGV</a:t>
            </a:r>
            <a:endParaRPr lang="en-US" sz="900" dirty="0"/>
          </a:p>
        </p:txBody>
      </p:sp>
      <p:sp>
        <p:nvSpPr>
          <p:cNvPr id="33" name="Text 31"/>
          <p:cNvSpPr/>
          <p:nvPr/>
        </p:nvSpPr>
        <p:spPr>
          <a:xfrm>
            <a:off x="205740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SNCF régional</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et national</a:t>
            </a:r>
            <a:endParaRPr lang="en-US" sz="850" dirty="0"/>
          </a:p>
        </p:txBody>
      </p:sp>
      <p:sp>
        <p:nvSpPr>
          <p:cNvPr id="34" name="Text 32"/>
          <p:cNvSpPr/>
          <p:nvPr/>
        </p:nvSpPr>
        <p:spPr>
          <a:xfrm>
            <a:off x="205740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Lyon-Paris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ly-gre</a:t>
            </a:r>
            <a:endParaRPr lang="en-US" sz="800" dirty="0"/>
          </a:p>
        </p:txBody>
      </p:sp>
      <p:sp>
        <p:nvSpPr>
          <p:cNvPr id="35" name="Shape 33"/>
          <p:cNvSpPr/>
          <p:nvPr/>
        </p:nvSpPr>
        <p:spPr>
          <a:xfrm>
            <a:off x="374904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36" name="Shape 34"/>
          <p:cNvSpPr/>
          <p:nvPr/>
        </p:nvSpPr>
        <p:spPr>
          <a:xfrm>
            <a:off x="374904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379476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Cars</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Départementaux</a:t>
            </a:r>
            <a:endParaRPr lang="en-US" sz="900" dirty="0"/>
          </a:p>
        </p:txBody>
      </p:sp>
      <p:sp>
        <p:nvSpPr>
          <p:cNvPr id="38" name="Text 36"/>
          <p:cNvSpPr/>
          <p:nvPr/>
        </p:nvSpPr>
        <p:spPr>
          <a:xfrm>
            <a:off x="379476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Conseil général</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délégation</a:t>
            </a:r>
            <a:endParaRPr lang="en-US" sz="850" dirty="0"/>
          </a:p>
        </p:txBody>
      </p:sp>
      <p:sp>
        <p:nvSpPr>
          <p:cNvPr id="39" name="Text 37"/>
          <p:cNvSpPr/>
          <p:nvPr/>
        </p:nvSpPr>
        <p:spPr>
          <a:xfrm>
            <a:off x="379476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Isère</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Mobilités</a:t>
            </a:r>
            <a:endParaRPr lang="en-US" sz="800" dirty="0"/>
          </a:p>
        </p:txBody>
      </p:sp>
      <p:sp>
        <p:nvSpPr>
          <p:cNvPr id="40" name="Shape 38"/>
          <p:cNvSpPr/>
          <p:nvPr/>
        </p:nvSpPr>
        <p:spPr>
          <a:xfrm>
            <a:off x="5486400" y="2907792"/>
            <a:ext cx="1645920" cy="1188720"/>
          </a:xfrm>
          <a:prstGeom prst="rect">
            <a:avLst/>
          </a:prstGeom>
          <a:solidFill>
            <a:srgbClr val="FFFFFF"/>
          </a:solidFill>
          <a:ln w="6350">
            <a:solidFill>
              <a:srgbClr val="D0DCE8"/>
            </a:solidFill>
            <a:prstDash val="solid"/>
          </a:ln>
        </p:spPr>
        <p:txBody>
          <a:bodyPr/>
          <a:lstStyle/>
          <a:p>
            <a:endParaRPr lang="fr-FR"/>
          </a:p>
        </p:txBody>
      </p:sp>
      <p:sp>
        <p:nvSpPr>
          <p:cNvPr id="41" name="Shape 39"/>
          <p:cNvSpPr/>
          <p:nvPr/>
        </p:nvSpPr>
        <p:spPr>
          <a:xfrm>
            <a:off x="548640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42" name="Text 40"/>
          <p:cNvSpPr/>
          <p:nvPr/>
        </p:nvSpPr>
        <p:spPr>
          <a:xfrm>
            <a:off x="553212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Transport</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Scolaire</a:t>
            </a:r>
            <a:endParaRPr lang="en-US" sz="900" dirty="0"/>
          </a:p>
        </p:txBody>
      </p:sp>
      <p:sp>
        <p:nvSpPr>
          <p:cNvPr id="43" name="Text 41"/>
          <p:cNvSpPr/>
          <p:nvPr/>
        </p:nvSpPr>
        <p:spPr>
          <a:xfrm>
            <a:off x="553212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Inclus dans</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les services réguliers</a:t>
            </a:r>
            <a:endParaRPr lang="en-US" sz="850" dirty="0"/>
          </a:p>
        </p:txBody>
      </p:sp>
      <p:sp>
        <p:nvSpPr>
          <p:cNvPr id="44" name="Text 42"/>
          <p:cNvSpPr/>
          <p:nvPr/>
        </p:nvSpPr>
        <p:spPr>
          <a:xfrm>
            <a:off x="553212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Horaires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scolaires</a:t>
            </a:r>
            <a:endParaRPr lang="en-US" sz="800" dirty="0"/>
          </a:p>
        </p:txBody>
      </p:sp>
      <p:sp>
        <p:nvSpPr>
          <p:cNvPr id="45" name="Shape 43"/>
          <p:cNvSpPr/>
          <p:nvPr/>
        </p:nvSpPr>
        <p:spPr>
          <a:xfrm>
            <a:off x="722376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46" name="Shape 44"/>
          <p:cNvSpPr/>
          <p:nvPr/>
        </p:nvSpPr>
        <p:spPr>
          <a:xfrm>
            <a:off x="722376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47" name="Text 45"/>
          <p:cNvSpPr/>
          <p:nvPr/>
        </p:nvSpPr>
        <p:spPr>
          <a:xfrm>
            <a:off x="726948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Flixbus</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BlaBlaBus</a:t>
            </a:r>
            <a:endParaRPr lang="en-US" sz="900" dirty="0"/>
          </a:p>
        </p:txBody>
      </p:sp>
      <p:sp>
        <p:nvSpPr>
          <p:cNvPr id="48" name="Text 46"/>
          <p:cNvSpPr/>
          <p:nvPr/>
        </p:nvSpPr>
        <p:spPr>
          <a:xfrm>
            <a:off x="726948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&gt; 100 km</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initiative privée</a:t>
            </a:r>
            <a:endParaRPr lang="en-US" sz="850" dirty="0"/>
          </a:p>
        </p:txBody>
      </p:sp>
      <p:sp>
        <p:nvSpPr>
          <p:cNvPr id="49" name="Text 47"/>
          <p:cNvSpPr/>
          <p:nvPr/>
        </p:nvSpPr>
        <p:spPr>
          <a:xfrm>
            <a:off x="726948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Lyon-Paris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30€</a:t>
            </a:r>
            <a:endParaRPr lang="en-US" sz="800" dirty="0"/>
          </a:p>
        </p:txBody>
      </p:sp>
      <p:sp>
        <p:nvSpPr>
          <p:cNvPr id="50" name="Shape 48"/>
          <p:cNvSpPr/>
          <p:nvPr/>
        </p:nvSpPr>
        <p:spPr>
          <a:xfrm>
            <a:off x="274320" y="4187952"/>
            <a:ext cx="8595360" cy="347472"/>
          </a:xfrm>
          <a:prstGeom prst="rect">
            <a:avLst/>
          </a:prstGeom>
          <a:solidFill>
            <a:srgbClr val="EDF7EE"/>
          </a:solidFill>
          <a:ln w="19050">
            <a:solidFill>
              <a:srgbClr val="2E7D32"/>
            </a:solidFill>
            <a:prstDash val="solid"/>
          </a:ln>
        </p:spPr>
        <p:txBody>
          <a:bodyPr/>
          <a:lstStyle/>
          <a:p>
            <a:endParaRPr lang="fr-FR"/>
          </a:p>
        </p:txBody>
      </p:sp>
      <p:sp>
        <p:nvSpPr>
          <p:cNvPr id="51" name="Shape 49"/>
          <p:cNvSpPr/>
          <p:nvPr/>
        </p:nvSpPr>
        <p:spPr>
          <a:xfrm>
            <a:off x="274320" y="4187952"/>
            <a:ext cx="54864" cy="347472"/>
          </a:xfrm>
          <a:prstGeom prst="rect">
            <a:avLst/>
          </a:prstGeom>
          <a:solidFill>
            <a:srgbClr val="2E7D32"/>
          </a:solidFill>
          <a:ln w="12700">
            <a:solidFill>
              <a:srgbClr val="2E7D32"/>
            </a:solidFill>
            <a:prstDash val="solid"/>
          </a:ln>
        </p:spPr>
        <p:txBody>
          <a:bodyPr/>
          <a:lstStyle/>
          <a:p>
            <a:endParaRPr lang="fr-FR"/>
          </a:p>
        </p:txBody>
      </p:sp>
      <p:sp>
        <p:nvSpPr>
          <p:cNvPr id="52" name="Text 50"/>
          <p:cNvSpPr/>
          <p:nvPr/>
        </p:nvSpPr>
        <p:spPr>
          <a:xfrm>
            <a:off x="384048" y="4187952"/>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Les conducteurs de services réguliers (bus, tramway, TER) n'ont PAS besoin d'une carte professionnelle T3P. Ce sont des services collectifs, pas des services particuliers.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2.2 — Les services à la demande (TAD)</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flexible entre le collectif et le particulier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9/88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à la demande (TAD)</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Forme intermédiaire entre service régulier et taxi — Art. L3111-1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10/88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à la demande (TAD) sont une forme hybride de transport collectif. Contrairement aux lignes régulières, ils n'ont pas d'itinéraire fixe, mais ils restent organisés collectivement et réglementés par une autorité publique.</a:t>
            </a:r>
            <a:endParaRPr lang="en-US" sz="1200" dirty="0"/>
          </a:p>
        </p:txBody>
      </p:sp>
      <p:sp>
        <p:nvSpPr>
          <p:cNvPr id="10" name="Shape 8"/>
          <p:cNvSpPr/>
          <p:nvPr/>
        </p:nvSpPr>
        <p:spPr>
          <a:xfrm>
            <a:off x="274320" y="1627632"/>
            <a:ext cx="8595360" cy="13258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a:t>
            </a:r>
            <a:endParaRPr lang="en-US" sz="1050" dirty="0"/>
          </a:p>
        </p:txBody>
      </p:sp>
      <p:sp>
        <p:nvSpPr>
          <p:cNvPr id="13" name="Text 11"/>
          <p:cNvSpPr/>
          <p:nvPr/>
        </p:nvSpPr>
        <p:spPr>
          <a:xfrm>
            <a:off x="384048" y="1975104"/>
            <a:ext cx="8412480" cy="93268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 sont des services collectifs offerts à la place, DÉTERMINÉS EN PARTIE en fonction de la demande des usagers.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règles de tarification sont établies à l'avance — les véhicules ont une capacité MINIMALE de 4 places (conducteur inclus).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Ils se distinguent des services réguliers car les véhicules n'empruntent PAS d'itinéraire fixe et ne respectent pas d'horaire précis.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TAD sont organisés par des professionnels du transport sous l'autorité d'une collectivité — ils ne sont PAS des taxis ni des VTC.</a:t>
            </a:r>
            <a:endParaRPr lang="en-US" sz="1000" dirty="0"/>
          </a:p>
        </p:txBody>
      </p:sp>
      <p:sp>
        <p:nvSpPr>
          <p:cNvPr id="14" name="Shape 12"/>
          <p:cNvSpPr/>
          <p:nvPr/>
        </p:nvSpPr>
        <p:spPr>
          <a:xfrm>
            <a:off x="27432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03580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Commune rurale : navette hebdomadaire vers le marché local, à heure connue.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 nocturne à la demande : bus passe seulement si des usagers ont réservé la veille.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médical flexible : itinéraire adapté selon les rendez-vous des patients.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Desserte d'un hameau isolé : service actif seulement sur réservation.</a:t>
            </a:r>
            <a:endParaRPr lang="en-US" sz="1000" dirty="0"/>
          </a:p>
        </p:txBody>
      </p:sp>
      <p:sp>
        <p:nvSpPr>
          <p:cNvPr id="18" name="Shape 16"/>
          <p:cNvSpPr/>
          <p:nvPr/>
        </p:nvSpPr>
        <p:spPr>
          <a:xfrm>
            <a:off x="470916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03580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DIFFÉRENCES AVEC UN TAXI</a:t>
            </a:r>
            <a:endParaRPr lang="en-US" sz="1050" dirty="0"/>
          </a:p>
        </p:txBody>
      </p:sp>
      <p:sp>
        <p:nvSpPr>
          <p:cNvPr id="21" name="Text 19"/>
          <p:cNvSpPr/>
          <p:nvPr/>
        </p:nvSpPr>
        <p:spPr>
          <a:xfrm>
            <a:off x="481888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COLLECTIF : plusieurs passagers dans le même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RÉGLEMENTÉ : identique pour tous, fixé par la collectivité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pas par un conducteur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requise pour les conducteurs TAD.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services à la demande — Schéma comparatif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11/88</a:t>
            </a:r>
            <a:endParaRPr lang="en-US" sz="800" dirty="0"/>
          </a:p>
        </p:txBody>
      </p:sp>
      <p:sp>
        <p:nvSpPr>
          <p:cNvPr id="8" name="Text 6"/>
          <p:cNvSpPr/>
          <p:nvPr/>
        </p:nvSpPr>
        <p:spPr>
          <a:xfrm>
            <a:off x="274320" y="896112"/>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Position du TAD entre le service régulier et le taxi :</a:t>
            </a:r>
            <a:endParaRPr lang="en-US" sz="1200" dirty="0"/>
          </a:p>
        </p:txBody>
      </p:sp>
      <p:sp>
        <p:nvSpPr>
          <p:cNvPr id="9" name="Shape 7"/>
          <p:cNvSpPr/>
          <p:nvPr/>
        </p:nvSpPr>
        <p:spPr>
          <a:xfrm>
            <a:off x="365760" y="1280160"/>
            <a:ext cx="8412480" cy="201168"/>
          </a:xfrm>
          <a:prstGeom prst="rect">
            <a:avLst/>
          </a:prstGeom>
          <a:solidFill>
            <a:srgbClr val="D0DCE8"/>
          </a:solidFill>
          <a:ln w="12700">
            <a:solidFill>
              <a:srgbClr val="D0DCE8"/>
            </a:solidFill>
            <a:prstDash val="solid"/>
          </a:ln>
        </p:spPr>
        <p:txBody>
          <a:bodyPr/>
          <a:lstStyle/>
          <a:p>
            <a:endParaRPr lang="fr-FR"/>
          </a:p>
        </p:txBody>
      </p:sp>
      <p:sp>
        <p:nvSpPr>
          <p:cNvPr id="10" name="Shape 8"/>
          <p:cNvSpPr/>
          <p:nvPr/>
        </p:nvSpPr>
        <p:spPr>
          <a:xfrm>
            <a:off x="365760" y="1280160"/>
            <a:ext cx="8412480" cy="201168"/>
          </a:xfrm>
          <a:prstGeom prst="rect">
            <a:avLst/>
          </a:prstGeom>
          <a:solidFill>
            <a:srgbClr val="2860A8"/>
          </a:solidFill>
          <a:ln w="12700">
            <a:solidFill>
              <a:srgbClr val="2860A8"/>
            </a:solidFill>
            <a:prstDash val="solid"/>
          </a:ln>
        </p:spPr>
        <p:txBody>
          <a:bodyPr/>
          <a:lstStyle/>
          <a:p>
            <a:endParaRPr lang="fr-FR"/>
          </a:p>
        </p:txBody>
      </p:sp>
      <p:sp>
        <p:nvSpPr>
          <p:cNvPr id="11" name="Shape 9"/>
          <p:cNvSpPr/>
          <p:nvPr/>
        </p:nvSpPr>
        <p:spPr>
          <a:xfrm>
            <a:off x="1463040" y="1481328"/>
            <a:ext cx="0" cy="320040"/>
          </a:xfrm>
          <a:prstGeom prst="line">
            <a:avLst/>
          </a:prstGeom>
          <a:noFill/>
          <a:ln w="25400">
            <a:solidFill>
              <a:srgbClr val="2860A8"/>
            </a:solidFill>
            <a:prstDash val="solid"/>
          </a:ln>
        </p:spPr>
        <p:txBody>
          <a:bodyPr/>
          <a:lstStyle/>
          <a:p>
            <a:endParaRPr lang="fr-FR"/>
          </a:p>
        </p:txBody>
      </p:sp>
      <p:sp>
        <p:nvSpPr>
          <p:cNvPr id="12" name="Shape 10"/>
          <p:cNvSpPr/>
          <p:nvPr/>
        </p:nvSpPr>
        <p:spPr>
          <a:xfrm>
            <a:off x="365760" y="1801368"/>
            <a:ext cx="2194560" cy="1170432"/>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36576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RÉGULIER</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Itinéraire &amp; horaire FIXES</a:t>
            </a:r>
            <a:endParaRPr lang="en-US" sz="950" dirty="0"/>
          </a:p>
        </p:txBody>
      </p:sp>
      <p:sp>
        <p:nvSpPr>
          <p:cNvPr id="14" name="Text 12"/>
          <p:cNvSpPr/>
          <p:nvPr/>
        </p:nvSpPr>
        <p:spPr>
          <a:xfrm>
            <a:off x="36576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Bus, Métro, TER</a:t>
            </a:r>
            <a:endParaRPr lang="en-US" sz="900" dirty="0"/>
          </a:p>
        </p:txBody>
      </p:sp>
      <p:sp>
        <p:nvSpPr>
          <p:cNvPr id="15" name="Shape 13"/>
          <p:cNvSpPr/>
          <p:nvPr/>
        </p:nvSpPr>
        <p:spPr>
          <a:xfrm>
            <a:off x="4480560" y="1481328"/>
            <a:ext cx="0" cy="320040"/>
          </a:xfrm>
          <a:prstGeom prst="line">
            <a:avLst/>
          </a:prstGeom>
          <a:noFill/>
          <a:ln w="25400">
            <a:solidFill>
              <a:srgbClr val="00897B"/>
            </a:solidFill>
            <a:prstDash val="solid"/>
          </a:ln>
        </p:spPr>
        <p:txBody>
          <a:bodyPr/>
          <a:lstStyle/>
          <a:p>
            <a:endParaRPr lang="fr-FR"/>
          </a:p>
        </p:txBody>
      </p:sp>
      <p:sp>
        <p:nvSpPr>
          <p:cNvPr id="16" name="Shape 14"/>
          <p:cNvSpPr/>
          <p:nvPr/>
        </p:nvSpPr>
        <p:spPr>
          <a:xfrm>
            <a:off x="3383280" y="1801368"/>
            <a:ext cx="2194560" cy="1170432"/>
          </a:xfrm>
          <a:prstGeom prst="rect">
            <a:avLst/>
          </a:prstGeom>
          <a:solidFill>
            <a:srgbClr val="00897B"/>
          </a:solidFill>
          <a:ln w="12700">
            <a:solidFill>
              <a:srgbClr val="00897B"/>
            </a:solidFill>
            <a:prstDash val="solid"/>
          </a:ln>
        </p:spPr>
        <p:txBody>
          <a:bodyPr/>
          <a:lstStyle/>
          <a:p>
            <a:endParaRPr lang="fr-FR"/>
          </a:p>
        </p:txBody>
      </p:sp>
      <p:sp>
        <p:nvSpPr>
          <p:cNvPr id="17" name="Text 15"/>
          <p:cNvSpPr/>
          <p:nvPr/>
        </p:nvSpPr>
        <p:spPr>
          <a:xfrm>
            <a:off x="338328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À LA DEMANDE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Flexible selon réservations</a:t>
            </a:r>
            <a:endParaRPr lang="en-US" sz="950" dirty="0"/>
          </a:p>
        </p:txBody>
      </p:sp>
      <p:sp>
        <p:nvSpPr>
          <p:cNvPr id="18" name="Text 16"/>
          <p:cNvSpPr/>
          <p:nvPr/>
        </p:nvSpPr>
        <p:spPr>
          <a:xfrm>
            <a:off x="338328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TAD, Navettes</a:t>
            </a:r>
            <a:endParaRPr lang="en-US" sz="900" dirty="0"/>
          </a:p>
        </p:txBody>
      </p:sp>
      <p:sp>
        <p:nvSpPr>
          <p:cNvPr id="19" name="Shape 17"/>
          <p:cNvSpPr/>
          <p:nvPr/>
        </p:nvSpPr>
        <p:spPr>
          <a:xfrm>
            <a:off x="7315200" y="1481328"/>
            <a:ext cx="0" cy="320040"/>
          </a:xfrm>
          <a:prstGeom prst="line">
            <a:avLst/>
          </a:prstGeom>
          <a:noFill/>
          <a:ln w="25400">
            <a:solidFill>
              <a:srgbClr val="1A3A5C"/>
            </a:solidFill>
            <a:prstDash val="solid"/>
          </a:ln>
        </p:spPr>
        <p:txBody>
          <a:bodyPr/>
          <a:lstStyle/>
          <a:p>
            <a:endParaRPr lang="fr-FR"/>
          </a:p>
        </p:txBody>
      </p:sp>
      <p:sp>
        <p:nvSpPr>
          <p:cNvPr id="20" name="Shape 18"/>
          <p:cNvSpPr/>
          <p:nvPr/>
        </p:nvSpPr>
        <p:spPr>
          <a:xfrm>
            <a:off x="6217920" y="1801368"/>
            <a:ext cx="2194560" cy="1170432"/>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621792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TAXI / VTC</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Vehicule dédié pour 1 client</a:t>
            </a:r>
            <a:endParaRPr lang="en-US" sz="950" dirty="0"/>
          </a:p>
        </p:txBody>
      </p:sp>
      <p:sp>
        <p:nvSpPr>
          <p:cNvPr id="22" name="Text 20"/>
          <p:cNvSpPr/>
          <p:nvPr/>
        </p:nvSpPr>
        <p:spPr>
          <a:xfrm>
            <a:off x="621792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T3P — Carte pro requise</a:t>
            </a:r>
            <a:endParaRPr lang="en-US" sz="900" dirty="0"/>
          </a:p>
        </p:txBody>
      </p:sp>
      <p:sp>
        <p:nvSpPr>
          <p:cNvPr id="23" name="Text 21"/>
          <p:cNvSpPr/>
          <p:nvPr/>
        </p:nvSpPr>
        <p:spPr>
          <a:xfrm>
            <a:off x="274320" y="3072384"/>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Les 4 caractéristiques clés du TAD :</a:t>
            </a:r>
            <a:endParaRPr lang="en-US" sz="1200" dirty="0"/>
          </a:p>
        </p:txBody>
      </p:sp>
      <p:sp>
        <p:nvSpPr>
          <p:cNvPr id="24" name="Shape 22"/>
          <p:cNvSpPr/>
          <p:nvPr/>
        </p:nvSpPr>
        <p:spPr>
          <a:xfrm>
            <a:off x="274320"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3383280"/>
            <a:ext cx="2057400" cy="347472"/>
          </a:xfrm>
          <a:prstGeom prst="rect">
            <a:avLst/>
          </a:prstGeom>
          <a:solidFill>
            <a:srgbClr val="2860A8"/>
          </a:solidFill>
          <a:ln w="12700">
            <a:solidFill>
              <a:srgbClr val="2860A8"/>
            </a:solidFill>
            <a:prstDash val="solid"/>
          </a:ln>
        </p:spPr>
        <p:txBody>
          <a:bodyPr/>
          <a:lstStyle/>
          <a:p>
            <a:endParaRPr lang="fr-FR"/>
          </a:p>
        </p:txBody>
      </p:sp>
      <p:sp>
        <p:nvSpPr>
          <p:cNvPr id="26" name="Text 24"/>
          <p:cNvSpPr/>
          <p:nvPr/>
        </p:nvSpPr>
        <p:spPr>
          <a:xfrm>
            <a:off x="320040"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Collectif</a:t>
            </a:r>
            <a:endParaRPr lang="en-US" sz="1100" dirty="0"/>
          </a:p>
        </p:txBody>
      </p:sp>
      <p:sp>
        <p:nvSpPr>
          <p:cNvPr id="27" name="Text 25"/>
          <p:cNvSpPr/>
          <p:nvPr/>
        </p:nvSpPr>
        <p:spPr>
          <a:xfrm>
            <a:off x="347472"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Plusieurs passagers</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par véhicule</a:t>
            </a:r>
            <a:endParaRPr lang="en-US" sz="1050" dirty="0"/>
          </a:p>
        </p:txBody>
      </p:sp>
      <p:sp>
        <p:nvSpPr>
          <p:cNvPr id="28" name="Shape 26"/>
          <p:cNvSpPr/>
          <p:nvPr/>
        </p:nvSpPr>
        <p:spPr>
          <a:xfrm>
            <a:off x="2487168"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29" name="Shape 27"/>
          <p:cNvSpPr/>
          <p:nvPr/>
        </p:nvSpPr>
        <p:spPr>
          <a:xfrm>
            <a:off x="2487168" y="3383280"/>
            <a:ext cx="2057400" cy="347472"/>
          </a:xfrm>
          <a:prstGeom prst="rect">
            <a:avLst/>
          </a:prstGeom>
          <a:solidFill>
            <a:srgbClr val="00897B"/>
          </a:solidFill>
          <a:ln w="12700">
            <a:solidFill>
              <a:srgbClr val="00897B"/>
            </a:solidFill>
            <a:prstDash val="solid"/>
          </a:ln>
        </p:spPr>
        <p:txBody>
          <a:bodyPr/>
          <a:lstStyle/>
          <a:p>
            <a:endParaRPr lang="fr-FR"/>
          </a:p>
        </p:txBody>
      </p:sp>
      <p:sp>
        <p:nvSpPr>
          <p:cNvPr id="30" name="Text 28"/>
          <p:cNvSpPr/>
          <p:nvPr/>
        </p:nvSpPr>
        <p:spPr>
          <a:xfrm>
            <a:off x="2532888"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Flexible</a:t>
            </a:r>
            <a:endParaRPr lang="en-US" sz="1100" dirty="0"/>
          </a:p>
        </p:txBody>
      </p:sp>
      <p:sp>
        <p:nvSpPr>
          <p:cNvPr id="31" name="Text 29"/>
          <p:cNvSpPr/>
          <p:nvPr/>
        </p:nvSpPr>
        <p:spPr>
          <a:xfrm>
            <a:off x="2560320"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Itinéraire variable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selon réservations</a:t>
            </a:r>
            <a:endParaRPr lang="en-US" sz="1050" dirty="0"/>
          </a:p>
        </p:txBody>
      </p:sp>
      <p:sp>
        <p:nvSpPr>
          <p:cNvPr id="32" name="Shape 30"/>
          <p:cNvSpPr/>
          <p:nvPr/>
        </p:nvSpPr>
        <p:spPr>
          <a:xfrm>
            <a:off x="4700016"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4700016" y="3383280"/>
            <a:ext cx="2057400" cy="347472"/>
          </a:xfrm>
          <a:prstGeom prst="rect">
            <a:avLst/>
          </a:prstGeom>
          <a:solidFill>
            <a:srgbClr val="2E7D32"/>
          </a:solidFill>
          <a:ln w="12700">
            <a:solidFill>
              <a:srgbClr val="2E7D32"/>
            </a:solidFill>
            <a:prstDash val="solid"/>
          </a:ln>
        </p:spPr>
        <p:txBody>
          <a:bodyPr/>
          <a:lstStyle/>
          <a:p>
            <a:endParaRPr lang="fr-FR"/>
          </a:p>
        </p:txBody>
      </p:sp>
      <p:sp>
        <p:nvSpPr>
          <p:cNvPr id="34" name="Text 32"/>
          <p:cNvSpPr/>
          <p:nvPr/>
        </p:nvSpPr>
        <p:spPr>
          <a:xfrm>
            <a:off x="4745736"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Réglementé</a:t>
            </a:r>
            <a:endParaRPr lang="en-US" sz="1100" dirty="0"/>
          </a:p>
        </p:txBody>
      </p:sp>
      <p:sp>
        <p:nvSpPr>
          <p:cNvPr id="35" name="Text 33"/>
          <p:cNvSpPr/>
          <p:nvPr/>
        </p:nvSpPr>
        <p:spPr>
          <a:xfrm>
            <a:off x="4773168"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Tarif fixé</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à l'avance</a:t>
            </a:r>
            <a:endParaRPr lang="en-US" sz="1050" dirty="0"/>
          </a:p>
        </p:txBody>
      </p:sp>
      <p:sp>
        <p:nvSpPr>
          <p:cNvPr id="36" name="Shape 34"/>
          <p:cNvSpPr/>
          <p:nvPr/>
        </p:nvSpPr>
        <p:spPr>
          <a:xfrm>
            <a:off x="6912864"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37" name="Shape 35"/>
          <p:cNvSpPr/>
          <p:nvPr/>
        </p:nvSpPr>
        <p:spPr>
          <a:xfrm>
            <a:off x="6912864" y="3383280"/>
            <a:ext cx="2057400" cy="347472"/>
          </a:xfrm>
          <a:prstGeom prst="rect">
            <a:avLst/>
          </a:prstGeom>
          <a:solidFill>
            <a:srgbClr val="1A3A5C"/>
          </a:solidFill>
          <a:ln w="12700">
            <a:solidFill>
              <a:srgbClr val="1A3A5C"/>
            </a:solidFill>
            <a:prstDash val="solid"/>
          </a:ln>
        </p:spPr>
        <p:txBody>
          <a:bodyPr/>
          <a:lstStyle/>
          <a:p>
            <a:endParaRPr lang="fr-FR"/>
          </a:p>
        </p:txBody>
      </p:sp>
      <p:sp>
        <p:nvSpPr>
          <p:cNvPr id="38" name="Text 36"/>
          <p:cNvSpPr/>
          <p:nvPr/>
        </p:nvSpPr>
        <p:spPr>
          <a:xfrm>
            <a:off x="6958584"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Public</a:t>
            </a:r>
            <a:endParaRPr lang="en-US" sz="1100" dirty="0"/>
          </a:p>
        </p:txBody>
      </p:sp>
      <p:sp>
        <p:nvSpPr>
          <p:cNvPr id="39" name="Text 37"/>
          <p:cNvSpPr/>
          <p:nvPr/>
        </p:nvSpPr>
        <p:spPr>
          <a:xfrm>
            <a:off x="6986016"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Organisé par</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une collectivité</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2.3 — Les services occasionnels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de groupes à la demande d'un donneur d'ordre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12/88</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occasionnels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Transport de groupes — Règle importante depuis le 01/01/2017</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13/88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occasionnels sont des transports collectifs ponctuels, organisés pour un groupe précis à l'occasion d'un événement particulier. Ils font l'objet d'une réglementation stricte, notamment depuis 2017 dans les grandes agglomérations.</a:t>
            </a:r>
            <a:endParaRPr lang="en-US" sz="1200" dirty="0"/>
          </a:p>
        </p:txBody>
      </p:sp>
      <p:sp>
        <p:nvSpPr>
          <p:cNvPr id="10" name="Shape 8"/>
          <p:cNvSpPr/>
          <p:nvPr/>
        </p:nvSpPr>
        <p:spPr>
          <a:xfrm>
            <a:off x="274320" y="1627632"/>
            <a:ext cx="8595360" cy="12984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ET OBLIGATIONS</a:t>
            </a:r>
            <a:endParaRPr lang="en-US" sz="1050" dirty="0"/>
          </a:p>
        </p:txBody>
      </p:sp>
      <p:sp>
        <p:nvSpPr>
          <p:cNvPr id="13" name="Text 11"/>
          <p:cNvSpPr/>
          <p:nvPr/>
        </p:nvSpPr>
        <p:spPr>
          <a:xfrm>
            <a:off x="384048" y="1975104"/>
            <a:ext cx="8412480" cy="90525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Services qui ne répondent PAS à la définition des services réguliers et qui transportent des groupes d'au moins 2 personnes, à l'initiative d'un donneur d'ordre ou du transporteur.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Exemples : autocar pour une colonie de vacances, visite touristique, concert, exposition, circuit vendu par une agence de voyage.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ne peuvent être exécutés que par des entreprises inscrites au Registre électronique national des entreprises de transport (DREAL).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réservation préalable avec un BILLET COLLECTIF — signalétique distinctive apposée sur le véhicule.</a:t>
            </a:r>
            <a:endParaRPr lang="en-US" sz="1000" dirty="0"/>
          </a:p>
        </p:txBody>
      </p:sp>
      <p:sp>
        <p:nvSpPr>
          <p:cNvPr id="14" name="Shape 12"/>
          <p:cNvSpPr/>
          <p:nvPr/>
        </p:nvSpPr>
        <p:spPr>
          <a:xfrm>
            <a:off x="274320" y="2999232"/>
            <a:ext cx="8595360" cy="530352"/>
          </a:xfrm>
          <a:prstGeom prst="rect">
            <a:avLst/>
          </a:prstGeom>
          <a:solidFill>
            <a:srgbClr val="FEF0EE"/>
          </a:solidFill>
          <a:ln w="19050">
            <a:solidFill>
              <a:srgbClr val="C0392B"/>
            </a:solidFill>
            <a:prstDash val="solid"/>
          </a:ln>
        </p:spPr>
        <p:txBody>
          <a:bodyPr/>
          <a:lstStyle/>
          <a:p>
            <a:endParaRPr lang="fr-FR"/>
          </a:p>
        </p:txBody>
      </p:sp>
      <p:sp>
        <p:nvSpPr>
          <p:cNvPr id="15" name="Shape 13"/>
          <p:cNvSpPr/>
          <p:nvPr/>
        </p:nvSpPr>
        <p:spPr>
          <a:xfrm>
            <a:off x="274320" y="2999232"/>
            <a:ext cx="54864" cy="530352"/>
          </a:xfrm>
          <a:prstGeom prst="rect">
            <a:avLst/>
          </a:prstGeom>
          <a:solidFill>
            <a:srgbClr val="C0392B"/>
          </a:solidFill>
          <a:ln w="12700">
            <a:solidFill>
              <a:srgbClr val="C0392B"/>
            </a:solidFill>
            <a:prstDash val="solid"/>
          </a:ln>
        </p:spPr>
        <p:txBody>
          <a:bodyPr/>
          <a:lstStyle/>
          <a:p>
            <a:endParaRPr lang="fr-FR"/>
          </a:p>
        </p:txBody>
      </p:sp>
      <p:sp>
        <p:nvSpPr>
          <p:cNvPr id="16" name="Text 14"/>
          <p:cNvSpPr/>
          <p:nvPr/>
        </p:nvSpPr>
        <p:spPr>
          <a:xfrm>
            <a:off x="384048" y="2999232"/>
            <a:ext cx="8467344" cy="53035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DEPUIS LE 01/01/2017 : Interdiction de réaliser des services occasionnels avec des véhicules de MOINS DE 10 PLACES pour des trajets entièrement situés dans des agglomérations de plus de 100 000 habitants. Objectif : protéger les taxis et les VTC.</a:t>
            </a:r>
            <a:endParaRPr lang="en-US" sz="1000" dirty="0"/>
          </a:p>
        </p:txBody>
      </p:sp>
      <p:sp>
        <p:nvSpPr>
          <p:cNvPr id="17" name="Shape 15"/>
          <p:cNvSpPr/>
          <p:nvPr/>
        </p:nvSpPr>
        <p:spPr>
          <a:xfrm>
            <a:off x="27432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8" name="Shape 16"/>
          <p:cNvSpPr/>
          <p:nvPr/>
        </p:nvSpPr>
        <p:spPr>
          <a:xfrm>
            <a:off x="274320" y="3611880"/>
            <a:ext cx="4160520" cy="301752"/>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36576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DE SERVICES OCCASIONNELS</a:t>
            </a:r>
            <a:endParaRPr lang="en-US" sz="1050" dirty="0"/>
          </a:p>
        </p:txBody>
      </p:sp>
      <p:sp>
        <p:nvSpPr>
          <p:cNvPr id="20" name="Text 18"/>
          <p:cNvSpPr/>
          <p:nvPr/>
        </p:nvSpPr>
        <p:spPr>
          <a:xfrm>
            <a:off x="38404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Autocar loué pour une colonie de vacances.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Circuit touristique vendu par une agence de voyage.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un concert ou une exposition.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Navette aller-retour pour un événement sportif.</a:t>
            </a:r>
            <a:endParaRPr lang="en-US" sz="1000" dirty="0"/>
          </a:p>
        </p:txBody>
      </p:sp>
      <p:sp>
        <p:nvSpPr>
          <p:cNvPr id="21" name="Shape 19"/>
          <p:cNvSpPr/>
          <p:nvPr/>
        </p:nvSpPr>
        <p:spPr>
          <a:xfrm>
            <a:off x="470916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4709160" y="3611880"/>
            <a:ext cx="4160520" cy="301752"/>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480060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LES DISTINGUE DES SERVICES RÉGULIERS</a:t>
            </a:r>
            <a:endParaRPr lang="en-US" sz="1050" dirty="0"/>
          </a:p>
        </p:txBody>
      </p:sp>
      <p:sp>
        <p:nvSpPr>
          <p:cNvPr id="24" name="Text 22"/>
          <p:cNvSpPr/>
          <p:nvPr/>
        </p:nvSpPr>
        <p:spPr>
          <a:xfrm>
            <a:off x="481888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d'itinéraire fixe — service ponctuel et événementiel.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Réservé à un groupe précis (pas ouvert à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Billet COLLECTIF (pas de billet individuel).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au registre DREAL obligatoire.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Comparatif des 3 types collectifs — Conditions et exemples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14/88</a:t>
            </a:r>
            <a:endParaRPr lang="en-US" sz="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7432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9188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réguliers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à la demande (TAD)</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occasionnels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Public cible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 le monde — sans réservation</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Individus ayant réservé à l'avance</a:t>
                      </a:r>
                      <a:endParaRPr lang="en-US" sz="950" dirty="0">
                        <a:latin typeface="Calibri" charset="0"/>
                        <a:ea typeface="Calibri" charset="0"/>
                        <a:cs typeface="Calibri" charset="0"/>
                      </a:endParaRPr>
                    </a:p>
                    <a:p>
                      <a:pPr marL="0" indent="0">
                        <a:buNone/>
                      </a:pPr>
                      <a:r>
                        <a:rPr lang="en-US" sz="950" dirty="0">
                          <a:solidFill>
                            <a:srgbClr val="3A3A3A"/>
                          </a:solidFill>
                          <a:latin typeface="Calibri" pitchFamily="34" charset="0"/>
                          <a:ea typeface="Calibri" pitchFamily="34" charset="-122"/>
                          <a:cs typeface="Calibri" pitchFamily="34" charset="-120"/>
                        </a:rPr>
                        <a:t>(donneur d'ordre = la collectivité locale)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Groupe CONSTITUÉ par un donneur d'ordre (école, asso, entreprise...)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Itinéraire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Fixe et publié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Variable selon les réservations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 défini pour l'événement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Unique, affiché, identique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par la collectivité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Négocié — variable selon contrat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Billet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 ou collectif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COLLECTIF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Inscription DREAL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Conditions conducteur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Permis D + FIMO voyageurs OU capacité transport léger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
        <p:nvSpPr>
          <p:cNvPr id="9" name="Shape 6"/>
          <p:cNvSpPr/>
          <p:nvPr/>
        </p:nvSpPr>
        <p:spPr>
          <a:xfrm>
            <a:off x="274320" y="3730752"/>
            <a:ext cx="3977640" cy="347472"/>
          </a:xfrm>
          <a:prstGeom prst="rect">
            <a:avLst/>
          </a:prstGeom>
          <a:solidFill>
            <a:srgbClr val="2860A8"/>
          </a:solidFill>
          <a:ln w="12700">
            <a:solidFill>
              <a:srgbClr val="2860A8"/>
            </a:solidFill>
            <a:prstDash val="solid"/>
          </a:ln>
        </p:spPr>
        <p:txBody>
          <a:bodyPr/>
          <a:lstStyle/>
          <a:p>
            <a:endParaRPr lang="fr-FR"/>
          </a:p>
        </p:txBody>
      </p:sp>
      <p:sp>
        <p:nvSpPr>
          <p:cNvPr id="10" name="Text 7"/>
          <p:cNvSpPr/>
          <p:nvPr/>
        </p:nvSpPr>
        <p:spPr>
          <a:xfrm>
            <a:off x="34747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TAD à LYON — commandés par la Métropole de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la collectivité, pas l'usager)</a:t>
            </a:r>
            <a:endParaRPr lang="en-US" sz="850" dirty="0"/>
          </a:p>
        </p:txBody>
      </p:sp>
      <p:sp>
        <p:nvSpPr>
          <p:cNvPr id="11" name="Shape 8"/>
          <p:cNvSpPr/>
          <p:nvPr/>
        </p:nvSpPr>
        <p:spPr>
          <a:xfrm>
            <a:off x="27432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2" name="Text 9"/>
          <p:cNvSpPr/>
          <p:nvPr/>
        </p:nvSpPr>
        <p:spPr>
          <a:xfrm>
            <a:off x="36576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Navette TAD Bourg-en-Bresse ↔ villages du Ain (Keolis)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Transport à la demande nocturne Optibus (périphérie Lyon)</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médicale sur résa pour zones rurales (SYTRAL)</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Réseau TAD Libellule — Ain Dombes Saône (résa 48h avant)</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scolaire TAD Villages de l'Ain sur réservation</a:t>
            </a:r>
            <a:endParaRPr lang="en-US" sz="850" dirty="0"/>
          </a:p>
        </p:txBody>
      </p:sp>
      <p:sp>
        <p:nvSpPr>
          <p:cNvPr id="13" name="Shape 10"/>
          <p:cNvSpPr/>
          <p:nvPr/>
        </p:nvSpPr>
        <p:spPr>
          <a:xfrm>
            <a:off x="4434840" y="3730752"/>
            <a:ext cx="3977640" cy="347472"/>
          </a:xfrm>
          <a:prstGeom prst="rect">
            <a:avLst/>
          </a:prstGeom>
          <a:solidFill>
            <a:srgbClr val="1A3A5C"/>
          </a:solidFill>
          <a:ln w="12700">
            <a:solidFill>
              <a:srgbClr val="1A3A5C"/>
            </a:solidFill>
            <a:prstDash val="solid"/>
          </a:ln>
        </p:spPr>
        <p:txBody>
          <a:bodyPr/>
          <a:lstStyle/>
          <a:p>
            <a:endParaRPr lang="fr-FR"/>
          </a:p>
        </p:txBody>
      </p:sp>
      <p:sp>
        <p:nvSpPr>
          <p:cNvPr id="14" name="Text 11"/>
          <p:cNvSpPr/>
          <p:nvPr/>
        </p:nvSpPr>
        <p:spPr>
          <a:xfrm>
            <a:off x="450799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Occasionnels à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école, asso, entreprise — groupe déjà formé)</a:t>
            </a:r>
            <a:endParaRPr lang="en-US" sz="850" dirty="0"/>
          </a:p>
        </p:txBody>
      </p:sp>
      <p:sp>
        <p:nvSpPr>
          <p:cNvPr id="8" name="Shape 12"/>
          <p:cNvSpPr/>
          <p:nvPr/>
        </p:nvSpPr>
        <p:spPr>
          <a:xfrm>
            <a:off x="443484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6" name="Text 13"/>
          <p:cNvSpPr/>
          <p:nvPr/>
        </p:nvSpPr>
        <p:spPr>
          <a:xfrm>
            <a:off x="452628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Car pour sortie scolaire : l'école commande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colonie de vacances : l'asso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pour concert à Fourvière : l'agence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séminaire entreprise : l'entreprise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Circuit touristique Lyon Presqu'île : agence tour = donneur d'ordre</a:t>
            </a:r>
            <a:endParaRPr lang="en-US" sz="850" dirty="0"/>
          </a:p>
        </p:txBody>
      </p:sp>
      <p:sp>
        <p:nvSpPr>
          <p:cNvPr id="17" name="Shape 14"/>
          <p:cNvSpPr/>
          <p:nvPr/>
        </p:nvSpPr>
        <p:spPr>
          <a:xfrm>
            <a:off x="274320" y="5120640"/>
            <a:ext cx="8595360" cy="137160"/>
          </a:xfrm>
          <a:prstGeom prst="rect">
            <a:avLst/>
          </a:prstGeom>
          <a:solidFill>
            <a:srgbClr val="FFF8E1"/>
          </a:solidFill>
          <a:ln w="12700">
            <a:solidFill>
              <a:srgbClr val="F4A227"/>
            </a:solidFill>
            <a:prstDash val="solid"/>
          </a:ln>
        </p:spPr>
        <p:txBody>
          <a:bodyPr/>
          <a:lstStyle/>
          <a:p>
            <a:endParaRPr lang="fr-FR"/>
          </a:p>
        </p:txBody>
      </p:sp>
      <p:sp>
        <p:nvSpPr>
          <p:cNvPr id="18" name="Shape 15"/>
          <p:cNvSpPr/>
          <p:nvPr/>
        </p:nvSpPr>
        <p:spPr>
          <a:xfrm>
            <a:off x="274320" y="5120640"/>
            <a:ext cx="54864" cy="137160"/>
          </a:xfrm>
          <a:prstGeom prst="rect">
            <a:avLst/>
          </a:prstGeom>
          <a:solidFill>
            <a:srgbClr val="F4A227"/>
          </a:solidFill>
          <a:ln w="12700">
            <a:solidFill>
              <a:srgbClr val="F4A227"/>
            </a:solidFill>
            <a:prstDash val="solid"/>
          </a:ln>
        </p:spPr>
        <p:txBody>
          <a:bodyPr/>
          <a:lstStyle/>
          <a:p>
            <a:endParaRPr lang="fr-FR"/>
          </a:p>
        </p:txBody>
      </p:sp>
      <p:sp>
        <p:nvSpPr>
          <p:cNvPr id="19" name="Text 16"/>
          <p:cNvSpPr/>
          <p:nvPr/>
        </p:nvSpPr>
        <p:spPr>
          <a:xfrm>
            <a:off x="457200" y="5120640"/>
            <a:ext cx="8229600" cy="137160"/>
          </a:xfrm>
          <a:prstGeom prst="rect">
            <a:avLst/>
          </a:prstGeom>
          <a:noFill/>
          <a:ln/>
        </p:spPr>
        <p:txBody>
          <a:bodyPr wrap="square" rtlCol="0" anchor="ctr"/>
          <a:lstStyle/>
          <a:p>
            <a:pPr marL="0" indent="0">
              <a:buNone/>
            </a:pPr>
            <a:r>
              <a:rPr lang="en-US" sz="750" dirty="0">
                <a:solidFill>
                  <a:srgbClr val="3A3A3A"/>
                </a:solidFill>
                <a:latin typeface="Calibri" pitchFamily="34" charset="0"/>
                <a:ea typeface="Calibri" pitchFamily="34" charset="-122"/>
                <a:cs typeface="Calibri" pitchFamily="34" charset="-120"/>
              </a:rPr>
              <a:t>🔑  TAD : donneur d'ordre = la COLLECTIVITÉ (Métropole, Conseil Dép.). L'usager réserve mais ne commande pas le service. Occasionnel : donneur d'ordre = école, asso, entreprise → groupe précis.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3. La loi LOTI — Définition du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Loi n°82-1153 du 30 décembre 1982 — Le cadre légal fondateur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15/88</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loi LOTI et la prestation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Loi n°82-1153 du 30 décembre 1982 — DREAL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16/88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La loi LOTI est le texte fondateur de toute la réglementation du transport de personnes en France. C'est elle qui définit précisément ce qu'est le transport public particulier de personnes (T3P) et qui peut l'exercer.</a:t>
            </a:r>
            <a:endParaRPr lang="en-US" sz="1200" dirty="0"/>
          </a:p>
        </p:txBody>
      </p:sp>
      <p:sp>
        <p:nvSpPr>
          <p:cNvPr id="10" name="Shape 8"/>
          <p:cNvSpPr/>
          <p:nvPr/>
        </p:nvSpPr>
        <p:spPr>
          <a:xfrm>
            <a:off x="274320" y="1627632"/>
            <a:ext cx="8595360" cy="8412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LOTI — Loi n°82-1153 du 30 décembre 1982</a:t>
            </a:r>
            <a:endParaRPr lang="en-US" sz="1050" dirty="0"/>
          </a:p>
        </p:txBody>
      </p:sp>
      <p:sp>
        <p:nvSpPr>
          <p:cNvPr id="13" name="Text 11"/>
          <p:cNvSpPr/>
          <p:nvPr/>
        </p:nvSpPr>
        <p:spPr>
          <a:xfrm>
            <a:off x="384048" y="1975104"/>
            <a:ext cx="8412480" cy="44805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Loi d'orientation des transports intérieurs — organise l'ensemble du transport de marchandises et de voyageurs en France.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DREAL ou la DRIEAT (Île-de-France) délivre les autorisations de transport.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Elle distingue : transport public collectif, transport public particulier (T3P), et transport privé.</a:t>
            </a:r>
            <a:endParaRPr lang="en-US" sz="1000" dirty="0"/>
          </a:p>
        </p:txBody>
      </p:sp>
      <p:sp>
        <p:nvSpPr>
          <p:cNvPr id="14" name="Shape 12"/>
          <p:cNvSpPr/>
          <p:nvPr/>
        </p:nvSpPr>
        <p:spPr>
          <a:xfrm>
            <a:off x="274320" y="2542032"/>
            <a:ext cx="8595360" cy="960120"/>
          </a:xfrm>
          <a:prstGeom prst="rect">
            <a:avLst/>
          </a:prstGeom>
          <a:solidFill>
            <a:srgbClr val="EBF3FC"/>
          </a:solidFill>
          <a:ln w="19050">
            <a:solidFill>
              <a:srgbClr val="2860A8"/>
            </a:solidFill>
            <a:prstDash val="solid"/>
          </a:ln>
        </p:spPr>
        <p:txBody>
          <a:bodyPr/>
          <a:lstStyle/>
          <a:p>
            <a:endParaRPr lang="fr-FR"/>
          </a:p>
        </p:txBody>
      </p:sp>
      <p:sp>
        <p:nvSpPr>
          <p:cNvPr id="15" name="Shape 13"/>
          <p:cNvSpPr/>
          <p:nvPr/>
        </p:nvSpPr>
        <p:spPr>
          <a:xfrm>
            <a:off x="274320" y="2542032"/>
            <a:ext cx="64008" cy="960120"/>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57200" y="2560320"/>
            <a:ext cx="8229600" cy="256032"/>
          </a:xfrm>
          <a:prstGeom prst="rect">
            <a:avLst/>
          </a:prstGeom>
          <a:noFill/>
          <a:ln/>
        </p:spPr>
        <p:txBody>
          <a:bodyPr wrap="square" rtlCol="0" anchor="ctr"/>
          <a:lstStyle/>
          <a:p>
            <a:pPr marL="0" indent="0">
              <a:buNone/>
            </a:pPr>
            <a:r>
              <a:rPr lang="en-US" sz="1000" b="1" dirty="0">
                <a:solidFill>
                  <a:srgbClr val="1A3A5C"/>
                </a:solidFill>
                <a:latin typeface="Calibri" pitchFamily="34" charset="0"/>
                <a:ea typeface="Calibri" pitchFamily="34" charset="-122"/>
                <a:cs typeface="Calibri" pitchFamily="34" charset="-120"/>
              </a:rPr>
              <a:t>DÉFINITION OFFICIELLE :</a:t>
            </a:r>
            <a:endParaRPr lang="en-US" sz="1000" dirty="0"/>
          </a:p>
        </p:txBody>
      </p:sp>
      <p:sp>
        <p:nvSpPr>
          <p:cNvPr id="17" name="Text 15"/>
          <p:cNvSpPr/>
          <p:nvPr/>
        </p:nvSpPr>
        <p:spPr>
          <a:xfrm>
            <a:off x="457200" y="2816352"/>
            <a:ext cx="8229600" cy="658368"/>
          </a:xfrm>
          <a:prstGeom prst="rect">
            <a:avLst/>
          </a:prstGeom>
          <a:noFill/>
          <a:ln/>
        </p:spPr>
        <p:txBody>
          <a:bodyPr wrap="square" rtlCol="0" anchor="t"/>
          <a:lstStyle/>
          <a:p>
            <a:pPr marL="0" indent="0">
              <a:buNone/>
            </a:pPr>
            <a:r>
              <a:rPr lang="en-US" sz="1050" i="1" dirty="0">
                <a:solidFill>
                  <a:srgbClr val="3A3A3A"/>
                </a:solidFill>
                <a:latin typeface="Calibri" pitchFamily="34" charset="0"/>
                <a:ea typeface="Calibri" pitchFamily="34" charset="-122"/>
                <a:cs typeface="Calibri" pitchFamily="34" charset="-120"/>
              </a:rPr>
              <a:t>"Les prestations de transports publics particuliers de personnes sont des prestations de transport public routier de personnes qui ne relèvent NI des transports publics collectifs NI du transport privé routier de personnes. Elles sont exécutées à titre ONÉREUX par les taxis, les VTC et les véhicules motorisés à deux ou trois roues."</a:t>
            </a:r>
            <a:endParaRPr lang="en-US" sz="1050" dirty="0"/>
          </a:p>
        </p:txBody>
      </p:sp>
      <p:sp>
        <p:nvSpPr>
          <p:cNvPr id="18" name="Shape 16"/>
          <p:cNvSpPr/>
          <p:nvPr/>
        </p:nvSpPr>
        <p:spPr>
          <a:xfrm>
            <a:off x="27432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27432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34747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À titre ONÉREUX</a:t>
            </a:r>
            <a:endParaRPr lang="en-US" sz="1000" dirty="0"/>
          </a:p>
        </p:txBody>
      </p:sp>
      <p:sp>
        <p:nvSpPr>
          <p:cNvPr id="21" name="Text 19"/>
          <p:cNvSpPr/>
          <p:nvPr/>
        </p:nvSpPr>
        <p:spPr>
          <a:xfrm>
            <a:off x="36576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Le service est payant. Sans rémunération = covoiturage ou transport privé.</a:t>
            </a:r>
            <a:endParaRPr lang="en-US" sz="1000" dirty="0"/>
          </a:p>
        </p:txBody>
      </p:sp>
      <p:sp>
        <p:nvSpPr>
          <p:cNvPr id="22" name="Shape 20"/>
          <p:cNvSpPr/>
          <p:nvPr/>
        </p:nvSpPr>
        <p:spPr>
          <a:xfrm>
            <a:off x="315468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3154680" y="3611880"/>
            <a:ext cx="2743200" cy="292608"/>
          </a:xfrm>
          <a:prstGeom prst="rect">
            <a:avLst/>
          </a:prstGeom>
          <a:solidFill>
            <a:srgbClr val="2860A8"/>
          </a:solidFill>
          <a:ln w="12700">
            <a:solidFill>
              <a:srgbClr val="2860A8"/>
            </a:solidFill>
            <a:prstDash val="solid"/>
          </a:ln>
        </p:spPr>
        <p:txBody>
          <a:bodyPr/>
          <a:lstStyle/>
          <a:p>
            <a:endParaRPr lang="fr-FR"/>
          </a:p>
        </p:txBody>
      </p:sp>
      <p:sp>
        <p:nvSpPr>
          <p:cNvPr id="24" name="Text 22"/>
          <p:cNvSpPr/>
          <p:nvPr/>
        </p:nvSpPr>
        <p:spPr>
          <a:xfrm>
            <a:off x="322783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NI collectif NI privé</a:t>
            </a:r>
            <a:endParaRPr lang="en-US" sz="1000" dirty="0"/>
          </a:p>
        </p:txBody>
      </p:sp>
      <p:sp>
        <p:nvSpPr>
          <p:cNvPr id="25" name="Text 23"/>
          <p:cNvSpPr/>
          <p:nvPr/>
        </p:nvSpPr>
        <p:spPr>
          <a:xfrm>
            <a:off x="324612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Pas un bus/tram (collectif) ni une navette interne (privé).</a:t>
            </a:r>
            <a:endParaRPr lang="en-US" sz="1000" dirty="0"/>
          </a:p>
        </p:txBody>
      </p:sp>
      <p:sp>
        <p:nvSpPr>
          <p:cNvPr id="26" name="Shape 24"/>
          <p:cNvSpPr/>
          <p:nvPr/>
        </p:nvSpPr>
        <p:spPr>
          <a:xfrm>
            <a:off x="603504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7" name="Shape 25"/>
          <p:cNvSpPr/>
          <p:nvPr/>
        </p:nvSpPr>
        <p:spPr>
          <a:xfrm>
            <a:off x="603504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8" name="Text 26"/>
          <p:cNvSpPr/>
          <p:nvPr/>
        </p:nvSpPr>
        <p:spPr>
          <a:xfrm>
            <a:off x="610819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Taxi, VTC ou VMDTR</a:t>
            </a:r>
            <a:endParaRPr lang="en-US" sz="1000" dirty="0"/>
          </a:p>
        </p:txBody>
      </p:sp>
      <p:sp>
        <p:nvSpPr>
          <p:cNvPr id="29" name="Text 27"/>
          <p:cNvSpPr/>
          <p:nvPr/>
        </p:nvSpPr>
        <p:spPr>
          <a:xfrm>
            <a:off x="612648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Seules ces 3 professions sont légalement habilitées.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La prestation T3P — Schéma de positionnement</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17/88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identifier une prestation T3P parmi toutes les formes de transport ?</a:t>
            </a:r>
            <a:endParaRPr lang="en-US" sz="1200" dirty="0"/>
          </a:p>
        </p:txBody>
      </p:sp>
      <p:sp>
        <p:nvSpPr>
          <p:cNvPr id="9" name="Shape 7"/>
          <p:cNvSpPr/>
          <p:nvPr/>
        </p:nvSpPr>
        <p:spPr>
          <a:xfrm>
            <a:off x="3291840" y="1261872"/>
            <a:ext cx="2560320" cy="384048"/>
          </a:xfrm>
          <a:prstGeom prst="rect">
            <a:avLst/>
          </a:prstGeom>
          <a:solidFill>
            <a:srgbClr val="2860A8"/>
          </a:solidFill>
          <a:ln w="12700">
            <a:solidFill>
              <a:srgbClr val="2860A8"/>
            </a:solidFill>
            <a:prstDash val="solid"/>
          </a:ln>
        </p:spPr>
        <p:txBody>
          <a:bodyPr/>
          <a:lstStyle/>
          <a:p>
            <a:endParaRPr lang="fr-FR"/>
          </a:p>
        </p:txBody>
      </p:sp>
      <p:sp>
        <p:nvSpPr>
          <p:cNvPr id="10" name="Text 8"/>
          <p:cNvSpPr/>
          <p:nvPr/>
        </p:nvSpPr>
        <p:spPr>
          <a:xfrm>
            <a:off x="3337560" y="1261872"/>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Transport de personnes ?</a:t>
            </a:r>
            <a:endParaRPr lang="en-US" sz="950" dirty="0"/>
          </a:p>
        </p:txBody>
      </p:sp>
      <p:sp>
        <p:nvSpPr>
          <p:cNvPr id="11" name="Shape 9"/>
          <p:cNvSpPr/>
          <p:nvPr/>
        </p:nvSpPr>
        <p:spPr>
          <a:xfrm>
            <a:off x="4572000" y="1645920"/>
            <a:ext cx="0" cy="256032"/>
          </a:xfrm>
          <a:prstGeom prst="line">
            <a:avLst/>
          </a:prstGeom>
          <a:noFill/>
          <a:ln w="15240">
            <a:solidFill>
              <a:srgbClr val="6B7A8D"/>
            </a:solidFill>
            <a:prstDash val="solid"/>
          </a:ln>
        </p:spPr>
        <p:txBody>
          <a:bodyPr/>
          <a:lstStyle/>
          <a:p>
            <a:endParaRPr lang="fr-FR"/>
          </a:p>
        </p:txBody>
      </p:sp>
      <p:sp>
        <p:nvSpPr>
          <p:cNvPr id="12" name="Shape 10"/>
          <p:cNvSpPr/>
          <p:nvPr/>
        </p:nvSpPr>
        <p:spPr>
          <a:xfrm>
            <a:off x="1371600" y="1901952"/>
            <a:ext cx="6400800" cy="0"/>
          </a:xfrm>
          <a:prstGeom prst="line">
            <a:avLst/>
          </a:prstGeom>
          <a:noFill/>
          <a:ln w="15240">
            <a:solidFill>
              <a:srgbClr val="6B7A8D"/>
            </a:solidFill>
            <a:prstDash val="solid"/>
          </a:ln>
        </p:spPr>
        <p:txBody>
          <a:bodyPr/>
          <a:lstStyle/>
          <a:p>
            <a:endParaRPr lang="fr-FR"/>
          </a:p>
        </p:txBody>
      </p:sp>
      <p:sp>
        <p:nvSpPr>
          <p:cNvPr id="13" name="Shape 11"/>
          <p:cNvSpPr/>
          <p:nvPr/>
        </p:nvSpPr>
        <p:spPr>
          <a:xfrm>
            <a:off x="1371600" y="1901952"/>
            <a:ext cx="0" cy="201168"/>
          </a:xfrm>
          <a:prstGeom prst="line">
            <a:avLst/>
          </a:prstGeom>
          <a:noFill/>
          <a:ln w="15240">
            <a:solidFill>
              <a:srgbClr val="6B7A8D"/>
            </a:solidFill>
            <a:prstDash val="solid"/>
          </a:ln>
        </p:spPr>
        <p:txBody>
          <a:bodyPr/>
          <a:lstStyle/>
          <a:p>
            <a:endParaRPr lang="fr-FR"/>
          </a:p>
        </p:txBody>
      </p:sp>
      <p:sp>
        <p:nvSpPr>
          <p:cNvPr id="14" name="Shape 12"/>
          <p:cNvSpPr/>
          <p:nvPr/>
        </p:nvSpPr>
        <p:spPr>
          <a:xfrm>
            <a:off x="365760" y="2103120"/>
            <a:ext cx="2011680" cy="384048"/>
          </a:xfrm>
          <a:prstGeom prst="rect">
            <a:avLst/>
          </a:prstGeom>
          <a:solidFill>
            <a:srgbClr val="C0392B"/>
          </a:solidFill>
          <a:ln w="12700">
            <a:solidFill>
              <a:srgbClr val="C0392B"/>
            </a:solidFill>
            <a:prstDash val="solid"/>
          </a:ln>
        </p:spPr>
        <p:txBody>
          <a:bodyPr/>
          <a:lstStyle/>
          <a:p>
            <a:endParaRPr lang="fr-FR"/>
          </a:p>
        </p:txBody>
      </p:sp>
      <p:sp>
        <p:nvSpPr>
          <p:cNvPr id="15" name="Text 13"/>
          <p:cNvSpPr/>
          <p:nvPr/>
        </p:nvSpPr>
        <p:spPr>
          <a:xfrm>
            <a:off x="411480" y="2103120"/>
            <a:ext cx="192024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Non → Hors champ</a:t>
            </a:r>
            <a:endParaRPr lang="en-US" sz="900" dirty="0"/>
          </a:p>
        </p:txBody>
      </p:sp>
      <p:sp>
        <p:nvSpPr>
          <p:cNvPr id="16" name="Shape 14"/>
          <p:cNvSpPr/>
          <p:nvPr/>
        </p:nvSpPr>
        <p:spPr>
          <a:xfrm>
            <a:off x="4572000" y="1901952"/>
            <a:ext cx="0" cy="201168"/>
          </a:xfrm>
          <a:prstGeom prst="line">
            <a:avLst/>
          </a:prstGeom>
          <a:noFill/>
          <a:ln w="15240">
            <a:solidFill>
              <a:srgbClr val="6B7A8D"/>
            </a:solidFill>
            <a:prstDash val="solid"/>
          </a:ln>
        </p:spPr>
        <p:txBody>
          <a:bodyPr/>
          <a:lstStyle/>
          <a:p>
            <a:endParaRPr lang="fr-FR"/>
          </a:p>
        </p:txBody>
      </p:sp>
      <p:sp>
        <p:nvSpPr>
          <p:cNvPr id="17" name="Shape 15"/>
          <p:cNvSpPr/>
          <p:nvPr/>
        </p:nvSpPr>
        <p:spPr>
          <a:xfrm>
            <a:off x="3291840" y="2103120"/>
            <a:ext cx="2560320" cy="384048"/>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337560" y="2103120"/>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payant (onéreux) ?</a:t>
            </a:r>
            <a:endParaRPr lang="en-US" sz="950" dirty="0"/>
          </a:p>
        </p:txBody>
      </p:sp>
      <p:sp>
        <p:nvSpPr>
          <p:cNvPr id="19" name="Shape 17"/>
          <p:cNvSpPr/>
          <p:nvPr/>
        </p:nvSpPr>
        <p:spPr>
          <a:xfrm>
            <a:off x="4572000" y="2487168"/>
            <a:ext cx="0" cy="256032"/>
          </a:xfrm>
          <a:prstGeom prst="line">
            <a:avLst/>
          </a:prstGeom>
          <a:noFill/>
          <a:ln w="15240">
            <a:solidFill>
              <a:srgbClr val="6B7A8D"/>
            </a:solidFill>
            <a:prstDash val="solid"/>
          </a:ln>
        </p:spPr>
        <p:txBody>
          <a:bodyPr/>
          <a:lstStyle/>
          <a:p>
            <a:endParaRPr lang="fr-FR"/>
          </a:p>
        </p:txBody>
      </p:sp>
      <p:sp>
        <p:nvSpPr>
          <p:cNvPr id="20" name="Shape 18"/>
          <p:cNvSpPr/>
          <p:nvPr/>
        </p:nvSpPr>
        <p:spPr>
          <a:xfrm>
            <a:off x="1371600" y="2743200"/>
            <a:ext cx="6400800" cy="0"/>
          </a:xfrm>
          <a:prstGeom prst="line">
            <a:avLst/>
          </a:prstGeom>
          <a:noFill/>
          <a:ln w="15240">
            <a:solidFill>
              <a:srgbClr val="6B7A8D"/>
            </a:solidFill>
            <a:prstDash val="solid"/>
          </a:ln>
        </p:spPr>
        <p:txBody>
          <a:bodyPr/>
          <a:lstStyle/>
          <a:p>
            <a:endParaRPr lang="fr-FR"/>
          </a:p>
        </p:txBody>
      </p:sp>
      <p:sp>
        <p:nvSpPr>
          <p:cNvPr id="21" name="Shape 19"/>
          <p:cNvSpPr/>
          <p:nvPr/>
        </p:nvSpPr>
        <p:spPr>
          <a:xfrm>
            <a:off x="1371600" y="2743200"/>
            <a:ext cx="0" cy="201168"/>
          </a:xfrm>
          <a:prstGeom prst="line">
            <a:avLst/>
          </a:prstGeom>
          <a:noFill/>
          <a:ln w="15240">
            <a:solidFill>
              <a:srgbClr val="6B7A8D"/>
            </a:solidFill>
            <a:prstDash val="solid"/>
          </a:ln>
        </p:spPr>
        <p:txBody>
          <a:bodyPr/>
          <a:lstStyle/>
          <a:p>
            <a:endParaRPr lang="fr-FR"/>
          </a:p>
        </p:txBody>
      </p:sp>
      <p:sp>
        <p:nvSpPr>
          <p:cNvPr id="22" name="Shape 20"/>
          <p:cNvSpPr/>
          <p:nvPr/>
        </p:nvSpPr>
        <p:spPr>
          <a:xfrm>
            <a:off x="274320" y="2944368"/>
            <a:ext cx="2194560" cy="384048"/>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320040" y="2944368"/>
            <a:ext cx="210312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Non → Covoiturage</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ou transport privé</a:t>
            </a:r>
            <a:endParaRPr lang="en-US" sz="900" dirty="0"/>
          </a:p>
        </p:txBody>
      </p:sp>
      <p:sp>
        <p:nvSpPr>
          <p:cNvPr id="24" name="Shape 22"/>
          <p:cNvSpPr/>
          <p:nvPr/>
        </p:nvSpPr>
        <p:spPr>
          <a:xfrm>
            <a:off x="7772400" y="2743200"/>
            <a:ext cx="0" cy="201168"/>
          </a:xfrm>
          <a:prstGeom prst="line">
            <a:avLst/>
          </a:prstGeom>
          <a:noFill/>
          <a:ln w="15240">
            <a:solidFill>
              <a:srgbClr val="6B7A8D"/>
            </a:solidFill>
            <a:prstDash val="solid"/>
          </a:ln>
        </p:spPr>
        <p:txBody>
          <a:bodyPr/>
          <a:lstStyle/>
          <a:p>
            <a:endParaRPr lang="fr-FR"/>
          </a:p>
        </p:txBody>
      </p:sp>
      <p:sp>
        <p:nvSpPr>
          <p:cNvPr id="25" name="Shape 23"/>
          <p:cNvSpPr/>
          <p:nvPr/>
        </p:nvSpPr>
        <p:spPr>
          <a:xfrm>
            <a:off x="6766560" y="2944368"/>
            <a:ext cx="1920240" cy="384048"/>
          </a:xfrm>
          <a:prstGeom prst="rect">
            <a:avLst/>
          </a:prstGeom>
          <a:solidFill>
            <a:srgbClr val="C0392B"/>
          </a:solidFill>
          <a:ln w="12700">
            <a:solidFill>
              <a:srgbClr val="C0392B"/>
            </a:solidFill>
            <a:prstDash val="solid"/>
          </a:ln>
        </p:spPr>
        <p:txBody>
          <a:bodyPr/>
          <a:lstStyle/>
          <a:p>
            <a:endParaRPr lang="fr-FR"/>
          </a:p>
        </p:txBody>
      </p:sp>
      <p:sp>
        <p:nvSpPr>
          <p:cNvPr id="26" name="Text 24"/>
          <p:cNvSpPr/>
          <p:nvPr/>
        </p:nvSpPr>
        <p:spPr>
          <a:xfrm>
            <a:off x="6812280" y="2944368"/>
            <a:ext cx="182880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Oui mais collectif</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 TPC (bus/tram)</a:t>
            </a:r>
            <a:endParaRPr lang="en-US" sz="900" dirty="0"/>
          </a:p>
        </p:txBody>
      </p:sp>
      <p:sp>
        <p:nvSpPr>
          <p:cNvPr id="27" name="Shape 25"/>
          <p:cNvSpPr/>
          <p:nvPr/>
        </p:nvSpPr>
        <p:spPr>
          <a:xfrm>
            <a:off x="4572000" y="2743200"/>
            <a:ext cx="0" cy="201168"/>
          </a:xfrm>
          <a:prstGeom prst="line">
            <a:avLst/>
          </a:prstGeom>
          <a:noFill/>
          <a:ln w="15240">
            <a:solidFill>
              <a:srgbClr val="6B7A8D"/>
            </a:solidFill>
            <a:prstDash val="solid"/>
          </a:ln>
        </p:spPr>
        <p:txBody>
          <a:bodyPr/>
          <a:lstStyle/>
          <a:p>
            <a:endParaRPr lang="fr-FR"/>
          </a:p>
        </p:txBody>
      </p:sp>
      <p:sp>
        <p:nvSpPr>
          <p:cNvPr id="28" name="Shape 26"/>
          <p:cNvSpPr/>
          <p:nvPr/>
        </p:nvSpPr>
        <p:spPr>
          <a:xfrm>
            <a:off x="3291840" y="2944368"/>
            <a:ext cx="2560320" cy="384048"/>
          </a:xfrm>
          <a:prstGeom prst="rect">
            <a:avLst/>
          </a:prstGeom>
          <a:solidFill>
            <a:srgbClr val="2860A8"/>
          </a:solidFill>
          <a:ln w="12700">
            <a:solidFill>
              <a:srgbClr val="2860A8"/>
            </a:solidFill>
            <a:prstDash val="solid"/>
          </a:ln>
        </p:spPr>
        <p:txBody>
          <a:bodyPr/>
          <a:lstStyle/>
          <a:p>
            <a:endParaRPr lang="fr-FR"/>
          </a:p>
        </p:txBody>
      </p:sp>
      <p:sp>
        <p:nvSpPr>
          <p:cNvPr id="29" name="Text 27"/>
          <p:cNvSpPr/>
          <p:nvPr/>
        </p:nvSpPr>
        <p:spPr>
          <a:xfrm>
            <a:off x="3337560" y="2944368"/>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À la demande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d'un client précis ?</a:t>
            </a:r>
            <a:endParaRPr lang="en-US" sz="950" dirty="0"/>
          </a:p>
        </p:txBody>
      </p:sp>
      <p:sp>
        <p:nvSpPr>
          <p:cNvPr id="30" name="Shape 28"/>
          <p:cNvSpPr/>
          <p:nvPr/>
        </p:nvSpPr>
        <p:spPr>
          <a:xfrm>
            <a:off x="4572000" y="3328416"/>
            <a:ext cx="0" cy="237744"/>
          </a:xfrm>
          <a:prstGeom prst="line">
            <a:avLst/>
          </a:prstGeom>
          <a:noFill/>
          <a:ln w="15240">
            <a:solidFill>
              <a:srgbClr val="6B7A8D"/>
            </a:solidFill>
            <a:prstDash val="solid"/>
          </a:ln>
        </p:spPr>
        <p:txBody>
          <a:bodyPr/>
          <a:lstStyle/>
          <a:p>
            <a:endParaRPr lang="fr-FR"/>
          </a:p>
        </p:txBody>
      </p:sp>
      <p:sp>
        <p:nvSpPr>
          <p:cNvPr id="31" name="Shape 29"/>
          <p:cNvSpPr/>
          <p:nvPr/>
        </p:nvSpPr>
        <p:spPr>
          <a:xfrm>
            <a:off x="3154680" y="3566160"/>
            <a:ext cx="2834640" cy="530352"/>
          </a:xfrm>
          <a:prstGeom prst="rect">
            <a:avLst/>
          </a:prstGeom>
          <a:solidFill>
            <a:srgbClr val="2E7D32"/>
          </a:solidFill>
          <a:ln w="12700">
            <a:solidFill>
              <a:srgbClr val="2E7D32"/>
            </a:solidFill>
            <a:prstDash val="solid"/>
          </a:ln>
        </p:spPr>
        <p:txBody>
          <a:bodyPr/>
          <a:lstStyle/>
          <a:p>
            <a:endParaRPr lang="fr-FR"/>
          </a:p>
        </p:txBody>
      </p:sp>
      <p:sp>
        <p:nvSpPr>
          <p:cNvPr id="32" name="Text 30"/>
          <p:cNvSpPr/>
          <p:nvPr/>
        </p:nvSpPr>
        <p:spPr>
          <a:xfrm>
            <a:off x="3200400" y="3566160"/>
            <a:ext cx="2743200" cy="53035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OUI → Prestation T3P</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TAXI / VTC / VMDTR</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Carte professionnelle obligatoire</a:t>
            </a:r>
            <a:endParaRPr lang="en-US" sz="900" dirty="0"/>
          </a:p>
        </p:txBody>
      </p:sp>
      <p:sp>
        <p:nvSpPr>
          <p:cNvPr id="33" name="Shape 31"/>
          <p:cNvSpPr/>
          <p:nvPr/>
        </p:nvSpPr>
        <p:spPr>
          <a:xfrm>
            <a:off x="274320" y="4224528"/>
            <a:ext cx="8595360" cy="347472"/>
          </a:xfrm>
          <a:prstGeom prst="rect">
            <a:avLst/>
          </a:prstGeom>
          <a:solidFill>
            <a:srgbClr val="EDF7EE"/>
          </a:solidFill>
          <a:ln w="19050">
            <a:solidFill>
              <a:srgbClr val="2E7D32"/>
            </a:solidFill>
            <a:prstDash val="solid"/>
          </a:ln>
        </p:spPr>
        <p:txBody>
          <a:bodyPr/>
          <a:lstStyle/>
          <a:p>
            <a:endParaRPr lang="fr-FR"/>
          </a:p>
        </p:txBody>
      </p:sp>
      <p:sp>
        <p:nvSpPr>
          <p:cNvPr id="34" name="Shape 32"/>
          <p:cNvSpPr/>
          <p:nvPr/>
        </p:nvSpPr>
        <p:spPr>
          <a:xfrm>
            <a:off x="274320" y="4224528"/>
            <a:ext cx="54864" cy="347472"/>
          </a:xfrm>
          <a:prstGeom prst="rect">
            <a:avLst/>
          </a:prstGeom>
          <a:solidFill>
            <a:srgbClr val="2E7D32"/>
          </a:solidFill>
          <a:ln w="12700">
            <a:solidFill>
              <a:srgbClr val="2E7D32"/>
            </a:solidFill>
            <a:prstDash val="solid"/>
          </a:ln>
        </p:spPr>
        <p:txBody>
          <a:bodyPr/>
          <a:lstStyle/>
          <a:p>
            <a:endParaRPr lang="fr-FR"/>
          </a:p>
        </p:txBody>
      </p:sp>
      <p:sp>
        <p:nvSpPr>
          <p:cNvPr id="35" name="Text 33"/>
          <p:cNvSpPr/>
          <p:nvPr/>
        </p:nvSpPr>
        <p:spPr>
          <a:xfrm>
            <a:off x="384048" y="422452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La prestation T3P = Transport de personnes + payant + à la demande d'un client précis + exercé par Taxi, VTC ou VMDTR avec carte professionnelle.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4. Non-inscription aux examens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Les 3 situations qui empêchent de s'inscrire à l'examen</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18/88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de non-inscription aux examens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3 situations bloquantes — Art. R3120-1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19/88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de postuler à l'examen T3P, il faut vérifier que l'on ne se trouve pas dans l'une des 3 situations suivantes. Ces cas d'exclusion visent à protéger la sécurité des passagers et l'intégrité de la profession.</a:t>
            </a:r>
            <a:endParaRPr lang="en-US" sz="1200" dirty="0"/>
          </a:p>
        </p:txBody>
      </p:sp>
      <p:sp>
        <p:nvSpPr>
          <p:cNvPr id="10" name="Shape 8"/>
          <p:cNvSpPr/>
          <p:nvPr/>
        </p:nvSpPr>
        <p:spPr>
          <a:xfrm>
            <a:off x="27432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27632"/>
            <a:ext cx="274320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1 — RETRAIT DÉFINITIF DE CARTE</a:t>
            </a:r>
            <a:endParaRPr lang="en-US" sz="1000" dirty="0"/>
          </a:p>
        </p:txBody>
      </p:sp>
      <p:sp>
        <p:nvSpPr>
          <p:cNvPr id="13" name="Shape 11"/>
          <p:cNvSpPr/>
          <p:nvPr/>
        </p:nvSpPr>
        <p:spPr>
          <a:xfrm>
            <a:off x="548640" y="1993392"/>
            <a:ext cx="2194560" cy="475488"/>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54864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 ANS</a:t>
            </a:r>
            <a:endParaRPr lang="en-US" sz="1600" dirty="0"/>
          </a:p>
        </p:txBody>
      </p:sp>
      <p:sp>
        <p:nvSpPr>
          <p:cNvPr id="15" name="Text 13"/>
          <p:cNvSpPr/>
          <p:nvPr/>
        </p:nvSpPr>
        <p:spPr>
          <a:xfrm>
            <a:off x="36576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10 ans qui précèdent la demande, d'un RETRAIT DÉFINITIF de la carte professionnelle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En cas de violation grave de la réglementation, le préfet peut prononcer un retrait définitif. Ce conducteur ne peut plus s'inscrire pendant 10 ans pour protéger le public.</a:t>
            </a:r>
            <a:endParaRPr lang="en-US" sz="1000" dirty="0"/>
          </a:p>
        </p:txBody>
      </p:sp>
      <p:sp>
        <p:nvSpPr>
          <p:cNvPr id="16" name="Shape 14"/>
          <p:cNvSpPr/>
          <p:nvPr/>
        </p:nvSpPr>
        <p:spPr>
          <a:xfrm>
            <a:off x="315468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3154680" y="1627632"/>
            <a:ext cx="2743200" cy="301752"/>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22783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2 — FRAUDE À L'EXAMEN</a:t>
            </a:r>
            <a:endParaRPr lang="en-US" sz="1000" dirty="0"/>
          </a:p>
        </p:txBody>
      </p:sp>
      <p:sp>
        <p:nvSpPr>
          <p:cNvPr id="19" name="Shape 17"/>
          <p:cNvSpPr/>
          <p:nvPr/>
        </p:nvSpPr>
        <p:spPr>
          <a:xfrm>
            <a:off x="3429000" y="1993392"/>
            <a:ext cx="2194560" cy="475488"/>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2900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ANS</a:t>
            </a:r>
            <a:endParaRPr lang="en-US" sz="1600" dirty="0"/>
          </a:p>
        </p:txBody>
      </p:sp>
      <p:sp>
        <p:nvSpPr>
          <p:cNvPr id="21" name="Text 19"/>
          <p:cNvSpPr/>
          <p:nvPr/>
        </p:nvSpPr>
        <p:spPr>
          <a:xfrm>
            <a:off x="324612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5 ans qui précèdent la demande, d'une EXCLUSION POUR FRAUDE lors d'une session d'examen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La fraude inclut : utilisation d'antisèche, aide extérieure non autorisée, usurpation d'identité lors d'une épreuve.</a:t>
            </a:r>
            <a:endParaRPr lang="en-US" sz="1000" dirty="0"/>
          </a:p>
        </p:txBody>
      </p:sp>
      <p:sp>
        <p:nvSpPr>
          <p:cNvPr id="22" name="Shape 20"/>
          <p:cNvSpPr/>
          <p:nvPr/>
        </p:nvSpPr>
        <p:spPr>
          <a:xfrm>
            <a:off x="603504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6035040" y="1627632"/>
            <a:ext cx="2743200" cy="301752"/>
          </a:xfrm>
          <a:prstGeom prst="rect">
            <a:avLst/>
          </a:prstGeom>
          <a:solidFill>
            <a:srgbClr val="F4A227"/>
          </a:solidFill>
          <a:ln w="12700">
            <a:solidFill>
              <a:srgbClr val="F4A227"/>
            </a:solidFill>
            <a:prstDash val="solid"/>
          </a:ln>
        </p:spPr>
        <p:txBody>
          <a:bodyPr/>
          <a:lstStyle/>
          <a:p>
            <a:endParaRPr lang="fr-FR"/>
          </a:p>
        </p:txBody>
      </p:sp>
      <p:sp>
        <p:nvSpPr>
          <p:cNvPr id="24" name="Text 22"/>
          <p:cNvSpPr/>
          <p:nvPr/>
        </p:nvSpPr>
        <p:spPr>
          <a:xfrm>
            <a:off x="610819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3 — PERMIS PROBATOIRE</a:t>
            </a:r>
            <a:endParaRPr lang="en-US" sz="1000" dirty="0"/>
          </a:p>
        </p:txBody>
      </p:sp>
      <p:sp>
        <p:nvSpPr>
          <p:cNvPr id="25" name="Shape 23"/>
          <p:cNvSpPr/>
          <p:nvPr/>
        </p:nvSpPr>
        <p:spPr>
          <a:xfrm>
            <a:off x="6309360" y="1993392"/>
            <a:ext cx="2194560" cy="475488"/>
          </a:xfrm>
          <a:prstGeom prst="rect">
            <a:avLst/>
          </a:prstGeom>
          <a:solidFill>
            <a:srgbClr val="F4A227"/>
          </a:solidFill>
          <a:ln w="12700">
            <a:solidFill>
              <a:srgbClr val="F4A227"/>
            </a:solidFill>
            <a:prstDash val="solid"/>
          </a:ln>
        </p:spPr>
        <p:txBody>
          <a:bodyPr/>
          <a:lstStyle/>
          <a:p>
            <a:endParaRPr lang="fr-FR"/>
          </a:p>
        </p:txBody>
      </p:sp>
      <p:sp>
        <p:nvSpPr>
          <p:cNvPr id="26" name="Text 24"/>
          <p:cNvSpPr/>
          <p:nvPr/>
        </p:nvSpPr>
        <p:spPr>
          <a:xfrm>
            <a:off x="630936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Accès impossible</a:t>
            </a:r>
            <a:endParaRPr lang="en-US" sz="1600" dirty="0"/>
          </a:p>
        </p:txBody>
      </p:sp>
      <p:sp>
        <p:nvSpPr>
          <p:cNvPr id="27" name="Text 25"/>
          <p:cNvSpPr/>
          <p:nvPr/>
        </p:nvSpPr>
        <p:spPr>
          <a:xfrm>
            <a:off x="612648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être en période probatoire de permis de conduire.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Minimum requis : 2 ans de permis en conduite accompagnée (AAC) ou 3 ans en conduite normale. Un conducteur trop jeune n'a pas l'expérience suffisante pour transporter des passagers en sécurité.</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Non-inscription aux examens — Schéma récapitulatif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20/88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vérifier son éligibilité à l'inscription à l'examen T3P :</a:t>
            </a:r>
            <a:endParaRPr lang="en-US" sz="1200" dirty="0"/>
          </a:p>
        </p:txBody>
      </p:sp>
      <p:sp>
        <p:nvSpPr>
          <p:cNvPr id="9" name="Shape 7"/>
          <p:cNvSpPr/>
          <p:nvPr/>
        </p:nvSpPr>
        <p:spPr>
          <a:xfrm>
            <a:off x="365760" y="1261872"/>
            <a:ext cx="1645920" cy="91440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6576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10 ANS</a:t>
            </a:r>
            <a:endParaRPr lang="en-US" sz="3400" dirty="0"/>
          </a:p>
        </p:txBody>
      </p:sp>
      <p:sp>
        <p:nvSpPr>
          <p:cNvPr id="11" name="Text 9"/>
          <p:cNvSpPr/>
          <p:nvPr/>
        </p:nvSpPr>
        <p:spPr>
          <a:xfrm>
            <a:off x="36576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Délai retrait</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définitif carte</a:t>
            </a:r>
            <a:endParaRPr lang="en-US" sz="900" dirty="0"/>
          </a:p>
        </p:txBody>
      </p:sp>
      <p:sp>
        <p:nvSpPr>
          <p:cNvPr id="12" name="Shape 10"/>
          <p:cNvSpPr/>
          <p:nvPr/>
        </p:nvSpPr>
        <p:spPr>
          <a:xfrm>
            <a:off x="2240280" y="1261872"/>
            <a:ext cx="1645920" cy="914400"/>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24028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5 ANS</a:t>
            </a:r>
            <a:endParaRPr lang="en-US" sz="3400" dirty="0"/>
          </a:p>
        </p:txBody>
      </p:sp>
      <p:sp>
        <p:nvSpPr>
          <p:cNvPr id="14" name="Text 12"/>
          <p:cNvSpPr/>
          <p:nvPr/>
        </p:nvSpPr>
        <p:spPr>
          <a:xfrm>
            <a:off x="224028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Délai exclusion</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pour fraude</a:t>
            </a:r>
            <a:endParaRPr lang="en-US" sz="900" dirty="0"/>
          </a:p>
        </p:txBody>
      </p:sp>
      <p:sp>
        <p:nvSpPr>
          <p:cNvPr id="15" name="Shape 13"/>
          <p:cNvSpPr/>
          <p:nvPr/>
        </p:nvSpPr>
        <p:spPr>
          <a:xfrm>
            <a:off x="4114800" y="1261872"/>
            <a:ext cx="1645920" cy="914400"/>
          </a:xfrm>
          <a:prstGeom prst="rect">
            <a:avLst/>
          </a:prstGeom>
          <a:solidFill>
            <a:srgbClr val="F4A227"/>
          </a:solidFill>
          <a:ln w="12700">
            <a:solidFill>
              <a:srgbClr val="F4A227"/>
            </a:solidFill>
            <a:prstDash val="solid"/>
          </a:ln>
        </p:spPr>
        <p:txBody>
          <a:bodyPr/>
          <a:lstStyle/>
          <a:p>
            <a:endParaRPr lang="fr-FR"/>
          </a:p>
        </p:txBody>
      </p:sp>
      <p:sp>
        <p:nvSpPr>
          <p:cNvPr id="16" name="Text 14"/>
          <p:cNvSpPr/>
          <p:nvPr/>
        </p:nvSpPr>
        <p:spPr>
          <a:xfrm>
            <a:off x="411480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3 ans</a:t>
            </a:r>
            <a:endParaRPr lang="en-US" sz="3400" dirty="0"/>
          </a:p>
        </p:txBody>
      </p:sp>
      <p:sp>
        <p:nvSpPr>
          <p:cNvPr id="17" name="Text 15"/>
          <p:cNvSpPr/>
          <p:nvPr/>
        </p:nvSpPr>
        <p:spPr>
          <a:xfrm>
            <a:off x="411480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Permis normal</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(hors probatoire)</a:t>
            </a:r>
            <a:endParaRPr lang="en-US" sz="900" dirty="0"/>
          </a:p>
        </p:txBody>
      </p:sp>
      <p:sp>
        <p:nvSpPr>
          <p:cNvPr id="18" name="Shape 16"/>
          <p:cNvSpPr/>
          <p:nvPr/>
        </p:nvSpPr>
        <p:spPr>
          <a:xfrm>
            <a:off x="5989320" y="1261872"/>
            <a:ext cx="1645920" cy="914400"/>
          </a:xfrm>
          <a:prstGeom prst="rect">
            <a:avLst/>
          </a:prstGeom>
          <a:solidFill>
            <a:srgbClr val="F4A227"/>
          </a:solidFill>
          <a:ln w="12700">
            <a:solidFill>
              <a:srgbClr val="F4A227"/>
            </a:solidFill>
            <a:prstDash val="solid"/>
          </a:ln>
        </p:spPr>
        <p:txBody>
          <a:bodyPr/>
          <a:lstStyle/>
          <a:p>
            <a:endParaRPr lang="fr-FR"/>
          </a:p>
        </p:txBody>
      </p:sp>
      <p:sp>
        <p:nvSpPr>
          <p:cNvPr id="19" name="Text 17"/>
          <p:cNvSpPr/>
          <p:nvPr/>
        </p:nvSpPr>
        <p:spPr>
          <a:xfrm>
            <a:off x="598932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2 ans</a:t>
            </a:r>
            <a:endParaRPr lang="en-US" sz="3400" dirty="0"/>
          </a:p>
        </p:txBody>
      </p:sp>
      <p:sp>
        <p:nvSpPr>
          <p:cNvPr id="20" name="Text 18"/>
          <p:cNvSpPr/>
          <p:nvPr/>
        </p:nvSpPr>
        <p:spPr>
          <a:xfrm>
            <a:off x="598932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Permis AAC</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(hors probatoire)</a:t>
            </a:r>
            <a:endParaRPr lang="en-US" sz="900" dirty="0"/>
          </a:p>
        </p:txBody>
      </p:sp>
      <p:sp>
        <p:nvSpPr>
          <p:cNvPr id="21" name="Text 19"/>
          <p:cNvSpPr/>
          <p:nvPr/>
        </p:nvSpPr>
        <p:spPr>
          <a:xfrm>
            <a:off x="274320" y="230428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Vérification d'éligibilité :</a:t>
            </a:r>
            <a:endParaRPr lang="en-US" sz="1200" dirty="0"/>
          </a:p>
        </p:txBody>
      </p:sp>
      <p:sp>
        <p:nvSpPr>
          <p:cNvPr id="22" name="Shape 20"/>
          <p:cNvSpPr/>
          <p:nvPr/>
        </p:nvSpPr>
        <p:spPr>
          <a:xfrm>
            <a:off x="274320"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23" name="Text 21"/>
          <p:cNvSpPr/>
          <p:nvPr/>
        </p:nvSpPr>
        <p:spPr>
          <a:xfrm>
            <a:off x="320040"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Retrait définitif</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dans les 10 ans ?</a:t>
            </a:r>
            <a:endParaRPr lang="en-US" sz="950" dirty="0"/>
          </a:p>
        </p:txBody>
      </p:sp>
      <p:sp>
        <p:nvSpPr>
          <p:cNvPr id="24" name="Shape 22"/>
          <p:cNvSpPr/>
          <p:nvPr/>
        </p:nvSpPr>
        <p:spPr>
          <a:xfrm>
            <a:off x="1298448" y="3255264"/>
            <a:ext cx="0" cy="256032"/>
          </a:xfrm>
          <a:prstGeom prst="line">
            <a:avLst/>
          </a:prstGeom>
          <a:noFill/>
          <a:ln w="25400">
            <a:solidFill>
              <a:srgbClr val="C0392B"/>
            </a:solidFill>
            <a:prstDash val="solid"/>
          </a:ln>
        </p:spPr>
        <p:txBody>
          <a:bodyPr/>
          <a:lstStyle/>
          <a:p>
            <a:endParaRPr lang="fr-FR"/>
          </a:p>
        </p:txBody>
      </p:sp>
      <p:sp>
        <p:nvSpPr>
          <p:cNvPr id="25" name="Shape 23"/>
          <p:cNvSpPr/>
          <p:nvPr/>
        </p:nvSpPr>
        <p:spPr>
          <a:xfrm>
            <a:off x="274320"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26" name="Text 24"/>
          <p:cNvSpPr/>
          <p:nvPr/>
        </p:nvSpPr>
        <p:spPr>
          <a:xfrm>
            <a:off x="320040"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10 ans</a:t>
            </a:r>
            <a:endParaRPr lang="en-US" sz="950" dirty="0"/>
          </a:p>
        </p:txBody>
      </p:sp>
      <p:sp>
        <p:nvSpPr>
          <p:cNvPr id="27" name="Shape 25"/>
          <p:cNvSpPr/>
          <p:nvPr/>
        </p:nvSpPr>
        <p:spPr>
          <a:xfrm>
            <a:off x="2487168"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28" name="Text 26"/>
          <p:cNvSpPr/>
          <p:nvPr/>
        </p:nvSpPr>
        <p:spPr>
          <a:xfrm>
            <a:off x="2532888"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Fraude à l'examen</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dans les 5 ans ?</a:t>
            </a:r>
            <a:endParaRPr lang="en-US" sz="950" dirty="0"/>
          </a:p>
        </p:txBody>
      </p:sp>
      <p:sp>
        <p:nvSpPr>
          <p:cNvPr id="29" name="Shape 27"/>
          <p:cNvSpPr/>
          <p:nvPr/>
        </p:nvSpPr>
        <p:spPr>
          <a:xfrm>
            <a:off x="3511296" y="3255264"/>
            <a:ext cx="0" cy="256032"/>
          </a:xfrm>
          <a:prstGeom prst="line">
            <a:avLst/>
          </a:prstGeom>
          <a:noFill/>
          <a:ln w="25400">
            <a:solidFill>
              <a:srgbClr val="C0392B"/>
            </a:solidFill>
            <a:prstDash val="solid"/>
          </a:ln>
        </p:spPr>
        <p:txBody>
          <a:bodyPr/>
          <a:lstStyle/>
          <a:p>
            <a:endParaRPr lang="fr-FR"/>
          </a:p>
        </p:txBody>
      </p:sp>
      <p:sp>
        <p:nvSpPr>
          <p:cNvPr id="30" name="Shape 28"/>
          <p:cNvSpPr/>
          <p:nvPr/>
        </p:nvSpPr>
        <p:spPr>
          <a:xfrm>
            <a:off x="2487168"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2532888"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5 ans</a:t>
            </a:r>
            <a:endParaRPr lang="en-US" sz="950" dirty="0"/>
          </a:p>
        </p:txBody>
      </p:sp>
      <p:sp>
        <p:nvSpPr>
          <p:cNvPr id="32" name="Shape 30"/>
          <p:cNvSpPr/>
          <p:nvPr/>
        </p:nvSpPr>
        <p:spPr>
          <a:xfrm>
            <a:off x="4700016"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33" name="Text 31"/>
          <p:cNvSpPr/>
          <p:nvPr/>
        </p:nvSpPr>
        <p:spPr>
          <a:xfrm>
            <a:off x="4745736"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Permis en période</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probatoire ?</a:t>
            </a:r>
            <a:endParaRPr lang="en-US" sz="950" dirty="0"/>
          </a:p>
        </p:txBody>
      </p:sp>
      <p:sp>
        <p:nvSpPr>
          <p:cNvPr id="34" name="Shape 32"/>
          <p:cNvSpPr/>
          <p:nvPr/>
        </p:nvSpPr>
        <p:spPr>
          <a:xfrm>
            <a:off x="5724144" y="3255264"/>
            <a:ext cx="0" cy="256032"/>
          </a:xfrm>
          <a:prstGeom prst="line">
            <a:avLst/>
          </a:prstGeom>
          <a:noFill/>
          <a:ln w="25400">
            <a:solidFill>
              <a:srgbClr val="C0392B"/>
            </a:solidFill>
            <a:prstDash val="solid"/>
          </a:ln>
        </p:spPr>
        <p:txBody>
          <a:bodyPr/>
          <a:lstStyle/>
          <a:p>
            <a:endParaRPr lang="fr-FR"/>
          </a:p>
        </p:txBody>
      </p:sp>
      <p:sp>
        <p:nvSpPr>
          <p:cNvPr id="35" name="Shape 33"/>
          <p:cNvSpPr/>
          <p:nvPr/>
        </p:nvSpPr>
        <p:spPr>
          <a:xfrm>
            <a:off x="4700016"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36" name="Text 34"/>
          <p:cNvSpPr/>
          <p:nvPr/>
        </p:nvSpPr>
        <p:spPr>
          <a:xfrm>
            <a:off x="4745736"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jusqu'à</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fin probatoire</a:t>
            </a:r>
            <a:endParaRPr lang="en-US" sz="950" dirty="0"/>
          </a:p>
        </p:txBody>
      </p:sp>
      <p:sp>
        <p:nvSpPr>
          <p:cNvPr id="37" name="Shape 35"/>
          <p:cNvSpPr/>
          <p:nvPr/>
        </p:nvSpPr>
        <p:spPr>
          <a:xfrm>
            <a:off x="6912864"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38" name="Text 36"/>
          <p:cNvSpPr/>
          <p:nvPr/>
        </p:nvSpPr>
        <p:spPr>
          <a:xfrm>
            <a:off x="6958584"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AUCUN des 3 cas ?</a:t>
            </a:r>
            <a:endParaRPr lang="en-US" sz="950" dirty="0"/>
          </a:p>
        </p:txBody>
      </p:sp>
      <p:sp>
        <p:nvSpPr>
          <p:cNvPr id="39" name="Shape 37"/>
          <p:cNvSpPr/>
          <p:nvPr/>
        </p:nvSpPr>
        <p:spPr>
          <a:xfrm>
            <a:off x="7936992" y="3255264"/>
            <a:ext cx="0" cy="256032"/>
          </a:xfrm>
          <a:prstGeom prst="line">
            <a:avLst/>
          </a:prstGeom>
          <a:noFill/>
          <a:ln w="25400">
            <a:solidFill>
              <a:srgbClr val="2E7D32"/>
            </a:solidFill>
            <a:prstDash val="solid"/>
          </a:ln>
        </p:spPr>
        <p:txBody>
          <a:bodyPr/>
          <a:lstStyle/>
          <a:p>
            <a:endParaRPr lang="fr-FR"/>
          </a:p>
        </p:txBody>
      </p:sp>
      <p:sp>
        <p:nvSpPr>
          <p:cNvPr id="40" name="Shape 38"/>
          <p:cNvSpPr/>
          <p:nvPr/>
        </p:nvSpPr>
        <p:spPr>
          <a:xfrm>
            <a:off x="6912864" y="3511296"/>
            <a:ext cx="2057400" cy="566928"/>
          </a:xfrm>
          <a:prstGeom prst="rect">
            <a:avLst/>
          </a:prstGeom>
          <a:solidFill>
            <a:srgbClr val="2E7D32"/>
          </a:solidFill>
          <a:ln w="12700">
            <a:solidFill>
              <a:srgbClr val="2E7D32"/>
            </a:solidFill>
            <a:prstDash val="solid"/>
          </a:ln>
        </p:spPr>
        <p:txBody>
          <a:bodyPr/>
          <a:lstStyle/>
          <a:p>
            <a:endParaRPr lang="fr-FR"/>
          </a:p>
        </p:txBody>
      </p:sp>
      <p:sp>
        <p:nvSpPr>
          <p:cNvPr id="41" name="Text 39"/>
          <p:cNvSpPr/>
          <p:nvPr/>
        </p:nvSpPr>
        <p:spPr>
          <a:xfrm>
            <a:off x="6958584"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INSCRIPTION</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AUTORISÉE</a:t>
            </a:r>
            <a:endParaRPr lang="en-US" sz="950" dirty="0"/>
          </a:p>
        </p:txBody>
      </p:sp>
      <p:sp>
        <p:nvSpPr>
          <p:cNvPr id="42" name="Shape 40"/>
          <p:cNvSpPr/>
          <p:nvPr/>
        </p:nvSpPr>
        <p:spPr>
          <a:xfrm>
            <a:off x="274320" y="4224528"/>
            <a:ext cx="8595360" cy="347472"/>
          </a:xfrm>
          <a:prstGeom prst="rect">
            <a:avLst/>
          </a:prstGeom>
          <a:solidFill>
            <a:srgbClr val="FEF0EE"/>
          </a:solidFill>
          <a:ln w="19050">
            <a:solidFill>
              <a:srgbClr val="C0392B"/>
            </a:solidFill>
            <a:prstDash val="solid"/>
          </a:ln>
        </p:spPr>
        <p:txBody>
          <a:bodyPr/>
          <a:lstStyle/>
          <a:p>
            <a:endParaRPr lang="fr-FR"/>
          </a:p>
        </p:txBody>
      </p:sp>
      <p:sp>
        <p:nvSpPr>
          <p:cNvPr id="43" name="Shape 41"/>
          <p:cNvSpPr/>
          <p:nvPr/>
        </p:nvSpPr>
        <p:spPr>
          <a:xfrm>
            <a:off x="274320" y="4224528"/>
            <a:ext cx="54864" cy="347472"/>
          </a:xfrm>
          <a:prstGeom prst="rect">
            <a:avLst/>
          </a:prstGeom>
          <a:solidFill>
            <a:srgbClr val="C0392B"/>
          </a:solidFill>
          <a:ln w="12700">
            <a:solidFill>
              <a:srgbClr val="C0392B"/>
            </a:solidFill>
            <a:prstDash val="solid"/>
          </a:ln>
        </p:spPr>
        <p:txBody>
          <a:bodyPr/>
          <a:lstStyle/>
          <a:p>
            <a:endParaRPr lang="fr-FR"/>
          </a:p>
        </p:txBody>
      </p:sp>
      <p:sp>
        <p:nvSpPr>
          <p:cNvPr id="44" name="Text 42"/>
          <p:cNvSpPr/>
          <p:nvPr/>
        </p:nvSpPr>
        <p:spPr>
          <a:xfrm>
            <a:off x="384048" y="422452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Mémo examen : Retrait carte → 10 ans  |  Fraude → 5 ans  |  Permis probatoire → inscription impossible. Ces 3 cas doivent être sus par cœur.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5. Réglementation des Taxis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Statuts, tarifs, maraude, véhicule, sanctions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21/88</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Taxis — Cadre légal et statuts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textes préfectoraux + arrêté métropolitain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22/88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taxi est la profession T3P la plus ancienne et la plus réglementée. Il se distingue du VTC notamment par son droit de maraude et par des tarifs strictement encadrés par arrêté préfectoral.</a:t>
            </a:r>
            <a:endParaRPr lang="en-US" sz="1200" dirty="0"/>
          </a:p>
        </p:txBody>
      </p:sp>
      <p:sp>
        <p:nvSpPr>
          <p:cNvPr id="10" name="Shape 8"/>
          <p:cNvSpPr/>
          <p:nvPr/>
        </p:nvSpPr>
        <p:spPr>
          <a:xfrm>
            <a:off x="27432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TAXI</a:t>
            </a:r>
            <a:endParaRPr lang="en-US" sz="1050" dirty="0"/>
          </a:p>
        </p:txBody>
      </p:sp>
      <p:sp>
        <p:nvSpPr>
          <p:cNvPr id="13" name="Text 11"/>
          <p:cNvSpPr/>
          <p:nvPr/>
        </p:nvSpPr>
        <p:spPr>
          <a:xfrm>
            <a:off x="38404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Textes : Code des transports + textes préfectoraux + arrêté métropolitain.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Licence ADS obligatoire (délivrée par le Préfet). Sans ADS : DÉLIT — 1 an + 15 000 €.</a:t>
            </a:r>
            <a:endParaRPr lang="en-US" sz="1000" dirty="0"/>
          </a:p>
        </p:txBody>
      </p:sp>
      <p:sp>
        <p:nvSpPr>
          <p:cNvPr id="14" name="Shape 12"/>
          <p:cNvSpPr/>
          <p:nvPr/>
        </p:nvSpPr>
        <p:spPr>
          <a:xfrm>
            <a:off x="470916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CONDITIONS D'ACCÈS TAXI</a:t>
            </a:r>
            <a:endParaRPr lang="en-US" sz="1050" dirty="0"/>
          </a:p>
        </p:txBody>
      </p:sp>
      <p:sp>
        <p:nvSpPr>
          <p:cNvPr id="17" name="Text 15"/>
          <p:cNvSpPr/>
          <p:nvPr/>
        </p:nvSpPr>
        <p:spPr>
          <a:xfrm>
            <a:off x="481888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(examen T3P réussi — tronc commun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en cours de validité.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(Premiers Secours) — OBLIGATOIRE pour taxi uniquement.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Casier judiciaire Bulletin n°2 vierge. Permis B hors probatoire.</a:t>
            </a:r>
            <a:endParaRPr lang="en-US" sz="1000" dirty="0"/>
          </a:p>
        </p:txBody>
      </p:sp>
      <p:sp>
        <p:nvSpPr>
          <p:cNvPr id="18" name="Text 16"/>
          <p:cNvSpPr/>
          <p:nvPr/>
        </p:nvSpPr>
        <p:spPr>
          <a:xfrm>
            <a:off x="274320" y="294436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Les 4 statuts d'exercice possibles pour un taxi :</a:t>
            </a:r>
            <a:endParaRPr lang="en-US" sz="1200" dirty="0"/>
          </a:p>
        </p:txBody>
      </p:sp>
      <p:sp>
        <p:nvSpPr>
          <p:cNvPr id="19" name="Shape 17"/>
          <p:cNvSpPr/>
          <p:nvPr/>
        </p:nvSpPr>
        <p:spPr>
          <a:xfrm>
            <a:off x="27432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32918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ARTISAN</a:t>
            </a:r>
            <a:endParaRPr lang="en-US" sz="950" dirty="0"/>
          </a:p>
        </p:txBody>
      </p:sp>
      <p:sp>
        <p:nvSpPr>
          <p:cNvPr id="22" name="Text 20"/>
          <p:cNvSpPr/>
          <p:nvPr/>
        </p:nvSpPr>
        <p:spPr>
          <a:xfrm>
            <a:off x="34747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Il dispose de sa propre licence (ADS). Il est propriétaire de son droit d'exercer.</a:t>
            </a:r>
            <a:endParaRPr lang="en-US" sz="1000" dirty="0"/>
          </a:p>
        </p:txBody>
      </p:sp>
      <p:sp>
        <p:nvSpPr>
          <p:cNvPr id="23" name="Shape 21"/>
          <p:cNvSpPr/>
          <p:nvPr/>
        </p:nvSpPr>
        <p:spPr>
          <a:xfrm>
            <a:off x="246888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46888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5" name="Text 23"/>
          <p:cNvSpPr/>
          <p:nvPr/>
        </p:nvSpPr>
        <p:spPr>
          <a:xfrm>
            <a:off x="252374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SALARIÉ</a:t>
            </a:r>
            <a:endParaRPr lang="en-US" sz="950" dirty="0"/>
          </a:p>
        </p:txBody>
      </p:sp>
      <p:sp>
        <p:nvSpPr>
          <p:cNvPr id="26" name="Text 24"/>
          <p:cNvSpPr/>
          <p:nvPr/>
        </p:nvSpPr>
        <p:spPr>
          <a:xfrm>
            <a:off x="254203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Titulaire de la carte pro mais travaille pour un employeur qui possède l'ADS.</a:t>
            </a:r>
            <a:endParaRPr lang="en-US" sz="1000" dirty="0"/>
          </a:p>
        </p:txBody>
      </p:sp>
      <p:sp>
        <p:nvSpPr>
          <p:cNvPr id="27" name="Shape 25"/>
          <p:cNvSpPr/>
          <p:nvPr/>
        </p:nvSpPr>
        <p:spPr>
          <a:xfrm>
            <a:off x="466344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466344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9" name="Text 27"/>
          <p:cNvSpPr/>
          <p:nvPr/>
        </p:nvSpPr>
        <p:spPr>
          <a:xfrm>
            <a:off x="471830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LOCATAIRE-GÉRANT</a:t>
            </a:r>
            <a:endParaRPr lang="en-US" sz="950" dirty="0"/>
          </a:p>
        </p:txBody>
      </p:sp>
      <p:sp>
        <p:nvSpPr>
          <p:cNvPr id="30" name="Text 28"/>
          <p:cNvSpPr/>
          <p:nvPr/>
        </p:nvSpPr>
        <p:spPr>
          <a:xfrm>
            <a:off x="473659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Loue la licence (ADS) ET le véhicule à un titulaire contre paiement d'un loyer.</a:t>
            </a:r>
            <a:endParaRPr lang="en-US" sz="1000" dirty="0"/>
          </a:p>
        </p:txBody>
      </p:sp>
      <p:sp>
        <p:nvSpPr>
          <p:cNvPr id="31" name="Shape 29"/>
          <p:cNvSpPr/>
          <p:nvPr/>
        </p:nvSpPr>
        <p:spPr>
          <a:xfrm>
            <a:off x="685800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32" name="Shape 30"/>
          <p:cNvSpPr/>
          <p:nvPr/>
        </p:nvSpPr>
        <p:spPr>
          <a:xfrm>
            <a:off x="685800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33" name="Text 31"/>
          <p:cNvSpPr/>
          <p:nvPr/>
        </p:nvSpPr>
        <p:spPr>
          <a:xfrm>
            <a:off x="691286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ACTIONNAIRE</a:t>
            </a:r>
            <a:endParaRPr lang="en-US" sz="950" dirty="0"/>
          </a:p>
        </p:txBody>
      </p:sp>
      <p:sp>
        <p:nvSpPr>
          <p:cNvPr id="34" name="Text 32"/>
          <p:cNvSpPr/>
          <p:nvPr/>
        </p:nvSpPr>
        <p:spPr>
          <a:xfrm>
            <a:off x="693115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Achète des parts d'une société de taxi (ex : Taxi Radio) qui détient les licences.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4 statuts du Taxi — Schéma comparatif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23/88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Qui possède quoi selon le statut du conducteur taxi :</a:t>
            </a:r>
            <a:endParaRPr lang="en-US" sz="1200" dirty="0"/>
          </a:p>
        </p:txBody>
      </p:sp>
      <p:sp>
        <p:nvSpPr>
          <p:cNvPr id="9" name="Shape 7"/>
          <p:cNvSpPr/>
          <p:nvPr/>
        </p:nvSpPr>
        <p:spPr>
          <a:xfrm>
            <a:off x="274320"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0" name="Shape 8"/>
          <p:cNvSpPr/>
          <p:nvPr/>
        </p:nvSpPr>
        <p:spPr>
          <a:xfrm>
            <a:off x="274320" y="1261872"/>
            <a:ext cx="2084832"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320040"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ARTISAN</a:t>
            </a:r>
            <a:endParaRPr lang="en-US" sz="1100" dirty="0"/>
          </a:p>
        </p:txBody>
      </p:sp>
      <p:sp>
        <p:nvSpPr>
          <p:cNvPr id="12" name="Text 10"/>
          <p:cNvSpPr/>
          <p:nvPr/>
        </p:nvSpPr>
        <p:spPr>
          <a:xfrm>
            <a:off x="347472"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Propre ADS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véhicule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client ✔</a:t>
            </a:r>
            <a:endParaRPr lang="en-US" sz="1050" dirty="0"/>
          </a:p>
        </p:txBody>
      </p:sp>
      <p:sp>
        <p:nvSpPr>
          <p:cNvPr id="13" name="Shape 11"/>
          <p:cNvSpPr/>
          <p:nvPr/>
        </p:nvSpPr>
        <p:spPr>
          <a:xfrm>
            <a:off x="365760" y="3337560"/>
            <a:ext cx="1901952" cy="237744"/>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365760"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Indépendant total</a:t>
            </a:r>
            <a:endParaRPr lang="en-US" sz="900" dirty="0"/>
          </a:p>
        </p:txBody>
      </p:sp>
      <p:sp>
        <p:nvSpPr>
          <p:cNvPr id="15" name="Shape 13"/>
          <p:cNvSpPr/>
          <p:nvPr/>
        </p:nvSpPr>
        <p:spPr>
          <a:xfrm>
            <a:off x="2487168"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487168" y="1261872"/>
            <a:ext cx="2084832" cy="34747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532888"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SALARIÉ</a:t>
            </a:r>
            <a:endParaRPr lang="en-US" sz="1100" dirty="0"/>
          </a:p>
        </p:txBody>
      </p:sp>
      <p:sp>
        <p:nvSpPr>
          <p:cNvPr id="18" name="Text 16"/>
          <p:cNvSpPr/>
          <p:nvPr/>
        </p:nvSpPr>
        <p:spPr>
          <a:xfrm>
            <a:off x="2560320"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ADS de l'employeur</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Véhicule fourni</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Salaire mensuel</a:t>
            </a:r>
            <a:endParaRPr lang="en-US" sz="1050" dirty="0"/>
          </a:p>
        </p:txBody>
      </p:sp>
      <p:sp>
        <p:nvSpPr>
          <p:cNvPr id="19" name="Shape 17"/>
          <p:cNvSpPr/>
          <p:nvPr/>
        </p:nvSpPr>
        <p:spPr>
          <a:xfrm>
            <a:off x="2578608" y="3337560"/>
            <a:ext cx="1901952" cy="237744"/>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2578608"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Lien de subordination</a:t>
            </a:r>
            <a:endParaRPr lang="en-US" sz="900" dirty="0"/>
          </a:p>
        </p:txBody>
      </p:sp>
      <p:sp>
        <p:nvSpPr>
          <p:cNvPr id="21" name="Shape 19"/>
          <p:cNvSpPr/>
          <p:nvPr/>
        </p:nvSpPr>
        <p:spPr>
          <a:xfrm>
            <a:off x="4700016"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0016" y="1261872"/>
            <a:ext cx="2084832" cy="347472"/>
          </a:xfrm>
          <a:prstGeom prst="rect">
            <a:avLst/>
          </a:prstGeom>
          <a:solidFill>
            <a:srgbClr val="00897B"/>
          </a:solidFill>
          <a:ln w="12700">
            <a:solidFill>
              <a:srgbClr val="00897B"/>
            </a:solidFill>
            <a:prstDash val="solid"/>
          </a:ln>
        </p:spPr>
        <p:txBody>
          <a:bodyPr/>
          <a:lstStyle/>
          <a:p>
            <a:endParaRPr lang="fr-FR"/>
          </a:p>
        </p:txBody>
      </p:sp>
      <p:sp>
        <p:nvSpPr>
          <p:cNvPr id="23" name="Text 21"/>
          <p:cNvSpPr/>
          <p:nvPr/>
        </p:nvSpPr>
        <p:spPr>
          <a:xfrm>
            <a:off x="4745736"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LOCATAIRE-GÉRANT</a:t>
            </a:r>
            <a:endParaRPr lang="en-US" sz="1100" dirty="0"/>
          </a:p>
        </p:txBody>
      </p:sp>
      <p:sp>
        <p:nvSpPr>
          <p:cNvPr id="24" name="Text 22"/>
          <p:cNvSpPr/>
          <p:nvPr/>
        </p:nvSpPr>
        <p:spPr>
          <a:xfrm>
            <a:off x="4773168"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Loue l'ADS</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Loue le véhicule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Garde les recettes</a:t>
            </a:r>
            <a:endParaRPr lang="en-US" sz="1050" dirty="0"/>
          </a:p>
        </p:txBody>
      </p:sp>
      <p:sp>
        <p:nvSpPr>
          <p:cNvPr id="25" name="Shape 23"/>
          <p:cNvSpPr/>
          <p:nvPr/>
        </p:nvSpPr>
        <p:spPr>
          <a:xfrm>
            <a:off x="4791456" y="3337560"/>
            <a:ext cx="1901952" cy="237744"/>
          </a:xfrm>
          <a:prstGeom prst="rect">
            <a:avLst/>
          </a:prstGeom>
          <a:solidFill>
            <a:srgbClr val="00897B"/>
          </a:solidFill>
          <a:ln w="12700">
            <a:solidFill>
              <a:srgbClr val="00897B"/>
            </a:solidFill>
            <a:prstDash val="solid"/>
          </a:ln>
        </p:spPr>
        <p:txBody>
          <a:bodyPr/>
          <a:lstStyle/>
          <a:p>
            <a:endParaRPr lang="fr-FR"/>
          </a:p>
        </p:txBody>
      </p:sp>
      <p:sp>
        <p:nvSpPr>
          <p:cNvPr id="26" name="Text 24"/>
          <p:cNvSpPr/>
          <p:nvPr/>
        </p:nvSpPr>
        <p:spPr>
          <a:xfrm>
            <a:off x="4791456"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Contrat de louage</a:t>
            </a:r>
            <a:endParaRPr lang="en-US" sz="900" dirty="0"/>
          </a:p>
        </p:txBody>
      </p:sp>
      <p:sp>
        <p:nvSpPr>
          <p:cNvPr id="27" name="Shape 25"/>
          <p:cNvSpPr/>
          <p:nvPr/>
        </p:nvSpPr>
        <p:spPr>
          <a:xfrm>
            <a:off x="6912864"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6912864" y="1261872"/>
            <a:ext cx="2084832" cy="347472"/>
          </a:xfrm>
          <a:prstGeom prst="rect">
            <a:avLst/>
          </a:prstGeom>
          <a:solidFill>
            <a:srgbClr val="F4A227"/>
          </a:solidFill>
          <a:ln w="12700">
            <a:solidFill>
              <a:srgbClr val="F4A227"/>
            </a:solidFill>
            <a:prstDash val="solid"/>
          </a:ln>
        </p:spPr>
        <p:txBody>
          <a:bodyPr/>
          <a:lstStyle/>
          <a:p>
            <a:endParaRPr lang="fr-FR"/>
          </a:p>
        </p:txBody>
      </p:sp>
      <p:sp>
        <p:nvSpPr>
          <p:cNvPr id="29" name="Text 27"/>
          <p:cNvSpPr/>
          <p:nvPr/>
        </p:nvSpPr>
        <p:spPr>
          <a:xfrm>
            <a:off x="6958584"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ACTIONNAIRE</a:t>
            </a:r>
            <a:endParaRPr lang="en-US" sz="1100" dirty="0"/>
          </a:p>
        </p:txBody>
      </p:sp>
      <p:sp>
        <p:nvSpPr>
          <p:cNvPr id="30" name="Text 28"/>
          <p:cNvSpPr/>
          <p:nvPr/>
        </p:nvSpPr>
        <p:spPr>
          <a:xfrm>
            <a:off x="6986016"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Parts dans société</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ADS collective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Partage des bénéfices</a:t>
            </a:r>
            <a:endParaRPr lang="en-US" sz="1050" dirty="0"/>
          </a:p>
        </p:txBody>
      </p:sp>
      <p:sp>
        <p:nvSpPr>
          <p:cNvPr id="31" name="Shape 29"/>
          <p:cNvSpPr/>
          <p:nvPr/>
        </p:nvSpPr>
        <p:spPr>
          <a:xfrm>
            <a:off x="7004304" y="3337560"/>
            <a:ext cx="1901952" cy="237744"/>
          </a:xfrm>
          <a:prstGeom prst="rect">
            <a:avLst/>
          </a:prstGeom>
          <a:solidFill>
            <a:srgbClr val="F4A227"/>
          </a:solidFill>
          <a:ln w="12700">
            <a:solidFill>
              <a:srgbClr val="F4A227"/>
            </a:solidFill>
            <a:prstDash val="solid"/>
          </a:ln>
        </p:spPr>
        <p:txBody>
          <a:bodyPr/>
          <a:lstStyle/>
          <a:p>
            <a:endParaRPr lang="fr-FR"/>
          </a:p>
        </p:txBody>
      </p:sp>
      <p:sp>
        <p:nvSpPr>
          <p:cNvPr id="32" name="Text 30"/>
          <p:cNvSpPr/>
          <p:nvPr/>
        </p:nvSpPr>
        <p:spPr>
          <a:xfrm>
            <a:off x="7004304"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Ex : Taxi Radio</a:t>
            </a:r>
            <a:endParaRPr lang="en-US" sz="900" dirty="0"/>
          </a:p>
        </p:txBody>
      </p:sp>
      <p:sp>
        <p:nvSpPr>
          <p:cNvPr id="33" name="Text 31"/>
          <p:cNvSpPr/>
          <p:nvPr/>
        </p:nvSpPr>
        <p:spPr>
          <a:xfrm>
            <a:off x="274320" y="367588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 calcul du tarif taxi :</a:t>
            </a:r>
            <a:endParaRPr lang="en-US" sz="1200" dirty="0"/>
          </a:p>
        </p:txBody>
      </p:sp>
      <p:sp>
        <p:nvSpPr>
          <p:cNvPr id="34" name="Shape 32"/>
          <p:cNvSpPr/>
          <p:nvPr/>
        </p:nvSpPr>
        <p:spPr>
          <a:xfrm>
            <a:off x="274320" y="3977640"/>
            <a:ext cx="2011680" cy="502920"/>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274320"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Prise en charge</a:t>
            </a:r>
            <a:endParaRPr lang="en-US" sz="1050" dirty="0"/>
          </a:p>
        </p:txBody>
      </p:sp>
      <p:sp>
        <p:nvSpPr>
          <p:cNvPr id="36" name="Shape 34"/>
          <p:cNvSpPr/>
          <p:nvPr/>
        </p:nvSpPr>
        <p:spPr>
          <a:xfrm>
            <a:off x="2487168" y="3977640"/>
            <a:ext cx="2011680" cy="502920"/>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487168"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Km parcourus</a:t>
            </a:r>
            <a:endParaRPr lang="en-US" sz="1050" dirty="0"/>
          </a:p>
        </p:txBody>
      </p:sp>
      <p:sp>
        <p:nvSpPr>
          <p:cNvPr id="38" name="Shape 36"/>
          <p:cNvSpPr/>
          <p:nvPr/>
        </p:nvSpPr>
        <p:spPr>
          <a:xfrm>
            <a:off x="4700016" y="3977640"/>
            <a:ext cx="2011680" cy="502920"/>
          </a:xfrm>
          <a:prstGeom prst="rect">
            <a:avLst/>
          </a:prstGeom>
          <a:solidFill>
            <a:srgbClr val="00897B"/>
          </a:solidFill>
          <a:ln w="12700">
            <a:solidFill>
              <a:srgbClr val="00897B"/>
            </a:solidFill>
            <a:prstDash val="solid"/>
          </a:ln>
        </p:spPr>
        <p:txBody>
          <a:bodyPr/>
          <a:lstStyle/>
          <a:p>
            <a:endParaRPr lang="fr-FR"/>
          </a:p>
        </p:txBody>
      </p:sp>
      <p:sp>
        <p:nvSpPr>
          <p:cNvPr id="39" name="Text 37"/>
          <p:cNvSpPr/>
          <p:nvPr/>
        </p:nvSpPr>
        <p:spPr>
          <a:xfrm>
            <a:off x="4700016"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Suppléments</a:t>
            </a:r>
            <a:endParaRPr lang="en-US" sz="1050" dirty="0"/>
          </a:p>
        </p:txBody>
      </p:sp>
      <p:sp>
        <p:nvSpPr>
          <p:cNvPr id="40" name="Shape 38"/>
          <p:cNvSpPr/>
          <p:nvPr/>
        </p:nvSpPr>
        <p:spPr>
          <a:xfrm>
            <a:off x="6912864" y="3977640"/>
            <a:ext cx="2011680" cy="502920"/>
          </a:xfrm>
          <a:prstGeom prst="rect">
            <a:avLst/>
          </a:prstGeom>
          <a:solidFill>
            <a:srgbClr val="F4A227"/>
          </a:solidFill>
          <a:ln w="12700">
            <a:solidFill>
              <a:srgbClr val="F4A227"/>
            </a:solidFill>
            <a:prstDash val="solid"/>
          </a:ln>
        </p:spPr>
        <p:txBody>
          <a:bodyPr/>
          <a:lstStyle/>
          <a:p>
            <a:endParaRPr lang="fr-FR"/>
          </a:p>
        </p:txBody>
      </p:sp>
      <p:sp>
        <p:nvSpPr>
          <p:cNvPr id="41" name="Text 39"/>
          <p:cNvSpPr/>
          <p:nvPr/>
        </p:nvSpPr>
        <p:spPr>
          <a:xfrm>
            <a:off x="6912864"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TARIF FINAL</a:t>
            </a:r>
            <a:endParaRPr lang="en-US" sz="1050" dirty="0"/>
          </a:p>
        </p:txBody>
      </p:sp>
      <p:sp>
        <p:nvSpPr>
          <p:cNvPr id="42" name="Text 40"/>
          <p:cNvSpPr/>
          <p:nvPr/>
        </p:nvSpPr>
        <p:spPr>
          <a:xfrm>
            <a:off x="274320" y="4544568"/>
            <a:ext cx="8595360" cy="274320"/>
          </a:xfrm>
          <a:prstGeom prst="rect">
            <a:avLst/>
          </a:prstGeom>
          <a:noFill/>
          <a:ln/>
        </p:spPr>
        <p:txBody>
          <a:bodyPr wrap="square" rtlCol="0" anchor="t"/>
          <a:lstStyle/>
          <a:p>
            <a:pPr marL="0" indent="0">
              <a:buNone/>
            </a:pPr>
            <a:r>
              <a:rPr lang="en-US" sz="950" dirty="0">
                <a:solidFill>
                  <a:srgbClr val="6B7A8D"/>
                </a:solidFill>
                <a:latin typeface="Calibri" pitchFamily="34" charset="0"/>
                <a:ea typeface="Calibri" pitchFamily="34" charset="-122"/>
                <a:cs typeface="Calibri" pitchFamily="34" charset="-120"/>
              </a:rPr>
              <a:t>Suppléments autorisés : 5e passager — 4e bagage — équipements spéciaux — animaux — nuit / dimanche / fériés. Tarifs fixés par ARRÊTÉ PRÉFECTORAL — pas libres.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maraude — Définition légale et règles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Droit exclusif du taxi — 3 formes définies par le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24/88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La maraude est l'un des droits les plus importants du taxi et l'une des distinctions fondamentales avec le VTC. Elle désigne le fait de rechercher des clients sur la voie publique sans réservation préalable. Ce droit est exclusivement réservé aux taxis.</a:t>
            </a:r>
            <a:endParaRPr lang="en-US" sz="1200" dirty="0"/>
          </a:p>
        </p:txBody>
      </p:sp>
      <p:sp>
        <p:nvSpPr>
          <p:cNvPr id="10" name="Shape 8"/>
          <p:cNvSpPr/>
          <p:nvPr/>
        </p:nvSpPr>
        <p:spPr>
          <a:xfrm>
            <a:off x="274320" y="1627632"/>
            <a:ext cx="859536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LES 3 FORMES DE MARAUDE (définies par le Code des transports)</a:t>
            </a:r>
            <a:endParaRPr lang="en-US" sz="1050" dirty="0"/>
          </a:p>
        </p:txBody>
      </p:sp>
      <p:sp>
        <p:nvSpPr>
          <p:cNvPr id="13" name="Text 11"/>
          <p:cNvSpPr/>
          <p:nvPr/>
        </p:nvSpPr>
        <p:spPr>
          <a:xfrm>
            <a:off x="384048" y="1975104"/>
            <a:ext cx="841248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1. Le fait de PRENDRE EN CHARGE un client sur la voie publique SANS réservation préalable.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2. Le fait d'ÊTRE EN QUÊTE DE CLIENTÈLE sur la voie publique (circuler lentement en cherchant des passagers).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3. Le fait de dépasser 1 HEURE d'attente pour récupérer un client dans une gare ou un aéroport par rapport à l'horaire prévu.</a:t>
            </a:r>
            <a:endParaRPr lang="en-US" sz="1000" dirty="0"/>
          </a:p>
        </p:txBody>
      </p:sp>
      <p:sp>
        <p:nvSpPr>
          <p:cNvPr id="14" name="Shape 12"/>
          <p:cNvSpPr/>
          <p:nvPr/>
        </p:nvSpPr>
        <p:spPr>
          <a:xfrm>
            <a:off x="274320" y="2944368"/>
            <a:ext cx="4160520" cy="1005840"/>
          </a:xfrm>
          <a:prstGeom prst="rect">
            <a:avLst/>
          </a:prstGeom>
          <a:solidFill>
            <a:srgbClr val="E8F3E8"/>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2944368"/>
            <a:ext cx="4160520" cy="301752"/>
          </a:xfrm>
          <a:prstGeom prst="rect">
            <a:avLst/>
          </a:prstGeom>
          <a:solidFill>
            <a:srgbClr val="2E7D32"/>
          </a:solidFill>
          <a:ln w="12700">
            <a:solidFill>
              <a:srgbClr val="2E7D32"/>
            </a:solidFill>
            <a:prstDash val="solid"/>
          </a:ln>
        </p:spPr>
        <p:txBody>
          <a:bodyPr/>
          <a:lstStyle/>
          <a:p>
            <a:endParaRPr lang="fr-FR"/>
          </a:p>
        </p:txBody>
      </p:sp>
      <p:sp>
        <p:nvSpPr>
          <p:cNvPr id="16" name="Text 14"/>
          <p:cNvSpPr/>
          <p:nvPr/>
        </p:nvSpPr>
        <p:spPr>
          <a:xfrm>
            <a:off x="36576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TAXI — Maraude AUTORISÉE ✔</a:t>
            </a:r>
            <a:endParaRPr lang="en-US" sz="1050" dirty="0"/>
          </a:p>
        </p:txBody>
      </p:sp>
      <p:sp>
        <p:nvSpPr>
          <p:cNvPr id="17" name="Text 15"/>
          <p:cNvSpPr/>
          <p:nvPr/>
        </p:nvSpPr>
        <p:spPr>
          <a:xfrm>
            <a:off x="38404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Autorisée UNIQUEMENT dans la zone de rattachement du taxi.</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HORS de la zone : réservation préalable obligatoire (comme 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stationner aux emplacements TAXI (tête de station).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Lumignon VERT = libre — Lumignon ROUGE = occupé.</a:t>
            </a:r>
            <a:endParaRPr lang="en-US" sz="1000" dirty="0"/>
          </a:p>
        </p:txBody>
      </p:sp>
      <p:sp>
        <p:nvSpPr>
          <p:cNvPr id="18" name="Shape 16"/>
          <p:cNvSpPr/>
          <p:nvPr/>
        </p:nvSpPr>
        <p:spPr>
          <a:xfrm>
            <a:off x="4709160" y="2944368"/>
            <a:ext cx="4160520" cy="1005840"/>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2944368"/>
            <a:ext cx="4160520" cy="301752"/>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80060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VTC / VMDTR — Maraude INTERDITE ✖</a:t>
            </a:r>
            <a:endParaRPr lang="en-US" sz="1050" dirty="0"/>
          </a:p>
        </p:txBody>
      </p:sp>
      <p:sp>
        <p:nvSpPr>
          <p:cNvPr id="21" name="Text 19"/>
          <p:cNvSpPr/>
          <p:nvPr/>
        </p:nvSpPr>
        <p:spPr>
          <a:xfrm>
            <a:off x="481888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Jamais de prise en charge sans réservation préalable enregistrée.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Interdit de stationner aux emplacements taxis.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Sanction : DÉLIT — 1 an de prison + 15 000 € d'amende.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Même règle pour le VMDTR : réservation toujours obligatoire.</a:t>
            </a:r>
            <a:endParaRPr lang="en-US" sz="1000" dirty="0"/>
          </a:p>
        </p:txBody>
      </p:sp>
      <p:sp>
        <p:nvSpPr>
          <p:cNvPr id="22" name="Shape 20"/>
          <p:cNvSpPr/>
          <p:nvPr/>
        </p:nvSpPr>
        <p:spPr>
          <a:xfrm>
            <a:off x="274320" y="4041648"/>
            <a:ext cx="8595360" cy="347472"/>
          </a:xfrm>
          <a:prstGeom prst="rect">
            <a:avLst/>
          </a:prstGeom>
          <a:solidFill>
            <a:srgbClr val="FEF0EE"/>
          </a:solidFill>
          <a:ln w="19050">
            <a:solidFill>
              <a:srgbClr val="C0392B"/>
            </a:solidFill>
            <a:prstDash val="solid"/>
          </a:ln>
        </p:spPr>
        <p:txBody>
          <a:bodyPr/>
          <a:lstStyle/>
          <a:p>
            <a:endParaRPr lang="fr-FR"/>
          </a:p>
        </p:txBody>
      </p:sp>
      <p:sp>
        <p:nvSpPr>
          <p:cNvPr id="23" name="Shape 21"/>
          <p:cNvSpPr/>
          <p:nvPr/>
        </p:nvSpPr>
        <p:spPr>
          <a:xfrm>
            <a:off x="274320" y="4041648"/>
            <a:ext cx="54864" cy="347472"/>
          </a:xfrm>
          <a:prstGeom prst="rect">
            <a:avLst/>
          </a:prstGeom>
          <a:solidFill>
            <a:srgbClr val="C0392B"/>
          </a:solidFill>
          <a:ln w="12700">
            <a:solidFill>
              <a:srgbClr val="C0392B"/>
            </a:solidFill>
            <a:prstDash val="solid"/>
          </a:ln>
        </p:spPr>
        <p:txBody>
          <a:bodyPr/>
          <a:lstStyle/>
          <a:p>
            <a:endParaRPr lang="fr-FR"/>
          </a:p>
        </p:txBody>
      </p:sp>
      <p:sp>
        <p:nvSpPr>
          <p:cNvPr id="24" name="Text 22"/>
          <p:cNvSpPr/>
          <p:nvPr/>
        </p:nvSpPr>
        <p:spPr>
          <a:xfrm>
            <a:off x="384048" y="404164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Maraude VTC = DÉLIT : 1 an d'emprisonnement + 15 000 € d'amende. La simple présence visible sur la voie publique en attente de clients sans réservation peut être qualifiée de maraude.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La maraude et les conditions du véhicule taxi — Schémas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25/88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Taxi vs VTC : qui peut faire quoi sur la voie publique ?</a:t>
            </a:r>
            <a:endParaRPr lang="en-US" sz="1200" dirty="0"/>
          </a:p>
        </p:txBody>
      </p:sp>
      <p:sp>
        <p:nvSpPr>
          <p:cNvPr id="9" name="Shape 7"/>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TAXI</a:t>
            </a:r>
            <a:endParaRPr lang="en-US" sz="1300" dirty="0"/>
          </a:p>
        </p:txBody>
      </p:sp>
      <p:sp>
        <p:nvSpPr>
          <p:cNvPr id="11" name="Shape 9"/>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2" name="Text 10"/>
          <p:cNvSpPr/>
          <p:nvPr/>
        </p:nvSpPr>
        <p:spPr>
          <a:xfrm>
            <a:off x="470916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VTC</a:t>
            </a:r>
            <a:endParaRPr lang="en-US" sz="1300" dirty="0"/>
          </a:p>
        </p:txBody>
      </p:sp>
      <p:sp>
        <p:nvSpPr>
          <p:cNvPr id="13" name="Shape 11"/>
          <p:cNvSpPr/>
          <p:nvPr/>
        </p:nvSpPr>
        <p:spPr>
          <a:xfrm>
            <a:off x="27432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14" name="Text 12"/>
          <p:cNvSpPr/>
          <p:nvPr/>
        </p:nvSpPr>
        <p:spPr>
          <a:xfrm>
            <a:off x="384048" y="1655064"/>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Maraude dans la zone de rattachement</a:t>
            </a:r>
            <a:endParaRPr lang="en-US" sz="1000" dirty="0"/>
          </a:p>
        </p:txBody>
      </p:sp>
      <p:sp>
        <p:nvSpPr>
          <p:cNvPr id="15" name="Shape 13"/>
          <p:cNvSpPr/>
          <p:nvPr/>
        </p:nvSpPr>
        <p:spPr>
          <a:xfrm>
            <a:off x="27432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16" name="Text 14"/>
          <p:cNvSpPr/>
          <p:nvPr/>
        </p:nvSpPr>
        <p:spPr>
          <a:xfrm>
            <a:off x="384048" y="2002536"/>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Stationnement emplacements TAXI</a:t>
            </a:r>
            <a:endParaRPr lang="en-US" sz="1000" dirty="0"/>
          </a:p>
        </p:txBody>
      </p:sp>
      <p:sp>
        <p:nvSpPr>
          <p:cNvPr id="17" name="Shape 15"/>
          <p:cNvSpPr/>
          <p:nvPr/>
        </p:nvSpPr>
        <p:spPr>
          <a:xfrm>
            <a:off x="27432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18" name="Text 16"/>
          <p:cNvSpPr/>
          <p:nvPr/>
        </p:nvSpPr>
        <p:spPr>
          <a:xfrm>
            <a:off x="384048" y="2350008"/>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Lumignon vert = disponible</a:t>
            </a:r>
            <a:endParaRPr lang="en-US" sz="1000" dirty="0"/>
          </a:p>
        </p:txBody>
      </p:sp>
      <p:sp>
        <p:nvSpPr>
          <p:cNvPr id="19" name="Shape 17"/>
          <p:cNvSpPr/>
          <p:nvPr/>
        </p:nvSpPr>
        <p:spPr>
          <a:xfrm>
            <a:off x="27432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20" name="Text 18"/>
          <p:cNvSpPr/>
          <p:nvPr/>
        </p:nvSpPr>
        <p:spPr>
          <a:xfrm>
            <a:off x="384048" y="2697480"/>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Prise en charge immédiate dans la rue</a:t>
            </a:r>
            <a:endParaRPr lang="en-US" sz="1000" dirty="0"/>
          </a:p>
        </p:txBody>
      </p:sp>
      <p:sp>
        <p:nvSpPr>
          <p:cNvPr id="21" name="Shape 19"/>
          <p:cNvSpPr/>
          <p:nvPr/>
        </p:nvSpPr>
        <p:spPr>
          <a:xfrm>
            <a:off x="27432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384048" y="3044952"/>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Hors zone → réservation obligatoire</a:t>
            </a:r>
            <a:endParaRPr lang="en-US" sz="1000" dirty="0"/>
          </a:p>
        </p:txBody>
      </p:sp>
      <p:sp>
        <p:nvSpPr>
          <p:cNvPr id="23" name="Shape 21"/>
          <p:cNvSpPr/>
          <p:nvPr/>
        </p:nvSpPr>
        <p:spPr>
          <a:xfrm>
            <a:off x="470916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24" name="Text 22"/>
          <p:cNvSpPr/>
          <p:nvPr/>
        </p:nvSpPr>
        <p:spPr>
          <a:xfrm>
            <a:off x="4818888" y="1655064"/>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Maraude INTERDITE partout</a:t>
            </a:r>
            <a:endParaRPr lang="en-US" sz="1000" dirty="0"/>
          </a:p>
        </p:txBody>
      </p:sp>
      <p:sp>
        <p:nvSpPr>
          <p:cNvPr id="25" name="Shape 23"/>
          <p:cNvSpPr/>
          <p:nvPr/>
        </p:nvSpPr>
        <p:spPr>
          <a:xfrm>
            <a:off x="470916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26" name="Text 24"/>
          <p:cNvSpPr/>
          <p:nvPr/>
        </p:nvSpPr>
        <p:spPr>
          <a:xfrm>
            <a:off x="4818888" y="2002536"/>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Emplacements taxi INTERDITS</a:t>
            </a:r>
            <a:endParaRPr lang="en-US" sz="1000" dirty="0"/>
          </a:p>
        </p:txBody>
      </p:sp>
      <p:sp>
        <p:nvSpPr>
          <p:cNvPr id="27" name="Shape 25"/>
          <p:cNvSpPr/>
          <p:nvPr/>
        </p:nvSpPr>
        <p:spPr>
          <a:xfrm>
            <a:off x="470916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28" name="Text 26"/>
          <p:cNvSpPr/>
          <p:nvPr/>
        </p:nvSpPr>
        <p:spPr>
          <a:xfrm>
            <a:off x="4818888" y="2350008"/>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Pas de signalétique de disponibilité</a:t>
            </a:r>
            <a:endParaRPr lang="en-US" sz="1000" dirty="0"/>
          </a:p>
        </p:txBody>
      </p:sp>
      <p:sp>
        <p:nvSpPr>
          <p:cNvPr id="29" name="Shape 27"/>
          <p:cNvSpPr/>
          <p:nvPr/>
        </p:nvSpPr>
        <p:spPr>
          <a:xfrm>
            <a:off x="470916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30" name="Text 28"/>
          <p:cNvSpPr/>
          <p:nvPr/>
        </p:nvSpPr>
        <p:spPr>
          <a:xfrm>
            <a:off x="4818888" y="2697480"/>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Jamais de prise en charge sans réservation</a:t>
            </a:r>
            <a:endParaRPr lang="en-US" sz="1000" dirty="0"/>
          </a:p>
        </p:txBody>
      </p:sp>
      <p:sp>
        <p:nvSpPr>
          <p:cNvPr id="31" name="Shape 29"/>
          <p:cNvSpPr/>
          <p:nvPr/>
        </p:nvSpPr>
        <p:spPr>
          <a:xfrm>
            <a:off x="470916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32" name="Text 30"/>
          <p:cNvSpPr/>
          <p:nvPr/>
        </p:nvSpPr>
        <p:spPr>
          <a:xfrm>
            <a:off x="4818888" y="3044952"/>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Réservation → prise en charge autorisée</a:t>
            </a:r>
            <a:endParaRPr lang="en-US" sz="1000" dirty="0"/>
          </a:p>
        </p:txBody>
      </p:sp>
      <p:sp>
        <p:nvSpPr>
          <p:cNvPr id="33" name="Text 31"/>
          <p:cNvSpPr/>
          <p:nvPr/>
        </p:nvSpPr>
        <p:spPr>
          <a:xfrm>
            <a:off x="274320" y="349300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Conditions du véhicule taxi (exemple Lyon — à vérifier selon votre département) :</a:t>
            </a:r>
            <a:endParaRPr lang="en-US" sz="1200" dirty="0"/>
          </a:p>
        </p:txBody>
      </p:sp>
      <p:sp>
        <p:nvSpPr>
          <p:cNvPr id="34" name="Shape 32"/>
          <p:cNvSpPr/>
          <p:nvPr/>
        </p:nvSpPr>
        <p:spPr>
          <a:xfrm>
            <a:off x="27432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5" name="Shape 33"/>
          <p:cNvSpPr/>
          <p:nvPr/>
        </p:nvSpPr>
        <p:spPr>
          <a:xfrm>
            <a:off x="274320" y="3822192"/>
            <a:ext cx="1645920" cy="347472"/>
          </a:xfrm>
          <a:prstGeom prst="rect">
            <a:avLst/>
          </a:prstGeom>
          <a:solidFill>
            <a:srgbClr val="1A3A5C"/>
          </a:solidFill>
          <a:ln w="12700">
            <a:solidFill>
              <a:srgbClr val="1A3A5C"/>
            </a:solidFill>
            <a:prstDash val="solid"/>
          </a:ln>
        </p:spPr>
        <p:txBody>
          <a:bodyPr/>
          <a:lstStyle/>
          <a:p>
            <a:endParaRPr lang="fr-FR"/>
          </a:p>
        </p:txBody>
      </p:sp>
      <p:sp>
        <p:nvSpPr>
          <p:cNvPr id="36" name="Text 34"/>
          <p:cNvSpPr/>
          <p:nvPr/>
        </p:nvSpPr>
        <p:spPr>
          <a:xfrm>
            <a:off x="27432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&lt; 10 ans</a:t>
            </a:r>
            <a:endParaRPr lang="en-US" sz="1200" dirty="0"/>
          </a:p>
        </p:txBody>
      </p:sp>
      <p:sp>
        <p:nvSpPr>
          <p:cNvPr id="37" name="Text 35"/>
          <p:cNvSpPr/>
          <p:nvPr/>
        </p:nvSpPr>
        <p:spPr>
          <a:xfrm>
            <a:off x="32004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Âge max du véhicule</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(varie selon commune)</a:t>
            </a:r>
            <a:endParaRPr lang="en-US" sz="900" dirty="0"/>
          </a:p>
        </p:txBody>
      </p:sp>
      <p:sp>
        <p:nvSpPr>
          <p:cNvPr id="38" name="Shape 36"/>
          <p:cNvSpPr/>
          <p:nvPr/>
        </p:nvSpPr>
        <p:spPr>
          <a:xfrm>
            <a:off x="201168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9" name="Shape 37"/>
          <p:cNvSpPr/>
          <p:nvPr/>
        </p:nvSpPr>
        <p:spPr>
          <a:xfrm>
            <a:off x="2011680" y="3822192"/>
            <a:ext cx="1645920" cy="347472"/>
          </a:xfrm>
          <a:prstGeom prst="rect">
            <a:avLst/>
          </a:prstGeom>
          <a:solidFill>
            <a:srgbClr val="2860A8"/>
          </a:solidFill>
          <a:ln w="12700">
            <a:solidFill>
              <a:srgbClr val="2860A8"/>
            </a:solidFill>
            <a:prstDash val="solid"/>
          </a:ln>
        </p:spPr>
        <p:txBody>
          <a:bodyPr/>
          <a:lstStyle/>
          <a:p>
            <a:endParaRPr lang="fr-FR"/>
          </a:p>
        </p:txBody>
      </p:sp>
      <p:sp>
        <p:nvSpPr>
          <p:cNvPr id="40" name="Text 38"/>
          <p:cNvSpPr/>
          <p:nvPr/>
        </p:nvSpPr>
        <p:spPr>
          <a:xfrm>
            <a:off x="201168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Min 3 pass.</a:t>
            </a:r>
            <a:endParaRPr lang="en-US" sz="1200" dirty="0"/>
          </a:p>
        </p:txBody>
      </p:sp>
      <p:sp>
        <p:nvSpPr>
          <p:cNvPr id="41" name="Text 39"/>
          <p:cNvSpPr/>
          <p:nvPr/>
        </p:nvSpPr>
        <p:spPr>
          <a:xfrm>
            <a:off x="205740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Capacité d'accueil</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confortable + bagages</a:t>
            </a:r>
            <a:endParaRPr lang="en-US" sz="900" dirty="0"/>
          </a:p>
        </p:txBody>
      </p:sp>
      <p:sp>
        <p:nvSpPr>
          <p:cNvPr id="42" name="Shape 40"/>
          <p:cNvSpPr/>
          <p:nvPr/>
        </p:nvSpPr>
        <p:spPr>
          <a:xfrm>
            <a:off x="374904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43" name="Shape 41"/>
          <p:cNvSpPr/>
          <p:nvPr/>
        </p:nvSpPr>
        <p:spPr>
          <a:xfrm>
            <a:off x="3749040" y="3822192"/>
            <a:ext cx="1645920" cy="347472"/>
          </a:xfrm>
          <a:prstGeom prst="rect">
            <a:avLst/>
          </a:prstGeom>
          <a:solidFill>
            <a:srgbClr val="00897B"/>
          </a:solidFill>
          <a:ln w="12700">
            <a:solidFill>
              <a:srgbClr val="00897B"/>
            </a:solidFill>
            <a:prstDash val="solid"/>
          </a:ln>
        </p:spPr>
        <p:txBody>
          <a:bodyPr/>
          <a:lstStyle/>
          <a:p>
            <a:endParaRPr lang="fr-FR"/>
          </a:p>
        </p:txBody>
      </p:sp>
      <p:sp>
        <p:nvSpPr>
          <p:cNvPr id="44" name="Text 42"/>
          <p:cNvSpPr/>
          <p:nvPr/>
        </p:nvSpPr>
        <p:spPr>
          <a:xfrm>
            <a:off x="374904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Couleur</a:t>
            </a:r>
            <a:endParaRPr lang="en-US" sz="1200" dirty="0"/>
          </a:p>
        </p:txBody>
      </p:sp>
      <p:sp>
        <p:nvSpPr>
          <p:cNvPr id="45" name="Text 43"/>
          <p:cNvSpPr/>
          <p:nvPr/>
        </p:nvSpPr>
        <p:spPr>
          <a:xfrm>
            <a:off x="379476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Blanche, grise</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ou noire (Lyon)</a:t>
            </a:r>
            <a:endParaRPr lang="en-US" sz="900" dirty="0"/>
          </a:p>
        </p:txBody>
      </p:sp>
      <p:sp>
        <p:nvSpPr>
          <p:cNvPr id="46" name="Shape 44"/>
          <p:cNvSpPr/>
          <p:nvPr/>
        </p:nvSpPr>
        <p:spPr>
          <a:xfrm>
            <a:off x="548640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47" name="Shape 45"/>
          <p:cNvSpPr/>
          <p:nvPr/>
        </p:nvSpPr>
        <p:spPr>
          <a:xfrm>
            <a:off x="5486400" y="3822192"/>
            <a:ext cx="1645920" cy="347472"/>
          </a:xfrm>
          <a:prstGeom prst="rect">
            <a:avLst/>
          </a:prstGeom>
          <a:solidFill>
            <a:srgbClr val="F4A227"/>
          </a:solidFill>
          <a:ln w="12700">
            <a:solidFill>
              <a:srgbClr val="F4A227"/>
            </a:solidFill>
            <a:prstDash val="solid"/>
          </a:ln>
        </p:spPr>
        <p:txBody>
          <a:bodyPr/>
          <a:lstStyle/>
          <a:p>
            <a:endParaRPr lang="fr-FR"/>
          </a:p>
        </p:txBody>
      </p:sp>
      <p:sp>
        <p:nvSpPr>
          <p:cNvPr id="48" name="Text 46"/>
          <p:cNvSpPr/>
          <p:nvPr/>
        </p:nvSpPr>
        <p:spPr>
          <a:xfrm>
            <a:off x="548640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Signalétique</a:t>
            </a:r>
            <a:endParaRPr lang="en-US" sz="1200" dirty="0"/>
          </a:p>
        </p:txBody>
      </p:sp>
      <p:sp>
        <p:nvSpPr>
          <p:cNvPr id="49" name="Text 47"/>
          <p:cNvSpPr/>
          <p:nvPr/>
        </p:nvSpPr>
        <p:spPr>
          <a:xfrm>
            <a:off x="553212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Dispositif lumineux</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TAXI + commune</a:t>
            </a:r>
            <a:endParaRPr lang="en-US" sz="900" dirty="0"/>
          </a:p>
        </p:txBody>
      </p:sp>
      <p:sp>
        <p:nvSpPr>
          <p:cNvPr id="50" name="Shape 48"/>
          <p:cNvSpPr/>
          <p:nvPr/>
        </p:nvSpPr>
        <p:spPr>
          <a:xfrm>
            <a:off x="722376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51" name="Shape 49"/>
          <p:cNvSpPr/>
          <p:nvPr/>
        </p:nvSpPr>
        <p:spPr>
          <a:xfrm>
            <a:off x="7223760" y="3822192"/>
            <a:ext cx="1645920" cy="347472"/>
          </a:xfrm>
          <a:prstGeom prst="rect">
            <a:avLst/>
          </a:prstGeom>
          <a:solidFill>
            <a:srgbClr val="1A3A5C"/>
          </a:solidFill>
          <a:ln w="12700">
            <a:solidFill>
              <a:srgbClr val="1A3A5C"/>
            </a:solidFill>
            <a:prstDash val="solid"/>
          </a:ln>
        </p:spPr>
        <p:txBody>
          <a:bodyPr/>
          <a:lstStyle/>
          <a:p>
            <a:endParaRPr lang="fr-FR"/>
          </a:p>
        </p:txBody>
      </p:sp>
      <p:sp>
        <p:nvSpPr>
          <p:cNvPr id="52" name="Text 50"/>
          <p:cNvSpPr/>
          <p:nvPr/>
        </p:nvSpPr>
        <p:spPr>
          <a:xfrm>
            <a:off x="722376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Taximètre</a:t>
            </a:r>
            <a:endParaRPr lang="en-US" sz="1200" dirty="0"/>
          </a:p>
        </p:txBody>
      </p:sp>
      <p:sp>
        <p:nvSpPr>
          <p:cNvPr id="53" name="Text 51"/>
          <p:cNvSpPr/>
          <p:nvPr/>
        </p:nvSpPr>
        <p:spPr>
          <a:xfrm>
            <a:off x="726948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Homologué</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Carnet métrologique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 Réglementation des VTC</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Voiture de Transport avec Chauffeur — Réservation toujours obligatoire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26/88</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VTC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Registre National VTC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VTC se distingue fondamentalement du taxi par deux règles absolues : la réservation préalable est toujours obligatoire et les tarifs sont librement fixés à l'avance. Il peut exercer sur toute la France sans restriction géographique.</a:t>
            </a:r>
            <a:endParaRPr lang="en-US" sz="1200" dirty="0"/>
          </a:p>
        </p:txBody>
      </p:sp>
      <p:sp>
        <p:nvSpPr>
          <p:cNvPr id="10" name="Shape 8"/>
          <p:cNvSpPr/>
          <p:nvPr/>
        </p:nvSpPr>
        <p:spPr>
          <a:xfrm>
            <a:off x="27432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VTC</a:t>
            </a:r>
            <a:endParaRPr lang="en-US" sz="1050" dirty="0"/>
          </a:p>
        </p:txBody>
      </p:sp>
      <p:sp>
        <p:nvSpPr>
          <p:cNvPr id="13" name="Text 11"/>
          <p:cNvSpPr/>
          <p:nvPr/>
        </p:nvSpPr>
        <p:spPr>
          <a:xfrm>
            <a:off x="38404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obligatoire au REGISTRE NATIONAL des VTC (DRIEAT). Vignette VTC sur le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sans inscription au registre : DÉLIT — 1 an + 15 000 €.</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exercer sur TOUTE LA FRANCE — aucune restriction géographique.</a:t>
            </a:r>
            <a:endParaRPr lang="en-US" sz="1000" dirty="0"/>
          </a:p>
        </p:txBody>
      </p:sp>
      <p:sp>
        <p:nvSpPr>
          <p:cNvPr id="14" name="Shape 12"/>
          <p:cNvSpPr/>
          <p:nvPr/>
        </p:nvSpPr>
        <p:spPr>
          <a:xfrm>
            <a:off x="470916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VTC</a:t>
            </a:r>
            <a:endParaRPr lang="en-US" sz="1050" dirty="0"/>
          </a:p>
        </p:txBody>
      </p:sp>
      <p:sp>
        <p:nvSpPr>
          <p:cNvPr id="17" name="Text 15"/>
          <p:cNvSpPr/>
          <p:nvPr/>
        </p:nvSpPr>
        <p:spPr>
          <a:xfrm>
            <a:off x="481888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(Uber, Bolt…) OU INDÉPENDANT (micro-entrepreneur).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FORFAIT LIBRE fixé à l'avance. Prix communiqué AVANT le départ.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mais un système de calcul du prix est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p:txBody>
      </p:sp>
      <p:sp>
        <p:nvSpPr>
          <p:cNvPr id="18" name="Shape 16"/>
          <p:cNvSpPr/>
          <p:nvPr/>
        </p:nvSpPr>
        <p:spPr>
          <a:xfrm>
            <a:off x="274320" y="2980944"/>
            <a:ext cx="8595360" cy="384048"/>
          </a:xfrm>
          <a:prstGeom prst="rect">
            <a:avLst/>
          </a:prstGeom>
          <a:solidFill>
            <a:srgbClr val="FEF0EE"/>
          </a:solidFill>
          <a:ln w="19050">
            <a:solidFill>
              <a:srgbClr val="C0392B"/>
            </a:solidFill>
            <a:prstDash val="solid"/>
          </a:ln>
        </p:spPr>
        <p:txBody>
          <a:bodyPr/>
          <a:lstStyle/>
          <a:p>
            <a:endParaRPr lang="fr-FR"/>
          </a:p>
        </p:txBody>
      </p:sp>
      <p:sp>
        <p:nvSpPr>
          <p:cNvPr id="19" name="Shape 17"/>
          <p:cNvSpPr/>
          <p:nvPr/>
        </p:nvSpPr>
        <p:spPr>
          <a:xfrm>
            <a:off x="274320" y="2980944"/>
            <a:ext cx="54864" cy="384048"/>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384048" y="2980944"/>
            <a:ext cx="8467344" cy="38404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LA RÈGLE D'OR DU VTC : Réservation PRÉALABLE OBLIGATOIRE — toujours. Jamais de prise en charge dans la rue. Maraude = DÉLIT : 1 an + 15 000 €.</a:t>
            </a:r>
            <a:endParaRPr lang="en-US" sz="1000" dirty="0"/>
          </a:p>
        </p:txBody>
      </p:sp>
      <p:sp>
        <p:nvSpPr>
          <p:cNvPr id="21" name="Shape 19"/>
          <p:cNvSpPr/>
          <p:nvPr/>
        </p:nvSpPr>
        <p:spPr>
          <a:xfrm>
            <a:off x="274320" y="3438144"/>
            <a:ext cx="8595360" cy="96012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274320" y="3438144"/>
            <a:ext cx="8595360" cy="301752"/>
          </a:xfrm>
          <a:prstGeom prst="rect">
            <a:avLst/>
          </a:prstGeom>
          <a:solidFill>
            <a:srgbClr val="2860A8"/>
          </a:solidFill>
          <a:ln w="12700">
            <a:solidFill>
              <a:srgbClr val="2860A8"/>
            </a:solidFill>
            <a:prstDash val="solid"/>
          </a:ln>
        </p:spPr>
        <p:txBody>
          <a:bodyPr/>
          <a:lstStyle/>
          <a:p>
            <a:endParaRPr lang="fr-FR"/>
          </a:p>
        </p:txBody>
      </p:sp>
      <p:sp>
        <p:nvSpPr>
          <p:cNvPr id="23" name="Text 21"/>
          <p:cNvSpPr/>
          <p:nvPr/>
        </p:nvSpPr>
        <p:spPr>
          <a:xfrm>
            <a:off x="365760" y="3438144"/>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CONDITIONS D'ACCÈS VTC</a:t>
            </a:r>
            <a:endParaRPr lang="en-US" sz="1050" dirty="0"/>
          </a:p>
        </p:txBody>
      </p:sp>
      <p:sp>
        <p:nvSpPr>
          <p:cNvPr id="24" name="Text 22"/>
          <p:cNvSpPr/>
          <p:nvPr/>
        </p:nvSpPr>
        <p:spPr>
          <a:xfrm>
            <a:off x="384048" y="3785616"/>
            <a:ext cx="8412480" cy="56692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T3P (examen réussi — tronc commun avec taxi). Aucune équivalence par expérience.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valide. Casier judiciaire B2 vierge. Permis B hors période probatoire.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NON obligatoire pour les VTC. Inscription individuelle au Registre national des VTC.</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VTC — Les 5 critères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R3122-1 Code des transports — Sauf hybrides, électriques et véhicules de collection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28/88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véhicule VTC doit répondre à des critères précis fixés par le Code des transports. Ces critères visent à garantir un niveau de confort et de sécurité élevé pour les passagers. Ils diffèrent des critères applicables aux taxis.</a:t>
            </a:r>
            <a:endParaRPr lang="en-US" sz="1200" dirty="0"/>
          </a:p>
        </p:txBody>
      </p:sp>
      <p:sp>
        <p:nvSpPr>
          <p:cNvPr id="10" name="Shape 8"/>
          <p:cNvSpPr/>
          <p:nvPr/>
        </p:nvSpPr>
        <p:spPr>
          <a:xfrm>
            <a:off x="27432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00200"/>
            <a:ext cx="25603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3832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PLACES</a:t>
            </a:r>
            <a:endParaRPr lang="en-US" sz="1100" dirty="0"/>
          </a:p>
        </p:txBody>
      </p:sp>
      <p:sp>
        <p:nvSpPr>
          <p:cNvPr id="13" name="Text 11"/>
          <p:cNvSpPr/>
          <p:nvPr/>
        </p:nvSpPr>
        <p:spPr>
          <a:xfrm>
            <a:off x="320040" y="1920240"/>
            <a:ext cx="2468880" cy="457200"/>
          </a:xfrm>
          <a:prstGeom prst="rect">
            <a:avLst/>
          </a:prstGeom>
          <a:noFill/>
          <a:ln/>
        </p:spPr>
        <p:txBody>
          <a:bodyPr wrap="square" rtlCol="0" anchor="ctr"/>
          <a:lstStyle/>
          <a:p>
            <a:pPr marL="0" indent="0" algn="ctr">
              <a:buNone/>
            </a:pPr>
            <a:r>
              <a:rPr lang="en-US" sz="1500" b="1" dirty="0">
                <a:solidFill>
                  <a:srgbClr val="1A3A5C"/>
                </a:solidFill>
                <a:latin typeface="Calibri" pitchFamily="34" charset="0"/>
                <a:ea typeface="Calibri" pitchFamily="34" charset="-122"/>
                <a:cs typeface="Calibri" pitchFamily="34" charset="-120"/>
              </a:rPr>
              <a:t>4 à 9 places</a:t>
            </a:r>
            <a:endParaRPr lang="en-US" sz="1500" dirty="0"/>
          </a:p>
          <a:p>
            <a:pPr marL="0" indent="0" algn="ctr">
              <a:buNone/>
            </a:pPr>
            <a:r>
              <a:rPr lang="en-US" sz="1500" b="1" dirty="0">
                <a:solidFill>
                  <a:srgbClr val="1A3A5C"/>
                </a:solidFill>
                <a:latin typeface="Calibri" pitchFamily="34" charset="0"/>
                <a:ea typeface="Calibri" pitchFamily="34" charset="-122"/>
                <a:cs typeface="Calibri" pitchFamily="34" charset="-120"/>
              </a:rPr>
              <a:t>chauffeur compris</a:t>
            </a:r>
            <a:endParaRPr lang="en-US" sz="1500" dirty="0"/>
          </a:p>
        </p:txBody>
      </p:sp>
      <p:sp>
        <p:nvSpPr>
          <p:cNvPr id="14" name="Text 12"/>
          <p:cNvSpPr/>
          <p:nvPr/>
        </p:nvSpPr>
        <p:spPr>
          <a:xfrm>
            <a:off x="34747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Un VTC ne peut pas avoir</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plus de 8 passagers.</a:t>
            </a:r>
            <a:endParaRPr lang="en-US" sz="950" dirty="0"/>
          </a:p>
        </p:txBody>
      </p:sp>
      <p:sp>
        <p:nvSpPr>
          <p:cNvPr id="15" name="Shape 13"/>
          <p:cNvSpPr/>
          <p:nvPr/>
        </p:nvSpPr>
        <p:spPr>
          <a:xfrm>
            <a:off x="320040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3200400" y="1600200"/>
            <a:ext cx="2560320" cy="30175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326440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ÂGE</a:t>
            </a:r>
            <a:endParaRPr lang="en-US" sz="1100" dirty="0"/>
          </a:p>
        </p:txBody>
      </p:sp>
      <p:sp>
        <p:nvSpPr>
          <p:cNvPr id="18" name="Text 16"/>
          <p:cNvSpPr/>
          <p:nvPr/>
        </p:nvSpPr>
        <p:spPr>
          <a:xfrm>
            <a:off x="3246120" y="1920240"/>
            <a:ext cx="2468880" cy="457200"/>
          </a:xfrm>
          <a:prstGeom prst="rect">
            <a:avLst/>
          </a:prstGeom>
          <a:noFill/>
          <a:ln/>
        </p:spPr>
        <p:txBody>
          <a:bodyPr wrap="square" rtlCol="0" anchor="ctr"/>
          <a:lstStyle/>
          <a:p>
            <a:pPr marL="0" indent="0" algn="ctr">
              <a:buNone/>
            </a:pPr>
            <a:r>
              <a:rPr lang="en-US" sz="1500" b="1" dirty="0">
                <a:solidFill>
                  <a:srgbClr val="2860A8"/>
                </a:solidFill>
                <a:latin typeface="Calibri" pitchFamily="34" charset="0"/>
                <a:ea typeface="Calibri" pitchFamily="34" charset="-122"/>
                <a:cs typeface="Calibri" pitchFamily="34" charset="-120"/>
              </a:rPr>
              <a:t>Moins de</a:t>
            </a:r>
            <a:endParaRPr lang="en-US" sz="1500" dirty="0"/>
          </a:p>
          <a:p>
            <a:pPr marL="0" indent="0" algn="ctr">
              <a:buNone/>
            </a:pPr>
            <a:r>
              <a:rPr lang="en-US" sz="1500" b="1" dirty="0">
                <a:solidFill>
                  <a:srgbClr val="2860A8"/>
                </a:solidFill>
                <a:latin typeface="Calibri" pitchFamily="34" charset="0"/>
                <a:ea typeface="Calibri" pitchFamily="34" charset="-122"/>
                <a:cs typeface="Calibri" pitchFamily="34" charset="-120"/>
              </a:rPr>
              <a:t>7 ans</a:t>
            </a:r>
            <a:endParaRPr lang="en-US" sz="1500" dirty="0"/>
          </a:p>
        </p:txBody>
      </p:sp>
      <p:sp>
        <p:nvSpPr>
          <p:cNvPr id="19" name="Text 17"/>
          <p:cNvSpPr/>
          <p:nvPr/>
        </p:nvSpPr>
        <p:spPr>
          <a:xfrm>
            <a:off x="327355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Sauf hybrides, électriques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ou véhicules de collection.</a:t>
            </a:r>
            <a:endParaRPr lang="en-US" sz="950" dirty="0"/>
          </a:p>
        </p:txBody>
      </p:sp>
      <p:sp>
        <p:nvSpPr>
          <p:cNvPr id="20" name="Shape 18"/>
          <p:cNvSpPr/>
          <p:nvPr/>
        </p:nvSpPr>
        <p:spPr>
          <a:xfrm>
            <a:off x="612648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6126480" y="1600200"/>
            <a:ext cx="2560320" cy="301752"/>
          </a:xfrm>
          <a:prstGeom prst="rect">
            <a:avLst/>
          </a:prstGeom>
          <a:solidFill>
            <a:srgbClr val="00897B"/>
          </a:solidFill>
          <a:ln w="12700">
            <a:solidFill>
              <a:srgbClr val="00897B"/>
            </a:solidFill>
            <a:prstDash val="solid"/>
          </a:ln>
        </p:spPr>
        <p:txBody>
          <a:bodyPr/>
          <a:lstStyle/>
          <a:p>
            <a:endParaRPr lang="fr-FR"/>
          </a:p>
        </p:txBody>
      </p:sp>
      <p:sp>
        <p:nvSpPr>
          <p:cNvPr id="22" name="Text 20"/>
          <p:cNvSpPr/>
          <p:nvPr/>
        </p:nvSpPr>
        <p:spPr>
          <a:xfrm>
            <a:off x="619048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PORTES</a:t>
            </a:r>
            <a:endParaRPr lang="en-US" sz="1100" dirty="0"/>
          </a:p>
        </p:txBody>
      </p:sp>
      <p:sp>
        <p:nvSpPr>
          <p:cNvPr id="23" name="Text 21"/>
          <p:cNvSpPr/>
          <p:nvPr/>
        </p:nvSpPr>
        <p:spPr>
          <a:xfrm>
            <a:off x="6172200" y="1920240"/>
            <a:ext cx="2468880" cy="457200"/>
          </a:xfrm>
          <a:prstGeom prst="rect">
            <a:avLst/>
          </a:prstGeom>
          <a:noFill/>
          <a:ln/>
        </p:spPr>
        <p:txBody>
          <a:bodyPr wrap="square" rtlCol="0" anchor="ctr"/>
          <a:lstStyle/>
          <a:p>
            <a:pPr marL="0" indent="0" algn="ctr">
              <a:buNone/>
            </a:pPr>
            <a:r>
              <a:rPr lang="en-US" sz="1500" b="1" dirty="0">
                <a:solidFill>
                  <a:srgbClr val="00897B"/>
                </a:solidFill>
                <a:latin typeface="Calibri" pitchFamily="34" charset="0"/>
                <a:ea typeface="Calibri" pitchFamily="34" charset="-122"/>
                <a:cs typeface="Calibri" pitchFamily="34" charset="-120"/>
              </a:rPr>
              <a:t>Minimum</a:t>
            </a:r>
            <a:endParaRPr lang="en-US" sz="1500" dirty="0"/>
          </a:p>
          <a:p>
            <a:pPr marL="0" indent="0" algn="ctr">
              <a:buNone/>
            </a:pPr>
            <a:r>
              <a:rPr lang="en-US" sz="1500" b="1" dirty="0">
                <a:solidFill>
                  <a:srgbClr val="00897B"/>
                </a:solidFill>
                <a:latin typeface="Calibri" pitchFamily="34" charset="0"/>
                <a:ea typeface="Calibri" pitchFamily="34" charset="-122"/>
                <a:cs typeface="Calibri" pitchFamily="34" charset="-120"/>
              </a:rPr>
              <a:t>4 portes</a:t>
            </a:r>
            <a:endParaRPr lang="en-US" sz="1500" dirty="0"/>
          </a:p>
        </p:txBody>
      </p:sp>
      <p:sp>
        <p:nvSpPr>
          <p:cNvPr id="24" name="Text 22"/>
          <p:cNvSpPr/>
          <p:nvPr/>
        </p:nvSpPr>
        <p:spPr>
          <a:xfrm>
            <a:off x="619963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Véhicule 2 portes ou 3 portes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non accepté.</a:t>
            </a:r>
            <a:endParaRPr lang="en-US" sz="950" dirty="0"/>
          </a:p>
        </p:txBody>
      </p:sp>
      <p:sp>
        <p:nvSpPr>
          <p:cNvPr id="25" name="Shape 23"/>
          <p:cNvSpPr/>
          <p:nvPr/>
        </p:nvSpPr>
        <p:spPr>
          <a:xfrm>
            <a:off x="27432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274320" y="3063240"/>
            <a:ext cx="2560320" cy="301752"/>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3832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DIMENSIONS</a:t>
            </a:r>
            <a:endParaRPr lang="en-US" sz="1100" dirty="0"/>
          </a:p>
        </p:txBody>
      </p:sp>
      <p:sp>
        <p:nvSpPr>
          <p:cNvPr id="28" name="Text 26"/>
          <p:cNvSpPr/>
          <p:nvPr/>
        </p:nvSpPr>
        <p:spPr>
          <a:xfrm>
            <a:off x="320040" y="3383280"/>
            <a:ext cx="2468880" cy="457200"/>
          </a:xfrm>
          <a:prstGeom prst="rect">
            <a:avLst/>
          </a:prstGeom>
          <a:noFill/>
          <a:ln/>
        </p:spPr>
        <p:txBody>
          <a:bodyPr wrap="square" rtlCol="0" anchor="ctr"/>
          <a:lstStyle/>
          <a:p>
            <a:pPr marL="0" indent="0" algn="ctr">
              <a:buNone/>
            </a:pPr>
            <a:r>
              <a:rPr lang="en-US" sz="1500" b="1" dirty="0">
                <a:solidFill>
                  <a:srgbClr val="F4A227"/>
                </a:solidFill>
                <a:latin typeface="Calibri" pitchFamily="34" charset="0"/>
                <a:ea typeface="Calibri" pitchFamily="34" charset="-122"/>
                <a:cs typeface="Calibri" pitchFamily="34" charset="-120"/>
              </a:rPr>
              <a:t>4,50 m × 1,70 m</a:t>
            </a:r>
            <a:endParaRPr lang="en-US" sz="1500" dirty="0"/>
          </a:p>
        </p:txBody>
      </p:sp>
      <p:sp>
        <p:nvSpPr>
          <p:cNvPr id="29" name="Text 27"/>
          <p:cNvSpPr/>
          <p:nvPr/>
        </p:nvSpPr>
        <p:spPr>
          <a:xfrm>
            <a:off x="34747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Dimensions minimales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hors tout requises.</a:t>
            </a:r>
            <a:endParaRPr lang="en-US" sz="950" dirty="0"/>
          </a:p>
        </p:txBody>
      </p:sp>
      <p:sp>
        <p:nvSpPr>
          <p:cNvPr id="30" name="Shape 28"/>
          <p:cNvSpPr/>
          <p:nvPr/>
        </p:nvSpPr>
        <p:spPr>
          <a:xfrm>
            <a:off x="320040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31" name="Shape 29"/>
          <p:cNvSpPr/>
          <p:nvPr/>
        </p:nvSpPr>
        <p:spPr>
          <a:xfrm>
            <a:off x="3200400" y="3063240"/>
            <a:ext cx="2560320" cy="301752"/>
          </a:xfrm>
          <a:prstGeom prst="rect">
            <a:avLst/>
          </a:prstGeom>
          <a:solidFill>
            <a:srgbClr val="C0392B"/>
          </a:solidFill>
          <a:ln w="12700">
            <a:solidFill>
              <a:srgbClr val="C0392B"/>
            </a:solidFill>
            <a:prstDash val="solid"/>
          </a:ln>
        </p:spPr>
        <p:txBody>
          <a:bodyPr/>
          <a:lstStyle/>
          <a:p>
            <a:endParaRPr lang="fr-FR"/>
          </a:p>
        </p:txBody>
      </p:sp>
      <p:sp>
        <p:nvSpPr>
          <p:cNvPr id="32" name="Text 30"/>
          <p:cNvSpPr/>
          <p:nvPr/>
        </p:nvSpPr>
        <p:spPr>
          <a:xfrm>
            <a:off x="326440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PUISSANCE</a:t>
            </a:r>
            <a:endParaRPr lang="en-US" sz="1100" dirty="0"/>
          </a:p>
        </p:txBody>
      </p:sp>
      <p:sp>
        <p:nvSpPr>
          <p:cNvPr id="33" name="Text 31"/>
          <p:cNvSpPr/>
          <p:nvPr/>
        </p:nvSpPr>
        <p:spPr>
          <a:xfrm>
            <a:off x="3246120" y="3383280"/>
            <a:ext cx="2468880" cy="457200"/>
          </a:xfrm>
          <a:prstGeom prst="rect">
            <a:avLst/>
          </a:prstGeom>
          <a:noFill/>
          <a:ln/>
        </p:spPr>
        <p:txBody>
          <a:bodyPr wrap="square" rtlCol="0" anchor="ctr"/>
          <a:lstStyle/>
          <a:p>
            <a:pPr marL="0" indent="0" algn="ctr">
              <a:buNone/>
            </a:pPr>
            <a:r>
              <a:rPr lang="en-US" sz="1500" b="1" dirty="0">
                <a:solidFill>
                  <a:srgbClr val="C0392B"/>
                </a:solidFill>
                <a:latin typeface="Calibri" pitchFamily="34" charset="0"/>
                <a:ea typeface="Calibri" pitchFamily="34" charset="-122"/>
                <a:cs typeface="Calibri" pitchFamily="34" charset="-120"/>
              </a:rPr>
              <a:t>Minimum 84 kW</a:t>
            </a:r>
            <a:endParaRPr lang="en-US" sz="1500" dirty="0"/>
          </a:p>
        </p:txBody>
      </p:sp>
      <p:sp>
        <p:nvSpPr>
          <p:cNvPr id="34" name="Text 32"/>
          <p:cNvSpPr/>
          <p:nvPr/>
        </p:nvSpPr>
        <p:spPr>
          <a:xfrm>
            <a:off x="327355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Environ 114 chevaux.</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Garantit confort de motorisation.</a:t>
            </a:r>
            <a:endParaRPr lang="en-US" sz="950" dirty="0"/>
          </a:p>
        </p:txBody>
      </p:sp>
      <p:sp>
        <p:nvSpPr>
          <p:cNvPr id="35" name="Shape 33"/>
          <p:cNvSpPr/>
          <p:nvPr/>
        </p:nvSpPr>
        <p:spPr>
          <a:xfrm>
            <a:off x="274320" y="4462272"/>
            <a:ext cx="8595360" cy="292608"/>
          </a:xfrm>
          <a:prstGeom prst="rect">
            <a:avLst/>
          </a:prstGeom>
          <a:solidFill>
            <a:srgbClr val="EDF7EE"/>
          </a:solidFill>
          <a:ln w="19050">
            <a:solidFill>
              <a:srgbClr val="2E7D32"/>
            </a:solidFill>
            <a:prstDash val="solid"/>
          </a:ln>
        </p:spPr>
        <p:txBody>
          <a:bodyPr/>
          <a:lstStyle/>
          <a:p>
            <a:endParaRPr lang="fr-FR"/>
          </a:p>
        </p:txBody>
      </p:sp>
      <p:sp>
        <p:nvSpPr>
          <p:cNvPr id="36" name="Shape 34"/>
          <p:cNvSpPr/>
          <p:nvPr/>
        </p:nvSpPr>
        <p:spPr>
          <a:xfrm>
            <a:off x="274320" y="4462272"/>
            <a:ext cx="54864" cy="292608"/>
          </a:xfrm>
          <a:prstGeom prst="rect">
            <a:avLst/>
          </a:prstGeom>
          <a:solidFill>
            <a:srgbClr val="2E7D32"/>
          </a:solidFill>
          <a:ln w="12700">
            <a:solidFill>
              <a:srgbClr val="2E7D32"/>
            </a:solidFill>
            <a:prstDash val="solid"/>
          </a:ln>
        </p:spPr>
        <p:txBody>
          <a:bodyPr/>
          <a:lstStyle/>
          <a:p>
            <a:endParaRPr lang="fr-FR"/>
          </a:p>
        </p:txBody>
      </p:sp>
      <p:sp>
        <p:nvSpPr>
          <p:cNvPr id="37" name="Text 35"/>
          <p:cNvSpPr/>
          <p:nvPr/>
        </p:nvSpPr>
        <p:spPr>
          <a:xfrm>
            <a:off x="384048" y="4462272"/>
            <a:ext cx="8467344" cy="29260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Formation continue identique au taxi : 14 heures tous les 5 ans. PSC1 non obligatoire pour les VTC (contrairement aux taxis).</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Conditions véhicule VTC — Schéma visuel + comparatif Taxi/VTC</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29/88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5 critères du véhicule VTC en un coup d'œil :</a:t>
            </a:r>
            <a:endParaRPr lang="en-US" sz="1200" dirty="0"/>
          </a:p>
        </p:txBody>
      </p:sp>
      <p:sp>
        <p:nvSpPr>
          <p:cNvPr id="9" name="Shape 7"/>
          <p:cNvSpPr/>
          <p:nvPr/>
        </p:nvSpPr>
        <p:spPr>
          <a:xfrm>
            <a:off x="2560320" y="1234440"/>
            <a:ext cx="4023360" cy="192024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560320" y="1234440"/>
            <a:ext cx="4023360" cy="1920240"/>
          </a:xfrm>
          <a:prstGeom prst="rect">
            <a:avLst/>
          </a:prstGeom>
          <a:noFill/>
          <a:ln/>
        </p:spPr>
        <p:txBody>
          <a:bodyPr wrap="square"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VTC</a:t>
            </a:r>
            <a:endParaRPr lang="en-US" sz="4800" dirty="0"/>
          </a:p>
        </p:txBody>
      </p:sp>
      <p:sp>
        <p:nvSpPr>
          <p:cNvPr id="11" name="Text 9"/>
          <p:cNvSpPr/>
          <p:nvPr/>
        </p:nvSpPr>
        <p:spPr>
          <a:xfrm>
            <a:off x="2560320" y="2514600"/>
            <a:ext cx="4023360" cy="502920"/>
          </a:xfrm>
          <a:prstGeom prst="rect">
            <a:avLst/>
          </a:prstGeom>
          <a:noFill/>
          <a:ln/>
        </p:spPr>
        <p:txBody>
          <a:bodyPr wrap="square" rtlCol="0" anchor="ctr"/>
          <a:lstStyle/>
          <a:p>
            <a:pPr marL="0" indent="0" algn="ctr">
              <a:buNone/>
            </a:pPr>
            <a:r>
              <a:rPr lang="en-US" sz="1200" i="1" dirty="0">
                <a:solidFill>
                  <a:srgbClr val="00B4D8"/>
                </a:solidFill>
                <a:latin typeface="Calibri" pitchFamily="34" charset="0"/>
                <a:ea typeface="Calibri" pitchFamily="34" charset="-122"/>
                <a:cs typeface="Calibri" pitchFamily="34" charset="-120"/>
              </a:rPr>
              <a:t>VÉHICULE</a:t>
            </a:r>
            <a:endParaRPr lang="en-US" sz="1200" dirty="0"/>
          </a:p>
        </p:txBody>
      </p:sp>
      <p:sp>
        <p:nvSpPr>
          <p:cNvPr id="12" name="Shape 10"/>
          <p:cNvSpPr/>
          <p:nvPr/>
        </p:nvSpPr>
        <p:spPr>
          <a:xfrm>
            <a:off x="91440" y="1298448"/>
            <a:ext cx="2194560" cy="65836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9144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 à 9 places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(chauffeur compris)</a:t>
            </a:r>
            <a:endParaRPr lang="en-US" sz="1000" dirty="0"/>
          </a:p>
        </p:txBody>
      </p:sp>
      <p:sp>
        <p:nvSpPr>
          <p:cNvPr id="14" name="Shape 12"/>
          <p:cNvSpPr/>
          <p:nvPr/>
        </p:nvSpPr>
        <p:spPr>
          <a:xfrm>
            <a:off x="91440" y="2240280"/>
            <a:ext cx="2194560" cy="658368"/>
          </a:xfrm>
          <a:prstGeom prst="rect">
            <a:avLst/>
          </a:prstGeom>
          <a:solidFill>
            <a:srgbClr val="2860A8"/>
          </a:solidFill>
          <a:ln w="12700">
            <a:solidFill>
              <a:srgbClr val="2860A8"/>
            </a:solidFill>
            <a:prstDash val="solid"/>
          </a:ln>
        </p:spPr>
        <p:txBody>
          <a:bodyPr/>
          <a:lstStyle/>
          <a:p>
            <a:endParaRPr lang="fr-FR"/>
          </a:p>
        </p:txBody>
      </p:sp>
      <p:sp>
        <p:nvSpPr>
          <p:cNvPr id="15" name="Text 13"/>
          <p:cNvSpPr/>
          <p:nvPr/>
        </p:nvSpPr>
        <p:spPr>
          <a:xfrm>
            <a:off x="9144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Min 4 portes</a:t>
            </a:r>
            <a:endParaRPr lang="en-US" sz="1000" dirty="0"/>
          </a:p>
        </p:txBody>
      </p:sp>
      <p:sp>
        <p:nvSpPr>
          <p:cNvPr id="16" name="Shape 14"/>
          <p:cNvSpPr/>
          <p:nvPr/>
        </p:nvSpPr>
        <p:spPr>
          <a:xfrm>
            <a:off x="6812280" y="1298448"/>
            <a:ext cx="2194560" cy="658368"/>
          </a:xfrm>
          <a:prstGeom prst="rect">
            <a:avLst/>
          </a:prstGeom>
          <a:solidFill>
            <a:srgbClr val="F4A227"/>
          </a:solidFill>
          <a:ln w="12700">
            <a:solidFill>
              <a:srgbClr val="F4A227"/>
            </a:solidFill>
            <a:prstDash val="solid"/>
          </a:ln>
        </p:spPr>
        <p:txBody>
          <a:bodyPr/>
          <a:lstStyle/>
          <a:p>
            <a:endParaRPr lang="fr-FR"/>
          </a:p>
        </p:txBody>
      </p:sp>
      <p:sp>
        <p:nvSpPr>
          <p:cNvPr id="17" name="Text 15"/>
          <p:cNvSpPr/>
          <p:nvPr/>
        </p:nvSpPr>
        <p:spPr>
          <a:xfrm>
            <a:off x="681228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&lt; 7 ans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(hors hybrides)</a:t>
            </a:r>
            <a:endParaRPr lang="en-US" sz="1000" dirty="0"/>
          </a:p>
        </p:txBody>
      </p:sp>
      <p:sp>
        <p:nvSpPr>
          <p:cNvPr id="18" name="Shape 16"/>
          <p:cNvSpPr/>
          <p:nvPr/>
        </p:nvSpPr>
        <p:spPr>
          <a:xfrm>
            <a:off x="6812280" y="2240280"/>
            <a:ext cx="2194560" cy="658368"/>
          </a:xfrm>
          <a:prstGeom prst="rect">
            <a:avLst/>
          </a:prstGeom>
          <a:solidFill>
            <a:srgbClr val="F4A227"/>
          </a:solidFill>
          <a:ln w="12700">
            <a:solidFill>
              <a:srgbClr val="F4A227"/>
            </a:solidFill>
            <a:prstDash val="solid"/>
          </a:ln>
        </p:spPr>
        <p:txBody>
          <a:bodyPr/>
          <a:lstStyle/>
          <a:p>
            <a:endParaRPr lang="fr-FR"/>
          </a:p>
        </p:txBody>
      </p:sp>
      <p:sp>
        <p:nvSpPr>
          <p:cNvPr id="19" name="Text 17"/>
          <p:cNvSpPr/>
          <p:nvPr/>
        </p:nvSpPr>
        <p:spPr>
          <a:xfrm>
            <a:off x="681228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4,50 m × 1,70 m</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84 kW min</a:t>
            </a:r>
            <a:endParaRPr lang="en-US" sz="1000" dirty="0"/>
          </a:p>
        </p:txBody>
      </p:sp>
      <p:sp>
        <p:nvSpPr>
          <p:cNvPr id="20" name="Text 18"/>
          <p:cNvSpPr/>
          <p:nvPr/>
        </p:nvSpPr>
        <p:spPr>
          <a:xfrm>
            <a:off x="274320" y="3273552"/>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Tableau comparatif — Taxi vs VTC :</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8595360" cy="1389888"/>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198555">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Maraude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Interdite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(préfectoral)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(fixé avant course)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Signalétique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Lumineux TAXI + commune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Vignette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Âge véhicule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10 ans (variable)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7 ans (sauf exceptions)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PSC1</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Facultatif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d'exercice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Toute la France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6b. Réglementation des VMDTR</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Véhicules Motorisés à Deux ou Trois Roues — Moto-taxi</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32/88</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VMDTR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Véhicules Motorisés à Deux ou Trois Roues —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VMDTR (Véhicule Motorisé à Deux ou Trois Roues) est la troisième profession T3P. Comme le VTC, la réservation préalable est TOUJOURS obligatoire. Il ne peut transporter qu'un seul passager à la fois. Exercé principalement sous forme de « moto-taxi ».</a:t>
            </a:r>
            <a:endParaRPr lang="en-US" sz="1200" dirty="0"/>
          </a:p>
        </p:txBody>
      </p:sp>
      <p:sp>
        <p:nvSpPr>
          <p:cNvPr id="10" name="Shape 8"/>
          <p:cNvSpPr/>
          <p:nvPr/>
        </p:nvSpPr>
        <p:spPr>
          <a:xfrm>
            <a:off x="27432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VMDTR</a:t>
            </a:r>
            <a:endParaRPr lang="en-US" sz="1050" dirty="0"/>
          </a:p>
        </p:txBody>
      </p:sp>
      <p:sp>
        <p:nvSpPr>
          <p:cNvPr id="13" name="Text 11"/>
          <p:cNvSpPr/>
          <p:nvPr/>
        </p:nvSpPr>
        <p:spPr>
          <a:xfrm>
            <a:off x="38404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de référence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d'inscription à un registre national (contrairement au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VMDTR obligatoire — délivrée par la préfecture.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Réservation PRÉALABLE obligatoire — maraude INTERDITE.</a:t>
            </a:r>
            <a:endParaRPr lang="en-US" sz="1000" dirty="0"/>
          </a:p>
        </p:txBody>
      </p:sp>
      <p:sp>
        <p:nvSpPr>
          <p:cNvPr id="14" name="Shape 12"/>
          <p:cNvSpPr/>
          <p:nvPr/>
        </p:nvSpPr>
        <p:spPr>
          <a:xfrm>
            <a:off x="470916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6" name="Text 14"/>
          <p:cNvSpPr/>
          <p:nvPr/>
        </p:nvSpPr>
        <p:spPr>
          <a:xfrm>
            <a:off x="480060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VMDTR</a:t>
            </a:r>
            <a:endParaRPr lang="en-US" sz="1050" dirty="0"/>
          </a:p>
        </p:txBody>
      </p:sp>
      <p:sp>
        <p:nvSpPr>
          <p:cNvPr id="17" name="Text 15"/>
          <p:cNvSpPr/>
          <p:nvPr/>
        </p:nvSpPr>
        <p:spPr>
          <a:xfrm>
            <a:off x="481888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ou TRAVAILLEUR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forfait libre OU tarif horokilométrique — fixé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Prix communiqué AVANT le départ.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 système de calcul de prix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1 passager maximum à bord.</a:t>
            </a:r>
            <a:endParaRPr lang="en-US" sz="1000" dirty="0"/>
          </a:p>
        </p:txBody>
      </p:sp>
      <p:sp>
        <p:nvSpPr>
          <p:cNvPr id="18" name="Shape 16"/>
          <p:cNvSpPr/>
          <p:nvPr/>
        </p:nvSpPr>
        <p:spPr>
          <a:xfrm>
            <a:off x="274320" y="3456432"/>
            <a:ext cx="8595360" cy="384048"/>
          </a:xfrm>
          <a:prstGeom prst="rect">
            <a:avLst/>
          </a:prstGeom>
          <a:solidFill>
            <a:srgbClr val="C0392B"/>
          </a:solidFill>
          <a:ln w="12700">
            <a:solidFill>
              <a:srgbClr val="C0392B"/>
            </a:solidFill>
            <a:prstDash val="solid"/>
          </a:ln>
        </p:spPr>
        <p:txBody>
          <a:bodyPr/>
          <a:lstStyle/>
          <a:p>
            <a:endParaRPr lang="fr-FR"/>
          </a:p>
        </p:txBody>
      </p:sp>
      <p:sp>
        <p:nvSpPr>
          <p:cNvPr id="19" name="Text 17"/>
          <p:cNvSpPr/>
          <p:nvPr/>
        </p:nvSpPr>
        <p:spPr>
          <a:xfrm>
            <a:off x="274320" y="3456432"/>
            <a:ext cx="85953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RÈGLE D'OR DU VMDTR : Réservation PRÉALABLE OBLIGATOIRE — 1 passager max — Maraude = DÉLIT : 1 an + 15 000 €</a:t>
            </a:r>
            <a:endParaRPr lang="en-US" sz="1000" dirty="0"/>
          </a:p>
        </p:txBody>
      </p:sp>
      <p:sp>
        <p:nvSpPr>
          <p:cNvPr id="20" name="Shape 18"/>
          <p:cNvSpPr/>
          <p:nvPr/>
        </p:nvSpPr>
        <p:spPr>
          <a:xfrm>
            <a:off x="274320" y="3913632"/>
            <a:ext cx="8595360" cy="292608"/>
          </a:xfrm>
          <a:prstGeom prst="rect">
            <a:avLst/>
          </a:prstGeom>
          <a:solidFill>
            <a:srgbClr val="D4530A"/>
          </a:solidFill>
          <a:ln w="12700">
            <a:solidFill>
              <a:srgbClr val="D4530A"/>
            </a:solidFill>
            <a:prstDash val="solid"/>
          </a:ln>
        </p:spPr>
        <p:txBody>
          <a:bodyPr/>
          <a:lstStyle/>
          <a:p>
            <a:endParaRPr lang="fr-FR"/>
          </a:p>
        </p:txBody>
      </p:sp>
      <p:sp>
        <p:nvSpPr>
          <p:cNvPr id="21" name="Text 19"/>
          <p:cNvSpPr/>
          <p:nvPr/>
        </p:nvSpPr>
        <p:spPr>
          <a:xfrm>
            <a:off x="274320" y="3913632"/>
            <a:ext cx="8595360" cy="29260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SANCTIONS SPÉCIFIQUES VMDTR</a:t>
            </a:r>
            <a:endParaRPr lang="en-US" sz="1050" dirty="0"/>
          </a:p>
        </p:txBody>
      </p:sp>
      <p:sp>
        <p:nvSpPr>
          <p:cNvPr id="22" name="Shape 20"/>
          <p:cNvSpPr/>
          <p:nvPr/>
        </p:nvSpPr>
        <p:spPr>
          <a:xfrm>
            <a:off x="274320" y="4251960"/>
            <a:ext cx="8595360" cy="228600"/>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274320" y="4251960"/>
            <a:ext cx="1005840" cy="228600"/>
          </a:xfrm>
          <a:prstGeom prst="rect">
            <a:avLst/>
          </a:prstGeom>
          <a:solidFill>
            <a:srgbClr val="D4530A"/>
          </a:solidFill>
          <a:ln w="12700">
            <a:solidFill>
              <a:srgbClr val="D4530A"/>
            </a:solidFill>
            <a:prstDash val="solid"/>
          </a:ln>
        </p:spPr>
        <p:txBody>
          <a:bodyPr/>
          <a:lstStyle/>
          <a:p>
            <a:endParaRPr lang="fr-FR"/>
          </a:p>
        </p:txBody>
      </p:sp>
      <p:sp>
        <p:nvSpPr>
          <p:cNvPr id="24" name="Text 22"/>
          <p:cNvSpPr/>
          <p:nvPr/>
        </p:nvSpPr>
        <p:spPr>
          <a:xfrm>
            <a:off x="274320" y="4251960"/>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3ème classe</a:t>
            </a:r>
            <a:endParaRPr lang="en-US" sz="850" dirty="0"/>
          </a:p>
        </p:txBody>
      </p:sp>
      <p:sp>
        <p:nvSpPr>
          <p:cNvPr id="25" name="Text 23"/>
          <p:cNvSpPr/>
          <p:nvPr/>
        </p:nvSpPr>
        <p:spPr>
          <a:xfrm>
            <a:off x="1353312" y="4270248"/>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avec moto non-conforme (&lt; 40 kW ou &gt; 5 ans)</a:t>
            </a:r>
            <a:endParaRPr lang="en-US" sz="850" dirty="0"/>
          </a:p>
        </p:txBody>
      </p:sp>
      <p:sp>
        <p:nvSpPr>
          <p:cNvPr id="26" name="Text 24"/>
          <p:cNvSpPr/>
          <p:nvPr/>
        </p:nvSpPr>
        <p:spPr>
          <a:xfrm>
            <a:off x="6565392" y="4270248"/>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Amende jusqu'à 450 €</a:t>
            </a:r>
            <a:endParaRPr lang="en-US" sz="850" dirty="0"/>
          </a:p>
        </p:txBody>
      </p:sp>
      <p:sp>
        <p:nvSpPr>
          <p:cNvPr id="27" name="Shape 25"/>
          <p:cNvSpPr/>
          <p:nvPr/>
        </p:nvSpPr>
        <p:spPr>
          <a:xfrm>
            <a:off x="274320" y="4507992"/>
            <a:ext cx="8595360" cy="228600"/>
          </a:xfrm>
          <a:prstGeom prst="rect">
            <a:avLst/>
          </a:prstGeom>
          <a:solidFill>
            <a:srgbClr val="FFFFFF"/>
          </a:solidFill>
          <a:ln w="6350">
            <a:solidFill>
              <a:srgbClr val="D0DCE8"/>
            </a:solidFill>
            <a:prstDash val="solid"/>
          </a:ln>
        </p:spPr>
        <p:txBody>
          <a:bodyPr/>
          <a:lstStyle/>
          <a:p>
            <a:endParaRPr lang="fr-FR"/>
          </a:p>
        </p:txBody>
      </p:sp>
      <p:sp>
        <p:nvSpPr>
          <p:cNvPr id="28" name="Shape 26"/>
          <p:cNvSpPr/>
          <p:nvPr/>
        </p:nvSpPr>
        <p:spPr>
          <a:xfrm>
            <a:off x="274320" y="4507992"/>
            <a:ext cx="1005840" cy="228600"/>
          </a:xfrm>
          <a:prstGeom prst="rect">
            <a:avLst/>
          </a:prstGeom>
          <a:solidFill>
            <a:srgbClr val="D4530A"/>
          </a:solidFill>
          <a:ln w="12700">
            <a:solidFill>
              <a:srgbClr val="D4530A"/>
            </a:solidFill>
            <a:prstDash val="solid"/>
          </a:ln>
        </p:spPr>
        <p:txBody>
          <a:bodyPr/>
          <a:lstStyle/>
          <a:p>
            <a:endParaRPr lang="fr-FR"/>
          </a:p>
        </p:txBody>
      </p:sp>
      <p:sp>
        <p:nvSpPr>
          <p:cNvPr id="29" name="Text 27"/>
          <p:cNvSpPr/>
          <p:nvPr/>
        </p:nvSpPr>
        <p:spPr>
          <a:xfrm>
            <a:off x="274320" y="4507992"/>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0" name="Text 28"/>
          <p:cNvSpPr/>
          <p:nvPr/>
        </p:nvSpPr>
        <p:spPr>
          <a:xfrm>
            <a:off x="1353312" y="4526280"/>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Prise en charge sans réservation préalable</a:t>
            </a:r>
            <a:endParaRPr lang="en-US" sz="850" dirty="0"/>
          </a:p>
        </p:txBody>
      </p:sp>
      <p:sp>
        <p:nvSpPr>
          <p:cNvPr id="31" name="Text 29"/>
          <p:cNvSpPr/>
          <p:nvPr/>
        </p:nvSpPr>
        <p:spPr>
          <a:xfrm>
            <a:off x="6565392" y="4526280"/>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1 an de prison + 15 000 €</a:t>
            </a:r>
            <a:endParaRPr lang="en-US" sz="850" dirty="0"/>
          </a:p>
        </p:txBody>
      </p:sp>
      <p:sp>
        <p:nvSpPr>
          <p:cNvPr id="32" name="Shape 30"/>
          <p:cNvSpPr/>
          <p:nvPr/>
        </p:nvSpPr>
        <p:spPr>
          <a:xfrm>
            <a:off x="274320" y="4764024"/>
            <a:ext cx="8595360" cy="228600"/>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274320" y="4764024"/>
            <a:ext cx="1005840" cy="228600"/>
          </a:xfrm>
          <a:prstGeom prst="rect">
            <a:avLst/>
          </a:prstGeom>
          <a:solidFill>
            <a:srgbClr val="D4530A"/>
          </a:solidFill>
          <a:ln w="12700">
            <a:solidFill>
              <a:srgbClr val="D4530A"/>
            </a:solidFill>
            <a:prstDash val="solid"/>
          </a:ln>
        </p:spPr>
        <p:txBody>
          <a:bodyPr/>
          <a:lstStyle/>
          <a:p>
            <a:endParaRPr lang="fr-FR"/>
          </a:p>
        </p:txBody>
      </p:sp>
      <p:sp>
        <p:nvSpPr>
          <p:cNvPr id="34" name="Text 32"/>
          <p:cNvSpPr/>
          <p:nvPr/>
        </p:nvSpPr>
        <p:spPr>
          <a:xfrm>
            <a:off x="274320" y="4764024"/>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5" name="Text 33"/>
          <p:cNvSpPr/>
          <p:nvPr/>
        </p:nvSpPr>
        <p:spPr>
          <a:xfrm>
            <a:off x="1353312" y="4782312"/>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sans carte professionnelle VMDTR valide</a:t>
            </a:r>
            <a:endParaRPr lang="en-US" sz="850" dirty="0"/>
          </a:p>
        </p:txBody>
      </p:sp>
      <p:sp>
        <p:nvSpPr>
          <p:cNvPr id="36" name="Text 34"/>
          <p:cNvSpPr/>
          <p:nvPr/>
        </p:nvSpPr>
        <p:spPr>
          <a:xfrm>
            <a:off x="6565392" y="4782312"/>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Classe 5 + jusqu'à 1 500 €</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d'accès à la profession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Permis, carte professionnelle, visite médicale, casier judiciaire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34/88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CONDITIONS D'ACCÈS À LA CARTE PROFESSIONNELLE VMDTR</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PERMIS DE CONDUIRE CATÉGORIE A</a:t>
            </a:r>
            <a:endParaRPr lang="en-US" sz="950" dirty="0"/>
          </a:p>
        </p:txBody>
      </p:sp>
      <p:sp>
        <p:nvSpPr>
          <p:cNvPr id="14" name="Text 12"/>
          <p:cNvSpPr/>
          <p:nvPr/>
        </p:nvSpPr>
        <p:spPr>
          <a:xfrm>
            <a:off x="36576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Permis de conduire de catégorie A depuis AU MOINS 3 ANS.</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Le permis doit être hors période probatoire.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Permis A1 ou A2 insuffisant — seul le permis A (sans restriction) est accepté.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Si permis obtenu en conduite accompagnée : délai réduit possible.</a:t>
            </a:r>
            <a:endParaRPr lang="en-US" sz="880" dirty="0"/>
          </a:p>
        </p:txBody>
      </p:sp>
      <p:sp>
        <p:nvSpPr>
          <p:cNvPr id="15" name="Shape 13"/>
          <p:cNvSpPr/>
          <p:nvPr/>
        </p:nvSpPr>
        <p:spPr>
          <a:xfrm>
            <a:off x="27432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16" name="Text 14"/>
          <p:cNvSpPr/>
          <p:nvPr/>
        </p:nvSpPr>
        <p:spPr>
          <a:xfrm>
            <a:off x="36576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Attention : contrairement au VTC/Taxi (permis B), le VMDTR exige le permis A moto — 3 ans minimum</a:t>
            </a:r>
            <a:endParaRPr lang="en-US" sz="8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CARTE PROFESSIONNELLE VMDTR</a:t>
            </a:r>
            <a:endParaRPr lang="en-US" sz="950" dirty="0"/>
          </a:p>
        </p:txBody>
      </p:sp>
      <p:sp>
        <p:nvSpPr>
          <p:cNvPr id="20" name="Text 18"/>
          <p:cNvSpPr/>
          <p:nvPr/>
        </p:nvSpPr>
        <p:spPr>
          <a:xfrm>
            <a:off x="480060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Réussir l'examen T3P (tronc commun) OU justifier d'une expérience professionnelle dans le transport de personnes d'au moins 12 mois au cours des 10 années précédant la demande.</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La carte est délivrée par la préfecture dans un délai maximum de 3 mois.</a:t>
            </a:r>
            <a:endParaRPr lang="en-US" sz="880" dirty="0"/>
          </a:p>
        </p:txBody>
      </p:sp>
      <p:sp>
        <p:nvSpPr>
          <p:cNvPr id="21" name="Shape 19"/>
          <p:cNvSpPr/>
          <p:nvPr/>
        </p:nvSpPr>
        <p:spPr>
          <a:xfrm>
            <a:off x="470916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22" name="Text 20"/>
          <p:cNvSpPr/>
          <p:nvPr/>
        </p:nvSpPr>
        <p:spPr>
          <a:xfrm>
            <a:off x="480060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Carte apposée sur le véhicule — photographie visible de l'extérieur obligatoire</a:t>
            </a:r>
            <a:endParaRPr lang="en-US" sz="800" dirty="0"/>
          </a:p>
        </p:txBody>
      </p:sp>
      <p:sp>
        <p:nvSpPr>
          <p:cNvPr id="23" name="Shape 21"/>
          <p:cNvSpPr/>
          <p:nvPr/>
        </p:nvSpPr>
        <p:spPr>
          <a:xfrm>
            <a:off x="27432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74320" y="3218688"/>
            <a:ext cx="4160520" cy="320040"/>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VISITE MÉDICALE</a:t>
            </a:r>
            <a:endParaRPr lang="en-US" sz="950" dirty="0"/>
          </a:p>
        </p:txBody>
      </p:sp>
      <p:sp>
        <p:nvSpPr>
          <p:cNvPr id="26" name="Text 24"/>
          <p:cNvSpPr/>
          <p:nvPr/>
        </p:nvSpPr>
        <p:spPr>
          <a:xfrm>
            <a:off x="365760" y="35661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Visite médicale obligatoire auprès d'un médecin agréé par la préfecture.</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Fréquence identique aux autres T3P :</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20 à 60 ans : tous les 5 ans</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60 à 76 ans : tous les 2 ans</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76 ans et + : tous les ans</a:t>
            </a:r>
            <a:endParaRPr lang="en-US" sz="880" dirty="0"/>
          </a:p>
        </p:txBody>
      </p:sp>
      <p:sp>
        <p:nvSpPr>
          <p:cNvPr id="27" name="Shape 25"/>
          <p:cNvSpPr/>
          <p:nvPr/>
        </p:nvSpPr>
        <p:spPr>
          <a:xfrm>
            <a:off x="27432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28" name="Text 26"/>
          <p:cNvSpPr/>
          <p:nvPr/>
        </p:nvSpPr>
        <p:spPr>
          <a:xfrm>
            <a:off x="36576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Sans attestation médicale valide → Classe 4 d'amende et impossibilité de travailler</a:t>
            </a:r>
            <a:endParaRPr lang="en-US" sz="8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CASIER JUDICIAIRE B2 VIERGE</a:t>
            </a:r>
            <a:endParaRPr lang="en-US" sz="950" dirty="0"/>
          </a:p>
        </p:txBody>
      </p:sp>
      <p:sp>
        <p:nvSpPr>
          <p:cNvPr id="32" name="Text 30"/>
          <p:cNvSpPr/>
          <p:nvPr/>
        </p:nvSpPr>
        <p:spPr>
          <a:xfrm>
            <a:off x="4800600" y="35661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bulletin n°2 du casier judiciaire ne doit pas mentionner certaines condamnations incompatibles avec l'exercice du T3P (voir fiche spécifique mentions B2).</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Casier vérifié à chaque renouvellement de la carte professionnelle.</a:t>
            </a:r>
            <a:endParaRPr lang="en-US" sz="880" dirty="0"/>
          </a:p>
        </p:txBody>
      </p:sp>
      <p:sp>
        <p:nvSpPr>
          <p:cNvPr id="33" name="Shape 31"/>
          <p:cNvSpPr/>
          <p:nvPr/>
        </p:nvSpPr>
        <p:spPr>
          <a:xfrm>
            <a:off x="470916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34" name="Text 32"/>
          <p:cNvSpPr/>
          <p:nvPr/>
        </p:nvSpPr>
        <p:spPr>
          <a:xfrm>
            <a:off x="480060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Condamnations définitives uniquement (après délai de 10 jours)</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Critères obligatoires — Moteur, âge, équipements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35/88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LE VÉHICULE MOTORISÉ À DEUX OU TROIS ROUES — Critères réglementaires</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ÂGE MAXIMUM</a:t>
            </a:r>
            <a:endParaRPr lang="en-US" sz="1000" dirty="0"/>
          </a:p>
        </p:txBody>
      </p:sp>
      <p:sp>
        <p:nvSpPr>
          <p:cNvPr id="14" name="Shape 12"/>
          <p:cNvSpPr/>
          <p:nvPr/>
        </p:nvSpPr>
        <p:spPr>
          <a:xfrm>
            <a:off x="1645920" y="1773936"/>
            <a:ext cx="1417320" cy="685800"/>
          </a:xfrm>
          <a:prstGeom prst="rect">
            <a:avLst/>
          </a:prstGeom>
          <a:solidFill>
            <a:srgbClr val="6B7A8D"/>
          </a:solidFill>
          <a:ln w="12700">
            <a:solidFill>
              <a:srgbClr val="6B7A8D"/>
            </a:solidFill>
            <a:prstDash val="solid"/>
          </a:ln>
        </p:spPr>
        <p:txBody>
          <a:bodyPr/>
          <a:lstStyle/>
          <a:p>
            <a:endParaRPr lang="fr-FR"/>
          </a:p>
        </p:txBody>
      </p:sp>
      <p:sp>
        <p:nvSpPr>
          <p:cNvPr id="15" name="Text 13"/>
          <p:cNvSpPr/>
          <p:nvPr/>
        </p:nvSpPr>
        <p:spPr>
          <a:xfrm>
            <a:off x="164592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&lt; 5 ANS</a:t>
            </a:r>
            <a:endParaRPr lang="en-US" sz="2800" dirty="0"/>
          </a:p>
        </p:txBody>
      </p:sp>
      <p:sp>
        <p:nvSpPr>
          <p:cNvPr id="16" name="Text 14"/>
          <p:cNvSpPr/>
          <p:nvPr/>
        </p:nvSpPr>
        <p:spPr>
          <a:xfrm>
            <a:off x="36576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véhicule VMDTR doit avoir moins de 5 ans au moment de l'utilisation professionnelle. (Contrairement au VTC : &lt; 7 ans, Taxi : &lt; 10 ans)</a:t>
            </a:r>
            <a:endParaRPr lang="en-US" sz="9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PUISSANCE NETTE MOTEUR</a:t>
            </a:r>
            <a:endParaRPr lang="en-US" sz="1000" dirty="0"/>
          </a:p>
        </p:txBody>
      </p:sp>
      <p:sp>
        <p:nvSpPr>
          <p:cNvPr id="20" name="Shape 18"/>
          <p:cNvSpPr/>
          <p:nvPr/>
        </p:nvSpPr>
        <p:spPr>
          <a:xfrm>
            <a:off x="6080760" y="1773936"/>
            <a:ext cx="1417320" cy="685800"/>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608076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 40 kW</a:t>
            </a:r>
            <a:endParaRPr lang="en-US" sz="2800" dirty="0"/>
          </a:p>
        </p:txBody>
      </p:sp>
      <p:sp>
        <p:nvSpPr>
          <p:cNvPr id="22" name="Text 20"/>
          <p:cNvSpPr/>
          <p:nvPr/>
        </p:nvSpPr>
        <p:spPr>
          <a:xfrm>
            <a:off x="480060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moteur doit avoir une puissance nette supérieure ou égale à 40 kW. Un moteur insuffisant = infraction de 3ème classe.</a:t>
            </a:r>
            <a:endParaRPr lang="en-US" sz="900" dirty="0"/>
          </a:p>
        </p:txBody>
      </p:sp>
      <p:sp>
        <p:nvSpPr>
          <p:cNvPr id="23" name="Shape 21"/>
          <p:cNvSpPr/>
          <p:nvPr/>
        </p:nvSpPr>
        <p:spPr>
          <a:xfrm>
            <a:off x="27432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74320" y="3218688"/>
            <a:ext cx="4160520" cy="320040"/>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PASSAGER MAXIMUM</a:t>
            </a:r>
            <a:endParaRPr lang="en-US" sz="1000" dirty="0"/>
          </a:p>
        </p:txBody>
      </p:sp>
      <p:sp>
        <p:nvSpPr>
          <p:cNvPr id="26" name="Shape 24"/>
          <p:cNvSpPr/>
          <p:nvPr/>
        </p:nvSpPr>
        <p:spPr>
          <a:xfrm>
            <a:off x="1645920" y="3602736"/>
            <a:ext cx="1417320" cy="685800"/>
          </a:xfrm>
          <a:prstGeom prst="rect">
            <a:avLst/>
          </a:prstGeom>
          <a:solidFill>
            <a:srgbClr val="2860A8"/>
          </a:solidFill>
          <a:ln w="12700">
            <a:solidFill>
              <a:srgbClr val="2860A8"/>
            </a:solidFill>
            <a:prstDash val="solid"/>
          </a:ln>
        </p:spPr>
        <p:txBody>
          <a:bodyPr/>
          <a:lstStyle/>
          <a:p>
            <a:endParaRPr lang="fr-FR"/>
          </a:p>
        </p:txBody>
      </p:sp>
      <p:sp>
        <p:nvSpPr>
          <p:cNvPr id="27" name="Text 25"/>
          <p:cNvSpPr/>
          <p:nvPr/>
        </p:nvSpPr>
        <p:spPr>
          <a:xfrm>
            <a:off x="164592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28" name="Text 26"/>
          <p:cNvSpPr/>
          <p:nvPr/>
        </p:nvSpPr>
        <p:spPr>
          <a:xfrm>
            <a:off x="36576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VMDTR ne peut transporter qu'un seul passager à la fois — en plus du conducteur. Pas de copassager supplémentaire.</a:t>
            </a:r>
            <a:endParaRPr lang="en-US" sz="9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ÉQUIPEMENTS DE PROTECTION</a:t>
            </a:r>
            <a:endParaRPr lang="en-US" sz="1000" dirty="0"/>
          </a:p>
        </p:txBody>
      </p:sp>
      <p:sp>
        <p:nvSpPr>
          <p:cNvPr id="32" name="Shape 30"/>
          <p:cNvSpPr/>
          <p:nvPr/>
        </p:nvSpPr>
        <p:spPr>
          <a:xfrm>
            <a:off x="6080760" y="3602736"/>
            <a:ext cx="1417320" cy="685800"/>
          </a:xfrm>
          <a:prstGeom prst="rect">
            <a:avLst/>
          </a:prstGeom>
          <a:solidFill>
            <a:srgbClr val="F4A227"/>
          </a:solidFill>
          <a:ln w="12700">
            <a:solidFill>
              <a:srgbClr val="F4A227"/>
            </a:solidFill>
            <a:prstDash val="solid"/>
          </a:ln>
        </p:spPr>
        <p:txBody>
          <a:bodyPr/>
          <a:lstStyle/>
          <a:p>
            <a:endParaRPr lang="fr-FR"/>
          </a:p>
        </p:txBody>
      </p:sp>
      <p:sp>
        <p:nvSpPr>
          <p:cNvPr id="33" name="Text 31"/>
          <p:cNvSpPr/>
          <p:nvPr/>
        </p:nvSpPr>
        <p:spPr>
          <a:xfrm>
            <a:off x="608076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EPI</a:t>
            </a:r>
            <a:endParaRPr lang="en-US" sz="2800" dirty="0"/>
          </a:p>
        </p:txBody>
      </p:sp>
      <p:sp>
        <p:nvSpPr>
          <p:cNvPr id="34" name="Text 32"/>
          <p:cNvSpPr/>
          <p:nvPr/>
        </p:nvSpPr>
        <p:spPr>
          <a:xfrm>
            <a:off x="480060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Casque homologué obligatoire pour le conducteur ET le passager. Veste, gants, pantalons de protection recommandés/obligatoires selon réglementation.</a:t>
            </a:r>
            <a:endParaRPr lang="en-US" sz="900" dirty="0"/>
          </a:p>
        </p:txBody>
      </p:sp>
      <p:sp>
        <p:nvSpPr>
          <p:cNvPr id="35" name="Shape 33"/>
          <p:cNvSpPr/>
          <p:nvPr/>
        </p:nvSpPr>
        <p:spPr>
          <a:xfrm>
            <a:off x="274320" y="5047488"/>
            <a:ext cx="8595360" cy="347472"/>
          </a:xfrm>
          <a:prstGeom prst="rect">
            <a:avLst/>
          </a:prstGeom>
          <a:solidFill>
            <a:srgbClr val="D4530A"/>
          </a:solidFill>
          <a:ln w="12700">
            <a:solidFill>
              <a:srgbClr val="D4530A"/>
            </a:solidFill>
            <a:prstDash val="solid"/>
          </a:ln>
        </p:spPr>
        <p:txBody>
          <a:bodyPr/>
          <a:lstStyle/>
          <a:p>
            <a:endParaRPr lang="fr-FR"/>
          </a:p>
        </p:txBody>
      </p:sp>
      <p:sp>
        <p:nvSpPr>
          <p:cNvPr id="36" name="Text 34"/>
          <p:cNvSpPr/>
          <p:nvPr/>
        </p:nvSpPr>
        <p:spPr>
          <a:xfrm>
            <a:off x="274320" y="5047488"/>
            <a:ext cx="8595360" cy="347472"/>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Exercice avec moto NON CONFORME (puissance &lt; 40 kW OU âge &gt; 5 ans) = Contravention de 3ème classe — Amende jusqu'à 450 €</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VMDTR et comparatif des 3 professions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Ce que doit présenter un conducteur VMDTR lors d'un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
        <p:nvSpPr>
          <p:cNvPr id="9" name="Shape 7"/>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VMDTR EN CAS DE CONTRÔLE</a:t>
            </a:r>
            <a:endParaRPr lang="en-US" sz="1000" dirty="0"/>
          </a:p>
        </p:txBody>
      </p:sp>
      <p:sp>
        <p:nvSpPr>
          <p:cNvPr id="11" name="Shape 9"/>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94360" y="137160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Permis de conduire catégorie A</a:t>
            </a:r>
            <a:endParaRPr lang="en-US" sz="950" dirty="0"/>
          </a:p>
        </p:txBody>
      </p:sp>
      <p:sp>
        <p:nvSpPr>
          <p:cNvPr id="15" name="Shape 13"/>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94360" y="171907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professionnelle VMDTR</a:t>
            </a:r>
            <a:endParaRPr lang="en-US" sz="950" dirty="0"/>
          </a:p>
        </p:txBody>
      </p:sp>
      <p:sp>
        <p:nvSpPr>
          <p:cNvPr id="19" name="Shape 17"/>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94360" y="206654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d'assurance RC Circulation (titre onéreux)</a:t>
            </a:r>
            <a:endParaRPr lang="en-US" sz="950" dirty="0"/>
          </a:p>
        </p:txBody>
      </p:sp>
      <p:sp>
        <p:nvSpPr>
          <p:cNvPr id="23" name="Shape 21"/>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94360" y="2414016"/>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RC Professionnelle (exploitation)</a:t>
            </a:r>
            <a:endParaRPr lang="en-US" sz="950" dirty="0"/>
          </a:p>
        </p:txBody>
      </p:sp>
      <p:sp>
        <p:nvSpPr>
          <p:cNvPr id="27" name="Shape 25"/>
          <p:cNvSpPr/>
          <p:nvPr/>
        </p:nvSpPr>
        <p:spPr>
          <a:xfrm>
            <a:off x="27432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27432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29" name="Text 27"/>
          <p:cNvSpPr/>
          <p:nvPr/>
        </p:nvSpPr>
        <p:spPr>
          <a:xfrm>
            <a:off x="27432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0" name="Text 28"/>
          <p:cNvSpPr/>
          <p:nvPr/>
        </p:nvSpPr>
        <p:spPr>
          <a:xfrm>
            <a:off x="594360" y="2761488"/>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Billet individuel (trace de la réservation préalable)</a:t>
            </a:r>
            <a:endParaRPr lang="en-US" sz="950" dirty="0"/>
          </a:p>
        </p:txBody>
      </p:sp>
      <p:sp>
        <p:nvSpPr>
          <p:cNvPr id="31" name="Shape 29"/>
          <p:cNvSpPr/>
          <p:nvPr/>
        </p:nvSpPr>
        <p:spPr>
          <a:xfrm>
            <a:off x="274320" y="3090672"/>
            <a:ext cx="4160520" cy="310896"/>
          </a:xfrm>
          <a:prstGeom prst="rect">
            <a:avLst/>
          </a:prstGeom>
          <a:solidFill>
            <a:srgbClr val="FFFFFF"/>
          </a:solidFill>
          <a:ln w="6350">
            <a:solidFill>
              <a:srgbClr val="D0DCE8"/>
            </a:solidFill>
            <a:prstDash val="solid"/>
          </a:ln>
        </p:spPr>
        <p:txBody>
          <a:bodyPr/>
          <a:lstStyle/>
          <a:p>
            <a:endParaRPr lang="fr-FR"/>
          </a:p>
        </p:txBody>
      </p:sp>
      <p:sp>
        <p:nvSpPr>
          <p:cNvPr id="32" name="Shape 30"/>
          <p:cNvSpPr/>
          <p:nvPr/>
        </p:nvSpPr>
        <p:spPr>
          <a:xfrm>
            <a:off x="274320" y="3090672"/>
            <a:ext cx="256032" cy="310896"/>
          </a:xfrm>
          <a:prstGeom prst="rect">
            <a:avLst/>
          </a:prstGeom>
          <a:solidFill>
            <a:srgbClr val="2860A8"/>
          </a:solidFill>
          <a:ln w="12700">
            <a:solidFill>
              <a:srgbClr val="2860A8"/>
            </a:solidFill>
            <a:prstDash val="solid"/>
          </a:ln>
        </p:spPr>
        <p:txBody>
          <a:bodyPr/>
          <a:lstStyle/>
          <a:p>
            <a:endParaRPr lang="fr-FR"/>
          </a:p>
        </p:txBody>
      </p:sp>
      <p:sp>
        <p:nvSpPr>
          <p:cNvPr id="33" name="Text 31"/>
          <p:cNvSpPr/>
          <p:nvPr/>
        </p:nvSpPr>
        <p:spPr>
          <a:xfrm>
            <a:off x="274320" y="309067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4" name="Text 32"/>
          <p:cNvSpPr/>
          <p:nvPr/>
        </p:nvSpPr>
        <p:spPr>
          <a:xfrm>
            <a:off x="594360" y="310896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grise du véhicule</a:t>
            </a:r>
            <a:endParaRPr lang="en-US" sz="950" dirty="0"/>
          </a:p>
        </p:txBody>
      </p:sp>
      <p:sp>
        <p:nvSpPr>
          <p:cNvPr id="35" name="Shape 33"/>
          <p:cNvSpPr/>
          <p:nvPr/>
        </p:nvSpPr>
        <p:spPr>
          <a:xfrm>
            <a:off x="274320" y="3438144"/>
            <a:ext cx="4160520" cy="310896"/>
          </a:xfrm>
          <a:prstGeom prst="rect">
            <a:avLst/>
          </a:prstGeom>
          <a:solidFill>
            <a:srgbClr val="E8F1FA"/>
          </a:solidFill>
          <a:ln w="6350">
            <a:solidFill>
              <a:srgbClr val="D0DCE8"/>
            </a:solidFill>
            <a:prstDash val="solid"/>
          </a:ln>
        </p:spPr>
        <p:txBody>
          <a:bodyPr/>
          <a:lstStyle/>
          <a:p>
            <a:endParaRPr lang="fr-FR"/>
          </a:p>
        </p:txBody>
      </p:sp>
      <p:sp>
        <p:nvSpPr>
          <p:cNvPr id="36" name="Shape 34"/>
          <p:cNvSpPr/>
          <p:nvPr/>
        </p:nvSpPr>
        <p:spPr>
          <a:xfrm>
            <a:off x="274320" y="3438144"/>
            <a:ext cx="256032" cy="310896"/>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74320" y="343814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8" name="Text 36"/>
          <p:cNvSpPr/>
          <p:nvPr/>
        </p:nvSpPr>
        <p:spPr>
          <a:xfrm>
            <a:off x="594360" y="345643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d'entretien du véhicule</a:t>
            </a:r>
            <a:endParaRPr lang="en-US" sz="950" dirty="0"/>
          </a:p>
        </p:txBody>
      </p:sp>
      <p:sp>
        <p:nvSpPr>
          <p:cNvPr id="39" name="Shape 37"/>
          <p:cNvSpPr/>
          <p:nvPr/>
        </p:nvSpPr>
        <p:spPr>
          <a:xfrm>
            <a:off x="274320" y="3785616"/>
            <a:ext cx="4160520" cy="310896"/>
          </a:xfrm>
          <a:prstGeom prst="rect">
            <a:avLst/>
          </a:prstGeom>
          <a:solidFill>
            <a:srgbClr val="FFFFFF"/>
          </a:solidFill>
          <a:ln w="6350">
            <a:solidFill>
              <a:srgbClr val="D0DCE8"/>
            </a:solidFill>
            <a:prstDash val="solid"/>
          </a:ln>
        </p:spPr>
        <p:txBody>
          <a:bodyPr/>
          <a:lstStyle/>
          <a:p>
            <a:endParaRPr lang="fr-FR"/>
          </a:p>
        </p:txBody>
      </p:sp>
      <p:sp>
        <p:nvSpPr>
          <p:cNvPr id="40" name="Shape 38"/>
          <p:cNvSpPr/>
          <p:nvPr/>
        </p:nvSpPr>
        <p:spPr>
          <a:xfrm>
            <a:off x="274320" y="3785616"/>
            <a:ext cx="256032" cy="310896"/>
          </a:xfrm>
          <a:prstGeom prst="rect">
            <a:avLst/>
          </a:prstGeom>
          <a:solidFill>
            <a:srgbClr val="2860A8"/>
          </a:solidFill>
          <a:ln w="12700">
            <a:solidFill>
              <a:srgbClr val="2860A8"/>
            </a:solidFill>
            <a:prstDash val="solid"/>
          </a:ln>
        </p:spPr>
        <p:txBody>
          <a:bodyPr/>
          <a:lstStyle/>
          <a:p>
            <a:endParaRPr lang="fr-FR"/>
          </a:p>
        </p:txBody>
      </p:sp>
      <p:sp>
        <p:nvSpPr>
          <p:cNvPr id="41" name="Text 39"/>
          <p:cNvSpPr/>
          <p:nvPr/>
        </p:nvSpPr>
        <p:spPr>
          <a:xfrm>
            <a:off x="274320" y="378561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2" name="Text 40"/>
          <p:cNvSpPr/>
          <p:nvPr/>
        </p:nvSpPr>
        <p:spPr>
          <a:xfrm>
            <a:off x="594360" y="380390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médicale valide</a:t>
            </a:r>
            <a:endParaRPr lang="en-US" sz="950" dirty="0"/>
          </a:p>
        </p:txBody>
      </p:sp>
      <p:sp>
        <p:nvSpPr>
          <p:cNvPr id="43" name="Shape 41"/>
          <p:cNvSpPr/>
          <p:nvPr/>
        </p:nvSpPr>
        <p:spPr>
          <a:xfrm>
            <a:off x="4709160" y="960120"/>
            <a:ext cx="4160520" cy="320040"/>
          </a:xfrm>
          <a:prstGeom prst="rect">
            <a:avLst/>
          </a:prstGeom>
          <a:solidFill>
            <a:srgbClr val="1A3A5C"/>
          </a:solidFill>
          <a:ln w="12700">
            <a:solidFill>
              <a:srgbClr val="1A3A5C"/>
            </a:solidFill>
            <a:prstDash val="solid"/>
          </a:ln>
        </p:spPr>
        <p:txBody>
          <a:bodyPr/>
          <a:lstStyle/>
          <a:p>
            <a:endParaRPr lang="fr-FR"/>
          </a:p>
        </p:txBody>
      </p:sp>
      <p:sp>
        <p:nvSpPr>
          <p:cNvPr id="44" name="Text 42"/>
          <p:cNvSpPr/>
          <p:nvPr/>
        </p:nvSpPr>
        <p:spPr>
          <a:xfrm>
            <a:off x="4709160" y="960120"/>
            <a:ext cx="4160520" cy="32004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TABLEAU COMPARATIF — 3 PROFESSIONS T3P</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709160" y="1353312"/>
          <a:ext cx="4160520" cy="3154680"/>
        </p:xfrm>
        <a:graphic>
          <a:graphicData uri="http://schemas.openxmlformats.org/drawingml/2006/table">
            <a:tbl>
              <a:tblPr/>
              <a:tblGrid>
                <a:gridCol w="1234440">
                  <a:extLst>
                    <a:ext uri="{9D8B030D-6E8A-4147-A177-3AD203B41FA5}">
                      <a16:colId xmlns:a16="http://schemas.microsoft.com/office/drawing/2014/main" val="20000"/>
                    </a:ext>
                  </a:extLst>
                </a:gridCol>
                <a:gridCol w="978408">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tblGrid>
              <a:tr h="286789">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Critère</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TAXI</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2860A8"/>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VTC</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VMDTR</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6B7A8D"/>
                    </a:solidFill>
                  </a:tcPr>
                </a:tc>
                <a:extLst>
                  <a:ext uri="{0D108BD9-81ED-4DB2-BD59-A6C34878D82A}">
                    <a16:rowId xmlns:a16="http://schemas.microsoft.com/office/drawing/2014/main" val="10000"/>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requis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A (3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Maraude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Zone seule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Passagers max</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7</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8</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1 seul</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Âge véhicule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10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7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Puissance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Variable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84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40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PSC1</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Taximètre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Registre DRIEAT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8"/>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ADS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Formation 14h/5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7. Les organismes autour du T3P et centres de formation</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Préfecture, DRIEAT, CMA, Ministère — Centres agréés — Fin Partie 1</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40/88</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organismes gravitant autour du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Organismes administratifs, consulaires, représentatifs et de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34747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secteur T3P est encadré par plusieurs institutions complémentaires. À l'examen, il faut savoir quel organisme est responsable de quelle mission.</a:t>
            </a:r>
            <a:endParaRPr lang="en-US" sz="1200" dirty="0"/>
          </a:p>
        </p:txBody>
      </p:sp>
      <p:sp>
        <p:nvSpPr>
          <p:cNvPr id="10" name="Shape 8"/>
          <p:cNvSpPr/>
          <p:nvPr/>
        </p:nvSpPr>
        <p:spPr>
          <a:xfrm>
            <a:off x="274320"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481328"/>
            <a:ext cx="4315968" cy="237744"/>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PRÉFECTURE / PRÉFET</a:t>
            </a:r>
            <a:endParaRPr lang="en-US" sz="900" dirty="0"/>
          </a:p>
        </p:txBody>
      </p:sp>
      <p:sp>
        <p:nvSpPr>
          <p:cNvPr id="13" name="Text 11"/>
          <p:cNvSpPr/>
          <p:nvPr/>
        </p:nvSpPr>
        <p:spPr>
          <a:xfrm>
            <a:off x="365760" y="1737360"/>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documents administratifs carte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Application et contrôle des lois concernant les activités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Délivre et retire les cartes professionnelles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Délivre les autorisations de stationnement (ADS) pour les taxis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Agrée les centres de formation pour une durée de 5 ans renouvelable</a:t>
            </a:r>
            <a:endParaRPr lang="en-US" sz="850" dirty="0"/>
          </a:p>
        </p:txBody>
      </p:sp>
      <p:sp>
        <p:nvSpPr>
          <p:cNvPr id="14" name="Shape 12"/>
          <p:cNvSpPr/>
          <p:nvPr/>
        </p:nvSpPr>
        <p:spPr>
          <a:xfrm>
            <a:off x="4681728"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5" name="Shape 13"/>
          <p:cNvSpPr/>
          <p:nvPr/>
        </p:nvSpPr>
        <p:spPr>
          <a:xfrm>
            <a:off x="4681728" y="1481328"/>
            <a:ext cx="4315968" cy="237744"/>
          </a:xfrm>
          <a:prstGeom prst="rect">
            <a:avLst/>
          </a:prstGeom>
          <a:solidFill>
            <a:srgbClr val="F4A227"/>
          </a:solidFill>
          <a:ln w="12700">
            <a:solidFill>
              <a:srgbClr val="F4A227"/>
            </a:solidFill>
            <a:prstDash val="solid"/>
          </a:ln>
        </p:spPr>
        <p:txBody>
          <a:bodyPr/>
          <a:lstStyle/>
          <a:p>
            <a:endParaRPr lang="fr-FR"/>
          </a:p>
        </p:txBody>
      </p:sp>
      <p:sp>
        <p:nvSpPr>
          <p:cNvPr id="16" name="Text 14"/>
          <p:cNvSpPr/>
          <p:nvPr/>
        </p:nvSpPr>
        <p:spPr>
          <a:xfrm>
            <a:off x="4754880"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MINISTÈRE DE LA TRANSITION ÉCOLOGIQUE ET SOLIDAIRE</a:t>
            </a:r>
            <a:endParaRPr lang="en-US" sz="900" dirty="0"/>
          </a:p>
        </p:txBody>
      </p:sp>
      <p:sp>
        <p:nvSpPr>
          <p:cNvPr id="17" name="Text 15"/>
          <p:cNvSpPr/>
          <p:nvPr/>
        </p:nvSpPr>
        <p:spPr>
          <a:xfrm>
            <a:off x="4773168" y="1737360"/>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Prépare et suit la politique de l'État à l'égard des taxis et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Répertorie la réglementation liée aux professions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Inscription au registre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Demande de vignette VTC</a:t>
            </a:r>
            <a:endParaRPr lang="en-US" sz="850" dirty="0"/>
          </a:p>
        </p:txBody>
      </p:sp>
      <p:sp>
        <p:nvSpPr>
          <p:cNvPr id="18" name="Shape 16"/>
          <p:cNvSpPr/>
          <p:nvPr/>
        </p:nvSpPr>
        <p:spPr>
          <a:xfrm>
            <a:off x="274320" y="2240280"/>
            <a:ext cx="4315968" cy="685800"/>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274320" y="2240280"/>
            <a:ext cx="4315968" cy="237744"/>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7472" y="224028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DRIEAT (île-de-France) / DREAL (autres régions)</a:t>
            </a:r>
            <a:endParaRPr lang="en-US" sz="900" dirty="0"/>
          </a:p>
        </p:txBody>
      </p:sp>
      <p:sp>
        <p:nvSpPr>
          <p:cNvPr id="21" name="Text 19"/>
          <p:cNvSpPr/>
          <p:nvPr/>
        </p:nvSpPr>
        <p:spPr>
          <a:xfrm>
            <a:off x="365760" y="2496312"/>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entreprises de transport public (personnes et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Délivrance des licences de transport de personnes et de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Contrôle l'application de la réglementation</a:t>
            </a:r>
            <a:endParaRPr lang="en-US" sz="850" dirty="0"/>
          </a:p>
        </p:txBody>
      </p:sp>
      <p:sp>
        <p:nvSpPr>
          <p:cNvPr id="22" name="Shape 20"/>
          <p:cNvSpPr/>
          <p:nvPr/>
        </p:nvSpPr>
        <p:spPr>
          <a:xfrm>
            <a:off x="4681728" y="2240280"/>
            <a:ext cx="4315968" cy="685800"/>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4681728" y="2240280"/>
            <a:ext cx="4315968" cy="237744"/>
          </a:xfrm>
          <a:prstGeom prst="rect">
            <a:avLst/>
          </a:prstGeom>
          <a:solidFill>
            <a:srgbClr val="6B7A8D"/>
          </a:solidFill>
          <a:ln w="12700">
            <a:solidFill>
              <a:srgbClr val="6B7A8D"/>
            </a:solidFill>
            <a:prstDash val="solid"/>
          </a:ln>
        </p:spPr>
        <p:txBody>
          <a:bodyPr/>
          <a:lstStyle/>
          <a:p>
            <a:endParaRPr lang="fr-FR"/>
          </a:p>
        </p:txBody>
      </p:sp>
      <p:sp>
        <p:nvSpPr>
          <p:cNvPr id="24" name="Text 22"/>
          <p:cNvSpPr/>
          <p:nvPr/>
        </p:nvSpPr>
        <p:spPr>
          <a:xfrm>
            <a:off x="4754880" y="224028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CHAMBRE DES MÉTIERS ET DE L'ARTISANAT (CMA)</a:t>
            </a:r>
            <a:endParaRPr lang="en-US" sz="900" dirty="0"/>
          </a:p>
        </p:txBody>
      </p:sp>
      <p:sp>
        <p:nvSpPr>
          <p:cNvPr id="25" name="Text 23"/>
          <p:cNvSpPr/>
          <p:nvPr/>
        </p:nvSpPr>
        <p:spPr>
          <a:xfrm>
            <a:off x="4773168" y="2496312"/>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Centre d'examens TAXI / VTC /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Stage de préparation à l'installation pour la création d'une 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Défenseur des intérêts généraux de l'artisanat et des chefs d'entreprise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Gère l'organisation et la formation de l'apprentissage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Tient le répertoire des métiers</a:t>
            </a:r>
            <a:endParaRPr lang="en-US" sz="850" dirty="0"/>
          </a:p>
        </p:txBody>
      </p:sp>
      <p:sp>
        <p:nvSpPr>
          <p:cNvPr id="26" name="Shape 24"/>
          <p:cNvSpPr/>
          <p:nvPr/>
        </p:nvSpPr>
        <p:spPr>
          <a:xfrm>
            <a:off x="274320" y="2999232"/>
            <a:ext cx="8595360" cy="685800"/>
          </a:xfrm>
          <a:prstGeom prst="rect">
            <a:avLst/>
          </a:prstGeom>
          <a:solidFill>
            <a:srgbClr val="E8F1FA"/>
          </a:solidFill>
          <a:ln w="6350">
            <a:solidFill>
              <a:srgbClr val="D0DCE8"/>
            </a:solidFill>
            <a:prstDash val="solid"/>
          </a:ln>
        </p:spPr>
        <p:txBody>
          <a:bodyPr/>
          <a:lstStyle/>
          <a:p>
            <a:endParaRPr lang="fr-FR"/>
          </a:p>
        </p:txBody>
      </p:sp>
      <p:sp>
        <p:nvSpPr>
          <p:cNvPr id="27" name="Shape 25"/>
          <p:cNvSpPr/>
          <p:nvPr/>
        </p:nvSpPr>
        <p:spPr>
          <a:xfrm>
            <a:off x="274320" y="2999232"/>
            <a:ext cx="8595360" cy="237744"/>
          </a:xfrm>
          <a:prstGeom prst="rect">
            <a:avLst/>
          </a:prstGeom>
          <a:solidFill>
            <a:srgbClr val="00897B"/>
          </a:solidFill>
          <a:ln w="12700">
            <a:solidFill>
              <a:srgbClr val="00897B"/>
            </a:solidFill>
            <a:prstDash val="solid"/>
          </a:ln>
        </p:spPr>
        <p:txBody>
          <a:bodyPr/>
          <a:lstStyle/>
          <a:p>
            <a:endParaRPr lang="fr-FR"/>
          </a:p>
        </p:txBody>
      </p:sp>
      <p:sp>
        <p:nvSpPr>
          <p:cNvPr id="28" name="Text 26"/>
          <p:cNvSpPr/>
          <p:nvPr/>
        </p:nvSpPr>
        <p:spPr>
          <a:xfrm>
            <a:off x="347472" y="2999232"/>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CENTRES DE FORMATION</a:t>
            </a:r>
            <a:endParaRPr lang="en-US" sz="900" dirty="0"/>
          </a:p>
        </p:txBody>
      </p:sp>
      <p:sp>
        <p:nvSpPr>
          <p:cNvPr id="29" name="Text 27"/>
          <p:cNvSpPr/>
          <p:nvPr/>
        </p:nvSpPr>
        <p:spPr>
          <a:xfrm>
            <a:off x="365760" y="3255264"/>
            <a:ext cx="8458200"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Dispensent les cours pour la préparation à l'examen de chauffeur TAXI, VTC et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Agréés par la préfecture pour une durée de 5 ans renouvelable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Proposent les formations continues obligatoires pour les chauffeurs TAXI, VTC et VMDTR</a:t>
            </a:r>
            <a:endParaRPr lang="en-US" sz="850" dirty="0"/>
          </a:p>
        </p:txBody>
      </p:sp>
      <p:sp>
        <p:nvSpPr>
          <p:cNvPr id="30" name="Shape 28"/>
          <p:cNvSpPr/>
          <p:nvPr/>
        </p:nvSpPr>
        <p:spPr>
          <a:xfrm>
            <a:off x="274320" y="3758184"/>
            <a:ext cx="8595360" cy="685800"/>
          </a:xfrm>
          <a:prstGeom prst="rect">
            <a:avLst/>
          </a:prstGeom>
          <a:solidFill>
            <a:srgbClr val="E8F1FA"/>
          </a:solidFill>
          <a:ln w="6350">
            <a:solidFill>
              <a:srgbClr val="D0DCE8"/>
            </a:solidFill>
            <a:prstDash val="solid"/>
          </a:ln>
        </p:spPr>
        <p:txBody>
          <a:bodyPr/>
          <a:lstStyle/>
          <a:p>
            <a:endParaRPr lang="fr-FR"/>
          </a:p>
        </p:txBody>
      </p:sp>
      <p:sp>
        <p:nvSpPr>
          <p:cNvPr id="31" name="Shape 29"/>
          <p:cNvSpPr/>
          <p:nvPr/>
        </p:nvSpPr>
        <p:spPr>
          <a:xfrm>
            <a:off x="274320" y="3758184"/>
            <a:ext cx="8595360" cy="237744"/>
          </a:xfrm>
          <a:prstGeom prst="rect">
            <a:avLst/>
          </a:prstGeom>
          <a:solidFill>
            <a:srgbClr val="C0392B"/>
          </a:solidFill>
          <a:ln w="12700">
            <a:solidFill>
              <a:srgbClr val="C0392B"/>
            </a:solidFill>
            <a:prstDash val="solid"/>
          </a:ln>
        </p:spPr>
        <p:txBody>
          <a:bodyPr/>
          <a:lstStyle/>
          <a:p>
            <a:endParaRPr lang="fr-FR"/>
          </a:p>
        </p:txBody>
      </p:sp>
      <p:sp>
        <p:nvSpPr>
          <p:cNvPr id="32" name="Text 30"/>
          <p:cNvSpPr/>
          <p:nvPr/>
        </p:nvSpPr>
        <p:spPr>
          <a:xfrm>
            <a:off x="347472" y="3758184"/>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LA COMMISSION DISCIPLINAIRE</a:t>
            </a:r>
            <a:endParaRPr lang="en-US" sz="900" dirty="0"/>
          </a:p>
        </p:txBody>
      </p:sp>
      <p:sp>
        <p:nvSpPr>
          <p:cNvPr id="33" name="Text 31"/>
          <p:cNvSpPr/>
          <p:nvPr/>
        </p:nvSpPr>
        <p:spPr>
          <a:xfrm>
            <a:off x="365760" y="4014216"/>
            <a:ext cx="8458200"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Peut comprendre jusqu'à 3 sections spécialisées : Taxis / VTC /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Composée à parts égales des membres du collège de l'État et du collège des professionnels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L'inculpé peut venir avec une personne de son choix</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organismes autour du T3P — Schéma de l'écosystème</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35/88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Qui intervient auprès du conducteur T3P et pour quoi ?</a:t>
            </a:r>
            <a:endParaRPr lang="en-US" sz="1200" dirty="0"/>
          </a:p>
        </p:txBody>
      </p:sp>
      <p:sp>
        <p:nvSpPr>
          <p:cNvPr id="9" name="Shape 7"/>
          <p:cNvSpPr/>
          <p:nvPr/>
        </p:nvSpPr>
        <p:spPr>
          <a:xfrm>
            <a:off x="3520440" y="1993392"/>
            <a:ext cx="2103120" cy="804672"/>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520440" y="1993392"/>
            <a:ext cx="2103120" cy="8046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CONDUCTEUR</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T3P</a:t>
            </a:r>
            <a:endParaRPr lang="en-US" sz="1200" dirty="0"/>
          </a:p>
        </p:txBody>
      </p:sp>
      <p:sp>
        <p:nvSpPr>
          <p:cNvPr id="11" name="Shape 9"/>
          <p:cNvSpPr/>
          <p:nvPr/>
        </p:nvSpPr>
        <p:spPr>
          <a:xfrm>
            <a:off x="137160" y="896112"/>
            <a:ext cx="2148840" cy="658368"/>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137160" y="896112"/>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PRÉFECTURE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(Carte pro / ADS)</a:t>
            </a:r>
            <a:endParaRPr lang="en-US" sz="950" dirty="0"/>
          </a:p>
        </p:txBody>
      </p:sp>
      <p:sp>
        <p:nvSpPr>
          <p:cNvPr id="13" name="Shape 11"/>
          <p:cNvSpPr/>
          <p:nvPr/>
        </p:nvSpPr>
        <p:spPr>
          <a:xfrm>
            <a:off x="2286000" y="1225296"/>
            <a:ext cx="1234440" cy="950976"/>
          </a:xfrm>
          <a:prstGeom prst="line">
            <a:avLst/>
          </a:prstGeom>
          <a:noFill/>
          <a:ln w="15240">
            <a:solidFill>
              <a:srgbClr val="1A3A5C"/>
            </a:solidFill>
            <a:prstDash val="solid"/>
          </a:ln>
        </p:spPr>
        <p:txBody>
          <a:bodyPr/>
          <a:lstStyle/>
          <a:p>
            <a:endParaRPr lang="fr-FR"/>
          </a:p>
        </p:txBody>
      </p:sp>
      <p:sp>
        <p:nvSpPr>
          <p:cNvPr id="14" name="Shape 12"/>
          <p:cNvSpPr/>
          <p:nvPr/>
        </p:nvSpPr>
        <p:spPr>
          <a:xfrm>
            <a:off x="137160" y="2331720"/>
            <a:ext cx="2148840" cy="658368"/>
          </a:xfrm>
          <a:prstGeom prst="rect">
            <a:avLst/>
          </a:prstGeom>
          <a:solidFill>
            <a:srgbClr val="2860A8"/>
          </a:solidFill>
          <a:ln w="12700">
            <a:solidFill>
              <a:srgbClr val="2860A8"/>
            </a:solidFill>
            <a:prstDash val="solid"/>
          </a:ln>
        </p:spPr>
        <p:txBody>
          <a:bodyPr/>
          <a:lstStyle/>
          <a:p>
            <a:endParaRPr lang="fr-FR"/>
          </a:p>
        </p:txBody>
      </p:sp>
      <p:sp>
        <p:nvSpPr>
          <p:cNvPr id="15" name="Text 13"/>
          <p:cNvSpPr/>
          <p:nvPr/>
        </p:nvSpPr>
        <p:spPr>
          <a:xfrm>
            <a:off x="137160" y="233172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DRIEAT / DREAL</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(Registre VTC / LOTI)</a:t>
            </a:r>
            <a:endParaRPr lang="en-US" sz="950" dirty="0"/>
          </a:p>
        </p:txBody>
      </p:sp>
      <p:sp>
        <p:nvSpPr>
          <p:cNvPr id="16" name="Shape 14"/>
          <p:cNvSpPr/>
          <p:nvPr/>
        </p:nvSpPr>
        <p:spPr>
          <a:xfrm>
            <a:off x="2286000" y="2313432"/>
            <a:ext cx="1234440" cy="347472"/>
          </a:xfrm>
          <a:prstGeom prst="line">
            <a:avLst/>
          </a:prstGeom>
          <a:noFill/>
          <a:ln w="15240">
            <a:solidFill>
              <a:srgbClr val="2860A8"/>
            </a:solidFill>
            <a:prstDash val="solid"/>
          </a:ln>
        </p:spPr>
        <p:txBody>
          <a:bodyPr/>
          <a:lstStyle/>
          <a:p>
            <a:endParaRPr lang="fr-FR"/>
          </a:p>
        </p:txBody>
      </p:sp>
      <p:sp>
        <p:nvSpPr>
          <p:cNvPr id="17" name="Shape 15"/>
          <p:cNvSpPr/>
          <p:nvPr/>
        </p:nvSpPr>
        <p:spPr>
          <a:xfrm>
            <a:off x="137160" y="3749040"/>
            <a:ext cx="2148840" cy="658368"/>
          </a:xfrm>
          <a:prstGeom prst="rect">
            <a:avLst/>
          </a:prstGeom>
          <a:solidFill>
            <a:srgbClr val="00897B"/>
          </a:solidFill>
          <a:ln w="12700">
            <a:solidFill>
              <a:srgbClr val="00897B"/>
            </a:solidFill>
            <a:prstDash val="solid"/>
          </a:ln>
        </p:spPr>
        <p:txBody>
          <a:bodyPr/>
          <a:lstStyle/>
          <a:p>
            <a:endParaRPr lang="fr-FR"/>
          </a:p>
        </p:txBody>
      </p:sp>
      <p:sp>
        <p:nvSpPr>
          <p:cNvPr id="18" name="Text 16"/>
          <p:cNvSpPr/>
          <p:nvPr/>
        </p:nvSpPr>
        <p:spPr>
          <a:xfrm>
            <a:off x="137160" y="374904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URSSAF</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(Cotisations sociales)</a:t>
            </a:r>
            <a:endParaRPr lang="en-US" sz="950" dirty="0"/>
          </a:p>
        </p:txBody>
      </p:sp>
      <p:sp>
        <p:nvSpPr>
          <p:cNvPr id="19" name="Shape 17"/>
          <p:cNvSpPr/>
          <p:nvPr/>
        </p:nvSpPr>
        <p:spPr>
          <a:xfrm>
            <a:off x="2286000" y="2450592"/>
            <a:ext cx="1234440" cy="1627632"/>
          </a:xfrm>
          <a:prstGeom prst="line">
            <a:avLst/>
          </a:prstGeom>
          <a:noFill/>
          <a:ln w="15240">
            <a:solidFill>
              <a:srgbClr val="00897B"/>
            </a:solidFill>
            <a:prstDash val="solid"/>
          </a:ln>
        </p:spPr>
        <p:txBody>
          <a:bodyPr/>
          <a:lstStyle/>
          <a:p>
            <a:endParaRPr lang="fr-FR"/>
          </a:p>
        </p:txBody>
      </p:sp>
      <p:sp>
        <p:nvSpPr>
          <p:cNvPr id="20" name="Shape 18"/>
          <p:cNvSpPr/>
          <p:nvPr/>
        </p:nvSpPr>
        <p:spPr>
          <a:xfrm>
            <a:off x="6766560" y="896112"/>
            <a:ext cx="2148840" cy="658368"/>
          </a:xfrm>
          <a:prstGeom prst="rect">
            <a:avLst/>
          </a:prstGeom>
          <a:solidFill>
            <a:srgbClr val="F4A227"/>
          </a:solidFill>
          <a:ln w="12700">
            <a:solidFill>
              <a:srgbClr val="F4A227"/>
            </a:solidFill>
            <a:prstDash val="solid"/>
          </a:ln>
        </p:spPr>
        <p:txBody>
          <a:bodyPr/>
          <a:lstStyle/>
          <a:p>
            <a:endParaRPr lang="fr-FR"/>
          </a:p>
        </p:txBody>
      </p:sp>
      <p:sp>
        <p:nvSpPr>
          <p:cNvPr id="21" name="Text 19"/>
          <p:cNvSpPr/>
          <p:nvPr/>
        </p:nvSpPr>
        <p:spPr>
          <a:xfrm>
            <a:off x="6766560" y="896112"/>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CHAMBRE DES MÉTIERS</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(Examen / Formation)</a:t>
            </a:r>
            <a:endParaRPr lang="en-US" sz="950" dirty="0"/>
          </a:p>
        </p:txBody>
      </p:sp>
      <p:sp>
        <p:nvSpPr>
          <p:cNvPr id="22" name="Shape 20"/>
          <p:cNvSpPr/>
          <p:nvPr/>
        </p:nvSpPr>
        <p:spPr>
          <a:xfrm>
            <a:off x="5623560" y="1225296"/>
            <a:ext cx="1143000" cy="1362456"/>
          </a:xfrm>
          <a:prstGeom prst="line">
            <a:avLst/>
          </a:prstGeom>
          <a:noFill/>
          <a:ln w="15240">
            <a:solidFill>
              <a:srgbClr val="F4A227"/>
            </a:solidFill>
            <a:prstDash val="solid"/>
          </a:ln>
        </p:spPr>
        <p:txBody>
          <a:bodyPr/>
          <a:lstStyle/>
          <a:p>
            <a:endParaRPr lang="fr-FR"/>
          </a:p>
        </p:txBody>
      </p:sp>
      <p:sp>
        <p:nvSpPr>
          <p:cNvPr id="23" name="Shape 21"/>
          <p:cNvSpPr/>
          <p:nvPr/>
        </p:nvSpPr>
        <p:spPr>
          <a:xfrm>
            <a:off x="6766560" y="2331720"/>
            <a:ext cx="2148840" cy="658368"/>
          </a:xfrm>
          <a:prstGeom prst="rect">
            <a:avLst/>
          </a:prstGeom>
          <a:solidFill>
            <a:srgbClr val="C0392B"/>
          </a:solidFill>
          <a:ln w="12700">
            <a:solidFill>
              <a:srgbClr val="C0392B"/>
            </a:solidFill>
            <a:prstDash val="solid"/>
          </a:ln>
        </p:spPr>
        <p:txBody>
          <a:bodyPr/>
          <a:lstStyle/>
          <a:p>
            <a:endParaRPr lang="fr-FR"/>
          </a:p>
        </p:txBody>
      </p:sp>
      <p:sp>
        <p:nvSpPr>
          <p:cNvPr id="24" name="Text 22"/>
          <p:cNvSpPr/>
          <p:nvPr/>
        </p:nvSpPr>
        <p:spPr>
          <a:xfrm>
            <a:off x="6766560" y="233172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POLICE / GENDARMERIE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(Contrôle route)</a:t>
            </a:r>
            <a:endParaRPr lang="en-US" sz="950" dirty="0"/>
          </a:p>
        </p:txBody>
      </p:sp>
      <p:sp>
        <p:nvSpPr>
          <p:cNvPr id="25" name="Shape 23"/>
          <p:cNvSpPr/>
          <p:nvPr/>
        </p:nvSpPr>
        <p:spPr>
          <a:xfrm>
            <a:off x="5623560" y="2660904"/>
            <a:ext cx="1143000" cy="64008"/>
          </a:xfrm>
          <a:prstGeom prst="line">
            <a:avLst/>
          </a:prstGeom>
          <a:noFill/>
          <a:ln w="15240">
            <a:solidFill>
              <a:srgbClr val="C0392B"/>
            </a:solidFill>
            <a:prstDash val="solid"/>
          </a:ln>
        </p:spPr>
        <p:txBody>
          <a:bodyPr/>
          <a:lstStyle/>
          <a:p>
            <a:endParaRPr lang="fr-FR"/>
          </a:p>
        </p:txBody>
      </p:sp>
      <p:sp>
        <p:nvSpPr>
          <p:cNvPr id="26" name="Shape 24"/>
          <p:cNvSpPr/>
          <p:nvPr/>
        </p:nvSpPr>
        <p:spPr>
          <a:xfrm>
            <a:off x="6766560" y="3749040"/>
            <a:ext cx="2148840" cy="658368"/>
          </a:xfrm>
          <a:prstGeom prst="rect">
            <a:avLst/>
          </a:prstGeom>
          <a:solidFill>
            <a:srgbClr val="6B7A8D"/>
          </a:solidFill>
          <a:ln w="12700">
            <a:solidFill>
              <a:srgbClr val="6B7A8D"/>
            </a:solidFill>
            <a:prstDash val="solid"/>
          </a:ln>
        </p:spPr>
        <p:txBody>
          <a:bodyPr/>
          <a:lstStyle/>
          <a:p>
            <a:endParaRPr lang="fr-FR"/>
          </a:p>
        </p:txBody>
      </p:sp>
      <p:sp>
        <p:nvSpPr>
          <p:cNvPr id="27" name="Text 25"/>
          <p:cNvSpPr/>
          <p:nvPr/>
        </p:nvSpPr>
        <p:spPr>
          <a:xfrm>
            <a:off x="6766560" y="374904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DGFIP / DGCCRF</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(Fiscal / Commercial)</a:t>
            </a:r>
            <a:endParaRPr lang="en-US" sz="950" dirty="0"/>
          </a:p>
        </p:txBody>
      </p:sp>
      <p:sp>
        <p:nvSpPr>
          <p:cNvPr id="28" name="Shape 26"/>
          <p:cNvSpPr/>
          <p:nvPr/>
        </p:nvSpPr>
        <p:spPr>
          <a:xfrm>
            <a:off x="5623560" y="2862072"/>
            <a:ext cx="1143000" cy="1216152"/>
          </a:xfrm>
          <a:prstGeom prst="line">
            <a:avLst/>
          </a:prstGeom>
          <a:noFill/>
          <a:ln w="15240">
            <a:solidFill>
              <a:srgbClr val="6B7A8D"/>
            </a:solidFill>
            <a:prstDash val="solid"/>
          </a:ln>
        </p:spPr>
        <p:txBody>
          <a:bodyPr/>
          <a:lstStyle/>
          <a:p>
            <a:endParaRPr lang="fr-FR"/>
          </a:p>
        </p:txBody>
      </p:sp>
      <p:sp>
        <p:nvSpPr>
          <p:cNvPr id="29" name="Shape 27"/>
          <p:cNvSpPr/>
          <p:nvPr/>
        </p:nvSpPr>
        <p:spPr>
          <a:xfrm>
            <a:off x="2560320" y="4526280"/>
            <a:ext cx="4023360" cy="475488"/>
          </a:xfrm>
          <a:prstGeom prst="rect">
            <a:avLst/>
          </a:prstGeom>
          <a:solidFill>
            <a:srgbClr val="0D2540"/>
          </a:solidFill>
          <a:ln w="12700">
            <a:solidFill>
              <a:srgbClr val="0D2540"/>
            </a:solidFill>
            <a:prstDash val="solid"/>
          </a:ln>
        </p:spPr>
        <p:txBody>
          <a:bodyPr/>
          <a:lstStyle/>
          <a:p>
            <a:endParaRPr lang="fr-FR"/>
          </a:p>
        </p:txBody>
      </p:sp>
      <p:sp>
        <p:nvSpPr>
          <p:cNvPr id="30" name="Text 28"/>
          <p:cNvSpPr/>
          <p:nvPr/>
        </p:nvSpPr>
        <p:spPr>
          <a:xfrm>
            <a:off x="2560320" y="4526280"/>
            <a:ext cx="4023360" cy="47548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MINISTÈRE DES TRANSPORTS</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(politique nationale — lois et décrets)</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Synthèse — Les organismes gravitant autour du T3P (p.113)</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8" name="Shape 6"/>
          <p:cNvSpPr/>
          <p:nvPr/>
        </p:nvSpPr>
        <p:spPr>
          <a:xfrm>
            <a:off x="274320" y="932688"/>
            <a:ext cx="4315968" cy="749808"/>
          </a:xfrm>
          <a:prstGeom prst="rect">
            <a:avLst/>
          </a:prstGeom>
          <a:solidFill>
            <a:srgbClr val="E8F1FA"/>
          </a:solidFill>
          <a:ln w="6350">
            <a:solidFill>
              <a:srgbClr val="D0DCE8"/>
            </a:solidFill>
            <a:prstDash val="solid"/>
          </a:ln>
        </p:spPr>
        <p:txBody>
          <a:bodyPr/>
          <a:lstStyle/>
          <a:p>
            <a:endParaRPr lang="fr-FR"/>
          </a:p>
        </p:txBody>
      </p:sp>
      <p:sp>
        <p:nvSpPr>
          <p:cNvPr id="9" name="Shape 7"/>
          <p:cNvSpPr/>
          <p:nvPr/>
        </p:nvSpPr>
        <p:spPr>
          <a:xfrm>
            <a:off x="274320" y="932688"/>
            <a:ext cx="4315968" cy="237744"/>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47472" y="93268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PRÉFECTURES</a:t>
            </a:r>
            <a:endParaRPr lang="en-US" sz="900" dirty="0"/>
          </a:p>
        </p:txBody>
      </p:sp>
      <p:sp>
        <p:nvSpPr>
          <p:cNvPr id="11" name="Text 9"/>
          <p:cNvSpPr/>
          <p:nvPr/>
        </p:nvSpPr>
        <p:spPr>
          <a:xfrm>
            <a:off x="365760" y="1188720"/>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documents administratifs carte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Application et contrôle des lois concernant les taxis et les VTC</a:t>
            </a:r>
            <a:endParaRPr lang="en-US" sz="850" dirty="0"/>
          </a:p>
        </p:txBody>
      </p:sp>
      <p:sp>
        <p:nvSpPr>
          <p:cNvPr id="12" name="Shape 10"/>
          <p:cNvSpPr/>
          <p:nvPr/>
        </p:nvSpPr>
        <p:spPr>
          <a:xfrm>
            <a:off x="4681728" y="932688"/>
            <a:ext cx="4315968" cy="749808"/>
          </a:xfrm>
          <a:prstGeom prst="rect">
            <a:avLst/>
          </a:prstGeom>
          <a:solidFill>
            <a:srgbClr val="E8F1FA"/>
          </a:solidFill>
          <a:ln w="6350">
            <a:solidFill>
              <a:srgbClr val="D0DCE8"/>
            </a:solidFill>
            <a:prstDash val="solid"/>
          </a:ln>
        </p:spPr>
        <p:txBody>
          <a:bodyPr/>
          <a:lstStyle/>
          <a:p>
            <a:endParaRPr lang="fr-FR"/>
          </a:p>
        </p:txBody>
      </p:sp>
      <p:sp>
        <p:nvSpPr>
          <p:cNvPr id="13" name="Shape 11"/>
          <p:cNvSpPr/>
          <p:nvPr/>
        </p:nvSpPr>
        <p:spPr>
          <a:xfrm>
            <a:off x="4681728" y="932688"/>
            <a:ext cx="4315968" cy="237744"/>
          </a:xfrm>
          <a:prstGeom prst="rect">
            <a:avLst/>
          </a:prstGeom>
          <a:solidFill>
            <a:srgbClr val="F4A227"/>
          </a:solidFill>
          <a:ln w="12700">
            <a:solidFill>
              <a:srgbClr val="F4A227"/>
            </a:solidFill>
            <a:prstDash val="solid"/>
          </a:ln>
        </p:spPr>
        <p:txBody>
          <a:bodyPr/>
          <a:lstStyle/>
          <a:p>
            <a:endParaRPr lang="fr-FR"/>
          </a:p>
        </p:txBody>
      </p:sp>
      <p:sp>
        <p:nvSpPr>
          <p:cNvPr id="14" name="Text 12"/>
          <p:cNvSpPr/>
          <p:nvPr/>
        </p:nvSpPr>
        <p:spPr>
          <a:xfrm>
            <a:off x="4754880" y="93268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MINISTÈRE DE LA TRANSITION ÉCOLOGIQUE ET SOLIDAIRE</a:t>
            </a:r>
            <a:endParaRPr lang="en-US" sz="900" dirty="0"/>
          </a:p>
        </p:txBody>
      </p:sp>
      <p:sp>
        <p:nvSpPr>
          <p:cNvPr id="15" name="Text 13"/>
          <p:cNvSpPr/>
          <p:nvPr/>
        </p:nvSpPr>
        <p:spPr>
          <a:xfrm>
            <a:off x="4773168" y="1188720"/>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Prépare et suit la politique de l'État à l'égard des taxis et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Inscription au registre des VTC — Demande de vignette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Répertorie la réglementation liée aux professions T3P</a:t>
            </a:r>
            <a:endParaRPr lang="en-US" sz="850" dirty="0"/>
          </a:p>
        </p:txBody>
      </p:sp>
      <p:sp>
        <p:nvSpPr>
          <p:cNvPr id="16" name="Shape 14"/>
          <p:cNvSpPr/>
          <p:nvPr/>
        </p:nvSpPr>
        <p:spPr>
          <a:xfrm>
            <a:off x="274320" y="1737360"/>
            <a:ext cx="4315968" cy="74980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1737360"/>
            <a:ext cx="4315968" cy="237744"/>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47472" y="173736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DRIEAT (Île-de-France) / DREAL (autres régions)</a:t>
            </a:r>
            <a:endParaRPr lang="en-US" sz="900" dirty="0"/>
          </a:p>
        </p:txBody>
      </p:sp>
      <p:sp>
        <p:nvSpPr>
          <p:cNvPr id="19" name="Text 17"/>
          <p:cNvSpPr/>
          <p:nvPr/>
        </p:nvSpPr>
        <p:spPr>
          <a:xfrm>
            <a:off x="365760" y="1993392"/>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entreprises de transport public (personnes et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Délivrance des licences de transport de personnes et de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Contrôle l'application de la réglementation</a:t>
            </a:r>
            <a:endParaRPr lang="en-US" sz="850" dirty="0"/>
          </a:p>
        </p:txBody>
      </p:sp>
      <p:sp>
        <p:nvSpPr>
          <p:cNvPr id="20" name="Shape 18"/>
          <p:cNvSpPr/>
          <p:nvPr/>
        </p:nvSpPr>
        <p:spPr>
          <a:xfrm>
            <a:off x="4681728" y="1737360"/>
            <a:ext cx="4315968" cy="749808"/>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4681728" y="1737360"/>
            <a:ext cx="4315968" cy="237744"/>
          </a:xfrm>
          <a:prstGeom prst="rect">
            <a:avLst/>
          </a:prstGeom>
          <a:solidFill>
            <a:srgbClr val="00897B"/>
          </a:solidFill>
          <a:ln w="12700">
            <a:solidFill>
              <a:srgbClr val="00897B"/>
            </a:solidFill>
            <a:prstDash val="solid"/>
          </a:ln>
        </p:spPr>
        <p:txBody>
          <a:bodyPr/>
          <a:lstStyle/>
          <a:p>
            <a:endParaRPr lang="fr-FR"/>
          </a:p>
        </p:txBody>
      </p:sp>
      <p:sp>
        <p:nvSpPr>
          <p:cNvPr id="22" name="Text 20"/>
          <p:cNvSpPr/>
          <p:nvPr/>
        </p:nvSpPr>
        <p:spPr>
          <a:xfrm>
            <a:off x="4754880" y="173736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CHAMBRE DES MÉTIERS ET DE L'ARTISANAT</a:t>
            </a:r>
            <a:endParaRPr lang="en-US" sz="900" dirty="0"/>
          </a:p>
        </p:txBody>
      </p:sp>
      <p:sp>
        <p:nvSpPr>
          <p:cNvPr id="23" name="Text 21"/>
          <p:cNvSpPr/>
          <p:nvPr/>
        </p:nvSpPr>
        <p:spPr>
          <a:xfrm>
            <a:off x="4773168" y="1993392"/>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Centre d'examens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Stage de préparation à l'installation pour la création d'une 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Défenseur des intérêts généraux de l'artisanat et des chefs d'entreprise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Gère l'organisation et la formation de l'apprentissage — Tient le répertoire des métiers</a:t>
            </a:r>
            <a:endParaRPr lang="en-US" sz="850" dirty="0"/>
          </a:p>
        </p:txBody>
      </p:sp>
      <p:sp>
        <p:nvSpPr>
          <p:cNvPr id="24" name="Shape 22"/>
          <p:cNvSpPr/>
          <p:nvPr/>
        </p:nvSpPr>
        <p:spPr>
          <a:xfrm>
            <a:off x="274320" y="2542032"/>
            <a:ext cx="8595360" cy="749808"/>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2542032"/>
            <a:ext cx="8595360" cy="237744"/>
          </a:xfrm>
          <a:prstGeom prst="rect">
            <a:avLst/>
          </a:prstGeom>
          <a:solidFill>
            <a:srgbClr val="4A6B8A"/>
          </a:solidFill>
          <a:ln w="12700">
            <a:solidFill>
              <a:srgbClr val="4A6B8A"/>
            </a:solidFill>
            <a:prstDash val="solid"/>
          </a:ln>
        </p:spPr>
        <p:txBody>
          <a:bodyPr/>
          <a:lstStyle/>
          <a:p>
            <a:endParaRPr lang="fr-FR"/>
          </a:p>
        </p:txBody>
      </p:sp>
      <p:sp>
        <p:nvSpPr>
          <p:cNvPr id="26" name="Text 24"/>
          <p:cNvSpPr/>
          <p:nvPr/>
        </p:nvSpPr>
        <p:spPr>
          <a:xfrm>
            <a:off x="347472" y="2542032"/>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CENTRES DE FORMATION</a:t>
            </a:r>
            <a:endParaRPr lang="en-US" sz="900" dirty="0"/>
          </a:p>
        </p:txBody>
      </p:sp>
      <p:sp>
        <p:nvSpPr>
          <p:cNvPr id="27" name="Text 25"/>
          <p:cNvSpPr/>
          <p:nvPr/>
        </p:nvSpPr>
        <p:spPr>
          <a:xfrm>
            <a:off x="365760" y="2798064"/>
            <a:ext cx="8458200"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Dispensent les cours pour la préparation à l'examen TAXI, VTC et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Agréés par la préfecture pour une durée de 5 ans renouvelable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Proposent les formations continues obligatoires pour les chauffeurs T3P</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8. Les assurances obligatoires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RC Circulation + RC Professionnelle — Loi Badinter — FGAO</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2 assurances obligatoires pour tout conducteur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RC de circulation + RC professionnelle — Toutes deux obligatoires et cumulatives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Tout conducteur T3P doit impérativement souscrire DEUX contrats d'assurance distincts. Ces deux assurances couvrent des risques différents et sont complémentaires. Oublier de déclarer l'usage professionnel peut entraîner un refus total d'indemnisation.</a:t>
            </a:r>
            <a:endParaRPr lang="en-US" sz="1200" dirty="0"/>
          </a:p>
        </p:txBody>
      </p:sp>
      <p:sp>
        <p:nvSpPr>
          <p:cNvPr id="10" name="Shape 8"/>
          <p:cNvSpPr/>
          <p:nvPr/>
        </p:nvSpPr>
        <p:spPr>
          <a:xfrm>
            <a:off x="27432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1. RC CIRCULATION (à titre onéreux)</a:t>
            </a:r>
            <a:endParaRPr lang="en-US" sz="1050" dirty="0"/>
          </a:p>
        </p:txBody>
      </p:sp>
      <p:sp>
        <p:nvSpPr>
          <p:cNvPr id="13" name="Text 11"/>
          <p:cNvSpPr/>
          <p:nvPr/>
        </p:nvSpPr>
        <p:spPr>
          <a:xfrm>
            <a:off x="38404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AVEC L'IMPLICATION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accident lors d'une course qui blesse le passager ou un autre usager de la route — le véhicule est impliqué.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déclarer l'usage professionnel à l'assureur. Sans déclaration = fausse déclaration → risque de refus d'indemnisation total.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Défaut d'assurance : DÉLIT — jusqu'à 3 750 € d'amende.</a:t>
            </a:r>
            <a:endParaRPr lang="en-US" sz="1000" dirty="0"/>
          </a:p>
        </p:txBody>
      </p:sp>
      <p:sp>
        <p:nvSpPr>
          <p:cNvPr id="14" name="Shape 12"/>
          <p:cNvSpPr/>
          <p:nvPr/>
        </p:nvSpPr>
        <p:spPr>
          <a:xfrm>
            <a:off x="470916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 RC PROFESSIONNELLE (d'exploitation)</a:t>
            </a:r>
            <a:endParaRPr lang="en-US" sz="1050" dirty="0"/>
          </a:p>
        </p:txBody>
      </p:sp>
      <p:sp>
        <p:nvSpPr>
          <p:cNvPr id="17" name="Text 15"/>
          <p:cNvSpPr/>
          <p:nvPr/>
        </p:nvSpPr>
        <p:spPr>
          <a:xfrm>
            <a:off x="481888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EN DEHORS DE TOUTE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un client glisse en montant dans le véhicule. Ou ses bagages sont endommagés lors du chargement. Le véhicule n'est pas impliqué dans un accident.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3 éléments de la responsabilité civile : FAUTE + DOMMAGE + LIEN DE CAUSALITÉ.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Sans ces 3 éléments simultanément, la responsabilité ne peut pas être engagée.</a:t>
            </a:r>
            <a:endParaRPr lang="en-US" sz="1000" dirty="0"/>
          </a:p>
        </p:txBody>
      </p:sp>
      <p:sp>
        <p:nvSpPr>
          <p:cNvPr id="18" name="Shape 16"/>
          <p:cNvSpPr/>
          <p:nvPr/>
        </p:nvSpPr>
        <p:spPr>
          <a:xfrm>
            <a:off x="274320" y="3785616"/>
            <a:ext cx="8595360" cy="8686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274320" y="3785616"/>
            <a:ext cx="859536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365760" y="3785616"/>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BADINTER (5 juillet 1985) — Protection des victimes + FGAO</a:t>
            </a:r>
            <a:endParaRPr lang="en-US" sz="1050" dirty="0"/>
          </a:p>
        </p:txBody>
      </p:sp>
      <p:sp>
        <p:nvSpPr>
          <p:cNvPr id="21" name="Text 19"/>
          <p:cNvSpPr/>
          <p:nvPr/>
        </p:nvSpPr>
        <p:spPr>
          <a:xfrm>
            <a:off x="384048" y="4133088"/>
            <a:ext cx="8412480" cy="47548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loi Badinter garantit l'indemnisation de TOUTES les victimes sous 3 conditions : accident de circulation + véhicule terrestre à moteur impliqué +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FGAO (Fonds de Garantie des Assurances Obligatoires) : indemnise les victimes quand le responsable n'est PAS ASSURÉ ou n'est PAS IDENTIFIÉ (délit de fuite). Le conducteur non assuré reste personnellement redevable de la totalité des sommes versées.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assurances — Schéma : qui couvre quoi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RC Circulation vs RC Professionnelle : les deux situations couvertes :</a:t>
            </a:r>
            <a:endParaRPr lang="en-US" sz="1200" dirty="0"/>
          </a:p>
        </p:txBody>
      </p:sp>
      <p:sp>
        <p:nvSpPr>
          <p:cNvPr id="9" name="Shape 7"/>
          <p:cNvSpPr/>
          <p:nvPr/>
        </p:nvSpPr>
        <p:spPr>
          <a:xfrm>
            <a:off x="274320" y="1234440"/>
            <a:ext cx="4160520" cy="3200400"/>
          </a:xfrm>
          <a:prstGeom prst="rect">
            <a:avLst/>
          </a:prstGeom>
          <a:solidFill>
            <a:srgbClr val="E8F1FA"/>
          </a:solidFill>
          <a:ln w="19050">
            <a:solidFill>
              <a:srgbClr val="1A3A5C"/>
            </a:solidFill>
            <a:prstDash val="solid"/>
          </a:ln>
        </p:spPr>
        <p:txBody>
          <a:bodyPr/>
          <a:lstStyle/>
          <a:p>
            <a:endParaRPr lang="fr-FR"/>
          </a:p>
        </p:txBody>
      </p:sp>
      <p:sp>
        <p:nvSpPr>
          <p:cNvPr id="10" name="Shape 8"/>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CIRCULATION</a:t>
            </a:r>
            <a:endParaRPr lang="en-US" sz="1200" dirty="0"/>
          </a:p>
        </p:txBody>
      </p:sp>
      <p:sp>
        <p:nvSpPr>
          <p:cNvPr id="12" name="Text 10"/>
          <p:cNvSpPr/>
          <p:nvPr/>
        </p:nvSpPr>
        <p:spPr>
          <a:xfrm>
            <a:off x="457200" y="1645920"/>
            <a:ext cx="3794760" cy="594360"/>
          </a:xfrm>
          <a:prstGeom prst="rect">
            <a:avLst/>
          </a:prstGeom>
          <a:noFill/>
          <a:ln/>
        </p:spPr>
        <p:txBody>
          <a:bodyPr wrap="square" rtlCol="0" anchor="ctr"/>
          <a:lstStyle/>
          <a:p>
            <a:pPr marL="0" indent="0" algn="ctr">
              <a:buNone/>
            </a:pPr>
            <a:r>
              <a:rPr lang="en-US" sz="1300" b="1" dirty="0">
                <a:solidFill>
                  <a:srgbClr val="1A3A5C"/>
                </a:solidFill>
                <a:latin typeface="Calibri" pitchFamily="34" charset="0"/>
                <a:ea typeface="Calibri" pitchFamily="34" charset="-122"/>
                <a:cs typeface="Calibri" pitchFamily="34" charset="-120"/>
              </a:rPr>
              <a:t>VÉHICULE IMPLIQUÉ</a:t>
            </a:r>
            <a:endParaRPr lang="en-US" sz="1300" dirty="0"/>
          </a:p>
          <a:p>
            <a:pPr marL="0" indent="0" algn="ctr">
              <a:buNone/>
            </a:pPr>
            <a:r>
              <a:rPr lang="en-US" sz="1300" b="1" dirty="0">
                <a:solidFill>
                  <a:srgbClr val="1A3A5C"/>
                </a:solidFill>
                <a:latin typeface="Calibri" pitchFamily="34" charset="0"/>
                <a:ea typeface="Calibri" pitchFamily="34" charset="-122"/>
                <a:cs typeface="Calibri" pitchFamily="34" charset="-120"/>
              </a:rPr>
              <a:t>dans l'accident</a:t>
            </a:r>
            <a:endParaRPr lang="en-US" sz="1300" dirty="0"/>
          </a:p>
        </p:txBody>
      </p:sp>
      <p:sp>
        <p:nvSpPr>
          <p:cNvPr id="13" name="Text 11"/>
          <p:cNvSpPr/>
          <p:nvPr/>
        </p:nvSpPr>
        <p:spPr>
          <a:xfrm>
            <a:off x="365760" y="2286000"/>
            <a:ext cx="393192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Accident avec un autre véhicule pendant une course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Choc avec un piéton lors du trajet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Collision dans un parking</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Tout dommage où le véhicule est impliqué</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Obligation : déclarer l'usage professionnel</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à l'assureur sinon refus d'indemnisation</a:t>
            </a:r>
            <a:endParaRPr lang="en-US" sz="1050" dirty="0"/>
          </a:p>
        </p:txBody>
      </p:sp>
      <p:sp>
        <p:nvSpPr>
          <p:cNvPr id="14" name="Shape 12"/>
          <p:cNvSpPr/>
          <p:nvPr/>
        </p:nvSpPr>
        <p:spPr>
          <a:xfrm>
            <a:off x="4709160" y="1234440"/>
            <a:ext cx="4160520" cy="3200400"/>
          </a:xfrm>
          <a:prstGeom prst="rect">
            <a:avLst/>
          </a:prstGeom>
          <a:solidFill>
            <a:srgbClr val="E8F1FA"/>
          </a:solidFill>
          <a:ln w="19050">
            <a:solidFill>
              <a:srgbClr val="2860A8"/>
            </a:solidFill>
            <a:prstDash val="solid"/>
          </a:ln>
        </p:spPr>
        <p:txBody>
          <a:bodyPr/>
          <a:lstStyle/>
          <a:p>
            <a:endParaRPr lang="fr-FR"/>
          </a:p>
        </p:txBody>
      </p:sp>
      <p:sp>
        <p:nvSpPr>
          <p:cNvPr id="15" name="Shape 13"/>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70916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PROFESSIONNELLE</a:t>
            </a:r>
            <a:endParaRPr lang="en-US" sz="1200" dirty="0"/>
          </a:p>
        </p:txBody>
      </p:sp>
      <p:sp>
        <p:nvSpPr>
          <p:cNvPr id="17" name="Text 15"/>
          <p:cNvSpPr/>
          <p:nvPr/>
        </p:nvSpPr>
        <p:spPr>
          <a:xfrm>
            <a:off x="4800600" y="1645920"/>
            <a:ext cx="3977640" cy="594360"/>
          </a:xfrm>
          <a:prstGeom prst="rect">
            <a:avLst/>
          </a:prstGeom>
          <a:noFill/>
          <a:ln/>
        </p:spPr>
        <p:txBody>
          <a:bodyPr wrap="square" rtlCol="0" anchor="ctr"/>
          <a:lstStyle/>
          <a:p>
            <a:pPr marL="0" indent="0" algn="ctr">
              <a:buNone/>
            </a:pPr>
            <a:r>
              <a:rPr lang="en-US" sz="1300" b="1" dirty="0">
                <a:solidFill>
                  <a:srgbClr val="2860A8"/>
                </a:solidFill>
                <a:latin typeface="Calibri" pitchFamily="34" charset="0"/>
                <a:ea typeface="Calibri" pitchFamily="34" charset="-122"/>
                <a:cs typeface="Calibri" pitchFamily="34" charset="-120"/>
              </a:rPr>
              <a:t>VÉHICULE NON IMPLIQUÉ</a:t>
            </a:r>
            <a:endParaRPr lang="en-US" sz="1300" dirty="0"/>
          </a:p>
          <a:p>
            <a:pPr marL="0" indent="0" algn="ctr">
              <a:buNone/>
            </a:pPr>
            <a:r>
              <a:rPr lang="en-US" sz="1300" b="1" dirty="0">
                <a:solidFill>
                  <a:srgbClr val="2860A8"/>
                </a:solidFill>
                <a:latin typeface="Calibri" pitchFamily="34" charset="0"/>
                <a:ea typeface="Calibri" pitchFamily="34" charset="-122"/>
                <a:cs typeface="Calibri" pitchFamily="34" charset="-120"/>
              </a:rPr>
              <a:t>pas d'accident de circulation</a:t>
            </a:r>
            <a:endParaRPr lang="en-US" sz="1300" dirty="0"/>
          </a:p>
        </p:txBody>
      </p:sp>
      <p:sp>
        <p:nvSpPr>
          <p:cNvPr id="18" name="Text 16"/>
          <p:cNvSpPr/>
          <p:nvPr/>
        </p:nvSpPr>
        <p:spPr>
          <a:xfrm>
            <a:off x="4800600" y="2286000"/>
            <a:ext cx="397764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Client glisse en montant dans le véhicule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Bagages endommagés lors du chargement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Chute d'un passager à l'arrêt complet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Mauvaise information causant un préjudice</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3 conditions : Faute + Dommage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Lien de causalité DIRECT</a:t>
            </a:r>
            <a:endParaRPr lang="en-US" sz="1050" dirty="0"/>
          </a:p>
        </p:txBody>
      </p:sp>
      <p:sp>
        <p:nvSpPr>
          <p:cNvPr id="19" name="Shape 17"/>
          <p:cNvSpPr/>
          <p:nvPr/>
        </p:nvSpPr>
        <p:spPr>
          <a:xfrm>
            <a:off x="274320" y="4526280"/>
            <a:ext cx="8595360" cy="274320"/>
          </a:xfrm>
          <a:prstGeom prst="rect">
            <a:avLst/>
          </a:prstGeom>
          <a:solidFill>
            <a:srgbClr val="FEF0EE"/>
          </a:solidFill>
          <a:ln w="19050">
            <a:solidFill>
              <a:srgbClr val="C0392B"/>
            </a:solidFill>
            <a:prstDash val="solid"/>
          </a:ln>
        </p:spPr>
        <p:txBody>
          <a:bodyPr/>
          <a:lstStyle/>
          <a:p>
            <a:endParaRPr lang="fr-FR"/>
          </a:p>
        </p:txBody>
      </p:sp>
      <p:sp>
        <p:nvSpPr>
          <p:cNvPr id="20" name="Shape 18"/>
          <p:cNvSpPr/>
          <p:nvPr/>
        </p:nvSpPr>
        <p:spPr>
          <a:xfrm>
            <a:off x="274320" y="4526280"/>
            <a:ext cx="54864" cy="274320"/>
          </a:xfrm>
          <a:prstGeom prst="rect">
            <a:avLst/>
          </a:prstGeom>
          <a:solidFill>
            <a:srgbClr val="C0392B"/>
          </a:solidFill>
          <a:ln w="12700">
            <a:solidFill>
              <a:srgbClr val="C0392B"/>
            </a:solidFill>
            <a:prstDash val="solid"/>
          </a:ln>
        </p:spPr>
        <p:txBody>
          <a:bodyPr/>
          <a:lstStyle/>
          <a:p>
            <a:endParaRPr lang="fr-FR"/>
          </a:p>
        </p:txBody>
      </p:sp>
      <p:sp>
        <p:nvSpPr>
          <p:cNvPr id="21" name="Text 19"/>
          <p:cNvSpPr/>
          <p:nvPr/>
        </p:nvSpPr>
        <p:spPr>
          <a:xfrm>
            <a:off x="384048" y="4526280"/>
            <a:ext cx="8467344" cy="27432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Les 2 assurances sont CUMULATIVES et obligatoires. Ni l'une ni l'autre ne peut remplacer l'autre. Sanction : jusqu'à 3 750 € d'amende.</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9. Formation continue et visite médicale</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Obligations périodiques pour maintenir la carte professionnelle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39/88</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Formation continue et visite médicale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Conditions de maintien de la carte professionnelle T3P</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42/88</a:t>
            </a:r>
            <a:endParaRPr lang="en-US" sz="800" dirty="0"/>
          </a:p>
        </p:txBody>
      </p:sp>
      <p:sp>
        <p:nvSpPr>
          <p:cNvPr id="9" name="Text 7"/>
          <p:cNvSpPr/>
          <p:nvPr/>
        </p:nvSpPr>
        <p:spPr>
          <a:xfrm>
            <a:off x="274320" y="1078992"/>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Obtenir la carte professionnelle n'est qu'une première étape. Pour la conserver, deux obligations périodiques doivent être respectées : la formation continue et la visite médicale. Elles s'appliquent aux Taxis, VTC et VMDTR.</a:t>
            </a:r>
            <a:endParaRPr lang="en-US" sz="1200" dirty="0"/>
          </a:p>
        </p:txBody>
      </p:sp>
      <p:sp>
        <p:nvSpPr>
          <p:cNvPr id="10" name="Shape 8"/>
          <p:cNvSpPr/>
          <p:nvPr/>
        </p:nvSpPr>
        <p:spPr>
          <a:xfrm>
            <a:off x="274320" y="1572768"/>
            <a:ext cx="8595360" cy="384048"/>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572768"/>
            <a:ext cx="859536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FORMATION CONTINUE OBLIGATOIRE — 14 heures tous les 5 ANS — Taxi, VTC et VMDTR</a:t>
            </a:r>
            <a:endParaRPr lang="en-US" sz="1300" dirty="0"/>
          </a:p>
        </p:txBody>
      </p:sp>
      <p:sp>
        <p:nvSpPr>
          <p:cNvPr id="12" name="Shape 10"/>
          <p:cNvSpPr/>
          <p:nvPr/>
        </p:nvSpPr>
        <p:spPr>
          <a:xfrm>
            <a:off x="274320" y="2029968"/>
            <a:ext cx="4160520" cy="120700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3" name="Shape 11"/>
          <p:cNvSpPr/>
          <p:nvPr/>
        </p:nvSpPr>
        <p:spPr>
          <a:xfrm>
            <a:off x="274320" y="2029968"/>
            <a:ext cx="4160520" cy="301752"/>
          </a:xfrm>
          <a:prstGeom prst="rect">
            <a:avLst/>
          </a:prstGeom>
          <a:solidFill>
            <a:srgbClr val="2860A8"/>
          </a:solidFill>
          <a:ln w="12700">
            <a:solidFill>
              <a:srgbClr val="2860A8"/>
            </a:solidFill>
            <a:prstDash val="solid"/>
          </a:ln>
        </p:spPr>
        <p:txBody>
          <a:bodyPr/>
          <a:lstStyle/>
          <a:p>
            <a:endParaRPr lang="fr-FR"/>
          </a:p>
        </p:txBody>
      </p:sp>
      <p:sp>
        <p:nvSpPr>
          <p:cNvPr id="14" name="Text 12"/>
          <p:cNvSpPr/>
          <p:nvPr/>
        </p:nvSpPr>
        <p:spPr>
          <a:xfrm>
            <a:off x="36576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CONTENU DE LA FORMATION</a:t>
            </a:r>
            <a:endParaRPr lang="en-US" sz="1050" dirty="0"/>
          </a:p>
        </p:txBody>
      </p:sp>
      <p:sp>
        <p:nvSpPr>
          <p:cNvPr id="15" name="Text 13"/>
          <p:cNvSpPr/>
          <p:nvPr/>
        </p:nvSpPr>
        <p:spPr>
          <a:xfrm>
            <a:off x="38404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Mise à jour réglementaire (nouvelles lois, arrêtés).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Révision de la sécurité routière spécifique T3P.</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Amélioration relation client — gestion situations difficiles.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2024 : prévention des discriminations et des VSS.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Centre de formation AGRÉÉ par le Préfet (pour 5 ans).</a:t>
            </a:r>
            <a:endParaRPr lang="en-US" sz="1000" dirty="0"/>
          </a:p>
        </p:txBody>
      </p:sp>
      <p:sp>
        <p:nvSpPr>
          <p:cNvPr id="16" name="Shape 14"/>
          <p:cNvSpPr/>
          <p:nvPr/>
        </p:nvSpPr>
        <p:spPr>
          <a:xfrm>
            <a:off x="4709160" y="2029968"/>
            <a:ext cx="4160520" cy="1207008"/>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7" name="Shape 15"/>
          <p:cNvSpPr/>
          <p:nvPr/>
        </p:nvSpPr>
        <p:spPr>
          <a:xfrm>
            <a:off x="4709160" y="2029968"/>
            <a:ext cx="4160520" cy="301752"/>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480060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CONSÉQUENCES DU NON-RESPECT</a:t>
            </a:r>
            <a:endParaRPr lang="en-US" sz="1050" dirty="0"/>
          </a:p>
        </p:txBody>
      </p:sp>
      <p:sp>
        <p:nvSpPr>
          <p:cNvPr id="19" name="Text 17"/>
          <p:cNvSpPr/>
          <p:nvPr/>
        </p:nvSpPr>
        <p:spPr>
          <a:xfrm>
            <a:off x="481888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carte professionnelle NE PEUT PAS être renouvelée sans justificatif de formation.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avec carte périmée = exercice illégal = DÉLIT.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formation peut être fractionnée sur les 5 ans.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CPF mobilisable pour financer la formation continue.</a:t>
            </a:r>
            <a:endParaRPr lang="en-US" sz="1000" dirty="0"/>
          </a:p>
        </p:txBody>
      </p:sp>
      <p:sp>
        <p:nvSpPr>
          <p:cNvPr id="20" name="Text 18"/>
          <p:cNvSpPr/>
          <p:nvPr/>
        </p:nvSpPr>
        <p:spPr>
          <a:xfrm>
            <a:off x="274320" y="331012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Visite médicale obligatoire — Fréquence selon l'âge du conducteur :</a:t>
            </a:r>
            <a:endParaRPr lang="en-US" sz="1200" dirty="0"/>
          </a:p>
        </p:txBody>
      </p:sp>
      <p:sp>
        <p:nvSpPr>
          <p:cNvPr id="21" name="Shape 19"/>
          <p:cNvSpPr/>
          <p:nvPr/>
        </p:nvSpPr>
        <p:spPr>
          <a:xfrm>
            <a:off x="27432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27432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32918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 → 60 ans</a:t>
            </a:r>
            <a:endParaRPr lang="en-US" sz="1100" dirty="0"/>
          </a:p>
        </p:txBody>
      </p:sp>
      <p:sp>
        <p:nvSpPr>
          <p:cNvPr id="24" name="Text 22"/>
          <p:cNvSpPr/>
          <p:nvPr/>
        </p:nvSpPr>
        <p:spPr>
          <a:xfrm>
            <a:off x="320040" y="3931920"/>
            <a:ext cx="2651760" cy="749808"/>
          </a:xfrm>
          <a:prstGeom prst="rect">
            <a:avLst/>
          </a:prstGeom>
          <a:noFill/>
          <a:ln/>
        </p:spPr>
        <p:txBody>
          <a:bodyPr wrap="square" rtlCol="0" anchor="ctr"/>
          <a:lstStyle/>
          <a:p>
            <a:pPr marL="0" indent="0" algn="ctr">
              <a:buNone/>
            </a:pPr>
            <a:r>
              <a:rPr lang="en-US" sz="2000" b="1" dirty="0">
                <a:solidFill>
                  <a:srgbClr val="1A3A5C"/>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1A3A5C"/>
                </a:solidFill>
                <a:latin typeface="Calibri" pitchFamily="34" charset="0"/>
                <a:ea typeface="Calibri" pitchFamily="34" charset="-122"/>
                <a:cs typeface="Calibri" pitchFamily="34" charset="-120"/>
              </a:rPr>
              <a:t>5 ANS</a:t>
            </a:r>
            <a:endParaRPr lang="en-US" sz="2000" dirty="0"/>
          </a:p>
        </p:txBody>
      </p:sp>
      <p:sp>
        <p:nvSpPr>
          <p:cNvPr id="25" name="Shape 23"/>
          <p:cNvSpPr/>
          <p:nvPr/>
        </p:nvSpPr>
        <p:spPr>
          <a:xfrm>
            <a:off x="315468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315468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20954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60 → 76 ans</a:t>
            </a:r>
            <a:endParaRPr lang="en-US" sz="1100" dirty="0"/>
          </a:p>
        </p:txBody>
      </p:sp>
      <p:sp>
        <p:nvSpPr>
          <p:cNvPr id="28" name="Text 26"/>
          <p:cNvSpPr/>
          <p:nvPr/>
        </p:nvSpPr>
        <p:spPr>
          <a:xfrm>
            <a:off x="3200400" y="3931920"/>
            <a:ext cx="2651760" cy="749808"/>
          </a:xfrm>
          <a:prstGeom prst="rect">
            <a:avLst/>
          </a:prstGeom>
          <a:noFill/>
          <a:ln/>
        </p:spPr>
        <p:txBody>
          <a:bodyPr wrap="square" rtlCol="0" anchor="ctr"/>
          <a:lstStyle/>
          <a:p>
            <a:pPr marL="0" indent="0" algn="ctr">
              <a:buNone/>
            </a:pPr>
            <a:r>
              <a:rPr lang="en-US" sz="2000" b="1" dirty="0">
                <a:solidFill>
                  <a:srgbClr val="F4A227"/>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F4A227"/>
                </a:solidFill>
                <a:latin typeface="Calibri" pitchFamily="34" charset="0"/>
                <a:ea typeface="Calibri" pitchFamily="34" charset="-122"/>
                <a:cs typeface="Calibri" pitchFamily="34" charset="-120"/>
              </a:rPr>
              <a:t>2 ANS</a:t>
            </a:r>
            <a:endParaRPr lang="en-US" sz="2000" dirty="0"/>
          </a:p>
        </p:txBody>
      </p:sp>
      <p:sp>
        <p:nvSpPr>
          <p:cNvPr id="29" name="Shape 27"/>
          <p:cNvSpPr/>
          <p:nvPr/>
        </p:nvSpPr>
        <p:spPr>
          <a:xfrm>
            <a:off x="603504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6035040" y="3611880"/>
            <a:ext cx="2743200" cy="292608"/>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608990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76 ans et plus</a:t>
            </a:r>
            <a:endParaRPr lang="en-US" sz="1100" dirty="0"/>
          </a:p>
        </p:txBody>
      </p:sp>
      <p:sp>
        <p:nvSpPr>
          <p:cNvPr id="32" name="Text 30"/>
          <p:cNvSpPr/>
          <p:nvPr/>
        </p:nvSpPr>
        <p:spPr>
          <a:xfrm>
            <a:off x="6080760" y="3931920"/>
            <a:ext cx="2651760" cy="749808"/>
          </a:xfrm>
          <a:prstGeom prst="rect">
            <a:avLst/>
          </a:prstGeom>
          <a:noFill/>
          <a:ln/>
        </p:spPr>
        <p:txBody>
          <a:bodyPr wrap="square" rtlCol="0" anchor="ctr"/>
          <a:lstStyle/>
          <a:p>
            <a:pPr marL="0" indent="0" algn="ctr">
              <a:buNone/>
            </a:pPr>
            <a:r>
              <a:rPr lang="en-US" sz="2000" b="1" dirty="0">
                <a:solidFill>
                  <a:srgbClr val="C0392B"/>
                </a:solidFill>
                <a:latin typeface="Calibri" pitchFamily="34" charset="0"/>
                <a:ea typeface="Calibri" pitchFamily="34" charset="-122"/>
                <a:cs typeface="Calibri" pitchFamily="34" charset="-120"/>
              </a:rPr>
              <a:t>Chaque</a:t>
            </a:r>
            <a:endParaRPr lang="en-US" sz="2000" dirty="0"/>
          </a:p>
          <a:p>
            <a:pPr marL="0" indent="0" algn="ctr">
              <a:buNone/>
            </a:pPr>
            <a:r>
              <a:rPr lang="en-US" sz="2000" b="1" dirty="0">
                <a:solidFill>
                  <a:srgbClr val="C0392B"/>
                </a:solidFill>
                <a:latin typeface="Calibri" pitchFamily="34" charset="0"/>
                <a:ea typeface="Calibri" pitchFamily="34" charset="-122"/>
                <a:cs typeface="Calibri" pitchFamily="34" charset="-120"/>
              </a:rPr>
              <a:t>ANNÉE</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Formation et visite médicale — Schéma chronologique</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43/88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Cycle de maintien de la carte professionnelle T3P dans le temps :</a:t>
            </a:r>
            <a:endParaRPr lang="en-US" sz="1200" dirty="0"/>
          </a:p>
        </p:txBody>
      </p:sp>
      <p:sp>
        <p:nvSpPr>
          <p:cNvPr id="9" name="Shape 7"/>
          <p:cNvSpPr/>
          <p:nvPr/>
        </p:nvSpPr>
        <p:spPr>
          <a:xfrm>
            <a:off x="457200" y="2029968"/>
            <a:ext cx="8229600" cy="0"/>
          </a:xfrm>
          <a:prstGeom prst="line">
            <a:avLst/>
          </a:prstGeom>
          <a:noFill/>
          <a:ln w="31750">
            <a:solidFill>
              <a:srgbClr val="2860A8"/>
            </a:solidFill>
            <a:prstDash val="solid"/>
          </a:ln>
        </p:spPr>
        <p:txBody>
          <a:bodyPr/>
          <a:lstStyle/>
          <a:p>
            <a:endParaRPr lang="fr-FR"/>
          </a:p>
        </p:txBody>
      </p:sp>
      <p:sp>
        <p:nvSpPr>
          <p:cNvPr id="10" name="Shape 8"/>
          <p:cNvSpPr/>
          <p:nvPr/>
        </p:nvSpPr>
        <p:spPr>
          <a:xfrm>
            <a:off x="384048" y="1901952"/>
            <a:ext cx="164592" cy="25603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2212848"/>
            <a:ext cx="1463040" cy="566928"/>
          </a:xfrm>
          <a:prstGeom prst="rect">
            <a:avLst/>
          </a:prstGeom>
          <a:noFill/>
          <a:ln/>
        </p:spPr>
        <p:txBody>
          <a:bodyPr wrap="square" rtlCol="0" anchor="ctr"/>
          <a:lstStyle/>
          <a:p>
            <a:pPr marL="0" indent="0" algn="ctr">
              <a:buNone/>
            </a:pPr>
            <a:r>
              <a:rPr lang="en-US" sz="950" b="1" dirty="0">
                <a:solidFill>
                  <a:srgbClr val="1A3A5C"/>
                </a:solidFill>
                <a:latin typeface="Calibri" pitchFamily="34" charset="0"/>
                <a:ea typeface="Calibri" pitchFamily="34" charset="-122"/>
                <a:cs typeface="Calibri" pitchFamily="34" charset="-120"/>
              </a:rPr>
              <a:t>Obtention</a:t>
            </a:r>
            <a:endParaRPr lang="en-US" sz="950" dirty="0"/>
          </a:p>
          <a:p>
            <a:pPr marL="0" indent="0" algn="ctr">
              <a:buNone/>
            </a:pPr>
            <a:r>
              <a:rPr lang="en-US" sz="950" b="1" dirty="0">
                <a:solidFill>
                  <a:srgbClr val="1A3A5C"/>
                </a:solidFill>
                <a:latin typeface="Calibri" pitchFamily="34" charset="0"/>
                <a:ea typeface="Calibri" pitchFamily="34" charset="-122"/>
                <a:cs typeface="Calibri" pitchFamily="34" charset="-120"/>
              </a:rPr>
              <a:t>carte pro</a:t>
            </a:r>
            <a:endParaRPr lang="en-US" sz="950" dirty="0"/>
          </a:p>
        </p:txBody>
      </p:sp>
      <p:sp>
        <p:nvSpPr>
          <p:cNvPr id="12" name="Text 10"/>
          <p:cNvSpPr/>
          <p:nvPr/>
        </p:nvSpPr>
        <p:spPr>
          <a:xfrm>
            <a:off x="-18288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Examen réussi</a:t>
            </a:r>
            <a:endParaRPr lang="en-US" sz="850" dirty="0"/>
          </a:p>
        </p:txBody>
      </p:sp>
      <p:sp>
        <p:nvSpPr>
          <p:cNvPr id="13" name="Shape 11"/>
          <p:cNvSpPr/>
          <p:nvPr/>
        </p:nvSpPr>
        <p:spPr>
          <a:xfrm>
            <a:off x="2121408" y="1901952"/>
            <a:ext cx="164592" cy="256032"/>
          </a:xfrm>
          <a:prstGeom prst="rect">
            <a:avLst/>
          </a:prstGeom>
          <a:solidFill>
            <a:srgbClr val="2E7D32"/>
          </a:solidFill>
          <a:ln w="12700">
            <a:solidFill>
              <a:srgbClr val="2E7D32"/>
            </a:solidFill>
            <a:prstDash val="solid"/>
          </a:ln>
        </p:spPr>
        <p:txBody>
          <a:bodyPr/>
          <a:lstStyle/>
          <a:p>
            <a:endParaRPr lang="fr-FR"/>
          </a:p>
        </p:txBody>
      </p:sp>
      <p:sp>
        <p:nvSpPr>
          <p:cNvPr id="14" name="Text 12"/>
          <p:cNvSpPr/>
          <p:nvPr/>
        </p:nvSpPr>
        <p:spPr>
          <a:xfrm>
            <a:off x="1463040" y="2212848"/>
            <a:ext cx="1463040" cy="566928"/>
          </a:xfrm>
          <a:prstGeom prst="rect">
            <a:avLst/>
          </a:prstGeom>
          <a:noFill/>
          <a:ln/>
        </p:spPr>
        <p:txBody>
          <a:bodyPr wrap="square" rtlCol="0" anchor="ctr"/>
          <a:lstStyle/>
          <a:p>
            <a:pPr marL="0" indent="0" algn="ctr">
              <a:buNone/>
            </a:pPr>
            <a:r>
              <a:rPr lang="en-US" sz="950" b="1" dirty="0">
                <a:solidFill>
                  <a:srgbClr val="2E7D32"/>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2E7D32"/>
                </a:solidFill>
                <a:latin typeface="Calibri" pitchFamily="34" charset="0"/>
                <a:ea typeface="Calibri" pitchFamily="34" charset="-122"/>
                <a:cs typeface="Calibri" pitchFamily="34" charset="-120"/>
              </a:rPr>
              <a:t>(20-60 ans)</a:t>
            </a:r>
            <a:endParaRPr lang="en-US" sz="950" dirty="0"/>
          </a:p>
        </p:txBody>
      </p:sp>
      <p:sp>
        <p:nvSpPr>
          <p:cNvPr id="15" name="Text 13"/>
          <p:cNvSpPr/>
          <p:nvPr/>
        </p:nvSpPr>
        <p:spPr>
          <a:xfrm>
            <a:off x="155448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Tous les 5 ans</a:t>
            </a:r>
            <a:endParaRPr lang="en-US" sz="850" dirty="0"/>
          </a:p>
        </p:txBody>
      </p:sp>
      <p:sp>
        <p:nvSpPr>
          <p:cNvPr id="16" name="Shape 14"/>
          <p:cNvSpPr/>
          <p:nvPr/>
        </p:nvSpPr>
        <p:spPr>
          <a:xfrm>
            <a:off x="4041648" y="1901952"/>
            <a:ext cx="164592" cy="25603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3383280" y="2212848"/>
            <a:ext cx="1463040" cy="566928"/>
          </a:xfrm>
          <a:prstGeom prst="rect">
            <a:avLst/>
          </a:prstGeom>
          <a:noFill/>
          <a:ln/>
        </p:spPr>
        <p:txBody>
          <a:bodyPr wrap="square" rtlCol="0" anchor="ctr"/>
          <a:lstStyle/>
          <a:p>
            <a:pPr marL="0" indent="0" algn="ctr">
              <a:buNone/>
            </a:pPr>
            <a:r>
              <a:rPr lang="en-US" sz="950" b="1" dirty="0">
                <a:solidFill>
                  <a:srgbClr val="2860A8"/>
                </a:solidFill>
                <a:latin typeface="Calibri" pitchFamily="34" charset="0"/>
                <a:ea typeface="Calibri" pitchFamily="34" charset="-122"/>
                <a:cs typeface="Calibri" pitchFamily="34" charset="-120"/>
              </a:rPr>
              <a:t>Formation</a:t>
            </a:r>
            <a:endParaRPr lang="en-US" sz="950" dirty="0"/>
          </a:p>
          <a:p>
            <a:pPr marL="0" indent="0" algn="ctr">
              <a:buNone/>
            </a:pPr>
            <a:r>
              <a:rPr lang="en-US" sz="950" b="1" dirty="0">
                <a:solidFill>
                  <a:srgbClr val="2860A8"/>
                </a:solidFill>
                <a:latin typeface="Calibri" pitchFamily="34" charset="0"/>
                <a:ea typeface="Calibri" pitchFamily="34" charset="-122"/>
                <a:cs typeface="Calibri" pitchFamily="34" charset="-120"/>
              </a:rPr>
              <a:t>continue</a:t>
            </a:r>
            <a:endParaRPr lang="en-US" sz="950" dirty="0"/>
          </a:p>
        </p:txBody>
      </p:sp>
      <p:sp>
        <p:nvSpPr>
          <p:cNvPr id="18" name="Text 16"/>
          <p:cNvSpPr/>
          <p:nvPr/>
        </p:nvSpPr>
        <p:spPr>
          <a:xfrm>
            <a:off x="34747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14h — Centre agréé</a:t>
            </a:r>
            <a:endParaRPr lang="en-US" sz="850" dirty="0"/>
          </a:p>
        </p:txBody>
      </p:sp>
      <p:sp>
        <p:nvSpPr>
          <p:cNvPr id="19" name="Shape 17"/>
          <p:cNvSpPr/>
          <p:nvPr/>
        </p:nvSpPr>
        <p:spPr>
          <a:xfrm>
            <a:off x="5870448" y="1901952"/>
            <a:ext cx="164592" cy="256032"/>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5212080" y="2212848"/>
            <a:ext cx="1463040" cy="566928"/>
          </a:xfrm>
          <a:prstGeom prst="rect">
            <a:avLst/>
          </a:prstGeom>
          <a:noFill/>
          <a:ln/>
        </p:spPr>
        <p:txBody>
          <a:bodyPr wrap="square" rtlCol="0" anchor="ctr"/>
          <a:lstStyle/>
          <a:p>
            <a:pPr marL="0" indent="0" algn="ctr">
              <a:buNone/>
            </a:pPr>
            <a:r>
              <a:rPr lang="en-US" sz="950" b="1" dirty="0">
                <a:solidFill>
                  <a:srgbClr val="F4A227"/>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F4A227"/>
                </a:solidFill>
                <a:latin typeface="Calibri" pitchFamily="34" charset="0"/>
                <a:ea typeface="Calibri" pitchFamily="34" charset="-122"/>
                <a:cs typeface="Calibri" pitchFamily="34" charset="-120"/>
              </a:rPr>
              <a:t>(60-76 ans)</a:t>
            </a:r>
            <a:endParaRPr lang="en-US" sz="950" dirty="0"/>
          </a:p>
        </p:txBody>
      </p:sp>
      <p:sp>
        <p:nvSpPr>
          <p:cNvPr id="21" name="Text 19"/>
          <p:cNvSpPr/>
          <p:nvPr/>
        </p:nvSpPr>
        <p:spPr>
          <a:xfrm>
            <a:off x="53035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Tous les 2 ans</a:t>
            </a:r>
            <a:endParaRPr lang="en-US" sz="850" dirty="0"/>
          </a:p>
        </p:txBody>
      </p:sp>
      <p:sp>
        <p:nvSpPr>
          <p:cNvPr id="22" name="Shape 20"/>
          <p:cNvSpPr/>
          <p:nvPr/>
        </p:nvSpPr>
        <p:spPr>
          <a:xfrm>
            <a:off x="7699248" y="1901952"/>
            <a:ext cx="164592" cy="256032"/>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7040880" y="2212848"/>
            <a:ext cx="1463040" cy="566928"/>
          </a:xfrm>
          <a:prstGeom prst="rect">
            <a:avLst/>
          </a:prstGeom>
          <a:noFill/>
          <a:ln/>
        </p:spPr>
        <p:txBody>
          <a:bodyPr wrap="square" rtlCol="0" anchor="ctr"/>
          <a:lstStyle/>
          <a:p>
            <a:pPr marL="0" indent="0" algn="ctr">
              <a:buNone/>
            </a:pPr>
            <a:r>
              <a:rPr lang="en-US" sz="950" b="1" dirty="0">
                <a:solidFill>
                  <a:srgbClr val="C0392B"/>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C0392B"/>
                </a:solidFill>
                <a:latin typeface="Calibri" pitchFamily="34" charset="0"/>
                <a:ea typeface="Calibri" pitchFamily="34" charset="-122"/>
                <a:cs typeface="Calibri" pitchFamily="34" charset="-120"/>
              </a:rPr>
              <a:t>(76 ans+)</a:t>
            </a:r>
            <a:endParaRPr lang="en-US" sz="950" dirty="0"/>
          </a:p>
        </p:txBody>
      </p:sp>
      <p:sp>
        <p:nvSpPr>
          <p:cNvPr id="24" name="Text 22"/>
          <p:cNvSpPr/>
          <p:nvPr/>
        </p:nvSpPr>
        <p:spPr>
          <a:xfrm>
            <a:off x="71323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Chaque année</a:t>
            </a:r>
            <a:endParaRPr lang="en-US" sz="850" dirty="0"/>
          </a:p>
        </p:txBody>
      </p:sp>
      <p:sp>
        <p:nvSpPr>
          <p:cNvPr id="25" name="Text 23"/>
          <p:cNvSpPr/>
          <p:nvPr/>
        </p:nvSpPr>
        <p:spPr>
          <a:xfrm>
            <a:off x="274320" y="3273552"/>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Chiffres à retenir absolument :</a:t>
            </a:r>
            <a:endParaRPr lang="en-US" sz="1200" dirty="0"/>
          </a:p>
        </p:txBody>
      </p:sp>
      <p:sp>
        <p:nvSpPr>
          <p:cNvPr id="26" name="Shape 24"/>
          <p:cNvSpPr/>
          <p:nvPr/>
        </p:nvSpPr>
        <p:spPr>
          <a:xfrm>
            <a:off x="274320" y="3566160"/>
            <a:ext cx="1627632" cy="896112"/>
          </a:xfrm>
          <a:prstGeom prst="rect">
            <a:avLst/>
          </a:prstGeom>
          <a:solidFill>
            <a:srgbClr val="1A3A5C"/>
          </a:solidFill>
          <a:ln w="12700">
            <a:solidFill>
              <a:srgbClr val="1A3A5C"/>
            </a:solidFill>
            <a:prstDash val="solid"/>
          </a:ln>
        </p:spPr>
        <p:txBody>
          <a:bodyPr/>
          <a:lstStyle/>
          <a:p>
            <a:endParaRPr lang="fr-FR"/>
          </a:p>
        </p:txBody>
      </p:sp>
      <p:sp>
        <p:nvSpPr>
          <p:cNvPr id="27" name="Text 25"/>
          <p:cNvSpPr/>
          <p:nvPr/>
        </p:nvSpPr>
        <p:spPr>
          <a:xfrm>
            <a:off x="27432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14h</a:t>
            </a:r>
            <a:endParaRPr lang="en-US" sz="2600" dirty="0"/>
          </a:p>
        </p:txBody>
      </p:sp>
      <p:sp>
        <p:nvSpPr>
          <p:cNvPr id="28" name="Text 26"/>
          <p:cNvSpPr/>
          <p:nvPr/>
        </p:nvSpPr>
        <p:spPr>
          <a:xfrm>
            <a:off x="27432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Formation tous les 5 ans</a:t>
            </a:r>
            <a:endParaRPr lang="en-US" sz="850" dirty="0"/>
          </a:p>
        </p:txBody>
      </p:sp>
      <p:sp>
        <p:nvSpPr>
          <p:cNvPr id="29" name="Shape 27"/>
          <p:cNvSpPr/>
          <p:nvPr/>
        </p:nvSpPr>
        <p:spPr>
          <a:xfrm>
            <a:off x="2011680" y="3566160"/>
            <a:ext cx="1627632" cy="896112"/>
          </a:xfrm>
          <a:prstGeom prst="rect">
            <a:avLst/>
          </a:prstGeom>
          <a:solidFill>
            <a:srgbClr val="2E7D32"/>
          </a:solidFill>
          <a:ln w="12700">
            <a:solidFill>
              <a:srgbClr val="2E7D32"/>
            </a:solidFill>
            <a:prstDash val="solid"/>
          </a:ln>
        </p:spPr>
        <p:txBody>
          <a:bodyPr/>
          <a:lstStyle/>
          <a:p>
            <a:endParaRPr lang="fr-FR"/>
          </a:p>
        </p:txBody>
      </p:sp>
      <p:sp>
        <p:nvSpPr>
          <p:cNvPr id="30" name="Text 28"/>
          <p:cNvSpPr/>
          <p:nvPr/>
        </p:nvSpPr>
        <p:spPr>
          <a:xfrm>
            <a:off x="201168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5 ans</a:t>
            </a:r>
            <a:endParaRPr lang="en-US" sz="2600" dirty="0"/>
          </a:p>
        </p:txBody>
      </p:sp>
      <p:sp>
        <p:nvSpPr>
          <p:cNvPr id="31" name="Text 29"/>
          <p:cNvSpPr/>
          <p:nvPr/>
        </p:nvSpPr>
        <p:spPr>
          <a:xfrm>
            <a:off x="201168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(20-60 ans)</a:t>
            </a:r>
            <a:endParaRPr lang="en-US" sz="850" dirty="0"/>
          </a:p>
        </p:txBody>
      </p:sp>
      <p:sp>
        <p:nvSpPr>
          <p:cNvPr id="32" name="Shape 30"/>
          <p:cNvSpPr/>
          <p:nvPr/>
        </p:nvSpPr>
        <p:spPr>
          <a:xfrm>
            <a:off x="3749040" y="3566160"/>
            <a:ext cx="1627632" cy="896112"/>
          </a:xfrm>
          <a:prstGeom prst="rect">
            <a:avLst/>
          </a:prstGeom>
          <a:solidFill>
            <a:srgbClr val="F4A227"/>
          </a:solidFill>
          <a:ln w="12700">
            <a:solidFill>
              <a:srgbClr val="F4A227"/>
            </a:solidFill>
            <a:prstDash val="solid"/>
          </a:ln>
        </p:spPr>
        <p:txBody>
          <a:bodyPr/>
          <a:lstStyle/>
          <a:p>
            <a:endParaRPr lang="fr-FR"/>
          </a:p>
        </p:txBody>
      </p:sp>
      <p:sp>
        <p:nvSpPr>
          <p:cNvPr id="33" name="Text 31"/>
          <p:cNvSpPr/>
          <p:nvPr/>
        </p:nvSpPr>
        <p:spPr>
          <a:xfrm>
            <a:off x="374904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2 ans</a:t>
            </a:r>
            <a:endParaRPr lang="en-US" sz="2600" dirty="0"/>
          </a:p>
        </p:txBody>
      </p:sp>
      <p:sp>
        <p:nvSpPr>
          <p:cNvPr id="34" name="Text 32"/>
          <p:cNvSpPr/>
          <p:nvPr/>
        </p:nvSpPr>
        <p:spPr>
          <a:xfrm>
            <a:off x="374904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(60-76 ans)</a:t>
            </a:r>
            <a:endParaRPr lang="en-US" sz="850" dirty="0"/>
          </a:p>
        </p:txBody>
      </p:sp>
      <p:sp>
        <p:nvSpPr>
          <p:cNvPr id="35" name="Shape 33"/>
          <p:cNvSpPr/>
          <p:nvPr/>
        </p:nvSpPr>
        <p:spPr>
          <a:xfrm>
            <a:off x="5486400" y="3566160"/>
            <a:ext cx="1627632" cy="896112"/>
          </a:xfrm>
          <a:prstGeom prst="rect">
            <a:avLst/>
          </a:prstGeom>
          <a:solidFill>
            <a:srgbClr val="C0392B"/>
          </a:solidFill>
          <a:ln w="12700">
            <a:solidFill>
              <a:srgbClr val="C0392B"/>
            </a:solidFill>
            <a:prstDash val="solid"/>
          </a:ln>
        </p:spPr>
        <p:txBody>
          <a:bodyPr/>
          <a:lstStyle/>
          <a:p>
            <a:endParaRPr lang="fr-FR"/>
          </a:p>
        </p:txBody>
      </p:sp>
      <p:sp>
        <p:nvSpPr>
          <p:cNvPr id="36" name="Text 34"/>
          <p:cNvSpPr/>
          <p:nvPr/>
        </p:nvSpPr>
        <p:spPr>
          <a:xfrm>
            <a:off x="548640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1 an</a:t>
            </a:r>
            <a:endParaRPr lang="en-US" sz="2600" dirty="0"/>
          </a:p>
        </p:txBody>
      </p:sp>
      <p:sp>
        <p:nvSpPr>
          <p:cNvPr id="37" name="Text 35"/>
          <p:cNvSpPr/>
          <p:nvPr/>
        </p:nvSpPr>
        <p:spPr>
          <a:xfrm>
            <a:off x="548640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(76 ans+)</a:t>
            </a:r>
            <a:endParaRPr lang="en-US" sz="850" dirty="0"/>
          </a:p>
        </p:txBody>
      </p:sp>
      <p:sp>
        <p:nvSpPr>
          <p:cNvPr id="38" name="Shape 36"/>
          <p:cNvSpPr/>
          <p:nvPr/>
        </p:nvSpPr>
        <p:spPr>
          <a:xfrm>
            <a:off x="7223760" y="3566160"/>
            <a:ext cx="1627632" cy="896112"/>
          </a:xfrm>
          <a:prstGeom prst="rect">
            <a:avLst/>
          </a:prstGeom>
          <a:solidFill>
            <a:srgbClr val="2860A8"/>
          </a:solidFill>
          <a:ln w="12700">
            <a:solidFill>
              <a:srgbClr val="2860A8"/>
            </a:solidFill>
            <a:prstDash val="solid"/>
          </a:ln>
        </p:spPr>
        <p:txBody>
          <a:bodyPr/>
          <a:lstStyle/>
          <a:p>
            <a:endParaRPr lang="fr-FR"/>
          </a:p>
        </p:txBody>
      </p:sp>
      <p:sp>
        <p:nvSpPr>
          <p:cNvPr id="39" name="Text 37"/>
          <p:cNvSpPr/>
          <p:nvPr/>
        </p:nvSpPr>
        <p:spPr>
          <a:xfrm>
            <a:off x="722376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3 mois</a:t>
            </a:r>
            <a:endParaRPr lang="en-US" sz="2600" dirty="0"/>
          </a:p>
        </p:txBody>
      </p:sp>
      <p:sp>
        <p:nvSpPr>
          <p:cNvPr id="40" name="Text 38"/>
          <p:cNvSpPr/>
          <p:nvPr/>
        </p:nvSpPr>
        <p:spPr>
          <a:xfrm>
            <a:off x="722376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Délai délivrance carte pro</a:t>
            </a:r>
            <a:endParaRPr lang="en-US" sz="850" dirty="0"/>
          </a:p>
        </p:txBody>
      </p:sp>
      <p:sp>
        <p:nvSpPr>
          <p:cNvPr id="41" name="Shape 39"/>
          <p:cNvSpPr/>
          <p:nvPr/>
        </p:nvSpPr>
        <p:spPr>
          <a:xfrm>
            <a:off x="274320" y="4544568"/>
            <a:ext cx="8595360" cy="256032"/>
          </a:xfrm>
          <a:prstGeom prst="rect">
            <a:avLst/>
          </a:prstGeom>
          <a:solidFill>
            <a:srgbClr val="EDF7EE"/>
          </a:solidFill>
          <a:ln w="19050">
            <a:solidFill>
              <a:srgbClr val="2E7D32"/>
            </a:solidFill>
            <a:prstDash val="solid"/>
          </a:ln>
        </p:spPr>
        <p:txBody>
          <a:bodyPr/>
          <a:lstStyle/>
          <a:p>
            <a:endParaRPr lang="fr-FR"/>
          </a:p>
        </p:txBody>
      </p:sp>
      <p:sp>
        <p:nvSpPr>
          <p:cNvPr id="42" name="Shape 40"/>
          <p:cNvSpPr/>
          <p:nvPr/>
        </p:nvSpPr>
        <p:spPr>
          <a:xfrm>
            <a:off x="274320" y="4544568"/>
            <a:ext cx="54864" cy="256032"/>
          </a:xfrm>
          <a:prstGeom prst="rect">
            <a:avLst/>
          </a:prstGeom>
          <a:solidFill>
            <a:srgbClr val="2E7D32"/>
          </a:solidFill>
          <a:ln w="12700">
            <a:solidFill>
              <a:srgbClr val="2E7D32"/>
            </a:solidFill>
            <a:prstDash val="solid"/>
          </a:ln>
        </p:spPr>
        <p:txBody>
          <a:bodyPr/>
          <a:lstStyle/>
          <a:p>
            <a:endParaRPr lang="fr-FR"/>
          </a:p>
        </p:txBody>
      </p:sp>
      <p:sp>
        <p:nvSpPr>
          <p:cNvPr id="43" name="Text 41"/>
          <p:cNvSpPr/>
          <p:nvPr/>
        </p:nvSpPr>
        <p:spPr>
          <a:xfrm>
            <a:off x="384048" y="4544568"/>
            <a:ext cx="8467344"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Formation continue (14h/5ans) + Visite médicale : deux conditions cumulatives pour renouveler la carte professionnelle T3P.</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FICHE DE RÉVISION — Les chiffres et délais essentiels à retenir</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44/88</a:t>
            </a:r>
            <a:endParaRPr lang="en-US" sz="800" dirty="0"/>
          </a:p>
        </p:txBody>
      </p:sp>
      <p:sp>
        <p:nvSpPr>
          <p:cNvPr id="8" name="Shape 6"/>
          <p:cNvSpPr/>
          <p:nvPr/>
        </p:nvSpPr>
        <p:spPr>
          <a:xfrm>
            <a:off x="274320" y="932688"/>
            <a:ext cx="4160520" cy="420624"/>
          </a:xfrm>
          <a:prstGeom prst="rect">
            <a:avLst/>
          </a:prstGeom>
          <a:solidFill>
            <a:srgbClr val="E8F1FA"/>
          </a:solidFill>
          <a:ln w="6350">
            <a:solidFill>
              <a:srgbClr val="D0DCE8"/>
            </a:solidFill>
            <a:prstDash val="solid"/>
          </a:ln>
        </p:spPr>
        <p:txBody>
          <a:bodyPr/>
          <a:lstStyle/>
          <a:p>
            <a:endParaRPr lang="fr-FR"/>
          </a:p>
        </p:txBody>
      </p:sp>
      <p:sp>
        <p:nvSpPr>
          <p:cNvPr id="9" name="Shape 7"/>
          <p:cNvSpPr/>
          <p:nvPr/>
        </p:nvSpPr>
        <p:spPr>
          <a:xfrm>
            <a:off x="274320" y="932688"/>
            <a:ext cx="960120" cy="420624"/>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14h</a:t>
            </a:r>
            <a:endParaRPr lang="en-US" sz="1400" dirty="0"/>
          </a:p>
        </p:txBody>
      </p:sp>
      <p:sp>
        <p:nvSpPr>
          <p:cNvPr id="11" name="Text 9"/>
          <p:cNvSpPr/>
          <p:nvPr/>
        </p:nvSpPr>
        <p:spPr>
          <a:xfrm>
            <a:off x="1280160" y="98755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Formation continue / 5 ans</a:t>
            </a:r>
            <a:endParaRPr lang="en-US" sz="1050" dirty="0"/>
          </a:p>
        </p:txBody>
      </p:sp>
      <p:sp>
        <p:nvSpPr>
          <p:cNvPr id="12" name="Shape 10"/>
          <p:cNvSpPr/>
          <p:nvPr/>
        </p:nvSpPr>
        <p:spPr>
          <a:xfrm>
            <a:off x="274320" y="1399032"/>
            <a:ext cx="4160520" cy="420624"/>
          </a:xfrm>
          <a:prstGeom prst="rect">
            <a:avLst/>
          </a:prstGeom>
          <a:solidFill>
            <a:srgbClr val="E8F1FA"/>
          </a:solidFill>
          <a:ln w="6350">
            <a:solidFill>
              <a:srgbClr val="D0DCE8"/>
            </a:solidFill>
            <a:prstDash val="solid"/>
          </a:ln>
        </p:spPr>
        <p:txBody>
          <a:bodyPr/>
          <a:lstStyle/>
          <a:p>
            <a:endParaRPr lang="fr-FR"/>
          </a:p>
        </p:txBody>
      </p:sp>
      <p:sp>
        <p:nvSpPr>
          <p:cNvPr id="13" name="Shape 11"/>
          <p:cNvSpPr/>
          <p:nvPr/>
        </p:nvSpPr>
        <p:spPr>
          <a:xfrm>
            <a:off x="274320" y="1399032"/>
            <a:ext cx="960120" cy="420624"/>
          </a:xfrm>
          <a:prstGeom prst="rect">
            <a:avLst/>
          </a:prstGeom>
          <a:solidFill>
            <a:srgbClr val="2E7D32"/>
          </a:solidFill>
          <a:ln w="12700">
            <a:solidFill>
              <a:srgbClr val="2E7D32"/>
            </a:solidFill>
            <a:prstDash val="solid"/>
          </a:ln>
        </p:spPr>
        <p:txBody>
          <a:bodyPr/>
          <a:lstStyle/>
          <a:p>
            <a:endParaRPr lang="fr-FR"/>
          </a:p>
        </p:txBody>
      </p:sp>
      <p:sp>
        <p:nvSpPr>
          <p:cNvPr id="14" name="Text 12"/>
          <p:cNvSpPr/>
          <p:nvPr/>
        </p:nvSpPr>
        <p:spPr>
          <a:xfrm>
            <a:off x="274320" y="139903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15" name="Text 13"/>
          <p:cNvSpPr/>
          <p:nvPr/>
        </p:nvSpPr>
        <p:spPr>
          <a:xfrm>
            <a:off x="1280160" y="145389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20-60 ans</a:t>
            </a:r>
            <a:endParaRPr lang="en-US" sz="1050" dirty="0"/>
          </a:p>
        </p:txBody>
      </p:sp>
      <p:sp>
        <p:nvSpPr>
          <p:cNvPr id="16" name="Shape 14"/>
          <p:cNvSpPr/>
          <p:nvPr/>
        </p:nvSpPr>
        <p:spPr>
          <a:xfrm>
            <a:off x="274320" y="1865376"/>
            <a:ext cx="4160520" cy="420624"/>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1865376"/>
            <a:ext cx="960120" cy="420624"/>
          </a:xfrm>
          <a:prstGeom prst="rect">
            <a:avLst/>
          </a:prstGeom>
          <a:solidFill>
            <a:srgbClr val="F4A227"/>
          </a:solidFill>
          <a:ln w="12700">
            <a:solidFill>
              <a:srgbClr val="F4A227"/>
            </a:solidFill>
            <a:prstDash val="solid"/>
          </a:ln>
        </p:spPr>
        <p:txBody>
          <a:bodyPr/>
          <a:lstStyle/>
          <a:p>
            <a:endParaRPr lang="fr-FR"/>
          </a:p>
        </p:txBody>
      </p:sp>
      <p:sp>
        <p:nvSpPr>
          <p:cNvPr id="18" name="Text 16"/>
          <p:cNvSpPr/>
          <p:nvPr/>
        </p:nvSpPr>
        <p:spPr>
          <a:xfrm>
            <a:off x="274320" y="186537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 ans</a:t>
            </a:r>
            <a:endParaRPr lang="en-US" sz="1400" dirty="0"/>
          </a:p>
        </p:txBody>
      </p:sp>
      <p:sp>
        <p:nvSpPr>
          <p:cNvPr id="19" name="Text 17"/>
          <p:cNvSpPr/>
          <p:nvPr/>
        </p:nvSpPr>
        <p:spPr>
          <a:xfrm>
            <a:off x="1280160" y="192024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60-76 ans</a:t>
            </a:r>
            <a:endParaRPr lang="en-US" sz="1050" dirty="0"/>
          </a:p>
        </p:txBody>
      </p:sp>
      <p:sp>
        <p:nvSpPr>
          <p:cNvPr id="20" name="Shape 18"/>
          <p:cNvSpPr/>
          <p:nvPr/>
        </p:nvSpPr>
        <p:spPr>
          <a:xfrm>
            <a:off x="274320" y="2331720"/>
            <a:ext cx="4160520" cy="420624"/>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274320" y="2331720"/>
            <a:ext cx="960120" cy="420624"/>
          </a:xfrm>
          <a:prstGeom prst="rect">
            <a:avLst/>
          </a:prstGeom>
          <a:solidFill>
            <a:srgbClr val="C0392B"/>
          </a:solidFill>
          <a:ln w="12700">
            <a:solidFill>
              <a:srgbClr val="C0392B"/>
            </a:solidFill>
            <a:prstDash val="solid"/>
          </a:ln>
        </p:spPr>
        <p:txBody>
          <a:bodyPr/>
          <a:lstStyle/>
          <a:p>
            <a:endParaRPr lang="fr-FR"/>
          </a:p>
        </p:txBody>
      </p:sp>
      <p:sp>
        <p:nvSpPr>
          <p:cNvPr id="22" name="Text 20"/>
          <p:cNvSpPr/>
          <p:nvPr/>
        </p:nvSpPr>
        <p:spPr>
          <a:xfrm>
            <a:off x="274320" y="233172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an</a:t>
            </a:r>
            <a:endParaRPr lang="en-US" sz="1400" dirty="0"/>
          </a:p>
        </p:txBody>
      </p:sp>
      <p:sp>
        <p:nvSpPr>
          <p:cNvPr id="23" name="Text 21"/>
          <p:cNvSpPr/>
          <p:nvPr/>
        </p:nvSpPr>
        <p:spPr>
          <a:xfrm>
            <a:off x="1280160" y="238658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76 ans+</a:t>
            </a:r>
            <a:endParaRPr lang="en-US" sz="1050" dirty="0"/>
          </a:p>
        </p:txBody>
      </p:sp>
      <p:sp>
        <p:nvSpPr>
          <p:cNvPr id="24" name="Shape 22"/>
          <p:cNvSpPr/>
          <p:nvPr/>
        </p:nvSpPr>
        <p:spPr>
          <a:xfrm>
            <a:off x="274320" y="2798064"/>
            <a:ext cx="4160520" cy="420624"/>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2798064"/>
            <a:ext cx="960120" cy="420624"/>
          </a:xfrm>
          <a:prstGeom prst="rect">
            <a:avLst/>
          </a:prstGeom>
          <a:solidFill>
            <a:srgbClr val="1A3A5C"/>
          </a:solidFill>
          <a:ln w="12700">
            <a:solidFill>
              <a:srgbClr val="1A3A5C"/>
            </a:solidFill>
            <a:prstDash val="solid"/>
          </a:ln>
        </p:spPr>
        <p:txBody>
          <a:bodyPr/>
          <a:lstStyle/>
          <a:p>
            <a:endParaRPr lang="fr-FR"/>
          </a:p>
        </p:txBody>
      </p:sp>
      <p:sp>
        <p:nvSpPr>
          <p:cNvPr id="26" name="Text 24"/>
          <p:cNvSpPr/>
          <p:nvPr/>
        </p:nvSpPr>
        <p:spPr>
          <a:xfrm>
            <a:off x="274320" y="2798064"/>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 ans</a:t>
            </a:r>
            <a:endParaRPr lang="en-US" sz="1400" dirty="0"/>
          </a:p>
        </p:txBody>
      </p:sp>
      <p:sp>
        <p:nvSpPr>
          <p:cNvPr id="27" name="Text 25"/>
          <p:cNvSpPr/>
          <p:nvPr/>
        </p:nvSpPr>
        <p:spPr>
          <a:xfrm>
            <a:off x="1280160" y="2852928"/>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Non-inscription retrait carte</a:t>
            </a:r>
            <a:endParaRPr lang="en-US" sz="1050" dirty="0"/>
          </a:p>
        </p:txBody>
      </p:sp>
      <p:sp>
        <p:nvSpPr>
          <p:cNvPr id="28" name="Shape 26"/>
          <p:cNvSpPr/>
          <p:nvPr/>
        </p:nvSpPr>
        <p:spPr>
          <a:xfrm>
            <a:off x="274320" y="3264408"/>
            <a:ext cx="4160520" cy="420624"/>
          </a:xfrm>
          <a:prstGeom prst="rect">
            <a:avLst/>
          </a:prstGeom>
          <a:solidFill>
            <a:srgbClr val="E8F1FA"/>
          </a:solidFill>
          <a:ln w="6350">
            <a:solidFill>
              <a:srgbClr val="D0DCE8"/>
            </a:solidFill>
            <a:prstDash val="solid"/>
          </a:ln>
        </p:spPr>
        <p:txBody>
          <a:bodyPr/>
          <a:lstStyle/>
          <a:p>
            <a:endParaRPr lang="fr-FR"/>
          </a:p>
        </p:txBody>
      </p:sp>
      <p:sp>
        <p:nvSpPr>
          <p:cNvPr id="29" name="Shape 27"/>
          <p:cNvSpPr/>
          <p:nvPr/>
        </p:nvSpPr>
        <p:spPr>
          <a:xfrm>
            <a:off x="274320" y="3264408"/>
            <a:ext cx="960120" cy="420624"/>
          </a:xfrm>
          <a:prstGeom prst="rect">
            <a:avLst/>
          </a:prstGeom>
          <a:solidFill>
            <a:srgbClr val="2860A8"/>
          </a:solidFill>
          <a:ln w="12700">
            <a:solidFill>
              <a:srgbClr val="2860A8"/>
            </a:solidFill>
            <a:prstDash val="solid"/>
          </a:ln>
        </p:spPr>
        <p:txBody>
          <a:bodyPr/>
          <a:lstStyle/>
          <a:p>
            <a:endParaRPr lang="fr-FR"/>
          </a:p>
        </p:txBody>
      </p:sp>
      <p:sp>
        <p:nvSpPr>
          <p:cNvPr id="30" name="Text 28"/>
          <p:cNvSpPr/>
          <p:nvPr/>
        </p:nvSpPr>
        <p:spPr>
          <a:xfrm>
            <a:off x="274320" y="326440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31" name="Text 29"/>
          <p:cNvSpPr/>
          <p:nvPr/>
        </p:nvSpPr>
        <p:spPr>
          <a:xfrm>
            <a:off x="1280160" y="331927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Non-inscription fraude examen</a:t>
            </a:r>
            <a:endParaRPr lang="en-US" sz="1050" dirty="0"/>
          </a:p>
        </p:txBody>
      </p:sp>
      <p:sp>
        <p:nvSpPr>
          <p:cNvPr id="32" name="Shape 30"/>
          <p:cNvSpPr/>
          <p:nvPr/>
        </p:nvSpPr>
        <p:spPr>
          <a:xfrm>
            <a:off x="274320" y="3730752"/>
            <a:ext cx="4160520" cy="420624"/>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274320" y="3730752"/>
            <a:ext cx="960120" cy="420624"/>
          </a:xfrm>
          <a:prstGeom prst="rect">
            <a:avLst/>
          </a:prstGeom>
          <a:solidFill>
            <a:srgbClr val="2860A8"/>
          </a:solidFill>
          <a:ln w="12700">
            <a:solidFill>
              <a:srgbClr val="2860A8"/>
            </a:solidFill>
            <a:prstDash val="solid"/>
          </a:ln>
        </p:spPr>
        <p:txBody>
          <a:bodyPr/>
          <a:lstStyle/>
          <a:p>
            <a:endParaRPr lang="fr-FR"/>
          </a:p>
        </p:txBody>
      </p:sp>
      <p:sp>
        <p:nvSpPr>
          <p:cNvPr id="34" name="Text 32"/>
          <p:cNvSpPr/>
          <p:nvPr/>
        </p:nvSpPr>
        <p:spPr>
          <a:xfrm>
            <a:off x="274320" y="373075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mois</a:t>
            </a:r>
            <a:endParaRPr lang="en-US" sz="1400" dirty="0"/>
          </a:p>
        </p:txBody>
      </p:sp>
      <p:sp>
        <p:nvSpPr>
          <p:cNvPr id="35" name="Text 33"/>
          <p:cNvSpPr/>
          <p:nvPr/>
        </p:nvSpPr>
        <p:spPr>
          <a:xfrm>
            <a:off x="1280160" y="378561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Délai délivrance carte pro</a:t>
            </a:r>
            <a:endParaRPr lang="en-US" sz="1050" dirty="0"/>
          </a:p>
        </p:txBody>
      </p:sp>
      <p:sp>
        <p:nvSpPr>
          <p:cNvPr id="36" name="Shape 34"/>
          <p:cNvSpPr/>
          <p:nvPr/>
        </p:nvSpPr>
        <p:spPr>
          <a:xfrm>
            <a:off x="274320" y="4197096"/>
            <a:ext cx="4160520" cy="420624"/>
          </a:xfrm>
          <a:prstGeom prst="rect">
            <a:avLst/>
          </a:prstGeom>
          <a:solidFill>
            <a:srgbClr val="E8F1FA"/>
          </a:solidFill>
          <a:ln w="6350">
            <a:solidFill>
              <a:srgbClr val="D0DCE8"/>
            </a:solidFill>
            <a:prstDash val="solid"/>
          </a:ln>
        </p:spPr>
        <p:txBody>
          <a:bodyPr/>
          <a:lstStyle/>
          <a:p>
            <a:endParaRPr lang="fr-FR"/>
          </a:p>
        </p:txBody>
      </p:sp>
      <p:sp>
        <p:nvSpPr>
          <p:cNvPr id="37" name="Shape 35"/>
          <p:cNvSpPr/>
          <p:nvPr/>
        </p:nvSpPr>
        <p:spPr>
          <a:xfrm>
            <a:off x="274320" y="4197096"/>
            <a:ext cx="960120" cy="420624"/>
          </a:xfrm>
          <a:prstGeom prst="rect">
            <a:avLst/>
          </a:prstGeom>
          <a:solidFill>
            <a:srgbClr val="C0392B"/>
          </a:solidFill>
          <a:ln w="12700">
            <a:solidFill>
              <a:srgbClr val="C0392B"/>
            </a:solidFill>
            <a:prstDash val="solid"/>
          </a:ln>
        </p:spPr>
        <p:txBody>
          <a:bodyPr/>
          <a:lstStyle/>
          <a:p>
            <a:endParaRPr lang="fr-FR"/>
          </a:p>
        </p:txBody>
      </p:sp>
      <p:sp>
        <p:nvSpPr>
          <p:cNvPr id="38" name="Text 36"/>
          <p:cNvSpPr/>
          <p:nvPr/>
        </p:nvSpPr>
        <p:spPr>
          <a:xfrm>
            <a:off x="274320" y="419709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15 000 €</a:t>
            </a:r>
            <a:endParaRPr lang="en-US" sz="1400" dirty="0"/>
          </a:p>
        </p:txBody>
      </p:sp>
      <p:sp>
        <p:nvSpPr>
          <p:cNvPr id="39" name="Text 37"/>
          <p:cNvSpPr/>
          <p:nvPr/>
        </p:nvSpPr>
        <p:spPr>
          <a:xfrm>
            <a:off x="1280160" y="425196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Amende exercice illégal T3P</a:t>
            </a:r>
            <a:endParaRPr lang="en-US" sz="1050" dirty="0"/>
          </a:p>
        </p:txBody>
      </p:sp>
      <p:sp>
        <p:nvSpPr>
          <p:cNvPr id="40" name="Shape 38"/>
          <p:cNvSpPr/>
          <p:nvPr/>
        </p:nvSpPr>
        <p:spPr>
          <a:xfrm>
            <a:off x="274320" y="4663440"/>
            <a:ext cx="4160520" cy="420624"/>
          </a:xfrm>
          <a:prstGeom prst="rect">
            <a:avLst/>
          </a:prstGeom>
          <a:solidFill>
            <a:srgbClr val="E8F1FA"/>
          </a:solidFill>
          <a:ln w="6350">
            <a:solidFill>
              <a:srgbClr val="D0DCE8"/>
            </a:solidFill>
            <a:prstDash val="solid"/>
          </a:ln>
        </p:spPr>
        <p:txBody>
          <a:bodyPr/>
          <a:lstStyle/>
          <a:p>
            <a:endParaRPr lang="fr-FR"/>
          </a:p>
        </p:txBody>
      </p:sp>
      <p:sp>
        <p:nvSpPr>
          <p:cNvPr id="41" name="Shape 39"/>
          <p:cNvSpPr/>
          <p:nvPr/>
        </p:nvSpPr>
        <p:spPr>
          <a:xfrm>
            <a:off x="274320" y="4663440"/>
            <a:ext cx="960120" cy="420624"/>
          </a:xfrm>
          <a:prstGeom prst="rect">
            <a:avLst/>
          </a:prstGeom>
          <a:solidFill>
            <a:srgbClr val="C0392B"/>
          </a:solidFill>
          <a:ln w="12700">
            <a:solidFill>
              <a:srgbClr val="C0392B"/>
            </a:solidFill>
            <a:prstDash val="solid"/>
          </a:ln>
        </p:spPr>
        <p:txBody>
          <a:bodyPr/>
          <a:lstStyle/>
          <a:p>
            <a:endParaRPr lang="fr-FR"/>
          </a:p>
        </p:txBody>
      </p:sp>
      <p:sp>
        <p:nvSpPr>
          <p:cNvPr id="42" name="Text 40"/>
          <p:cNvSpPr/>
          <p:nvPr/>
        </p:nvSpPr>
        <p:spPr>
          <a:xfrm>
            <a:off x="274320" y="466344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an</a:t>
            </a:r>
            <a:endParaRPr lang="en-US" sz="1400" dirty="0"/>
          </a:p>
        </p:txBody>
      </p:sp>
      <p:sp>
        <p:nvSpPr>
          <p:cNvPr id="43" name="Text 41"/>
          <p:cNvSpPr/>
          <p:nvPr/>
        </p:nvSpPr>
        <p:spPr>
          <a:xfrm>
            <a:off x="1280160" y="471830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Prison exercice illégal T3P</a:t>
            </a:r>
            <a:endParaRPr lang="en-US" sz="1050" dirty="0"/>
          </a:p>
        </p:txBody>
      </p:sp>
      <p:sp>
        <p:nvSpPr>
          <p:cNvPr id="44" name="Shape 42"/>
          <p:cNvSpPr/>
          <p:nvPr/>
        </p:nvSpPr>
        <p:spPr>
          <a:xfrm>
            <a:off x="4663440" y="932688"/>
            <a:ext cx="4160520" cy="420624"/>
          </a:xfrm>
          <a:prstGeom prst="rect">
            <a:avLst/>
          </a:prstGeom>
          <a:solidFill>
            <a:srgbClr val="E8F1FA"/>
          </a:solidFill>
          <a:ln w="6350">
            <a:solidFill>
              <a:srgbClr val="D0DCE8"/>
            </a:solidFill>
            <a:prstDash val="solid"/>
          </a:ln>
        </p:spPr>
        <p:txBody>
          <a:bodyPr/>
          <a:lstStyle/>
          <a:p>
            <a:endParaRPr lang="fr-FR"/>
          </a:p>
        </p:txBody>
      </p:sp>
      <p:sp>
        <p:nvSpPr>
          <p:cNvPr id="45" name="Shape 43"/>
          <p:cNvSpPr/>
          <p:nvPr/>
        </p:nvSpPr>
        <p:spPr>
          <a:xfrm>
            <a:off x="4663440" y="932688"/>
            <a:ext cx="960120" cy="420624"/>
          </a:xfrm>
          <a:prstGeom prst="rect">
            <a:avLst/>
          </a:prstGeom>
          <a:solidFill>
            <a:srgbClr val="C0392B"/>
          </a:solidFill>
          <a:ln w="12700">
            <a:solidFill>
              <a:srgbClr val="C0392B"/>
            </a:solidFill>
            <a:prstDash val="solid"/>
          </a:ln>
        </p:spPr>
        <p:txBody>
          <a:bodyPr/>
          <a:lstStyle/>
          <a:p>
            <a:endParaRPr lang="fr-FR"/>
          </a:p>
        </p:txBody>
      </p:sp>
      <p:sp>
        <p:nvSpPr>
          <p:cNvPr id="46" name="Text 44"/>
          <p:cNvSpPr/>
          <p:nvPr/>
        </p:nvSpPr>
        <p:spPr>
          <a:xfrm>
            <a:off x="4663440" y="93268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3 750 €</a:t>
            </a:r>
            <a:endParaRPr lang="en-US" sz="1400" dirty="0"/>
          </a:p>
        </p:txBody>
      </p:sp>
      <p:sp>
        <p:nvSpPr>
          <p:cNvPr id="47" name="Text 45"/>
          <p:cNvSpPr/>
          <p:nvPr/>
        </p:nvSpPr>
        <p:spPr>
          <a:xfrm>
            <a:off x="5669280" y="98755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Amende défaut assurance</a:t>
            </a:r>
            <a:endParaRPr lang="en-US" sz="1050" dirty="0"/>
          </a:p>
        </p:txBody>
      </p:sp>
      <p:sp>
        <p:nvSpPr>
          <p:cNvPr id="48" name="Shape 46"/>
          <p:cNvSpPr/>
          <p:nvPr/>
        </p:nvSpPr>
        <p:spPr>
          <a:xfrm>
            <a:off x="4663440" y="1399032"/>
            <a:ext cx="4160520" cy="420624"/>
          </a:xfrm>
          <a:prstGeom prst="rect">
            <a:avLst/>
          </a:prstGeom>
          <a:solidFill>
            <a:srgbClr val="E8F1FA"/>
          </a:solidFill>
          <a:ln w="6350">
            <a:solidFill>
              <a:srgbClr val="D0DCE8"/>
            </a:solidFill>
            <a:prstDash val="solid"/>
          </a:ln>
        </p:spPr>
        <p:txBody>
          <a:bodyPr/>
          <a:lstStyle/>
          <a:p>
            <a:endParaRPr lang="fr-FR"/>
          </a:p>
        </p:txBody>
      </p:sp>
      <p:sp>
        <p:nvSpPr>
          <p:cNvPr id="49" name="Shape 47"/>
          <p:cNvSpPr/>
          <p:nvPr/>
        </p:nvSpPr>
        <p:spPr>
          <a:xfrm>
            <a:off x="4663440" y="1399032"/>
            <a:ext cx="960120" cy="420624"/>
          </a:xfrm>
          <a:prstGeom prst="rect">
            <a:avLst/>
          </a:prstGeom>
          <a:solidFill>
            <a:srgbClr val="1A3A5C"/>
          </a:solidFill>
          <a:ln w="12700">
            <a:solidFill>
              <a:srgbClr val="1A3A5C"/>
            </a:solidFill>
            <a:prstDash val="solid"/>
          </a:ln>
        </p:spPr>
        <p:txBody>
          <a:bodyPr/>
          <a:lstStyle/>
          <a:p>
            <a:endParaRPr lang="fr-FR"/>
          </a:p>
        </p:txBody>
      </p:sp>
      <p:sp>
        <p:nvSpPr>
          <p:cNvPr id="50" name="Text 48"/>
          <p:cNvSpPr/>
          <p:nvPr/>
        </p:nvSpPr>
        <p:spPr>
          <a:xfrm>
            <a:off x="4663440" y="139903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a:t>
            </a:r>
            <a:endParaRPr lang="en-US" sz="1400" dirty="0"/>
          </a:p>
        </p:txBody>
      </p:sp>
      <p:sp>
        <p:nvSpPr>
          <p:cNvPr id="51" name="Text 49"/>
          <p:cNvSpPr/>
          <p:nvPr/>
        </p:nvSpPr>
        <p:spPr>
          <a:xfrm>
            <a:off x="5669280" y="145389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Membres Comité national T3P</a:t>
            </a:r>
            <a:endParaRPr lang="en-US" sz="1050" dirty="0"/>
          </a:p>
        </p:txBody>
      </p:sp>
      <p:sp>
        <p:nvSpPr>
          <p:cNvPr id="52" name="Shape 50"/>
          <p:cNvSpPr/>
          <p:nvPr/>
        </p:nvSpPr>
        <p:spPr>
          <a:xfrm>
            <a:off x="4663440" y="1865376"/>
            <a:ext cx="4160520" cy="420624"/>
          </a:xfrm>
          <a:prstGeom prst="rect">
            <a:avLst/>
          </a:prstGeom>
          <a:solidFill>
            <a:srgbClr val="E8F1FA"/>
          </a:solidFill>
          <a:ln w="6350">
            <a:solidFill>
              <a:srgbClr val="D0DCE8"/>
            </a:solidFill>
            <a:prstDash val="solid"/>
          </a:ln>
        </p:spPr>
        <p:txBody>
          <a:bodyPr/>
          <a:lstStyle/>
          <a:p>
            <a:endParaRPr lang="fr-FR"/>
          </a:p>
        </p:txBody>
      </p:sp>
      <p:sp>
        <p:nvSpPr>
          <p:cNvPr id="53" name="Shape 51"/>
          <p:cNvSpPr/>
          <p:nvPr/>
        </p:nvSpPr>
        <p:spPr>
          <a:xfrm>
            <a:off x="4663440" y="1865376"/>
            <a:ext cx="960120" cy="420624"/>
          </a:xfrm>
          <a:prstGeom prst="rect">
            <a:avLst/>
          </a:prstGeom>
          <a:solidFill>
            <a:srgbClr val="1A3A5C"/>
          </a:solidFill>
          <a:ln w="12700">
            <a:solidFill>
              <a:srgbClr val="1A3A5C"/>
            </a:solidFill>
            <a:prstDash val="solid"/>
          </a:ln>
        </p:spPr>
        <p:txBody>
          <a:bodyPr/>
          <a:lstStyle/>
          <a:p>
            <a:endParaRPr lang="fr-FR"/>
          </a:p>
        </p:txBody>
      </p:sp>
      <p:sp>
        <p:nvSpPr>
          <p:cNvPr id="54" name="Text 52"/>
          <p:cNvSpPr/>
          <p:nvPr/>
        </p:nvSpPr>
        <p:spPr>
          <a:xfrm>
            <a:off x="4663440" y="186537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55" name="Text 53"/>
          <p:cNvSpPr/>
          <p:nvPr/>
        </p:nvSpPr>
        <p:spPr>
          <a:xfrm>
            <a:off x="5669280" y="192024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Mandat Comité national</a:t>
            </a:r>
            <a:endParaRPr lang="en-US" sz="1050" dirty="0"/>
          </a:p>
        </p:txBody>
      </p:sp>
      <p:sp>
        <p:nvSpPr>
          <p:cNvPr id="56" name="Shape 54"/>
          <p:cNvSpPr/>
          <p:nvPr/>
        </p:nvSpPr>
        <p:spPr>
          <a:xfrm>
            <a:off x="4663440" y="2331720"/>
            <a:ext cx="4160520" cy="420624"/>
          </a:xfrm>
          <a:prstGeom prst="rect">
            <a:avLst/>
          </a:prstGeom>
          <a:solidFill>
            <a:srgbClr val="E8F1FA"/>
          </a:solidFill>
          <a:ln w="6350">
            <a:solidFill>
              <a:srgbClr val="D0DCE8"/>
            </a:solidFill>
            <a:prstDash val="solid"/>
          </a:ln>
        </p:spPr>
        <p:txBody>
          <a:bodyPr/>
          <a:lstStyle/>
          <a:p>
            <a:endParaRPr lang="fr-FR"/>
          </a:p>
        </p:txBody>
      </p:sp>
      <p:sp>
        <p:nvSpPr>
          <p:cNvPr id="57" name="Shape 55"/>
          <p:cNvSpPr/>
          <p:nvPr/>
        </p:nvSpPr>
        <p:spPr>
          <a:xfrm>
            <a:off x="4663440" y="2331720"/>
            <a:ext cx="960120" cy="420624"/>
          </a:xfrm>
          <a:prstGeom prst="rect">
            <a:avLst/>
          </a:prstGeom>
          <a:solidFill>
            <a:srgbClr val="2860A8"/>
          </a:solidFill>
          <a:ln w="12700">
            <a:solidFill>
              <a:srgbClr val="2860A8"/>
            </a:solidFill>
            <a:prstDash val="solid"/>
          </a:ln>
        </p:spPr>
        <p:txBody>
          <a:bodyPr/>
          <a:lstStyle/>
          <a:p>
            <a:endParaRPr lang="fr-FR"/>
          </a:p>
        </p:txBody>
      </p:sp>
      <p:sp>
        <p:nvSpPr>
          <p:cNvPr id="58" name="Text 56"/>
          <p:cNvSpPr/>
          <p:nvPr/>
        </p:nvSpPr>
        <p:spPr>
          <a:xfrm>
            <a:off x="4663440" y="233172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ans</a:t>
            </a:r>
            <a:endParaRPr lang="en-US" sz="1400" dirty="0"/>
          </a:p>
        </p:txBody>
      </p:sp>
      <p:sp>
        <p:nvSpPr>
          <p:cNvPr id="59" name="Text 57"/>
          <p:cNvSpPr/>
          <p:nvPr/>
        </p:nvSpPr>
        <p:spPr>
          <a:xfrm>
            <a:off x="5669280" y="238658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Mandat commission locale</a:t>
            </a:r>
            <a:endParaRPr lang="en-US" sz="1050" dirty="0"/>
          </a:p>
        </p:txBody>
      </p:sp>
      <p:sp>
        <p:nvSpPr>
          <p:cNvPr id="60" name="Shape 58"/>
          <p:cNvSpPr/>
          <p:nvPr/>
        </p:nvSpPr>
        <p:spPr>
          <a:xfrm>
            <a:off x="4663440" y="2798064"/>
            <a:ext cx="4160520" cy="420624"/>
          </a:xfrm>
          <a:prstGeom prst="rect">
            <a:avLst/>
          </a:prstGeom>
          <a:solidFill>
            <a:srgbClr val="E8F1FA"/>
          </a:solidFill>
          <a:ln w="6350">
            <a:solidFill>
              <a:srgbClr val="D0DCE8"/>
            </a:solidFill>
            <a:prstDash val="solid"/>
          </a:ln>
        </p:spPr>
        <p:txBody>
          <a:bodyPr/>
          <a:lstStyle/>
          <a:p>
            <a:endParaRPr lang="fr-FR"/>
          </a:p>
        </p:txBody>
      </p:sp>
      <p:sp>
        <p:nvSpPr>
          <p:cNvPr id="61" name="Shape 59"/>
          <p:cNvSpPr/>
          <p:nvPr/>
        </p:nvSpPr>
        <p:spPr>
          <a:xfrm>
            <a:off x="4663440" y="2798064"/>
            <a:ext cx="960120" cy="420624"/>
          </a:xfrm>
          <a:prstGeom prst="rect">
            <a:avLst/>
          </a:prstGeom>
          <a:solidFill>
            <a:srgbClr val="2860A8"/>
          </a:solidFill>
          <a:ln w="12700">
            <a:solidFill>
              <a:srgbClr val="2860A8"/>
            </a:solidFill>
            <a:prstDash val="solid"/>
          </a:ln>
        </p:spPr>
        <p:txBody>
          <a:bodyPr/>
          <a:lstStyle/>
          <a:p>
            <a:endParaRPr lang="fr-FR"/>
          </a:p>
        </p:txBody>
      </p:sp>
      <p:sp>
        <p:nvSpPr>
          <p:cNvPr id="62" name="Text 60"/>
          <p:cNvSpPr/>
          <p:nvPr/>
        </p:nvSpPr>
        <p:spPr>
          <a:xfrm>
            <a:off x="4663440" y="2798064"/>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fois/an</a:t>
            </a:r>
            <a:endParaRPr lang="en-US" sz="1400" dirty="0"/>
          </a:p>
        </p:txBody>
      </p:sp>
      <p:sp>
        <p:nvSpPr>
          <p:cNvPr id="63" name="Text 61"/>
          <p:cNvSpPr/>
          <p:nvPr/>
        </p:nvSpPr>
        <p:spPr>
          <a:xfrm>
            <a:off x="5669280" y="2852928"/>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Réunion commission locale</a:t>
            </a:r>
            <a:endParaRPr lang="en-US" sz="1050" dirty="0"/>
          </a:p>
        </p:txBody>
      </p:sp>
      <p:sp>
        <p:nvSpPr>
          <p:cNvPr id="64" name="Shape 62"/>
          <p:cNvSpPr/>
          <p:nvPr/>
        </p:nvSpPr>
        <p:spPr>
          <a:xfrm>
            <a:off x="4663440" y="3264408"/>
            <a:ext cx="4160520" cy="420624"/>
          </a:xfrm>
          <a:prstGeom prst="rect">
            <a:avLst/>
          </a:prstGeom>
          <a:solidFill>
            <a:srgbClr val="E8F1FA"/>
          </a:solidFill>
          <a:ln w="6350">
            <a:solidFill>
              <a:srgbClr val="D0DCE8"/>
            </a:solidFill>
            <a:prstDash val="solid"/>
          </a:ln>
        </p:spPr>
        <p:txBody>
          <a:bodyPr/>
          <a:lstStyle/>
          <a:p>
            <a:endParaRPr lang="fr-FR"/>
          </a:p>
        </p:txBody>
      </p:sp>
      <p:sp>
        <p:nvSpPr>
          <p:cNvPr id="65" name="Shape 63"/>
          <p:cNvSpPr/>
          <p:nvPr/>
        </p:nvSpPr>
        <p:spPr>
          <a:xfrm>
            <a:off x="4663440" y="3264408"/>
            <a:ext cx="960120" cy="420624"/>
          </a:xfrm>
          <a:prstGeom prst="rect">
            <a:avLst/>
          </a:prstGeom>
          <a:solidFill>
            <a:srgbClr val="F4A227"/>
          </a:solidFill>
          <a:ln w="12700">
            <a:solidFill>
              <a:srgbClr val="F4A227"/>
            </a:solidFill>
            <a:prstDash val="solid"/>
          </a:ln>
        </p:spPr>
        <p:txBody>
          <a:bodyPr/>
          <a:lstStyle/>
          <a:p>
            <a:endParaRPr lang="fr-FR"/>
          </a:p>
        </p:txBody>
      </p:sp>
      <p:sp>
        <p:nvSpPr>
          <p:cNvPr id="66" name="Text 64"/>
          <p:cNvSpPr/>
          <p:nvPr/>
        </p:nvSpPr>
        <p:spPr>
          <a:xfrm>
            <a:off x="4663440" y="326440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100 000</a:t>
            </a:r>
            <a:endParaRPr lang="en-US" sz="1400" dirty="0"/>
          </a:p>
        </p:txBody>
      </p:sp>
      <p:sp>
        <p:nvSpPr>
          <p:cNvPr id="67" name="Text 65"/>
          <p:cNvSpPr/>
          <p:nvPr/>
        </p:nvSpPr>
        <p:spPr>
          <a:xfrm>
            <a:off x="5669280" y="331927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Hab. — seuil services occas.</a:t>
            </a:r>
            <a:endParaRPr lang="en-US" sz="1050" dirty="0"/>
          </a:p>
        </p:txBody>
      </p:sp>
      <p:sp>
        <p:nvSpPr>
          <p:cNvPr id="68" name="Shape 66"/>
          <p:cNvSpPr/>
          <p:nvPr/>
        </p:nvSpPr>
        <p:spPr>
          <a:xfrm>
            <a:off x="4663440" y="3730752"/>
            <a:ext cx="4160520" cy="420624"/>
          </a:xfrm>
          <a:prstGeom prst="rect">
            <a:avLst/>
          </a:prstGeom>
          <a:solidFill>
            <a:srgbClr val="E8F1FA"/>
          </a:solidFill>
          <a:ln w="6350">
            <a:solidFill>
              <a:srgbClr val="D0DCE8"/>
            </a:solidFill>
            <a:prstDash val="solid"/>
          </a:ln>
        </p:spPr>
        <p:txBody>
          <a:bodyPr/>
          <a:lstStyle/>
          <a:p>
            <a:endParaRPr lang="fr-FR"/>
          </a:p>
        </p:txBody>
      </p:sp>
      <p:sp>
        <p:nvSpPr>
          <p:cNvPr id="69" name="Shape 67"/>
          <p:cNvSpPr/>
          <p:nvPr/>
        </p:nvSpPr>
        <p:spPr>
          <a:xfrm>
            <a:off x="4663440" y="3730752"/>
            <a:ext cx="960120" cy="420624"/>
          </a:xfrm>
          <a:prstGeom prst="rect">
            <a:avLst/>
          </a:prstGeom>
          <a:solidFill>
            <a:srgbClr val="F4A227"/>
          </a:solidFill>
          <a:ln w="12700">
            <a:solidFill>
              <a:srgbClr val="F4A227"/>
            </a:solidFill>
            <a:prstDash val="solid"/>
          </a:ln>
        </p:spPr>
        <p:txBody>
          <a:bodyPr/>
          <a:lstStyle/>
          <a:p>
            <a:endParaRPr lang="fr-FR"/>
          </a:p>
        </p:txBody>
      </p:sp>
      <p:sp>
        <p:nvSpPr>
          <p:cNvPr id="70" name="Text 68"/>
          <p:cNvSpPr/>
          <p:nvPr/>
        </p:nvSpPr>
        <p:spPr>
          <a:xfrm>
            <a:off x="4663440" y="373075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 places</a:t>
            </a:r>
            <a:endParaRPr lang="en-US" sz="1400" dirty="0"/>
          </a:p>
        </p:txBody>
      </p:sp>
      <p:sp>
        <p:nvSpPr>
          <p:cNvPr id="71" name="Text 69"/>
          <p:cNvSpPr/>
          <p:nvPr/>
        </p:nvSpPr>
        <p:spPr>
          <a:xfrm>
            <a:off x="5669280" y="378561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Mini véhicule services occas.</a:t>
            </a:r>
            <a:endParaRPr lang="en-US" sz="1050" dirty="0"/>
          </a:p>
        </p:txBody>
      </p:sp>
      <p:sp>
        <p:nvSpPr>
          <p:cNvPr id="72" name="Shape 70"/>
          <p:cNvSpPr/>
          <p:nvPr/>
        </p:nvSpPr>
        <p:spPr>
          <a:xfrm>
            <a:off x="4663440" y="4197096"/>
            <a:ext cx="4160520" cy="420624"/>
          </a:xfrm>
          <a:prstGeom prst="rect">
            <a:avLst/>
          </a:prstGeom>
          <a:solidFill>
            <a:srgbClr val="E8F1FA"/>
          </a:solidFill>
          <a:ln w="6350">
            <a:solidFill>
              <a:srgbClr val="D0DCE8"/>
            </a:solidFill>
            <a:prstDash val="solid"/>
          </a:ln>
        </p:spPr>
        <p:txBody>
          <a:bodyPr/>
          <a:lstStyle/>
          <a:p>
            <a:endParaRPr lang="fr-FR"/>
          </a:p>
        </p:txBody>
      </p:sp>
      <p:sp>
        <p:nvSpPr>
          <p:cNvPr id="73" name="Shape 71"/>
          <p:cNvSpPr/>
          <p:nvPr/>
        </p:nvSpPr>
        <p:spPr>
          <a:xfrm>
            <a:off x="4663440" y="4197096"/>
            <a:ext cx="960120" cy="420624"/>
          </a:xfrm>
          <a:prstGeom prst="rect">
            <a:avLst/>
          </a:prstGeom>
          <a:solidFill>
            <a:srgbClr val="2E7D32"/>
          </a:solidFill>
          <a:ln w="12700">
            <a:solidFill>
              <a:srgbClr val="2E7D32"/>
            </a:solidFill>
            <a:prstDash val="solid"/>
          </a:ln>
        </p:spPr>
        <p:txBody>
          <a:bodyPr/>
          <a:lstStyle/>
          <a:p>
            <a:endParaRPr lang="fr-FR"/>
          </a:p>
        </p:txBody>
      </p:sp>
      <p:sp>
        <p:nvSpPr>
          <p:cNvPr id="74" name="Text 72"/>
          <p:cNvSpPr/>
          <p:nvPr/>
        </p:nvSpPr>
        <p:spPr>
          <a:xfrm>
            <a:off x="4663440" y="419709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12/20</a:t>
            </a:r>
            <a:endParaRPr lang="en-US" sz="1400" dirty="0"/>
          </a:p>
        </p:txBody>
      </p:sp>
      <p:sp>
        <p:nvSpPr>
          <p:cNvPr id="75" name="Text 73"/>
          <p:cNvSpPr/>
          <p:nvPr/>
        </p:nvSpPr>
        <p:spPr>
          <a:xfrm>
            <a:off x="5669280" y="425196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Note min. épreuve pratique</a:t>
            </a:r>
            <a:endParaRPr lang="en-US" sz="1050" dirty="0"/>
          </a:p>
        </p:txBody>
      </p:sp>
      <p:sp>
        <p:nvSpPr>
          <p:cNvPr id="76" name="Shape 74"/>
          <p:cNvSpPr/>
          <p:nvPr/>
        </p:nvSpPr>
        <p:spPr>
          <a:xfrm>
            <a:off x="4663440" y="4663440"/>
            <a:ext cx="4160520" cy="420624"/>
          </a:xfrm>
          <a:prstGeom prst="rect">
            <a:avLst/>
          </a:prstGeom>
          <a:solidFill>
            <a:srgbClr val="E8F1FA"/>
          </a:solidFill>
          <a:ln w="6350">
            <a:solidFill>
              <a:srgbClr val="D0DCE8"/>
            </a:solidFill>
            <a:prstDash val="solid"/>
          </a:ln>
        </p:spPr>
        <p:txBody>
          <a:bodyPr/>
          <a:lstStyle/>
          <a:p>
            <a:endParaRPr lang="fr-FR"/>
          </a:p>
        </p:txBody>
      </p:sp>
      <p:sp>
        <p:nvSpPr>
          <p:cNvPr id="77" name="Shape 75"/>
          <p:cNvSpPr/>
          <p:nvPr/>
        </p:nvSpPr>
        <p:spPr>
          <a:xfrm>
            <a:off x="4663440" y="4663440"/>
            <a:ext cx="960120" cy="420624"/>
          </a:xfrm>
          <a:prstGeom prst="rect">
            <a:avLst/>
          </a:prstGeom>
          <a:solidFill>
            <a:srgbClr val="C0392B"/>
          </a:solidFill>
          <a:ln w="12700">
            <a:solidFill>
              <a:srgbClr val="C0392B"/>
            </a:solidFill>
            <a:prstDash val="solid"/>
          </a:ln>
        </p:spPr>
        <p:txBody>
          <a:bodyPr/>
          <a:lstStyle/>
          <a:p>
            <a:endParaRPr lang="fr-FR"/>
          </a:p>
        </p:txBody>
      </p:sp>
      <p:sp>
        <p:nvSpPr>
          <p:cNvPr id="78" name="Text 76"/>
          <p:cNvSpPr/>
          <p:nvPr/>
        </p:nvSpPr>
        <p:spPr>
          <a:xfrm>
            <a:off x="4663440" y="466344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6/20</a:t>
            </a:r>
            <a:endParaRPr lang="en-US" sz="1400" dirty="0"/>
          </a:p>
        </p:txBody>
      </p:sp>
      <p:sp>
        <p:nvSpPr>
          <p:cNvPr id="79" name="Text 77"/>
          <p:cNvSpPr/>
          <p:nvPr/>
        </p:nvSpPr>
        <p:spPr>
          <a:xfrm>
            <a:off x="5669280" y="471830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Note éliminatoire théorique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Synthèse Partie 1 — Révision pages 107 à 112</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Définition T3P · Non-inscription · Assurances · Maraude · Carte pro · Permis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Définition du T3P et cas de non-inscription à l'examen</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107-108-109</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DÉFINITION DES PRESTATIONS T3P (Code des transports)</a:t>
            </a:r>
            <a:endParaRPr lang="en-US" sz="1000" dirty="0"/>
          </a:p>
        </p:txBody>
      </p:sp>
      <p:sp>
        <p:nvSpPr>
          <p:cNvPr id="11" name="Shape 9"/>
          <p:cNvSpPr/>
          <p:nvPr/>
        </p:nvSpPr>
        <p:spPr>
          <a:xfrm>
            <a:off x="274320" y="1243584"/>
            <a:ext cx="8595360" cy="621792"/>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54864" cy="621792"/>
          </a:xfrm>
          <a:prstGeom prst="rect">
            <a:avLst/>
          </a:prstGeom>
          <a:solidFill>
            <a:srgbClr val="1A3A5C"/>
          </a:solidFill>
          <a:ln w="12700">
            <a:solidFill>
              <a:srgbClr val="1A3A5C"/>
            </a:solidFill>
            <a:prstDash val="solid"/>
          </a:ln>
        </p:spPr>
        <p:txBody>
          <a:bodyPr/>
          <a:lstStyle/>
          <a:p>
            <a:endParaRPr lang="fr-FR"/>
          </a:p>
        </p:txBody>
      </p:sp>
      <p:sp>
        <p:nvSpPr>
          <p:cNvPr id="13" name="Text 11"/>
          <p:cNvSpPr/>
          <p:nvPr/>
        </p:nvSpPr>
        <p:spPr>
          <a:xfrm>
            <a:off x="411480" y="1261872"/>
            <a:ext cx="8321040" cy="585216"/>
          </a:xfrm>
          <a:prstGeom prst="rect">
            <a:avLst/>
          </a:prstGeom>
          <a:noFill/>
          <a:ln/>
        </p:spPr>
        <p:txBody>
          <a:bodyPr wrap="square" rtlCol="0" anchor="ctr"/>
          <a:lstStyle/>
          <a:p>
            <a:pPr marL="0" indent="0">
              <a:buNone/>
            </a:pPr>
            <a:r>
              <a:rPr lang="en-US" sz="920" dirty="0">
                <a:solidFill>
                  <a:srgbClr val="3A3A3A"/>
                </a:solidFill>
                <a:latin typeface="Calibri" pitchFamily="34" charset="0"/>
                <a:ea typeface="Calibri" pitchFamily="34" charset="-122"/>
                <a:cs typeface="Calibri" pitchFamily="34" charset="-120"/>
              </a:rPr>
              <a:t>Les prestations de transports publics particuliers sont des prestations de transport public routier de personnes qui NE relèvent NI des transports publics collectifs NI du transport privé routier de personnes.</a:t>
            </a:r>
            <a:endParaRPr lang="en-US" sz="920" dirty="0"/>
          </a:p>
          <a:p>
            <a:pPr marL="0" indent="0">
              <a:buNone/>
            </a:pPr>
            <a:r>
              <a:rPr lang="en-US" sz="920" dirty="0">
                <a:solidFill>
                  <a:srgbClr val="3A3A3A"/>
                </a:solidFill>
                <a:latin typeface="Calibri" pitchFamily="34" charset="0"/>
                <a:ea typeface="Calibri" pitchFamily="34" charset="-122"/>
                <a:cs typeface="Calibri" pitchFamily="34" charset="-120"/>
              </a:rPr>
              <a:t>Elles sont exécutées, à titre onéreux, par les taxis, les voitures de transport avec chauffeur et les véhicules motorisés à deux ou trois roues.</a:t>
            </a:r>
            <a:endParaRPr lang="en-US" sz="920" dirty="0"/>
          </a:p>
        </p:txBody>
      </p:sp>
      <p:sp>
        <p:nvSpPr>
          <p:cNvPr id="14" name="Shape 12"/>
          <p:cNvSpPr/>
          <p:nvPr/>
        </p:nvSpPr>
        <p:spPr>
          <a:xfrm>
            <a:off x="274320" y="1938528"/>
            <a:ext cx="8595360" cy="274320"/>
          </a:xfrm>
          <a:prstGeom prst="rect">
            <a:avLst/>
          </a:prstGeom>
          <a:solidFill>
            <a:srgbClr val="C0392B"/>
          </a:solidFill>
          <a:ln w="12700">
            <a:solidFill>
              <a:srgbClr val="C0392B"/>
            </a:solidFill>
            <a:prstDash val="solid"/>
          </a:ln>
        </p:spPr>
        <p:txBody>
          <a:bodyPr/>
          <a:lstStyle/>
          <a:p>
            <a:endParaRPr lang="fr-FR"/>
          </a:p>
        </p:txBody>
      </p:sp>
      <p:sp>
        <p:nvSpPr>
          <p:cNvPr id="15" name="Text 13"/>
          <p:cNvSpPr/>
          <p:nvPr/>
        </p:nvSpPr>
        <p:spPr>
          <a:xfrm>
            <a:off x="274320" y="193852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LES 3 CAS DE NON-INSCRIPTION À UN EXAMEN T3P</a:t>
            </a:r>
            <a:endParaRPr lang="en-US" sz="1000" dirty="0"/>
          </a:p>
        </p:txBody>
      </p:sp>
      <p:sp>
        <p:nvSpPr>
          <p:cNvPr id="16" name="Shape 14"/>
          <p:cNvSpPr/>
          <p:nvPr/>
        </p:nvSpPr>
        <p:spPr>
          <a:xfrm>
            <a:off x="27432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2267712"/>
            <a:ext cx="2724912" cy="274320"/>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34747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1er CAS — Retrait définitif de carte</a:t>
            </a:r>
            <a:endParaRPr lang="en-US" sz="850" dirty="0"/>
          </a:p>
        </p:txBody>
      </p:sp>
      <p:sp>
        <p:nvSpPr>
          <p:cNvPr id="19" name="Text 17"/>
          <p:cNvSpPr/>
          <p:nvPr/>
        </p:nvSpPr>
        <p:spPr>
          <a:xfrm>
            <a:off x="36576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DIX ANS qui précèdent sa demande, d'un retrait DÉFINITIF de sa carte professionnelle.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(Suite à une violation de la réglementation T3P par le conducteur)</a:t>
            </a:r>
            <a:endParaRPr lang="en-US" sz="880" dirty="0"/>
          </a:p>
        </p:txBody>
      </p:sp>
      <p:sp>
        <p:nvSpPr>
          <p:cNvPr id="20" name="Shape 18"/>
          <p:cNvSpPr/>
          <p:nvPr/>
        </p:nvSpPr>
        <p:spPr>
          <a:xfrm>
            <a:off x="315468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3154680" y="2267712"/>
            <a:ext cx="2724912" cy="274320"/>
          </a:xfrm>
          <a:prstGeom prst="rect">
            <a:avLst/>
          </a:prstGeom>
          <a:solidFill>
            <a:srgbClr val="F4A227"/>
          </a:solidFill>
          <a:ln w="12700">
            <a:solidFill>
              <a:srgbClr val="F4A227"/>
            </a:solidFill>
            <a:prstDash val="solid"/>
          </a:ln>
        </p:spPr>
        <p:txBody>
          <a:bodyPr/>
          <a:lstStyle/>
          <a:p>
            <a:endParaRPr lang="fr-FR"/>
          </a:p>
        </p:txBody>
      </p:sp>
      <p:sp>
        <p:nvSpPr>
          <p:cNvPr id="22" name="Text 20"/>
          <p:cNvSpPr/>
          <p:nvPr/>
        </p:nvSpPr>
        <p:spPr>
          <a:xfrm>
            <a:off x="322783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2ème CAS — Fraude à un examen</a:t>
            </a:r>
            <a:endParaRPr lang="en-US" sz="850" dirty="0"/>
          </a:p>
        </p:txBody>
      </p:sp>
      <p:sp>
        <p:nvSpPr>
          <p:cNvPr id="23" name="Text 21"/>
          <p:cNvSpPr/>
          <p:nvPr/>
        </p:nvSpPr>
        <p:spPr>
          <a:xfrm>
            <a:off x="324612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CINQ ANS qui précèdent sa demande, d'une exclusion pour fraude lors d'une session à l'un des examens des professions T3P.</a:t>
            </a:r>
            <a:endParaRPr lang="en-US" sz="880" dirty="0"/>
          </a:p>
        </p:txBody>
      </p:sp>
      <p:sp>
        <p:nvSpPr>
          <p:cNvPr id="24" name="Shape 22"/>
          <p:cNvSpPr/>
          <p:nvPr/>
        </p:nvSpPr>
        <p:spPr>
          <a:xfrm>
            <a:off x="603504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6035040" y="2267712"/>
            <a:ext cx="2724912" cy="274320"/>
          </a:xfrm>
          <a:prstGeom prst="rect">
            <a:avLst/>
          </a:prstGeom>
          <a:solidFill>
            <a:srgbClr val="1A3A5C"/>
          </a:solidFill>
          <a:ln w="12700">
            <a:solidFill>
              <a:srgbClr val="1A3A5C"/>
            </a:solidFill>
            <a:prstDash val="solid"/>
          </a:ln>
        </p:spPr>
        <p:txBody>
          <a:bodyPr/>
          <a:lstStyle/>
          <a:p>
            <a:endParaRPr lang="fr-FR"/>
          </a:p>
        </p:txBody>
      </p:sp>
      <p:sp>
        <p:nvSpPr>
          <p:cNvPr id="26" name="Text 24"/>
          <p:cNvSpPr/>
          <p:nvPr/>
        </p:nvSpPr>
        <p:spPr>
          <a:xfrm>
            <a:off x="610819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3ème CAS — Permis probatoire</a:t>
            </a:r>
            <a:endParaRPr lang="en-US" sz="850" dirty="0"/>
          </a:p>
        </p:txBody>
      </p:sp>
      <p:sp>
        <p:nvSpPr>
          <p:cNvPr id="27" name="Text 25"/>
          <p:cNvSpPr/>
          <p:nvPr/>
        </p:nvSpPr>
        <p:spPr>
          <a:xfrm>
            <a:off x="612648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délai probatoire applicable à son permis n'est pas expiré.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2 ans minimum en conduite accompagnée ou 3 ans en conduite normale.</a:t>
            </a:r>
            <a:endParaRPr lang="en-US" sz="880" dirty="0"/>
          </a:p>
        </p:txBody>
      </p:sp>
      <p:sp>
        <p:nvSpPr>
          <p:cNvPr id="28" name="Shape 26"/>
          <p:cNvSpPr/>
          <p:nvPr/>
        </p:nvSpPr>
        <p:spPr>
          <a:xfrm>
            <a:off x="274320" y="4462272"/>
            <a:ext cx="8595360" cy="347472"/>
          </a:xfrm>
          <a:prstGeom prst="rect">
            <a:avLst/>
          </a:prstGeom>
          <a:solidFill>
            <a:srgbClr val="FFFBEB"/>
          </a:solidFill>
          <a:ln w="19050">
            <a:solidFill>
              <a:srgbClr val="F4A227"/>
            </a:solidFill>
            <a:prstDash val="solid"/>
          </a:ln>
        </p:spPr>
        <p:txBody>
          <a:bodyPr/>
          <a:lstStyle/>
          <a:p>
            <a:endParaRPr lang="fr-FR"/>
          </a:p>
        </p:txBody>
      </p:sp>
      <p:sp>
        <p:nvSpPr>
          <p:cNvPr id="29" name="Shape 27"/>
          <p:cNvSpPr/>
          <p:nvPr/>
        </p:nvSpPr>
        <p:spPr>
          <a:xfrm>
            <a:off x="274320" y="4462272"/>
            <a:ext cx="54864" cy="347472"/>
          </a:xfrm>
          <a:prstGeom prst="rect">
            <a:avLst/>
          </a:prstGeom>
          <a:solidFill>
            <a:srgbClr val="F4A227"/>
          </a:solidFill>
          <a:ln w="12700">
            <a:solidFill>
              <a:srgbClr val="F4A227"/>
            </a:solidFill>
            <a:prstDash val="solid"/>
          </a:ln>
        </p:spPr>
        <p:txBody>
          <a:bodyPr/>
          <a:lstStyle/>
          <a:p>
            <a:endParaRPr lang="fr-FR"/>
          </a:p>
        </p:txBody>
      </p:sp>
      <p:sp>
        <p:nvSpPr>
          <p:cNvPr id="30" name="Text 28"/>
          <p:cNvSpPr/>
          <p:nvPr/>
        </p:nvSpPr>
        <p:spPr>
          <a:xfrm>
            <a:off x="384048" y="4462272"/>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ℹ  ATTENTION : une condamnation DÉFINITIVE n'est pas une condamnation temporaire. Le délai de recours est en général de 10 jours après le prononcé du jugement.</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Assurances, visite médicale, formation continue et maraude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108-109-110</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56032"/>
          </a:xfrm>
          <a:prstGeom prst="rect">
            <a:avLst/>
          </a:prstGeom>
          <a:solidFill>
            <a:srgbClr val="2860A8"/>
          </a:solidFill>
          <a:ln w="12700">
            <a:solidFill>
              <a:srgbClr val="2860A8"/>
            </a:solidFill>
            <a:prstDash val="solid"/>
          </a:ln>
        </p:spPr>
        <p:txBody>
          <a:bodyPr/>
          <a:lstStyle/>
          <a:p>
            <a:endParaRPr lang="fr-FR"/>
          </a:p>
        </p:txBody>
      </p:sp>
      <p:sp>
        <p:nvSpPr>
          <p:cNvPr id="10" name="Text 8"/>
          <p:cNvSpPr/>
          <p:nvPr/>
        </p:nvSpPr>
        <p:spPr>
          <a:xfrm>
            <a:off x="27432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2 ASSURANCES OBLIGATOIRES T3P</a:t>
            </a:r>
            <a:endParaRPr lang="en-US" sz="900" dirty="0"/>
          </a:p>
        </p:txBody>
      </p:sp>
      <p:sp>
        <p:nvSpPr>
          <p:cNvPr id="11" name="Shape 9"/>
          <p:cNvSpPr/>
          <p:nvPr/>
        </p:nvSpPr>
        <p:spPr>
          <a:xfrm>
            <a:off x="274320" y="1243584"/>
            <a:ext cx="4160520" cy="96012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4160520" cy="237744"/>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347472" y="1243584"/>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CIRCULATION</a:t>
            </a:r>
            <a:endParaRPr lang="en-US" sz="850" dirty="0"/>
          </a:p>
        </p:txBody>
      </p:sp>
      <p:sp>
        <p:nvSpPr>
          <p:cNvPr id="14" name="Text 12"/>
          <p:cNvSpPr/>
          <p:nvPr/>
        </p:nvSpPr>
        <p:spPr>
          <a:xfrm>
            <a:off x="365760" y="1499616"/>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AVEC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accident avec un automobiliste.</a:t>
            </a:r>
            <a:endParaRPr lang="en-US" sz="880" dirty="0"/>
          </a:p>
        </p:txBody>
      </p:sp>
      <p:sp>
        <p:nvSpPr>
          <p:cNvPr id="15" name="Shape 13"/>
          <p:cNvSpPr/>
          <p:nvPr/>
        </p:nvSpPr>
        <p:spPr>
          <a:xfrm>
            <a:off x="274320" y="2267712"/>
            <a:ext cx="4160520" cy="9601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74320" y="2267712"/>
            <a:ext cx="4160520" cy="237744"/>
          </a:xfrm>
          <a:prstGeom prst="rect">
            <a:avLst/>
          </a:prstGeom>
          <a:solidFill>
            <a:srgbClr val="1A3A5C"/>
          </a:solidFill>
          <a:ln w="12700">
            <a:solidFill>
              <a:srgbClr val="1A3A5C"/>
            </a:solidFill>
            <a:prstDash val="solid"/>
          </a:ln>
        </p:spPr>
        <p:txBody>
          <a:bodyPr/>
          <a:lstStyle/>
          <a:p>
            <a:endParaRPr lang="fr-FR"/>
          </a:p>
        </p:txBody>
      </p:sp>
      <p:sp>
        <p:nvSpPr>
          <p:cNvPr id="17" name="Text 15"/>
          <p:cNvSpPr/>
          <p:nvPr/>
        </p:nvSpPr>
        <p:spPr>
          <a:xfrm>
            <a:off x="347472" y="2267712"/>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PROFESSIONNELLE D'EXPLOITATION</a:t>
            </a:r>
            <a:endParaRPr lang="en-US" sz="850" dirty="0"/>
          </a:p>
        </p:txBody>
      </p:sp>
      <p:sp>
        <p:nvSpPr>
          <p:cNvPr id="18" name="Text 16"/>
          <p:cNvSpPr/>
          <p:nvPr/>
        </p:nvSpPr>
        <p:spPr>
          <a:xfrm>
            <a:off x="365760" y="2523744"/>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EN DEHORS de toute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détérioration des bagages.</a:t>
            </a:r>
            <a:endParaRPr lang="en-US" sz="880" dirty="0"/>
          </a:p>
        </p:txBody>
      </p:sp>
      <p:sp>
        <p:nvSpPr>
          <p:cNvPr id="19" name="Shape 17"/>
          <p:cNvSpPr/>
          <p:nvPr/>
        </p:nvSpPr>
        <p:spPr>
          <a:xfrm>
            <a:off x="4709160" y="932688"/>
            <a:ext cx="4160520" cy="256032"/>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470916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VISITE MÉDICALE OBLIGATOIRE</a:t>
            </a:r>
            <a:endParaRPr lang="en-US" sz="900" dirty="0"/>
          </a:p>
        </p:txBody>
      </p:sp>
      <p:sp>
        <p:nvSpPr>
          <p:cNvPr id="21" name="Shape 19"/>
          <p:cNvSpPr/>
          <p:nvPr/>
        </p:nvSpPr>
        <p:spPr>
          <a:xfrm>
            <a:off x="4709160" y="1243584"/>
            <a:ext cx="4160520" cy="59436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9160" y="1243584"/>
            <a:ext cx="1097280" cy="594360"/>
          </a:xfrm>
          <a:prstGeom prst="rect">
            <a:avLst/>
          </a:prstGeom>
          <a:solidFill>
            <a:srgbClr val="2E7D32"/>
          </a:solidFill>
          <a:ln w="12700">
            <a:solidFill>
              <a:srgbClr val="2E7D32"/>
            </a:solidFill>
            <a:prstDash val="solid"/>
          </a:ln>
        </p:spPr>
        <p:txBody>
          <a:bodyPr/>
          <a:lstStyle/>
          <a:p>
            <a:endParaRPr lang="fr-FR"/>
          </a:p>
        </p:txBody>
      </p:sp>
      <p:sp>
        <p:nvSpPr>
          <p:cNvPr id="23" name="Text 21"/>
          <p:cNvSpPr/>
          <p:nvPr/>
        </p:nvSpPr>
        <p:spPr>
          <a:xfrm>
            <a:off x="4709160" y="1243584"/>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20 à 60 ans</a:t>
            </a:r>
            <a:endParaRPr lang="en-US" sz="900" dirty="0"/>
          </a:p>
        </p:txBody>
      </p:sp>
      <p:sp>
        <p:nvSpPr>
          <p:cNvPr id="24" name="Text 22"/>
          <p:cNvSpPr/>
          <p:nvPr/>
        </p:nvSpPr>
        <p:spPr>
          <a:xfrm>
            <a:off x="5870448" y="1335024"/>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5 ans</a:t>
            </a:r>
            <a:endParaRPr lang="en-US" sz="900" dirty="0"/>
          </a:p>
        </p:txBody>
      </p:sp>
      <p:sp>
        <p:nvSpPr>
          <p:cNvPr id="25" name="Shape 23"/>
          <p:cNvSpPr/>
          <p:nvPr/>
        </p:nvSpPr>
        <p:spPr>
          <a:xfrm>
            <a:off x="4709160" y="1901952"/>
            <a:ext cx="4160520" cy="59436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4709160" y="1901952"/>
            <a:ext cx="1097280" cy="594360"/>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4709160" y="1901952"/>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60 à 76 ans</a:t>
            </a:r>
            <a:endParaRPr lang="en-US" sz="900" dirty="0"/>
          </a:p>
        </p:txBody>
      </p:sp>
      <p:sp>
        <p:nvSpPr>
          <p:cNvPr id="28" name="Text 26"/>
          <p:cNvSpPr/>
          <p:nvPr/>
        </p:nvSpPr>
        <p:spPr>
          <a:xfrm>
            <a:off x="5870448" y="1993392"/>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2 ans (lendemain date anniversaire des 60 ans)</a:t>
            </a:r>
            <a:endParaRPr lang="en-US" sz="900" dirty="0"/>
          </a:p>
        </p:txBody>
      </p:sp>
      <p:sp>
        <p:nvSpPr>
          <p:cNvPr id="29" name="Shape 27"/>
          <p:cNvSpPr/>
          <p:nvPr/>
        </p:nvSpPr>
        <p:spPr>
          <a:xfrm>
            <a:off x="4709160" y="2560320"/>
            <a:ext cx="4160520" cy="594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2560320"/>
            <a:ext cx="1097280" cy="594360"/>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4709160" y="2560320"/>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À partir de 76 ans</a:t>
            </a:r>
            <a:endParaRPr lang="en-US" sz="900" dirty="0"/>
          </a:p>
        </p:txBody>
      </p:sp>
      <p:sp>
        <p:nvSpPr>
          <p:cNvPr id="32" name="Text 30"/>
          <p:cNvSpPr/>
          <p:nvPr/>
        </p:nvSpPr>
        <p:spPr>
          <a:xfrm>
            <a:off x="5870448" y="2651760"/>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Chaque année (lendemain date anniversaire)</a:t>
            </a:r>
            <a:endParaRPr lang="en-US" sz="900" dirty="0"/>
          </a:p>
        </p:txBody>
      </p:sp>
      <p:sp>
        <p:nvSpPr>
          <p:cNvPr id="33" name="Shape 31"/>
          <p:cNvSpPr/>
          <p:nvPr/>
        </p:nvSpPr>
        <p:spPr>
          <a:xfrm>
            <a:off x="4709160" y="3273552"/>
            <a:ext cx="4160520" cy="256032"/>
          </a:xfrm>
          <a:prstGeom prst="rect">
            <a:avLst/>
          </a:prstGeom>
          <a:solidFill>
            <a:srgbClr val="1A3A5C"/>
          </a:solidFill>
          <a:ln w="12700">
            <a:solidFill>
              <a:srgbClr val="1A3A5C"/>
            </a:solidFill>
            <a:prstDash val="solid"/>
          </a:ln>
        </p:spPr>
        <p:txBody>
          <a:bodyPr/>
          <a:lstStyle/>
          <a:p>
            <a:endParaRPr lang="fr-FR"/>
          </a:p>
        </p:txBody>
      </p:sp>
      <p:sp>
        <p:nvSpPr>
          <p:cNvPr id="34" name="Text 32"/>
          <p:cNvSpPr/>
          <p:nvPr/>
        </p:nvSpPr>
        <p:spPr>
          <a:xfrm>
            <a:off x="470916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FORMATION CONTINUE OBLIGATOIRE</a:t>
            </a:r>
            <a:endParaRPr lang="en-US" sz="900" dirty="0"/>
          </a:p>
        </p:txBody>
      </p:sp>
      <p:sp>
        <p:nvSpPr>
          <p:cNvPr id="35" name="Shape 33"/>
          <p:cNvSpPr/>
          <p:nvPr/>
        </p:nvSpPr>
        <p:spPr>
          <a:xfrm>
            <a:off x="4709160" y="3566160"/>
            <a:ext cx="4160520" cy="475488"/>
          </a:xfrm>
          <a:prstGeom prst="rect">
            <a:avLst/>
          </a:prstGeom>
          <a:solidFill>
            <a:srgbClr val="E8F1FA"/>
          </a:solidFill>
          <a:ln w="6350">
            <a:solidFill>
              <a:srgbClr val="D0DCE8"/>
            </a:solidFill>
            <a:prstDash val="solid"/>
          </a:ln>
        </p:spPr>
        <p:txBody>
          <a:bodyPr/>
          <a:lstStyle/>
          <a:p>
            <a:endParaRPr lang="fr-FR"/>
          </a:p>
        </p:txBody>
      </p:sp>
      <p:sp>
        <p:nvSpPr>
          <p:cNvPr id="36" name="Text 34"/>
          <p:cNvSpPr/>
          <p:nvPr/>
        </p:nvSpPr>
        <p:spPr>
          <a:xfrm>
            <a:off x="4782312" y="3602736"/>
            <a:ext cx="4005072" cy="402336"/>
          </a:xfrm>
          <a:prstGeom prst="rect">
            <a:avLst/>
          </a:prstGeom>
          <a:noFill/>
          <a:ln/>
        </p:spPr>
        <p:txBody>
          <a:bodyPr wrap="square" rtlCol="0" anchor="ctr"/>
          <a:lstStyle/>
          <a:p>
            <a:pPr marL="0" indent="0">
              <a:buNone/>
            </a:pPr>
            <a:r>
              <a:rPr lang="en-US" sz="950" b="1" dirty="0">
                <a:solidFill>
                  <a:srgbClr val="1A3A5C"/>
                </a:solidFill>
                <a:latin typeface="Calibri" pitchFamily="34" charset="0"/>
                <a:ea typeface="Calibri" pitchFamily="34" charset="-122"/>
                <a:cs typeface="Calibri" pitchFamily="34" charset="-120"/>
              </a:rPr>
              <a:t>TAXI / VTC / VMDTR : Tous les 5 ans — 14 heures — auprès d'un centre de formation agréé par le préfet.</a:t>
            </a:r>
            <a:endParaRPr lang="en-US" sz="950" dirty="0"/>
          </a:p>
        </p:txBody>
      </p:sp>
      <p:sp>
        <p:nvSpPr>
          <p:cNvPr id="37" name="Shape 35"/>
          <p:cNvSpPr/>
          <p:nvPr/>
        </p:nvSpPr>
        <p:spPr>
          <a:xfrm>
            <a:off x="274320" y="3273552"/>
            <a:ext cx="4160520" cy="256032"/>
          </a:xfrm>
          <a:prstGeom prst="rect">
            <a:avLst/>
          </a:prstGeom>
          <a:solidFill>
            <a:srgbClr val="C0392B"/>
          </a:solidFill>
          <a:ln w="12700">
            <a:solidFill>
              <a:srgbClr val="C0392B"/>
            </a:solidFill>
            <a:prstDash val="solid"/>
          </a:ln>
        </p:spPr>
        <p:txBody>
          <a:bodyPr/>
          <a:lstStyle/>
          <a:p>
            <a:endParaRPr lang="fr-FR"/>
          </a:p>
        </p:txBody>
      </p:sp>
      <p:sp>
        <p:nvSpPr>
          <p:cNvPr id="38" name="Text 36"/>
          <p:cNvSpPr/>
          <p:nvPr/>
        </p:nvSpPr>
        <p:spPr>
          <a:xfrm>
            <a:off x="27432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LA MARAUDE — TABLEAU DES RÈGLES</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4160520" cy="960120"/>
        </p:xfrm>
        <a:graphic>
          <a:graphicData uri="http://schemas.openxmlformats.org/drawingml/2006/table">
            <a:tbl>
              <a:tblPr/>
              <a:tblGrid>
                <a:gridCol w="118872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24003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Profession</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Prise en charge voie publique</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Oui — uniquement dans la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VMDTR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0" name="Shape 37"/>
          <p:cNvSpPr/>
          <p:nvPr/>
        </p:nvSpPr>
        <p:spPr>
          <a:xfrm>
            <a:off x="274320" y="4608576"/>
            <a:ext cx="8595360" cy="237744"/>
          </a:xfrm>
          <a:prstGeom prst="rect">
            <a:avLst/>
          </a:prstGeom>
          <a:solidFill>
            <a:srgbClr val="2860A8"/>
          </a:solidFill>
          <a:ln w="12700">
            <a:solidFill>
              <a:srgbClr val="2860A8"/>
            </a:solidFill>
            <a:prstDash val="solid"/>
          </a:ln>
        </p:spPr>
        <p:txBody>
          <a:bodyPr/>
          <a:lstStyle/>
          <a:p>
            <a:endParaRPr lang="fr-FR"/>
          </a:p>
        </p:txBody>
      </p:sp>
      <p:sp>
        <p:nvSpPr>
          <p:cNvPr id="41" name="Text 38"/>
          <p:cNvSpPr/>
          <p:nvPr/>
        </p:nvSpPr>
        <p:spPr>
          <a:xfrm>
            <a:off x="347472" y="4608576"/>
            <a:ext cx="8458200" cy="237744"/>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SOURCES DE LA RÉGLEMENTATION — Les 3 professions s'appuient sur : Code des transports | Textes préfectoraux (Taxi) | EPCI/Métropole (Taxi)</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et délivrance de la carte professionnelle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110-111</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VÉHICULE</a:t>
            </a:r>
            <a:endParaRPr lang="en-US" sz="1000" dirty="0"/>
          </a:p>
        </p:txBody>
      </p:sp>
      <p:sp>
        <p:nvSpPr>
          <p:cNvPr id="11" name="Shape 9"/>
          <p:cNvSpPr/>
          <p:nvPr/>
        </p:nvSpPr>
        <p:spPr>
          <a:xfrm>
            <a:off x="27432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52728"/>
            <a:ext cx="228600" cy="29260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48640" y="1271016"/>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a:t>
            </a:r>
            <a:endParaRPr lang="en-US" sz="900" dirty="0"/>
          </a:p>
        </p:txBody>
      </p:sp>
      <p:sp>
        <p:nvSpPr>
          <p:cNvPr id="15" name="Shape 13"/>
          <p:cNvSpPr/>
          <p:nvPr/>
        </p:nvSpPr>
        <p:spPr>
          <a:xfrm>
            <a:off x="27432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581912"/>
            <a:ext cx="228600" cy="292608"/>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48640" y="1600200"/>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Contrôle technique ou attestation d'entretien</a:t>
            </a:r>
            <a:endParaRPr lang="en-US" sz="900" dirty="0"/>
          </a:p>
        </p:txBody>
      </p:sp>
      <p:sp>
        <p:nvSpPr>
          <p:cNvPr id="19" name="Shape 17"/>
          <p:cNvSpPr/>
          <p:nvPr/>
        </p:nvSpPr>
        <p:spPr>
          <a:xfrm>
            <a:off x="27432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1911096"/>
            <a:ext cx="228600" cy="292608"/>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48640" y="1929384"/>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d'assurance à titre onéreux</a:t>
            </a:r>
            <a:endParaRPr lang="en-US" sz="900" dirty="0"/>
          </a:p>
        </p:txBody>
      </p:sp>
      <p:sp>
        <p:nvSpPr>
          <p:cNvPr id="23" name="Shape 21"/>
          <p:cNvSpPr/>
          <p:nvPr/>
        </p:nvSpPr>
        <p:spPr>
          <a:xfrm>
            <a:off x="27432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240280"/>
            <a:ext cx="228600" cy="292608"/>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48640" y="2258568"/>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A ou B</a:t>
            </a:r>
            <a:endParaRPr lang="en-US" sz="900" dirty="0"/>
          </a:p>
        </p:txBody>
      </p:sp>
      <p:sp>
        <p:nvSpPr>
          <p:cNvPr id="27" name="Shape 25"/>
          <p:cNvSpPr/>
          <p:nvPr/>
        </p:nvSpPr>
        <p:spPr>
          <a:xfrm>
            <a:off x="4709160" y="932688"/>
            <a:ext cx="4160520" cy="274320"/>
          </a:xfrm>
          <a:prstGeom prst="rect">
            <a:avLst/>
          </a:prstGeom>
          <a:solidFill>
            <a:srgbClr val="2860A8"/>
          </a:solidFill>
          <a:ln w="12700">
            <a:solidFill>
              <a:srgbClr val="2860A8"/>
            </a:solidFill>
            <a:prstDash val="solid"/>
          </a:ln>
        </p:spPr>
        <p:txBody>
          <a:bodyPr/>
          <a:lstStyle/>
          <a:p>
            <a:endParaRPr lang="fr-FR"/>
          </a:p>
        </p:txBody>
      </p:sp>
      <p:sp>
        <p:nvSpPr>
          <p:cNvPr id="28" name="Text 26"/>
          <p:cNvSpPr/>
          <p:nvPr/>
        </p:nvSpPr>
        <p:spPr>
          <a:xfrm>
            <a:off x="470916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PROFESSION</a:t>
            </a:r>
            <a:endParaRPr lang="en-US" sz="1000" dirty="0"/>
          </a:p>
        </p:txBody>
      </p:sp>
      <p:sp>
        <p:nvSpPr>
          <p:cNvPr id="29" name="Shape 27"/>
          <p:cNvSpPr/>
          <p:nvPr/>
        </p:nvSpPr>
        <p:spPr>
          <a:xfrm>
            <a:off x="470916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1252728"/>
            <a:ext cx="228600" cy="292608"/>
          </a:xfrm>
          <a:prstGeom prst="rect">
            <a:avLst/>
          </a:prstGeom>
          <a:solidFill>
            <a:srgbClr val="1A3A5C"/>
          </a:solidFill>
          <a:ln w="12700">
            <a:solidFill>
              <a:srgbClr val="1A3A5C"/>
            </a:solidFill>
            <a:prstDash val="solid"/>
          </a:ln>
        </p:spPr>
        <p:txBody>
          <a:bodyPr/>
          <a:lstStyle/>
          <a:p>
            <a:endParaRPr lang="fr-FR"/>
          </a:p>
        </p:txBody>
      </p:sp>
      <p:sp>
        <p:nvSpPr>
          <p:cNvPr id="31" name="Text 29"/>
          <p:cNvSpPr/>
          <p:nvPr/>
        </p:nvSpPr>
        <p:spPr>
          <a:xfrm>
            <a:off x="470916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30"/>
          <p:cNvSpPr/>
          <p:nvPr/>
        </p:nvSpPr>
        <p:spPr>
          <a:xfrm>
            <a:off x="4983480" y="127101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Carte professionnelle T3P</a:t>
            </a:r>
            <a:endParaRPr lang="en-US" sz="880" dirty="0"/>
          </a:p>
        </p:txBody>
      </p:sp>
      <p:sp>
        <p:nvSpPr>
          <p:cNvPr id="33" name="Shape 31"/>
          <p:cNvSpPr/>
          <p:nvPr/>
        </p:nvSpPr>
        <p:spPr>
          <a:xfrm>
            <a:off x="470916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34" name="Shape 32"/>
          <p:cNvSpPr/>
          <p:nvPr/>
        </p:nvSpPr>
        <p:spPr>
          <a:xfrm>
            <a:off x="4709160" y="1581912"/>
            <a:ext cx="228600" cy="292608"/>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470916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34"/>
          <p:cNvSpPr/>
          <p:nvPr/>
        </p:nvSpPr>
        <p:spPr>
          <a:xfrm>
            <a:off x="4983480" y="160020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médicale ou visite médicale</a:t>
            </a:r>
            <a:endParaRPr lang="en-US" sz="880" dirty="0"/>
          </a:p>
        </p:txBody>
      </p:sp>
      <p:sp>
        <p:nvSpPr>
          <p:cNvPr id="37" name="Shape 35"/>
          <p:cNvSpPr/>
          <p:nvPr/>
        </p:nvSpPr>
        <p:spPr>
          <a:xfrm>
            <a:off x="470916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38" name="Shape 36"/>
          <p:cNvSpPr/>
          <p:nvPr/>
        </p:nvSpPr>
        <p:spPr>
          <a:xfrm>
            <a:off x="4709160" y="1911096"/>
            <a:ext cx="228600" cy="292608"/>
          </a:xfrm>
          <a:prstGeom prst="rect">
            <a:avLst/>
          </a:prstGeom>
          <a:solidFill>
            <a:srgbClr val="1A3A5C"/>
          </a:solidFill>
          <a:ln w="12700">
            <a:solidFill>
              <a:srgbClr val="1A3A5C"/>
            </a:solidFill>
            <a:prstDash val="solid"/>
          </a:ln>
        </p:spPr>
        <p:txBody>
          <a:bodyPr/>
          <a:lstStyle/>
          <a:p>
            <a:endParaRPr lang="fr-FR"/>
          </a:p>
        </p:txBody>
      </p:sp>
      <p:sp>
        <p:nvSpPr>
          <p:cNvPr id="39" name="Text 37"/>
          <p:cNvSpPr/>
          <p:nvPr/>
        </p:nvSpPr>
        <p:spPr>
          <a:xfrm>
            <a:off x="470916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38"/>
          <p:cNvSpPr/>
          <p:nvPr/>
        </p:nvSpPr>
        <p:spPr>
          <a:xfrm>
            <a:off x="4983480" y="192938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Billet individuel ou collectif ou carnet de bord (sauf taxi)</a:t>
            </a:r>
            <a:endParaRPr lang="en-US" sz="880" dirty="0"/>
          </a:p>
        </p:txBody>
      </p:sp>
      <p:sp>
        <p:nvSpPr>
          <p:cNvPr id="41" name="Shape 39"/>
          <p:cNvSpPr/>
          <p:nvPr/>
        </p:nvSpPr>
        <p:spPr>
          <a:xfrm>
            <a:off x="470916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42" name="Shape 40"/>
          <p:cNvSpPr/>
          <p:nvPr/>
        </p:nvSpPr>
        <p:spPr>
          <a:xfrm>
            <a:off x="4709160" y="2240280"/>
            <a:ext cx="228600" cy="292608"/>
          </a:xfrm>
          <a:prstGeom prst="rect">
            <a:avLst/>
          </a:prstGeom>
          <a:solidFill>
            <a:srgbClr val="1A3A5C"/>
          </a:solidFill>
          <a:ln w="12700">
            <a:solidFill>
              <a:srgbClr val="1A3A5C"/>
            </a:solidFill>
            <a:prstDash val="solid"/>
          </a:ln>
        </p:spPr>
        <p:txBody>
          <a:bodyPr/>
          <a:lstStyle/>
          <a:p>
            <a:endParaRPr lang="fr-FR"/>
          </a:p>
        </p:txBody>
      </p:sp>
      <p:sp>
        <p:nvSpPr>
          <p:cNvPr id="43" name="Text 41"/>
          <p:cNvSpPr/>
          <p:nvPr/>
        </p:nvSpPr>
        <p:spPr>
          <a:xfrm>
            <a:off x="470916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42"/>
          <p:cNvSpPr/>
          <p:nvPr/>
        </p:nvSpPr>
        <p:spPr>
          <a:xfrm>
            <a:off x="4983480" y="2258568"/>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Licence (ADS ou inscription au registre)</a:t>
            </a:r>
            <a:endParaRPr lang="en-US" sz="880" dirty="0"/>
          </a:p>
        </p:txBody>
      </p:sp>
      <p:sp>
        <p:nvSpPr>
          <p:cNvPr id="45" name="Shape 43"/>
          <p:cNvSpPr/>
          <p:nvPr/>
        </p:nvSpPr>
        <p:spPr>
          <a:xfrm>
            <a:off x="4709160" y="2569464"/>
            <a:ext cx="4160520" cy="292608"/>
          </a:xfrm>
          <a:prstGeom prst="rect">
            <a:avLst/>
          </a:prstGeom>
          <a:solidFill>
            <a:srgbClr val="E8F1FA"/>
          </a:solidFill>
          <a:ln w="6350">
            <a:solidFill>
              <a:srgbClr val="D0DCE8"/>
            </a:solidFill>
            <a:prstDash val="solid"/>
          </a:ln>
        </p:spPr>
        <p:txBody>
          <a:bodyPr/>
          <a:lstStyle/>
          <a:p>
            <a:endParaRPr lang="fr-FR"/>
          </a:p>
        </p:txBody>
      </p:sp>
      <p:sp>
        <p:nvSpPr>
          <p:cNvPr id="46" name="Shape 44"/>
          <p:cNvSpPr/>
          <p:nvPr/>
        </p:nvSpPr>
        <p:spPr>
          <a:xfrm>
            <a:off x="4709160" y="2569464"/>
            <a:ext cx="228600" cy="292608"/>
          </a:xfrm>
          <a:prstGeom prst="rect">
            <a:avLst/>
          </a:prstGeom>
          <a:solidFill>
            <a:srgbClr val="1A3A5C"/>
          </a:solidFill>
          <a:ln w="12700">
            <a:solidFill>
              <a:srgbClr val="1A3A5C"/>
            </a:solidFill>
            <a:prstDash val="solid"/>
          </a:ln>
        </p:spPr>
        <p:txBody>
          <a:bodyPr/>
          <a:lstStyle/>
          <a:p>
            <a:endParaRPr lang="fr-FR"/>
          </a:p>
        </p:txBody>
      </p:sp>
      <p:sp>
        <p:nvSpPr>
          <p:cNvPr id="47" name="Text 45"/>
          <p:cNvSpPr/>
          <p:nvPr/>
        </p:nvSpPr>
        <p:spPr>
          <a:xfrm>
            <a:off x="4709160" y="2569464"/>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8" name="Text 46"/>
          <p:cNvSpPr/>
          <p:nvPr/>
        </p:nvSpPr>
        <p:spPr>
          <a:xfrm>
            <a:off x="4983480" y="2587752"/>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Pour salariés : contrat de travail + DPAE</a:t>
            </a:r>
            <a:endParaRPr lang="en-US" sz="880" dirty="0"/>
          </a:p>
        </p:txBody>
      </p:sp>
      <p:sp>
        <p:nvSpPr>
          <p:cNvPr id="49" name="Shape 47"/>
          <p:cNvSpPr/>
          <p:nvPr/>
        </p:nvSpPr>
        <p:spPr>
          <a:xfrm>
            <a:off x="4709160" y="2898648"/>
            <a:ext cx="4160520" cy="292608"/>
          </a:xfrm>
          <a:prstGeom prst="rect">
            <a:avLst/>
          </a:prstGeom>
          <a:solidFill>
            <a:srgbClr val="FFFFFF"/>
          </a:solidFill>
          <a:ln w="6350">
            <a:solidFill>
              <a:srgbClr val="D0DCE8"/>
            </a:solidFill>
            <a:prstDash val="solid"/>
          </a:ln>
        </p:spPr>
        <p:txBody>
          <a:bodyPr/>
          <a:lstStyle/>
          <a:p>
            <a:endParaRPr lang="fr-FR"/>
          </a:p>
        </p:txBody>
      </p:sp>
      <p:sp>
        <p:nvSpPr>
          <p:cNvPr id="50" name="Shape 48"/>
          <p:cNvSpPr/>
          <p:nvPr/>
        </p:nvSpPr>
        <p:spPr>
          <a:xfrm>
            <a:off x="4709160" y="2898648"/>
            <a:ext cx="228600" cy="292608"/>
          </a:xfrm>
          <a:prstGeom prst="rect">
            <a:avLst/>
          </a:prstGeom>
          <a:solidFill>
            <a:srgbClr val="1A3A5C"/>
          </a:solidFill>
          <a:ln w="12700">
            <a:solidFill>
              <a:srgbClr val="1A3A5C"/>
            </a:solidFill>
            <a:prstDash val="solid"/>
          </a:ln>
        </p:spPr>
        <p:txBody>
          <a:bodyPr/>
          <a:lstStyle/>
          <a:p>
            <a:endParaRPr lang="fr-FR"/>
          </a:p>
        </p:txBody>
      </p:sp>
      <p:sp>
        <p:nvSpPr>
          <p:cNvPr id="51" name="Text 49"/>
          <p:cNvSpPr/>
          <p:nvPr/>
        </p:nvSpPr>
        <p:spPr>
          <a:xfrm>
            <a:off x="4709160" y="289864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2" name="Text 50"/>
          <p:cNvSpPr/>
          <p:nvPr/>
        </p:nvSpPr>
        <p:spPr>
          <a:xfrm>
            <a:off x="4983480" y="291693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de notes concernant les tarifs</a:t>
            </a:r>
            <a:endParaRPr lang="en-US" sz="880" dirty="0"/>
          </a:p>
        </p:txBody>
      </p:sp>
      <p:sp>
        <p:nvSpPr>
          <p:cNvPr id="53" name="Shape 51"/>
          <p:cNvSpPr/>
          <p:nvPr/>
        </p:nvSpPr>
        <p:spPr>
          <a:xfrm>
            <a:off x="4709160" y="3227832"/>
            <a:ext cx="4160520" cy="292608"/>
          </a:xfrm>
          <a:prstGeom prst="rect">
            <a:avLst/>
          </a:prstGeom>
          <a:solidFill>
            <a:srgbClr val="E8F1FA"/>
          </a:solidFill>
          <a:ln w="6350">
            <a:solidFill>
              <a:srgbClr val="D0DCE8"/>
            </a:solidFill>
            <a:prstDash val="solid"/>
          </a:ln>
        </p:spPr>
        <p:txBody>
          <a:bodyPr/>
          <a:lstStyle/>
          <a:p>
            <a:endParaRPr lang="fr-FR"/>
          </a:p>
        </p:txBody>
      </p:sp>
      <p:sp>
        <p:nvSpPr>
          <p:cNvPr id="54" name="Shape 52"/>
          <p:cNvSpPr/>
          <p:nvPr/>
        </p:nvSpPr>
        <p:spPr>
          <a:xfrm>
            <a:off x="4709160" y="3227832"/>
            <a:ext cx="228600" cy="292608"/>
          </a:xfrm>
          <a:prstGeom prst="rect">
            <a:avLst/>
          </a:prstGeom>
          <a:solidFill>
            <a:srgbClr val="1A3A5C"/>
          </a:solidFill>
          <a:ln w="12700">
            <a:solidFill>
              <a:srgbClr val="1A3A5C"/>
            </a:solidFill>
            <a:prstDash val="solid"/>
          </a:ln>
        </p:spPr>
        <p:txBody>
          <a:bodyPr/>
          <a:lstStyle/>
          <a:p>
            <a:endParaRPr lang="fr-FR"/>
          </a:p>
        </p:txBody>
      </p:sp>
      <p:sp>
        <p:nvSpPr>
          <p:cNvPr id="55" name="Text 53"/>
          <p:cNvSpPr/>
          <p:nvPr/>
        </p:nvSpPr>
        <p:spPr>
          <a:xfrm>
            <a:off x="4709160" y="322783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6" name="Text 54"/>
          <p:cNvSpPr/>
          <p:nvPr/>
        </p:nvSpPr>
        <p:spPr>
          <a:xfrm>
            <a:off x="4983480" y="324612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métrologique taximètre (taxi)</a:t>
            </a:r>
            <a:endParaRPr lang="en-US" sz="880" dirty="0"/>
          </a:p>
        </p:txBody>
      </p:sp>
      <p:sp>
        <p:nvSpPr>
          <p:cNvPr id="57" name="Shape 55"/>
          <p:cNvSpPr/>
          <p:nvPr/>
        </p:nvSpPr>
        <p:spPr>
          <a:xfrm>
            <a:off x="4709160" y="3557016"/>
            <a:ext cx="4160520" cy="292608"/>
          </a:xfrm>
          <a:prstGeom prst="rect">
            <a:avLst/>
          </a:prstGeom>
          <a:solidFill>
            <a:srgbClr val="FFFFFF"/>
          </a:solidFill>
          <a:ln w="6350">
            <a:solidFill>
              <a:srgbClr val="D0DCE8"/>
            </a:solidFill>
            <a:prstDash val="solid"/>
          </a:ln>
        </p:spPr>
        <p:txBody>
          <a:bodyPr/>
          <a:lstStyle/>
          <a:p>
            <a:endParaRPr lang="fr-FR"/>
          </a:p>
        </p:txBody>
      </p:sp>
      <p:sp>
        <p:nvSpPr>
          <p:cNvPr id="58" name="Shape 56"/>
          <p:cNvSpPr/>
          <p:nvPr/>
        </p:nvSpPr>
        <p:spPr>
          <a:xfrm>
            <a:off x="4709160" y="3557016"/>
            <a:ext cx="228600" cy="292608"/>
          </a:xfrm>
          <a:prstGeom prst="rect">
            <a:avLst/>
          </a:prstGeom>
          <a:solidFill>
            <a:srgbClr val="1A3A5C"/>
          </a:solidFill>
          <a:ln w="12700">
            <a:solidFill>
              <a:srgbClr val="1A3A5C"/>
            </a:solidFill>
            <a:prstDash val="solid"/>
          </a:ln>
        </p:spPr>
        <p:txBody>
          <a:bodyPr/>
          <a:lstStyle/>
          <a:p>
            <a:endParaRPr lang="fr-FR"/>
          </a:p>
        </p:txBody>
      </p:sp>
      <p:sp>
        <p:nvSpPr>
          <p:cNvPr id="59" name="Text 57"/>
          <p:cNvSpPr/>
          <p:nvPr/>
        </p:nvSpPr>
        <p:spPr>
          <a:xfrm>
            <a:off x="4709160" y="355701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60" name="Text 58"/>
          <p:cNvSpPr/>
          <p:nvPr/>
        </p:nvSpPr>
        <p:spPr>
          <a:xfrm>
            <a:off x="4983480" y="357530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de formation continue</a:t>
            </a:r>
            <a:endParaRPr lang="en-US" sz="880" dirty="0"/>
          </a:p>
        </p:txBody>
      </p:sp>
      <p:sp>
        <p:nvSpPr>
          <p:cNvPr id="61" name="Shape 59"/>
          <p:cNvSpPr/>
          <p:nvPr/>
        </p:nvSpPr>
        <p:spPr>
          <a:xfrm>
            <a:off x="274320" y="3950208"/>
            <a:ext cx="8595360" cy="274320"/>
          </a:xfrm>
          <a:prstGeom prst="rect">
            <a:avLst/>
          </a:prstGeom>
          <a:solidFill>
            <a:srgbClr val="6B7A8D"/>
          </a:solidFill>
          <a:ln w="12700">
            <a:solidFill>
              <a:srgbClr val="6B7A8D"/>
            </a:solidFill>
            <a:prstDash val="solid"/>
          </a:ln>
        </p:spPr>
        <p:txBody>
          <a:bodyPr/>
          <a:lstStyle/>
          <a:p>
            <a:endParaRPr lang="fr-FR"/>
          </a:p>
        </p:txBody>
      </p:sp>
      <p:sp>
        <p:nvSpPr>
          <p:cNvPr id="62" name="Text 60"/>
          <p:cNvSpPr/>
          <p:nvPr/>
        </p:nvSpPr>
        <p:spPr>
          <a:xfrm>
            <a:off x="274320" y="395020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CARTE PROFESSIONNELLE — CONDITIONS DE DÉLIVRANCE</a:t>
            </a:r>
            <a:endParaRPr lang="en-US" sz="1000" dirty="0"/>
          </a:p>
        </p:txBody>
      </p:sp>
      <p:sp>
        <p:nvSpPr>
          <p:cNvPr id="63" name="Shape 61"/>
          <p:cNvSpPr/>
          <p:nvPr/>
        </p:nvSpPr>
        <p:spPr>
          <a:xfrm>
            <a:off x="27432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4" name="Shape 62"/>
          <p:cNvSpPr/>
          <p:nvPr/>
        </p:nvSpPr>
        <p:spPr>
          <a:xfrm>
            <a:off x="274320" y="4279392"/>
            <a:ext cx="2724912" cy="237744"/>
          </a:xfrm>
          <a:prstGeom prst="rect">
            <a:avLst/>
          </a:prstGeom>
          <a:solidFill>
            <a:srgbClr val="2860A8"/>
          </a:solidFill>
          <a:ln w="12700">
            <a:solidFill>
              <a:srgbClr val="2860A8"/>
            </a:solidFill>
            <a:prstDash val="solid"/>
          </a:ln>
        </p:spPr>
        <p:txBody>
          <a:bodyPr/>
          <a:lstStyle/>
          <a:p>
            <a:endParaRPr lang="fr-FR"/>
          </a:p>
        </p:txBody>
      </p:sp>
      <p:sp>
        <p:nvSpPr>
          <p:cNvPr id="65" name="Text 63"/>
          <p:cNvSpPr/>
          <p:nvPr/>
        </p:nvSpPr>
        <p:spPr>
          <a:xfrm>
            <a:off x="34747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Permis hors période probatoire</a:t>
            </a:r>
            <a:endParaRPr lang="en-US" sz="900" dirty="0"/>
          </a:p>
        </p:txBody>
      </p:sp>
      <p:sp>
        <p:nvSpPr>
          <p:cNvPr id="66" name="Text 64"/>
          <p:cNvSpPr/>
          <p:nvPr/>
        </p:nvSpPr>
        <p:spPr>
          <a:xfrm>
            <a:off x="36576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Titulaire d'un permis B (taxi/VTC) ou A 3 ans (VMDTR), hors période probatoire.</a:t>
            </a:r>
            <a:endParaRPr lang="en-US" sz="880" dirty="0"/>
          </a:p>
        </p:txBody>
      </p:sp>
      <p:sp>
        <p:nvSpPr>
          <p:cNvPr id="67" name="Shape 65"/>
          <p:cNvSpPr/>
          <p:nvPr/>
        </p:nvSpPr>
        <p:spPr>
          <a:xfrm>
            <a:off x="315468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8" name="Shape 66"/>
          <p:cNvSpPr/>
          <p:nvPr/>
        </p:nvSpPr>
        <p:spPr>
          <a:xfrm>
            <a:off x="3154680" y="4279392"/>
            <a:ext cx="2724912" cy="237744"/>
          </a:xfrm>
          <a:prstGeom prst="rect">
            <a:avLst/>
          </a:prstGeom>
          <a:solidFill>
            <a:srgbClr val="F4A227"/>
          </a:solidFill>
          <a:ln w="12700">
            <a:solidFill>
              <a:srgbClr val="F4A227"/>
            </a:solidFill>
            <a:prstDash val="solid"/>
          </a:ln>
        </p:spPr>
        <p:txBody>
          <a:bodyPr/>
          <a:lstStyle/>
          <a:p>
            <a:endParaRPr lang="fr-FR"/>
          </a:p>
        </p:txBody>
      </p:sp>
      <p:sp>
        <p:nvSpPr>
          <p:cNvPr id="69" name="Text 67"/>
          <p:cNvSpPr/>
          <p:nvPr/>
        </p:nvSpPr>
        <p:spPr>
          <a:xfrm>
            <a:off x="322783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Aptitude professionnelle</a:t>
            </a:r>
            <a:endParaRPr lang="en-US" sz="900" dirty="0"/>
          </a:p>
        </p:txBody>
      </p:sp>
      <p:sp>
        <p:nvSpPr>
          <p:cNvPr id="70" name="Text 68"/>
          <p:cNvSpPr/>
          <p:nvPr/>
        </p:nvSpPr>
        <p:spPr>
          <a:xfrm>
            <a:off x="324612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Examen réussi OU expérience pro de 12 mois minimum dans les 10 ans précédant la demande.</a:t>
            </a:r>
            <a:endParaRPr lang="en-US" sz="880" dirty="0"/>
          </a:p>
        </p:txBody>
      </p:sp>
      <p:sp>
        <p:nvSpPr>
          <p:cNvPr id="71" name="Shape 69"/>
          <p:cNvSpPr/>
          <p:nvPr/>
        </p:nvSpPr>
        <p:spPr>
          <a:xfrm>
            <a:off x="603504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72" name="Shape 70"/>
          <p:cNvSpPr/>
          <p:nvPr/>
        </p:nvSpPr>
        <p:spPr>
          <a:xfrm>
            <a:off x="6035040" y="4279392"/>
            <a:ext cx="2724912" cy="237744"/>
          </a:xfrm>
          <a:prstGeom prst="rect">
            <a:avLst/>
          </a:prstGeom>
          <a:solidFill>
            <a:srgbClr val="6B7A8D"/>
          </a:solidFill>
          <a:ln w="12700">
            <a:solidFill>
              <a:srgbClr val="6B7A8D"/>
            </a:solidFill>
            <a:prstDash val="solid"/>
          </a:ln>
        </p:spPr>
        <p:txBody>
          <a:bodyPr/>
          <a:lstStyle/>
          <a:p>
            <a:endParaRPr lang="fr-FR"/>
          </a:p>
        </p:txBody>
      </p:sp>
      <p:sp>
        <p:nvSpPr>
          <p:cNvPr id="73" name="Text 71"/>
          <p:cNvSpPr/>
          <p:nvPr/>
        </p:nvSpPr>
        <p:spPr>
          <a:xfrm>
            <a:off x="610819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Honorabilité professionnelle</a:t>
            </a:r>
            <a:endParaRPr lang="en-US" sz="900" dirty="0"/>
          </a:p>
        </p:txBody>
      </p:sp>
      <p:sp>
        <p:nvSpPr>
          <p:cNvPr id="74" name="Text 72"/>
          <p:cNvSpPr/>
          <p:nvPr/>
        </p:nvSpPr>
        <p:spPr>
          <a:xfrm>
            <a:off x="612648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Casier judiciaire B2 vierge des mentions incompatibles avec l'exercice du T3P.</a:t>
            </a:r>
            <a:endParaRPr lang="en-US" sz="880" dirty="0"/>
          </a:p>
        </p:txBody>
      </p:sp>
      <p:sp>
        <p:nvSpPr>
          <p:cNvPr id="75" name="Shape 73"/>
          <p:cNvSpPr/>
          <p:nvPr/>
        </p:nvSpPr>
        <p:spPr>
          <a:xfrm>
            <a:off x="274320" y="5248656"/>
            <a:ext cx="8595360" cy="256032"/>
          </a:xfrm>
          <a:prstGeom prst="rect">
            <a:avLst/>
          </a:prstGeom>
          <a:solidFill>
            <a:srgbClr val="EDF7EE"/>
          </a:solidFill>
          <a:ln w="19050">
            <a:solidFill>
              <a:srgbClr val="2E7D32"/>
            </a:solidFill>
            <a:prstDash val="solid"/>
          </a:ln>
        </p:spPr>
        <p:txBody>
          <a:bodyPr/>
          <a:lstStyle/>
          <a:p>
            <a:endParaRPr lang="fr-FR"/>
          </a:p>
        </p:txBody>
      </p:sp>
      <p:sp>
        <p:nvSpPr>
          <p:cNvPr id="76" name="Shape 74"/>
          <p:cNvSpPr/>
          <p:nvPr/>
        </p:nvSpPr>
        <p:spPr>
          <a:xfrm>
            <a:off x="274320" y="5248656"/>
            <a:ext cx="54864" cy="256032"/>
          </a:xfrm>
          <a:prstGeom prst="rect">
            <a:avLst/>
          </a:prstGeom>
          <a:solidFill>
            <a:srgbClr val="2E7D32"/>
          </a:solidFill>
          <a:ln w="12700">
            <a:solidFill>
              <a:srgbClr val="2E7D32"/>
            </a:solidFill>
            <a:prstDash val="solid"/>
          </a:ln>
        </p:spPr>
        <p:txBody>
          <a:bodyPr/>
          <a:lstStyle/>
          <a:p>
            <a:endParaRPr lang="fr-FR"/>
          </a:p>
        </p:txBody>
      </p:sp>
      <p:sp>
        <p:nvSpPr>
          <p:cNvPr id="77" name="Text 75"/>
          <p:cNvSpPr/>
          <p:nvPr/>
        </p:nvSpPr>
        <p:spPr>
          <a:xfrm>
            <a:off x="384048" y="5248656"/>
            <a:ext cx="8467344"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Délai maximum de délivrance : 3 mois. La carte doit être apposée sur le pare-brise (côté photo visible de l'extérieur). Restitution obligatoire à la cessation d'activité.</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Perte des 6 points du permis et casier judiciaire B2</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111-112</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C0392B"/>
          </a:solidFill>
          <a:ln w="12700">
            <a:solidFill>
              <a:srgbClr val="C0392B"/>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PERTE DE 6 POINTS SUR LE PERMIS DE CONDUIRE</a:t>
            </a:r>
            <a:endParaRPr lang="en-US" sz="1000" dirty="0"/>
          </a:p>
        </p:txBody>
      </p:sp>
      <p:sp>
        <p:nvSpPr>
          <p:cNvPr id="11" name="Shape 9"/>
          <p:cNvSpPr/>
          <p:nvPr/>
        </p:nvSpPr>
        <p:spPr>
          <a:xfrm>
            <a:off x="274320" y="1261872"/>
            <a:ext cx="4160520" cy="237744"/>
          </a:xfrm>
          <a:prstGeom prst="rect">
            <a:avLst/>
          </a:prstGeom>
          <a:solidFill>
            <a:srgbClr val="F4A227"/>
          </a:solidFill>
          <a:ln w="12700">
            <a:solidFill>
              <a:srgbClr val="F4A227"/>
            </a:solidFill>
            <a:prstDash val="solid"/>
          </a:ln>
        </p:spPr>
        <p:txBody>
          <a:bodyPr/>
          <a:lstStyle/>
          <a:p>
            <a:endParaRPr lang="fr-FR"/>
          </a:p>
        </p:txBody>
      </p:sp>
      <p:sp>
        <p:nvSpPr>
          <p:cNvPr id="12" name="Text 10"/>
          <p:cNvSpPr/>
          <p:nvPr/>
        </p:nvSpPr>
        <p:spPr>
          <a:xfrm>
            <a:off x="274320" y="1261872"/>
            <a:ext cx="4160520" cy="237744"/>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CONTRAVENTIONS — 6 pts retirés</a:t>
            </a:r>
            <a:endParaRPr lang="en-US" sz="900" dirty="0"/>
          </a:p>
        </p:txBody>
      </p:sp>
      <p:sp>
        <p:nvSpPr>
          <p:cNvPr id="13" name="Shape 11"/>
          <p:cNvSpPr/>
          <p:nvPr/>
        </p:nvSpPr>
        <p:spPr>
          <a:xfrm>
            <a:off x="274320" y="1536192"/>
            <a:ext cx="4160520" cy="274320"/>
          </a:xfrm>
          <a:prstGeom prst="rect">
            <a:avLst/>
          </a:prstGeom>
          <a:solidFill>
            <a:srgbClr val="E8F1FA"/>
          </a:solidFill>
          <a:ln w="6350">
            <a:solidFill>
              <a:srgbClr val="D0DCE8"/>
            </a:solidFill>
            <a:prstDash val="solid"/>
          </a:ln>
        </p:spPr>
        <p:txBody>
          <a:bodyPr/>
          <a:lstStyle/>
          <a:p>
            <a:endParaRPr lang="fr-FR"/>
          </a:p>
        </p:txBody>
      </p:sp>
      <p:sp>
        <p:nvSpPr>
          <p:cNvPr id="14" name="Text 12"/>
          <p:cNvSpPr/>
          <p:nvPr/>
        </p:nvSpPr>
        <p:spPr>
          <a:xfrm>
            <a:off x="384048" y="1554480"/>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Alcool 0,25 à 0,4 mg/litre d'air expiré (0,5 à 0,8 g/l de sang)</a:t>
            </a:r>
            <a:endParaRPr lang="en-US" sz="850" dirty="0"/>
          </a:p>
        </p:txBody>
      </p:sp>
      <p:sp>
        <p:nvSpPr>
          <p:cNvPr id="15" name="Shape 13"/>
          <p:cNvSpPr/>
          <p:nvPr/>
        </p:nvSpPr>
        <p:spPr>
          <a:xfrm>
            <a:off x="274320" y="1847088"/>
            <a:ext cx="4160520" cy="274320"/>
          </a:xfrm>
          <a:prstGeom prst="rect">
            <a:avLst/>
          </a:prstGeom>
          <a:solidFill>
            <a:srgbClr val="FFFFFF"/>
          </a:solidFill>
          <a:ln w="6350">
            <a:solidFill>
              <a:srgbClr val="D0DCE8"/>
            </a:solidFill>
            <a:prstDash val="solid"/>
          </a:ln>
        </p:spPr>
        <p:txBody>
          <a:bodyPr/>
          <a:lstStyle/>
          <a:p>
            <a:endParaRPr lang="fr-FR"/>
          </a:p>
        </p:txBody>
      </p:sp>
      <p:sp>
        <p:nvSpPr>
          <p:cNvPr id="16" name="Text 14"/>
          <p:cNvSpPr/>
          <p:nvPr/>
        </p:nvSpPr>
        <p:spPr>
          <a:xfrm>
            <a:off x="384048" y="1865376"/>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Excès de vitesse &gt; 50 km/h (radar auto ou mobile)</a:t>
            </a:r>
            <a:endParaRPr lang="en-US" sz="850" dirty="0"/>
          </a:p>
        </p:txBody>
      </p:sp>
      <p:sp>
        <p:nvSpPr>
          <p:cNvPr id="17" name="Shape 15"/>
          <p:cNvSpPr/>
          <p:nvPr/>
        </p:nvSpPr>
        <p:spPr>
          <a:xfrm>
            <a:off x="274320" y="2157984"/>
            <a:ext cx="4160520" cy="274320"/>
          </a:xfrm>
          <a:prstGeom prst="rect">
            <a:avLst/>
          </a:prstGeom>
          <a:solidFill>
            <a:srgbClr val="E8F1FA"/>
          </a:solidFill>
          <a:ln w="6350">
            <a:solidFill>
              <a:srgbClr val="D0DCE8"/>
            </a:solidFill>
            <a:prstDash val="solid"/>
          </a:ln>
        </p:spPr>
        <p:txBody>
          <a:bodyPr/>
          <a:lstStyle/>
          <a:p>
            <a:endParaRPr lang="fr-FR"/>
          </a:p>
        </p:txBody>
      </p:sp>
      <p:sp>
        <p:nvSpPr>
          <p:cNvPr id="18" name="Text 16"/>
          <p:cNvSpPr/>
          <p:nvPr/>
        </p:nvSpPr>
        <p:spPr>
          <a:xfrm>
            <a:off x="384048" y="2176272"/>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Utilisation d'un détecteur de radar ou avertisseur antiradars</a:t>
            </a:r>
            <a:endParaRPr lang="en-US" sz="850" dirty="0"/>
          </a:p>
        </p:txBody>
      </p:sp>
      <p:sp>
        <p:nvSpPr>
          <p:cNvPr id="19" name="Shape 17"/>
          <p:cNvSpPr/>
          <p:nvPr/>
        </p:nvSpPr>
        <p:spPr>
          <a:xfrm>
            <a:off x="4709160" y="1261872"/>
            <a:ext cx="4160520" cy="237744"/>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709160" y="1261872"/>
            <a:ext cx="4160520" cy="237744"/>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DÉLITS — 6 pts retirés</a:t>
            </a:r>
            <a:endParaRPr lang="en-US" sz="900" dirty="0"/>
          </a:p>
        </p:txBody>
      </p:sp>
      <p:sp>
        <p:nvSpPr>
          <p:cNvPr id="21" name="Shape 19"/>
          <p:cNvSpPr/>
          <p:nvPr/>
        </p:nvSpPr>
        <p:spPr>
          <a:xfrm>
            <a:off x="4709160" y="1536192"/>
            <a:ext cx="4160520" cy="237744"/>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4818888" y="1554480"/>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Alcool ≥ 0,40 mg/litre d'air expiré (≥ 0,8 g/l de sang)</a:t>
            </a:r>
            <a:endParaRPr lang="en-US" sz="800" dirty="0"/>
          </a:p>
        </p:txBody>
      </p:sp>
      <p:sp>
        <p:nvSpPr>
          <p:cNvPr id="23" name="Shape 21"/>
          <p:cNvSpPr/>
          <p:nvPr/>
        </p:nvSpPr>
        <p:spPr>
          <a:xfrm>
            <a:off x="4709160" y="1801368"/>
            <a:ext cx="4160520" cy="237744"/>
          </a:xfrm>
          <a:prstGeom prst="rect">
            <a:avLst/>
          </a:prstGeom>
          <a:solidFill>
            <a:srgbClr val="FFFFFF"/>
          </a:solidFill>
          <a:ln w="6350">
            <a:solidFill>
              <a:srgbClr val="D0DCE8"/>
            </a:solidFill>
            <a:prstDash val="solid"/>
          </a:ln>
        </p:spPr>
        <p:txBody>
          <a:bodyPr/>
          <a:lstStyle/>
          <a:p>
            <a:endParaRPr lang="fr-FR"/>
          </a:p>
        </p:txBody>
      </p:sp>
      <p:sp>
        <p:nvSpPr>
          <p:cNvPr id="24" name="Text 22"/>
          <p:cNvSpPr/>
          <p:nvPr/>
        </p:nvSpPr>
        <p:spPr>
          <a:xfrm>
            <a:off x="4818888" y="1819656"/>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en état d'ivresse manifeste</a:t>
            </a:r>
            <a:endParaRPr lang="en-US" sz="800" dirty="0"/>
          </a:p>
        </p:txBody>
      </p:sp>
      <p:sp>
        <p:nvSpPr>
          <p:cNvPr id="25" name="Shape 23"/>
          <p:cNvSpPr/>
          <p:nvPr/>
        </p:nvSpPr>
        <p:spPr>
          <a:xfrm>
            <a:off x="4709160" y="2066544"/>
            <a:ext cx="4160520" cy="237744"/>
          </a:xfrm>
          <a:prstGeom prst="rect">
            <a:avLst/>
          </a:prstGeom>
          <a:solidFill>
            <a:srgbClr val="E8F1FA"/>
          </a:solidFill>
          <a:ln w="6350">
            <a:solidFill>
              <a:srgbClr val="D0DCE8"/>
            </a:solidFill>
            <a:prstDash val="solid"/>
          </a:ln>
        </p:spPr>
        <p:txBody>
          <a:bodyPr/>
          <a:lstStyle/>
          <a:p>
            <a:endParaRPr lang="fr-FR"/>
          </a:p>
        </p:txBody>
      </p:sp>
      <p:sp>
        <p:nvSpPr>
          <p:cNvPr id="26" name="Text 24"/>
          <p:cNvSpPr/>
          <p:nvPr/>
        </p:nvSpPr>
        <p:spPr>
          <a:xfrm>
            <a:off x="4818888" y="2084832"/>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après consommation de stupéfiants</a:t>
            </a:r>
            <a:endParaRPr lang="en-US" sz="800" dirty="0"/>
          </a:p>
        </p:txBody>
      </p:sp>
      <p:sp>
        <p:nvSpPr>
          <p:cNvPr id="27" name="Shape 25"/>
          <p:cNvSpPr/>
          <p:nvPr/>
        </p:nvSpPr>
        <p:spPr>
          <a:xfrm>
            <a:off x="4709160" y="2331720"/>
            <a:ext cx="4160520" cy="237744"/>
          </a:xfrm>
          <a:prstGeom prst="rect">
            <a:avLst/>
          </a:prstGeom>
          <a:solidFill>
            <a:srgbClr val="FFFFFF"/>
          </a:solidFill>
          <a:ln w="6350">
            <a:solidFill>
              <a:srgbClr val="D0DCE8"/>
            </a:solidFill>
            <a:prstDash val="solid"/>
          </a:ln>
        </p:spPr>
        <p:txBody>
          <a:bodyPr/>
          <a:lstStyle/>
          <a:p>
            <a:endParaRPr lang="fr-FR"/>
          </a:p>
        </p:txBody>
      </p:sp>
      <p:sp>
        <p:nvSpPr>
          <p:cNvPr id="28" name="Text 26"/>
          <p:cNvSpPr/>
          <p:nvPr/>
        </p:nvSpPr>
        <p:spPr>
          <a:xfrm>
            <a:off x="4818888" y="2350008"/>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de se soumettre aux tests (alcool ou stupéfiants)</a:t>
            </a:r>
            <a:endParaRPr lang="en-US" sz="800" dirty="0"/>
          </a:p>
        </p:txBody>
      </p:sp>
      <p:sp>
        <p:nvSpPr>
          <p:cNvPr id="29" name="Shape 27"/>
          <p:cNvSpPr/>
          <p:nvPr/>
        </p:nvSpPr>
        <p:spPr>
          <a:xfrm>
            <a:off x="4709160" y="2596896"/>
            <a:ext cx="4160520" cy="237744"/>
          </a:xfrm>
          <a:prstGeom prst="rect">
            <a:avLst/>
          </a:prstGeom>
          <a:solidFill>
            <a:srgbClr val="E8F1FA"/>
          </a:solidFill>
          <a:ln w="6350">
            <a:solidFill>
              <a:srgbClr val="D0DCE8"/>
            </a:solidFill>
            <a:prstDash val="solid"/>
          </a:ln>
        </p:spPr>
        <p:txBody>
          <a:bodyPr/>
          <a:lstStyle/>
          <a:p>
            <a:endParaRPr lang="fr-FR"/>
          </a:p>
        </p:txBody>
      </p:sp>
      <p:sp>
        <p:nvSpPr>
          <p:cNvPr id="30" name="Text 28"/>
          <p:cNvSpPr/>
          <p:nvPr/>
        </p:nvSpPr>
        <p:spPr>
          <a:xfrm>
            <a:off x="4818888" y="2615184"/>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Homicide ou blessures involontaires (incapacité de travail)</a:t>
            </a:r>
            <a:endParaRPr lang="en-US" sz="800" dirty="0"/>
          </a:p>
        </p:txBody>
      </p:sp>
      <p:sp>
        <p:nvSpPr>
          <p:cNvPr id="31" name="Shape 29"/>
          <p:cNvSpPr/>
          <p:nvPr/>
        </p:nvSpPr>
        <p:spPr>
          <a:xfrm>
            <a:off x="4709160" y="2862072"/>
            <a:ext cx="4160520" cy="237744"/>
          </a:xfrm>
          <a:prstGeom prst="rect">
            <a:avLst/>
          </a:prstGeom>
          <a:solidFill>
            <a:srgbClr val="FFFFFF"/>
          </a:solidFill>
          <a:ln w="6350">
            <a:solidFill>
              <a:srgbClr val="D0DCE8"/>
            </a:solidFill>
            <a:prstDash val="solid"/>
          </a:ln>
        </p:spPr>
        <p:txBody>
          <a:bodyPr/>
          <a:lstStyle/>
          <a:p>
            <a:endParaRPr lang="fr-FR"/>
          </a:p>
        </p:txBody>
      </p:sp>
      <p:sp>
        <p:nvSpPr>
          <p:cNvPr id="32" name="Text 30"/>
          <p:cNvSpPr/>
          <p:nvPr/>
        </p:nvSpPr>
        <p:spPr>
          <a:xfrm>
            <a:off x="4818888" y="2880360"/>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Délit de fuite</a:t>
            </a:r>
            <a:endParaRPr lang="en-US" sz="800" dirty="0"/>
          </a:p>
        </p:txBody>
      </p:sp>
      <p:sp>
        <p:nvSpPr>
          <p:cNvPr id="33" name="Shape 31"/>
          <p:cNvSpPr/>
          <p:nvPr/>
        </p:nvSpPr>
        <p:spPr>
          <a:xfrm>
            <a:off x="4709160" y="3127248"/>
            <a:ext cx="4160520" cy="237744"/>
          </a:xfrm>
          <a:prstGeom prst="rect">
            <a:avLst/>
          </a:prstGeom>
          <a:solidFill>
            <a:srgbClr val="E8F1FA"/>
          </a:solidFill>
          <a:ln w="6350">
            <a:solidFill>
              <a:srgbClr val="D0DCE8"/>
            </a:solidFill>
            <a:prstDash val="solid"/>
          </a:ln>
        </p:spPr>
        <p:txBody>
          <a:bodyPr/>
          <a:lstStyle/>
          <a:p>
            <a:endParaRPr lang="fr-FR"/>
          </a:p>
        </p:txBody>
      </p:sp>
      <p:sp>
        <p:nvSpPr>
          <p:cNvPr id="34" name="Text 32"/>
          <p:cNvSpPr/>
          <p:nvPr/>
        </p:nvSpPr>
        <p:spPr>
          <a:xfrm>
            <a:off x="4818888" y="3145536"/>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d'obtempérer ou de s'immobiliser</a:t>
            </a:r>
            <a:endParaRPr lang="en-US" sz="800" dirty="0"/>
          </a:p>
        </p:txBody>
      </p:sp>
      <p:sp>
        <p:nvSpPr>
          <p:cNvPr id="35" name="Shape 33"/>
          <p:cNvSpPr/>
          <p:nvPr/>
        </p:nvSpPr>
        <p:spPr>
          <a:xfrm>
            <a:off x="4709160" y="3392424"/>
            <a:ext cx="4160520" cy="237744"/>
          </a:xfrm>
          <a:prstGeom prst="rect">
            <a:avLst/>
          </a:prstGeom>
          <a:solidFill>
            <a:srgbClr val="FFFFFF"/>
          </a:solidFill>
          <a:ln w="6350">
            <a:solidFill>
              <a:srgbClr val="D0DCE8"/>
            </a:solidFill>
            <a:prstDash val="solid"/>
          </a:ln>
        </p:spPr>
        <p:txBody>
          <a:bodyPr/>
          <a:lstStyle/>
          <a:p>
            <a:endParaRPr lang="fr-FR"/>
          </a:p>
        </p:txBody>
      </p:sp>
      <p:sp>
        <p:nvSpPr>
          <p:cNvPr id="36" name="Text 34"/>
          <p:cNvSpPr/>
          <p:nvPr/>
        </p:nvSpPr>
        <p:spPr>
          <a:xfrm>
            <a:off x="4818888" y="3410712"/>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Gêne ou entrave à la circulation</a:t>
            </a:r>
            <a:endParaRPr lang="en-US" sz="800" dirty="0"/>
          </a:p>
        </p:txBody>
      </p:sp>
      <p:sp>
        <p:nvSpPr>
          <p:cNvPr id="37" name="Shape 35"/>
          <p:cNvSpPr/>
          <p:nvPr/>
        </p:nvSpPr>
        <p:spPr>
          <a:xfrm>
            <a:off x="4709160" y="3657600"/>
            <a:ext cx="4160520" cy="237744"/>
          </a:xfrm>
          <a:prstGeom prst="rect">
            <a:avLst/>
          </a:prstGeom>
          <a:solidFill>
            <a:srgbClr val="E8F1FA"/>
          </a:solidFill>
          <a:ln w="6350">
            <a:solidFill>
              <a:srgbClr val="D0DCE8"/>
            </a:solidFill>
            <a:prstDash val="solid"/>
          </a:ln>
        </p:spPr>
        <p:txBody>
          <a:bodyPr/>
          <a:lstStyle/>
          <a:p>
            <a:endParaRPr lang="fr-FR"/>
          </a:p>
        </p:txBody>
      </p:sp>
      <p:sp>
        <p:nvSpPr>
          <p:cNvPr id="38" name="Text 36"/>
          <p:cNvSpPr/>
          <p:nvPr/>
        </p:nvSpPr>
        <p:spPr>
          <a:xfrm>
            <a:off x="4818888" y="3675888"/>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Usage volontaire de fausses plaques d'immatriculation</a:t>
            </a:r>
            <a:endParaRPr lang="en-US" sz="800" dirty="0"/>
          </a:p>
        </p:txBody>
      </p:sp>
      <p:sp>
        <p:nvSpPr>
          <p:cNvPr id="39" name="Shape 37"/>
          <p:cNvSpPr/>
          <p:nvPr/>
        </p:nvSpPr>
        <p:spPr>
          <a:xfrm>
            <a:off x="4709160" y="3922776"/>
            <a:ext cx="4160520" cy="237744"/>
          </a:xfrm>
          <a:prstGeom prst="rect">
            <a:avLst/>
          </a:prstGeom>
          <a:solidFill>
            <a:srgbClr val="FFFFFF"/>
          </a:solidFill>
          <a:ln w="6350">
            <a:solidFill>
              <a:srgbClr val="D0DCE8"/>
            </a:solidFill>
            <a:prstDash val="solid"/>
          </a:ln>
        </p:spPr>
        <p:txBody>
          <a:bodyPr/>
          <a:lstStyle/>
          <a:p>
            <a:endParaRPr lang="fr-FR"/>
          </a:p>
        </p:txBody>
      </p:sp>
      <p:sp>
        <p:nvSpPr>
          <p:cNvPr id="40" name="Text 38"/>
          <p:cNvSpPr/>
          <p:nvPr/>
        </p:nvSpPr>
        <p:spPr>
          <a:xfrm>
            <a:off x="4818888" y="3941064"/>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malgré retrait/suspension/annulation de permis</a:t>
            </a:r>
            <a:endParaRPr lang="en-US" sz="800" dirty="0"/>
          </a:p>
        </p:txBody>
      </p:sp>
      <p:sp>
        <p:nvSpPr>
          <p:cNvPr id="41" name="Shape 39"/>
          <p:cNvSpPr/>
          <p:nvPr/>
        </p:nvSpPr>
        <p:spPr>
          <a:xfrm>
            <a:off x="274320" y="4206240"/>
            <a:ext cx="8595360" cy="256032"/>
          </a:xfrm>
          <a:prstGeom prst="rect">
            <a:avLst/>
          </a:prstGeom>
          <a:solidFill>
            <a:srgbClr val="1A3A5C"/>
          </a:solidFill>
          <a:ln w="12700">
            <a:solidFill>
              <a:srgbClr val="1A3A5C"/>
            </a:solidFill>
            <a:prstDash val="solid"/>
          </a:ln>
        </p:spPr>
        <p:txBody>
          <a:bodyPr/>
          <a:lstStyle/>
          <a:p>
            <a:endParaRPr lang="fr-FR"/>
          </a:p>
        </p:txBody>
      </p:sp>
      <p:sp>
        <p:nvSpPr>
          <p:cNvPr id="42" name="Text 40"/>
          <p:cNvSpPr/>
          <p:nvPr/>
        </p:nvSpPr>
        <p:spPr>
          <a:xfrm>
            <a:off x="274320" y="4206240"/>
            <a:ext cx="859536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MENTIONS DU B2 INCOMPATIBLES AVEC L'EXERCICE DU T3P — 3 CONDAMNATIONS DÉFINITIVES</a:t>
            </a:r>
            <a:endParaRPr lang="en-US" sz="900" dirty="0"/>
          </a:p>
        </p:txBody>
      </p:sp>
      <p:sp>
        <p:nvSpPr>
          <p:cNvPr id="43" name="Shape 41"/>
          <p:cNvSpPr/>
          <p:nvPr/>
        </p:nvSpPr>
        <p:spPr>
          <a:xfrm>
            <a:off x="27432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4" name="Shape 42"/>
          <p:cNvSpPr/>
          <p:nvPr/>
        </p:nvSpPr>
        <p:spPr>
          <a:xfrm>
            <a:off x="274320" y="4517136"/>
            <a:ext cx="2724912" cy="219456"/>
          </a:xfrm>
          <a:prstGeom prst="rect">
            <a:avLst/>
          </a:prstGeom>
          <a:solidFill>
            <a:srgbClr val="C0392B"/>
          </a:solidFill>
          <a:ln w="12700">
            <a:solidFill>
              <a:srgbClr val="C0392B"/>
            </a:solidFill>
            <a:prstDash val="solid"/>
          </a:ln>
        </p:spPr>
        <p:txBody>
          <a:bodyPr/>
          <a:lstStyle/>
          <a:p>
            <a:endParaRPr lang="fr-FR"/>
          </a:p>
        </p:txBody>
      </p:sp>
      <p:sp>
        <p:nvSpPr>
          <p:cNvPr id="45" name="Text 43"/>
          <p:cNvSpPr/>
          <p:nvPr/>
        </p:nvSpPr>
        <p:spPr>
          <a:xfrm>
            <a:off x="34747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Délit permis (retrait 6 pts)</a:t>
            </a:r>
            <a:endParaRPr lang="en-US" sz="820" dirty="0"/>
          </a:p>
        </p:txBody>
      </p:sp>
      <p:sp>
        <p:nvSpPr>
          <p:cNvPr id="46" name="Text 44"/>
          <p:cNvSpPr/>
          <p:nvPr/>
        </p:nvSpPr>
        <p:spPr>
          <a:xfrm>
            <a:off x="36576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Condamnation définitive pour un délit du Code de la route donnant lieu à une réduction de la moitié du nombre maximal de points du permis.</a:t>
            </a:r>
            <a:endParaRPr lang="en-US" sz="780" dirty="0"/>
          </a:p>
        </p:txBody>
      </p:sp>
      <p:sp>
        <p:nvSpPr>
          <p:cNvPr id="47" name="Shape 45"/>
          <p:cNvSpPr/>
          <p:nvPr/>
        </p:nvSpPr>
        <p:spPr>
          <a:xfrm>
            <a:off x="315468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8" name="Shape 46"/>
          <p:cNvSpPr/>
          <p:nvPr/>
        </p:nvSpPr>
        <p:spPr>
          <a:xfrm>
            <a:off x="3154680" y="4517136"/>
            <a:ext cx="2724912" cy="219456"/>
          </a:xfrm>
          <a:prstGeom prst="rect">
            <a:avLst/>
          </a:prstGeom>
          <a:solidFill>
            <a:srgbClr val="F4A227"/>
          </a:solidFill>
          <a:ln w="12700">
            <a:solidFill>
              <a:srgbClr val="F4A227"/>
            </a:solidFill>
            <a:prstDash val="solid"/>
          </a:ln>
        </p:spPr>
        <p:txBody>
          <a:bodyPr/>
          <a:lstStyle/>
          <a:p>
            <a:endParaRPr lang="fr-FR"/>
          </a:p>
        </p:txBody>
      </p:sp>
      <p:sp>
        <p:nvSpPr>
          <p:cNvPr id="49" name="Text 47"/>
          <p:cNvSpPr/>
          <p:nvPr/>
        </p:nvSpPr>
        <p:spPr>
          <a:xfrm>
            <a:off x="322783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Peine criminelle ou correctionnelle ≥ 6 mois</a:t>
            </a:r>
            <a:endParaRPr lang="en-US" sz="820" dirty="0"/>
          </a:p>
        </p:txBody>
      </p:sp>
      <p:sp>
        <p:nvSpPr>
          <p:cNvPr id="50" name="Text 48"/>
          <p:cNvSpPr/>
          <p:nvPr/>
        </p:nvSpPr>
        <p:spPr>
          <a:xfrm>
            <a:off x="324612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Vol, escroquerie, abus de confiance, atteinte à l'intégrité, agression sexuelle, trafic d'armes, extorsion, stupéfiants.</a:t>
            </a:r>
            <a:endParaRPr lang="en-US" sz="780" dirty="0"/>
          </a:p>
        </p:txBody>
      </p:sp>
      <p:sp>
        <p:nvSpPr>
          <p:cNvPr id="51" name="Shape 49"/>
          <p:cNvSpPr/>
          <p:nvPr/>
        </p:nvSpPr>
        <p:spPr>
          <a:xfrm>
            <a:off x="603504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52" name="Shape 50"/>
          <p:cNvSpPr/>
          <p:nvPr/>
        </p:nvSpPr>
        <p:spPr>
          <a:xfrm>
            <a:off x="6035040" y="4517136"/>
            <a:ext cx="2724912" cy="219456"/>
          </a:xfrm>
          <a:prstGeom prst="rect">
            <a:avLst/>
          </a:prstGeom>
          <a:solidFill>
            <a:srgbClr val="1A3A5C"/>
          </a:solidFill>
          <a:ln w="12700">
            <a:solidFill>
              <a:srgbClr val="1A3A5C"/>
            </a:solidFill>
            <a:prstDash val="solid"/>
          </a:ln>
        </p:spPr>
        <p:txBody>
          <a:bodyPr/>
          <a:lstStyle/>
          <a:p>
            <a:endParaRPr lang="fr-FR"/>
          </a:p>
        </p:txBody>
      </p:sp>
      <p:sp>
        <p:nvSpPr>
          <p:cNvPr id="53" name="Text 51"/>
          <p:cNvSpPr/>
          <p:nvPr/>
        </p:nvSpPr>
        <p:spPr>
          <a:xfrm>
            <a:off x="610819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Conduite sans permis / malgré annulation</a:t>
            </a:r>
            <a:endParaRPr lang="en-US" sz="820" dirty="0"/>
          </a:p>
        </p:txBody>
      </p:sp>
      <p:sp>
        <p:nvSpPr>
          <p:cNvPr id="54" name="Text 52"/>
          <p:cNvSpPr/>
          <p:nvPr/>
        </p:nvSpPr>
        <p:spPr>
          <a:xfrm>
            <a:off x="612648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Conduite sans permis, malgré l'annulation, l'interdiction d'obtenir le permis, ou refus de restitution après invalidation.</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7952</Words>
  <Application>Microsoft Office PowerPoint</Application>
  <PresentationFormat>Affichage à l'écran (16:9)</PresentationFormat>
  <Paragraphs>1153</Paragraphs>
  <Slides>50</Slides>
  <Notes>50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50</vt:i4>
      </vt:variant>
    </vt:vector>
  </HeadingPairs>
  <TitlesOfParts>
    <vt:vector size="53"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Réglementation T3P — FTRANSPORT</dc:title>
  <dc:subject>PptxGenJS Presentation</dc:subject>
  <dc:creator>PptxGenJS</dc:creator>
  <cp:lastModifiedBy>naoufal guenichi</cp:lastModifiedBy>
  <cp:revision>1</cp:revision>
  <dcterms:created xsi:type="dcterms:W3CDTF">2026-02-22T21:39:09Z</dcterms:created>
  <dcterms:modified xsi:type="dcterms:W3CDTF">2026-02-23T21:46:54Z</dcterms:modified>
</cp:coreProperties>
</file>