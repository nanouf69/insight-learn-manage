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7" r:id="rId3"/>
    <p:sldId id="258" r:id="rId4"/>
    <p:sldId id="259" r:id="rId5"/>
    <p:sldId id="1008" r:id="rId6"/>
    <p:sldId id="260" r:id="rId7"/>
    <p:sldId id="261" r:id="rId8"/>
    <p:sldId id="262" r:id="rId9"/>
    <p:sldId id="264" r:id="rId10"/>
    <p:sldId id="265" r:id="rId11"/>
    <p:sldId id="267" r:id="rId12"/>
    <p:sldId id="268" r:id="rId13"/>
    <p:sldId id="269" r:id="rId14"/>
    <p:sldId id="270" r:id="rId15"/>
    <p:sldId id="271" r:id="rId16"/>
    <p:sldId id="1007" r:id="rId17"/>
    <p:sldId id="273"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4" r:id="rId36"/>
    <p:sldId id="295" r:id="rId37"/>
    <p:sldId id="296" r:id="rId38"/>
    <p:sldId id="297" r:id="rId39"/>
    <p:sldId id="298" r:id="rId40"/>
    <p:sldId id="1001" r:id="rId41"/>
    <p:sldId id="1002" r:id="rId42"/>
    <p:sldId id="1004" r:id="rId43"/>
    <p:sldId id="1003" r:id="rId44"/>
    <p:sldId id="306" r:id="rId45"/>
    <p:sldId id="307" r:id="rId46"/>
    <p:sldId id="1006" r:id="rId47"/>
    <p:sldId id="1005" r:id="rId48"/>
    <p:sldId id="301" r:id="rId49"/>
    <p:sldId id="302" r:id="rId50"/>
    <p:sldId id="303" r:id="rId51"/>
    <p:sldId id="304" r:id="rId52"/>
    <p:sldId id="305" r:id="rId5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C1FC8C-9F58-4FC3-8F70-6276525106FE}" v="3" dt="2026-09-14T09:33:46.4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oufal guenichi" userId="858fd4b3-0f44-4d07-ab42-9c2b2bf873b3" providerId="ADAL" clId="{5ADB1776-59AF-4A69-8422-CB66C8AF09C6}"/>
    <pc:docChg chg="undo redo custSel delSld modSld">
      <pc:chgData name="naoufal guenichi" userId="858fd4b3-0f44-4d07-ab42-9c2b2bf873b3" providerId="ADAL" clId="{5ADB1776-59AF-4A69-8422-CB66C8AF09C6}" dt="2026-09-14T09:34:24.337" v="354" actId="20577"/>
      <pc:docMkLst>
        <pc:docMk/>
      </pc:docMkLst>
      <pc:sldChg chg="modSp mod">
        <pc:chgData name="naoufal guenichi" userId="858fd4b3-0f44-4d07-ab42-9c2b2bf873b3" providerId="ADAL" clId="{5ADB1776-59AF-4A69-8422-CB66C8AF09C6}" dt="2026-09-14T08:34:24.913" v="297" actId="20577"/>
        <pc:sldMkLst>
          <pc:docMk/>
          <pc:sldMk cId="0" sldId="279"/>
        </pc:sldMkLst>
        <pc:spChg chg="mod">
          <ac:chgData name="naoufal guenichi" userId="858fd4b3-0f44-4d07-ab42-9c2b2bf873b3" providerId="ADAL" clId="{5ADB1776-59AF-4A69-8422-CB66C8AF09C6}" dt="2026-09-14T08:34:24.913" v="297" actId="20577"/>
          <ac:spMkLst>
            <pc:docMk/>
            <pc:sldMk cId="0" sldId="279"/>
            <ac:spMk id="22" creationId="{00000000-0000-0000-0000-000000000000}"/>
          </ac:spMkLst>
        </pc:spChg>
      </pc:sldChg>
      <pc:sldChg chg="modSp mod">
        <pc:chgData name="naoufal guenichi" userId="858fd4b3-0f44-4d07-ab42-9c2b2bf873b3" providerId="ADAL" clId="{5ADB1776-59AF-4A69-8422-CB66C8AF09C6}" dt="2026-09-14T08:35:09.171" v="300"/>
        <pc:sldMkLst>
          <pc:docMk/>
          <pc:sldMk cId="0" sldId="282"/>
        </pc:sldMkLst>
        <pc:spChg chg="mod">
          <ac:chgData name="naoufal guenichi" userId="858fd4b3-0f44-4d07-ab42-9c2b2bf873b3" providerId="ADAL" clId="{5ADB1776-59AF-4A69-8422-CB66C8AF09C6}" dt="2026-09-14T08:35:09.171" v="300"/>
          <ac:spMkLst>
            <pc:docMk/>
            <pc:sldMk cId="0" sldId="282"/>
            <ac:spMk id="17" creationId="{00000000-0000-0000-0000-000000000000}"/>
          </ac:spMkLst>
        </pc:spChg>
      </pc:sldChg>
      <pc:sldChg chg="modSp mod">
        <pc:chgData name="naoufal guenichi" userId="858fd4b3-0f44-4d07-ab42-9c2b2bf873b3" providerId="ADAL" clId="{5ADB1776-59AF-4A69-8422-CB66C8AF09C6}" dt="2026-09-14T09:34:24.337" v="354" actId="20577"/>
        <pc:sldMkLst>
          <pc:docMk/>
          <pc:sldMk cId="0" sldId="287"/>
        </pc:sldMkLst>
        <pc:spChg chg="mod">
          <ac:chgData name="naoufal guenichi" userId="858fd4b3-0f44-4d07-ab42-9c2b2bf873b3" providerId="ADAL" clId="{5ADB1776-59AF-4A69-8422-CB66C8AF09C6}" dt="2026-09-14T09:34:24.337" v="354" actId="20577"/>
          <ac:spMkLst>
            <pc:docMk/>
            <pc:sldMk cId="0" sldId="287"/>
            <ac:spMk id="20" creationId="{00000000-0000-0000-0000-000000000000}"/>
          </ac:spMkLst>
        </pc:spChg>
      </pc:sldChg>
      <pc:sldChg chg="modSp mod">
        <pc:chgData name="naoufal guenichi" userId="858fd4b3-0f44-4d07-ab42-9c2b2bf873b3" providerId="ADAL" clId="{5ADB1776-59AF-4A69-8422-CB66C8AF09C6}" dt="2026-09-14T08:35:26.887" v="304" actId="20577"/>
        <pc:sldMkLst>
          <pc:docMk/>
          <pc:sldMk cId="0" sldId="289"/>
        </pc:sldMkLst>
        <pc:graphicFrameChg chg="modGraphic">
          <ac:chgData name="naoufal guenichi" userId="858fd4b3-0f44-4d07-ab42-9c2b2bf873b3" providerId="ADAL" clId="{5ADB1776-59AF-4A69-8422-CB66C8AF09C6}" dt="2026-09-14T08:35:26.887" v="304" actId="20577"/>
          <ac:graphicFrameMkLst>
            <pc:docMk/>
            <pc:sldMk cId="0" sldId="289"/>
            <ac:graphicFrameMk id="45" creationId="{00000000-0000-0000-0000-000000000000}"/>
          </ac:graphicFrameMkLst>
        </pc:graphicFrameChg>
      </pc:sldChg>
      <pc:sldChg chg="modSp mod">
        <pc:chgData name="naoufal guenichi" userId="858fd4b3-0f44-4d07-ab42-9c2b2bf873b3" providerId="ADAL" clId="{5ADB1776-59AF-4A69-8422-CB66C8AF09C6}" dt="2026-09-14T09:18:21.656" v="307" actId="20577"/>
        <pc:sldMkLst>
          <pc:docMk/>
          <pc:sldMk cId="0" sldId="291"/>
        </pc:sldMkLst>
        <pc:spChg chg="mod">
          <ac:chgData name="naoufal guenichi" userId="858fd4b3-0f44-4d07-ab42-9c2b2bf873b3" providerId="ADAL" clId="{5ADB1776-59AF-4A69-8422-CB66C8AF09C6}" dt="2026-09-14T09:18:09.533" v="306" actId="20577"/>
          <ac:spMkLst>
            <pc:docMk/>
            <pc:sldMk cId="0" sldId="291"/>
            <ac:spMk id="13" creationId="{00000000-0000-0000-0000-000000000000}"/>
          </ac:spMkLst>
        </pc:spChg>
        <pc:spChg chg="mod">
          <ac:chgData name="naoufal guenichi" userId="858fd4b3-0f44-4d07-ab42-9c2b2bf873b3" providerId="ADAL" clId="{5ADB1776-59AF-4A69-8422-CB66C8AF09C6}" dt="2026-09-14T09:18:21.656" v="307" actId="20577"/>
          <ac:spMkLst>
            <pc:docMk/>
            <pc:sldMk cId="0" sldId="291"/>
            <ac:spMk id="25" creationId="{00000000-0000-0000-0000-000000000000}"/>
          </ac:spMkLst>
        </pc:spChg>
      </pc:sldChg>
      <pc:sldChg chg="modSp mod">
        <pc:chgData name="naoufal guenichi" userId="858fd4b3-0f44-4d07-ab42-9c2b2bf873b3" providerId="ADAL" clId="{5ADB1776-59AF-4A69-8422-CB66C8AF09C6}" dt="2026-09-14T09:33:51.935" v="353" actId="20577"/>
        <pc:sldMkLst>
          <pc:docMk/>
          <pc:sldMk cId="0" sldId="304"/>
        </pc:sldMkLst>
        <pc:spChg chg="mod">
          <ac:chgData name="naoufal guenichi" userId="858fd4b3-0f44-4d07-ab42-9c2b2bf873b3" providerId="ADAL" clId="{5ADB1776-59AF-4A69-8422-CB66C8AF09C6}" dt="2026-09-14T09:33:51.935" v="353" actId="20577"/>
          <ac:spMkLst>
            <pc:docMk/>
            <pc:sldMk cId="0" sldId="304"/>
            <ac:spMk id="7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773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65760" y="0"/>
            <a:ext cx="109728" cy="514350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731520" y="502920"/>
            <a:ext cx="8229600" cy="2834640"/>
          </a:xfrm>
          <a:prstGeom prst="rect">
            <a:avLst/>
          </a:prstGeom>
          <a:noFill/>
          <a:ln/>
        </p:spPr>
        <p:txBody>
          <a:bodyPr wrap="square" rtlCol="0" anchor="ctr"/>
          <a:lstStyle/>
          <a:p>
            <a:pPr marL="0" indent="0">
              <a:lnSpc>
                <a:spcPct val="115000"/>
              </a:lnSpc>
              <a:buNone/>
            </a:pPr>
            <a:r>
              <a:rPr lang="en-US" sz="2800" b="1" kern="0" spc="100" dirty="0">
                <a:solidFill>
                  <a:srgbClr val="FFFFFF"/>
                </a:solidFill>
                <a:latin typeface="Calibri" pitchFamily="34" charset="0"/>
                <a:ea typeface="Calibri" pitchFamily="34" charset="-122"/>
                <a:cs typeface="Calibri" pitchFamily="34" charset="-120"/>
              </a:rPr>
              <a:t>RÉGLEMENTATION DU</a:t>
            </a:r>
            <a:endParaRPr lang="en-US" sz="2800" dirty="0"/>
          </a:p>
          <a:p>
            <a:pPr marL="0" indent="0">
              <a:lnSpc>
                <a:spcPct val="115000"/>
              </a:lnSpc>
              <a:buNone/>
            </a:pPr>
            <a:r>
              <a:rPr lang="en-US" sz="2800" b="1" kern="0" spc="100" dirty="0">
                <a:solidFill>
                  <a:srgbClr val="FFFFFF"/>
                </a:solidFill>
                <a:latin typeface="Calibri" pitchFamily="34" charset="0"/>
                <a:ea typeface="Calibri" pitchFamily="34" charset="-122"/>
                <a:cs typeface="Calibri" pitchFamily="34" charset="-120"/>
              </a:rPr>
              <a:t>TRANSPORT PUBLIC</a:t>
            </a:r>
            <a:endParaRPr lang="en-US" sz="2800" dirty="0"/>
          </a:p>
          <a:p>
            <a:pPr marL="0" indent="0">
              <a:lnSpc>
                <a:spcPct val="115000"/>
              </a:lnSpc>
              <a:buNone/>
            </a:pPr>
            <a:r>
              <a:rPr lang="en-US" sz="2800" b="1" kern="0" spc="100" dirty="0">
                <a:solidFill>
                  <a:srgbClr val="FFFFFF"/>
                </a:solidFill>
                <a:latin typeface="Calibri" pitchFamily="34" charset="0"/>
                <a:ea typeface="Calibri" pitchFamily="34" charset="-122"/>
                <a:cs typeface="Calibri" pitchFamily="34" charset="-120"/>
              </a:rPr>
              <a:t>PARTICULIER DE PERSONNES</a:t>
            </a:r>
            <a:endParaRPr lang="en-US" sz="2800" dirty="0"/>
          </a:p>
          <a:p>
            <a:pPr marL="0" indent="0">
              <a:lnSpc>
                <a:spcPct val="115000"/>
              </a:lnSpc>
              <a:buNone/>
            </a:pPr>
            <a:r>
              <a:rPr lang="en-US" sz="2800" b="1" kern="0" spc="100" dirty="0">
                <a:solidFill>
                  <a:srgbClr val="FFFFFF"/>
                </a:solidFill>
                <a:latin typeface="Calibri" pitchFamily="34" charset="0"/>
                <a:ea typeface="Calibri" pitchFamily="34" charset="-122"/>
                <a:cs typeface="Calibri" pitchFamily="34" charset="-120"/>
              </a:rPr>
              <a:t>et prévention des discriminations</a:t>
            </a:r>
            <a:endParaRPr lang="en-US" sz="2800" dirty="0"/>
          </a:p>
          <a:p>
            <a:pPr marL="0" indent="0">
              <a:lnSpc>
                <a:spcPct val="115000"/>
              </a:lnSpc>
              <a:buNone/>
            </a:pPr>
            <a:r>
              <a:rPr lang="en-US" sz="2800" b="1" kern="0" spc="100" dirty="0">
                <a:solidFill>
                  <a:srgbClr val="FFFFFF"/>
                </a:solidFill>
                <a:latin typeface="Calibri" pitchFamily="34" charset="0"/>
                <a:ea typeface="Calibri" pitchFamily="34" charset="-122"/>
                <a:cs typeface="Calibri" pitchFamily="34" charset="-120"/>
              </a:rPr>
              <a:t>et des violences sexuelles et sexistes</a:t>
            </a:r>
            <a:endParaRPr lang="en-US" sz="2800" dirty="0"/>
          </a:p>
        </p:txBody>
      </p:sp>
      <p:sp>
        <p:nvSpPr>
          <p:cNvPr id="5" name="Text 3"/>
          <p:cNvSpPr/>
          <p:nvPr/>
        </p:nvSpPr>
        <p:spPr>
          <a:xfrm>
            <a:off x="731520" y="3401568"/>
            <a:ext cx="8229600" cy="320040"/>
          </a:xfrm>
          <a:prstGeom prst="rect">
            <a:avLst/>
          </a:prstGeom>
          <a:noFill/>
          <a:ln/>
        </p:spPr>
        <p:txBody>
          <a:bodyPr wrap="square" rtlCol="0" anchor="ctr"/>
          <a:lstStyle/>
          <a:p>
            <a:pPr marL="0" indent="0">
              <a:buNone/>
            </a:pPr>
            <a:r>
              <a:rPr lang="en-US" sz="1100" i="1" dirty="0">
                <a:solidFill>
                  <a:srgbClr val="8AB4D4"/>
                </a:solidFill>
                <a:latin typeface="Calibri" pitchFamily="34" charset="0"/>
                <a:ea typeface="Calibri" pitchFamily="34" charset="-122"/>
                <a:cs typeface="Calibri" pitchFamily="34" charset="-120"/>
              </a:rPr>
              <a:t>Arrêté du 20 mars 2024 — En vigueur depuis le 1ᵉʳ avril 2024</a:t>
            </a:r>
            <a:endParaRPr lang="en-US" sz="1100" dirty="0"/>
          </a:p>
        </p:txBody>
      </p:sp>
      <p:sp>
        <p:nvSpPr>
          <p:cNvPr id="6" name="Shape 4"/>
          <p:cNvSpPr/>
          <p:nvPr/>
        </p:nvSpPr>
        <p:spPr>
          <a:xfrm>
            <a:off x="731520" y="3931920"/>
            <a:ext cx="4114800" cy="621792"/>
          </a:xfrm>
          <a:prstGeom prst="rect">
            <a:avLst/>
          </a:prstGeom>
          <a:solidFill>
            <a:srgbClr val="1A3A5C"/>
          </a:solidFill>
          <a:ln w="12700">
            <a:solidFill>
              <a:srgbClr val="00B4D8"/>
            </a:solidFill>
            <a:prstDash val="solid"/>
          </a:ln>
        </p:spPr>
        <p:txBody>
          <a:bodyPr/>
          <a:lstStyle/>
          <a:p>
            <a:endParaRPr lang="fr-FR"/>
          </a:p>
        </p:txBody>
      </p:sp>
      <p:sp>
        <p:nvSpPr>
          <p:cNvPr id="7" name="Text 5"/>
          <p:cNvSpPr/>
          <p:nvPr/>
        </p:nvSpPr>
        <p:spPr>
          <a:xfrm>
            <a:off x="731520" y="3931920"/>
            <a:ext cx="4114800" cy="62179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FTRANSPORT - SERVICES PRO</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Formation certifiée Qualiopi  •  Éligible CPF  •  Lyon</a:t>
            </a:r>
            <a:endParaRPr lang="en-US" sz="1000" dirty="0"/>
          </a:p>
        </p:txBody>
      </p:sp>
      <p:sp>
        <p:nvSpPr>
          <p:cNvPr id="8" name="Text 6"/>
          <p:cNvSpPr/>
          <p:nvPr/>
        </p:nvSpPr>
        <p:spPr>
          <a:xfrm>
            <a:off x="8321040" y="4846320"/>
            <a:ext cx="731520" cy="228600"/>
          </a:xfrm>
          <a:prstGeom prst="rect">
            <a:avLst/>
          </a:prstGeom>
          <a:noFill/>
          <a:ln/>
        </p:spPr>
        <p:txBody>
          <a:bodyPr wrap="square" rtlCol="0" anchor="ctr"/>
          <a:lstStyle/>
          <a:p>
            <a:pPr marL="0" indent="0" algn="r">
              <a:buNone/>
            </a:pPr>
            <a:r>
              <a:rPr lang="en-US" sz="900" dirty="0">
                <a:solidFill>
                  <a:srgbClr val="00B4D8"/>
                </a:solidFill>
                <a:latin typeface="Calibri" pitchFamily="34" charset="0"/>
                <a:ea typeface="Calibri" pitchFamily="34" charset="-122"/>
                <a:cs typeface="Calibri" pitchFamily="34" charset="-120"/>
              </a:rPr>
              <a:t>1/88</a:t>
            </a:r>
            <a:endParaRPr lang="en-US" sz="9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SOMMAIRE — Plan du cours</a:t>
            </a:r>
            <a:endParaRPr lang="en-US" sz="2200" dirty="0"/>
          </a:p>
        </p:txBody>
      </p:sp>
      <p:sp>
        <p:nvSpPr>
          <p:cNvPr id="5" name="Rectangle 4"/>
          <p:cNvSpPr/>
          <p:nvPr/>
        </p:nvSpPr>
        <p:spPr>
          <a:xfrm>
            <a:off x="288000" y="900000"/>
            <a:ext cx="414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4000" y="936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1</a:t>
            </a:r>
          </a:p>
        </p:txBody>
      </p:sp>
      <p:sp>
        <p:nvSpPr>
          <p:cNvPr id="7" name="TextBox 6"/>
          <p:cNvSpPr txBox="1"/>
          <p:nvPr/>
        </p:nvSpPr>
        <p:spPr>
          <a:xfrm>
            <a:off x="936000" y="954000"/>
            <a:ext cx="3420000" cy="288000"/>
          </a:xfrm>
          <a:prstGeom prst="rect">
            <a:avLst/>
          </a:prstGeom>
          <a:noFill/>
        </p:spPr>
        <p:txBody>
          <a:bodyPr wrap="square">
            <a:spAutoFit/>
          </a:bodyPr>
          <a:lstStyle/>
          <a:p>
            <a:r>
              <a:rPr sz="1100">
                <a:solidFill>
                  <a:srgbClr val="3A3A3A"/>
                </a:solidFill>
              </a:rPr>
              <a:t>Transport public ou transport privé ?</a:t>
            </a:r>
          </a:p>
        </p:txBody>
      </p:sp>
      <p:sp>
        <p:nvSpPr>
          <p:cNvPr id="8" name="Rectangle 7"/>
          <p:cNvSpPr/>
          <p:nvPr/>
        </p:nvSpPr>
        <p:spPr>
          <a:xfrm>
            <a:off x="3959999" y="936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3</a:t>
            </a:r>
          </a:p>
        </p:txBody>
      </p:sp>
      <p:sp>
        <p:nvSpPr>
          <p:cNvPr id="9" name="Rectangle 8"/>
          <p:cNvSpPr/>
          <p:nvPr/>
        </p:nvSpPr>
        <p:spPr>
          <a:xfrm>
            <a:off x="288000" y="1368000"/>
            <a:ext cx="414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4000" y="1404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2</a:t>
            </a:r>
          </a:p>
        </p:txBody>
      </p:sp>
      <p:sp>
        <p:nvSpPr>
          <p:cNvPr id="11" name="TextBox 10"/>
          <p:cNvSpPr txBox="1"/>
          <p:nvPr/>
        </p:nvSpPr>
        <p:spPr>
          <a:xfrm>
            <a:off x="936000" y="1422000"/>
            <a:ext cx="3420000" cy="288000"/>
          </a:xfrm>
          <a:prstGeom prst="rect">
            <a:avLst/>
          </a:prstGeom>
          <a:noFill/>
        </p:spPr>
        <p:txBody>
          <a:bodyPr wrap="square">
            <a:spAutoFit/>
          </a:bodyPr>
          <a:lstStyle/>
          <a:p>
            <a:r>
              <a:rPr sz="1100">
                <a:solidFill>
                  <a:srgbClr val="3A3A3A"/>
                </a:solidFill>
              </a:rPr>
              <a:t>Le transport public collectif</a:t>
            </a:r>
          </a:p>
        </p:txBody>
      </p:sp>
      <p:sp>
        <p:nvSpPr>
          <p:cNvPr id="12" name="Rectangle 11"/>
          <p:cNvSpPr/>
          <p:nvPr/>
        </p:nvSpPr>
        <p:spPr>
          <a:xfrm>
            <a:off x="3959999" y="1404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5</a:t>
            </a:r>
          </a:p>
        </p:txBody>
      </p:sp>
      <p:sp>
        <p:nvSpPr>
          <p:cNvPr id="13" name="Rectangle 12"/>
          <p:cNvSpPr/>
          <p:nvPr/>
        </p:nvSpPr>
        <p:spPr>
          <a:xfrm>
            <a:off x="288000" y="1836000"/>
            <a:ext cx="414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4000" y="1872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3</a:t>
            </a:r>
          </a:p>
        </p:txBody>
      </p:sp>
      <p:sp>
        <p:nvSpPr>
          <p:cNvPr id="15" name="TextBox 14"/>
          <p:cNvSpPr txBox="1"/>
          <p:nvPr/>
        </p:nvSpPr>
        <p:spPr>
          <a:xfrm>
            <a:off x="936000" y="1890000"/>
            <a:ext cx="3420000" cy="288000"/>
          </a:xfrm>
          <a:prstGeom prst="rect">
            <a:avLst/>
          </a:prstGeom>
          <a:noFill/>
        </p:spPr>
        <p:txBody>
          <a:bodyPr wrap="square">
            <a:spAutoFit/>
          </a:bodyPr>
          <a:lstStyle/>
          <a:p>
            <a:r>
              <a:rPr sz="1100">
                <a:solidFill>
                  <a:srgbClr val="3A3A3A"/>
                </a:solidFill>
              </a:rPr>
              <a:t>La loi LOTI — Définition du T3P</a:t>
            </a:r>
          </a:p>
        </p:txBody>
      </p:sp>
      <p:sp>
        <p:nvSpPr>
          <p:cNvPr id="16" name="Rectangle 15"/>
          <p:cNvSpPr/>
          <p:nvPr/>
        </p:nvSpPr>
        <p:spPr>
          <a:xfrm>
            <a:off x="3959999" y="1872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12</a:t>
            </a:r>
          </a:p>
        </p:txBody>
      </p:sp>
      <p:sp>
        <p:nvSpPr>
          <p:cNvPr id="17" name="Rectangle 16"/>
          <p:cNvSpPr/>
          <p:nvPr/>
        </p:nvSpPr>
        <p:spPr>
          <a:xfrm>
            <a:off x="288000" y="2304000"/>
            <a:ext cx="414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4000" y="2340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4</a:t>
            </a:r>
          </a:p>
        </p:txBody>
      </p:sp>
      <p:sp>
        <p:nvSpPr>
          <p:cNvPr id="19" name="TextBox 18"/>
          <p:cNvSpPr txBox="1"/>
          <p:nvPr/>
        </p:nvSpPr>
        <p:spPr>
          <a:xfrm>
            <a:off x="936000" y="2358000"/>
            <a:ext cx="3420000" cy="288000"/>
          </a:xfrm>
          <a:prstGeom prst="rect">
            <a:avLst/>
          </a:prstGeom>
          <a:noFill/>
        </p:spPr>
        <p:txBody>
          <a:bodyPr wrap="square">
            <a:spAutoFit/>
          </a:bodyPr>
          <a:lstStyle/>
          <a:p>
            <a:r>
              <a:rPr sz="1100">
                <a:solidFill>
                  <a:srgbClr val="3A3A3A"/>
                </a:solidFill>
              </a:rPr>
              <a:t>Non-inscription aux examens T3P</a:t>
            </a:r>
          </a:p>
        </p:txBody>
      </p:sp>
      <p:sp>
        <p:nvSpPr>
          <p:cNvPr id="20" name="Rectangle 19"/>
          <p:cNvSpPr/>
          <p:nvPr/>
        </p:nvSpPr>
        <p:spPr>
          <a:xfrm>
            <a:off x="3959999" y="2340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14</a:t>
            </a:r>
          </a:p>
        </p:txBody>
      </p:sp>
      <p:sp>
        <p:nvSpPr>
          <p:cNvPr id="21" name="Rectangle 20"/>
          <p:cNvSpPr/>
          <p:nvPr/>
        </p:nvSpPr>
        <p:spPr>
          <a:xfrm>
            <a:off x="288000" y="2772000"/>
            <a:ext cx="414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4000" y="2808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5</a:t>
            </a:r>
          </a:p>
        </p:txBody>
      </p:sp>
      <p:sp>
        <p:nvSpPr>
          <p:cNvPr id="23" name="TextBox 22"/>
          <p:cNvSpPr txBox="1"/>
          <p:nvPr/>
        </p:nvSpPr>
        <p:spPr>
          <a:xfrm>
            <a:off x="936000" y="2826000"/>
            <a:ext cx="3420000" cy="288000"/>
          </a:xfrm>
          <a:prstGeom prst="rect">
            <a:avLst/>
          </a:prstGeom>
          <a:noFill/>
        </p:spPr>
        <p:txBody>
          <a:bodyPr wrap="square">
            <a:spAutoFit/>
          </a:bodyPr>
          <a:lstStyle/>
          <a:p>
            <a:r>
              <a:rPr sz="1100">
                <a:solidFill>
                  <a:srgbClr val="3A3A3A"/>
                </a:solidFill>
              </a:rPr>
              <a:t>Réglementation des Taxis</a:t>
            </a:r>
          </a:p>
        </p:txBody>
      </p:sp>
      <p:sp>
        <p:nvSpPr>
          <p:cNvPr id="24" name="Rectangle 23"/>
          <p:cNvSpPr/>
          <p:nvPr/>
        </p:nvSpPr>
        <p:spPr>
          <a:xfrm>
            <a:off x="3959999" y="2808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16</a:t>
            </a:r>
          </a:p>
        </p:txBody>
      </p:sp>
      <p:sp>
        <p:nvSpPr>
          <p:cNvPr id="25" name="Rectangle 24"/>
          <p:cNvSpPr/>
          <p:nvPr/>
        </p:nvSpPr>
        <p:spPr>
          <a:xfrm>
            <a:off x="4680000" y="900000"/>
            <a:ext cx="378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716000" y="936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6</a:t>
            </a:r>
          </a:p>
        </p:txBody>
      </p:sp>
      <p:sp>
        <p:nvSpPr>
          <p:cNvPr id="27" name="TextBox 26"/>
          <p:cNvSpPr txBox="1"/>
          <p:nvPr/>
        </p:nvSpPr>
        <p:spPr>
          <a:xfrm>
            <a:off x="5328000" y="954000"/>
            <a:ext cx="3420000" cy="288000"/>
          </a:xfrm>
          <a:prstGeom prst="rect">
            <a:avLst/>
          </a:prstGeom>
          <a:noFill/>
        </p:spPr>
        <p:txBody>
          <a:bodyPr wrap="square">
            <a:spAutoFit/>
          </a:bodyPr>
          <a:lstStyle/>
          <a:p>
            <a:r>
              <a:rPr sz="1100">
                <a:solidFill>
                  <a:srgbClr val="3A3A3A"/>
                </a:solidFill>
              </a:rPr>
              <a:t>Réglementation des VTC</a:t>
            </a:r>
          </a:p>
        </p:txBody>
      </p:sp>
      <p:sp>
        <p:nvSpPr>
          <p:cNvPr id="28" name="Rectangle 27"/>
          <p:cNvSpPr/>
          <p:nvPr/>
        </p:nvSpPr>
        <p:spPr>
          <a:xfrm>
            <a:off x="7991999" y="936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25</a:t>
            </a:r>
          </a:p>
        </p:txBody>
      </p:sp>
      <p:sp>
        <p:nvSpPr>
          <p:cNvPr id="29" name="Rectangle 28"/>
          <p:cNvSpPr/>
          <p:nvPr/>
        </p:nvSpPr>
        <p:spPr>
          <a:xfrm>
            <a:off x="4680000" y="1368000"/>
            <a:ext cx="378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716000" y="1404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6b</a:t>
            </a:r>
          </a:p>
        </p:txBody>
      </p:sp>
      <p:sp>
        <p:nvSpPr>
          <p:cNvPr id="31" name="TextBox 30"/>
          <p:cNvSpPr txBox="1"/>
          <p:nvPr/>
        </p:nvSpPr>
        <p:spPr>
          <a:xfrm>
            <a:off x="5328000" y="1422000"/>
            <a:ext cx="3420000" cy="288000"/>
          </a:xfrm>
          <a:prstGeom prst="rect">
            <a:avLst/>
          </a:prstGeom>
          <a:noFill/>
        </p:spPr>
        <p:txBody>
          <a:bodyPr wrap="square">
            <a:spAutoFit/>
          </a:bodyPr>
          <a:lstStyle/>
          <a:p>
            <a:r>
              <a:rPr sz="1100">
                <a:solidFill>
                  <a:srgbClr val="3A3A3A"/>
                </a:solidFill>
              </a:rPr>
              <a:t>Réglementation des VMDTR</a:t>
            </a:r>
          </a:p>
        </p:txBody>
      </p:sp>
      <p:sp>
        <p:nvSpPr>
          <p:cNvPr id="32" name="Rectangle 31"/>
          <p:cNvSpPr/>
          <p:nvPr/>
        </p:nvSpPr>
        <p:spPr>
          <a:xfrm>
            <a:off x="7991999" y="1404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30</a:t>
            </a:r>
          </a:p>
        </p:txBody>
      </p:sp>
      <p:sp>
        <p:nvSpPr>
          <p:cNvPr id="33" name="Rectangle 32"/>
          <p:cNvSpPr/>
          <p:nvPr/>
        </p:nvSpPr>
        <p:spPr>
          <a:xfrm>
            <a:off x="4680000" y="1836000"/>
            <a:ext cx="378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716000" y="1872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7</a:t>
            </a:r>
          </a:p>
        </p:txBody>
      </p:sp>
      <p:sp>
        <p:nvSpPr>
          <p:cNvPr id="35" name="TextBox 34"/>
          <p:cNvSpPr txBox="1"/>
          <p:nvPr/>
        </p:nvSpPr>
        <p:spPr>
          <a:xfrm>
            <a:off x="5328000" y="1890000"/>
            <a:ext cx="3420000" cy="288000"/>
          </a:xfrm>
          <a:prstGeom prst="rect">
            <a:avLst/>
          </a:prstGeom>
          <a:noFill/>
        </p:spPr>
        <p:txBody>
          <a:bodyPr wrap="square">
            <a:spAutoFit/>
          </a:bodyPr>
          <a:lstStyle/>
          <a:p>
            <a:r>
              <a:rPr sz="1100">
                <a:solidFill>
                  <a:srgbClr val="3A3A3A"/>
                </a:solidFill>
              </a:rPr>
              <a:t>Organismes autour du T3P + Centres de formation</a:t>
            </a:r>
          </a:p>
        </p:txBody>
      </p:sp>
      <p:sp>
        <p:nvSpPr>
          <p:cNvPr id="36" name="Rectangle 35"/>
          <p:cNvSpPr/>
          <p:nvPr/>
        </p:nvSpPr>
        <p:spPr>
          <a:xfrm>
            <a:off x="7991999" y="1872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35</a:t>
            </a:r>
          </a:p>
        </p:txBody>
      </p:sp>
      <p:sp>
        <p:nvSpPr>
          <p:cNvPr id="37" name="Rectangle 36"/>
          <p:cNvSpPr/>
          <p:nvPr/>
        </p:nvSpPr>
        <p:spPr>
          <a:xfrm>
            <a:off x="4680000" y="2304000"/>
            <a:ext cx="378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716000" y="2340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8</a:t>
            </a:r>
          </a:p>
        </p:txBody>
      </p:sp>
      <p:sp>
        <p:nvSpPr>
          <p:cNvPr id="39" name="TextBox 38"/>
          <p:cNvSpPr txBox="1"/>
          <p:nvPr/>
        </p:nvSpPr>
        <p:spPr>
          <a:xfrm>
            <a:off x="5328000" y="2358000"/>
            <a:ext cx="3420000" cy="288000"/>
          </a:xfrm>
          <a:prstGeom prst="rect">
            <a:avLst/>
          </a:prstGeom>
          <a:noFill/>
        </p:spPr>
        <p:txBody>
          <a:bodyPr wrap="square">
            <a:spAutoFit/>
          </a:bodyPr>
          <a:lstStyle/>
          <a:p>
            <a:r>
              <a:rPr sz="1100">
                <a:solidFill>
                  <a:srgbClr val="3A3A3A"/>
                </a:solidFill>
              </a:rPr>
              <a:t>Les assurances obligatoires</a:t>
            </a:r>
          </a:p>
        </p:txBody>
      </p:sp>
      <p:sp>
        <p:nvSpPr>
          <p:cNvPr id="40" name="Rectangle 39"/>
          <p:cNvSpPr/>
          <p:nvPr/>
        </p:nvSpPr>
        <p:spPr>
          <a:xfrm>
            <a:off x="7991999" y="2340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39</a:t>
            </a:r>
          </a:p>
        </p:txBody>
      </p:sp>
      <p:sp>
        <p:nvSpPr>
          <p:cNvPr id="41" name="Rectangle 40"/>
          <p:cNvSpPr/>
          <p:nvPr/>
        </p:nvSpPr>
        <p:spPr>
          <a:xfrm>
            <a:off x="4680000" y="2772000"/>
            <a:ext cx="3780000" cy="396000"/>
          </a:xfrm>
          <a:prstGeom prst="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716000" y="2808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rPr>
              <a:t>9</a:t>
            </a:r>
          </a:p>
        </p:txBody>
      </p:sp>
      <p:sp>
        <p:nvSpPr>
          <p:cNvPr id="43" name="TextBox 42"/>
          <p:cNvSpPr txBox="1"/>
          <p:nvPr/>
        </p:nvSpPr>
        <p:spPr>
          <a:xfrm>
            <a:off x="5328000" y="2826000"/>
            <a:ext cx="3420000" cy="288000"/>
          </a:xfrm>
          <a:prstGeom prst="rect">
            <a:avLst/>
          </a:prstGeom>
          <a:noFill/>
        </p:spPr>
        <p:txBody>
          <a:bodyPr wrap="square">
            <a:spAutoFit/>
          </a:bodyPr>
          <a:lstStyle/>
          <a:p>
            <a:r>
              <a:rPr sz="1100">
                <a:solidFill>
                  <a:srgbClr val="3A3A3A"/>
                </a:solidFill>
              </a:rPr>
              <a:t>Formation continue et visite médicale</a:t>
            </a:r>
          </a:p>
        </p:txBody>
      </p:sp>
      <p:sp>
        <p:nvSpPr>
          <p:cNvPr id="44" name="Rectangle 43"/>
          <p:cNvSpPr/>
          <p:nvPr/>
        </p:nvSpPr>
        <p:spPr>
          <a:xfrm>
            <a:off x="7991999" y="2808000"/>
            <a:ext cx="396000" cy="324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42</a:t>
            </a:r>
          </a:p>
        </p:txBody>
      </p:sp>
      <p:sp>
        <p:nvSpPr>
          <p:cNvPr id="45" name="TextBox 44"/>
          <p:cNvSpPr txBox="1"/>
          <p:nvPr/>
        </p:nvSpPr>
        <p:spPr>
          <a:xfrm>
            <a:off x="180000" y="4680000"/>
            <a:ext cx="7200000" cy="216000"/>
          </a:xfrm>
          <a:prstGeom prst="rect">
            <a:avLst/>
          </a:prstGeom>
          <a:noFill/>
        </p:spPr>
        <p:txBody>
          <a:bodyPr wrap="none">
            <a:spAutoFit/>
          </a:bodyPr>
          <a:lstStyle/>
          <a:p>
            <a:r>
              <a:rPr sz="800">
                <a:solidFill>
                  <a:srgbClr val="6B7A8D"/>
                </a:solidFill>
              </a:rPr>
              <a:t>FTRANSPORT - SERVICES PRO  •  Formation certifiée Qualiopi  •  Éligible CPF  •  Lyon</a:t>
            </a:r>
          </a:p>
        </p:txBody>
      </p:sp>
      <p:sp>
        <p:nvSpPr>
          <p:cNvPr id="46" name="TextBox 45"/>
          <p:cNvSpPr txBox="1"/>
          <p:nvPr/>
        </p:nvSpPr>
        <p:spPr>
          <a:xfrm>
            <a:off x="8100000" y="4680000"/>
            <a:ext cx="720000" cy="180000"/>
          </a:xfrm>
          <a:prstGeom prst="rect">
            <a:avLst/>
          </a:prstGeom>
          <a:noFill/>
        </p:spPr>
        <p:txBody>
          <a:bodyPr wrap="none">
            <a:spAutoFit/>
          </a:bodyPr>
          <a:lstStyle/>
          <a:p>
            <a:pPr algn="r"/>
            <a:r>
              <a:rPr sz="800">
                <a:solidFill>
                  <a:srgbClr val="6B7A8D"/>
                </a:solidFill>
              </a:rPr>
              <a:t>2/50</a:t>
            </a:r>
          </a:p>
        </p:txBody>
      </p:sp>
      <p:sp>
        <p:nvSpPr>
          <p:cNvPr id="47" name="Rectangle 4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48" name="Rectangle 4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1. Transport public ou transport privé ?</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Comprendre la classification fondamentale du transport de personnes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13.png"/>
          <p:cNvPicPr>
            <a:picLocks noChangeAspect="1"/>
          </p:cNvPicPr>
          <p:nvPr/>
        </p:nvPicPr>
        <p:blipFill>
          <a:blip r:embed="rId3"/>
          <a:stretch>
            <a:fillRect/>
          </a:stretch>
        </p:blipFill>
        <p:spPr>
          <a:xfrm>
            <a:off x="2991069" y="2820924"/>
            <a:ext cx="3161862" cy="1737360"/>
          </a:xfrm>
          <a:prstGeom prst="rect">
            <a:avLst/>
          </a:prstGeom>
          <a:ln w="9525">
            <a:solidFill>
              <a:srgbClr val="00B4D8"/>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Transport public ou transport privé ?</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4/88</a:t>
            </a:r>
            <a:endParaRPr lang="en-US" sz="800" dirty="0"/>
          </a:p>
        </p:txBody>
      </p:sp>
      <p:sp>
        <p:nvSpPr>
          <p:cNvPr id="8" name="Text 6"/>
          <p:cNvSpPr/>
          <p:nvPr/>
        </p:nvSpPr>
        <p:spPr>
          <a:xfrm>
            <a:off x="274320" y="914400"/>
            <a:ext cx="8595360" cy="502920"/>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Avant d'aborder la réglementation des taxis et des VTC, il est indispensable de comprendre comment le transport de personnes est classifié en France. Cette distinction détermine quelles règles s'appliquent et qui a besoin d'une carte professionnelle.</a:t>
            </a:r>
            <a:endParaRPr lang="en-US" sz="1200" dirty="0"/>
          </a:p>
        </p:txBody>
      </p:sp>
      <p:sp>
        <p:nvSpPr>
          <p:cNvPr id="9" name="Shape 7"/>
          <p:cNvSpPr/>
          <p:nvPr/>
        </p:nvSpPr>
        <p:spPr>
          <a:xfrm>
            <a:off x="274320" y="1481328"/>
            <a:ext cx="4160520" cy="160020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0" name="Shape 8"/>
          <p:cNvSpPr/>
          <p:nvPr/>
        </p:nvSpPr>
        <p:spPr>
          <a:xfrm>
            <a:off x="274320" y="1481328"/>
            <a:ext cx="4160520" cy="301752"/>
          </a:xfrm>
          <a:prstGeom prst="rect">
            <a:avLst/>
          </a:prstGeom>
          <a:solidFill>
            <a:srgbClr val="2860A8"/>
          </a:solidFill>
          <a:ln w="12700">
            <a:solidFill>
              <a:srgbClr val="2860A8"/>
            </a:solidFill>
            <a:prstDash val="solid"/>
          </a:ln>
        </p:spPr>
        <p:txBody>
          <a:bodyPr/>
          <a:lstStyle/>
          <a:p>
            <a:endParaRPr lang="fr-FR"/>
          </a:p>
        </p:txBody>
      </p:sp>
      <p:sp>
        <p:nvSpPr>
          <p:cNvPr id="11" name="Text 9"/>
          <p:cNvSpPr/>
          <p:nvPr/>
        </p:nvSpPr>
        <p:spPr>
          <a:xfrm>
            <a:off x="365760" y="148132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TRANSPORT PRIVÉ — Pour compte propre</a:t>
            </a:r>
            <a:endParaRPr lang="en-US" sz="1050" dirty="0"/>
          </a:p>
        </p:txBody>
      </p:sp>
      <p:sp>
        <p:nvSpPr>
          <p:cNvPr id="12" name="Text 10"/>
          <p:cNvSpPr/>
          <p:nvPr/>
        </p:nvSpPr>
        <p:spPr>
          <a:xfrm>
            <a:off x="384048" y="1828800"/>
            <a:ext cx="3977640" cy="120700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Transport pour son propre compte.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Aucune autorisation administrative spécifique n'est requise.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Pas de carte professionnelle T3P nécessaire.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Exemple : entreprise avec son propre minibus pour ses salariés.</a:t>
            </a:r>
            <a:endParaRPr lang="en-US" sz="1000" dirty="0"/>
          </a:p>
        </p:txBody>
      </p:sp>
      <p:sp>
        <p:nvSpPr>
          <p:cNvPr id="13" name="Shape 11"/>
          <p:cNvSpPr/>
          <p:nvPr/>
        </p:nvSpPr>
        <p:spPr>
          <a:xfrm>
            <a:off x="4709160" y="1481328"/>
            <a:ext cx="4160520" cy="160020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4" name="Shape 12"/>
          <p:cNvSpPr/>
          <p:nvPr/>
        </p:nvSpPr>
        <p:spPr>
          <a:xfrm>
            <a:off x="4709160" y="1481328"/>
            <a:ext cx="4160520" cy="301752"/>
          </a:xfrm>
          <a:prstGeom prst="rect">
            <a:avLst/>
          </a:prstGeom>
          <a:solidFill>
            <a:srgbClr val="1A3A5C"/>
          </a:solidFill>
          <a:ln w="12700">
            <a:solidFill>
              <a:srgbClr val="1A3A5C"/>
            </a:solidFill>
            <a:prstDash val="solid"/>
          </a:ln>
        </p:spPr>
        <p:txBody>
          <a:bodyPr/>
          <a:lstStyle/>
          <a:p>
            <a:endParaRPr lang="fr-FR"/>
          </a:p>
        </p:txBody>
      </p:sp>
      <p:sp>
        <p:nvSpPr>
          <p:cNvPr id="15" name="Text 13"/>
          <p:cNvSpPr/>
          <p:nvPr/>
        </p:nvSpPr>
        <p:spPr>
          <a:xfrm>
            <a:off x="4800600" y="148132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TRANSPORT PUBLIC — Pour compte d'autrui</a:t>
            </a:r>
            <a:endParaRPr lang="en-US" sz="1050" dirty="0"/>
          </a:p>
        </p:txBody>
      </p:sp>
      <p:sp>
        <p:nvSpPr>
          <p:cNvPr id="16" name="Text 14"/>
          <p:cNvSpPr/>
          <p:nvPr/>
        </p:nvSpPr>
        <p:spPr>
          <a:xfrm>
            <a:off x="4818888" y="1828800"/>
            <a:ext cx="3977640" cy="1207008"/>
          </a:xfrm>
          <a:prstGeom prst="rect">
            <a:avLst/>
          </a:prstGeom>
          <a:noFill/>
          <a:ln/>
        </p:spPr>
        <p:txBody>
          <a:bodyPr wrap="square" rtlCol="0" anchor="t"/>
          <a:lstStyle/>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Transport pour un CLIENT, contre rémunération</a:t>
            </a:r>
            <a:r>
              <a:rPr lang="en-US" sz="1000" dirty="0">
                <a:solidFill>
                  <a:srgbClr val="3A3A3A"/>
                </a:solidFill>
                <a:latin typeface="Calibri" pitchFamily="34" charset="0"/>
                <a:ea typeface="Calibri" pitchFamily="34" charset="-122"/>
                <a:cs typeface="Calibri" pitchFamily="34" charset="-120"/>
              </a:rPr>
              <a: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Des autorisations administratives sont nécessaires.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Exemple : école commandant un car, client appelant un taxi.</a:t>
            </a:r>
            <a:endParaRPr lang="en-US" sz="1000" dirty="0"/>
          </a:p>
        </p:txBody>
      </p:sp>
      <p:sp>
        <p:nvSpPr>
          <p:cNvPr id="17" name="Shape 15"/>
          <p:cNvSpPr/>
          <p:nvPr/>
        </p:nvSpPr>
        <p:spPr>
          <a:xfrm>
            <a:off x="274320" y="3172968"/>
            <a:ext cx="8595360" cy="411480"/>
          </a:xfrm>
          <a:prstGeom prst="rect">
            <a:avLst/>
          </a:prstGeom>
          <a:solidFill>
            <a:srgbClr val="EDF7EE"/>
          </a:solidFill>
          <a:ln w="19050">
            <a:solidFill>
              <a:srgbClr val="2E7D32"/>
            </a:solidFill>
            <a:prstDash val="solid"/>
          </a:ln>
        </p:spPr>
        <p:txBody>
          <a:bodyPr/>
          <a:lstStyle/>
          <a:p>
            <a:endParaRPr lang="fr-FR"/>
          </a:p>
        </p:txBody>
      </p:sp>
      <p:sp>
        <p:nvSpPr>
          <p:cNvPr id="18" name="Shape 16"/>
          <p:cNvSpPr/>
          <p:nvPr/>
        </p:nvSpPr>
        <p:spPr>
          <a:xfrm>
            <a:off x="274320" y="3172968"/>
            <a:ext cx="54864" cy="411480"/>
          </a:xfrm>
          <a:prstGeom prst="rect">
            <a:avLst/>
          </a:prstGeom>
          <a:solidFill>
            <a:srgbClr val="2E7D32"/>
          </a:solidFill>
          <a:ln w="12700">
            <a:solidFill>
              <a:srgbClr val="2E7D32"/>
            </a:solidFill>
            <a:prstDash val="solid"/>
          </a:ln>
        </p:spPr>
        <p:txBody>
          <a:bodyPr/>
          <a:lstStyle/>
          <a:p>
            <a:endParaRPr lang="fr-FR"/>
          </a:p>
        </p:txBody>
      </p:sp>
      <p:sp>
        <p:nvSpPr>
          <p:cNvPr id="19" name="Text 17"/>
          <p:cNvSpPr/>
          <p:nvPr/>
        </p:nvSpPr>
        <p:spPr>
          <a:xfrm>
            <a:off x="384048" y="3172968"/>
            <a:ext cx="8467344" cy="411480"/>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Règle clé : TRANSPORT PRIVÉ = pour soi-même, pas de carte pro. TRANSPORT PUBLIC = pour un client, contre paiement = réglementation obligatoire.</a:t>
            </a:r>
            <a:endParaRPr lang="en-US" sz="1000" dirty="0"/>
          </a:p>
        </p:txBody>
      </p:sp>
      <p:sp>
        <p:nvSpPr>
          <p:cNvPr id="20" name="Text 18"/>
          <p:cNvSpPr/>
          <p:nvPr/>
        </p:nvSpPr>
        <p:spPr>
          <a:xfrm>
            <a:off x="274320" y="3648456"/>
            <a:ext cx="8595360" cy="256032"/>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Schéma — Les 2 grandes catégories :</a:t>
            </a:r>
            <a:endParaRPr lang="en-US" sz="1200" dirty="0"/>
          </a:p>
        </p:txBody>
      </p:sp>
      <p:sp>
        <p:nvSpPr>
          <p:cNvPr id="21" name="Shape 19"/>
          <p:cNvSpPr/>
          <p:nvPr/>
        </p:nvSpPr>
        <p:spPr>
          <a:xfrm>
            <a:off x="274320" y="3931920"/>
            <a:ext cx="4160520" cy="658368"/>
          </a:xfrm>
          <a:prstGeom prst="rect">
            <a:avLst/>
          </a:prstGeom>
          <a:solidFill>
            <a:srgbClr val="2860A8"/>
          </a:solidFill>
          <a:ln w="12700">
            <a:solidFill>
              <a:srgbClr val="2860A8"/>
            </a:solidFill>
            <a:prstDash val="solid"/>
          </a:ln>
        </p:spPr>
        <p:txBody>
          <a:bodyPr/>
          <a:lstStyle/>
          <a:p>
            <a:endParaRPr lang="fr-FR"/>
          </a:p>
        </p:txBody>
      </p:sp>
      <p:sp>
        <p:nvSpPr>
          <p:cNvPr id="22" name="Text 20"/>
          <p:cNvSpPr/>
          <p:nvPr/>
        </p:nvSpPr>
        <p:spPr>
          <a:xfrm>
            <a:off x="274320" y="3931920"/>
            <a:ext cx="4160520"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TRANSPORT PUBLIC</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(rémunéré — pour autrui)</a:t>
            </a:r>
            <a:endParaRPr lang="en-US" sz="1200" dirty="0"/>
          </a:p>
        </p:txBody>
      </p:sp>
      <p:sp>
        <p:nvSpPr>
          <p:cNvPr id="23" name="Shape 21"/>
          <p:cNvSpPr/>
          <p:nvPr/>
        </p:nvSpPr>
        <p:spPr>
          <a:xfrm>
            <a:off x="4709160" y="3931920"/>
            <a:ext cx="4160520" cy="658368"/>
          </a:xfrm>
          <a:prstGeom prst="rect">
            <a:avLst/>
          </a:prstGeom>
          <a:solidFill>
            <a:srgbClr val="1A3A5C"/>
          </a:solidFill>
          <a:ln w="12700">
            <a:solidFill>
              <a:srgbClr val="1A3A5C"/>
            </a:solidFill>
            <a:prstDash val="solid"/>
          </a:ln>
        </p:spPr>
        <p:txBody>
          <a:bodyPr/>
          <a:lstStyle/>
          <a:p>
            <a:endParaRPr lang="fr-FR"/>
          </a:p>
        </p:txBody>
      </p:sp>
      <p:sp>
        <p:nvSpPr>
          <p:cNvPr id="24" name="Text 22"/>
          <p:cNvSpPr/>
          <p:nvPr/>
        </p:nvSpPr>
        <p:spPr>
          <a:xfrm>
            <a:off x="4709160" y="3931920"/>
            <a:ext cx="4160520" cy="6583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TRANSPORT PRIVÉ</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(non rémunéré — pour soi)</a:t>
            </a:r>
            <a:endParaRPr lang="en-US" sz="1200" dirty="0"/>
          </a:p>
        </p:txBody>
      </p:sp>
      <p:sp>
        <p:nvSpPr>
          <p:cNvPr id="25" name="Rectangle 2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6" name="Rectangle 2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Transport public ou transport privé ? Exemples concrets</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4b/88</a:t>
            </a:r>
            <a:endParaRPr lang="en-US" sz="800" dirty="0"/>
          </a:p>
        </p:txBody>
      </p:sp>
      <p:sp>
        <p:nvSpPr>
          <p:cNvPr id="8" name="Text 6"/>
          <p:cNvSpPr/>
          <p:nvPr/>
        </p:nvSpPr>
        <p:spPr>
          <a:xfrm>
            <a:off x="274320" y="914400"/>
            <a:ext cx="8595360" cy="502920"/>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Encore plus d'exemples pour bien distinguer les deux catégories avant d'étudier le taxi, le VTC et le VMDTR. Le test à retenir : qui paie, et pour qui ?</a:t>
            </a:r>
            <a:endParaRPr lang="en-US" sz="1200" dirty="0"/>
          </a:p>
        </p:txBody>
      </p:sp>
      <p:sp>
        <p:nvSpPr>
          <p:cNvPr id="9" name="Shape 7"/>
          <p:cNvSpPr/>
          <p:nvPr/>
        </p:nvSpPr>
        <p:spPr>
          <a:xfrm>
            <a:off x="274320" y="1481328"/>
            <a:ext cx="4160520" cy="160020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0" name="Shape 8"/>
          <p:cNvSpPr/>
          <p:nvPr/>
        </p:nvSpPr>
        <p:spPr>
          <a:xfrm>
            <a:off x="274320" y="1481328"/>
            <a:ext cx="4160520" cy="301752"/>
          </a:xfrm>
          <a:prstGeom prst="rect">
            <a:avLst/>
          </a:prstGeom>
          <a:solidFill>
            <a:srgbClr val="2860A8"/>
          </a:solidFill>
          <a:ln w="12700">
            <a:solidFill>
              <a:srgbClr val="2860A8"/>
            </a:solidFill>
            <a:prstDash val="solid"/>
          </a:ln>
        </p:spPr>
        <p:txBody>
          <a:bodyPr/>
          <a:lstStyle/>
          <a:p>
            <a:endParaRPr lang="fr-FR"/>
          </a:p>
        </p:txBody>
      </p:sp>
      <p:sp>
        <p:nvSpPr>
          <p:cNvPr id="11" name="Text 9"/>
          <p:cNvSpPr/>
          <p:nvPr/>
        </p:nvSpPr>
        <p:spPr>
          <a:xfrm>
            <a:off x="365760" y="148132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TRANSPORT PRIVÉ — Exemples</a:t>
            </a:r>
            <a:endParaRPr lang="en-US" sz="1050" dirty="0"/>
          </a:p>
        </p:txBody>
      </p:sp>
      <p:sp>
        <p:nvSpPr>
          <p:cNvPr id="12" name="Text 10"/>
          <p:cNvSpPr/>
          <p:nvPr/>
        </p:nvSpPr>
        <p:spPr>
          <a:xfrm>
            <a:off x="384048" y="1828800"/>
            <a:ext cx="3977640" cy="1207008"/>
          </a:xfrm>
          <a:prstGeom prst="rect">
            <a:avLst/>
          </a:prstGeom>
          <a:noFill/>
          <a:ln/>
        </p:spPr>
        <p:txBody>
          <a:bodyPr wrap="square" rtlCol="0" anchor="t"/>
          <a:lstStyle/>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Entreprise transportant ses salariés avec son propre minibus.</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École transportant ses élèves avec son propre car (ramassage interne).</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Hôtel transportant gratuitement ses clients depuis l'aéroport.</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EHPAD conduisant un résident à un rendez-vous médical.</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Covoiturage entre particuliers (partage des frais, sans profit).</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Particulier qui prête sa voiture à un proche pour un trajet.</a:t>
            </a:r>
            <a:endParaRPr lang="en-US" sz="900" dirty="0"/>
          </a:p>
        </p:txBody>
      </p:sp>
      <p:sp>
        <p:nvSpPr>
          <p:cNvPr id="13" name="Shape 11"/>
          <p:cNvSpPr/>
          <p:nvPr/>
        </p:nvSpPr>
        <p:spPr>
          <a:xfrm>
            <a:off x="4709160" y="1481328"/>
            <a:ext cx="4160520" cy="160020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4" name="Shape 12"/>
          <p:cNvSpPr/>
          <p:nvPr/>
        </p:nvSpPr>
        <p:spPr>
          <a:xfrm>
            <a:off x="4709160" y="1481328"/>
            <a:ext cx="4160520" cy="301752"/>
          </a:xfrm>
          <a:prstGeom prst="rect">
            <a:avLst/>
          </a:prstGeom>
          <a:solidFill>
            <a:srgbClr val="1A3A5C"/>
          </a:solidFill>
          <a:ln w="12700">
            <a:solidFill>
              <a:srgbClr val="1A3A5C"/>
            </a:solidFill>
            <a:prstDash val="solid"/>
          </a:ln>
        </p:spPr>
        <p:txBody>
          <a:bodyPr/>
          <a:lstStyle/>
          <a:p>
            <a:endParaRPr lang="fr-FR"/>
          </a:p>
        </p:txBody>
      </p:sp>
      <p:sp>
        <p:nvSpPr>
          <p:cNvPr id="15" name="Text 13"/>
          <p:cNvSpPr/>
          <p:nvPr/>
        </p:nvSpPr>
        <p:spPr>
          <a:xfrm>
            <a:off x="4800600" y="148132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TRANSPORT PUBLIC — Exemples</a:t>
            </a:r>
            <a:endParaRPr lang="en-US" sz="1050" dirty="0"/>
          </a:p>
        </p:txBody>
      </p:sp>
      <p:sp>
        <p:nvSpPr>
          <p:cNvPr id="16" name="Text 14"/>
          <p:cNvSpPr/>
          <p:nvPr/>
        </p:nvSpPr>
        <p:spPr>
          <a:xfrm>
            <a:off x="4818888" y="1828800"/>
            <a:ext cx="3977640" cy="1207008"/>
          </a:xfrm>
          <a:prstGeom prst="rect">
            <a:avLst/>
          </a:prstGeom>
          <a:noFill/>
          <a:ln/>
        </p:spPr>
        <p:txBody>
          <a:bodyPr wrap="square" rtlCol="0" anchor="t"/>
          <a:lstStyle/>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École qui commande un car à une entreprise de transport.</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Client qui appelle un taxi dans la rue.</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Client qui réserve un VTC via une application.</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Agence qui vend des billets pour un circuit touristique en car.</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Chauffeur VMDTR (moto-taxi) transportant un client sur réservation.</a:t>
            </a:r>
            <a:endParaRPr lang="en-US" sz="900" dirty="0"/>
          </a:p>
          <a:p>
            <a:pPr marL="342900" indent="-342900">
              <a:spcAft>
                <a:spcPts val="200"/>
              </a:spcAft>
              <a:buSzPct val="100000"/>
              <a:buChar char="•"/>
            </a:pPr>
            <a:r>
              <a:rPr lang="en-US" sz="900" dirty="0">
                <a:solidFill>
                  <a:srgbClr val="3A3A3A"/>
                </a:solidFill>
                <a:latin typeface="Calibri" pitchFamily="34" charset="0"/>
                <a:ea typeface="Calibri" pitchFamily="34" charset="-122"/>
                <a:cs typeface="Calibri" pitchFamily="34" charset="-120"/>
              </a:rPr>
              <a:t>Bus de ligne TCL transportant des usagers contre un ticket.</a:t>
            </a:r>
            <a:endParaRPr lang="en-US" sz="900" dirty="0"/>
          </a:p>
        </p:txBody>
      </p:sp>
      <p:sp>
        <p:nvSpPr>
          <p:cNvPr id="17" name="Shape 15"/>
          <p:cNvSpPr/>
          <p:nvPr/>
        </p:nvSpPr>
        <p:spPr>
          <a:xfrm>
            <a:off x="274320" y="3172968"/>
            <a:ext cx="8595360" cy="700000"/>
          </a:xfrm>
          <a:prstGeom prst="rect">
            <a:avLst/>
          </a:prstGeom>
          <a:solidFill>
            <a:srgbClr val="EDF7EE"/>
          </a:solidFill>
          <a:ln w="19050">
            <a:solidFill>
              <a:srgbClr val="2E7D32"/>
            </a:solidFill>
            <a:prstDash val="solid"/>
          </a:ln>
        </p:spPr>
        <p:txBody>
          <a:bodyPr/>
          <a:lstStyle/>
          <a:p>
            <a:endParaRPr lang="fr-FR"/>
          </a:p>
        </p:txBody>
      </p:sp>
      <p:sp>
        <p:nvSpPr>
          <p:cNvPr id="18" name="Shape 16"/>
          <p:cNvSpPr/>
          <p:nvPr/>
        </p:nvSpPr>
        <p:spPr>
          <a:xfrm>
            <a:off x="274320" y="3172968"/>
            <a:ext cx="54864" cy="700000"/>
          </a:xfrm>
          <a:prstGeom prst="rect">
            <a:avLst/>
          </a:prstGeom>
          <a:solidFill>
            <a:srgbClr val="2E7D32"/>
          </a:solidFill>
          <a:ln w="12700">
            <a:solidFill>
              <a:srgbClr val="2E7D32"/>
            </a:solidFill>
            <a:prstDash val="solid"/>
          </a:ln>
        </p:spPr>
        <p:txBody>
          <a:bodyPr/>
          <a:lstStyle/>
          <a:p>
            <a:endParaRPr lang="fr-FR"/>
          </a:p>
        </p:txBody>
      </p:sp>
      <p:sp>
        <p:nvSpPr>
          <p:cNvPr id="19" name="Text 17"/>
          <p:cNvSpPr/>
          <p:nvPr/>
        </p:nvSpPr>
        <p:spPr>
          <a:xfrm>
            <a:off x="384048" y="3172968"/>
            <a:ext cx="8467344" cy="700000"/>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Le test à retenir : le transport est PUBLIC dès qu'un tiers (client) paie pour être transporté, quel que soit le montant. Il est PRIVÉ quand il n'y a ni client ni rémunération (usage interne, entraide, covoiturage au partage de frais).</a:t>
            </a:r>
            <a:endParaRPr lang="en-US" sz="1000" dirty="0"/>
          </a:p>
        </p:txBody>
      </p:sp>
      <p:sp>
        <p:nvSpPr>
          <p:cNvPr id="25" name="Rectangle 2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6" name="Rectangle 2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Le transport public — Deux grandes familles</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5/88</a:t>
            </a:r>
            <a:endParaRPr lang="en-US" sz="800" dirty="0"/>
          </a:p>
        </p:txBody>
      </p:sp>
      <p:sp>
        <p:nvSpPr>
          <p:cNvPr id="8" name="Text 6"/>
          <p:cNvSpPr/>
          <p:nvPr/>
        </p:nvSpPr>
        <p:spPr>
          <a:xfrm>
            <a:off x="274320" y="914400"/>
            <a:ext cx="8595360" cy="438912"/>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Le transport PUBLIC se divise en deux grandes catégories. La distinction est fondamentale : elle détermine si vous avez besoin d'une carte professionnelle T3P ou non.</a:t>
            </a:r>
            <a:endParaRPr lang="en-US" sz="1200" dirty="0"/>
          </a:p>
        </p:txBody>
      </p:sp>
      <p:sp>
        <p:nvSpPr>
          <p:cNvPr id="9" name="Shape 7"/>
          <p:cNvSpPr/>
          <p:nvPr/>
        </p:nvSpPr>
        <p:spPr>
          <a:xfrm>
            <a:off x="3383280" y="1417320"/>
            <a:ext cx="2377440" cy="384048"/>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3383280" y="1417320"/>
            <a:ext cx="237744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TRANSPORT PUBLIC</a:t>
            </a:r>
            <a:endParaRPr lang="en-US" sz="1100" dirty="0"/>
          </a:p>
        </p:txBody>
      </p:sp>
      <p:sp>
        <p:nvSpPr>
          <p:cNvPr id="11" name="Shape 9"/>
          <p:cNvSpPr/>
          <p:nvPr/>
        </p:nvSpPr>
        <p:spPr>
          <a:xfrm>
            <a:off x="4572000" y="1801368"/>
            <a:ext cx="0" cy="256032"/>
          </a:xfrm>
          <a:prstGeom prst="line">
            <a:avLst/>
          </a:prstGeom>
          <a:noFill/>
          <a:ln w="25400">
            <a:solidFill>
              <a:srgbClr val="2860A8"/>
            </a:solidFill>
            <a:prstDash val="solid"/>
          </a:ln>
        </p:spPr>
        <p:txBody>
          <a:bodyPr/>
          <a:lstStyle/>
          <a:p>
            <a:endParaRPr lang="fr-FR"/>
          </a:p>
        </p:txBody>
      </p:sp>
      <p:sp>
        <p:nvSpPr>
          <p:cNvPr id="12" name="Shape 10"/>
          <p:cNvSpPr/>
          <p:nvPr/>
        </p:nvSpPr>
        <p:spPr>
          <a:xfrm>
            <a:off x="2057400" y="2057400"/>
            <a:ext cx="5029200" cy="0"/>
          </a:xfrm>
          <a:prstGeom prst="line">
            <a:avLst/>
          </a:prstGeom>
          <a:noFill/>
          <a:ln w="25400">
            <a:solidFill>
              <a:srgbClr val="2860A8"/>
            </a:solidFill>
            <a:prstDash val="solid"/>
          </a:ln>
        </p:spPr>
        <p:txBody>
          <a:bodyPr/>
          <a:lstStyle/>
          <a:p>
            <a:endParaRPr lang="fr-FR"/>
          </a:p>
        </p:txBody>
      </p:sp>
      <p:sp>
        <p:nvSpPr>
          <p:cNvPr id="13" name="Shape 11"/>
          <p:cNvSpPr/>
          <p:nvPr/>
        </p:nvSpPr>
        <p:spPr>
          <a:xfrm>
            <a:off x="2057400" y="2057400"/>
            <a:ext cx="0" cy="201168"/>
          </a:xfrm>
          <a:prstGeom prst="line">
            <a:avLst/>
          </a:prstGeom>
          <a:noFill/>
          <a:ln w="25400">
            <a:solidFill>
              <a:srgbClr val="2860A8"/>
            </a:solidFill>
            <a:prstDash val="solid"/>
          </a:ln>
        </p:spPr>
        <p:txBody>
          <a:bodyPr/>
          <a:lstStyle/>
          <a:p>
            <a:endParaRPr lang="fr-FR"/>
          </a:p>
        </p:txBody>
      </p:sp>
      <p:sp>
        <p:nvSpPr>
          <p:cNvPr id="14" name="Shape 12"/>
          <p:cNvSpPr/>
          <p:nvPr/>
        </p:nvSpPr>
        <p:spPr>
          <a:xfrm>
            <a:off x="7086600" y="2057400"/>
            <a:ext cx="0" cy="201168"/>
          </a:xfrm>
          <a:prstGeom prst="line">
            <a:avLst/>
          </a:prstGeom>
          <a:noFill/>
          <a:ln w="25400">
            <a:solidFill>
              <a:srgbClr val="2860A8"/>
            </a:solidFill>
            <a:prstDash val="solid"/>
          </a:ln>
        </p:spPr>
        <p:txBody>
          <a:bodyPr/>
          <a:lstStyle/>
          <a:p>
            <a:endParaRPr lang="fr-FR"/>
          </a:p>
        </p:txBody>
      </p:sp>
      <p:sp>
        <p:nvSpPr>
          <p:cNvPr id="15" name="Shape 13"/>
          <p:cNvSpPr/>
          <p:nvPr/>
        </p:nvSpPr>
        <p:spPr>
          <a:xfrm>
            <a:off x="274320" y="2258568"/>
            <a:ext cx="3566160" cy="384048"/>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274320" y="2258568"/>
            <a:ext cx="3566160" cy="38404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TRANSPORT PUBLIC COLLECTIF</a:t>
            </a:r>
            <a:endParaRPr lang="en-US" sz="1050" dirty="0"/>
          </a:p>
        </p:txBody>
      </p:sp>
      <p:sp>
        <p:nvSpPr>
          <p:cNvPr id="17" name="Shape 15"/>
          <p:cNvSpPr/>
          <p:nvPr/>
        </p:nvSpPr>
        <p:spPr>
          <a:xfrm>
            <a:off x="822960" y="2468880"/>
            <a:ext cx="0" cy="274320"/>
          </a:xfrm>
          <a:prstGeom prst="line">
            <a:avLst/>
          </a:prstGeom>
          <a:noFill/>
          <a:ln w="19050">
            <a:solidFill>
              <a:srgbClr val="2860A8"/>
            </a:solidFill>
            <a:prstDash val="solid"/>
          </a:ln>
        </p:spPr>
        <p:txBody>
          <a:bodyPr/>
          <a:lstStyle/>
          <a:p>
            <a:endParaRPr lang="fr-FR"/>
          </a:p>
        </p:txBody>
      </p:sp>
      <p:sp>
        <p:nvSpPr>
          <p:cNvPr id="18" name="Shape 16"/>
          <p:cNvSpPr/>
          <p:nvPr/>
        </p:nvSpPr>
        <p:spPr>
          <a:xfrm>
            <a:off x="274320" y="2743200"/>
            <a:ext cx="1097280" cy="1005840"/>
          </a:xfrm>
          <a:prstGeom prst="rect">
            <a:avLst/>
          </a:prstGeom>
          <a:solidFill>
            <a:srgbClr val="2860A8"/>
          </a:solidFill>
          <a:ln w="12700">
            <a:solidFill>
              <a:srgbClr val="2860A8"/>
            </a:solidFill>
            <a:prstDash val="solid"/>
          </a:ln>
        </p:spPr>
        <p:txBody>
          <a:bodyPr/>
          <a:lstStyle/>
          <a:p>
            <a:endParaRPr lang="fr-FR"/>
          </a:p>
        </p:txBody>
      </p:sp>
      <p:sp>
        <p:nvSpPr>
          <p:cNvPr id="19" name="Text 17"/>
          <p:cNvSpPr/>
          <p:nvPr/>
        </p:nvSpPr>
        <p:spPr>
          <a:xfrm>
            <a:off x="274320" y="2743200"/>
            <a:ext cx="1097280" cy="100584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Services réguliers</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Bus TCL, métro, TER</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Horaires et lignes FIXES</a:t>
            </a:r>
            <a:endParaRPr lang="en-US" sz="850" dirty="0"/>
          </a:p>
        </p:txBody>
      </p:sp>
      <p:sp>
        <p:nvSpPr>
          <p:cNvPr id="20" name="Shape 18"/>
          <p:cNvSpPr/>
          <p:nvPr/>
        </p:nvSpPr>
        <p:spPr>
          <a:xfrm>
            <a:off x="1874520" y="2468880"/>
            <a:ext cx="0" cy="274320"/>
          </a:xfrm>
          <a:prstGeom prst="line">
            <a:avLst/>
          </a:prstGeom>
          <a:noFill/>
          <a:ln w="19050">
            <a:solidFill>
              <a:srgbClr val="2E86C1"/>
            </a:solidFill>
            <a:prstDash val="solid"/>
          </a:ln>
        </p:spPr>
        <p:txBody>
          <a:bodyPr/>
          <a:lstStyle/>
          <a:p>
            <a:endParaRPr lang="fr-FR"/>
          </a:p>
        </p:txBody>
      </p:sp>
      <p:sp>
        <p:nvSpPr>
          <p:cNvPr id="21" name="Shape 19"/>
          <p:cNvSpPr/>
          <p:nvPr/>
        </p:nvSpPr>
        <p:spPr>
          <a:xfrm>
            <a:off x="1325880" y="2743200"/>
            <a:ext cx="1097280" cy="1005840"/>
          </a:xfrm>
          <a:prstGeom prst="rect">
            <a:avLst/>
          </a:prstGeom>
          <a:solidFill>
            <a:srgbClr val="2E86C1"/>
          </a:solidFill>
          <a:ln w="12700">
            <a:solidFill>
              <a:srgbClr val="2E86C1"/>
            </a:solidFill>
            <a:prstDash val="solid"/>
          </a:ln>
        </p:spPr>
        <p:txBody>
          <a:bodyPr/>
          <a:lstStyle/>
          <a:p>
            <a:endParaRPr lang="fr-FR"/>
          </a:p>
        </p:txBody>
      </p:sp>
      <p:sp>
        <p:nvSpPr>
          <p:cNvPr id="22" name="Text 20"/>
          <p:cNvSpPr/>
          <p:nvPr/>
        </p:nvSpPr>
        <p:spPr>
          <a:xfrm>
            <a:off x="1325880" y="2743200"/>
            <a:ext cx="1097280" cy="100584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Services à la demande</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Transport flexible</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Selon réservations usagers</a:t>
            </a:r>
            <a:endParaRPr lang="en-US" sz="850" dirty="0"/>
          </a:p>
        </p:txBody>
      </p:sp>
      <p:sp>
        <p:nvSpPr>
          <p:cNvPr id="23" name="Shape 21"/>
          <p:cNvSpPr/>
          <p:nvPr/>
        </p:nvSpPr>
        <p:spPr>
          <a:xfrm>
            <a:off x="2926080" y="2468880"/>
            <a:ext cx="0" cy="274320"/>
          </a:xfrm>
          <a:prstGeom prst="line">
            <a:avLst/>
          </a:prstGeom>
          <a:noFill/>
          <a:ln w="19050">
            <a:solidFill>
              <a:srgbClr val="1A5276"/>
            </a:solidFill>
            <a:prstDash val="solid"/>
          </a:ln>
        </p:spPr>
        <p:txBody>
          <a:bodyPr/>
          <a:lstStyle/>
          <a:p>
            <a:endParaRPr lang="fr-FR"/>
          </a:p>
        </p:txBody>
      </p:sp>
      <p:sp>
        <p:nvSpPr>
          <p:cNvPr id="24" name="Shape 22"/>
          <p:cNvSpPr/>
          <p:nvPr/>
        </p:nvSpPr>
        <p:spPr>
          <a:xfrm>
            <a:off x="2377440" y="2743200"/>
            <a:ext cx="1097280" cy="1005840"/>
          </a:xfrm>
          <a:prstGeom prst="rect">
            <a:avLst/>
          </a:prstGeom>
          <a:solidFill>
            <a:srgbClr val="1A5276"/>
          </a:solidFill>
          <a:ln w="12700">
            <a:solidFill>
              <a:srgbClr val="1A5276"/>
            </a:solidFill>
            <a:prstDash val="solid"/>
          </a:ln>
        </p:spPr>
        <p:txBody>
          <a:bodyPr/>
          <a:lstStyle/>
          <a:p>
            <a:endParaRPr lang="fr-FR"/>
          </a:p>
        </p:txBody>
      </p:sp>
      <p:sp>
        <p:nvSpPr>
          <p:cNvPr id="25" name="Text 23"/>
          <p:cNvSpPr/>
          <p:nvPr/>
        </p:nvSpPr>
        <p:spPr>
          <a:xfrm>
            <a:off x="2377440" y="2743200"/>
            <a:ext cx="1097280" cy="100584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Services occasionnels</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Cars tourisme, sorties</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Groupes — billet collectif</a:t>
            </a:r>
            <a:endParaRPr lang="en-US" sz="850" dirty="0"/>
          </a:p>
        </p:txBody>
      </p:sp>
      <p:sp>
        <p:nvSpPr>
          <p:cNvPr id="26" name="Shape 24"/>
          <p:cNvSpPr/>
          <p:nvPr/>
        </p:nvSpPr>
        <p:spPr>
          <a:xfrm>
            <a:off x="5303520" y="2258568"/>
            <a:ext cx="3566160" cy="384048"/>
          </a:xfrm>
          <a:prstGeom prst="rect">
            <a:avLst/>
          </a:prstGeom>
          <a:solidFill>
            <a:srgbClr val="F4A227"/>
          </a:solidFill>
          <a:ln w="12700">
            <a:solidFill>
              <a:srgbClr val="F4A227"/>
            </a:solidFill>
            <a:prstDash val="solid"/>
          </a:ln>
        </p:spPr>
        <p:txBody>
          <a:bodyPr/>
          <a:lstStyle/>
          <a:p>
            <a:endParaRPr lang="fr-FR"/>
          </a:p>
        </p:txBody>
      </p:sp>
      <p:sp>
        <p:nvSpPr>
          <p:cNvPr id="27" name="Text 25"/>
          <p:cNvSpPr/>
          <p:nvPr/>
        </p:nvSpPr>
        <p:spPr>
          <a:xfrm>
            <a:off x="5303520" y="2258568"/>
            <a:ext cx="35661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TRANSPORT PUBLIC PARTICULIER (T3P)</a:t>
            </a:r>
            <a:endParaRPr lang="en-US" sz="1000" dirty="0"/>
          </a:p>
        </p:txBody>
      </p:sp>
      <p:sp>
        <p:nvSpPr>
          <p:cNvPr id="28" name="Shape 26"/>
          <p:cNvSpPr/>
          <p:nvPr/>
        </p:nvSpPr>
        <p:spPr>
          <a:xfrm>
            <a:off x="5852160" y="2468880"/>
            <a:ext cx="0" cy="274320"/>
          </a:xfrm>
          <a:prstGeom prst="line">
            <a:avLst/>
          </a:prstGeom>
          <a:noFill/>
          <a:ln w="19050">
            <a:solidFill>
              <a:srgbClr val="1A3A5C"/>
            </a:solidFill>
            <a:prstDash val="solid"/>
          </a:ln>
        </p:spPr>
        <p:txBody>
          <a:bodyPr/>
          <a:lstStyle/>
          <a:p>
            <a:endParaRPr lang="fr-FR"/>
          </a:p>
        </p:txBody>
      </p:sp>
      <p:sp>
        <p:nvSpPr>
          <p:cNvPr id="29" name="Shape 27"/>
          <p:cNvSpPr/>
          <p:nvPr/>
        </p:nvSpPr>
        <p:spPr>
          <a:xfrm>
            <a:off x="5303520" y="2743200"/>
            <a:ext cx="1097280" cy="1005840"/>
          </a:xfrm>
          <a:prstGeom prst="rect">
            <a:avLst/>
          </a:prstGeom>
          <a:solidFill>
            <a:srgbClr val="1A3A5C"/>
          </a:solidFill>
          <a:ln w="12700">
            <a:solidFill>
              <a:srgbClr val="1A3A5C"/>
            </a:solidFill>
            <a:prstDash val="solid"/>
          </a:ln>
        </p:spPr>
        <p:txBody>
          <a:bodyPr/>
          <a:lstStyle/>
          <a:p>
            <a:endParaRPr lang="fr-FR"/>
          </a:p>
        </p:txBody>
      </p:sp>
      <p:sp>
        <p:nvSpPr>
          <p:cNvPr id="30" name="Text 28"/>
          <p:cNvSpPr/>
          <p:nvPr/>
        </p:nvSpPr>
        <p:spPr>
          <a:xfrm>
            <a:off x="5303520" y="2743200"/>
            <a:ext cx="1097280" cy="100584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 TAXI</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Maraude dans la zone</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ADS obligatoire</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Tarif réglementé</a:t>
            </a:r>
            <a:endParaRPr lang="en-US" sz="850" dirty="0"/>
          </a:p>
        </p:txBody>
      </p:sp>
      <p:sp>
        <p:nvSpPr>
          <p:cNvPr id="31" name="Shape 29"/>
          <p:cNvSpPr/>
          <p:nvPr/>
        </p:nvSpPr>
        <p:spPr>
          <a:xfrm>
            <a:off x="6949440" y="2468880"/>
            <a:ext cx="0" cy="274320"/>
          </a:xfrm>
          <a:prstGeom prst="line">
            <a:avLst/>
          </a:prstGeom>
          <a:noFill/>
          <a:ln w="19050">
            <a:solidFill>
              <a:srgbClr val="0D5FA8"/>
            </a:solidFill>
            <a:prstDash val="solid"/>
          </a:ln>
        </p:spPr>
        <p:txBody>
          <a:bodyPr/>
          <a:lstStyle/>
          <a:p>
            <a:endParaRPr lang="fr-FR"/>
          </a:p>
        </p:txBody>
      </p:sp>
      <p:sp>
        <p:nvSpPr>
          <p:cNvPr id="32" name="Shape 30"/>
          <p:cNvSpPr/>
          <p:nvPr/>
        </p:nvSpPr>
        <p:spPr>
          <a:xfrm>
            <a:off x="6400800" y="2743200"/>
            <a:ext cx="1097280" cy="1005840"/>
          </a:xfrm>
          <a:prstGeom prst="rect">
            <a:avLst/>
          </a:prstGeom>
          <a:solidFill>
            <a:srgbClr val="0D5FA8"/>
          </a:solidFill>
          <a:ln w="12700">
            <a:solidFill>
              <a:srgbClr val="0D5FA8"/>
            </a:solidFill>
            <a:prstDash val="solid"/>
          </a:ln>
        </p:spPr>
        <p:txBody>
          <a:bodyPr/>
          <a:lstStyle/>
          <a:p>
            <a:endParaRPr lang="fr-FR"/>
          </a:p>
        </p:txBody>
      </p:sp>
      <p:sp>
        <p:nvSpPr>
          <p:cNvPr id="33" name="Text 31"/>
          <p:cNvSpPr/>
          <p:nvPr/>
        </p:nvSpPr>
        <p:spPr>
          <a:xfrm>
            <a:off x="6400800" y="2743200"/>
            <a:ext cx="1097280" cy="100584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 VTC</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Réservation obligatoire</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Registre national</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Tarif libre</a:t>
            </a:r>
            <a:endParaRPr lang="en-US" sz="850" dirty="0"/>
          </a:p>
        </p:txBody>
      </p:sp>
      <p:sp>
        <p:nvSpPr>
          <p:cNvPr id="34" name="Shape 32"/>
          <p:cNvSpPr/>
          <p:nvPr/>
        </p:nvSpPr>
        <p:spPr>
          <a:xfrm>
            <a:off x="8046720" y="2468880"/>
            <a:ext cx="0" cy="274320"/>
          </a:xfrm>
          <a:prstGeom prst="line">
            <a:avLst/>
          </a:prstGeom>
          <a:noFill/>
          <a:ln w="19050">
            <a:solidFill>
              <a:srgbClr val="1A5276"/>
            </a:solidFill>
            <a:prstDash val="solid"/>
          </a:ln>
        </p:spPr>
        <p:txBody>
          <a:bodyPr/>
          <a:lstStyle/>
          <a:p>
            <a:endParaRPr lang="fr-FR"/>
          </a:p>
        </p:txBody>
      </p:sp>
      <p:sp>
        <p:nvSpPr>
          <p:cNvPr id="35" name="Shape 33"/>
          <p:cNvSpPr/>
          <p:nvPr/>
        </p:nvSpPr>
        <p:spPr>
          <a:xfrm>
            <a:off x="7498080" y="2743200"/>
            <a:ext cx="1097280" cy="1005840"/>
          </a:xfrm>
          <a:prstGeom prst="rect">
            <a:avLst/>
          </a:prstGeom>
          <a:solidFill>
            <a:srgbClr val="1A5276"/>
          </a:solidFill>
          <a:ln w="12700">
            <a:solidFill>
              <a:srgbClr val="1A5276"/>
            </a:solidFill>
            <a:prstDash val="solid"/>
          </a:ln>
        </p:spPr>
        <p:txBody>
          <a:bodyPr/>
          <a:lstStyle/>
          <a:p>
            <a:endParaRPr lang="fr-FR"/>
          </a:p>
        </p:txBody>
      </p:sp>
      <p:sp>
        <p:nvSpPr>
          <p:cNvPr id="36" name="Text 34"/>
          <p:cNvSpPr/>
          <p:nvPr/>
        </p:nvSpPr>
        <p:spPr>
          <a:xfrm>
            <a:off x="7498080" y="2743200"/>
            <a:ext cx="1097280" cy="100584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 VMDTR</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Moto/3-roues</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Max 1 passager</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Réservation obligatoire</a:t>
            </a:r>
            <a:endParaRPr lang="en-US" sz="850" dirty="0"/>
          </a:p>
        </p:txBody>
      </p:sp>
      <p:sp>
        <p:nvSpPr>
          <p:cNvPr id="37" name="Shape 35"/>
          <p:cNvSpPr/>
          <p:nvPr/>
        </p:nvSpPr>
        <p:spPr>
          <a:xfrm>
            <a:off x="274320" y="3858768"/>
            <a:ext cx="8595360" cy="384048"/>
          </a:xfrm>
          <a:prstGeom prst="rect">
            <a:avLst/>
          </a:prstGeom>
          <a:solidFill>
            <a:srgbClr val="EDF7EE"/>
          </a:solidFill>
          <a:ln w="19050">
            <a:solidFill>
              <a:srgbClr val="2E7D32"/>
            </a:solidFill>
            <a:prstDash val="solid"/>
          </a:ln>
        </p:spPr>
        <p:txBody>
          <a:bodyPr/>
          <a:lstStyle/>
          <a:p>
            <a:endParaRPr lang="fr-FR"/>
          </a:p>
        </p:txBody>
      </p:sp>
      <p:sp>
        <p:nvSpPr>
          <p:cNvPr id="38" name="Shape 36"/>
          <p:cNvSpPr/>
          <p:nvPr/>
        </p:nvSpPr>
        <p:spPr>
          <a:xfrm>
            <a:off x="274320" y="3858768"/>
            <a:ext cx="54864" cy="384048"/>
          </a:xfrm>
          <a:prstGeom prst="rect">
            <a:avLst/>
          </a:prstGeom>
          <a:solidFill>
            <a:srgbClr val="2E7D32"/>
          </a:solidFill>
          <a:ln w="12700">
            <a:solidFill>
              <a:srgbClr val="2E7D32"/>
            </a:solidFill>
            <a:prstDash val="solid"/>
          </a:ln>
        </p:spPr>
        <p:txBody>
          <a:bodyPr/>
          <a:lstStyle/>
          <a:p>
            <a:endParaRPr lang="fr-FR"/>
          </a:p>
        </p:txBody>
      </p:sp>
      <p:sp>
        <p:nvSpPr>
          <p:cNvPr id="39" name="Text 37"/>
          <p:cNvSpPr/>
          <p:nvPr/>
        </p:nvSpPr>
        <p:spPr>
          <a:xfrm>
            <a:off x="384048" y="3858768"/>
            <a:ext cx="8467344" cy="38404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À retenir : Seul le transport PUBLIC PARTICULIER (T3P) nécessite une carte professionnelle. Taxi, VTC et VMDTR sont les 3 professions T3P.</a:t>
            </a:r>
            <a:endParaRPr lang="en-US" sz="1000" dirty="0"/>
          </a:p>
        </p:txBody>
      </p:sp>
      <p:sp>
        <p:nvSpPr>
          <p:cNvPr id="40" name="Rectangle 3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41" name="Rectangle 4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2.1 — Les services réguliers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Dessertes urbaines et interurbaines à horaires et trajets fixes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6/88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5.png"/>
          <p:cNvPicPr>
            <a:picLocks noChangeAspect="1"/>
          </p:cNvPicPr>
          <p:nvPr/>
        </p:nvPicPr>
        <p:blipFill>
          <a:blip r:embed="rId3"/>
          <a:stretch>
            <a:fillRect/>
          </a:stretch>
        </p:blipFill>
        <p:spPr>
          <a:xfrm>
            <a:off x="3149877" y="2820924"/>
            <a:ext cx="2844245" cy="1737360"/>
          </a:xfrm>
          <a:prstGeom prst="rect">
            <a:avLst/>
          </a:prstGeom>
          <a:ln w="9525">
            <a:solidFill>
              <a:srgbClr val="00B4D8"/>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services réguliers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Art. L3111-1 Code des transports — Loi 2015-990 du 6 août 2015</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7/88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FF0000"/>
                </a:solidFill>
                <a:latin typeface="Calibri" pitchFamily="34" charset="0"/>
                <a:ea typeface="Calibri" pitchFamily="34" charset="-122"/>
                <a:cs typeface="Calibri" pitchFamily="34" charset="-120"/>
              </a:rPr>
              <a:t>Les services réguliers sont la forme la plus connue du transport collectif. Ce sont les lignes de bus, de métro, de tramway que vous empruntez au quotidien. Leur organisation est précisément définie par le Code des transports</a:t>
            </a:r>
            <a:r>
              <a:rPr lang="en-US" sz="1200" dirty="0">
                <a:solidFill>
                  <a:srgbClr val="3A3A3A"/>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274320" y="1627632"/>
            <a:ext cx="8595360" cy="148132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27632"/>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276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DÉFINITION LÉGALE — Ce que dit le Code des transports</a:t>
            </a:r>
            <a:endParaRPr lang="en-US" sz="1050" dirty="0"/>
          </a:p>
        </p:txBody>
      </p:sp>
      <p:sp>
        <p:nvSpPr>
          <p:cNvPr id="13" name="Text 11"/>
          <p:cNvSpPr/>
          <p:nvPr/>
        </p:nvSpPr>
        <p:spPr>
          <a:xfrm>
            <a:off x="384048" y="1975104"/>
            <a:ext cx="8412480" cy="1088136"/>
          </a:xfrm>
          <a:prstGeom prst="rect">
            <a:avLst/>
          </a:prstGeom>
          <a:noFill/>
          <a:ln/>
        </p:spPr>
        <p:txBody>
          <a:bodyPr wrap="square" rtlCol="0" anchor="t"/>
          <a:lstStyle/>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Services collectifs offerts à la place, dont les ITINÉRAIRES, POINTS D'ARRÊT, HORAIRES, FRÉQUENCES et TARIFS sont fixés et publiés à l'avance</a:t>
            </a:r>
            <a:r>
              <a:rPr lang="en-US" sz="1000" dirty="0">
                <a:solidFill>
                  <a:srgbClr val="3A3A3A"/>
                </a:solidFill>
                <a:latin typeface="Calibri" pitchFamily="34" charset="0"/>
                <a:ea typeface="Calibri" pitchFamily="34" charset="-122"/>
                <a:cs typeface="Calibri" pitchFamily="34" charset="-120"/>
              </a:rPr>
              <a: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Ils peuvent être URBAINS (en ville) ou EXTRA-URBAINS (entre villes). Les transports scolaires sont aussi des services réguliers.</a:t>
            </a:r>
            <a:endParaRPr lang="en-US" sz="1000" dirty="0"/>
          </a:p>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Organisés par des collectivités locales </a:t>
            </a:r>
            <a:r>
              <a:rPr lang="en-US" sz="1000" dirty="0">
                <a:solidFill>
                  <a:srgbClr val="3A3A3A"/>
                </a:solidFill>
                <a:latin typeface="Calibri" pitchFamily="34" charset="0"/>
                <a:ea typeface="Calibri" pitchFamily="34" charset="-122"/>
                <a:cs typeface="Calibri" pitchFamily="34" charset="-120"/>
              </a:rPr>
              <a:t>(mairie, métropole, conseil général) en tant qu'Autorité Organisatrice de Mobilité (AOM).</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Depuis la loi 2015-990 du 6 août 2015 : liaisons interurbaines &gt; 100 km peuvent aussi être organisées sur INITIATIVE PRIVÉE (Flixbus, BlaBlaBus).</a:t>
            </a:r>
            <a:endParaRPr lang="en-US" sz="1000" dirty="0"/>
          </a:p>
        </p:txBody>
      </p:sp>
      <p:sp>
        <p:nvSpPr>
          <p:cNvPr id="14" name="Shape 12"/>
          <p:cNvSpPr/>
          <p:nvPr/>
        </p:nvSpPr>
        <p:spPr>
          <a:xfrm>
            <a:off x="274320" y="3127248"/>
            <a:ext cx="4160520" cy="162763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274320" y="3127248"/>
            <a:ext cx="4160520" cy="301752"/>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365760" y="312724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EXEMPLES CONCRETS</a:t>
            </a:r>
            <a:endParaRPr lang="en-US" sz="1050" dirty="0"/>
          </a:p>
        </p:txBody>
      </p:sp>
      <p:sp>
        <p:nvSpPr>
          <p:cNvPr id="17" name="Text 15"/>
          <p:cNvSpPr/>
          <p:nvPr/>
        </p:nvSpPr>
        <p:spPr>
          <a:xfrm>
            <a:off x="384048" y="3474720"/>
            <a:ext cx="3977640" cy="1234440"/>
          </a:xfrm>
          <a:prstGeom prst="rect">
            <a:avLst/>
          </a:prstGeom>
          <a:noFill/>
          <a:ln/>
        </p:spPr>
        <p:txBody>
          <a:bodyPr wrap="square" rtlCol="0" anchor="t"/>
          <a:lstStyle/>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TCL Lyon : lignes de métro, tramway et bus avec horaires affichés.</a:t>
            </a:r>
            <a:endParaRPr lang="en-US" sz="1000" dirty="0">
              <a:solidFill>
                <a:srgbClr val="FF0000"/>
              </a:solidFill>
            </a:endParaRPr>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RATP Paris : RER, métro, bus franciliens.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TER SNCF : trains régionaux entre villes.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Cars scolaires : ramassage à heure et itinéraire fixes.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Flixbus / BlaBlaBus : liaisons longue distance &gt; 100 km sur initiative privée.</a:t>
            </a:r>
            <a:endParaRPr lang="en-US" sz="1000" dirty="0"/>
          </a:p>
        </p:txBody>
      </p:sp>
      <p:sp>
        <p:nvSpPr>
          <p:cNvPr id="18" name="Shape 16"/>
          <p:cNvSpPr/>
          <p:nvPr/>
        </p:nvSpPr>
        <p:spPr>
          <a:xfrm>
            <a:off x="4709160" y="3127248"/>
            <a:ext cx="4160520" cy="162763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9" name="Shape 17"/>
          <p:cNvSpPr/>
          <p:nvPr/>
        </p:nvSpPr>
        <p:spPr>
          <a:xfrm>
            <a:off x="4709160" y="3127248"/>
            <a:ext cx="4160520" cy="301752"/>
          </a:xfrm>
          <a:prstGeom prst="rect">
            <a:avLst/>
          </a:prstGeom>
          <a:solidFill>
            <a:srgbClr val="1A3A5C"/>
          </a:solidFill>
          <a:ln w="12700">
            <a:solidFill>
              <a:srgbClr val="1A3A5C"/>
            </a:solidFill>
            <a:prstDash val="solid"/>
          </a:ln>
        </p:spPr>
        <p:txBody>
          <a:bodyPr/>
          <a:lstStyle/>
          <a:p>
            <a:endParaRPr lang="fr-FR"/>
          </a:p>
        </p:txBody>
      </p:sp>
      <p:sp>
        <p:nvSpPr>
          <p:cNvPr id="20" name="Text 18"/>
          <p:cNvSpPr/>
          <p:nvPr/>
        </p:nvSpPr>
        <p:spPr>
          <a:xfrm>
            <a:off x="4800600" y="312724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CE QUI CARACTÉRISE UN SERVICE RÉGULIER</a:t>
            </a:r>
            <a:endParaRPr lang="en-US" sz="1050" dirty="0"/>
          </a:p>
        </p:txBody>
      </p:sp>
      <p:sp>
        <p:nvSpPr>
          <p:cNvPr id="21" name="Text 19"/>
          <p:cNvSpPr/>
          <p:nvPr/>
        </p:nvSpPr>
        <p:spPr>
          <a:xfrm>
            <a:off x="4818888" y="3474720"/>
            <a:ext cx="3977640" cy="123444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Itinéraire FIXE — ne change pas selon les passagers.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Horaires PUBLICS — connus à l'avance par tous.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Tarif UNIQUE et identique pour tous les usagers.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Ouvert à TOUS sans réservation obligatoire.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Organisé par une autorité publique ou un opérateur délégué.</a:t>
            </a:r>
            <a:endParaRPr lang="en-US" sz="1000" dirty="0"/>
          </a:p>
        </p:txBody>
      </p:sp>
      <p:sp>
        <p:nvSpPr>
          <p:cNvPr id="22" name="Rectangle 2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3" name="Rectangle 2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2.2 — Les services à la demande (TAD)</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Transport flexible entre le collectif et le particulier</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9/88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23.png"/>
          <p:cNvPicPr>
            <a:picLocks noChangeAspect="1"/>
          </p:cNvPicPr>
          <p:nvPr/>
        </p:nvPicPr>
        <p:blipFill>
          <a:blip r:embed="rId3"/>
          <a:stretch>
            <a:fillRect/>
          </a:stretch>
        </p:blipFill>
        <p:spPr>
          <a:xfrm>
            <a:off x="2727465" y="2820924"/>
            <a:ext cx="3689069" cy="1737360"/>
          </a:xfrm>
          <a:prstGeom prst="rect">
            <a:avLst/>
          </a:prstGeom>
          <a:ln w="9525">
            <a:solidFill>
              <a:srgbClr val="00B4D8"/>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services à la demande (TAD)</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Forme intermédiaire entre service régulier et taxi — Art. L3111-1 Code des transports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10/88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FF0000"/>
                </a:solidFill>
                <a:latin typeface="Calibri" pitchFamily="34" charset="0"/>
                <a:ea typeface="Calibri" pitchFamily="34" charset="-122"/>
                <a:cs typeface="Calibri" pitchFamily="34" charset="-120"/>
              </a:rPr>
              <a:t>Les services à la demande (TAD) sont une forme hybride de transport collectif. Contrairement aux lignes régulières, ils n'ont pas d'itinéraire fixe, mais ils restent organisés collectivement et réglementés par une autorité publique.</a:t>
            </a:r>
            <a:endParaRPr lang="en-US" sz="1200" dirty="0">
              <a:solidFill>
                <a:srgbClr val="FF0000"/>
              </a:solidFill>
            </a:endParaRPr>
          </a:p>
        </p:txBody>
      </p:sp>
      <p:sp>
        <p:nvSpPr>
          <p:cNvPr id="10" name="Shape 8"/>
          <p:cNvSpPr/>
          <p:nvPr/>
        </p:nvSpPr>
        <p:spPr>
          <a:xfrm>
            <a:off x="274320" y="1627632"/>
            <a:ext cx="8595360" cy="132588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27632"/>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276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DÉFINITION LÉGALE</a:t>
            </a:r>
            <a:endParaRPr lang="en-US" sz="1050" dirty="0"/>
          </a:p>
        </p:txBody>
      </p:sp>
      <p:sp>
        <p:nvSpPr>
          <p:cNvPr id="13" name="Text 11"/>
          <p:cNvSpPr/>
          <p:nvPr/>
        </p:nvSpPr>
        <p:spPr>
          <a:xfrm>
            <a:off x="384048" y="1975104"/>
            <a:ext cx="8412480" cy="932688"/>
          </a:xfrm>
          <a:prstGeom prst="rect">
            <a:avLst/>
          </a:prstGeom>
          <a:noFill/>
          <a:ln/>
        </p:spPr>
        <p:txBody>
          <a:bodyPr wrap="square" rtlCol="0" anchor="t"/>
          <a:lstStyle/>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Ce sont des services collectifs offerts à la place, DÉTERMINÉS EN PARTIE en fonction de la demande des usagers.</a:t>
            </a:r>
            <a:endParaRPr lang="en-US" sz="1000" dirty="0">
              <a:solidFill>
                <a:srgbClr val="FF0000"/>
              </a:solidFill>
            </a:endParaRPr>
          </a:p>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Les règles de tarification sont établies à l'avance </a:t>
            </a:r>
            <a:r>
              <a:rPr lang="en-US" sz="1000" dirty="0">
                <a:solidFill>
                  <a:srgbClr val="3A3A3A"/>
                </a:solidFill>
                <a:latin typeface="Calibri" pitchFamily="34" charset="0"/>
                <a:ea typeface="Calibri" pitchFamily="34" charset="-122"/>
                <a:cs typeface="Calibri" pitchFamily="34" charset="-120"/>
              </a:rPr>
              <a:t>— les véhicules ont une capacité MINIMALE de 4 places (conducteur inclus).</a:t>
            </a:r>
            <a:endParaRPr lang="en-US" sz="1000" dirty="0"/>
          </a:p>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Ils se distinguent des services réguliers car les véhicules n'empruntent PAS d'itinéraire fixe et ne respectent pas d'horaire précis.</a:t>
            </a:r>
            <a:endParaRPr lang="en-US" sz="1000" dirty="0">
              <a:solidFill>
                <a:srgbClr val="FF0000"/>
              </a:solidFill>
            </a:endParaRPr>
          </a:p>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Les TAD sont organisés par des professionnels du transport sous l'autorité d'une collectivité </a:t>
            </a:r>
            <a:r>
              <a:rPr lang="en-US" sz="1000" dirty="0">
                <a:solidFill>
                  <a:srgbClr val="3A3A3A"/>
                </a:solidFill>
                <a:latin typeface="Calibri" pitchFamily="34" charset="0"/>
                <a:ea typeface="Calibri" pitchFamily="34" charset="-122"/>
                <a:cs typeface="Calibri" pitchFamily="34" charset="-120"/>
              </a:rPr>
              <a:t>— ils ne sont PAS des taxis ni des VTC.</a:t>
            </a:r>
            <a:endParaRPr lang="en-US" sz="1000" dirty="0"/>
          </a:p>
        </p:txBody>
      </p:sp>
      <p:sp>
        <p:nvSpPr>
          <p:cNvPr id="14" name="Shape 12"/>
          <p:cNvSpPr/>
          <p:nvPr/>
        </p:nvSpPr>
        <p:spPr>
          <a:xfrm>
            <a:off x="274320" y="3035808"/>
            <a:ext cx="4160520" cy="157276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274320" y="3035808"/>
            <a:ext cx="4160520" cy="301752"/>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365760" y="303580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EXEMPLES CONCRETS</a:t>
            </a:r>
            <a:endParaRPr lang="en-US" sz="1050" dirty="0"/>
          </a:p>
        </p:txBody>
      </p:sp>
      <p:sp>
        <p:nvSpPr>
          <p:cNvPr id="17" name="Text 15"/>
          <p:cNvSpPr/>
          <p:nvPr/>
        </p:nvSpPr>
        <p:spPr>
          <a:xfrm>
            <a:off x="384048" y="3383280"/>
            <a:ext cx="3977640" cy="1179576"/>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Commune rurale : navette hebdomadaire vers le marché local, à heure connue.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Service nocturne à la demande : bus passe seulement si des usagers ont réservé la veille.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Transport médical flexible : itinéraire adapté selon les rendez-vous des patients.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Desserte d'un hameau isolé : service actif seulement sur réservation.</a:t>
            </a:r>
            <a:endParaRPr lang="en-US" sz="1000" dirty="0"/>
          </a:p>
        </p:txBody>
      </p:sp>
      <p:sp>
        <p:nvSpPr>
          <p:cNvPr id="18" name="Shape 16"/>
          <p:cNvSpPr/>
          <p:nvPr/>
        </p:nvSpPr>
        <p:spPr>
          <a:xfrm>
            <a:off x="4709160" y="3035808"/>
            <a:ext cx="4160520" cy="157276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9" name="Shape 17"/>
          <p:cNvSpPr/>
          <p:nvPr/>
        </p:nvSpPr>
        <p:spPr>
          <a:xfrm>
            <a:off x="4709160" y="3035808"/>
            <a:ext cx="4160520" cy="301752"/>
          </a:xfrm>
          <a:prstGeom prst="rect">
            <a:avLst/>
          </a:prstGeom>
          <a:solidFill>
            <a:srgbClr val="1A3A5C"/>
          </a:solidFill>
          <a:ln w="12700">
            <a:solidFill>
              <a:srgbClr val="1A3A5C"/>
            </a:solidFill>
            <a:prstDash val="solid"/>
          </a:ln>
        </p:spPr>
        <p:txBody>
          <a:bodyPr/>
          <a:lstStyle/>
          <a:p>
            <a:endParaRPr lang="fr-FR"/>
          </a:p>
        </p:txBody>
      </p:sp>
      <p:sp>
        <p:nvSpPr>
          <p:cNvPr id="20" name="Text 18"/>
          <p:cNvSpPr/>
          <p:nvPr/>
        </p:nvSpPr>
        <p:spPr>
          <a:xfrm>
            <a:off x="4800600" y="303580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DIFFÉRENCES AVEC UN TAXI</a:t>
            </a:r>
            <a:endParaRPr lang="en-US" sz="1050" dirty="0"/>
          </a:p>
        </p:txBody>
      </p:sp>
      <p:sp>
        <p:nvSpPr>
          <p:cNvPr id="21" name="Text 19"/>
          <p:cNvSpPr/>
          <p:nvPr/>
        </p:nvSpPr>
        <p:spPr>
          <a:xfrm>
            <a:off x="4818888" y="3383280"/>
            <a:ext cx="3977640" cy="1179576"/>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COLLECTIF : plusieurs passagers dans le même véhicule.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TARIF RÉGLEMENTÉ : identique pour tous, fixé par la collectivité à l'avance.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ORGANISÉ par une autorité publique, pas par un conducteur indépendant.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Pas de carte professionnelle T3P requise pour les conducteurs TAD.</a:t>
            </a:r>
            <a:endParaRPr lang="en-US" sz="1000" dirty="0"/>
          </a:p>
        </p:txBody>
      </p:sp>
      <p:sp>
        <p:nvSpPr>
          <p:cNvPr id="22" name="Rectangle 2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3" name="Rectangle 2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2.3 — Les services occasionnels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Transport de groupes à la demande d'un donneur d'ordre</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12/88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services occasionnels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Transport de groupes — Règle importante depuis le 01/01/2017 (loi Grandguillaume)</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13/88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FF0000"/>
                </a:solidFill>
                <a:latin typeface="Calibri" pitchFamily="34" charset="0"/>
                <a:ea typeface="Calibri" pitchFamily="34" charset="-122"/>
                <a:cs typeface="Calibri" pitchFamily="34" charset="-120"/>
              </a:rPr>
              <a:t>Les services occasionnels sont des transports collectifs ponctuels, organisés pour un groupe précis à l'occasion d'un événement particulier. </a:t>
            </a:r>
            <a:r>
              <a:rPr lang="en-US" sz="1200" dirty="0">
                <a:solidFill>
                  <a:srgbClr val="3A3A3A"/>
                </a:solidFill>
                <a:latin typeface="Calibri" pitchFamily="34" charset="0"/>
                <a:ea typeface="Calibri" pitchFamily="34" charset="-122"/>
                <a:cs typeface="Calibri" pitchFamily="34" charset="-120"/>
              </a:rPr>
              <a:t>Ils font l'objet d'une réglementation stricte, notamment depuis 2017 dans les grandes agglomérations.</a:t>
            </a:r>
            <a:endParaRPr lang="en-US" sz="1200" dirty="0"/>
          </a:p>
        </p:txBody>
      </p:sp>
      <p:sp>
        <p:nvSpPr>
          <p:cNvPr id="10" name="Shape 8"/>
          <p:cNvSpPr/>
          <p:nvPr/>
        </p:nvSpPr>
        <p:spPr>
          <a:xfrm>
            <a:off x="274320" y="1627632"/>
            <a:ext cx="8595360" cy="129844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27632"/>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276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DÉFINITION LÉGALE ET OBLIGATIONS</a:t>
            </a:r>
            <a:endParaRPr lang="en-US" sz="1050" dirty="0"/>
          </a:p>
        </p:txBody>
      </p:sp>
      <p:sp>
        <p:nvSpPr>
          <p:cNvPr id="13" name="Text 11"/>
          <p:cNvSpPr/>
          <p:nvPr/>
        </p:nvSpPr>
        <p:spPr>
          <a:xfrm>
            <a:off x="384048" y="1975104"/>
            <a:ext cx="8412480" cy="905256"/>
          </a:xfrm>
          <a:prstGeom prst="rect">
            <a:avLst/>
          </a:prstGeom>
          <a:noFill/>
          <a:ln/>
        </p:spPr>
        <p:txBody>
          <a:bodyPr wrap="square" rtlCol="0" anchor="t"/>
          <a:lstStyle/>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Services qui ne répondent PAS à la définition des services réguliers et qui transportent des groupes d'au moins 2 personnes, à l'initiative d'un donneur d'ordre ou du transporteur.</a:t>
            </a:r>
            <a:endParaRPr lang="en-US" sz="1000" dirty="0">
              <a:solidFill>
                <a:srgbClr val="FF0000"/>
              </a:solidFill>
            </a:endParaRPr>
          </a:p>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Exemples : autocar pour une colonie de vacances, visite touristique, concert, exposition, circuit vendu par une agence de voyage.</a:t>
            </a:r>
            <a:endParaRPr lang="en-US" sz="1000" dirty="0">
              <a:solidFill>
                <a:srgbClr val="FF0000"/>
              </a:solidFill>
            </a:endParaRPr>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OBLIGATION : ne peuvent être exécutés que par des entreprises inscrites au Registre électronique national des entreprises de transport (DREAL).</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OBLIGATION : réservation préalable avec un BILLET COLLECTIF — signalétique distinctive apposée sur le véhicule.</a:t>
            </a:r>
            <a:endParaRPr lang="en-US" sz="1000" dirty="0"/>
          </a:p>
        </p:txBody>
      </p:sp>
      <p:sp>
        <p:nvSpPr>
          <p:cNvPr id="14" name="Shape 12"/>
          <p:cNvSpPr/>
          <p:nvPr/>
        </p:nvSpPr>
        <p:spPr>
          <a:xfrm>
            <a:off x="274320" y="2999232"/>
            <a:ext cx="8595360" cy="530352"/>
          </a:xfrm>
          <a:prstGeom prst="rect">
            <a:avLst/>
          </a:prstGeom>
          <a:solidFill>
            <a:srgbClr val="FEF0EE"/>
          </a:solidFill>
          <a:ln w="19050">
            <a:solidFill>
              <a:srgbClr val="C0392B"/>
            </a:solidFill>
            <a:prstDash val="solid"/>
          </a:ln>
        </p:spPr>
        <p:txBody>
          <a:bodyPr/>
          <a:lstStyle/>
          <a:p>
            <a:endParaRPr lang="fr-FR"/>
          </a:p>
        </p:txBody>
      </p:sp>
      <p:sp>
        <p:nvSpPr>
          <p:cNvPr id="15" name="Shape 13"/>
          <p:cNvSpPr/>
          <p:nvPr/>
        </p:nvSpPr>
        <p:spPr>
          <a:xfrm>
            <a:off x="274320" y="2999232"/>
            <a:ext cx="54864" cy="530352"/>
          </a:xfrm>
          <a:prstGeom prst="rect">
            <a:avLst/>
          </a:prstGeom>
          <a:solidFill>
            <a:srgbClr val="C0392B"/>
          </a:solidFill>
          <a:ln w="12700">
            <a:solidFill>
              <a:srgbClr val="C0392B"/>
            </a:solidFill>
            <a:prstDash val="solid"/>
          </a:ln>
        </p:spPr>
        <p:txBody>
          <a:bodyPr/>
          <a:lstStyle/>
          <a:p>
            <a:endParaRPr lang="fr-FR"/>
          </a:p>
        </p:txBody>
      </p:sp>
      <p:sp>
        <p:nvSpPr>
          <p:cNvPr id="16" name="Text 14"/>
          <p:cNvSpPr/>
          <p:nvPr/>
        </p:nvSpPr>
        <p:spPr>
          <a:xfrm>
            <a:off x="384048" y="2999232"/>
            <a:ext cx="8467344" cy="53035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RÈGLE DEPUIS LE 01/01/2017 (loi Grandguillaume du 29/12/2016) : Interdiction de réaliser des services occasionnels avec des véhicules de MOINS DE 10 PLACES pour des trajets entièrement situés dans des agglomérations de plus de 100 000 habitants. Objectif : protéger les taxis et les VTC.</a:t>
            </a:r>
            <a:endParaRPr lang="en-US" sz="1000" dirty="0"/>
          </a:p>
        </p:txBody>
      </p:sp>
      <p:sp>
        <p:nvSpPr>
          <p:cNvPr id="17" name="Shape 15"/>
          <p:cNvSpPr/>
          <p:nvPr/>
        </p:nvSpPr>
        <p:spPr>
          <a:xfrm>
            <a:off x="274320" y="3611880"/>
            <a:ext cx="4160520" cy="111556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8" name="Shape 16"/>
          <p:cNvSpPr/>
          <p:nvPr/>
        </p:nvSpPr>
        <p:spPr>
          <a:xfrm>
            <a:off x="274320" y="3611880"/>
            <a:ext cx="4160520" cy="301752"/>
          </a:xfrm>
          <a:prstGeom prst="rect">
            <a:avLst/>
          </a:prstGeom>
          <a:solidFill>
            <a:srgbClr val="2860A8"/>
          </a:solidFill>
          <a:ln w="12700">
            <a:solidFill>
              <a:srgbClr val="2860A8"/>
            </a:solidFill>
            <a:prstDash val="solid"/>
          </a:ln>
        </p:spPr>
        <p:txBody>
          <a:bodyPr/>
          <a:lstStyle/>
          <a:p>
            <a:endParaRPr lang="fr-FR"/>
          </a:p>
        </p:txBody>
      </p:sp>
      <p:sp>
        <p:nvSpPr>
          <p:cNvPr id="19" name="Text 17"/>
          <p:cNvSpPr/>
          <p:nvPr/>
        </p:nvSpPr>
        <p:spPr>
          <a:xfrm>
            <a:off x="365760" y="3611880"/>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EXEMPLES DE SERVICES OCCASIONNELS</a:t>
            </a:r>
            <a:endParaRPr lang="en-US" sz="1050" dirty="0"/>
          </a:p>
        </p:txBody>
      </p:sp>
      <p:sp>
        <p:nvSpPr>
          <p:cNvPr id="20" name="Text 18"/>
          <p:cNvSpPr/>
          <p:nvPr/>
        </p:nvSpPr>
        <p:spPr>
          <a:xfrm>
            <a:off x="384048" y="3959352"/>
            <a:ext cx="3977640" cy="722376"/>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Autocar loué pour une colonie de vacances.</a:t>
            </a:r>
            <a:endParaRPr lang="en-US" sz="1000" dirty="0"/>
          </a:p>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Circuit touristique vendu par une agence de voyage.</a:t>
            </a:r>
            <a:endParaRPr lang="en-US" sz="1000" dirty="0">
              <a:solidFill>
                <a:srgbClr val="FF0000"/>
              </a:solidFill>
            </a:endParaRPr>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Transport pour un concert ou une exposition.</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Navette aller-retour pour un événement sportif.</a:t>
            </a:r>
            <a:endParaRPr lang="en-US" sz="1000" dirty="0"/>
          </a:p>
        </p:txBody>
      </p:sp>
      <p:sp>
        <p:nvSpPr>
          <p:cNvPr id="21" name="Shape 19"/>
          <p:cNvSpPr/>
          <p:nvPr/>
        </p:nvSpPr>
        <p:spPr>
          <a:xfrm>
            <a:off x="4709160" y="3611880"/>
            <a:ext cx="4160520" cy="111556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22" name="Shape 20"/>
          <p:cNvSpPr/>
          <p:nvPr/>
        </p:nvSpPr>
        <p:spPr>
          <a:xfrm>
            <a:off x="4709160" y="3611880"/>
            <a:ext cx="4160520" cy="301752"/>
          </a:xfrm>
          <a:prstGeom prst="rect">
            <a:avLst/>
          </a:prstGeom>
          <a:solidFill>
            <a:srgbClr val="1A3A5C"/>
          </a:solidFill>
          <a:ln w="12700">
            <a:solidFill>
              <a:srgbClr val="1A3A5C"/>
            </a:solidFill>
            <a:prstDash val="solid"/>
          </a:ln>
        </p:spPr>
        <p:txBody>
          <a:bodyPr/>
          <a:lstStyle/>
          <a:p>
            <a:endParaRPr lang="fr-FR"/>
          </a:p>
        </p:txBody>
      </p:sp>
      <p:sp>
        <p:nvSpPr>
          <p:cNvPr id="23" name="Text 21"/>
          <p:cNvSpPr/>
          <p:nvPr/>
        </p:nvSpPr>
        <p:spPr>
          <a:xfrm>
            <a:off x="4800600" y="3611880"/>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CE QUI LES DISTINGUE DES SERVICES RÉGULIERS</a:t>
            </a:r>
            <a:endParaRPr lang="en-US" sz="1050" dirty="0"/>
          </a:p>
        </p:txBody>
      </p:sp>
      <p:sp>
        <p:nvSpPr>
          <p:cNvPr id="24" name="Text 22"/>
          <p:cNvSpPr/>
          <p:nvPr/>
        </p:nvSpPr>
        <p:spPr>
          <a:xfrm>
            <a:off x="4818888" y="3959352"/>
            <a:ext cx="3977640" cy="722376"/>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Pas d'itinéraire fixe — service ponctuel et événementiel.</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Réservé à un groupe précis (pas ouvert à tous).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Billet COLLECTIF (pas de billet individuel).</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Inscription au registre DREAL obligatoire.</a:t>
            </a:r>
            <a:endParaRPr lang="en-US" sz="1000" dirty="0"/>
          </a:p>
        </p:txBody>
      </p:sp>
      <p:sp>
        <p:nvSpPr>
          <p:cNvPr id="25" name="Rectangle 2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6" name="Rectangle 2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Comparatif des 3 types collectifs — Conditions et exemples</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14/88</a:t>
            </a:r>
            <a:endParaRPr lang="en-US" sz="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2743202"/>
        </p:xfrm>
        <a:graphic>
          <a:graphicData uri="http://schemas.openxmlformats.org/drawingml/2006/table">
            <a:tbl>
              <a:tblPr/>
              <a:tblGrid>
                <a:gridCol w="1828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39188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Critère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Services réguliers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Services à la demande (TAD)</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Services occasionnels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91886">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Public cible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Tout le monde — sans réservation</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Individus ayant réservé à l'avance</a:t>
                      </a:r>
                      <a:endParaRPr lang="en-US" sz="950" dirty="0">
                        <a:latin typeface="Calibri" charset="0"/>
                        <a:ea typeface="Calibri" charset="0"/>
                        <a:cs typeface="Calibri" charset="0"/>
                      </a:endParaRPr>
                    </a:p>
                    <a:p>
                      <a:pPr marL="0" indent="0">
                        <a:buNone/>
                      </a:pPr>
                      <a:r>
                        <a:rPr lang="en-US" sz="950" dirty="0">
                          <a:solidFill>
                            <a:srgbClr val="3A3A3A"/>
                          </a:solidFill>
                          <a:latin typeface="Calibri" pitchFamily="34" charset="0"/>
                          <a:ea typeface="Calibri" pitchFamily="34" charset="-122"/>
                          <a:cs typeface="Calibri" pitchFamily="34" charset="-120"/>
                        </a:rPr>
                        <a:t>(donneur d'ordre = la collectivité locale)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Groupe CONSTITUÉ par un donneur d'ordre (école, asso, entreprise...)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1886">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Itinéraire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Fixe et publié</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Variable selon les réservations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Libre — défini pour l'événement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391886">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Tarif</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Unique, affiché, identique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Réglementé par la collectivité</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Négocié — variable selon contrat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1886">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Billet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Individuel</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Individuel ou collectif</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COLLECTIF obligatoire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391886">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Inscription DREAL</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Non obligatoire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Non obligatoire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OBLIGATOIRE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1886">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Conditions conducteur</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Pas de carte pro T3P</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Pas de carte pro T3P</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Permis D + FIMO voyageurs OU capacité transport léger</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6"/>
                  </a:ext>
                </a:extLst>
              </a:tr>
            </a:tbl>
          </a:graphicData>
        </a:graphic>
      </p:graphicFrame>
      <p:sp>
        <p:nvSpPr>
          <p:cNvPr id="9" name="Shape 6"/>
          <p:cNvSpPr/>
          <p:nvPr/>
        </p:nvSpPr>
        <p:spPr>
          <a:xfrm>
            <a:off x="274320" y="3730752"/>
            <a:ext cx="3977640" cy="347472"/>
          </a:xfrm>
          <a:prstGeom prst="rect">
            <a:avLst/>
          </a:prstGeom>
          <a:solidFill>
            <a:srgbClr val="2860A8"/>
          </a:solidFill>
          <a:ln w="12700">
            <a:solidFill>
              <a:srgbClr val="2860A8"/>
            </a:solidFill>
            <a:prstDash val="solid"/>
          </a:ln>
        </p:spPr>
        <p:txBody>
          <a:bodyPr/>
          <a:lstStyle/>
          <a:p>
            <a:endParaRPr lang="fr-FR"/>
          </a:p>
        </p:txBody>
      </p:sp>
      <p:sp>
        <p:nvSpPr>
          <p:cNvPr id="10" name="Text 7"/>
          <p:cNvSpPr/>
          <p:nvPr/>
        </p:nvSpPr>
        <p:spPr>
          <a:xfrm>
            <a:off x="347472" y="3730752"/>
            <a:ext cx="3886200" cy="34747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Exemples TAD à LYON — commandés par la Métropole de Lyon</a:t>
            </a:r>
            <a:endParaRPr lang="en-US" sz="850" dirty="0"/>
          </a:p>
          <a:p>
            <a:pPr marL="0" indent="0">
              <a:buNone/>
            </a:pPr>
            <a:r>
              <a:rPr lang="en-US" sz="850" b="1" dirty="0">
                <a:solidFill>
                  <a:srgbClr val="FFFFFF"/>
                </a:solidFill>
                <a:latin typeface="Calibri" pitchFamily="34" charset="0"/>
                <a:ea typeface="Calibri" pitchFamily="34" charset="-122"/>
                <a:cs typeface="Calibri" pitchFamily="34" charset="-120"/>
              </a:rPr>
              <a:t>(donneur d'ordre = la collectivité, pas l'usager)</a:t>
            </a:r>
            <a:endParaRPr lang="en-US" sz="850" dirty="0"/>
          </a:p>
        </p:txBody>
      </p:sp>
      <p:sp>
        <p:nvSpPr>
          <p:cNvPr id="11" name="Shape 8"/>
          <p:cNvSpPr/>
          <p:nvPr/>
        </p:nvSpPr>
        <p:spPr>
          <a:xfrm>
            <a:off x="274320" y="4078224"/>
            <a:ext cx="3977640" cy="987552"/>
          </a:xfrm>
          <a:prstGeom prst="rect">
            <a:avLst/>
          </a:prstGeom>
          <a:solidFill>
            <a:srgbClr val="E8F1FA"/>
          </a:solidFill>
          <a:ln w="6350">
            <a:solidFill>
              <a:srgbClr val="D0DCE8"/>
            </a:solidFill>
            <a:prstDash val="solid"/>
          </a:ln>
        </p:spPr>
        <p:txBody>
          <a:bodyPr/>
          <a:lstStyle/>
          <a:p>
            <a:endParaRPr lang="fr-FR"/>
          </a:p>
        </p:txBody>
      </p:sp>
      <p:sp>
        <p:nvSpPr>
          <p:cNvPr id="12" name="Text 9"/>
          <p:cNvSpPr/>
          <p:nvPr/>
        </p:nvSpPr>
        <p:spPr>
          <a:xfrm>
            <a:off x="365760" y="4096512"/>
            <a:ext cx="3840480" cy="9326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 Navette TAD Bourg-en-Bresse ↔ villages du Ain (Keolis)</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Transport à la demande nocturne Optibus (périphérie Lyon)</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Navette médicale sur résa pour zones rurales (SYTRAL)</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Réseau TAD Libellule — Ain Dombes Saône (résa 48h avant)</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Navette scolaire TAD Villages de l'Ain sur réservation</a:t>
            </a:r>
            <a:endParaRPr lang="en-US" sz="850" dirty="0"/>
          </a:p>
        </p:txBody>
      </p:sp>
      <p:sp>
        <p:nvSpPr>
          <p:cNvPr id="13" name="Shape 10"/>
          <p:cNvSpPr/>
          <p:nvPr/>
        </p:nvSpPr>
        <p:spPr>
          <a:xfrm>
            <a:off x="4434840" y="3730752"/>
            <a:ext cx="3977640" cy="347472"/>
          </a:xfrm>
          <a:prstGeom prst="rect">
            <a:avLst/>
          </a:prstGeom>
          <a:solidFill>
            <a:srgbClr val="1A3A5C"/>
          </a:solidFill>
          <a:ln w="12700">
            <a:solidFill>
              <a:srgbClr val="1A3A5C"/>
            </a:solidFill>
            <a:prstDash val="solid"/>
          </a:ln>
        </p:spPr>
        <p:txBody>
          <a:bodyPr/>
          <a:lstStyle/>
          <a:p>
            <a:endParaRPr lang="fr-FR"/>
          </a:p>
        </p:txBody>
      </p:sp>
      <p:sp>
        <p:nvSpPr>
          <p:cNvPr id="14" name="Text 11"/>
          <p:cNvSpPr/>
          <p:nvPr/>
        </p:nvSpPr>
        <p:spPr>
          <a:xfrm>
            <a:off x="4507992" y="3730752"/>
            <a:ext cx="3886200" cy="34747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Exemples Occasionnels à LYON</a:t>
            </a:r>
            <a:endParaRPr lang="en-US" sz="850" dirty="0"/>
          </a:p>
          <a:p>
            <a:pPr marL="0" indent="0">
              <a:buNone/>
            </a:pPr>
            <a:r>
              <a:rPr lang="en-US" sz="850" b="1" dirty="0">
                <a:solidFill>
                  <a:srgbClr val="FFFFFF"/>
                </a:solidFill>
                <a:latin typeface="Calibri" pitchFamily="34" charset="0"/>
                <a:ea typeface="Calibri" pitchFamily="34" charset="-122"/>
                <a:cs typeface="Calibri" pitchFamily="34" charset="-120"/>
              </a:rPr>
              <a:t>(donneur d'ordre = école, asso, entreprise — groupe déjà formé)</a:t>
            </a:r>
            <a:endParaRPr lang="en-US" sz="850" dirty="0"/>
          </a:p>
        </p:txBody>
      </p:sp>
      <p:sp>
        <p:nvSpPr>
          <p:cNvPr id="8" name="Shape 12"/>
          <p:cNvSpPr/>
          <p:nvPr/>
        </p:nvSpPr>
        <p:spPr>
          <a:xfrm>
            <a:off x="4434840" y="4078224"/>
            <a:ext cx="3977640" cy="987552"/>
          </a:xfrm>
          <a:prstGeom prst="rect">
            <a:avLst/>
          </a:prstGeom>
          <a:solidFill>
            <a:srgbClr val="E8F1FA"/>
          </a:solidFill>
          <a:ln w="6350">
            <a:solidFill>
              <a:srgbClr val="D0DCE8"/>
            </a:solidFill>
            <a:prstDash val="solid"/>
          </a:ln>
        </p:spPr>
        <p:txBody>
          <a:bodyPr/>
          <a:lstStyle/>
          <a:p>
            <a:endParaRPr lang="fr-FR"/>
          </a:p>
        </p:txBody>
      </p:sp>
      <p:sp>
        <p:nvSpPr>
          <p:cNvPr id="16" name="Text 13"/>
          <p:cNvSpPr/>
          <p:nvPr/>
        </p:nvSpPr>
        <p:spPr>
          <a:xfrm>
            <a:off x="4526280" y="4096512"/>
            <a:ext cx="3840480" cy="932688"/>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 Car pour sortie scolaire : l'école commande = donneur d'ordre</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Car colonie de vacances : l'asso = donneur d'ordre</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Car pour concert à Fourvière : l'agence = donneur d'ordre</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Navette séminaire entreprise : l'entreprise = donneur d'ordre</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Circuit touristique Lyon Presqu'île : agence tour = donneur d'ordre</a:t>
            </a:r>
            <a:endParaRPr lang="en-US" sz="850" dirty="0"/>
          </a:p>
        </p:txBody>
      </p:sp>
      <p:sp>
        <p:nvSpPr>
          <p:cNvPr id="17" name="Shape 14"/>
          <p:cNvSpPr/>
          <p:nvPr/>
        </p:nvSpPr>
        <p:spPr>
          <a:xfrm>
            <a:off x="274320" y="5120640"/>
            <a:ext cx="8595360" cy="137160"/>
          </a:xfrm>
          <a:prstGeom prst="rect">
            <a:avLst/>
          </a:prstGeom>
          <a:solidFill>
            <a:srgbClr val="FFF8E1"/>
          </a:solidFill>
          <a:ln w="12700">
            <a:solidFill>
              <a:srgbClr val="F4A227"/>
            </a:solidFill>
            <a:prstDash val="solid"/>
          </a:ln>
        </p:spPr>
        <p:txBody>
          <a:bodyPr/>
          <a:lstStyle/>
          <a:p>
            <a:endParaRPr lang="fr-FR"/>
          </a:p>
        </p:txBody>
      </p:sp>
      <p:sp>
        <p:nvSpPr>
          <p:cNvPr id="18" name="Shape 15"/>
          <p:cNvSpPr/>
          <p:nvPr/>
        </p:nvSpPr>
        <p:spPr>
          <a:xfrm>
            <a:off x="274320" y="5120640"/>
            <a:ext cx="54864" cy="137160"/>
          </a:xfrm>
          <a:prstGeom prst="rect">
            <a:avLst/>
          </a:prstGeom>
          <a:solidFill>
            <a:srgbClr val="F4A227"/>
          </a:solidFill>
          <a:ln w="12700">
            <a:solidFill>
              <a:srgbClr val="F4A227"/>
            </a:solidFill>
            <a:prstDash val="solid"/>
          </a:ln>
        </p:spPr>
        <p:txBody>
          <a:bodyPr/>
          <a:lstStyle/>
          <a:p>
            <a:endParaRPr lang="fr-FR"/>
          </a:p>
        </p:txBody>
      </p:sp>
      <p:sp>
        <p:nvSpPr>
          <p:cNvPr id="19" name="Text 16"/>
          <p:cNvSpPr/>
          <p:nvPr/>
        </p:nvSpPr>
        <p:spPr>
          <a:xfrm>
            <a:off x="457200" y="5120640"/>
            <a:ext cx="8229600" cy="137160"/>
          </a:xfrm>
          <a:prstGeom prst="rect">
            <a:avLst/>
          </a:prstGeom>
          <a:noFill/>
          <a:ln/>
        </p:spPr>
        <p:txBody>
          <a:bodyPr wrap="square" rtlCol="0" anchor="ctr"/>
          <a:lstStyle/>
          <a:p>
            <a:pPr marL="0" indent="0">
              <a:buNone/>
            </a:pPr>
            <a:r>
              <a:rPr lang="en-US" sz="750" dirty="0">
                <a:solidFill>
                  <a:srgbClr val="3A3A3A"/>
                </a:solidFill>
                <a:latin typeface="Calibri" pitchFamily="34" charset="0"/>
                <a:ea typeface="Calibri" pitchFamily="34" charset="-122"/>
                <a:cs typeface="Calibri" pitchFamily="34" charset="-120"/>
              </a:rPr>
              <a:t>🔑  TAD : donneur d'ordre = la COLLECTIVITÉ (Métropole, Conseil Dép.). L'usager réserve mais ne commande pas le service. Occasionnel : donneur d'ordre = école, asso, entreprise → groupe précis.</a:t>
            </a:r>
            <a:endParaRPr lang="en-US" sz="750" dirty="0"/>
          </a:p>
        </p:txBody>
      </p:sp>
      <p:sp>
        <p:nvSpPr>
          <p:cNvPr id="20" name="Rectangle 1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1" name="Rectangle 2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3. La loi LOTI — Définition du T3P</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Loi n°82-1153 du 30 décembre 1982 — Le cadre légal fondateur</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15/88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28.jpeg"/>
          <p:cNvPicPr>
            <a:picLocks noChangeAspect="1"/>
          </p:cNvPicPr>
          <p:nvPr/>
        </p:nvPicPr>
        <p:blipFill>
          <a:blip r:embed="rId3"/>
          <a:stretch>
            <a:fillRect/>
          </a:stretch>
        </p:blipFill>
        <p:spPr>
          <a:xfrm>
            <a:off x="3880086" y="2820924"/>
            <a:ext cx="1383827" cy="1737360"/>
          </a:xfrm>
          <a:prstGeom prst="rect">
            <a:avLst/>
          </a:prstGeom>
          <a:ln w="9525">
            <a:solidFill>
              <a:srgbClr val="00B4D8"/>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La loi LOTI et la prestation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Loi n°82-1153 du 30 décembre 1982 — DREAL / DRIEAT</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16/88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FF0000"/>
                </a:solidFill>
                <a:latin typeface="Calibri" pitchFamily="34" charset="0"/>
                <a:ea typeface="Calibri" pitchFamily="34" charset="-122"/>
                <a:cs typeface="Calibri" pitchFamily="34" charset="-120"/>
              </a:rPr>
              <a:t>La loi LOTI est le texte fondateur de toute la réglementation du transport de personnes en France. C'est elle qui définit précisément ce qu'est le transport public particulier de personnes (T3P) et qui peut l'exercer.</a:t>
            </a:r>
            <a:endParaRPr lang="en-US" sz="1200" dirty="0">
              <a:solidFill>
                <a:srgbClr val="FF0000"/>
              </a:solidFill>
            </a:endParaRPr>
          </a:p>
        </p:txBody>
      </p:sp>
      <p:sp>
        <p:nvSpPr>
          <p:cNvPr id="10" name="Shape 8"/>
          <p:cNvSpPr/>
          <p:nvPr/>
        </p:nvSpPr>
        <p:spPr>
          <a:xfrm>
            <a:off x="274320" y="1627632"/>
            <a:ext cx="8595360" cy="84124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27632"/>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276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LOI LOTI — Loi n°82-1153 du 30 décembre 1982</a:t>
            </a:r>
            <a:endParaRPr lang="en-US" sz="1050" dirty="0"/>
          </a:p>
        </p:txBody>
      </p:sp>
      <p:sp>
        <p:nvSpPr>
          <p:cNvPr id="13" name="Text 11"/>
          <p:cNvSpPr/>
          <p:nvPr/>
        </p:nvSpPr>
        <p:spPr>
          <a:xfrm>
            <a:off x="384048" y="1975104"/>
            <a:ext cx="8412480" cy="560000"/>
          </a:xfrm>
          <a:prstGeom prst="rect">
            <a:avLst/>
          </a:prstGeom>
          <a:noFill/>
          <a:ln/>
        </p:spPr>
        <p:txBody>
          <a:bodyPr wrap="square" rtlCol="0" anchor="t"/>
          <a:lstStyle/>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Loi d'orientation des transports intérieurs — organise l'ensemble du transport de marchandises et de voyageurs en France</a:t>
            </a:r>
            <a:r>
              <a:rPr lang="en-US" sz="1000" dirty="0">
                <a:solidFill>
                  <a:srgbClr val="3A3A3A"/>
                </a:solidFill>
                <a:latin typeface="Calibri" pitchFamily="34" charset="0"/>
                <a:ea typeface="Calibri" pitchFamily="34" charset="-122"/>
                <a:cs typeface="Calibri" pitchFamily="34" charset="-120"/>
              </a:rPr>
              <a: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Répartition des compétences : la DREAL/DRIEAT gère le transport public COLLECTIF (licences, registre des entreprises) ; la PRÉFECTURE délivre et peut retirer la carte professionnelle du T3P (transport public PARTICULIER).</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Elle distingue : transport public collectif, transport public particulier (T3P), et transport privé.</a:t>
            </a:r>
            <a:endParaRPr lang="en-US" sz="1000" dirty="0"/>
          </a:p>
        </p:txBody>
      </p:sp>
      <p:sp>
        <p:nvSpPr>
          <p:cNvPr id="14" name="Shape 12"/>
          <p:cNvSpPr/>
          <p:nvPr/>
        </p:nvSpPr>
        <p:spPr>
          <a:xfrm>
            <a:off x="274320" y="2542032"/>
            <a:ext cx="8595360" cy="960120"/>
          </a:xfrm>
          <a:prstGeom prst="rect">
            <a:avLst/>
          </a:prstGeom>
          <a:solidFill>
            <a:srgbClr val="EBF3FC"/>
          </a:solidFill>
          <a:ln w="19050">
            <a:solidFill>
              <a:srgbClr val="2860A8"/>
            </a:solidFill>
            <a:prstDash val="solid"/>
          </a:ln>
        </p:spPr>
        <p:txBody>
          <a:bodyPr/>
          <a:lstStyle/>
          <a:p>
            <a:endParaRPr lang="fr-FR"/>
          </a:p>
        </p:txBody>
      </p:sp>
      <p:sp>
        <p:nvSpPr>
          <p:cNvPr id="15" name="Shape 13"/>
          <p:cNvSpPr/>
          <p:nvPr/>
        </p:nvSpPr>
        <p:spPr>
          <a:xfrm>
            <a:off x="274320" y="2542032"/>
            <a:ext cx="64008" cy="960120"/>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457200" y="2560320"/>
            <a:ext cx="8229600" cy="256032"/>
          </a:xfrm>
          <a:prstGeom prst="rect">
            <a:avLst/>
          </a:prstGeom>
          <a:noFill/>
          <a:ln/>
        </p:spPr>
        <p:txBody>
          <a:bodyPr wrap="square" rtlCol="0" anchor="ctr"/>
          <a:lstStyle/>
          <a:p>
            <a:pPr marL="0" indent="0">
              <a:buNone/>
            </a:pPr>
            <a:r>
              <a:rPr lang="en-US" sz="1000" b="1" dirty="0">
                <a:solidFill>
                  <a:srgbClr val="1A3A5C"/>
                </a:solidFill>
                <a:latin typeface="Calibri" pitchFamily="34" charset="0"/>
                <a:ea typeface="Calibri" pitchFamily="34" charset="-122"/>
                <a:cs typeface="Calibri" pitchFamily="34" charset="-120"/>
              </a:rPr>
              <a:t>DÉFINITION OFFICIELLE :</a:t>
            </a:r>
            <a:endParaRPr lang="en-US" sz="1000" dirty="0"/>
          </a:p>
        </p:txBody>
      </p:sp>
      <p:sp>
        <p:nvSpPr>
          <p:cNvPr id="17" name="Text 15"/>
          <p:cNvSpPr/>
          <p:nvPr/>
        </p:nvSpPr>
        <p:spPr>
          <a:xfrm>
            <a:off x="457200" y="2816352"/>
            <a:ext cx="8229600" cy="658368"/>
          </a:xfrm>
          <a:prstGeom prst="rect">
            <a:avLst/>
          </a:prstGeom>
          <a:noFill/>
          <a:ln/>
        </p:spPr>
        <p:txBody>
          <a:bodyPr wrap="square" rtlCol="0" anchor="t"/>
          <a:lstStyle/>
          <a:p>
            <a:pPr marL="0" indent="0">
              <a:buNone/>
            </a:pPr>
            <a:r>
              <a:rPr lang="en-US" sz="1050" i="1" dirty="0">
                <a:solidFill>
                  <a:srgbClr val="FF0000"/>
                </a:solidFill>
                <a:latin typeface="Calibri" pitchFamily="34" charset="0"/>
                <a:ea typeface="Calibri" pitchFamily="34" charset="-122"/>
                <a:cs typeface="Calibri" pitchFamily="34" charset="-120"/>
              </a:rPr>
              <a:t>"Les prestations de transports publics particuliers de personnes sont des prestations de transport public routier de personnes qui ne relèvent NI des transports publics collectifs NI du transport privé routier de personnes. Elles sont exécutées à titre ONÉREUX par les taxis, les VTC et les véhicules motorisés à deux ou trois roues."</a:t>
            </a:r>
            <a:endParaRPr lang="en-US" sz="1050" dirty="0">
              <a:solidFill>
                <a:srgbClr val="FF0000"/>
              </a:solidFill>
            </a:endParaRPr>
          </a:p>
        </p:txBody>
      </p:sp>
      <p:sp>
        <p:nvSpPr>
          <p:cNvPr id="18" name="Shape 16"/>
          <p:cNvSpPr/>
          <p:nvPr/>
        </p:nvSpPr>
        <p:spPr>
          <a:xfrm>
            <a:off x="274320" y="3611880"/>
            <a:ext cx="2743200" cy="1115568"/>
          </a:xfrm>
          <a:prstGeom prst="rect">
            <a:avLst/>
          </a:prstGeom>
          <a:solidFill>
            <a:srgbClr val="E8F1FA"/>
          </a:solidFill>
          <a:ln w="6350">
            <a:solidFill>
              <a:srgbClr val="D0DCE8"/>
            </a:solidFill>
            <a:prstDash val="solid"/>
          </a:ln>
        </p:spPr>
        <p:txBody>
          <a:bodyPr/>
          <a:lstStyle/>
          <a:p>
            <a:endParaRPr lang="fr-FR"/>
          </a:p>
        </p:txBody>
      </p:sp>
      <p:sp>
        <p:nvSpPr>
          <p:cNvPr id="19" name="Shape 17"/>
          <p:cNvSpPr/>
          <p:nvPr/>
        </p:nvSpPr>
        <p:spPr>
          <a:xfrm>
            <a:off x="274320" y="3611880"/>
            <a:ext cx="2743200" cy="292608"/>
          </a:xfrm>
          <a:prstGeom prst="rect">
            <a:avLst/>
          </a:prstGeom>
          <a:solidFill>
            <a:srgbClr val="F4A227"/>
          </a:solidFill>
          <a:ln w="12700">
            <a:solidFill>
              <a:srgbClr val="F4A227"/>
            </a:solidFill>
            <a:prstDash val="solid"/>
          </a:ln>
        </p:spPr>
        <p:txBody>
          <a:bodyPr/>
          <a:lstStyle/>
          <a:p>
            <a:endParaRPr lang="fr-FR"/>
          </a:p>
        </p:txBody>
      </p:sp>
      <p:sp>
        <p:nvSpPr>
          <p:cNvPr id="20" name="Text 18"/>
          <p:cNvSpPr/>
          <p:nvPr/>
        </p:nvSpPr>
        <p:spPr>
          <a:xfrm>
            <a:off x="347472" y="3611880"/>
            <a:ext cx="2615184"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À titre ONÉREUX</a:t>
            </a:r>
            <a:endParaRPr lang="en-US" sz="1000" dirty="0"/>
          </a:p>
        </p:txBody>
      </p:sp>
      <p:sp>
        <p:nvSpPr>
          <p:cNvPr id="21" name="Text 19"/>
          <p:cNvSpPr/>
          <p:nvPr/>
        </p:nvSpPr>
        <p:spPr>
          <a:xfrm>
            <a:off x="365760" y="3931920"/>
            <a:ext cx="2578608" cy="77724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Le service est payant. Sans rémunération = covoiturage ou transport privé.</a:t>
            </a:r>
            <a:endParaRPr lang="en-US" sz="1000" dirty="0"/>
          </a:p>
        </p:txBody>
      </p:sp>
      <p:sp>
        <p:nvSpPr>
          <p:cNvPr id="22" name="Shape 20"/>
          <p:cNvSpPr/>
          <p:nvPr/>
        </p:nvSpPr>
        <p:spPr>
          <a:xfrm>
            <a:off x="3154680" y="3611880"/>
            <a:ext cx="2743200" cy="1115568"/>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3154680" y="3611880"/>
            <a:ext cx="2743200" cy="292608"/>
          </a:xfrm>
          <a:prstGeom prst="rect">
            <a:avLst/>
          </a:prstGeom>
          <a:solidFill>
            <a:srgbClr val="2860A8"/>
          </a:solidFill>
          <a:ln w="12700">
            <a:solidFill>
              <a:srgbClr val="2860A8"/>
            </a:solidFill>
            <a:prstDash val="solid"/>
          </a:ln>
        </p:spPr>
        <p:txBody>
          <a:bodyPr/>
          <a:lstStyle/>
          <a:p>
            <a:endParaRPr lang="fr-FR"/>
          </a:p>
        </p:txBody>
      </p:sp>
      <p:sp>
        <p:nvSpPr>
          <p:cNvPr id="24" name="Text 22"/>
          <p:cNvSpPr/>
          <p:nvPr/>
        </p:nvSpPr>
        <p:spPr>
          <a:xfrm>
            <a:off x="3227832" y="3611880"/>
            <a:ext cx="2615184"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NI collectif NI privé</a:t>
            </a:r>
            <a:endParaRPr lang="en-US" sz="1000" dirty="0"/>
          </a:p>
        </p:txBody>
      </p:sp>
      <p:sp>
        <p:nvSpPr>
          <p:cNvPr id="25" name="Text 23"/>
          <p:cNvSpPr/>
          <p:nvPr/>
        </p:nvSpPr>
        <p:spPr>
          <a:xfrm>
            <a:off x="3246120" y="3931920"/>
            <a:ext cx="2578608" cy="77724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Pas un bus/tram (collectif) ni une navette interne (privé).</a:t>
            </a:r>
            <a:endParaRPr lang="en-US" sz="1000" dirty="0"/>
          </a:p>
        </p:txBody>
      </p:sp>
      <p:sp>
        <p:nvSpPr>
          <p:cNvPr id="26" name="Shape 24"/>
          <p:cNvSpPr/>
          <p:nvPr/>
        </p:nvSpPr>
        <p:spPr>
          <a:xfrm>
            <a:off x="6035040" y="3611880"/>
            <a:ext cx="2743200" cy="1115568"/>
          </a:xfrm>
          <a:prstGeom prst="rect">
            <a:avLst/>
          </a:prstGeom>
          <a:solidFill>
            <a:srgbClr val="E8F1FA"/>
          </a:solidFill>
          <a:ln w="6350">
            <a:solidFill>
              <a:srgbClr val="D0DCE8"/>
            </a:solidFill>
            <a:prstDash val="solid"/>
          </a:ln>
        </p:spPr>
        <p:txBody>
          <a:bodyPr/>
          <a:lstStyle/>
          <a:p>
            <a:endParaRPr lang="fr-FR"/>
          </a:p>
        </p:txBody>
      </p:sp>
      <p:sp>
        <p:nvSpPr>
          <p:cNvPr id="27" name="Shape 25"/>
          <p:cNvSpPr/>
          <p:nvPr/>
        </p:nvSpPr>
        <p:spPr>
          <a:xfrm>
            <a:off x="6035040" y="3611880"/>
            <a:ext cx="2743200" cy="292608"/>
          </a:xfrm>
          <a:prstGeom prst="rect">
            <a:avLst/>
          </a:prstGeom>
          <a:solidFill>
            <a:srgbClr val="1A3A5C"/>
          </a:solidFill>
          <a:ln w="12700">
            <a:solidFill>
              <a:srgbClr val="1A3A5C"/>
            </a:solidFill>
            <a:prstDash val="solid"/>
          </a:ln>
        </p:spPr>
        <p:txBody>
          <a:bodyPr/>
          <a:lstStyle/>
          <a:p>
            <a:endParaRPr lang="fr-FR"/>
          </a:p>
        </p:txBody>
      </p:sp>
      <p:sp>
        <p:nvSpPr>
          <p:cNvPr id="28" name="Text 26"/>
          <p:cNvSpPr/>
          <p:nvPr/>
        </p:nvSpPr>
        <p:spPr>
          <a:xfrm>
            <a:off x="6108192" y="3611880"/>
            <a:ext cx="2615184"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Taxi, VTC ou VMDTR</a:t>
            </a:r>
            <a:endParaRPr lang="en-US" sz="1000" dirty="0"/>
          </a:p>
        </p:txBody>
      </p:sp>
      <p:sp>
        <p:nvSpPr>
          <p:cNvPr id="29" name="Text 27"/>
          <p:cNvSpPr/>
          <p:nvPr/>
        </p:nvSpPr>
        <p:spPr>
          <a:xfrm>
            <a:off x="6126480" y="3931920"/>
            <a:ext cx="2578608" cy="77724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Seules ces 3 professions sont légalement habilitées.</a:t>
            </a:r>
            <a:endParaRPr lang="en-US" sz="1000" dirty="0"/>
          </a:p>
        </p:txBody>
      </p:sp>
      <p:sp>
        <p:nvSpPr>
          <p:cNvPr id="30" name="Rectangle 2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1" name="Rectangle 3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La loi Grandguillaume — La réforme de 2016</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Loi n°2016-1920 du 29 décembre 2016 — Succède à la loi Thévenoud (2014)</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16b/88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FF0000"/>
                </a:solidFill>
                <a:latin typeface="Calibri" pitchFamily="34" charset="0"/>
                <a:ea typeface="Calibri" pitchFamily="34" charset="-122"/>
                <a:cs typeface="Calibri" pitchFamily="34" charset="-120"/>
              </a:rPr>
              <a:t>Après l'échec de la loi Thévenoud (2014) à encadrer les chauffeurs « LOTI » qui exploitaient une faille pour faire du transport individuel, le député Laurent Grandguillaume est missionné : la loi du 29 décembre 2016 restructure en profondeur le secteur T3P.</a:t>
            </a:r>
            <a:endParaRPr lang="en-US" sz="1200" dirty="0">
              <a:solidFill>
                <a:srgbClr val="FF0000"/>
              </a:solidFill>
            </a:endParaRPr>
          </a:p>
        </p:txBody>
      </p:sp>
      <p:sp>
        <p:nvSpPr>
          <p:cNvPr id="10" name="Shape 8"/>
          <p:cNvSpPr/>
          <p:nvPr/>
        </p:nvSpPr>
        <p:spPr>
          <a:xfrm>
            <a:off x="274320" y="1627632"/>
            <a:ext cx="8595360" cy="84124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27632"/>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276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LOI GRANDGUILLAUME — Loi n°2016-1920 du 29 décembre 2016</a:t>
            </a:r>
            <a:endParaRPr lang="en-US" sz="1050" dirty="0"/>
          </a:p>
        </p:txBody>
      </p:sp>
      <p:sp>
        <p:nvSpPr>
          <p:cNvPr id="13" name="Text 11"/>
          <p:cNvSpPr/>
          <p:nvPr/>
        </p:nvSpPr>
        <p:spPr>
          <a:xfrm>
            <a:off x="384048" y="1975104"/>
            <a:ext cx="8412480" cy="560000"/>
          </a:xfrm>
          <a:prstGeom prst="rect">
            <a:avLst/>
          </a:prstGeom>
          <a:noFill/>
          <a:ln/>
        </p:spPr>
        <p:txBody>
          <a:bodyPr wrap="square" rtlCol="0" anchor="t"/>
          <a:lstStyle/>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Instaure un TRONC COMMUN d'examen taxi/VTC, organisé par les Chambres de Métiers et de l'Artisanat (CMA).</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Renforce les obligations des PLATEFORMES VTC et durcit l'honorabilité professionnelle.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Restreint le statut LOTI : transport individuel interdit avec un véhicule de -10 places dans les agglos de +100 000 hab. (depuis le 01/01/2017).</a:t>
            </a:r>
            <a:endParaRPr lang="en-US" sz="1000" dirty="0"/>
          </a:p>
        </p:txBody>
      </p:sp>
      <p:sp>
        <p:nvSpPr>
          <p:cNvPr id="14" name="Shape 12"/>
          <p:cNvSpPr/>
          <p:nvPr/>
        </p:nvSpPr>
        <p:spPr>
          <a:xfrm>
            <a:off x="274320" y="2542032"/>
            <a:ext cx="8595360" cy="960120"/>
          </a:xfrm>
          <a:prstGeom prst="rect">
            <a:avLst/>
          </a:prstGeom>
          <a:solidFill>
            <a:srgbClr val="EBF3FC"/>
          </a:solidFill>
          <a:ln w="19050">
            <a:solidFill>
              <a:srgbClr val="2860A8"/>
            </a:solidFill>
            <a:prstDash val="solid"/>
          </a:ln>
        </p:spPr>
        <p:txBody>
          <a:bodyPr/>
          <a:lstStyle/>
          <a:p>
            <a:endParaRPr lang="fr-FR"/>
          </a:p>
        </p:txBody>
      </p:sp>
      <p:sp>
        <p:nvSpPr>
          <p:cNvPr id="15" name="Shape 13"/>
          <p:cNvSpPr/>
          <p:nvPr/>
        </p:nvSpPr>
        <p:spPr>
          <a:xfrm>
            <a:off x="274320" y="2542032"/>
            <a:ext cx="64008" cy="960120"/>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457200" y="2560320"/>
            <a:ext cx="8229600" cy="256032"/>
          </a:xfrm>
          <a:prstGeom prst="rect">
            <a:avLst/>
          </a:prstGeom>
          <a:noFill/>
          <a:ln/>
        </p:spPr>
        <p:txBody>
          <a:bodyPr wrap="square" rtlCol="0" anchor="ctr"/>
          <a:lstStyle/>
          <a:p>
            <a:pPr marL="0" indent="0">
              <a:buNone/>
            </a:pPr>
            <a:r>
              <a:rPr lang="en-US" sz="1000" b="1" dirty="0">
                <a:solidFill>
                  <a:srgbClr val="1A3A5C"/>
                </a:solidFill>
                <a:latin typeface="Calibri" pitchFamily="34" charset="0"/>
                <a:ea typeface="Calibri" pitchFamily="34" charset="-122"/>
                <a:cs typeface="Calibri" pitchFamily="34" charset="-120"/>
              </a:rPr>
              <a:t>OBJECTIF DE LA LOI :</a:t>
            </a:r>
            <a:endParaRPr lang="en-US" sz="1000" dirty="0"/>
          </a:p>
        </p:txBody>
      </p:sp>
      <p:sp>
        <p:nvSpPr>
          <p:cNvPr id="17" name="Text 15"/>
          <p:cNvSpPr/>
          <p:nvPr/>
        </p:nvSpPr>
        <p:spPr>
          <a:xfrm>
            <a:off x="457200" y="2816352"/>
            <a:ext cx="8229600" cy="658368"/>
          </a:xfrm>
          <a:prstGeom prst="rect">
            <a:avLst/>
          </a:prstGeom>
          <a:noFill/>
          <a:ln/>
        </p:spPr>
        <p:txBody>
          <a:bodyPr wrap="square" rtlCol="0" anchor="t"/>
          <a:lstStyle/>
          <a:p>
            <a:pPr marL="0" indent="0">
              <a:buNone/>
            </a:pPr>
            <a:r>
              <a:rPr lang="en-US" sz="1050" i="1" dirty="0">
                <a:solidFill>
                  <a:srgbClr val="FF0000"/>
                </a:solidFill>
                <a:latin typeface="Calibri" pitchFamily="34" charset="0"/>
                <a:ea typeface="Calibri" pitchFamily="34" charset="-122"/>
                <a:cs typeface="Calibri" pitchFamily="34" charset="-120"/>
              </a:rPr>
              <a:t>"Mettre fin au contournement de la réglementation taxi/VTC par des milliers de chauffeurs utilisant le statut LOTI (1982) — réservé au transport de groupe — pour faire du transport individuel rémunéré, en dehors de tout cadre réglementaire."</a:t>
            </a:r>
            <a:endParaRPr lang="en-US" sz="1050" dirty="0">
              <a:solidFill>
                <a:srgbClr val="FF0000"/>
              </a:solidFill>
            </a:endParaRPr>
          </a:p>
        </p:txBody>
      </p:sp>
      <p:sp>
        <p:nvSpPr>
          <p:cNvPr id="18" name="Shape 16"/>
          <p:cNvSpPr/>
          <p:nvPr/>
        </p:nvSpPr>
        <p:spPr>
          <a:xfrm>
            <a:off x="274320" y="3611880"/>
            <a:ext cx="2743200" cy="1115568"/>
          </a:xfrm>
          <a:prstGeom prst="rect">
            <a:avLst/>
          </a:prstGeom>
          <a:solidFill>
            <a:srgbClr val="E8F1FA"/>
          </a:solidFill>
          <a:ln w="6350">
            <a:solidFill>
              <a:srgbClr val="D0DCE8"/>
            </a:solidFill>
            <a:prstDash val="solid"/>
          </a:ln>
        </p:spPr>
        <p:txBody>
          <a:bodyPr/>
          <a:lstStyle/>
          <a:p>
            <a:endParaRPr lang="fr-FR"/>
          </a:p>
        </p:txBody>
      </p:sp>
      <p:sp>
        <p:nvSpPr>
          <p:cNvPr id="19" name="Shape 17"/>
          <p:cNvSpPr/>
          <p:nvPr/>
        </p:nvSpPr>
        <p:spPr>
          <a:xfrm>
            <a:off x="274320" y="3611880"/>
            <a:ext cx="2743200" cy="292608"/>
          </a:xfrm>
          <a:prstGeom prst="rect">
            <a:avLst/>
          </a:prstGeom>
          <a:solidFill>
            <a:srgbClr val="F4A227"/>
          </a:solidFill>
          <a:ln w="12700">
            <a:solidFill>
              <a:srgbClr val="F4A227"/>
            </a:solidFill>
            <a:prstDash val="solid"/>
          </a:ln>
        </p:spPr>
        <p:txBody>
          <a:bodyPr/>
          <a:lstStyle/>
          <a:p>
            <a:endParaRPr lang="fr-FR"/>
          </a:p>
        </p:txBody>
      </p:sp>
      <p:sp>
        <p:nvSpPr>
          <p:cNvPr id="20" name="Text 18"/>
          <p:cNvSpPr/>
          <p:nvPr/>
        </p:nvSpPr>
        <p:spPr>
          <a:xfrm>
            <a:off x="347472" y="3611880"/>
            <a:ext cx="2615184"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TRONC COMMUN</a:t>
            </a:r>
            <a:endParaRPr lang="en-US" sz="1000" dirty="0"/>
          </a:p>
        </p:txBody>
      </p:sp>
      <p:sp>
        <p:nvSpPr>
          <p:cNvPr id="21" name="Text 19"/>
          <p:cNvSpPr/>
          <p:nvPr/>
        </p:nvSpPr>
        <p:spPr>
          <a:xfrm>
            <a:off x="365760" y="3931920"/>
            <a:ext cx="2578608" cy="77724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Un seul examen théorique commun Taxi/VTC, organisé par les CMA sur tout le territoire.</a:t>
            </a:r>
            <a:endParaRPr lang="en-US" sz="1000" dirty="0"/>
          </a:p>
        </p:txBody>
      </p:sp>
      <p:sp>
        <p:nvSpPr>
          <p:cNvPr id="22" name="Shape 20"/>
          <p:cNvSpPr/>
          <p:nvPr/>
        </p:nvSpPr>
        <p:spPr>
          <a:xfrm>
            <a:off x="3154680" y="3611880"/>
            <a:ext cx="2743200" cy="1115568"/>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3154680" y="3611880"/>
            <a:ext cx="2743200" cy="292608"/>
          </a:xfrm>
          <a:prstGeom prst="rect">
            <a:avLst/>
          </a:prstGeom>
          <a:solidFill>
            <a:srgbClr val="2860A8"/>
          </a:solidFill>
          <a:ln w="12700">
            <a:solidFill>
              <a:srgbClr val="2860A8"/>
            </a:solidFill>
            <a:prstDash val="solid"/>
          </a:ln>
        </p:spPr>
        <p:txBody>
          <a:bodyPr/>
          <a:lstStyle/>
          <a:p>
            <a:endParaRPr lang="fr-FR"/>
          </a:p>
        </p:txBody>
      </p:sp>
      <p:sp>
        <p:nvSpPr>
          <p:cNvPr id="24" name="Text 22"/>
          <p:cNvSpPr/>
          <p:nvPr/>
        </p:nvSpPr>
        <p:spPr>
          <a:xfrm>
            <a:off x="3227832" y="3611880"/>
            <a:ext cx="2615184"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PLATEFORMES ENCADRÉES</a:t>
            </a:r>
            <a:endParaRPr lang="en-US" sz="1000" dirty="0"/>
          </a:p>
        </p:txBody>
      </p:sp>
      <p:sp>
        <p:nvSpPr>
          <p:cNvPr id="25" name="Text 23"/>
          <p:cNvSpPr/>
          <p:nvPr/>
        </p:nvSpPr>
        <p:spPr>
          <a:xfrm>
            <a:off x="3246120" y="3931920"/>
            <a:ext cx="2578608" cy="77724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Obligations de transparence et de vérification renforcées pour les plateformes VTC.</a:t>
            </a:r>
            <a:endParaRPr lang="en-US" sz="1000" dirty="0"/>
          </a:p>
        </p:txBody>
      </p:sp>
      <p:sp>
        <p:nvSpPr>
          <p:cNvPr id="26" name="Shape 24"/>
          <p:cNvSpPr/>
          <p:nvPr/>
        </p:nvSpPr>
        <p:spPr>
          <a:xfrm>
            <a:off x="6035040" y="3611880"/>
            <a:ext cx="2743200" cy="1115568"/>
          </a:xfrm>
          <a:prstGeom prst="rect">
            <a:avLst/>
          </a:prstGeom>
          <a:solidFill>
            <a:srgbClr val="E8F1FA"/>
          </a:solidFill>
          <a:ln w="6350">
            <a:solidFill>
              <a:srgbClr val="D0DCE8"/>
            </a:solidFill>
            <a:prstDash val="solid"/>
          </a:ln>
        </p:spPr>
        <p:txBody>
          <a:bodyPr/>
          <a:lstStyle/>
          <a:p>
            <a:endParaRPr lang="fr-FR"/>
          </a:p>
        </p:txBody>
      </p:sp>
      <p:sp>
        <p:nvSpPr>
          <p:cNvPr id="27" name="Shape 25"/>
          <p:cNvSpPr/>
          <p:nvPr/>
        </p:nvSpPr>
        <p:spPr>
          <a:xfrm>
            <a:off x="6035040" y="3611880"/>
            <a:ext cx="2743200" cy="292608"/>
          </a:xfrm>
          <a:prstGeom prst="rect">
            <a:avLst/>
          </a:prstGeom>
          <a:solidFill>
            <a:srgbClr val="1A3A5C"/>
          </a:solidFill>
          <a:ln w="12700">
            <a:solidFill>
              <a:srgbClr val="1A3A5C"/>
            </a:solidFill>
            <a:prstDash val="solid"/>
          </a:ln>
        </p:spPr>
        <p:txBody>
          <a:bodyPr/>
          <a:lstStyle/>
          <a:p>
            <a:endParaRPr lang="fr-FR"/>
          </a:p>
        </p:txBody>
      </p:sp>
      <p:sp>
        <p:nvSpPr>
          <p:cNvPr id="28" name="Text 26"/>
          <p:cNvSpPr/>
          <p:nvPr/>
        </p:nvSpPr>
        <p:spPr>
          <a:xfrm>
            <a:off x="6108192" y="3611880"/>
            <a:ext cx="2615184"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LOTI RESTREINT</a:t>
            </a:r>
            <a:endParaRPr lang="en-US" sz="1000" dirty="0"/>
          </a:p>
        </p:txBody>
      </p:sp>
      <p:sp>
        <p:nvSpPr>
          <p:cNvPr id="29" name="Text 27"/>
          <p:cNvSpPr/>
          <p:nvPr/>
        </p:nvSpPr>
        <p:spPr>
          <a:xfrm>
            <a:off x="6126480" y="3931920"/>
            <a:ext cx="2578608" cy="77724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Transport individuel interdit en LOTI dans les grandes agglomérations depuis 2017.</a:t>
            </a:r>
            <a:endParaRPr lang="en-US" sz="1000" dirty="0"/>
          </a:p>
        </p:txBody>
      </p:sp>
      <p:sp>
        <p:nvSpPr>
          <p:cNvPr id="30" name="Rectangle 2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1" name="Rectangle 3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4. Non-inscription aux examens T3P</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Les 3 situations qui empêchent de s'inscrire à l'examen</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18/88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12.jpeg"/>
          <p:cNvPicPr>
            <a:picLocks noChangeAspect="1"/>
          </p:cNvPicPr>
          <p:nvPr/>
        </p:nvPicPr>
        <p:blipFill>
          <a:blip r:embed="rId3"/>
          <a:stretch>
            <a:fillRect/>
          </a:stretch>
        </p:blipFill>
        <p:spPr>
          <a:xfrm>
            <a:off x="3107933" y="2820924"/>
            <a:ext cx="2928134" cy="1737360"/>
          </a:xfrm>
          <a:prstGeom prst="rect">
            <a:avLst/>
          </a:prstGeom>
          <a:ln w="9525">
            <a:solidFill>
              <a:srgbClr val="00B4D8"/>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Conditions de non-inscription aux examens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3 situations bloquantes — Art. R3120-1 Code des transports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19/88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Avant de postuler à l'examen T3P, il faut vérifier que l'on ne se trouve pas dans l'une des 3 situations suivantes. Ces cas d'exclusion visent à protéger la sécurité des passagers et l'intégrité de la profession.</a:t>
            </a:r>
            <a:endParaRPr lang="en-US" sz="1200" dirty="0"/>
          </a:p>
        </p:txBody>
      </p:sp>
      <p:sp>
        <p:nvSpPr>
          <p:cNvPr id="10" name="Shape 8"/>
          <p:cNvSpPr/>
          <p:nvPr/>
        </p:nvSpPr>
        <p:spPr>
          <a:xfrm>
            <a:off x="274320" y="1627632"/>
            <a:ext cx="2743200" cy="3127248"/>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627632"/>
            <a:ext cx="274320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47472" y="1627632"/>
            <a:ext cx="261518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CAS 1 — RETRAIT DÉFINITIF DE CARTE</a:t>
            </a:r>
            <a:endParaRPr lang="en-US" sz="1000" dirty="0"/>
          </a:p>
        </p:txBody>
      </p:sp>
      <p:sp>
        <p:nvSpPr>
          <p:cNvPr id="13" name="Shape 11"/>
          <p:cNvSpPr/>
          <p:nvPr/>
        </p:nvSpPr>
        <p:spPr>
          <a:xfrm>
            <a:off x="548640" y="1993392"/>
            <a:ext cx="2194560" cy="475488"/>
          </a:xfrm>
          <a:prstGeom prst="rect">
            <a:avLst/>
          </a:prstGeom>
          <a:solidFill>
            <a:srgbClr val="1A3A5C"/>
          </a:solidFill>
          <a:ln w="12700">
            <a:solidFill>
              <a:srgbClr val="1A3A5C"/>
            </a:solidFill>
            <a:prstDash val="solid"/>
          </a:ln>
        </p:spPr>
        <p:txBody>
          <a:bodyPr/>
          <a:lstStyle/>
          <a:p>
            <a:endParaRPr lang="fr-FR"/>
          </a:p>
        </p:txBody>
      </p:sp>
      <p:sp>
        <p:nvSpPr>
          <p:cNvPr id="14" name="Text 12"/>
          <p:cNvSpPr/>
          <p:nvPr/>
        </p:nvSpPr>
        <p:spPr>
          <a:xfrm>
            <a:off x="548640" y="1993392"/>
            <a:ext cx="219456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 ANS</a:t>
            </a:r>
            <a:endParaRPr lang="en-US" sz="1600" dirty="0"/>
          </a:p>
        </p:txBody>
      </p:sp>
      <p:sp>
        <p:nvSpPr>
          <p:cNvPr id="15" name="Text 13"/>
          <p:cNvSpPr/>
          <p:nvPr/>
        </p:nvSpPr>
        <p:spPr>
          <a:xfrm>
            <a:off x="365760" y="2514600"/>
            <a:ext cx="2578608" cy="21945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Ne pas avoir fait l'objet, dans les 10 ans qui précèdent la demande, d'un RETRAIT DÉFINITIF de la carte professionnelle T3P.</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En cas de violation grave de la réglementation, le préfet peut prononcer un retrait définitif. Ce conducteur ne peut plus s'inscrire pendant 10 ans pour protéger le public.</a:t>
            </a:r>
            <a:endParaRPr lang="en-US" sz="1000" dirty="0"/>
          </a:p>
        </p:txBody>
      </p:sp>
      <p:sp>
        <p:nvSpPr>
          <p:cNvPr id="16" name="Shape 14"/>
          <p:cNvSpPr/>
          <p:nvPr/>
        </p:nvSpPr>
        <p:spPr>
          <a:xfrm>
            <a:off x="3154680" y="1627632"/>
            <a:ext cx="2743200" cy="3127248"/>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3154680" y="1627632"/>
            <a:ext cx="2743200" cy="301752"/>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3227832" y="1627632"/>
            <a:ext cx="261518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CAS 2 — FRAUDE À L'EXAMEN</a:t>
            </a:r>
            <a:endParaRPr lang="en-US" sz="1000" dirty="0"/>
          </a:p>
        </p:txBody>
      </p:sp>
      <p:sp>
        <p:nvSpPr>
          <p:cNvPr id="19" name="Shape 17"/>
          <p:cNvSpPr/>
          <p:nvPr/>
        </p:nvSpPr>
        <p:spPr>
          <a:xfrm>
            <a:off x="3429000" y="1993392"/>
            <a:ext cx="2194560" cy="475488"/>
          </a:xfrm>
          <a:prstGeom prst="rect">
            <a:avLst/>
          </a:prstGeom>
          <a:solidFill>
            <a:srgbClr val="2860A8"/>
          </a:solidFill>
          <a:ln w="12700">
            <a:solidFill>
              <a:srgbClr val="2860A8"/>
            </a:solidFill>
            <a:prstDash val="solid"/>
          </a:ln>
        </p:spPr>
        <p:txBody>
          <a:bodyPr/>
          <a:lstStyle/>
          <a:p>
            <a:endParaRPr lang="fr-FR"/>
          </a:p>
        </p:txBody>
      </p:sp>
      <p:sp>
        <p:nvSpPr>
          <p:cNvPr id="20" name="Text 18"/>
          <p:cNvSpPr/>
          <p:nvPr/>
        </p:nvSpPr>
        <p:spPr>
          <a:xfrm>
            <a:off x="3429000" y="1993392"/>
            <a:ext cx="219456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 ANS</a:t>
            </a:r>
            <a:endParaRPr lang="en-US" sz="1600" dirty="0"/>
          </a:p>
        </p:txBody>
      </p:sp>
      <p:sp>
        <p:nvSpPr>
          <p:cNvPr id="21" name="Text 19"/>
          <p:cNvSpPr/>
          <p:nvPr/>
        </p:nvSpPr>
        <p:spPr>
          <a:xfrm>
            <a:off x="3246120" y="2514600"/>
            <a:ext cx="2578608" cy="21945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Ne pas avoir fait l'objet, dans les 5 ans qui précèdent la demande, d'une EXCLUSION POUR FRAUDE lors d'une session d'examen T3P.</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La fraude inclut : utilisation d'antisèche, aide extérieure non autorisée, usurpation d'identité lors d'une épreuve.</a:t>
            </a:r>
            <a:endParaRPr lang="en-US" sz="1000" dirty="0"/>
          </a:p>
        </p:txBody>
      </p:sp>
      <p:sp>
        <p:nvSpPr>
          <p:cNvPr id="22" name="Shape 20"/>
          <p:cNvSpPr/>
          <p:nvPr/>
        </p:nvSpPr>
        <p:spPr>
          <a:xfrm>
            <a:off x="6035040" y="1627632"/>
            <a:ext cx="2743200" cy="3127248"/>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6035040" y="1627632"/>
            <a:ext cx="2743200" cy="301752"/>
          </a:xfrm>
          <a:prstGeom prst="rect">
            <a:avLst/>
          </a:prstGeom>
          <a:solidFill>
            <a:srgbClr val="F4A227"/>
          </a:solidFill>
          <a:ln w="12700">
            <a:solidFill>
              <a:srgbClr val="F4A227"/>
            </a:solidFill>
            <a:prstDash val="solid"/>
          </a:ln>
        </p:spPr>
        <p:txBody>
          <a:bodyPr/>
          <a:lstStyle/>
          <a:p>
            <a:endParaRPr lang="fr-FR"/>
          </a:p>
        </p:txBody>
      </p:sp>
      <p:sp>
        <p:nvSpPr>
          <p:cNvPr id="24" name="Text 22"/>
          <p:cNvSpPr/>
          <p:nvPr/>
        </p:nvSpPr>
        <p:spPr>
          <a:xfrm>
            <a:off x="6108192" y="1627632"/>
            <a:ext cx="261518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CAS 3 — PERMIS PROBATOIRE</a:t>
            </a:r>
            <a:endParaRPr lang="en-US" sz="1000" dirty="0"/>
          </a:p>
        </p:txBody>
      </p:sp>
      <p:sp>
        <p:nvSpPr>
          <p:cNvPr id="25" name="Shape 23"/>
          <p:cNvSpPr/>
          <p:nvPr/>
        </p:nvSpPr>
        <p:spPr>
          <a:xfrm>
            <a:off x="6309360" y="1993392"/>
            <a:ext cx="2194560" cy="475488"/>
          </a:xfrm>
          <a:prstGeom prst="rect">
            <a:avLst/>
          </a:prstGeom>
          <a:solidFill>
            <a:srgbClr val="F4A227"/>
          </a:solidFill>
          <a:ln w="12700">
            <a:solidFill>
              <a:srgbClr val="F4A227"/>
            </a:solidFill>
            <a:prstDash val="solid"/>
          </a:ln>
        </p:spPr>
        <p:txBody>
          <a:bodyPr/>
          <a:lstStyle/>
          <a:p>
            <a:endParaRPr lang="fr-FR"/>
          </a:p>
        </p:txBody>
      </p:sp>
      <p:sp>
        <p:nvSpPr>
          <p:cNvPr id="26" name="Text 24"/>
          <p:cNvSpPr/>
          <p:nvPr/>
        </p:nvSpPr>
        <p:spPr>
          <a:xfrm>
            <a:off x="6309360" y="1993392"/>
            <a:ext cx="219456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Accès impossible</a:t>
            </a:r>
            <a:endParaRPr lang="en-US" sz="1600" dirty="0"/>
          </a:p>
        </p:txBody>
      </p:sp>
      <p:sp>
        <p:nvSpPr>
          <p:cNvPr id="27" name="Text 25"/>
          <p:cNvSpPr/>
          <p:nvPr/>
        </p:nvSpPr>
        <p:spPr>
          <a:xfrm>
            <a:off x="6126480" y="2514600"/>
            <a:ext cx="2578608" cy="21945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Ne pas être en période probatoire de permis de conduire.</a:t>
            </a:r>
            <a:endParaRPr lang="en-US" sz="1000" dirty="0"/>
          </a:p>
          <a:p>
            <a:pPr marL="0" indent="0">
              <a:buNone/>
            </a:pPr>
            <a:endParaRPr lang="en-US" sz="1000" dirty="0"/>
          </a:p>
          <a:p>
            <a:pPr marL="0" indent="0">
              <a:buNone/>
            </a:pPr>
            <a:r>
              <a:rPr lang="en-US" sz="1000" dirty="0">
                <a:solidFill>
                  <a:srgbClr val="3A3A3A"/>
                </a:solidFill>
                <a:latin typeface="Calibri" pitchFamily="34" charset="0"/>
                <a:ea typeface="Calibri" pitchFamily="34" charset="-122"/>
                <a:cs typeface="Calibri" pitchFamily="34" charset="-120"/>
              </a:rPr>
              <a:t>Minimum requis : 2 ans de permis en conduite accompagnée (AAC) ou 3 ans en conduite normale. Un conducteur trop jeune n'a pas l'expérience suffisante pour transporter des passagers en sécurité.</a:t>
            </a:r>
            <a:endParaRPr lang="en-US" sz="1000" dirty="0"/>
          </a:p>
        </p:txBody>
      </p:sp>
      <p:sp>
        <p:nvSpPr>
          <p:cNvPr id="28" name="Rectangle 2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9" name="Rectangle 2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5. Réglementation des Taxis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Statuts, tarifs, maraude, véhicule, sanctions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21/88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19.png"/>
          <p:cNvPicPr>
            <a:picLocks noChangeAspect="1"/>
          </p:cNvPicPr>
          <p:nvPr/>
        </p:nvPicPr>
        <p:blipFill>
          <a:blip r:embed="rId3"/>
          <a:stretch>
            <a:fillRect/>
          </a:stretch>
        </p:blipFill>
        <p:spPr>
          <a:xfrm>
            <a:off x="3371727" y="2820924"/>
            <a:ext cx="2400545" cy="1737360"/>
          </a:xfrm>
          <a:prstGeom prst="rect">
            <a:avLst/>
          </a:prstGeom>
          <a:ln w="9525">
            <a:solidFill>
              <a:srgbClr val="00B4D8"/>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Réglementation des Taxis — Cadre légal et statuts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Code des transports + textes préfectoraux + arrêté métropolitain</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22/88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FF0000"/>
                </a:solidFill>
                <a:latin typeface="Calibri" pitchFamily="34" charset="0"/>
                <a:ea typeface="Calibri" pitchFamily="34" charset="-122"/>
                <a:cs typeface="Calibri" pitchFamily="34" charset="-120"/>
              </a:rPr>
              <a:t>Le taxi est la profession T3P la plus ancienne et la plus réglementée. Il se distingue du VTC notamment par son droit de maraude et par des tarifs strictement encadrés par arrêté préfectoral.</a:t>
            </a:r>
            <a:endParaRPr lang="en-US" sz="1200" dirty="0">
              <a:solidFill>
                <a:srgbClr val="FF0000"/>
              </a:solidFill>
            </a:endParaRPr>
          </a:p>
        </p:txBody>
      </p:sp>
      <p:sp>
        <p:nvSpPr>
          <p:cNvPr id="10" name="Shape 8"/>
          <p:cNvSpPr/>
          <p:nvPr/>
        </p:nvSpPr>
        <p:spPr>
          <a:xfrm>
            <a:off x="274320" y="1627632"/>
            <a:ext cx="4160520" cy="123444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27632"/>
            <a:ext cx="416052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27632"/>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CADRE RÉGLEMENTAIRE TAXI</a:t>
            </a:r>
            <a:endParaRPr lang="en-US" sz="1050" dirty="0"/>
          </a:p>
        </p:txBody>
      </p:sp>
      <p:sp>
        <p:nvSpPr>
          <p:cNvPr id="13" name="Text 11"/>
          <p:cNvSpPr/>
          <p:nvPr/>
        </p:nvSpPr>
        <p:spPr>
          <a:xfrm>
            <a:off x="384048" y="1975104"/>
            <a:ext cx="3977640" cy="84124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Textes : Code des transports + textes préfectoraux + arrêté métropolitain.</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Autorité compétente : Ministère de la Transition écologique et de la Cohésion des territoires.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Licence ADS obligatoire (délivrée par le Préfet). Sans ADS : DÉLIT — 1 an + 15 000 €.</a:t>
            </a:r>
            <a:endParaRPr lang="en-US" sz="1000" dirty="0"/>
          </a:p>
        </p:txBody>
      </p:sp>
      <p:sp>
        <p:nvSpPr>
          <p:cNvPr id="14" name="Shape 12"/>
          <p:cNvSpPr/>
          <p:nvPr/>
        </p:nvSpPr>
        <p:spPr>
          <a:xfrm>
            <a:off x="4709160" y="1627632"/>
            <a:ext cx="4160520" cy="123444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4709160" y="1627632"/>
            <a:ext cx="4160520" cy="301752"/>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4800600" y="1627632"/>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CONDITIONS D'ACCÈS TAXI</a:t>
            </a:r>
            <a:endParaRPr lang="en-US" sz="1050" dirty="0"/>
          </a:p>
        </p:txBody>
      </p:sp>
      <p:sp>
        <p:nvSpPr>
          <p:cNvPr id="17" name="Text 15"/>
          <p:cNvSpPr/>
          <p:nvPr/>
        </p:nvSpPr>
        <p:spPr>
          <a:xfrm>
            <a:off x="4818888" y="1975104"/>
            <a:ext cx="3977640" cy="84124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Carte professionnelle (examen T3P réussi — tronc commun VTC).</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Certificat médical en cours de validité.</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PSC1 (Premiers Secours) — OBLIGATOIRE pour taxi uniquement.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Casier judiciaire Bulletin n°2 vierge. Permis B hors probatoire.</a:t>
            </a:r>
            <a:endParaRPr lang="en-US" sz="1000" dirty="0"/>
          </a:p>
        </p:txBody>
      </p:sp>
      <p:sp>
        <p:nvSpPr>
          <p:cNvPr id="18" name="Text 16"/>
          <p:cNvSpPr/>
          <p:nvPr/>
        </p:nvSpPr>
        <p:spPr>
          <a:xfrm>
            <a:off x="274320" y="2944368"/>
            <a:ext cx="8595360" cy="256032"/>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Les 4 statuts d'exercice possibles pour un taxi :</a:t>
            </a:r>
            <a:endParaRPr lang="en-US" sz="1200" dirty="0"/>
          </a:p>
        </p:txBody>
      </p:sp>
      <p:sp>
        <p:nvSpPr>
          <p:cNvPr id="19" name="Shape 17"/>
          <p:cNvSpPr/>
          <p:nvPr/>
        </p:nvSpPr>
        <p:spPr>
          <a:xfrm>
            <a:off x="274320" y="3246120"/>
            <a:ext cx="2057400" cy="1481328"/>
          </a:xfrm>
          <a:prstGeom prst="rect">
            <a:avLst/>
          </a:prstGeom>
          <a:solidFill>
            <a:srgbClr val="E8F1FA"/>
          </a:solidFill>
          <a:ln w="6350">
            <a:solidFill>
              <a:srgbClr val="D0DCE8"/>
            </a:solidFill>
            <a:prstDash val="solid"/>
          </a:ln>
        </p:spPr>
        <p:txBody>
          <a:bodyPr/>
          <a:lstStyle/>
          <a:p>
            <a:endParaRPr lang="fr-FR"/>
          </a:p>
        </p:txBody>
      </p:sp>
      <p:sp>
        <p:nvSpPr>
          <p:cNvPr id="20" name="Shape 18"/>
          <p:cNvSpPr/>
          <p:nvPr/>
        </p:nvSpPr>
        <p:spPr>
          <a:xfrm>
            <a:off x="274320" y="3246120"/>
            <a:ext cx="2057400" cy="292608"/>
          </a:xfrm>
          <a:prstGeom prst="rect">
            <a:avLst/>
          </a:prstGeom>
          <a:solidFill>
            <a:srgbClr val="1A3A5C"/>
          </a:solidFill>
          <a:ln w="12700">
            <a:solidFill>
              <a:srgbClr val="1A3A5C"/>
            </a:solidFill>
            <a:prstDash val="solid"/>
          </a:ln>
        </p:spPr>
        <p:txBody>
          <a:bodyPr/>
          <a:lstStyle/>
          <a:p>
            <a:endParaRPr lang="fr-FR"/>
          </a:p>
        </p:txBody>
      </p:sp>
      <p:sp>
        <p:nvSpPr>
          <p:cNvPr id="21" name="Text 19"/>
          <p:cNvSpPr/>
          <p:nvPr/>
        </p:nvSpPr>
        <p:spPr>
          <a:xfrm>
            <a:off x="329184" y="3246120"/>
            <a:ext cx="1956816"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ARTISAN</a:t>
            </a:r>
            <a:endParaRPr lang="en-US" sz="950" dirty="0"/>
          </a:p>
        </p:txBody>
      </p:sp>
      <p:sp>
        <p:nvSpPr>
          <p:cNvPr id="22" name="Text 20"/>
          <p:cNvSpPr/>
          <p:nvPr/>
        </p:nvSpPr>
        <p:spPr>
          <a:xfrm>
            <a:off x="347472" y="3566160"/>
            <a:ext cx="1920240" cy="1133856"/>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Il dispose de sa propre licence (ADS). Il est propriétaire de son droit d'exercer.</a:t>
            </a:r>
            <a:endParaRPr lang="en-US" sz="1000" dirty="0"/>
          </a:p>
        </p:txBody>
      </p:sp>
      <p:sp>
        <p:nvSpPr>
          <p:cNvPr id="23" name="Shape 21"/>
          <p:cNvSpPr/>
          <p:nvPr/>
        </p:nvSpPr>
        <p:spPr>
          <a:xfrm>
            <a:off x="2468880" y="3246120"/>
            <a:ext cx="2057400" cy="1481328"/>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468880" y="3246120"/>
            <a:ext cx="2057400" cy="292608"/>
          </a:xfrm>
          <a:prstGeom prst="rect">
            <a:avLst/>
          </a:prstGeom>
          <a:solidFill>
            <a:srgbClr val="1A3A5C"/>
          </a:solidFill>
          <a:ln w="12700">
            <a:solidFill>
              <a:srgbClr val="1A3A5C"/>
            </a:solidFill>
            <a:prstDash val="solid"/>
          </a:ln>
        </p:spPr>
        <p:txBody>
          <a:bodyPr/>
          <a:lstStyle/>
          <a:p>
            <a:endParaRPr lang="fr-FR"/>
          </a:p>
        </p:txBody>
      </p:sp>
      <p:sp>
        <p:nvSpPr>
          <p:cNvPr id="25" name="Text 23"/>
          <p:cNvSpPr/>
          <p:nvPr/>
        </p:nvSpPr>
        <p:spPr>
          <a:xfrm>
            <a:off x="2523744" y="3246120"/>
            <a:ext cx="1956816"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SALARIÉ</a:t>
            </a:r>
            <a:endParaRPr lang="en-US" sz="950" dirty="0"/>
          </a:p>
        </p:txBody>
      </p:sp>
      <p:sp>
        <p:nvSpPr>
          <p:cNvPr id="26" name="Text 24"/>
          <p:cNvSpPr/>
          <p:nvPr/>
        </p:nvSpPr>
        <p:spPr>
          <a:xfrm>
            <a:off x="2542032" y="3566160"/>
            <a:ext cx="1920240" cy="1133856"/>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Titulaire de la carte pro mais travaille pour un employeur qui possède l'ADS.</a:t>
            </a:r>
            <a:endParaRPr lang="en-US" sz="1000" dirty="0"/>
          </a:p>
        </p:txBody>
      </p:sp>
      <p:sp>
        <p:nvSpPr>
          <p:cNvPr id="27" name="Shape 25"/>
          <p:cNvSpPr/>
          <p:nvPr/>
        </p:nvSpPr>
        <p:spPr>
          <a:xfrm>
            <a:off x="4663440" y="3246120"/>
            <a:ext cx="2057400" cy="1481328"/>
          </a:xfrm>
          <a:prstGeom prst="rect">
            <a:avLst/>
          </a:prstGeom>
          <a:solidFill>
            <a:srgbClr val="E8F1FA"/>
          </a:solidFill>
          <a:ln w="6350">
            <a:solidFill>
              <a:srgbClr val="D0DCE8"/>
            </a:solidFill>
            <a:prstDash val="solid"/>
          </a:ln>
        </p:spPr>
        <p:txBody>
          <a:bodyPr/>
          <a:lstStyle/>
          <a:p>
            <a:endParaRPr lang="fr-FR"/>
          </a:p>
        </p:txBody>
      </p:sp>
      <p:sp>
        <p:nvSpPr>
          <p:cNvPr id="28" name="Shape 26"/>
          <p:cNvSpPr/>
          <p:nvPr/>
        </p:nvSpPr>
        <p:spPr>
          <a:xfrm>
            <a:off x="4663440" y="3246120"/>
            <a:ext cx="2057400" cy="292608"/>
          </a:xfrm>
          <a:prstGeom prst="rect">
            <a:avLst/>
          </a:prstGeom>
          <a:solidFill>
            <a:srgbClr val="1A3A5C"/>
          </a:solidFill>
          <a:ln w="12700">
            <a:solidFill>
              <a:srgbClr val="1A3A5C"/>
            </a:solidFill>
            <a:prstDash val="solid"/>
          </a:ln>
        </p:spPr>
        <p:txBody>
          <a:bodyPr/>
          <a:lstStyle/>
          <a:p>
            <a:endParaRPr lang="fr-FR"/>
          </a:p>
        </p:txBody>
      </p:sp>
      <p:sp>
        <p:nvSpPr>
          <p:cNvPr id="29" name="Text 27"/>
          <p:cNvSpPr/>
          <p:nvPr/>
        </p:nvSpPr>
        <p:spPr>
          <a:xfrm>
            <a:off x="4718304" y="3246120"/>
            <a:ext cx="1956816"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LOCATAIRE-GÉRANT</a:t>
            </a:r>
            <a:endParaRPr lang="en-US" sz="950" dirty="0"/>
          </a:p>
        </p:txBody>
      </p:sp>
      <p:sp>
        <p:nvSpPr>
          <p:cNvPr id="30" name="Text 28"/>
          <p:cNvSpPr/>
          <p:nvPr/>
        </p:nvSpPr>
        <p:spPr>
          <a:xfrm>
            <a:off x="4736592" y="3566160"/>
            <a:ext cx="1920240" cy="1133856"/>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Loue la licence (ADS) ET le véhicule à un titulaire contre paiement d'un loyer.</a:t>
            </a:r>
            <a:endParaRPr lang="en-US" sz="1000" dirty="0"/>
          </a:p>
        </p:txBody>
      </p:sp>
      <p:sp>
        <p:nvSpPr>
          <p:cNvPr id="31" name="Shape 29"/>
          <p:cNvSpPr/>
          <p:nvPr/>
        </p:nvSpPr>
        <p:spPr>
          <a:xfrm>
            <a:off x="6858000" y="3246120"/>
            <a:ext cx="2057400" cy="1481328"/>
          </a:xfrm>
          <a:prstGeom prst="rect">
            <a:avLst/>
          </a:prstGeom>
          <a:solidFill>
            <a:srgbClr val="E8F1FA"/>
          </a:solidFill>
          <a:ln w="6350">
            <a:solidFill>
              <a:srgbClr val="D0DCE8"/>
            </a:solidFill>
            <a:prstDash val="solid"/>
          </a:ln>
        </p:spPr>
        <p:txBody>
          <a:bodyPr/>
          <a:lstStyle/>
          <a:p>
            <a:endParaRPr lang="fr-FR"/>
          </a:p>
        </p:txBody>
      </p:sp>
      <p:sp>
        <p:nvSpPr>
          <p:cNvPr id="32" name="Shape 30"/>
          <p:cNvSpPr/>
          <p:nvPr/>
        </p:nvSpPr>
        <p:spPr>
          <a:xfrm>
            <a:off x="6858000" y="3246120"/>
            <a:ext cx="2057400" cy="292608"/>
          </a:xfrm>
          <a:prstGeom prst="rect">
            <a:avLst/>
          </a:prstGeom>
          <a:solidFill>
            <a:srgbClr val="1A3A5C"/>
          </a:solidFill>
          <a:ln w="12700">
            <a:solidFill>
              <a:srgbClr val="1A3A5C"/>
            </a:solidFill>
            <a:prstDash val="solid"/>
          </a:ln>
        </p:spPr>
        <p:txBody>
          <a:bodyPr/>
          <a:lstStyle/>
          <a:p>
            <a:endParaRPr lang="fr-FR"/>
          </a:p>
        </p:txBody>
      </p:sp>
      <p:sp>
        <p:nvSpPr>
          <p:cNvPr id="33" name="Text 31"/>
          <p:cNvSpPr/>
          <p:nvPr/>
        </p:nvSpPr>
        <p:spPr>
          <a:xfrm>
            <a:off x="6912864" y="3246120"/>
            <a:ext cx="1956816"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ACTIONNAIRE</a:t>
            </a:r>
            <a:endParaRPr lang="en-US" sz="950" dirty="0"/>
          </a:p>
        </p:txBody>
      </p:sp>
      <p:sp>
        <p:nvSpPr>
          <p:cNvPr id="34" name="Text 32"/>
          <p:cNvSpPr/>
          <p:nvPr/>
        </p:nvSpPr>
        <p:spPr>
          <a:xfrm>
            <a:off x="6931152" y="3566160"/>
            <a:ext cx="1920240" cy="1133856"/>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Achète des parts d'une société de taxi (ex : Taxi Radio) qui détient les licences.</a:t>
            </a:r>
            <a:endParaRPr lang="en-US" sz="1000" dirty="0"/>
          </a:p>
        </p:txBody>
      </p:sp>
      <p:sp>
        <p:nvSpPr>
          <p:cNvPr id="35" name="Rectangle 3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6" name="Rectangle 3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Les 4 statuts du Taxi — Schéma comparatif</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23/88</a:t>
            </a:r>
            <a:endParaRPr lang="en-US" sz="800" dirty="0"/>
          </a:p>
        </p:txBody>
      </p:sp>
      <p:sp>
        <p:nvSpPr>
          <p:cNvPr id="8" name="Text 6"/>
          <p:cNvSpPr/>
          <p:nvPr/>
        </p:nvSpPr>
        <p:spPr>
          <a:xfrm>
            <a:off x="274320" y="886968"/>
            <a:ext cx="8595360" cy="292608"/>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Schéma — Qui possède quoi selon le statut du conducteur taxi :</a:t>
            </a:r>
            <a:endParaRPr lang="en-US" sz="1200" dirty="0"/>
          </a:p>
        </p:txBody>
      </p:sp>
      <p:sp>
        <p:nvSpPr>
          <p:cNvPr id="9" name="Shape 7"/>
          <p:cNvSpPr/>
          <p:nvPr/>
        </p:nvSpPr>
        <p:spPr>
          <a:xfrm>
            <a:off x="274320" y="1261872"/>
            <a:ext cx="2084832" cy="2331720"/>
          </a:xfrm>
          <a:prstGeom prst="rect">
            <a:avLst/>
          </a:prstGeom>
          <a:solidFill>
            <a:srgbClr val="E8F1FA"/>
          </a:solidFill>
          <a:ln w="6350">
            <a:solidFill>
              <a:srgbClr val="D0DCE8"/>
            </a:solidFill>
            <a:prstDash val="solid"/>
          </a:ln>
        </p:spPr>
        <p:txBody>
          <a:bodyPr/>
          <a:lstStyle/>
          <a:p>
            <a:endParaRPr lang="fr-FR"/>
          </a:p>
        </p:txBody>
      </p:sp>
      <p:sp>
        <p:nvSpPr>
          <p:cNvPr id="10" name="Shape 8"/>
          <p:cNvSpPr/>
          <p:nvPr/>
        </p:nvSpPr>
        <p:spPr>
          <a:xfrm>
            <a:off x="274320" y="1261872"/>
            <a:ext cx="2084832" cy="347472"/>
          </a:xfrm>
          <a:prstGeom prst="rect">
            <a:avLst/>
          </a:prstGeom>
          <a:solidFill>
            <a:srgbClr val="1A3A5C"/>
          </a:solidFill>
          <a:ln w="12700">
            <a:solidFill>
              <a:srgbClr val="1A3A5C"/>
            </a:solidFill>
            <a:prstDash val="solid"/>
          </a:ln>
        </p:spPr>
        <p:txBody>
          <a:bodyPr/>
          <a:lstStyle/>
          <a:p>
            <a:endParaRPr lang="fr-FR"/>
          </a:p>
        </p:txBody>
      </p:sp>
      <p:sp>
        <p:nvSpPr>
          <p:cNvPr id="11" name="Text 9"/>
          <p:cNvSpPr/>
          <p:nvPr/>
        </p:nvSpPr>
        <p:spPr>
          <a:xfrm>
            <a:off x="320040" y="1261872"/>
            <a:ext cx="199339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ARTISAN</a:t>
            </a:r>
            <a:endParaRPr lang="en-US" sz="1100" dirty="0"/>
          </a:p>
        </p:txBody>
      </p:sp>
      <p:sp>
        <p:nvSpPr>
          <p:cNvPr id="12" name="Text 10"/>
          <p:cNvSpPr/>
          <p:nvPr/>
        </p:nvSpPr>
        <p:spPr>
          <a:xfrm>
            <a:off x="347472" y="1645920"/>
            <a:ext cx="1938528" cy="1261872"/>
          </a:xfrm>
          <a:prstGeom prst="rect">
            <a:avLst/>
          </a:prstGeom>
          <a:noFill/>
          <a:ln/>
        </p:spPr>
        <p:txBody>
          <a:bodyPr wrap="square" rtlCol="0" anchor="ctr"/>
          <a:lstStyle/>
          <a:p>
            <a:pPr marL="0" indent="0" algn="ctr">
              <a:buNone/>
            </a:pPr>
            <a:r>
              <a:rPr lang="en-US" sz="1050" dirty="0">
                <a:solidFill>
                  <a:srgbClr val="3A3A3A"/>
                </a:solidFill>
                <a:latin typeface="Calibri" pitchFamily="34" charset="0"/>
                <a:ea typeface="Calibri" pitchFamily="34" charset="-122"/>
                <a:cs typeface="Calibri" pitchFamily="34" charset="-120"/>
              </a:rPr>
              <a:t>Propre ADS ✔</a:t>
            </a:r>
            <a:endParaRPr lang="en-US" sz="1050" dirty="0"/>
          </a:p>
          <a:p>
            <a:pPr marL="0" indent="0" algn="ctr">
              <a:buNone/>
            </a:pPr>
            <a:r>
              <a:rPr lang="en-US" sz="1050" dirty="0">
                <a:solidFill>
                  <a:srgbClr val="3A3A3A"/>
                </a:solidFill>
                <a:latin typeface="Calibri" pitchFamily="34" charset="0"/>
                <a:ea typeface="Calibri" pitchFamily="34" charset="-122"/>
                <a:cs typeface="Calibri" pitchFamily="34" charset="-120"/>
              </a:rPr>
              <a:t>Propre véhicule ✔</a:t>
            </a:r>
            <a:endParaRPr lang="en-US" sz="1050" dirty="0"/>
          </a:p>
          <a:p>
            <a:pPr marL="0" indent="0" algn="ctr">
              <a:buNone/>
            </a:pPr>
            <a:r>
              <a:rPr lang="en-US" sz="1050" dirty="0">
                <a:solidFill>
                  <a:srgbClr val="3A3A3A"/>
                </a:solidFill>
                <a:latin typeface="Calibri" pitchFamily="34" charset="0"/>
                <a:ea typeface="Calibri" pitchFamily="34" charset="-122"/>
                <a:cs typeface="Calibri" pitchFamily="34" charset="-120"/>
              </a:rPr>
              <a:t>Propre client ✔</a:t>
            </a:r>
            <a:endParaRPr lang="en-US" sz="1050" dirty="0"/>
          </a:p>
        </p:txBody>
      </p:sp>
      <p:sp>
        <p:nvSpPr>
          <p:cNvPr id="13" name="Shape 11"/>
          <p:cNvSpPr/>
          <p:nvPr/>
        </p:nvSpPr>
        <p:spPr>
          <a:xfrm>
            <a:off x="365760" y="3337560"/>
            <a:ext cx="1901952" cy="237744"/>
          </a:xfrm>
          <a:prstGeom prst="rect">
            <a:avLst/>
          </a:prstGeom>
          <a:solidFill>
            <a:srgbClr val="1A3A5C"/>
          </a:solidFill>
          <a:ln w="12700">
            <a:solidFill>
              <a:srgbClr val="1A3A5C"/>
            </a:solidFill>
            <a:prstDash val="solid"/>
          </a:ln>
        </p:spPr>
        <p:txBody>
          <a:bodyPr/>
          <a:lstStyle/>
          <a:p>
            <a:endParaRPr lang="fr-FR"/>
          </a:p>
        </p:txBody>
      </p:sp>
      <p:sp>
        <p:nvSpPr>
          <p:cNvPr id="14" name="Text 12"/>
          <p:cNvSpPr/>
          <p:nvPr/>
        </p:nvSpPr>
        <p:spPr>
          <a:xfrm>
            <a:off x="365760" y="3337560"/>
            <a:ext cx="1901952" cy="237744"/>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Indépendant total</a:t>
            </a:r>
            <a:endParaRPr lang="en-US" sz="900" dirty="0"/>
          </a:p>
        </p:txBody>
      </p:sp>
      <p:sp>
        <p:nvSpPr>
          <p:cNvPr id="15" name="Shape 13"/>
          <p:cNvSpPr/>
          <p:nvPr/>
        </p:nvSpPr>
        <p:spPr>
          <a:xfrm>
            <a:off x="2487168" y="1261872"/>
            <a:ext cx="2084832" cy="2331720"/>
          </a:xfrm>
          <a:prstGeom prst="rect">
            <a:avLst/>
          </a:prstGeom>
          <a:solidFill>
            <a:srgbClr val="E8F1FA"/>
          </a:solidFill>
          <a:ln w="6350">
            <a:solidFill>
              <a:srgbClr val="D0DCE8"/>
            </a:solidFill>
            <a:prstDash val="solid"/>
          </a:ln>
        </p:spPr>
        <p:txBody>
          <a:bodyPr/>
          <a:lstStyle/>
          <a:p>
            <a:endParaRPr lang="fr-FR"/>
          </a:p>
        </p:txBody>
      </p:sp>
      <p:sp>
        <p:nvSpPr>
          <p:cNvPr id="16" name="Shape 14"/>
          <p:cNvSpPr/>
          <p:nvPr/>
        </p:nvSpPr>
        <p:spPr>
          <a:xfrm>
            <a:off x="2487168" y="1261872"/>
            <a:ext cx="2084832" cy="347472"/>
          </a:xfrm>
          <a:prstGeom prst="rect">
            <a:avLst/>
          </a:prstGeom>
          <a:solidFill>
            <a:srgbClr val="2860A8"/>
          </a:solidFill>
          <a:ln w="12700">
            <a:solidFill>
              <a:srgbClr val="2860A8"/>
            </a:solidFill>
            <a:prstDash val="solid"/>
          </a:ln>
        </p:spPr>
        <p:txBody>
          <a:bodyPr/>
          <a:lstStyle/>
          <a:p>
            <a:endParaRPr lang="fr-FR"/>
          </a:p>
        </p:txBody>
      </p:sp>
      <p:sp>
        <p:nvSpPr>
          <p:cNvPr id="17" name="Text 15"/>
          <p:cNvSpPr/>
          <p:nvPr/>
        </p:nvSpPr>
        <p:spPr>
          <a:xfrm>
            <a:off x="2532888" y="1261872"/>
            <a:ext cx="199339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SALARIÉ</a:t>
            </a:r>
            <a:endParaRPr lang="en-US" sz="1100" dirty="0"/>
          </a:p>
        </p:txBody>
      </p:sp>
      <p:sp>
        <p:nvSpPr>
          <p:cNvPr id="18" name="Text 16"/>
          <p:cNvSpPr/>
          <p:nvPr/>
        </p:nvSpPr>
        <p:spPr>
          <a:xfrm>
            <a:off x="2560320" y="1645920"/>
            <a:ext cx="1938528" cy="1261872"/>
          </a:xfrm>
          <a:prstGeom prst="rect">
            <a:avLst/>
          </a:prstGeom>
          <a:noFill/>
          <a:ln/>
        </p:spPr>
        <p:txBody>
          <a:bodyPr wrap="square" rtlCol="0" anchor="ctr"/>
          <a:lstStyle/>
          <a:p>
            <a:pPr marL="0" indent="0" algn="ctr">
              <a:buNone/>
            </a:pPr>
            <a:r>
              <a:rPr lang="en-US" sz="1050" dirty="0">
                <a:solidFill>
                  <a:srgbClr val="3A3A3A"/>
                </a:solidFill>
                <a:latin typeface="Calibri" pitchFamily="34" charset="0"/>
                <a:ea typeface="Calibri" pitchFamily="34" charset="-122"/>
                <a:cs typeface="Calibri" pitchFamily="34" charset="-120"/>
              </a:rPr>
              <a:t>ADS de l'employeur</a:t>
            </a:r>
            <a:endParaRPr lang="en-US" sz="1050" dirty="0"/>
          </a:p>
          <a:p>
            <a:pPr marL="0" indent="0" algn="ctr">
              <a:buNone/>
            </a:pPr>
            <a:r>
              <a:rPr lang="en-US" sz="1050" dirty="0">
                <a:solidFill>
                  <a:srgbClr val="3A3A3A"/>
                </a:solidFill>
                <a:latin typeface="Calibri" pitchFamily="34" charset="0"/>
                <a:ea typeface="Calibri" pitchFamily="34" charset="-122"/>
                <a:cs typeface="Calibri" pitchFamily="34" charset="-120"/>
              </a:rPr>
              <a:t>Véhicule fourni</a:t>
            </a:r>
            <a:endParaRPr lang="en-US" sz="1050" dirty="0"/>
          </a:p>
          <a:p>
            <a:pPr marL="0" indent="0" algn="ctr">
              <a:buNone/>
            </a:pPr>
            <a:r>
              <a:rPr lang="en-US" sz="1050" dirty="0">
                <a:solidFill>
                  <a:srgbClr val="3A3A3A"/>
                </a:solidFill>
                <a:latin typeface="Calibri" pitchFamily="34" charset="0"/>
                <a:ea typeface="Calibri" pitchFamily="34" charset="-122"/>
                <a:cs typeface="Calibri" pitchFamily="34" charset="-120"/>
              </a:rPr>
              <a:t>Salaire mensuel</a:t>
            </a:r>
            <a:endParaRPr lang="en-US" sz="1050" dirty="0"/>
          </a:p>
        </p:txBody>
      </p:sp>
      <p:sp>
        <p:nvSpPr>
          <p:cNvPr id="19" name="Shape 17"/>
          <p:cNvSpPr/>
          <p:nvPr/>
        </p:nvSpPr>
        <p:spPr>
          <a:xfrm>
            <a:off x="2578608" y="3337560"/>
            <a:ext cx="1901952" cy="237744"/>
          </a:xfrm>
          <a:prstGeom prst="rect">
            <a:avLst/>
          </a:prstGeom>
          <a:solidFill>
            <a:srgbClr val="2860A8"/>
          </a:solidFill>
          <a:ln w="12700">
            <a:solidFill>
              <a:srgbClr val="2860A8"/>
            </a:solidFill>
            <a:prstDash val="solid"/>
          </a:ln>
        </p:spPr>
        <p:txBody>
          <a:bodyPr/>
          <a:lstStyle/>
          <a:p>
            <a:endParaRPr lang="fr-FR"/>
          </a:p>
        </p:txBody>
      </p:sp>
      <p:sp>
        <p:nvSpPr>
          <p:cNvPr id="20" name="Text 18"/>
          <p:cNvSpPr/>
          <p:nvPr/>
        </p:nvSpPr>
        <p:spPr>
          <a:xfrm>
            <a:off x="2578608" y="3337560"/>
            <a:ext cx="1901952" cy="237744"/>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Lien de subordination</a:t>
            </a:r>
            <a:endParaRPr lang="en-US" sz="900" dirty="0"/>
          </a:p>
        </p:txBody>
      </p:sp>
      <p:sp>
        <p:nvSpPr>
          <p:cNvPr id="21" name="Shape 19"/>
          <p:cNvSpPr/>
          <p:nvPr/>
        </p:nvSpPr>
        <p:spPr>
          <a:xfrm>
            <a:off x="4700016" y="1261872"/>
            <a:ext cx="2084832" cy="2331720"/>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4700016" y="1261872"/>
            <a:ext cx="2084832" cy="347472"/>
          </a:xfrm>
          <a:prstGeom prst="rect">
            <a:avLst/>
          </a:prstGeom>
          <a:solidFill>
            <a:srgbClr val="00897B"/>
          </a:solidFill>
          <a:ln w="12700">
            <a:solidFill>
              <a:srgbClr val="00897B"/>
            </a:solidFill>
            <a:prstDash val="solid"/>
          </a:ln>
        </p:spPr>
        <p:txBody>
          <a:bodyPr/>
          <a:lstStyle/>
          <a:p>
            <a:endParaRPr lang="fr-FR"/>
          </a:p>
        </p:txBody>
      </p:sp>
      <p:sp>
        <p:nvSpPr>
          <p:cNvPr id="23" name="Text 21"/>
          <p:cNvSpPr/>
          <p:nvPr/>
        </p:nvSpPr>
        <p:spPr>
          <a:xfrm>
            <a:off x="4745736" y="1261872"/>
            <a:ext cx="199339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LOCATAIRE-GÉRANT</a:t>
            </a:r>
            <a:endParaRPr lang="en-US" sz="1100" dirty="0"/>
          </a:p>
        </p:txBody>
      </p:sp>
      <p:sp>
        <p:nvSpPr>
          <p:cNvPr id="24" name="Text 22"/>
          <p:cNvSpPr/>
          <p:nvPr/>
        </p:nvSpPr>
        <p:spPr>
          <a:xfrm>
            <a:off x="4773168" y="1645920"/>
            <a:ext cx="1938528" cy="1261872"/>
          </a:xfrm>
          <a:prstGeom prst="rect">
            <a:avLst/>
          </a:prstGeom>
          <a:noFill/>
          <a:ln/>
        </p:spPr>
        <p:txBody>
          <a:bodyPr wrap="square" rtlCol="0" anchor="ctr"/>
          <a:lstStyle/>
          <a:p>
            <a:pPr marL="0" indent="0" algn="ctr">
              <a:buNone/>
            </a:pPr>
            <a:r>
              <a:rPr lang="en-US" sz="1050" dirty="0">
                <a:solidFill>
                  <a:srgbClr val="3A3A3A"/>
                </a:solidFill>
                <a:latin typeface="Calibri" pitchFamily="34" charset="0"/>
                <a:ea typeface="Calibri" pitchFamily="34" charset="-122"/>
                <a:cs typeface="Calibri" pitchFamily="34" charset="-120"/>
              </a:rPr>
              <a:t>Loue l'ADS</a:t>
            </a:r>
            <a:endParaRPr lang="en-US" sz="1050" dirty="0"/>
          </a:p>
          <a:p>
            <a:pPr marL="0" indent="0" algn="ctr">
              <a:buNone/>
            </a:pPr>
            <a:r>
              <a:rPr lang="en-US" sz="1050" dirty="0">
                <a:solidFill>
                  <a:srgbClr val="3A3A3A"/>
                </a:solidFill>
                <a:latin typeface="Calibri" pitchFamily="34" charset="0"/>
                <a:ea typeface="Calibri" pitchFamily="34" charset="-122"/>
                <a:cs typeface="Calibri" pitchFamily="34" charset="-120"/>
              </a:rPr>
              <a:t>Loue le véhicule</a:t>
            </a:r>
            <a:endParaRPr lang="en-US" sz="1050" dirty="0"/>
          </a:p>
          <a:p>
            <a:pPr marL="0" indent="0" algn="ctr">
              <a:buNone/>
            </a:pPr>
            <a:r>
              <a:rPr lang="en-US" sz="1050" dirty="0">
                <a:solidFill>
                  <a:srgbClr val="3A3A3A"/>
                </a:solidFill>
                <a:latin typeface="Calibri" pitchFamily="34" charset="0"/>
                <a:ea typeface="Calibri" pitchFamily="34" charset="-122"/>
                <a:cs typeface="Calibri" pitchFamily="34" charset="-120"/>
              </a:rPr>
              <a:t>Garde les recettes</a:t>
            </a:r>
            <a:endParaRPr lang="en-US" sz="1050" dirty="0"/>
          </a:p>
        </p:txBody>
      </p:sp>
      <p:sp>
        <p:nvSpPr>
          <p:cNvPr id="25" name="Shape 23"/>
          <p:cNvSpPr/>
          <p:nvPr/>
        </p:nvSpPr>
        <p:spPr>
          <a:xfrm>
            <a:off x="4791456" y="3337560"/>
            <a:ext cx="1901952" cy="237744"/>
          </a:xfrm>
          <a:prstGeom prst="rect">
            <a:avLst/>
          </a:prstGeom>
          <a:solidFill>
            <a:srgbClr val="00897B"/>
          </a:solidFill>
          <a:ln w="12700">
            <a:solidFill>
              <a:srgbClr val="00897B"/>
            </a:solidFill>
            <a:prstDash val="solid"/>
          </a:ln>
        </p:spPr>
        <p:txBody>
          <a:bodyPr/>
          <a:lstStyle/>
          <a:p>
            <a:endParaRPr lang="fr-FR"/>
          </a:p>
        </p:txBody>
      </p:sp>
      <p:sp>
        <p:nvSpPr>
          <p:cNvPr id="26" name="Text 24"/>
          <p:cNvSpPr/>
          <p:nvPr/>
        </p:nvSpPr>
        <p:spPr>
          <a:xfrm>
            <a:off x="4791456" y="3337560"/>
            <a:ext cx="1901952" cy="237744"/>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Contrat de louage</a:t>
            </a:r>
            <a:endParaRPr lang="en-US" sz="900" dirty="0"/>
          </a:p>
        </p:txBody>
      </p:sp>
      <p:sp>
        <p:nvSpPr>
          <p:cNvPr id="27" name="Shape 25"/>
          <p:cNvSpPr/>
          <p:nvPr/>
        </p:nvSpPr>
        <p:spPr>
          <a:xfrm>
            <a:off x="6912864" y="1261872"/>
            <a:ext cx="2084832" cy="2331720"/>
          </a:xfrm>
          <a:prstGeom prst="rect">
            <a:avLst/>
          </a:prstGeom>
          <a:solidFill>
            <a:srgbClr val="E8F1FA"/>
          </a:solidFill>
          <a:ln w="6350">
            <a:solidFill>
              <a:srgbClr val="D0DCE8"/>
            </a:solidFill>
            <a:prstDash val="solid"/>
          </a:ln>
        </p:spPr>
        <p:txBody>
          <a:bodyPr/>
          <a:lstStyle/>
          <a:p>
            <a:endParaRPr lang="fr-FR"/>
          </a:p>
        </p:txBody>
      </p:sp>
      <p:sp>
        <p:nvSpPr>
          <p:cNvPr id="28" name="Shape 26"/>
          <p:cNvSpPr/>
          <p:nvPr/>
        </p:nvSpPr>
        <p:spPr>
          <a:xfrm>
            <a:off x="6912864" y="1261872"/>
            <a:ext cx="2084832" cy="347472"/>
          </a:xfrm>
          <a:prstGeom prst="rect">
            <a:avLst/>
          </a:prstGeom>
          <a:solidFill>
            <a:srgbClr val="F4A227"/>
          </a:solidFill>
          <a:ln w="12700">
            <a:solidFill>
              <a:srgbClr val="F4A227"/>
            </a:solidFill>
            <a:prstDash val="solid"/>
          </a:ln>
        </p:spPr>
        <p:txBody>
          <a:bodyPr/>
          <a:lstStyle/>
          <a:p>
            <a:endParaRPr lang="fr-FR"/>
          </a:p>
        </p:txBody>
      </p:sp>
      <p:sp>
        <p:nvSpPr>
          <p:cNvPr id="29" name="Text 27"/>
          <p:cNvSpPr/>
          <p:nvPr/>
        </p:nvSpPr>
        <p:spPr>
          <a:xfrm>
            <a:off x="6958584" y="1261872"/>
            <a:ext cx="199339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ACTIONNAIRE</a:t>
            </a:r>
            <a:endParaRPr lang="en-US" sz="1100" dirty="0"/>
          </a:p>
        </p:txBody>
      </p:sp>
      <p:sp>
        <p:nvSpPr>
          <p:cNvPr id="30" name="Text 28"/>
          <p:cNvSpPr/>
          <p:nvPr/>
        </p:nvSpPr>
        <p:spPr>
          <a:xfrm>
            <a:off x="6986016" y="1645920"/>
            <a:ext cx="1938528" cy="1261872"/>
          </a:xfrm>
          <a:prstGeom prst="rect">
            <a:avLst/>
          </a:prstGeom>
          <a:noFill/>
          <a:ln/>
        </p:spPr>
        <p:txBody>
          <a:bodyPr wrap="square" rtlCol="0" anchor="ctr"/>
          <a:lstStyle/>
          <a:p>
            <a:pPr marL="0" indent="0" algn="ctr">
              <a:buNone/>
            </a:pPr>
            <a:r>
              <a:rPr lang="en-US" sz="1050" dirty="0">
                <a:solidFill>
                  <a:srgbClr val="3A3A3A"/>
                </a:solidFill>
                <a:latin typeface="Calibri" pitchFamily="34" charset="0"/>
                <a:ea typeface="Calibri" pitchFamily="34" charset="-122"/>
                <a:cs typeface="Calibri" pitchFamily="34" charset="-120"/>
              </a:rPr>
              <a:t>Parts dans société</a:t>
            </a:r>
            <a:endParaRPr lang="en-US" sz="1050" dirty="0"/>
          </a:p>
          <a:p>
            <a:pPr marL="0" indent="0" algn="ctr">
              <a:buNone/>
            </a:pPr>
            <a:r>
              <a:rPr lang="en-US" sz="1050" dirty="0">
                <a:solidFill>
                  <a:srgbClr val="3A3A3A"/>
                </a:solidFill>
                <a:latin typeface="Calibri" pitchFamily="34" charset="0"/>
                <a:ea typeface="Calibri" pitchFamily="34" charset="-122"/>
                <a:cs typeface="Calibri" pitchFamily="34" charset="-120"/>
              </a:rPr>
              <a:t>ADS collective</a:t>
            </a:r>
            <a:endParaRPr lang="en-US" sz="1050" dirty="0"/>
          </a:p>
          <a:p>
            <a:pPr marL="0" indent="0" algn="ctr">
              <a:buNone/>
            </a:pPr>
            <a:r>
              <a:rPr lang="en-US" sz="1050" dirty="0">
                <a:solidFill>
                  <a:srgbClr val="3A3A3A"/>
                </a:solidFill>
                <a:latin typeface="Calibri" pitchFamily="34" charset="0"/>
                <a:ea typeface="Calibri" pitchFamily="34" charset="-122"/>
                <a:cs typeface="Calibri" pitchFamily="34" charset="-120"/>
              </a:rPr>
              <a:t>Partage des bénéfices</a:t>
            </a:r>
            <a:endParaRPr lang="en-US" sz="1050" dirty="0"/>
          </a:p>
        </p:txBody>
      </p:sp>
      <p:sp>
        <p:nvSpPr>
          <p:cNvPr id="31" name="Shape 29"/>
          <p:cNvSpPr/>
          <p:nvPr/>
        </p:nvSpPr>
        <p:spPr>
          <a:xfrm>
            <a:off x="7004304" y="3337560"/>
            <a:ext cx="1901952" cy="237744"/>
          </a:xfrm>
          <a:prstGeom prst="rect">
            <a:avLst/>
          </a:prstGeom>
          <a:solidFill>
            <a:srgbClr val="F4A227"/>
          </a:solidFill>
          <a:ln w="12700">
            <a:solidFill>
              <a:srgbClr val="F4A227"/>
            </a:solidFill>
            <a:prstDash val="solid"/>
          </a:ln>
        </p:spPr>
        <p:txBody>
          <a:bodyPr/>
          <a:lstStyle/>
          <a:p>
            <a:endParaRPr lang="fr-FR"/>
          </a:p>
        </p:txBody>
      </p:sp>
      <p:sp>
        <p:nvSpPr>
          <p:cNvPr id="32" name="Text 30"/>
          <p:cNvSpPr/>
          <p:nvPr/>
        </p:nvSpPr>
        <p:spPr>
          <a:xfrm>
            <a:off x="7004304" y="3337560"/>
            <a:ext cx="1901952" cy="237744"/>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Ex : Taxi Radio</a:t>
            </a:r>
            <a:endParaRPr lang="en-US" sz="900" dirty="0"/>
          </a:p>
        </p:txBody>
      </p:sp>
      <p:sp>
        <p:nvSpPr>
          <p:cNvPr id="33" name="Text 31"/>
          <p:cNvSpPr/>
          <p:nvPr/>
        </p:nvSpPr>
        <p:spPr>
          <a:xfrm>
            <a:off x="274320" y="3675888"/>
            <a:ext cx="8595360" cy="256032"/>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Le calcul du tarif taxi :</a:t>
            </a:r>
            <a:endParaRPr lang="en-US" sz="1200" dirty="0"/>
          </a:p>
        </p:txBody>
      </p:sp>
      <p:sp>
        <p:nvSpPr>
          <p:cNvPr id="34" name="Shape 32"/>
          <p:cNvSpPr/>
          <p:nvPr/>
        </p:nvSpPr>
        <p:spPr>
          <a:xfrm>
            <a:off x="274320" y="3977640"/>
            <a:ext cx="2011680" cy="502920"/>
          </a:xfrm>
          <a:prstGeom prst="rect">
            <a:avLst/>
          </a:prstGeom>
          <a:solidFill>
            <a:srgbClr val="1A3A5C"/>
          </a:solidFill>
          <a:ln w="12700">
            <a:solidFill>
              <a:srgbClr val="1A3A5C"/>
            </a:solidFill>
            <a:prstDash val="solid"/>
          </a:ln>
        </p:spPr>
        <p:txBody>
          <a:bodyPr/>
          <a:lstStyle/>
          <a:p>
            <a:endParaRPr lang="fr-FR"/>
          </a:p>
        </p:txBody>
      </p:sp>
      <p:sp>
        <p:nvSpPr>
          <p:cNvPr id="35" name="Text 33"/>
          <p:cNvSpPr/>
          <p:nvPr/>
        </p:nvSpPr>
        <p:spPr>
          <a:xfrm>
            <a:off x="274320" y="3977640"/>
            <a:ext cx="201168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Prise en charge</a:t>
            </a:r>
            <a:endParaRPr lang="en-US" sz="1050" dirty="0"/>
          </a:p>
        </p:txBody>
      </p:sp>
      <p:sp>
        <p:nvSpPr>
          <p:cNvPr id="36" name="Shape 34"/>
          <p:cNvSpPr/>
          <p:nvPr/>
        </p:nvSpPr>
        <p:spPr>
          <a:xfrm>
            <a:off x="2487168" y="3977640"/>
            <a:ext cx="2011680" cy="502920"/>
          </a:xfrm>
          <a:prstGeom prst="rect">
            <a:avLst/>
          </a:prstGeom>
          <a:solidFill>
            <a:srgbClr val="2860A8"/>
          </a:solidFill>
          <a:ln w="12700">
            <a:solidFill>
              <a:srgbClr val="2860A8"/>
            </a:solidFill>
            <a:prstDash val="solid"/>
          </a:ln>
        </p:spPr>
        <p:txBody>
          <a:bodyPr/>
          <a:lstStyle/>
          <a:p>
            <a:endParaRPr lang="fr-FR"/>
          </a:p>
        </p:txBody>
      </p:sp>
      <p:sp>
        <p:nvSpPr>
          <p:cNvPr id="37" name="Text 35"/>
          <p:cNvSpPr/>
          <p:nvPr/>
        </p:nvSpPr>
        <p:spPr>
          <a:xfrm>
            <a:off x="2487168" y="3977640"/>
            <a:ext cx="201168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Km parcourus</a:t>
            </a:r>
            <a:endParaRPr lang="en-US" sz="1050" dirty="0"/>
          </a:p>
        </p:txBody>
      </p:sp>
      <p:sp>
        <p:nvSpPr>
          <p:cNvPr id="38" name="Shape 36"/>
          <p:cNvSpPr/>
          <p:nvPr/>
        </p:nvSpPr>
        <p:spPr>
          <a:xfrm>
            <a:off x="4700016" y="3977640"/>
            <a:ext cx="2011680" cy="502920"/>
          </a:xfrm>
          <a:prstGeom prst="rect">
            <a:avLst/>
          </a:prstGeom>
          <a:solidFill>
            <a:srgbClr val="00897B"/>
          </a:solidFill>
          <a:ln w="12700">
            <a:solidFill>
              <a:srgbClr val="00897B"/>
            </a:solidFill>
            <a:prstDash val="solid"/>
          </a:ln>
        </p:spPr>
        <p:txBody>
          <a:bodyPr/>
          <a:lstStyle/>
          <a:p>
            <a:endParaRPr lang="fr-FR"/>
          </a:p>
        </p:txBody>
      </p:sp>
      <p:sp>
        <p:nvSpPr>
          <p:cNvPr id="39" name="Text 37"/>
          <p:cNvSpPr/>
          <p:nvPr/>
        </p:nvSpPr>
        <p:spPr>
          <a:xfrm>
            <a:off x="4700016" y="3977640"/>
            <a:ext cx="201168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Suppléments</a:t>
            </a:r>
            <a:endParaRPr lang="en-US" sz="1050" dirty="0"/>
          </a:p>
        </p:txBody>
      </p:sp>
      <p:sp>
        <p:nvSpPr>
          <p:cNvPr id="40" name="Shape 38"/>
          <p:cNvSpPr/>
          <p:nvPr/>
        </p:nvSpPr>
        <p:spPr>
          <a:xfrm>
            <a:off x="6912864" y="3977640"/>
            <a:ext cx="2011680" cy="502920"/>
          </a:xfrm>
          <a:prstGeom prst="rect">
            <a:avLst/>
          </a:prstGeom>
          <a:solidFill>
            <a:srgbClr val="F4A227"/>
          </a:solidFill>
          <a:ln w="12700">
            <a:solidFill>
              <a:srgbClr val="F4A227"/>
            </a:solidFill>
            <a:prstDash val="solid"/>
          </a:ln>
        </p:spPr>
        <p:txBody>
          <a:bodyPr/>
          <a:lstStyle/>
          <a:p>
            <a:endParaRPr lang="fr-FR"/>
          </a:p>
        </p:txBody>
      </p:sp>
      <p:sp>
        <p:nvSpPr>
          <p:cNvPr id="41" name="Text 39"/>
          <p:cNvSpPr/>
          <p:nvPr/>
        </p:nvSpPr>
        <p:spPr>
          <a:xfrm>
            <a:off x="6912864" y="3977640"/>
            <a:ext cx="201168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TARIF FINAL</a:t>
            </a:r>
            <a:endParaRPr lang="en-US" sz="1050" dirty="0"/>
          </a:p>
        </p:txBody>
      </p:sp>
      <p:sp>
        <p:nvSpPr>
          <p:cNvPr id="42" name="Text 40"/>
          <p:cNvSpPr/>
          <p:nvPr/>
        </p:nvSpPr>
        <p:spPr>
          <a:xfrm>
            <a:off x="274320" y="4544568"/>
            <a:ext cx="8595360" cy="274320"/>
          </a:xfrm>
          <a:prstGeom prst="rect">
            <a:avLst/>
          </a:prstGeom>
          <a:noFill/>
          <a:ln/>
        </p:spPr>
        <p:txBody>
          <a:bodyPr wrap="square" rtlCol="0" anchor="t"/>
          <a:lstStyle/>
          <a:p>
            <a:pPr marL="0" indent="0">
              <a:buNone/>
            </a:pPr>
            <a:r>
              <a:rPr lang="en-US" sz="950" dirty="0">
                <a:solidFill>
                  <a:srgbClr val="6B7A8D"/>
                </a:solidFill>
                <a:latin typeface="Calibri" pitchFamily="34" charset="0"/>
                <a:ea typeface="Calibri" pitchFamily="34" charset="-122"/>
                <a:cs typeface="Calibri" pitchFamily="34" charset="-120"/>
              </a:rPr>
              <a:t>Suppléments autorisés : 5e passager — 4e bagage — équipements spéciaux — animaux — nuit / dimanche / fériés. Tarifs fixés par ARRÊTÉ PRÉFECTORAL — pas libres.</a:t>
            </a:r>
            <a:endParaRPr lang="en-US" sz="950" dirty="0"/>
          </a:p>
        </p:txBody>
      </p:sp>
      <p:sp>
        <p:nvSpPr>
          <p:cNvPr id="43" name="Rectangle 4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44" name="Rectangle 43"/>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La maraude — Définition légale et règles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Droit exclusif du taxi — 3 formes définies par le Code des transports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24/88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La maraude est l'un des droits les plus importants du taxi et l'une des distinctions fondamentales avec le VTC. Elle désigne le fait de rechercher des clients sur la voie publique sans réservation préalable. Ce droit est exclusivement réservé aux taxis.</a:t>
            </a:r>
            <a:endParaRPr lang="en-US" sz="1200" dirty="0"/>
          </a:p>
        </p:txBody>
      </p:sp>
      <p:sp>
        <p:nvSpPr>
          <p:cNvPr id="10" name="Shape 8"/>
          <p:cNvSpPr/>
          <p:nvPr/>
        </p:nvSpPr>
        <p:spPr>
          <a:xfrm>
            <a:off x="164592" y="1645920"/>
            <a:ext cx="8595360" cy="123444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27632"/>
            <a:ext cx="859536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27632"/>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LES 3 FORMES DE MARAUDE (définies par le Code des transports)</a:t>
            </a:r>
            <a:endParaRPr lang="en-US" sz="1050" dirty="0"/>
          </a:p>
        </p:txBody>
      </p:sp>
      <p:sp>
        <p:nvSpPr>
          <p:cNvPr id="13" name="Text 11"/>
          <p:cNvSpPr/>
          <p:nvPr/>
        </p:nvSpPr>
        <p:spPr>
          <a:xfrm>
            <a:off x="384048" y="1975104"/>
            <a:ext cx="8412480" cy="841248"/>
          </a:xfrm>
          <a:prstGeom prst="rect">
            <a:avLst/>
          </a:prstGeom>
          <a:noFill/>
          <a:ln/>
        </p:spPr>
        <p:txBody>
          <a:bodyPr wrap="square" rtlCol="0" anchor="t"/>
          <a:lstStyle/>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1. Le fait de PRENDRE EN CHARGE un client sur la voie publique SANS réservation préalable.</a:t>
            </a:r>
            <a:endParaRPr lang="en-US" sz="1000" dirty="0">
              <a:solidFill>
                <a:srgbClr val="FF0000"/>
              </a:solidFill>
            </a:endParaRPr>
          </a:p>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2. Le fait d'ÊTRE EN QUÊTE DE CLIENTÈLE sur la voie publique (circuler lentement en cherchant des passagers).</a:t>
            </a:r>
            <a:endParaRPr lang="en-US" sz="1000" dirty="0">
              <a:solidFill>
                <a:srgbClr val="FF0000"/>
              </a:solidFill>
            </a:endParaRPr>
          </a:p>
          <a:p>
            <a:pPr marL="342900" indent="-342900">
              <a:spcAft>
                <a:spcPts val="200"/>
              </a:spcAft>
              <a:buSzPct val="100000"/>
              <a:buChar char="•"/>
            </a:pPr>
            <a:r>
              <a:rPr lang="en-US" sz="1000" dirty="0">
                <a:solidFill>
                  <a:srgbClr val="FF0000"/>
                </a:solidFill>
                <a:latin typeface="Calibri" pitchFamily="34" charset="0"/>
                <a:ea typeface="Calibri" pitchFamily="34" charset="-122"/>
                <a:cs typeface="Calibri" pitchFamily="34" charset="-120"/>
              </a:rPr>
              <a:t>3. Le fait de dépasser 1 HEURE d'attente pour récupérer un client dans une gare ou un aéroport par rapport à l'horaire prévu</a:t>
            </a:r>
            <a:r>
              <a:rPr lang="en-US" sz="1000" dirty="0">
                <a:solidFill>
                  <a:srgbClr val="3A3A3A"/>
                </a:solidFill>
                <a:latin typeface="Calibri" pitchFamily="34" charset="0"/>
                <a:ea typeface="Calibri" pitchFamily="34" charset="-122"/>
                <a:cs typeface="Calibri" pitchFamily="34" charset="-120"/>
              </a:rPr>
              <a:t>.</a:t>
            </a:r>
            <a:endParaRPr lang="en-US" sz="1000" dirty="0"/>
          </a:p>
        </p:txBody>
      </p:sp>
      <p:sp>
        <p:nvSpPr>
          <p:cNvPr id="14" name="Shape 12"/>
          <p:cNvSpPr/>
          <p:nvPr/>
        </p:nvSpPr>
        <p:spPr>
          <a:xfrm>
            <a:off x="274320" y="2944368"/>
            <a:ext cx="4160520" cy="1005840"/>
          </a:xfrm>
          <a:prstGeom prst="rect">
            <a:avLst/>
          </a:prstGeom>
          <a:solidFill>
            <a:srgbClr val="E8F3E8"/>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274320" y="2944368"/>
            <a:ext cx="4160520" cy="301752"/>
          </a:xfrm>
          <a:prstGeom prst="rect">
            <a:avLst/>
          </a:prstGeom>
          <a:solidFill>
            <a:srgbClr val="2E7D32"/>
          </a:solidFill>
          <a:ln w="12700">
            <a:solidFill>
              <a:srgbClr val="2E7D32"/>
            </a:solidFill>
            <a:prstDash val="solid"/>
          </a:ln>
        </p:spPr>
        <p:txBody>
          <a:bodyPr/>
          <a:lstStyle/>
          <a:p>
            <a:endParaRPr lang="fr-FR"/>
          </a:p>
        </p:txBody>
      </p:sp>
      <p:sp>
        <p:nvSpPr>
          <p:cNvPr id="16" name="Text 14"/>
          <p:cNvSpPr/>
          <p:nvPr/>
        </p:nvSpPr>
        <p:spPr>
          <a:xfrm>
            <a:off x="365760" y="294436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TAXI — Maraude AUTORISÉE ✔</a:t>
            </a:r>
            <a:endParaRPr lang="en-US" sz="1050" dirty="0"/>
          </a:p>
        </p:txBody>
      </p:sp>
      <p:sp>
        <p:nvSpPr>
          <p:cNvPr id="17" name="Text 15"/>
          <p:cNvSpPr/>
          <p:nvPr/>
        </p:nvSpPr>
        <p:spPr>
          <a:xfrm>
            <a:off x="384048" y="3291840"/>
            <a:ext cx="3977640" cy="61264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Autorisée UNIQUEMENT dans la zone de rattachement du taxi.</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HORS de la zone : réservation préalable obligatoire (comme un VTC).</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Peut stationner aux emplacements TAXI (tête de station).</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Lumignon VERT = libre — Lumignon ROUGE = occupé.</a:t>
            </a:r>
            <a:endParaRPr lang="en-US" sz="1000" dirty="0"/>
          </a:p>
        </p:txBody>
      </p:sp>
      <p:sp>
        <p:nvSpPr>
          <p:cNvPr id="18" name="Shape 16"/>
          <p:cNvSpPr/>
          <p:nvPr/>
        </p:nvSpPr>
        <p:spPr>
          <a:xfrm>
            <a:off x="4709160" y="2944368"/>
            <a:ext cx="4160520" cy="1005840"/>
          </a:xfrm>
          <a:prstGeom prst="rect">
            <a:avLst/>
          </a:prstGeom>
          <a:solidFill>
            <a:srgbClr val="FDECE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9" name="Shape 17"/>
          <p:cNvSpPr/>
          <p:nvPr/>
        </p:nvSpPr>
        <p:spPr>
          <a:xfrm>
            <a:off x="4709160" y="2944368"/>
            <a:ext cx="4160520" cy="301752"/>
          </a:xfrm>
          <a:prstGeom prst="rect">
            <a:avLst/>
          </a:prstGeom>
          <a:solidFill>
            <a:srgbClr val="C0392B"/>
          </a:solidFill>
          <a:ln w="12700">
            <a:solidFill>
              <a:srgbClr val="C0392B"/>
            </a:solidFill>
            <a:prstDash val="solid"/>
          </a:ln>
        </p:spPr>
        <p:txBody>
          <a:bodyPr/>
          <a:lstStyle/>
          <a:p>
            <a:endParaRPr lang="fr-FR"/>
          </a:p>
        </p:txBody>
      </p:sp>
      <p:sp>
        <p:nvSpPr>
          <p:cNvPr id="20" name="Text 18"/>
          <p:cNvSpPr/>
          <p:nvPr/>
        </p:nvSpPr>
        <p:spPr>
          <a:xfrm>
            <a:off x="4800600" y="294436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VTC / VMDTR — Maraude INTERDITE ✖</a:t>
            </a:r>
            <a:endParaRPr lang="en-US" sz="1050" dirty="0"/>
          </a:p>
        </p:txBody>
      </p:sp>
      <p:sp>
        <p:nvSpPr>
          <p:cNvPr id="21" name="Text 19"/>
          <p:cNvSpPr/>
          <p:nvPr/>
        </p:nvSpPr>
        <p:spPr>
          <a:xfrm>
            <a:off x="4818888" y="3291840"/>
            <a:ext cx="3977640" cy="61264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Jamais de prise en charge sans réservation préalable enregistrée.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Interdit de stationner aux emplacements taxis.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Sanction : DÉLIT — 1 an de prison + 15 000 € d'amende.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Même règle pour le VMDTR : réservation toujours obligatoire.</a:t>
            </a:r>
            <a:endParaRPr lang="en-US" sz="1000" dirty="0"/>
          </a:p>
        </p:txBody>
      </p:sp>
      <p:sp>
        <p:nvSpPr>
          <p:cNvPr id="22" name="Shape 20"/>
          <p:cNvSpPr/>
          <p:nvPr/>
        </p:nvSpPr>
        <p:spPr>
          <a:xfrm>
            <a:off x="228600" y="4306824"/>
            <a:ext cx="8595360" cy="347472"/>
          </a:xfrm>
          <a:prstGeom prst="rect">
            <a:avLst/>
          </a:prstGeom>
          <a:solidFill>
            <a:srgbClr val="FEF0EE"/>
          </a:solidFill>
          <a:ln w="19050">
            <a:solidFill>
              <a:srgbClr val="C0392B"/>
            </a:solidFill>
            <a:prstDash val="solid"/>
          </a:ln>
        </p:spPr>
        <p:txBody>
          <a:bodyPr/>
          <a:lstStyle/>
          <a:p>
            <a:r>
              <a:rPr lang="en-US" sz="1100" dirty="0">
                <a:solidFill>
                  <a:srgbClr val="3A3A3A"/>
                </a:solidFill>
                <a:latin typeface="Calibri" pitchFamily="34" charset="0"/>
                <a:ea typeface="Calibri" pitchFamily="34" charset="-122"/>
                <a:cs typeface="Calibri" pitchFamily="34" charset="-120"/>
              </a:rPr>
              <a:t>⚠  </a:t>
            </a:r>
            <a:r>
              <a:rPr lang="en-US" sz="1100" dirty="0" err="1">
                <a:solidFill>
                  <a:srgbClr val="3A3A3A"/>
                </a:solidFill>
                <a:latin typeface="Calibri" pitchFamily="34" charset="0"/>
                <a:ea typeface="Calibri" pitchFamily="34" charset="-122"/>
                <a:cs typeface="Calibri" pitchFamily="34" charset="-120"/>
              </a:rPr>
              <a:t>Maraude</a:t>
            </a:r>
            <a:r>
              <a:rPr lang="en-US" sz="1100" dirty="0">
                <a:solidFill>
                  <a:srgbClr val="3A3A3A"/>
                </a:solidFill>
                <a:latin typeface="Calibri" pitchFamily="34" charset="0"/>
                <a:ea typeface="Calibri" pitchFamily="34" charset="-122"/>
                <a:cs typeface="Calibri" pitchFamily="34" charset="-120"/>
              </a:rPr>
              <a:t> VTC = DÉLIT : 1 an </a:t>
            </a:r>
            <a:r>
              <a:rPr lang="en-US" sz="1100" dirty="0" err="1">
                <a:solidFill>
                  <a:srgbClr val="3A3A3A"/>
                </a:solidFill>
                <a:latin typeface="Calibri" pitchFamily="34" charset="0"/>
                <a:ea typeface="Calibri" pitchFamily="34" charset="-122"/>
                <a:cs typeface="Calibri" pitchFamily="34" charset="-120"/>
              </a:rPr>
              <a:t>d'emprisonnement</a:t>
            </a:r>
            <a:r>
              <a:rPr lang="en-US" sz="1100" dirty="0">
                <a:solidFill>
                  <a:srgbClr val="3A3A3A"/>
                </a:solidFill>
                <a:latin typeface="Calibri" pitchFamily="34" charset="0"/>
                <a:ea typeface="Calibri" pitchFamily="34" charset="-122"/>
                <a:cs typeface="Calibri" pitchFamily="34" charset="-120"/>
              </a:rPr>
              <a:t> + 15 000 € </a:t>
            </a:r>
            <a:r>
              <a:rPr lang="en-US" sz="1100" dirty="0" err="1">
                <a:solidFill>
                  <a:srgbClr val="3A3A3A"/>
                </a:solidFill>
                <a:latin typeface="Calibri" pitchFamily="34" charset="0"/>
                <a:ea typeface="Calibri" pitchFamily="34" charset="-122"/>
                <a:cs typeface="Calibri" pitchFamily="34" charset="-120"/>
              </a:rPr>
              <a:t>d'amende</a:t>
            </a:r>
            <a:r>
              <a:rPr lang="en-US" sz="1100" dirty="0">
                <a:solidFill>
                  <a:srgbClr val="3A3A3A"/>
                </a:solidFill>
                <a:latin typeface="Calibri" pitchFamily="34" charset="0"/>
                <a:ea typeface="Calibri" pitchFamily="34" charset="-122"/>
                <a:cs typeface="Calibri" pitchFamily="34" charset="-120"/>
              </a:rPr>
              <a:t>. La simple </a:t>
            </a:r>
            <a:r>
              <a:rPr lang="en-US" sz="1100" dirty="0" err="1">
                <a:solidFill>
                  <a:srgbClr val="3A3A3A"/>
                </a:solidFill>
                <a:latin typeface="Calibri" pitchFamily="34" charset="0"/>
                <a:ea typeface="Calibri" pitchFamily="34" charset="-122"/>
                <a:cs typeface="Calibri" pitchFamily="34" charset="-120"/>
              </a:rPr>
              <a:t>présence</a:t>
            </a:r>
            <a:r>
              <a:rPr lang="en-US" sz="1100" dirty="0">
                <a:solidFill>
                  <a:srgbClr val="3A3A3A"/>
                </a:solidFill>
                <a:latin typeface="Calibri" pitchFamily="34" charset="0"/>
                <a:ea typeface="Calibri" pitchFamily="34" charset="-122"/>
                <a:cs typeface="Calibri" pitchFamily="34" charset="-120"/>
              </a:rPr>
              <a:t> visible sur la </a:t>
            </a:r>
            <a:r>
              <a:rPr lang="en-US" sz="1100" dirty="0" err="1">
                <a:solidFill>
                  <a:srgbClr val="3A3A3A"/>
                </a:solidFill>
                <a:latin typeface="Calibri" pitchFamily="34" charset="0"/>
                <a:ea typeface="Calibri" pitchFamily="34" charset="-122"/>
                <a:cs typeface="Calibri" pitchFamily="34" charset="-120"/>
              </a:rPr>
              <a:t>voie</a:t>
            </a:r>
            <a:r>
              <a:rPr lang="en-US" sz="1100" dirty="0">
                <a:solidFill>
                  <a:srgbClr val="3A3A3A"/>
                </a:solidFill>
                <a:latin typeface="Calibri" pitchFamily="34" charset="0"/>
                <a:ea typeface="Calibri" pitchFamily="34" charset="-122"/>
                <a:cs typeface="Calibri" pitchFamily="34" charset="-120"/>
              </a:rPr>
              <a:t> publique </a:t>
            </a:r>
            <a:r>
              <a:rPr lang="en-US" sz="1100" dirty="0" err="1">
                <a:solidFill>
                  <a:srgbClr val="3A3A3A"/>
                </a:solidFill>
                <a:latin typeface="Calibri" pitchFamily="34" charset="0"/>
                <a:ea typeface="Calibri" pitchFamily="34" charset="-122"/>
                <a:cs typeface="Calibri" pitchFamily="34" charset="-120"/>
              </a:rPr>
              <a:t>en</a:t>
            </a:r>
            <a:r>
              <a:rPr lang="en-US" sz="1100" dirty="0">
                <a:solidFill>
                  <a:srgbClr val="3A3A3A"/>
                </a:solidFill>
                <a:latin typeface="Calibri" pitchFamily="34" charset="0"/>
                <a:ea typeface="Calibri" pitchFamily="34" charset="-122"/>
                <a:cs typeface="Calibri" pitchFamily="34" charset="-120"/>
              </a:rPr>
              <a:t> </a:t>
            </a:r>
            <a:r>
              <a:rPr lang="en-US" sz="1100" dirty="0" err="1">
                <a:solidFill>
                  <a:srgbClr val="3A3A3A"/>
                </a:solidFill>
                <a:latin typeface="Calibri" pitchFamily="34" charset="0"/>
                <a:ea typeface="Calibri" pitchFamily="34" charset="-122"/>
                <a:cs typeface="Calibri" pitchFamily="34" charset="-120"/>
              </a:rPr>
              <a:t>attente</a:t>
            </a:r>
            <a:r>
              <a:rPr lang="en-US" sz="1100" dirty="0">
                <a:solidFill>
                  <a:srgbClr val="3A3A3A"/>
                </a:solidFill>
                <a:latin typeface="Calibri" pitchFamily="34" charset="0"/>
                <a:ea typeface="Calibri" pitchFamily="34" charset="-122"/>
                <a:cs typeface="Calibri" pitchFamily="34" charset="-120"/>
              </a:rPr>
              <a:t> de clients sans </a:t>
            </a:r>
            <a:r>
              <a:rPr lang="en-US" sz="1100" dirty="0" err="1">
                <a:solidFill>
                  <a:srgbClr val="3A3A3A"/>
                </a:solidFill>
                <a:latin typeface="Calibri" pitchFamily="34" charset="0"/>
                <a:ea typeface="Calibri" pitchFamily="34" charset="-122"/>
                <a:cs typeface="Calibri" pitchFamily="34" charset="-120"/>
              </a:rPr>
              <a:t>réservation</a:t>
            </a:r>
            <a:r>
              <a:rPr lang="en-US" sz="1100" dirty="0">
                <a:solidFill>
                  <a:srgbClr val="3A3A3A"/>
                </a:solidFill>
                <a:latin typeface="Calibri" pitchFamily="34" charset="0"/>
                <a:ea typeface="Calibri" pitchFamily="34" charset="-122"/>
                <a:cs typeface="Calibri" pitchFamily="34" charset="-120"/>
              </a:rPr>
              <a:t> </a:t>
            </a:r>
            <a:r>
              <a:rPr lang="en-US" sz="1100" dirty="0" err="1">
                <a:solidFill>
                  <a:srgbClr val="3A3A3A"/>
                </a:solidFill>
                <a:latin typeface="Calibri" pitchFamily="34" charset="0"/>
                <a:ea typeface="Calibri" pitchFamily="34" charset="-122"/>
                <a:cs typeface="Calibri" pitchFamily="34" charset="-120"/>
              </a:rPr>
              <a:t>peut</a:t>
            </a:r>
            <a:r>
              <a:rPr lang="en-US" sz="1100" dirty="0">
                <a:solidFill>
                  <a:srgbClr val="3A3A3A"/>
                </a:solidFill>
                <a:latin typeface="Calibri" pitchFamily="34" charset="0"/>
                <a:ea typeface="Calibri" pitchFamily="34" charset="-122"/>
                <a:cs typeface="Calibri" pitchFamily="34" charset="-120"/>
              </a:rPr>
              <a:t> </a:t>
            </a:r>
            <a:r>
              <a:rPr lang="en-US" sz="1100" dirty="0" err="1">
                <a:solidFill>
                  <a:srgbClr val="3A3A3A"/>
                </a:solidFill>
                <a:latin typeface="Calibri" pitchFamily="34" charset="0"/>
                <a:ea typeface="Calibri" pitchFamily="34" charset="-122"/>
                <a:cs typeface="Calibri" pitchFamily="34" charset="-120"/>
              </a:rPr>
              <a:t>être</a:t>
            </a:r>
            <a:r>
              <a:rPr lang="en-US" sz="1100" dirty="0">
                <a:solidFill>
                  <a:srgbClr val="3A3A3A"/>
                </a:solidFill>
                <a:latin typeface="Calibri" pitchFamily="34" charset="0"/>
                <a:ea typeface="Calibri" pitchFamily="34" charset="-122"/>
                <a:cs typeface="Calibri" pitchFamily="34" charset="-120"/>
              </a:rPr>
              <a:t> </a:t>
            </a:r>
            <a:r>
              <a:rPr lang="en-US" sz="1100" dirty="0" err="1">
                <a:solidFill>
                  <a:srgbClr val="3A3A3A"/>
                </a:solidFill>
                <a:latin typeface="Calibri" pitchFamily="34" charset="0"/>
                <a:ea typeface="Calibri" pitchFamily="34" charset="-122"/>
                <a:cs typeface="Calibri" pitchFamily="34" charset="-120"/>
              </a:rPr>
              <a:t>qualifiée</a:t>
            </a:r>
            <a:r>
              <a:rPr lang="en-US" sz="1100" dirty="0">
                <a:solidFill>
                  <a:srgbClr val="3A3A3A"/>
                </a:solidFill>
                <a:latin typeface="Calibri" pitchFamily="34" charset="0"/>
                <a:ea typeface="Calibri" pitchFamily="34" charset="-122"/>
                <a:cs typeface="Calibri" pitchFamily="34" charset="-120"/>
              </a:rPr>
              <a:t> de </a:t>
            </a:r>
            <a:r>
              <a:rPr lang="en-US" sz="1100" dirty="0" err="1">
                <a:solidFill>
                  <a:srgbClr val="3A3A3A"/>
                </a:solidFill>
                <a:latin typeface="Calibri" pitchFamily="34" charset="0"/>
                <a:ea typeface="Calibri" pitchFamily="34" charset="-122"/>
                <a:cs typeface="Calibri" pitchFamily="34" charset="-120"/>
              </a:rPr>
              <a:t>maraude.pour</a:t>
            </a:r>
            <a:r>
              <a:rPr lang="en-US" sz="1100" dirty="0">
                <a:solidFill>
                  <a:srgbClr val="3A3A3A"/>
                </a:solidFill>
                <a:latin typeface="Calibri" pitchFamily="34" charset="0"/>
                <a:ea typeface="Calibri" pitchFamily="34" charset="-122"/>
                <a:cs typeface="Calibri" pitchFamily="34" charset="-120"/>
              </a:rPr>
              <a:t> les deux </a:t>
            </a:r>
            <a:r>
              <a:rPr lang="en-US" sz="1100" dirty="0" err="1">
                <a:solidFill>
                  <a:srgbClr val="3A3A3A"/>
                </a:solidFill>
                <a:latin typeface="Calibri" pitchFamily="34" charset="0"/>
                <a:ea typeface="Calibri" pitchFamily="34" charset="-122"/>
                <a:cs typeface="Calibri" pitchFamily="34" charset="-120"/>
              </a:rPr>
              <a:t>autres</a:t>
            </a:r>
            <a:r>
              <a:rPr lang="en-US" sz="1100" dirty="0">
                <a:solidFill>
                  <a:srgbClr val="3A3A3A"/>
                </a:solidFill>
                <a:latin typeface="Calibri" pitchFamily="34" charset="0"/>
                <a:ea typeface="Calibri" pitchFamily="34" charset="-122"/>
                <a:cs typeface="Calibri" pitchFamily="34" charset="-120"/>
              </a:rPr>
              <a:t> types de </a:t>
            </a:r>
            <a:r>
              <a:rPr lang="en-US" sz="1100" dirty="0" err="1">
                <a:solidFill>
                  <a:srgbClr val="3A3A3A"/>
                </a:solidFill>
                <a:latin typeface="Calibri" pitchFamily="34" charset="0"/>
                <a:ea typeface="Calibri" pitchFamily="34" charset="-122"/>
                <a:cs typeface="Calibri" pitchFamily="34" charset="-120"/>
              </a:rPr>
              <a:t>maraude</a:t>
            </a:r>
            <a:r>
              <a:rPr lang="en-US" sz="1100" dirty="0">
                <a:solidFill>
                  <a:srgbClr val="3A3A3A"/>
                </a:solidFill>
                <a:latin typeface="Calibri" pitchFamily="34" charset="0"/>
                <a:ea typeface="Calibri" pitchFamily="34" charset="-122"/>
                <a:cs typeface="Calibri" pitchFamily="34" charset="-120"/>
              </a:rPr>
              <a:t> vous </a:t>
            </a:r>
            <a:r>
              <a:rPr lang="en-US" sz="1100" dirty="0" err="1">
                <a:solidFill>
                  <a:srgbClr val="3A3A3A"/>
                </a:solidFill>
                <a:latin typeface="Calibri" pitchFamily="34" charset="0"/>
                <a:ea typeface="Calibri" pitchFamily="34" charset="-122"/>
                <a:cs typeface="Calibri" pitchFamily="34" charset="-120"/>
              </a:rPr>
              <a:t>risquez</a:t>
            </a:r>
            <a:r>
              <a:rPr lang="en-US" sz="1100" dirty="0">
                <a:solidFill>
                  <a:srgbClr val="3A3A3A"/>
                </a:solidFill>
                <a:latin typeface="Calibri" pitchFamily="34" charset="0"/>
                <a:ea typeface="Calibri" pitchFamily="34" charset="-122"/>
                <a:cs typeface="Calibri" pitchFamily="34" charset="-120"/>
              </a:rPr>
              <a:t> </a:t>
            </a:r>
            <a:r>
              <a:rPr lang="en-US" sz="1100" dirty="0" err="1">
                <a:solidFill>
                  <a:srgbClr val="3A3A3A"/>
                </a:solidFill>
                <a:latin typeface="Calibri" pitchFamily="34" charset="0"/>
                <a:ea typeface="Calibri" pitchFamily="34" charset="-122"/>
                <a:cs typeface="Calibri" pitchFamily="34" charset="-120"/>
              </a:rPr>
              <a:t>une</a:t>
            </a:r>
            <a:r>
              <a:rPr lang="en-US" sz="1100" dirty="0">
                <a:solidFill>
                  <a:srgbClr val="3A3A3A"/>
                </a:solidFill>
                <a:latin typeface="Calibri" pitchFamily="34" charset="0"/>
                <a:ea typeface="Calibri" pitchFamily="34" charset="-122"/>
                <a:cs typeface="Calibri" pitchFamily="34" charset="-120"/>
              </a:rPr>
              <a:t> </a:t>
            </a:r>
            <a:r>
              <a:rPr lang="en-US" sz="1100" dirty="0" err="1">
                <a:solidFill>
                  <a:srgbClr val="3A3A3A"/>
                </a:solidFill>
                <a:latin typeface="Calibri" pitchFamily="34" charset="0"/>
                <a:ea typeface="Calibri" pitchFamily="34" charset="-122"/>
                <a:cs typeface="Calibri" pitchFamily="34" charset="-120"/>
              </a:rPr>
              <a:t>amende</a:t>
            </a:r>
            <a:r>
              <a:rPr lang="en-US" sz="1100" dirty="0">
                <a:solidFill>
                  <a:srgbClr val="3A3A3A"/>
                </a:solidFill>
                <a:latin typeface="Calibri" pitchFamily="34" charset="0"/>
                <a:ea typeface="Calibri" pitchFamily="34" charset="-122"/>
                <a:cs typeface="Calibri" pitchFamily="34" charset="-120"/>
              </a:rPr>
              <a:t> de 5ème </a:t>
            </a:r>
            <a:r>
              <a:rPr lang="en-US" sz="1100" dirty="0" err="1">
                <a:solidFill>
                  <a:srgbClr val="3A3A3A"/>
                </a:solidFill>
                <a:latin typeface="Calibri" pitchFamily="34" charset="0"/>
                <a:ea typeface="Calibri" pitchFamily="34" charset="-122"/>
                <a:cs typeface="Calibri" pitchFamily="34" charset="-120"/>
              </a:rPr>
              <a:t>classe</a:t>
            </a:r>
            <a:endParaRPr lang="en-US" sz="1100" dirty="0"/>
          </a:p>
        </p:txBody>
      </p:sp>
      <p:sp>
        <p:nvSpPr>
          <p:cNvPr id="23" name="Shape 21"/>
          <p:cNvSpPr/>
          <p:nvPr/>
        </p:nvSpPr>
        <p:spPr>
          <a:xfrm>
            <a:off x="274320" y="4041648"/>
            <a:ext cx="54864" cy="347472"/>
          </a:xfrm>
          <a:prstGeom prst="rect">
            <a:avLst/>
          </a:prstGeom>
          <a:solidFill>
            <a:srgbClr val="C0392B"/>
          </a:solidFill>
          <a:ln w="12700">
            <a:solidFill>
              <a:srgbClr val="C0392B"/>
            </a:solidFill>
            <a:prstDash val="solid"/>
          </a:ln>
        </p:spPr>
        <p:txBody>
          <a:bodyPr/>
          <a:lstStyle/>
          <a:p>
            <a:endParaRPr lang="fr-FR"/>
          </a:p>
        </p:txBody>
      </p:sp>
      <p:sp>
        <p:nvSpPr>
          <p:cNvPr id="24" name="Text 22"/>
          <p:cNvSpPr/>
          <p:nvPr/>
        </p:nvSpPr>
        <p:spPr>
          <a:xfrm>
            <a:off x="402336" y="4083412"/>
            <a:ext cx="8467344" cy="347472"/>
          </a:xfrm>
          <a:prstGeom prst="rect">
            <a:avLst/>
          </a:prstGeom>
          <a:noFill/>
          <a:ln/>
        </p:spPr>
        <p:txBody>
          <a:bodyPr wrap="square" rtlCol="0" anchor="ctr"/>
          <a:lstStyle/>
          <a:p>
            <a:pPr marL="0" indent="0">
              <a:buNone/>
            </a:pPr>
            <a:endParaRPr lang="en-US" sz="1000" dirty="0"/>
          </a:p>
        </p:txBody>
      </p:sp>
      <p:sp>
        <p:nvSpPr>
          <p:cNvPr id="25" name="Rectangle 2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6" name="Rectangle 2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La maraude et les conditions du véhicule taxi — Schémas</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25/88</a:t>
            </a:r>
            <a:endParaRPr lang="en-US" sz="800" dirty="0"/>
          </a:p>
        </p:txBody>
      </p:sp>
      <p:sp>
        <p:nvSpPr>
          <p:cNvPr id="8" name="Text 6"/>
          <p:cNvSpPr/>
          <p:nvPr/>
        </p:nvSpPr>
        <p:spPr>
          <a:xfrm>
            <a:off x="274320" y="886968"/>
            <a:ext cx="8595360" cy="274320"/>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Schéma — Taxi vs VTC : qui peut faire quoi sur la voie publique ?</a:t>
            </a:r>
            <a:endParaRPr lang="en-US" sz="1200" dirty="0"/>
          </a:p>
        </p:txBody>
      </p:sp>
      <p:sp>
        <p:nvSpPr>
          <p:cNvPr id="9" name="Shape 7"/>
          <p:cNvSpPr/>
          <p:nvPr/>
        </p:nvSpPr>
        <p:spPr>
          <a:xfrm>
            <a:off x="274320" y="1234440"/>
            <a:ext cx="4160520" cy="347472"/>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1234440"/>
            <a:ext cx="41605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TAXI</a:t>
            </a:r>
            <a:endParaRPr lang="en-US" sz="1300" dirty="0"/>
          </a:p>
        </p:txBody>
      </p:sp>
      <p:sp>
        <p:nvSpPr>
          <p:cNvPr id="11" name="Shape 9"/>
          <p:cNvSpPr/>
          <p:nvPr/>
        </p:nvSpPr>
        <p:spPr>
          <a:xfrm>
            <a:off x="4709160" y="1234440"/>
            <a:ext cx="4160520" cy="347472"/>
          </a:xfrm>
          <a:prstGeom prst="rect">
            <a:avLst/>
          </a:prstGeom>
          <a:solidFill>
            <a:srgbClr val="2860A8"/>
          </a:solidFill>
          <a:ln w="12700">
            <a:solidFill>
              <a:srgbClr val="2860A8"/>
            </a:solidFill>
            <a:prstDash val="solid"/>
          </a:ln>
        </p:spPr>
        <p:txBody>
          <a:bodyPr/>
          <a:lstStyle/>
          <a:p>
            <a:endParaRPr lang="fr-FR"/>
          </a:p>
        </p:txBody>
      </p:sp>
      <p:sp>
        <p:nvSpPr>
          <p:cNvPr id="12" name="Text 10"/>
          <p:cNvSpPr/>
          <p:nvPr/>
        </p:nvSpPr>
        <p:spPr>
          <a:xfrm>
            <a:off x="4709160" y="1234440"/>
            <a:ext cx="41605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VTC</a:t>
            </a:r>
            <a:endParaRPr lang="en-US" sz="1300" dirty="0"/>
          </a:p>
        </p:txBody>
      </p:sp>
      <p:sp>
        <p:nvSpPr>
          <p:cNvPr id="13" name="Shape 11"/>
          <p:cNvSpPr/>
          <p:nvPr/>
        </p:nvSpPr>
        <p:spPr>
          <a:xfrm>
            <a:off x="274320" y="1627632"/>
            <a:ext cx="4160520" cy="320040"/>
          </a:xfrm>
          <a:prstGeom prst="rect">
            <a:avLst/>
          </a:prstGeom>
          <a:solidFill>
            <a:srgbClr val="E8F1FA"/>
          </a:solidFill>
          <a:ln w="6350">
            <a:solidFill>
              <a:srgbClr val="D0DCE8"/>
            </a:solidFill>
            <a:prstDash val="solid"/>
          </a:ln>
        </p:spPr>
        <p:txBody>
          <a:bodyPr/>
          <a:lstStyle/>
          <a:p>
            <a:endParaRPr lang="fr-FR"/>
          </a:p>
        </p:txBody>
      </p:sp>
      <p:sp>
        <p:nvSpPr>
          <p:cNvPr id="14" name="Text 12"/>
          <p:cNvSpPr/>
          <p:nvPr/>
        </p:nvSpPr>
        <p:spPr>
          <a:xfrm>
            <a:off x="384048" y="1655064"/>
            <a:ext cx="3931920" cy="265176"/>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 Maraude dans la zone de rattachement</a:t>
            </a:r>
            <a:endParaRPr lang="en-US" sz="1000" dirty="0"/>
          </a:p>
        </p:txBody>
      </p:sp>
      <p:sp>
        <p:nvSpPr>
          <p:cNvPr id="15" name="Shape 13"/>
          <p:cNvSpPr/>
          <p:nvPr/>
        </p:nvSpPr>
        <p:spPr>
          <a:xfrm>
            <a:off x="274320" y="1975104"/>
            <a:ext cx="4160520" cy="320040"/>
          </a:xfrm>
          <a:prstGeom prst="rect">
            <a:avLst/>
          </a:prstGeom>
          <a:solidFill>
            <a:srgbClr val="FFFFFF"/>
          </a:solidFill>
          <a:ln w="6350">
            <a:solidFill>
              <a:srgbClr val="D0DCE8"/>
            </a:solidFill>
            <a:prstDash val="solid"/>
          </a:ln>
        </p:spPr>
        <p:txBody>
          <a:bodyPr/>
          <a:lstStyle/>
          <a:p>
            <a:endParaRPr lang="fr-FR"/>
          </a:p>
        </p:txBody>
      </p:sp>
      <p:sp>
        <p:nvSpPr>
          <p:cNvPr id="16" name="Text 14"/>
          <p:cNvSpPr/>
          <p:nvPr/>
        </p:nvSpPr>
        <p:spPr>
          <a:xfrm>
            <a:off x="384048" y="2002536"/>
            <a:ext cx="3931920" cy="265176"/>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 Stationnement emplacements TAXI</a:t>
            </a:r>
            <a:endParaRPr lang="en-US" sz="1000" dirty="0"/>
          </a:p>
        </p:txBody>
      </p:sp>
      <p:sp>
        <p:nvSpPr>
          <p:cNvPr id="17" name="Shape 15"/>
          <p:cNvSpPr/>
          <p:nvPr/>
        </p:nvSpPr>
        <p:spPr>
          <a:xfrm>
            <a:off x="274320" y="2322576"/>
            <a:ext cx="4160520" cy="320040"/>
          </a:xfrm>
          <a:prstGeom prst="rect">
            <a:avLst/>
          </a:prstGeom>
          <a:solidFill>
            <a:srgbClr val="E8F1FA"/>
          </a:solidFill>
          <a:ln w="6350">
            <a:solidFill>
              <a:srgbClr val="D0DCE8"/>
            </a:solidFill>
            <a:prstDash val="solid"/>
          </a:ln>
        </p:spPr>
        <p:txBody>
          <a:bodyPr/>
          <a:lstStyle/>
          <a:p>
            <a:endParaRPr lang="fr-FR"/>
          </a:p>
        </p:txBody>
      </p:sp>
      <p:sp>
        <p:nvSpPr>
          <p:cNvPr id="18" name="Text 16"/>
          <p:cNvSpPr/>
          <p:nvPr/>
        </p:nvSpPr>
        <p:spPr>
          <a:xfrm>
            <a:off x="384048" y="2350008"/>
            <a:ext cx="3931920" cy="265176"/>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 Lumignon vert = disponible</a:t>
            </a:r>
            <a:endParaRPr lang="en-US" sz="1000" dirty="0"/>
          </a:p>
        </p:txBody>
      </p:sp>
      <p:sp>
        <p:nvSpPr>
          <p:cNvPr id="19" name="Shape 17"/>
          <p:cNvSpPr/>
          <p:nvPr/>
        </p:nvSpPr>
        <p:spPr>
          <a:xfrm>
            <a:off x="274320" y="2670048"/>
            <a:ext cx="4160520" cy="320040"/>
          </a:xfrm>
          <a:prstGeom prst="rect">
            <a:avLst/>
          </a:prstGeom>
          <a:solidFill>
            <a:srgbClr val="FFFFFF"/>
          </a:solidFill>
          <a:ln w="6350">
            <a:solidFill>
              <a:srgbClr val="D0DCE8"/>
            </a:solidFill>
            <a:prstDash val="solid"/>
          </a:ln>
        </p:spPr>
        <p:txBody>
          <a:bodyPr/>
          <a:lstStyle/>
          <a:p>
            <a:endParaRPr lang="fr-FR"/>
          </a:p>
        </p:txBody>
      </p:sp>
      <p:sp>
        <p:nvSpPr>
          <p:cNvPr id="20" name="Text 18"/>
          <p:cNvSpPr/>
          <p:nvPr/>
        </p:nvSpPr>
        <p:spPr>
          <a:xfrm>
            <a:off x="384048" y="2697480"/>
            <a:ext cx="3931920" cy="265176"/>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 Prise en charge immédiate dans la rue</a:t>
            </a:r>
            <a:endParaRPr lang="en-US" sz="1000" dirty="0"/>
          </a:p>
        </p:txBody>
      </p:sp>
      <p:sp>
        <p:nvSpPr>
          <p:cNvPr id="21" name="Shape 19"/>
          <p:cNvSpPr/>
          <p:nvPr/>
        </p:nvSpPr>
        <p:spPr>
          <a:xfrm>
            <a:off x="274320" y="3017520"/>
            <a:ext cx="4160520" cy="320040"/>
          </a:xfrm>
          <a:prstGeom prst="rect">
            <a:avLst/>
          </a:prstGeom>
          <a:solidFill>
            <a:srgbClr val="E8F1FA"/>
          </a:solidFill>
          <a:ln w="6350">
            <a:solidFill>
              <a:srgbClr val="D0DCE8"/>
            </a:solidFill>
            <a:prstDash val="solid"/>
          </a:ln>
        </p:spPr>
        <p:txBody>
          <a:bodyPr/>
          <a:lstStyle/>
          <a:p>
            <a:endParaRPr lang="fr-FR"/>
          </a:p>
        </p:txBody>
      </p:sp>
      <p:sp>
        <p:nvSpPr>
          <p:cNvPr id="22" name="Text 20"/>
          <p:cNvSpPr/>
          <p:nvPr/>
        </p:nvSpPr>
        <p:spPr>
          <a:xfrm>
            <a:off x="384048" y="3044952"/>
            <a:ext cx="3931920" cy="265176"/>
          </a:xfrm>
          <a:prstGeom prst="rect">
            <a:avLst/>
          </a:prstGeom>
          <a:noFill/>
          <a:ln/>
        </p:spPr>
        <p:txBody>
          <a:bodyPr wrap="square" rtlCol="0" anchor="ctr"/>
          <a:lstStyle/>
          <a:p>
            <a:pPr marL="0" indent="0">
              <a:buNone/>
            </a:pPr>
            <a:r>
              <a:rPr lang="en-US" sz="1000" dirty="0">
                <a:solidFill>
                  <a:srgbClr val="C0392B"/>
                </a:solidFill>
                <a:latin typeface="Calibri" pitchFamily="34" charset="0"/>
                <a:ea typeface="Calibri" pitchFamily="34" charset="-122"/>
                <a:cs typeface="Calibri" pitchFamily="34" charset="-120"/>
              </a:rPr>
              <a:t>✘ Hors zone → réservation obligatoire</a:t>
            </a:r>
            <a:endParaRPr lang="en-US" sz="1000" dirty="0"/>
          </a:p>
        </p:txBody>
      </p:sp>
      <p:sp>
        <p:nvSpPr>
          <p:cNvPr id="23" name="Shape 21"/>
          <p:cNvSpPr/>
          <p:nvPr/>
        </p:nvSpPr>
        <p:spPr>
          <a:xfrm>
            <a:off x="4709160" y="1627632"/>
            <a:ext cx="4160520" cy="320040"/>
          </a:xfrm>
          <a:prstGeom prst="rect">
            <a:avLst/>
          </a:prstGeom>
          <a:solidFill>
            <a:srgbClr val="E8F1FA"/>
          </a:solidFill>
          <a:ln w="6350">
            <a:solidFill>
              <a:srgbClr val="D0DCE8"/>
            </a:solidFill>
            <a:prstDash val="solid"/>
          </a:ln>
        </p:spPr>
        <p:txBody>
          <a:bodyPr/>
          <a:lstStyle/>
          <a:p>
            <a:endParaRPr lang="fr-FR"/>
          </a:p>
        </p:txBody>
      </p:sp>
      <p:sp>
        <p:nvSpPr>
          <p:cNvPr id="24" name="Text 22"/>
          <p:cNvSpPr/>
          <p:nvPr/>
        </p:nvSpPr>
        <p:spPr>
          <a:xfrm>
            <a:off x="4818888" y="1655064"/>
            <a:ext cx="3931920" cy="265176"/>
          </a:xfrm>
          <a:prstGeom prst="rect">
            <a:avLst/>
          </a:prstGeom>
          <a:noFill/>
          <a:ln/>
        </p:spPr>
        <p:txBody>
          <a:bodyPr wrap="square" rtlCol="0" anchor="ctr"/>
          <a:lstStyle/>
          <a:p>
            <a:pPr marL="0" indent="0">
              <a:buNone/>
            </a:pPr>
            <a:r>
              <a:rPr lang="en-US" sz="1000" dirty="0">
                <a:solidFill>
                  <a:srgbClr val="C0392B"/>
                </a:solidFill>
                <a:latin typeface="Calibri" pitchFamily="34" charset="0"/>
                <a:ea typeface="Calibri" pitchFamily="34" charset="-122"/>
                <a:cs typeface="Calibri" pitchFamily="34" charset="-120"/>
              </a:rPr>
              <a:t>✘ Maraude INTERDITE partout</a:t>
            </a:r>
            <a:endParaRPr lang="en-US" sz="1000" dirty="0"/>
          </a:p>
        </p:txBody>
      </p:sp>
      <p:sp>
        <p:nvSpPr>
          <p:cNvPr id="25" name="Shape 23"/>
          <p:cNvSpPr/>
          <p:nvPr/>
        </p:nvSpPr>
        <p:spPr>
          <a:xfrm>
            <a:off x="4709160" y="1975104"/>
            <a:ext cx="4160520" cy="320040"/>
          </a:xfrm>
          <a:prstGeom prst="rect">
            <a:avLst/>
          </a:prstGeom>
          <a:solidFill>
            <a:srgbClr val="FFFFFF"/>
          </a:solidFill>
          <a:ln w="6350">
            <a:solidFill>
              <a:srgbClr val="D0DCE8"/>
            </a:solidFill>
            <a:prstDash val="solid"/>
          </a:ln>
        </p:spPr>
        <p:txBody>
          <a:bodyPr/>
          <a:lstStyle/>
          <a:p>
            <a:endParaRPr lang="fr-FR"/>
          </a:p>
        </p:txBody>
      </p:sp>
      <p:sp>
        <p:nvSpPr>
          <p:cNvPr id="26" name="Text 24"/>
          <p:cNvSpPr/>
          <p:nvPr/>
        </p:nvSpPr>
        <p:spPr>
          <a:xfrm>
            <a:off x="4818888" y="2002536"/>
            <a:ext cx="3931920" cy="265176"/>
          </a:xfrm>
          <a:prstGeom prst="rect">
            <a:avLst/>
          </a:prstGeom>
          <a:noFill/>
          <a:ln/>
        </p:spPr>
        <p:txBody>
          <a:bodyPr wrap="square" rtlCol="0" anchor="ctr"/>
          <a:lstStyle/>
          <a:p>
            <a:pPr marL="0" indent="0">
              <a:buNone/>
            </a:pPr>
            <a:r>
              <a:rPr lang="en-US" sz="1000" dirty="0">
                <a:solidFill>
                  <a:srgbClr val="C0392B"/>
                </a:solidFill>
                <a:latin typeface="Calibri" pitchFamily="34" charset="0"/>
                <a:ea typeface="Calibri" pitchFamily="34" charset="-122"/>
                <a:cs typeface="Calibri" pitchFamily="34" charset="-120"/>
              </a:rPr>
              <a:t>✘ Emplacements taxi INTERDITS</a:t>
            </a:r>
            <a:endParaRPr lang="en-US" sz="1000" dirty="0"/>
          </a:p>
        </p:txBody>
      </p:sp>
      <p:sp>
        <p:nvSpPr>
          <p:cNvPr id="27" name="Shape 25"/>
          <p:cNvSpPr/>
          <p:nvPr/>
        </p:nvSpPr>
        <p:spPr>
          <a:xfrm>
            <a:off x="4709160" y="2322576"/>
            <a:ext cx="4160520" cy="320040"/>
          </a:xfrm>
          <a:prstGeom prst="rect">
            <a:avLst/>
          </a:prstGeom>
          <a:solidFill>
            <a:srgbClr val="E8F1FA"/>
          </a:solidFill>
          <a:ln w="6350">
            <a:solidFill>
              <a:srgbClr val="D0DCE8"/>
            </a:solidFill>
            <a:prstDash val="solid"/>
          </a:ln>
        </p:spPr>
        <p:txBody>
          <a:bodyPr/>
          <a:lstStyle/>
          <a:p>
            <a:endParaRPr lang="fr-FR"/>
          </a:p>
        </p:txBody>
      </p:sp>
      <p:sp>
        <p:nvSpPr>
          <p:cNvPr id="28" name="Text 26"/>
          <p:cNvSpPr/>
          <p:nvPr/>
        </p:nvSpPr>
        <p:spPr>
          <a:xfrm>
            <a:off x="4818888" y="2350008"/>
            <a:ext cx="3931920" cy="265176"/>
          </a:xfrm>
          <a:prstGeom prst="rect">
            <a:avLst/>
          </a:prstGeom>
          <a:noFill/>
          <a:ln/>
        </p:spPr>
        <p:txBody>
          <a:bodyPr wrap="square" rtlCol="0" anchor="ctr"/>
          <a:lstStyle/>
          <a:p>
            <a:pPr marL="0" indent="0">
              <a:buNone/>
            </a:pPr>
            <a:r>
              <a:rPr lang="en-US" sz="1000" dirty="0">
                <a:solidFill>
                  <a:srgbClr val="C0392B"/>
                </a:solidFill>
                <a:latin typeface="Calibri" pitchFamily="34" charset="0"/>
                <a:ea typeface="Calibri" pitchFamily="34" charset="-122"/>
                <a:cs typeface="Calibri" pitchFamily="34" charset="-120"/>
              </a:rPr>
              <a:t>✘ Pas de signalétique de disponibilité</a:t>
            </a:r>
            <a:endParaRPr lang="en-US" sz="1000" dirty="0"/>
          </a:p>
        </p:txBody>
      </p:sp>
      <p:sp>
        <p:nvSpPr>
          <p:cNvPr id="29" name="Shape 27"/>
          <p:cNvSpPr/>
          <p:nvPr/>
        </p:nvSpPr>
        <p:spPr>
          <a:xfrm>
            <a:off x="4709160" y="2670048"/>
            <a:ext cx="4160520" cy="320040"/>
          </a:xfrm>
          <a:prstGeom prst="rect">
            <a:avLst/>
          </a:prstGeom>
          <a:solidFill>
            <a:srgbClr val="FFFFFF"/>
          </a:solidFill>
          <a:ln w="6350">
            <a:solidFill>
              <a:srgbClr val="D0DCE8"/>
            </a:solidFill>
            <a:prstDash val="solid"/>
          </a:ln>
        </p:spPr>
        <p:txBody>
          <a:bodyPr/>
          <a:lstStyle/>
          <a:p>
            <a:endParaRPr lang="fr-FR"/>
          </a:p>
        </p:txBody>
      </p:sp>
      <p:sp>
        <p:nvSpPr>
          <p:cNvPr id="30" name="Text 28"/>
          <p:cNvSpPr/>
          <p:nvPr/>
        </p:nvSpPr>
        <p:spPr>
          <a:xfrm>
            <a:off x="4818888" y="2697480"/>
            <a:ext cx="3931920" cy="265176"/>
          </a:xfrm>
          <a:prstGeom prst="rect">
            <a:avLst/>
          </a:prstGeom>
          <a:noFill/>
          <a:ln/>
        </p:spPr>
        <p:txBody>
          <a:bodyPr wrap="square" rtlCol="0" anchor="ctr"/>
          <a:lstStyle/>
          <a:p>
            <a:pPr marL="0" indent="0">
              <a:buNone/>
            </a:pPr>
            <a:r>
              <a:rPr lang="en-US" sz="1000" dirty="0">
                <a:solidFill>
                  <a:srgbClr val="C0392B"/>
                </a:solidFill>
                <a:latin typeface="Calibri" pitchFamily="34" charset="0"/>
                <a:ea typeface="Calibri" pitchFamily="34" charset="-122"/>
                <a:cs typeface="Calibri" pitchFamily="34" charset="-120"/>
              </a:rPr>
              <a:t>✘ Jamais de prise en charge sans réservation</a:t>
            </a:r>
            <a:endParaRPr lang="en-US" sz="1000" dirty="0"/>
          </a:p>
        </p:txBody>
      </p:sp>
      <p:sp>
        <p:nvSpPr>
          <p:cNvPr id="31" name="Shape 29"/>
          <p:cNvSpPr/>
          <p:nvPr/>
        </p:nvSpPr>
        <p:spPr>
          <a:xfrm>
            <a:off x="4709160" y="3017520"/>
            <a:ext cx="4160520" cy="320040"/>
          </a:xfrm>
          <a:prstGeom prst="rect">
            <a:avLst/>
          </a:prstGeom>
          <a:solidFill>
            <a:srgbClr val="E8F1FA"/>
          </a:solidFill>
          <a:ln w="6350">
            <a:solidFill>
              <a:srgbClr val="D0DCE8"/>
            </a:solidFill>
            <a:prstDash val="solid"/>
          </a:ln>
        </p:spPr>
        <p:txBody>
          <a:bodyPr/>
          <a:lstStyle/>
          <a:p>
            <a:endParaRPr lang="fr-FR"/>
          </a:p>
        </p:txBody>
      </p:sp>
      <p:sp>
        <p:nvSpPr>
          <p:cNvPr id="32" name="Text 30"/>
          <p:cNvSpPr/>
          <p:nvPr/>
        </p:nvSpPr>
        <p:spPr>
          <a:xfrm>
            <a:off x="4818888" y="3044952"/>
            <a:ext cx="3931920" cy="265176"/>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 Réservation → prise en charge autorisée</a:t>
            </a:r>
            <a:endParaRPr lang="en-US" sz="1000" dirty="0"/>
          </a:p>
        </p:txBody>
      </p:sp>
      <p:sp>
        <p:nvSpPr>
          <p:cNvPr id="33" name="Text 31"/>
          <p:cNvSpPr/>
          <p:nvPr/>
        </p:nvSpPr>
        <p:spPr>
          <a:xfrm>
            <a:off x="274320" y="3493008"/>
            <a:ext cx="8595360" cy="274320"/>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Conditions du véhicule taxi (exemple Lyon — à vérifier selon votre département) :</a:t>
            </a:r>
            <a:endParaRPr lang="en-US" sz="1200" dirty="0"/>
          </a:p>
        </p:txBody>
      </p:sp>
      <p:sp>
        <p:nvSpPr>
          <p:cNvPr id="34" name="Shape 32"/>
          <p:cNvSpPr/>
          <p:nvPr/>
        </p:nvSpPr>
        <p:spPr>
          <a:xfrm>
            <a:off x="274320" y="3822192"/>
            <a:ext cx="1645920" cy="896112"/>
          </a:xfrm>
          <a:prstGeom prst="rect">
            <a:avLst/>
          </a:prstGeom>
          <a:solidFill>
            <a:srgbClr val="E8F1FA"/>
          </a:solidFill>
          <a:ln w="6350">
            <a:solidFill>
              <a:srgbClr val="D0DCE8"/>
            </a:solidFill>
            <a:prstDash val="solid"/>
          </a:ln>
        </p:spPr>
        <p:txBody>
          <a:bodyPr/>
          <a:lstStyle/>
          <a:p>
            <a:endParaRPr lang="fr-FR"/>
          </a:p>
        </p:txBody>
      </p:sp>
      <p:sp>
        <p:nvSpPr>
          <p:cNvPr id="35" name="Shape 33"/>
          <p:cNvSpPr/>
          <p:nvPr/>
        </p:nvSpPr>
        <p:spPr>
          <a:xfrm>
            <a:off x="274320" y="3822192"/>
            <a:ext cx="1645920" cy="347472"/>
          </a:xfrm>
          <a:prstGeom prst="rect">
            <a:avLst/>
          </a:prstGeom>
          <a:solidFill>
            <a:srgbClr val="1A3A5C"/>
          </a:solidFill>
          <a:ln w="12700">
            <a:solidFill>
              <a:srgbClr val="1A3A5C"/>
            </a:solidFill>
            <a:prstDash val="solid"/>
          </a:ln>
        </p:spPr>
        <p:txBody>
          <a:bodyPr/>
          <a:lstStyle/>
          <a:p>
            <a:endParaRPr lang="fr-FR"/>
          </a:p>
        </p:txBody>
      </p:sp>
      <p:sp>
        <p:nvSpPr>
          <p:cNvPr id="36" name="Text 34"/>
          <p:cNvSpPr/>
          <p:nvPr/>
        </p:nvSpPr>
        <p:spPr>
          <a:xfrm>
            <a:off x="274320" y="3822192"/>
            <a:ext cx="1645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&lt; 10 ans</a:t>
            </a:r>
            <a:endParaRPr lang="en-US" sz="1200" dirty="0"/>
          </a:p>
        </p:txBody>
      </p:sp>
      <p:sp>
        <p:nvSpPr>
          <p:cNvPr id="37" name="Text 35"/>
          <p:cNvSpPr/>
          <p:nvPr/>
        </p:nvSpPr>
        <p:spPr>
          <a:xfrm>
            <a:off x="320040" y="4187952"/>
            <a:ext cx="1554480" cy="512064"/>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Âge max du véhicule</a:t>
            </a:r>
            <a:endParaRPr lang="en-US" sz="900" dirty="0"/>
          </a:p>
          <a:p>
            <a:pPr marL="0" indent="0" algn="ctr">
              <a:buNone/>
            </a:pPr>
            <a:r>
              <a:rPr lang="en-US" sz="900" dirty="0">
                <a:solidFill>
                  <a:srgbClr val="3A3A3A"/>
                </a:solidFill>
                <a:latin typeface="Calibri" pitchFamily="34" charset="0"/>
                <a:ea typeface="Calibri" pitchFamily="34" charset="-122"/>
                <a:cs typeface="Calibri" pitchFamily="34" charset="-120"/>
              </a:rPr>
              <a:t>(varie selon commune)</a:t>
            </a:r>
            <a:endParaRPr lang="en-US" sz="900" dirty="0"/>
          </a:p>
        </p:txBody>
      </p:sp>
      <p:sp>
        <p:nvSpPr>
          <p:cNvPr id="38" name="Shape 36"/>
          <p:cNvSpPr/>
          <p:nvPr/>
        </p:nvSpPr>
        <p:spPr>
          <a:xfrm>
            <a:off x="2011680" y="3822192"/>
            <a:ext cx="1645920" cy="896112"/>
          </a:xfrm>
          <a:prstGeom prst="rect">
            <a:avLst/>
          </a:prstGeom>
          <a:solidFill>
            <a:srgbClr val="E8F1FA"/>
          </a:solidFill>
          <a:ln w="6350">
            <a:solidFill>
              <a:srgbClr val="D0DCE8"/>
            </a:solidFill>
            <a:prstDash val="solid"/>
          </a:ln>
        </p:spPr>
        <p:txBody>
          <a:bodyPr/>
          <a:lstStyle/>
          <a:p>
            <a:endParaRPr lang="fr-FR"/>
          </a:p>
        </p:txBody>
      </p:sp>
      <p:sp>
        <p:nvSpPr>
          <p:cNvPr id="39" name="Shape 37"/>
          <p:cNvSpPr/>
          <p:nvPr/>
        </p:nvSpPr>
        <p:spPr>
          <a:xfrm>
            <a:off x="2011680" y="3822192"/>
            <a:ext cx="1645920" cy="347472"/>
          </a:xfrm>
          <a:prstGeom prst="rect">
            <a:avLst/>
          </a:prstGeom>
          <a:solidFill>
            <a:srgbClr val="2860A8"/>
          </a:solidFill>
          <a:ln w="12700">
            <a:solidFill>
              <a:srgbClr val="2860A8"/>
            </a:solidFill>
            <a:prstDash val="solid"/>
          </a:ln>
        </p:spPr>
        <p:txBody>
          <a:bodyPr/>
          <a:lstStyle/>
          <a:p>
            <a:endParaRPr lang="fr-FR"/>
          </a:p>
        </p:txBody>
      </p:sp>
      <p:sp>
        <p:nvSpPr>
          <p:cNvPr id="40" name="Text 38"/>
          <p:cNvSpPr/>
          <p:nvPr/>
        </p:nvSpPr>
        <p:spPr>
          <a:xfrm>
            <a:off x="2011680" y="3822192"/>
            <a:ext cx="1645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Min 3 pass.</a:t>
            </a:r>
            <a:endParaRPr lang="en-US" sz="1200" dirty="0"/>
          </a:p>
        </p:txBody>
      </p:sp>
      <p:sp>
        <p:nvSpPr>
          <p:cNvPr id="41" name="Text 39"/>
          <p:cNvSpPr/>
          <p:nvPr/>
        </p:nvSpPr>
        <p:spPr>
          <a:xfrm>
            <a:off x="2057400" y="4187952"/>
            <a:ext cx="1554480" cy="512064"/>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Capacité d'accueil</a:t>
            </a:r>
            <a:endParaRPr lang="en-US" sz="900" dirty="0"/>
          </a:p>
          <a:p>
            <a:pPr marL="0" indent="0" algn="ctr">
              <a:buNone/>
            </a:pPr>
            <a:r>
              <a:rPr lang="en-US" sz="900" dirty="0">
                <a:solidFill>
                  <a:srgbClr val="3A3A3A"/>
                </a:solidFill>
                <a:latin typeface="Calibri" pitchFamily="34" charset="0"/>
                <a:ea typeface="Calibri" pitchFamily="34" charset="-122"/>
                <a:cs typeface="Calibri" pitchFamily="34" charset="-120"/>
              </a:rPr>
              <a:t>confortable + bagages</a:t>
            </a:r>
            <a:endParaRPr lang="en-US" sz="900" dirty="0"/>
          </a:p>
        </p:txBody>
      </p:sp>
      <p:sp>
        <p:nvSpPr>
          <p:cNvPr id="46" name="Shape 44"/>
          <p:cNvSpPr/>
          <p:nvPr/>
        </p:nvSpPr>
        <p:spPr>
          <a:xfrm>
            <a:off x="3840480" y="3801051"/>
            <a:ext cx="1645920" cy="896112"/>
          </a:xfrm>
          <a:prstGeom prst="rect">
            <a:avLst/>
          </a:prstGeom>
          <a:solidFill>
            <a:srgbClr val="E8F1FA"/>
          </a:solidFill>
          <a:ln w="6350">
            <a:solidFill>
              <a:srgbClr val="D0DCE8"/>
            </a:solidFill>
            <a:prstDash val="solid"/>
          </a:ln>
        </p:spPr>
        <p:txBody>
          <a:bodyPr/>
          <a:lstStyle/>
          <a:p>
            <a:endParaRPr lang="fr-FR"/>
          </a:p>
        </p:txBody>
      </p:sp>
      <p:sp>
        <p:nvSpPr>
          <p:cNvPr id="47" name="Shape 45"/>
          <p:cNvSpPr/>
          <p:nvPr/>
        </p:nvSpPr>
        <p:spPr>
          <a:xfrm>
            <a:off x="3840480" y="3813048"/>
            <a:ext cx="1645920" cy="347472"/>
          </a:xfrm>
          <a:prstGeom prst="rect">
            <a:avLst/>
          </a:prstGeom>
          <a:solidFill>
            <a:srgbClr val="F4A227"/>
          </a:solidFill>
          <a:ln w="12700">
            <a:solidFill>
              <a:srgbClr val="F4A227"/>
            </a:solidFill>
            <a:prstDash val="solid"/>
          </a:ln>
        </p:spPr>
        <p:txBody>
          <a:bodyPr/>
          <a:lstStyle/>
          <a:p>
            <a:r>
              <a:rPr lang="fr-FR" dirty="0"/>
              <a:t>Signalétique</a:t>
            </a:r>
          </a:p>
        </p:txBody>
      </p:sp>
      <p:sp>
        <p:nvSpPr>
          <p:cNvPr id="48" name="Text 46"/>
          <p:cNvSpPr/>
          <p:nvPr/>
        </p:nvSpPr>
        <p:spPr>
          <a:xfrm>
            <a:off x="5486400" y="3822192"/>
            <a:ext cx="1645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Signalétique</a:t>
            </a:r>
            <a:endParaRPr lang="en-US" sz="1200" dirty="0"/>
          </a:p>
        </p:txBody>
      </p:sp>
      <p:sp>
        <p:nvSpPr>
          <p:cNvPr id="49" name="Text 47"/>
          <p:cNvSpPr/>
          <p:nvPr/>
        </p:nvSpPr>
        <p:spPr>
          <a:xfrm>
            <a:off x="3813048" y="4215384"/>
            <a:ext cx="1554480" cy="512064"/>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Dispositif lumineux</a:t>
            </a:r>
            <a:endParaRPr lang="en-US" sz="900" dirty="0"/>
          </a:p>
          <a:p>
            <a:pPr marL="0" indent="0" algn="ctr">
              <a:buNone/>
            </a:pPr>
            <a:r>
              <a:rPr lang="en-US" sz="900" dirty="0">
                <a:solidFill>
                  <a:srgbClr val="3A3A3A"/>
                </a:solidFill>
                <a:latin typeface="Calibri" pitchFamily="34" charset="0"/>
                <a:ea typeface="Calibri" pitchFamily="34" charset="-122"/>
                <a:cs typeface="Calibri" pitchFamily="34" charset="-120"/>
              </a:rPr>
              <a:t>TAXI + commune</a:t>
            </a:r>
            <a:endParaRPr lang="en-US" sz="900" dirty="0"/>
          </a:p>
        </p:txBody>
      </p:sp>
      <p:sp>
        <p:nvSpPr>
          <p:cNvPr id="50" name="Shape 48"/>
          <p:cNvSpPr/>
          <p:nvPr/>
        </p:nvSpPr>
        <p:spPr>
          <a:xfrm>
            <a:off x="5577840" y="3816680"/>
            <a:ext cx="1645920" cy="896112"/>
          </a:xfrm>
          <a:prstGeom prst="rect">
            <a:avLst/>
          </a:prstGeom>
          <a:solidFill>
            <a:srgbClr val="E8F1FA"/>
          </a:solidFill>
          <a:ln w="6350">
            <a:solidFill>
              <a:srgbClr val="D0DCE8"/>
            </a:solidFill>
            <a:prstDash val="solid"/>
          </a:ln>
        </p:spPr>
        <p:txBody>
          <a:bodyPr/>
          <a:lstStyle/>
          <a:p>
            <a:endParaRPr lang="fr-FR"/>
          </a:p>
        </p:txBody>
      </p:sp>
      <p:sp>
        <p:nvSpPr>
          <p:cNvPr id="51" name="Shape 49"/>
          <p:cNvSpPr/>
          <p:nvPr/>
        </p:nvSpPr>
        <p:spPr>
          <a:xfrm>
            <a:off x="5577840" y="3813178"/>
            <a:ext cx="1645920" cy="347472"/>
          </a:xfrm>
          <a:prstGeom prst="rect">
            <a:avLst/>
          </a:prstGeom>
          <a:solidFill>
            <a:srgbClr val="1A3A5C"/>
          </a:solidFill>
          <a:ln w="12700">
            <a:solidFill>
              <a:srgbClr val="1A3A5C"/>
            </a:solidFill>
            <a:prstDash val="solid"/>
          </a:ln>
        </p:spPr>
        <p:txBody>
          <a:bodyPr/>
          <a:lstStyle/>
          <a:p>
            <a:endParaRPr lang="fr-FR"/>
          </a:p>
        </p:txBody>
      </p:sp>
      <p:sp>
        <p:nvSpPr>
          <p:cNvPr id="52" name="Text 50"/>
          <p:cNvSpPr/>
          <p:nvPr/>
        </p:nvSpPr>
        <p:spPr>
          <a:xfrm>
            <a:off x="5513832" y="3791648"/>
            <a:ext cx="1645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Taximètre</a:t>
            </a:r>
            <a:endParaRPr lang="en-US" sz="1200" dirty="0"/>
          </a:p>
        </p:txBody>
      </p:sp>
      <p:sp>
        <p:nvSpPr>
          <p:cNvPr id="53" name="Text 51"/>
          <p:cNvSpPr/>
          <p:nvPr/>
        </p:nvSpPr>
        <p:spPr>
          <a:xfrm>
            <a:off x="5458968" y="4151376"/>
            <a:ext cx="1554480" cy="512064"/>
          </a:xfrm>
          <a:prstGeom prst="rect">
            <a:avLst/>
          </a:prstGeom>
          <a:noFill/>
          <a:ln/>
        </p:spPr>
        <p:txBody>
          <a:bodyPr wrap="square" rtlCol="0" anchor="ctr"/>
          <a:lstStyle/>
          <a:p>
            <a:pPr marL="0" indent="0" algn="ctr">
              <a:buNone/>
            </a:pPr>
            <a:r>
              <a:rPr lang="en-US" sz="900" dirty="0">
                <a:solidFill>
                  <a:srgbClr val="3A3A3A"/>
                </a:solidFill>
                <a:latin typeface="Calibri" pitchFamily="34" charset="0"/>
                <a:ea typeface="Calibri" pitchFamily="34" charset="-122"/>
                <a:cs typeface="Calibri" pitchFamily="34" charset="-120"/>
              </a:rPr>
              <a:t>Homologué</a:t>
            </a:r>
            <a:endParaRPr lang="en-US" sz="900" dirty="0"/>
          </a:p>
          <a:p>
            <a:pPr marL="0" indent="0" algn="ctr">
              <a:buNone/>
            </a:pPr>
            <a:r>
              <a:rPr lang="en-US" sz="900" dirty="0">
                <a:solidFill>
                  <a:srgbClr val="3A3A3A"/>
                </a:solidFill>
                <a:latin typeface="Calibri" pitchFamily="34" charset="0"/>
                <a:ea typeface="Calibri" pitchFamily="34" charset="-122"/>
                <a:cs typeface="Calibri" pitchFamily="34" charset="-120"/>
              </a:rPr>
              <a:t>Carnet métrologique</a:t>
            </a:r>
            <a:endParaRPr lang="en-US" sz="900" dirty="0"/>
          </a:p>
        </p:txBody>
      </p:sp>
      <p:sp>
        <p:nvSpPr>
          <p:cNvPr id="54" name="Rectangle 53"/>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55" name="Rectangle 5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6. Réglementation des VTC</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Voiture de Transport avec Chauffeur — Réservation toujours obligatoire</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26/88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33.jpeg"/>
          <p:cNvPicPr>
            <a:picLocks noChangeAspect="1"/>
          </p:cNvPicPr>
          <p:nvPr/>
        </p:nvPicPr>
        <p:blipFill>
          <a:blip r:embed="rId3"/>
          <a:stretch>
            <a:fillRect/>
          </a:stretch>
        </p:blipFill>
        <p:spPr>
          <a:xfrm>
            <a:off x="2773387" y="2820924"/>
            <a:ext cx="3597226" cy="1737360"/>
          </a:xfrm>
          <a:prstGeom prst="rect">
            <a:avLst/>
          </a:prstGeom>
          <a:ln w="9525">
            <a:solidFill>
              <a:srgbClr val="00B4D8"/>
            </a:solid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Réglementation des VTC — Cadre légal, statut et tarifs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Code des transports — Registre National VTC — DRIEAT</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27/88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Le VTC se distingue fondamentalement du taxi par deux règles absolues : la réservation préalable est toujours obligatoire et les tarifs sont librement fixés à l'avance. Il peut exercer sur toute la France sans restriction géographique.</a:t>
            </a:r>
            <a:endParaRPr lang="en-US" sz="1200" dirty="0"/>
          </a:p>
        </p:txBody>
      </p:sp>
      <p:sp>
        <p:nvSpPr>
          <p:cNvPr id="10" name="Shape 8"/>
          <p:cNvSpPr/>
          <p:nvPr/>
        </p:nvSpPr>
        <p:spPr>
          <a:xfrm>
            <a:off x="274320" y="1627632"/>
            <a:ext cx="4160520" cy="126187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27632"/>
            <a:ext cx="416052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27632"/>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CADRE RÉGLEMENTAIRE VTC</a:t>
            </a:r>
            <a:endParaRPr lang="en-US" sz="1050" dirty="0"/>
          </a:p>
        </p:txBody>
      </p:sp>
      <p:sp>
        <p:nvSpPr>
          <p:cNvPr id="13" name="Text 11"/>
          <p:cNvSpPr/>
          <p:nvPr/>
        </p:nvSpPr>
        <p:spPr>
          <a:xfrm>
            <a:off x="384048" y="1975104"/>
            <a:ext cx="3977640" cy="86868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Texte : Code des transports.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Inscription obligatoire au REGISTRE NATIONAL des VTC (DRIEAT). Vignette VTC sur le véhicule.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Exercer sans inscription au registre : DÉLIT — 3 ans + 45 000 € (depuis la loi du 25/06/2026).</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Peut exercer sur TOUTE LA FRANCE — aucune restriction géographique.</a:t>
            </a:r>
            <a:endParaRPr lang="en-US" sz="1000" dirty="0"/>
          </a:p>
        </p:txBody>
      </p:sp>
      <p:sp>
        <p:nvSpPr>
          <p:cNvPr id="14" name="Shape 12"/>
          <p:cNvSpPr/>
          <p:nvPr/>
        </p:nvSpPr>
        <p:spPr>
          <a:xfrm>
            <a:off x="4709160" y="1627632"/>
            <a:ext cx="4160520" cy="126187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4709160" y="1627632"/>
            <a:ext cx="4160520" cy="301752"/>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4800600" y="1627632"/>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STATUT ET TARIFS VTC</a:t>
            </a:r>
            <a:endParaRPr lang="en-US" sz="1050" dirty="0"/>
          </a:p>
        </p:txBody>
      </p:sp>
      <p:sp>
        <p:nvSpPr>
          <p:cNvPr id="17" name="Text 15"/>
          <p:cNvSpPr/>
          <p:nvPr/>
        </p:nvSpPr>
        <p:spPr>
          <a:xfrm>
            <a:off x="4818888" y="1975104"/>
            <a:ext cx="3977640" cy="86868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Statut : SALARIÉ OU INDÉPENDANT (micro-entrepreneur) (Uber, Bolt…) .</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Tarif : </a:t>
            </a:r>
            <a:r>
              <a:rPr lang="en-US" sz="1000" dirty="0" err="1">
                <a:solidFill>
                  <a:srgbClr val="3A3A3A"/>
                </a:solidFill>
                <a:latin typeface="Calibri" pitchFamily="34" charset="0"/>
                <a:ea typeface="Calibri" pitchFamily="34" charset="-122"/>
                <a:cs typeface="Calibri" pitchFamily="34" charset="-120"/>
              </a:rPr>
              <a:t>forfait</a:t>
            </a:r>
            <a:r>
              <a:rPr lang="en-US" sz="1000" dirty="0">
                <a:solidFill>
                  <a:srgbClr val="3A3A3A"/>
                </a:solidFill>
                <a:latin typeface="Calibri" pitchFamily="34" charset="0"/>
                <a:ea typeface="Calibri" pitchFamily="34" charset="-122"/>
                <a:cs typeface="Calibri" pitchFamily="34" charset="-120"/>
              </a:rPr>
              <a:t> libre OU </a:t>
            </a:r>
            <a:r>
              <a:rPr lang="en-US" sz="1000" dirty="0" err="1">
                <a:solidFill>
                  <a:srgbClr val="3A3A3A"/>
                </a:solidFill>
                <a:latin typeface="Calibri" pitchFamily="34" charset="0"/>
                <a:ea typeface="Calibri" pitchFamily="34" charset="-122"/>
                <a:cs typeface="Calibri" pitchFamily="34" charset="-120"/>
              </a:rPr>
              <a:t>tarif</a:t>
            </a:r>
            <a:r>
              <a:rPr lang="en-US" sz="1000" dirty="0">
                <a:solidFill>
                  <a:srgbClr val="3A3A3A"/>
                </a:solidFill>
                <a:latin typeface="Calibri" pitchFamily="34" charset="0"/>
                <a:ea typeface="Calibri" pitchFamily="34" charset="-122"/>
                <a:cs typeface="Calibri" pitchFamily="34" charset="-120"/>
              </a:rPr>
              <a:t> </a:t>
            </a:r>
            <a:r>
              <a:rPr lang="en-US" sz="1000" dirty="0" err="1">
                <a:solidFill>
                  <a:srgbClr val="3A3A3A"/>
                </a:solidFill>
                <a:latin typeface="Calibri" pitchFamily="34" charset="0"/>
                <a:ea typeface="Calibri" pitchFamily="34" charset="-122"/>
                <a:cs typeface="Calibri" pitchFamily="34" charset="-120"/>
              </a:rPr>
              <a:t>horokilométrique</a:t>
            </a:r>
            <a:r>
              <a:rPr lang="en-US" sz="1000" dirty="0">
                <a:solidFill>
                  <a:srgbClr val="3A3A3A"/>
                </a:solidFill>
                <a:latin typeface="Calibri" pitchFamily="34" charset="0"/>
                <a:ea typeface="Calibri" pitchFamily="34" charset="-122"/>
                <a:cs typeface="Calibri" pitchFamily="34" charset="-120"/>
              </a:rPr>
              <a:t> — </a:t>
            </a:r>
            <a:r>
              <a:rPr lang="en-US" sz="1000" dirty="0" err="1">
                <a:solidFill>
                  <a:srgbClr val="3A3A3A"/>
                </a:solidFill>
                <a:latin typeface="Calibri" pitchFamily="34" charset="0"/>
                <a:ea typeface="Calibri" pitchFamily="34" charset="-122"/>
                <a:cs typeface="Calibri" pitchFamily="34" charset="-120"/>
              </a:rPr>
              <a:t>fixé</a:t>
            </a:r>
            <a:r>
              <a:rPr lang="en-US" sz="1000" dirty="0">
                <a:solidFill>
                  <a:srgbClr val="3A3A3A"/>
                </a:solidFill>
                <a:latin typeface="Calibri" pitchFamily="34" charset="0"/>
                <a:ea typeface="Calibri" pitchFamily="34" charset="-122"/>
                <a:cs typeface="Calibri" pitchFamily="34" charset="-120"/>
              </a:rPr>
              <a:t> à </a:t>
            </a:r>
            <a:r>
              <a:rPr lang="en-US" sz="1000" dirty="0" err="1">
                <a:solidFill>
                  <a:srgbClr val="3A3A3A"/>
                </a:solidFill>
                <a:latin typeface="Calibri" pitchFamily="34" charset="0"/>
                <a:ea typeface="Calibri" pitchFamily="34" charset="-122"/>
                <a:cs typeface="Calibri" pitchFamily="34" charset="-120"/>
              </a:rPr>
              <a:t>l'avance</a:t>
            </a:r>
            <a:r>
              <a:rPr lang="en-US" sz="1000" dirty="0">
                <a:solidFill>
                  <a:srgbClr val="3A3A3A"/>
                </a:solidFill>
                <a:latin typeface="Calibri" pitchFamily="34" charset="0"/>
                <a:ea typeface="Calibri" pitchFamily="34" charset="-122"/>
                <a:cs typeface="Calibri" pitchFamily="34" charset="-120"/>
              </a:rPr>
              <a: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Pas de taximètre mais un système de calcul du prix est requis.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RC Circulation (titre onéreux) + RC Professionnelle obligatoires.</a:t>
            </a:r>
            <a:endParaRPr lang="en-US" sz="1000" dirty="0"/>
          </a:p>
        </p:txBody>
      </p:sp>
      <p:sp>
        <p:nvSpPr>
          <p:cNvPr id="18" name="Shape 16"/>
          <p:cNvSpPr/>
          <p:nvPr/>
        </p:nvSpPr>
        <p:spPr>
          <a:xfrm>
            <a:off x="274320" y="3252978"/>
            <a:ext cx="8595360" cy="384048"/>
          </a:xfrm>
          <a:prstGeom prst="rect">
            <a:avLst/>
          </a:prstGeom>
          <a:solidFill>
            <a:srgbClr val="FEF0EE"/>
          </a:solidFill>
          <a:ln w="19050">
            <a:solidFill>
              <a:srgbClr val="C0392B"/>
            </a:solidFill>
            <a:prstDash val="solid"/>
          </a:ln>
        </p:spPr>
        <p:txBody>
          <a:bodyPr/>
          <a:lstStyle/>
          <a:p>
            <a:endParaRPr lang="fr-FR"/>
          </a:p>
        </p:txBody>
      </p:sp>
      <p:sp>
        <p:nvSpPr>
          <p:cNvPr id="19" name="Shape 17"/>
          <p:cNvSpPr/>
          <p:nvPr/>
        </p:nvSpPr>
        <p:spPr>
          <a:xfrm>
            <a:off x="274320" y="2980944"/>
            <a:ext cx="54864" cy="384048"/>
          </a:xfrm>
          <a:prstGeom prst="rect">
            <a:avLst/>
          </a:prstGeom>
          <a:solidFill>
            <a:srgbClr val="C0392B"/>
          </a:solidFill>
          <a:ln w="12700">
            <a:solidFill>
              <a:srgbClr val="C0392B"/>
            </a:solidFill>
            <a:prstDash val="solid"/>
          </a:ln>
        </p:spPr>
        <p:txBody>
          <a:bodyPr/>
          <a:lstStyle/>
          <a:p>
            <a:endParaRPr lang="fr-FR"/>
          </a:p>
        </p:txBody>
      </p:sp>
      <p:sp>
        <p:nvSpPr>
          <p:cNvPr id="20" name="Text 18"/>
          <p:cNvSpPr/>
          <p:nvPr/>
        </p:nvSpPr>
        <p:spPr>
          <a:xfrm>
            <a:off x="402336" y="3182161"/>
            <a:ext cx="8467344" cy="384048"/>
          </a:xfrm>
          <a:prstGeom prst="rect">
            <a:avLst/>
          </a:prstGeom>
          <a:noFill/>
          <a:ln/>
        </p:spPr>
        <p:txBody>
          <a:bodyPr wrap="square" rtlCol="0" anchor="ctr"/>
          <a:lstStyle/>
          <a:p>
            <a:r>
              <a:rPr lang="en-US" sz="1000">
                <a:solidFill>
                  <a:srgbClr val="3A3A3A"/>
                </a:solidFill>
                <a:latin typeface="Calibri" pitchFamily="34" charset="0"/>
                <a:ea typeface="Calibri" pitchFamily="34" charset="-122"/>
                <a:cs typeface="Calibri" pitchFamily="34" charset="-120"/>
              </a:rPr>
              <a:t>⚠  LA RÈGLE D'OR DU VTC : Réservation PRÉALABLE OBLIGATOIRE — toujours. Jamais de prise en charge dans la rue. Maraude = DÉLIT : 1 an + 15 000 €</a:t>
            </a:r>
            <a:endParaRPr lang="en-US" sz="1000" dirty="0"/>
          </a:p>
        </p:txBody>
      </p:sp>
      <p:sp>
        <p:nvSpPr>
          <p:cNvPr id="21" name="Shape 19"/>
          <p:cNvSpPr/>
          <p:nvPr/>
        </p:nvSpPr>
        <p:spPr>
          <a:xfrm>
            <a:off x="270623" y="4229098"/>
            <a:ext cx="8595360" cy="566929"/>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22" name="Shape 20"/>
          <p:cNvSpPr/>
          <p:nvPr/>
        </p:nvSpPr>
        <p:spPr>
          <a:xfrm>
            <a:off x="274320" y="3684933"/>
            <a:ext cx="8595360" cy="301752"/>
          </a:xfrm>
          <a:prstGeom prst="rect">
            <a:avLst/>
          </a:prstGeom>
          <a:solidFill>
            <a:srgbClr val="2860A8"/>
          </a:solidFill>
          <a:ln w="12700">
            <a:solidFill>
              <a:srgbClr val="2860A8"/>
            </a:solidFill>
            <a:prstDash val="solid"/>
          </a:ln>
        </p:spPr>
        <p:txBody>
          <a:bodyPr/>
          <a:lstStyle/>
          <a:p>
            <a:r>
              <a:rPr lang="en-US" b="1">
                <a:solidFill>
                  <a:srgbClr val="FFFFFF"/>
                </a:solidFill>
                <a:latin typeface="Calibri" pitchFamily="34" charset="0"/>
                <a:ea typeface="Calibri" pitchFamily="34" charset="-122"/>
                <a:cs typeface="Calibri" pitchFamily="34" charset="-120"/>
              </a:rPr>
              <a:t>CONDITIONS D'ACCÈS VTC</a:t>
            </a:r>
            <a:endParaRPr lang="en-US" dirty="0"/>
          </a:p>
        </p:txBody>
      </p:sp>
      <p:sp>
        <p:nvSpPr>
          <p:cNvPr id="23" name="Text 21"/>
          <p:cNvSpPr/>
          <p:nvPr/>
        </p:nvSpPr>
        <p:spPr>
          <a:xfrm>
            <a:off x="365760" y="3438144"/>
            <a:ext cx="8458200" cy="301752"/>
          </a:xfrm>
          <a:prstGeom prst="rect">
            <a:avLst/>
          </a:prstGeom>
          <a:noFill/>
          <a:ln/>
        </p:spPr>
        <p:txBody>
          <a:bodyPr wrap="square" lIns="0" tIns="0" rIns="0" bIns="0" rtlCol="0" anchor="ctr"/>
          <a:lstStyle/>
          <a:p>
            <a:pPr marL="0" indent="0">
              <a:buNone/>
            </a:pPr>
            <a:endParaRPr lang="en-US" sz="1050" dirty="0"/>
          </a:p>
        </p:txBody>
      </p:sp>
      <p:sp>
        <p:nvSpPr>
          <p:cNvPr id="24" name="Text 22"/>
          <p:cNvSpPr/>
          <p:nvPr/>
        </p:nvSpPr>
        <p:spPr>
          <a:xfrm>
            <a:off x="384048" y="4069080"/>
            <a:ext cx="8412480" cy="56692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Carte professionnelle T3P (examen réussi — tronc commun avec taxi). Aucune équivalence par expérience.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Certificat médical valide. Casier judiciaire B2 vierge. Permis B hors période probatoire.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PSC1 NON obligatoire pour les VTC. Inscription individuelle au Registre national des VTC.</a:t>
            </a:r>
            <a:endParaRPr lang="en-US" sz="1000" dirty="0"/>
          </a:p>
        </p:txBody>
      </p:sp>
      <p:sp>
        <p:nvSpPr>
          <p:cNvPr id="25" name="Rectangle 2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6" name="Rectangle 2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Conditions du véhicule VTC — Les 5 critères obligatoires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Art. R3122-1 Code des transports — Sauf hybrides, électriques et véhicules de collection</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28/88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Le véhicule VTC doit répondre à des critères précis fixés par le Code des transports. Ces critères visent à garantir un niveau de confort et de sécurité élevé pour les passagers. Ils diffèrent des critères applicables aux taxis.</a:t>
            </a:r>
            <a:endParaRPr lang="en-US" sz="1200" dirty="0"/>
          </a:p>
        </p:txBody>
      </p:sp>
      <p:sp>
        <p:nvSpPr>
          <p:cNvPr id="10" name="Shape 8"/>
          <p:cNvSpPr/>
          <p:nvPr/>
        </p:nvSpPr>
        <p:spPr>
          <a:xfrm>
            <a:off x="274320" y="1600200"/>
            <a:ext cx="2560320" cy="1298448"/>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600200"/>
            <a:ext cx="256032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38328" y="1600200"/>
            <a:ext cx="2468880"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PLACES</a:t>
            </a:r>
            <a:endParaRPr lang="en-US" sz="1100" dirty="0"/>
          </a:p>
        </p:txBody>
      </p:sp>
      <p:sp>
        <p:nvSpPr>
          <p:cNvPr id="13" name="Text 11"/>
          <p:cNvSpPr/>
          <p:nvPr/>
        </p:nvSpPr>
        <p:spPr>
          <a:xfrm>
            <a:off x="320040" y="1920240"/>
            <a:ext cx="2468880" cy="457200"/>
          </a:xfrm>
          <a:prstGeom prst="rect">
            <a:avLst/>
          </a:prstGeom>
          <a:noFill/>
          <a:ln/>
        </p:spPr>
        <p:txBody>
          <a:bodyPr wrap="square" rtlCol="0" anchor="ctr"/>
          <a:lstStyle/>
          <a:p>
            <a:pPr marL="0" indent="0" algn="ctr">
              <a:buNone/>
            </a:pPr>
            <a:r>
              <a:rPr lang="en-US" sz="1500" b="1" dirty="0">
                <a:solidFill>
                  <a:srgbClr val="1A3A5C"/>
                </a:solidFill>
                <a:latin typeface="Calibri" pitchFamily="34" charset="0"/>
                <a:ea typeface="Calibri" pitchFamily="34" charset="-122"/>
                <a:cs typeface="Calibri" pitchFamily="34" charset="-120"/>
              </a:rPr>
              <a:t>4 à 9 places</a:t>
            </a:r>
            <a:endParaRPr lang="en-US" sz="1500" dirty="0"/>
          </a:p>
          <a:p>
            <a:pPr marL="0" indent="0" algn="ctr">
              <a:buNone/>
            </a:pPr>
            <a:r>
              <a:rPr lang="en-US" sz="1500" b="1" dirty="0">
                <a:solidFill>
                  <a:srgbClr val="1A3A5C"/>
                </a:solidFill>
                <a:latin typeface="Calibri" pitchFamily="34" charset="0"/>
                <a:ea typeface="Calibri" pitchFamily="34" charset="-122"/>
                <a:cs typeface="Calibri" pitchFamily="34" charset="-120"/>
              </a:rPr>
              <a:t>chauffeur compris</a:t>
            </a:r>
            <a:endParaRPr lang="en-US" sz="1500" dirty="0"/>
          </a:p>
        </p:txBody>
      </p:sp>
      <p:sp>
        <p:nvSpPr>
          <p:cNvPr id="14" name="Text 12"/>
          <p:cNvSpPr/>
          <p:nvPr/>
        </p:nvSpPr>
        <p:spPr>
          <a:xfrm>
            <a:off x="347472" y="2404872"/>
            <a:ext cx="2450592" cy="475488"/>
          </a:xfrm>
          <a:prstGeom prst="rect">
            <a:avLst/>
          </a:prstGeom>
          <a:noFill/>
          <a:ln/>
        </p:spPr>
        <p:txBody>
          <a:bodyPr wrap="square" rtlCol="0" anchor="t"/>
          <a:lstStyle/>
          <a:p>
            <a:pPr marL="0" indent="0" algn="ctr">
              <a:buNone/>
            </a:pPr>
            <a:r>
              <a:rPr lang="en-US" sz="950" dirty="0">
                <a:solidFill>
                  <a:srgbClr val="6B7A8D"/>
                </a:solidFill>
                <a:latin typeface="Calibri" pitchFamily="34" charset="0"/>
                <a:ea typeface="Calibri" pitchFamily="34" charset="-122"/>
                <a:cs typeface="Calibri" pitchFamily="34" charset="-120"/>
              </a:rPr>
              <a:t>Un VTC ne peut pas avoir</a:t>
            </a:r>
            <a:endParaRPr lang="en-US" sz="950" dirty="0"/>
          </a:p>
          <a:p>
            <a:pPr marL="0" indent="0" algn="ctr">
              <a:buNone/>
            </a:pPr>
            <a:r>
              <a:rPr lang="en-US" sz="950" dirty="0">
                <a:solidFill>
                  <a:srgbClr val="6B7A8D"/>
                </a:solidFill>
                <a:latin typeface="Calibri" pitchFamily="34" charset="0"/>
                <a:ea typeface="Calibri" pitchFamily="34" charset="-122"/>
                <a:cs typeface="Calibri" pitchFamily="34" charset="-120"/>
              </a:rPr>
              <a:t>plus de 8 passagers.</a:t>
            </a:r>
            <a:endParaRPr lang="en-US" sz="950" dirty="0"/>
          </a:p>
        </p:txBody>
      </p:sp>
      <p:sp>
        <p:nvSpPr>
          <p:cNvPr id="15" name="Shape 13"/>
          <p:cNvSpPr/>
          <p:nvPr/>
        </p:nvSpPr>
        <p:spPr>
          <a:xfrm>
            <a:off x="3200400" y="1600200"/>
            <a:ext cx="2560320" cy="1298448"/>
          </a:xfrm>
          <a:prstGeom prst="rect">
            <a:avLst/>
          </a:prstGeom>
          <a:solidFill>
            <a:srgbClr val="E8F1FA"/>
          </a:solidFill>
          <a:ln w="6350">
            <a:solidFill>
              <a:srgbClr val="D0DCE8"/>
            </a:solidFill>
            <a:prstDash val="solid"/>
          </a:ln>
        </p:spPr>
        <p:txBody>
          <a:bodyPr/>
          <a:lstStyle/>
          <a:p>
            <a:endParaRPr lang="fr-FR"/>
          </a:p>
        </p:txBody>
      </p:sp>
      <p:sp>
        <p:nvSpPr>
          <p:cNvPr id="16" name="Shape 14"/>
          <p:cNvSpPr/>
          <p:nvPr/>
        </p:nvSpPr>
        <p:spPr>
          <a:xfrm>
            <a:off x="3200400" y="1600200"/>
            <a:ext cx="2560320" cy="301752"/>
          </a:xfrm>
          <a:prstGeom prst="rect">
            <a:avLst/>
          </a:prstGeom>
          <a:solidFill>
            <a:srgbClr val="2860A8"/>
          </a:solidFill>
          <a:ln w="12700">
            <a:solidFill>
              <a:srgbClr val="2860A8"/>
            </a:solidFill>
            <a:prstDash val="solid"/>
          </a:ln>
        </p:spPr>
        <p:txBody>
          <a:bodyPr/>
          <a:lstStyle/>
          <a:p>
            <a:endParaRPr lang="fr-FR"/>
          </a:p>
        </p:txBody>
      </p:sp>
      <p:sp>
        <p:nvSpPr>
          <p:cNvPr id="17" name="Text 15"/>
          <p:cNvSpPr/>
          <p:nvPr/>
        </p:nvSpPr>
        <p:spPr>
          <a:xfrm>
            <a:off x="3264408" y="1600200"/>
            <a:ext cx="2468880"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ÂGE</a:t>
            </a:r>
            <a:endParaRPr lang="en-US" sz="1100" dirty="0"/>
          </a:p>
        </p:txBody>
      </p:sp>
      <p:sp>
        <p:nvSpPr>
          <p:cNvPr id="18" name="Text 16"/>
          <p:cNvSpPr/>
          <p:nvPr/>
        </p:nvSpPr>
        <p:spPr>
          <a:xfrm>
            <a:off x="3246120" y="1920240"/>
            <a:ext cx="2468880" cy="457200"/>
          </a:xfrm>
          <a:prstGeom prst="rect">
            <a:avLst/>
          </a:prstGeom>
          <a:noFill/>
          <a:ln/>
        </p:spPr>
        <p:txBody>
          <a:bodyPr wrap="square" rtlCol="0" anchor="ctr"/>
          <a:lstStyle/>
          <a:p>
            <a:pPr marL="0" indent="0" algn="ctr">
              <a:buNone/>
            </a:pPr>
            <a:r>
              <a:rPr lang="en-US" sz="1500" b="1" dirty="0">
                <a:solidFill>
                  <a:srgbClr val="2860A8"/>
                </a:solidFill>
                <a:latin typeface="Calibri" pitchFamily="34" charset="0"/>
                <a:ea typeface="Calibri" pitchFamily="34" charset="-122"/>
                <a:cs typeface="Calibri" pitchFamily="34" charset="-120"/>
              </a:rPr>
              <a:t>Moins de</a:t>
            </a:r>
            <a:endParaRPr lang="en-US" sz="1500" dirty="0"/>
          </a:p>
          <a:p>
            <a:pPr marL="0" indent="0" algn="ctr">
              <a:buNone/>
            </a:pPr>
            <a:r>
              <a:rPr lang="en-US" sz="1500" b="1" dirty="0">
                <a:solidFill>
                  <a:srgbClr val="2860A8"/>
                </a:solidFill>
                <a:latin typeface="Calibri" pitchFamily="34" charset="0"/>
                <a:ea typeface="Calibri" pitchFamily="34" charset="-122"/>
                <a:cs typeface="Calibri" pitchFamily="34" charset="-120"/>
              </a:rPr>
              <a:t>7 ans</a:t>
            </a:r>
            <a:endParaRPr lang="en-US" sz="1500" dirty="0"/>
          </a:p>
        </p:txBody>
      </p:sp>
      <p:sp>
        <p:nvSpPr>
          <p:cNvPr id="19" name="Text 17"/>
          <p:cNvSpPr/>
          <p:nvPr/>
        </p:nvSpPr>
        <p:spPr>
          <a:xfrm>
            <a:off x="3273552" y="2404872"/>
            <a:ext cx="2450592" cy="475488"/>
          </a:xfrm>
          <a:prstGeom prst="rect">
            <a:avLst/>
          </a:prstGeom>
          <a:noFill/>
          <a:ln/>
        </p:spPr>
        <p:txBody>
          <a:bodyPr wrap="square" rtlCol="0" anchor="t"/>
          <a:lstStyle/>
          <a:p>
            <a:pPr marL="0" indent="0" algn="ctr">
              <a:buNone/>
            </a:pPr>
            <a:r>
              <a:rPr lang="en-US" sz="950" dirty="0">
                <a:solidFill>
                  <a:srgbClr val="6B7A8D"/>
                </a:solidFill>
                <a:latin typeface="Calibri" pitchFamily="34" charset="0"/>
                <a:ea typeface="Calibri" pitchFamily="34" charset="-122"/>
                <a:cs typeface="Calibri" pitchFamily="34" charset="-120"/>
              </a:rPr>
              <a:t>Sauf hybrides, électriques</a:t>
            </a:r>
            <a:endParaRPr lang="en-US" sz="950" dirty="0"/>
          </a:p>
          <a:p>
            <a:pPr marL="0" indent="0" algn="ctr">
              <a:buNone/>
            </a:pPr>
            <a:r>
              <a:rPr lang="en-US" sz="950" dirty="0">
                <a:solidFill>
                  <a:srgbClr val="6B7A8D"/>
                </a:solidFill>
                <a:latin typeface="Calibri" pitchFamily="34" charset="0"/>
                <a:ea typeface="Calibri" pitchFamily="34" charset="-122"/>
                <a:cs typeface="Calibri" pitchFamily="34" charset="-120"/>
              </a:rPr>
              <a:t>ou véhicules de collection.</a:t>
            </a:r>
            <a:endParaRPr lang="en-US" sz="950" dirty="0"/>
          </a:p>
        </p:txBody>
      </p:sp>
      <p:sp>
        <p:nvSpPr>
          <p:cNvPr id="20" name="Shape 18"/>
          <p:cNvSpPr/>
          <p:nvPr/>
        </p:nvSpPr>
        <p:spPr>
          <a:xfrm>
            <a:off x="6126480" y="1600200"/>
            <a:ext cx="2560320" cy="1298448"/>
          </a:xfrm>
          <a:prstGeom prst="rect">
            <a:avLst/>
          </a:prstGeom>
          <a:solidFill>
            <a:srgbClr val="E8F1FA"/>
          </a:solidFill>
          <a:ln w="6350">
            <a:solidFill>
              <a:srgbClr val="D0DCE8"/>
            </a:solidFill>
            <a:prstDash val="solid"/>
          </a:ln>
        </p:spPr>
        <p:txBody>
          <a:bodyPr/>
          <a:lstStyle/>
          <a:p>
            <a:endParaRPr lang="fr-FR"/>
          </a:p>
        </p:txBody>
      </p:sp>
      <p:sp>
        <p:nvSpPr>
          <p:cNvPr id="21" name="Shape 19"/>
          <p:cNvSpPr/>
          <p:nvPr/>
        </p:nvSpPr>
        <p:spPr>
          <a:xfrm>
            <a:off x="6126480" y="1600200"/>
            <a:ext cx="2560320" cy="301752"/>
          </a:xfrm>
          <a:prstGeom prst="rect">
            <a:avLst/>
          </a:prstGeom>
          <a:solidFill>
            <a:srgbClr val="00897B"/>
          </a:solidFill>
          <a:ln w="12700">
            <a:solidFill>
              <a:srgbClr val="00897B"/>
            </a:solidFill>
            <a:prstDash val="solid"/>
          </a:ln>
        </p:spPr>
        <p:txBody>
          <a:bodyPr/>
          <a:lstStyle/>
          <a:p>
            <a:endParaRPr lang="fr-FR"/>
          </a:p>
        </p:txBody>
      </p:sp>
      <p:sp>
        <p:nvSpPr>
          <p:cNvPr id="22" name="Text 20"/>
          <p:cNvSpPr/>
          <p:nvPr/>
        </p:nvSpPr>
        <p:spPr>
          <a:xfrm>
            <a:off x="6190488" y="1600200"/>
            <a:ext cx="2468880"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PORTES</a:t>
            </a:r>
            <a:endParaRPr lang="en-US" sz="1100" dirty="0"/>
          </a:p>
        </p:txBody>
      </p:sp>
      <p:sp>
        <p:nvSpPr>
          <p:cNvPr id="23" name="Text 21"/>
          <p:cNvSpPr/>
          <p:nvPr/>
        </p:nvSpPr>
        <p:spPr>
          <a:xfrm>
            <a:off x="6172200" y="1920240"/>
            <a:ext cx="2468880" cy="457200"/>
          </a:xfrm>
          <a:prstGeom prst="rect">
            <a:avLst/>
          </a:prstGeom>
          <a:noFill/>
          <a:ln/>
        </p:spPr>
        <p:txBody>
          <a:bodyPr wrap="square" rtlCol="0" anchor="ctr"/>
          <a:lstStyle/>
          <a:p>
            <a:pPr marL="0" indent="0" algn="ctr">
              <a:buNone/>
            </a:pPr>
            <a:r>
              <a:rPr lang="en-US" sz="1500" b="1" dirty="0">
                <a:solidFill>
                  <a:srgbClr val="00897B"/>
                </a:solidFill>
                <a:latin typeface="Calibri" pitchFamily="34" charset="0"/>
                <a:ea typeface="Calibri" pitchFamily="34" charset="-122"/>
                <a:cs typeface="Calibri" pitchFamily="34" charset="-120"/>
              </a:rPr>
              <a:t>Minimum</a:t>
            </a:r>
            <a:endParaRPr lang="en-US" sz="1500" dirty="0"/>
          </a:p>
          <a:p>
            <a:pPr marL="0" indent="0" algn="ctr">
              <a:buNone/>
            </a:pPr>
            <a:r>
              <a:rPr lang="en-US" sz="1500" b="1" dirty="0">
                <a:solidFill>
                  <a:srgbClr val="00897B"/>
                </a:solidFill>
                <a:latin typeface="Calibri" pitchFamily="34" charset="0"/>
                <a:ea typeface="Calibri" pitchFamily="34" charset="-122"/>
                <a:cs typeface="Calibri" pitchFamily="34" charset="-120"/>
              </a:rPr>
              <a:t>4 portes</a:t>
            </a:r>
            <a:endParaRPr lang="en-US" sz="1500" dirty="0"/>
          </a:p>
        </p:txBody>
      </p:sp>
      <p:sp>
        <p:nvSpPr>
          <p:cNvPr id="24" name="Text 22"/>
          <p:cNvSpPr/>
          <p:nvPr/>
        </p:nvSpPr>
        <p:spPr>
          <a:xfrm>
            <a:off x="6199632" y="2404872"/>
            <a:ext cx="2450592" cy="475488"/>
          </a:xfrm>
          <a:prstGeom prst="rect">
            <a:avLst/>
          </a:prstGeom>
          <a:noFill/>
          <a:ln/>
        </p:spPr>
        <p:txBody>
          <a:bodyPr wrap="square" rtlCol="0" anchor="t"/>
          <a:lstStyle/>
          <a:p>
            <a:pPr marL="0" indent="0" algn="ctr">
              <a:buNone/>
            </a:pPr>
            <a:r>
              <a:rPr lang="en-US" sz="950" dirty="0">
                <a:solidFill>
                  <a:srgbClr val="6B7A8D"/>
                </a:solidFill>
                <a:latin typeface="Calibri" pitchFamily="34" charset="0"/>
                <a:ea typeface="Calibri" pitchFamily="34" charset="-122"/>
                <a:cs typeface="Calibri" pitchFamily="34" charset="-120"/>
              </a:rPr>
              <a:t>Véhicule 2 portes ou 3 portes</a:t>
            </a:r>
            <a:endParaRPr lang="en-US" sz="950" dirty="0"/>
          </a:p>
          <a:p>
            <a:pPr marL="0" indent="0" algn="ctr">
              <a:buNone/>
            </a:pPr>
            <a:r>
              <a:rPr lang="en-US" sz="950" dirty="0">
                <a:solidFill>
                  <a:srgbClr val="6B7A8D"/>
                </a:solidFill>
                <a:latin typeface="Calibri" pitchFamily="34" charset="0"/>
                <a:ea typeface="Calibri" pitchFamily="34" charset="-122"/>
                <a:cs typeface="Calibri" pitchFamily="34" charset="-120"/>
              </a:rPr>
              <a:t>non accepté.</a:t>
            </a:r>
            <a:endParaRPr lang="en-US" sz="950" dirty="0"/>
          </a:p>
        </p:txBody>
      </p:sp>
      <p:sp>
        <p:nvSpPr>
          <p:cNvPr id="25" name="Shape 23"/>
          <p:cNvSpPr/>
          <p:nvPr/>
        </p:nvSpPr>
        <p:spPr>
          <a:xfrm>
            <a:off x="274320" y="3063240"/>
            <a:ext cx="2560320" cy="1298448"/>
          </a:xfrm>
          <a:prstGeom prst="rect">
            <a:avLst/>
          </a:prstGeom>
          <a:solidFill>
            <a:srgbClr val="E8F1FA"/>
          </a:solidFill>
          <a:ln w="6350">
            <a:solidFill>
              <a:srgbClr val="D0DCE8"/>
            </a:solidFill>
            <a:prstDash val="solid"/>
          </a:ln>
        </p:spPr>
        <p:txBody>
          <a:bodyPr/>
          <a:lstStyle/>
          <a:p>
            <a:endParaRPr lang="fr-FR"/>
          </a:p>
        </p:txBody>
      </p:sp>
      <p:sp>
        <p:nvSpPr>
          <p:cNvPr id="26" name="Shape 24"/>
          <p:cNvSpPr/>
          <p:nvPr/>
        </p:nvSpPr>
        <p:spPr>
          <a:xfrm>
            <a:off x="274320" y="3063240"/>
            <a:ext cx="2560320" cy="301752"/>
          </a:xfrm>
          <a:prstGeom prst="rect">
            <a:avLst/>
          </a:prstGeom>
          <a:solidFill>
            <a:srgbClr val="F4A227"/>
          </a:solidFill>
          <a:ln w="12700">
            <a:solidFill>
              <a:srgbClr val="F4A227"/>
            </a:solidFill>
            <a:prstDash val="solid"/>
          </a:ln>
        </p:spPr>
        <p:txBody>
          <a:bodyPr/>
          <a:lstStyle/>
          <a:p>
            <a:endParaRPr lang="fr-FR"/>
          </a:p>
        </p:txBody>
      </p:sp>
      <p:sp>
        <p:nvSpPr>
          <p:cNvPr id="27" name="Text 25"/>
          <p:cNvSpPr/>
          <p:nvPr/>
        </p:nvSpPr>
        <p:spPr>
          <a:xfrm>
            <a:off x="338328" y="3063240"/>
            <a:ext cx="2468880"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DIMENSIONS</a:t>
            </a:r>
            <a:endParaRPr lang="en-US" sz="1100" dirty="0"/>
          </a:p>
        </p:txBody>
      </p:sp>
      <p:sp>
        <p:nvSpPr>
          <p:cNvPr id="28" name="Text 26"/>
          <p:cNvSpPr/>
          <p:nvPr/>
        </p:nvSpPr>
        <p:spPr>
          <a:xfrm>
            <a:off x="320040" y="3383280"/>
            <a:ext cx="2468880" cy="457200"/>
          </a:xfrm>
          <a:prstGeom prst="rect">
            <a:avLst/>
          </a:prstGeom>
          <a:noFill/>
          <a:ln/>
        </p:spPr>
        <p:txBody>
          <a:bodyPr wrap="square" rtlCol="0" anchor="ctr"/>
          <a:lstStyle/>
          <a:p>
            <a:pPr marL="0" indent="0" algn="ctr">
              <a:buNone/>
            </a:pPr>
            <a:r>
              <a:rPr lang="en-US" sz="1500" b="1" dirty="0">
                <a:solidFill>
                  <a:srgbClr val="F4A227"/>
                </a:solidFill>
                <a:latin typeface="Calibri" pitchFamily="34" charset="0"/>
                <a:ea typeface="Calibri" pitchFamily="34" charset="-122"/>
                <a:cs typeface="Calibri" pitchFamily="34" charset="-120"/>
              </a:rPr>
              <a:t>4,50 m × 1,70 m</a:t>
            </a:r>
            <a:endParaRPr lang="en-US" sz="1500" dirty="0"/>
          </a:p>
        </p:txBody>
      </p:sp>
      <p:sp>
        <p:nvSpPr>
          <p:cNvPr id="29" name="Text 27"/>
          <p:cNvSpPr/>
          <p:nvPr/>
        </p:nvSpPr>
        <p:spPr>
          <a:xfrm>
            <a:off x="347472" y="3867912"/>
            <a:ext cx="2450592" cy="475488"/>
          </a:xfrm>
          <a:prstGeom prst="rect">
            <a:avLst/>
          </a:prstGeom>
          <a:noFill/>
          <a:ln/>
        </p:spPr>
        <p:txBody>
          <a:bodyPr wrap="square" rtlCol="0" anchor="t"/>
          <a:lstStyle/>
          <a:p>
            <a:pPr marL="0" indent="0" algn="ctr">
              <a:buNone/>
            </a:pPr>
            <a:r>
              <a:rPr lang="en-US" sz="950" dirty="0">
                <a:solidFill>
                  <a:srgbClr val="6B7A8D"/>
                </a:solidFill>
                <a:latin typeface="Calibri" pitchFamily="34" charset="0"/>
                <a:ea typeface="Calibri" pitchFamily="34" charset="-122"/>
                <a:cs typeface="Calibri" pitchFamily="34" charset="-120"/>
              </a:rPr>
              <a:t>Dimensions minimales</a:t>
            </a:r>
            <a:endParaRPr lang="en-US" sz="950" dirty="0"/>
          </a:p>
          <a:p>
            <a:pPr marL="0" indent="0" algn="ctr">
              <a:buNone/>
            </a:pPr>
            <a:r>
              <a:rPr lang="en-US" sz="950" dirty="0">
                <a:solidFill>
                  <a:srgbClr val="6B7A8D"/>
                </a:solidFill>
                <a:latin typeface="Calibri" pitchFamily="34" charset="0"/>
                <a:ea typeface="Calibri" pitchFamily="34" charset="-122"/>
                <a:cs typeface="Calibri" pitchFamily="34" charset="-120"/>
              </a:rPr>
              <a:t>hors tout requises.</a:t>
            </a:r>
            <a:endParaRPr lang="en-US" sz="950" dirty="0"/>
          </a:p>
        </p:txBody>
      </p:sp>
      <p:sp>
        <p:nvSpPr>
          <p:cNvPr id="30" name="Shape 28"/>
          <p:cNvSpPr/>
          <p:nvPr/>
        </p:nvSpPr>
        <p:spPr>
          <a:xfrm>
            <a:off x="3200400" y="3063240"/>
            <a:ext cx="2560320" cy="1298448"/>
          </a:xfrm>
          <a:prstGeom prst="rect">
            <a:avLst/>
          </a:prstGeom>
          <a:solidFill>
            <a:srgbClr val="E8F1FA"/>
          </a:solidFill>
          <a:ln w="6350">
            <a:solidFill>
              <a:srgbClr val="D0DCE8"/>
            </a:solidFill>
            <a:prstDash val="solid"/>
          </a:ln>
        </p:spPr>
        <p:txBody>
          <a:bodyPr/>
          <a:lstStyle/>
          <a:p>
            <a:endParaRPr lang="fr-FR"/>
          </a:p>
        </p:txBody>
      </p:sp>
      <p:sp>
        <p:nvSpPr>
          <p:cNvPr id="31" name="Shape 29"/>
          <p:cNvSpPr/>
          <p:nvPr/>
        </p:nvSpPr>
        <p:spPr>
          <a:xfrm>
            <a:off x="3200400" y="3063240"/>
            <a:ext cx="2560320" cy="301752"/>
          </a:xfrm>
          <a:prstGeom prst="rect">
            <a:avLst/>
          </a:prstGeom>
          <a:solidFill>
            <a:srgbClr val="C0392B"/>
          </a:solidFill>
          <a:ln w="12700">
            <a:solidFill>
              <a:srgbClr val="C0392B"/>
            </a:solidFill>
            <a:prstDash val="solid"/>
          </a:ln>
        </p:spPr>
        <p:txBody>
          <a:bodyPr/>
          <a:lstStyle/>
          <a:p>
            <a:endParaRPr lang="fr-FR"/>
          </a:p>
        </p:txBody>
      </p:sp>
      <p:sp>
        <p:nvSpPr>
          <p:cNvPr id="32" name="Text 30"/>
          <p:cNvSpPr/>
          <p:nvPr/>
        </p:nvSpPr>
        <p:spPr>
          <a:xfrm>
            <a:off x="3264408" y="3063240"/>
            <a:ext cx="2468880"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PUISSANCE</a:t>
            </a:r>
            <a:endParaRPr lang="en-US" sz="1100" dirty="0"/>
          </a:p>
        </p:txBody>
      </p:sp>
      <p:sp>
        <p:nvSpPr>
          <p:cNvPr id="33" name="Text 31"/>
          <p:cNvSpPr/>
          <p:nvPr/>
        </p:nvSpPr>
        <p:spPr>
          <a:xfrm>
            <a:off x="3246120" y="3383280"/>
            <a:ext cx="2468880" cy="457200"/>
          </a:xfrm>
          <a:prstGeom prst="rect">
            <a:avLst/>
          </a:prstGeom>
          <a:noFill/>
          <a:ln/>
        </p:spPr>
        <p:txBody>
          <a:bodyPr wrap="square" rtlCol="0" anchor="ctr"/>
          <a:lstStyle/>
          <a:p>
            <a:pPr marL="0" indent="0" algn="ctr">
              <a:buNone/>
            </a:pPr>
            <a:r>
              <a:rPr lang="en-US" sz="1500" b="1" dirty="0">
                <a:solidFill>
                  <a:srgbClr val="C0392B"/>
                </a:solidFill>
                <a:latin typeface="Calibri" pitchFamily="34" charset="0"/>
                <a:ea typeface="Calibri" pitchFamily="34" charset="-122"/>
                <a:cs typeface="Calibri" pitchFamily="34" charset="-120"/>
              </a:rPr>
              <a:t>Minimum 84 kW</a:t>
            </a:r>
            <a:endParaRPr lang="en-US" sz="1500" dirty="0"/>
          </a:p>
        </p:txBody>
      </p:sp>
      <p:sp>
        <p:nvSpPr>
          <p:cNvPr id="34" name="Text 32"/>
          <p:cNvSpPr/>
          <p:nvPr/>
        </p:nvSpPr>
        <p:spPr>
          <a:xfrm>
            <a:off x="3273552" y="3867912"/>
            <a:ext cx="2450592" cy="475488"/>
          </a:xfrm>
          <a:prstGeom prst="rect">
            <a:avLst/>
          </a:prstGeom>
          <a:noFill/>
          <a:ln/>
        </p:spPr>
        <p:txBody>
          <a:bodyPr wrap="square" rtlCol="0" anchor="t"/>
          <a:lstStyle/>
          <a:p>
            <a:pPr marL="0" indent="0" algn="ctr">
              <a:buNone/>
            </a:pPr>
            <a:r>
              <a:rPr lang="en-US" sz="950" dirty="0">
                <a:solidFill>
                  <a:srgbClr val="6B7A8D"/>
                </a:solidFill>
                <a:latin typeface="Calibri" pitchFamily="34" charset="0"/>
                <a:ea typeface="Calibri" pitchFamily="34" charset="-122"/>
                <a:cs typeface="Calibri" pitchFamily="34" charset="-120"/>
              </a:rPr>
              <a:t>Environ 114 chevaux.</a:t>
            </a:r>
            <a:endParaRPr lang="en-US" sz="950" dirty="0"/>
          </a:p>
          <a:p>
            <a:pPr marL="0" indent="0" algn="ctr">
              <a:buNone/>
            </a:pPr>
            <a:r>
              <a:rPr lang="en-US" sz="950" dirty="0">
                <a:solidFill>
                  <a:srgbClr val="6B7A8D"/>
                </a:solidFill>
                <a:latin typeface="Calibri" pitchFamily="34" charset="0"/>
                <a:ea typeface="Calibri" pitchFamily="34" charset="-122"/>
                <a:cs typeface="Calibri" pitchFamily="34" charset="-120"/>
              </a:rPr>
              <a:t>Garantit confort de motorisation.</a:t>
            </a:r>
            <a:endParaRPr lang="en-US" sz="950" dirty="0"/>
          </a:p>
        </p:txBody>
      </p:sp>
      <p:sp>
        <p:nvSpPr>
          <p:cNvPr id="35" name="Shape 33"/>
          <p:cNvSpPr/>
          <p:nvPr/>
        </p:nvSpPr>
        <p:spPr>
          <a:xfrm>
            <a:off x="274320" y="4462272"/>
            <a:ext cx="8595360" cy="292608"/>
          </a:xfrm>
          <a:prstGeom prst="rect">
            <a:avLst/>
          </a:prstGeom>
          <a:solidFill>
            <a:srgbClr val="EDF7EE"/>
          </a:solidFill>
          <a:ln w="19050">
            <a:solidFill>
              <a:srgbClr val="2E7D32"/>
            </a:solidFill>
            <a:prstDash val="solid"/>
          </a:ln>
        </p:spPr>
        <p:txBody>
          <a:bodyPr/>
          <a:lstStyle/>
          <a:p>
            <a:endParaRPr lang="fr-FR"/>
          </a:p>
        </p:txBody>
      </p:sp>
      <p:sp>
        <p:nvSpPr>
          <p:cNvPr id="36" name="Shape 34"/>
          <p:cNvSpPr/>
          <p:nvPr/>
        </p:nvSpPr>
        <p:spPr>
          <a:xfrm>
            <a:off x="274320" y="4462272"/>
            <a:ext cx="54864" cy="292608"/>
          </a:xfrm>
          <a:prstGeom prst="rect">
            <a:avLst/>
          </a:prstGeom>
          <a:solidFill>
            <a:srgbClr val="2E7D32"/>
          </a:solidFill>
          <a:ln w="12700">
            <a:solidFill>
              <a:srgbClr val="2E7D32"/>
            </a:solidFill>
            <a:prstDash val="solid"/>
          </a:ln>
        </p:spPr>
        <p:txBody>
          <a:bodyPr/>
          <a:lstStyle/>
          <a:p>
            <a:endParaRPr lang="fr-FR"/>
          </a:p>
        </p:txBody>
      </p:sp>
      <p:sp>
        <p:nvSpPr>
          <p:cNvPr id="37" name="Text 35"/>
          <p:cNvSpPr/>
          <p:nvPr/>
        </p:nvSpPr>
        <p:spPr>
          <a:xfrm>
            <a:off x="384048" y="4462272"/>
            <a:ext cx="8467344" cy="292608"/>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Formation continue identique au taxi : 14 heures tous les 5 ans. PSC1 non obligatoire pour les VTC (contrairement aux taxis).</a:t>
            </a:r>
            <a:endParaRPr lang="en-US" sz="1000" dirty="0"/>
          </a:p>
        </p:txBody>
      </p:sp>
      <p:sp>
        <p:nvSpPr>
          <p:cNvPr id="38" name="Rectangle 3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9" name="Rectangle 3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Conditions véhicule VTC — Schéma visuel + comparatif Taxi/VTC</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29/88</a:t>
            </a:r>
            <a:endParaRPr lang="en-US" sz="800" dirty="0"/>
          </a:p>
        </p:txBody>
      </p:sp>
      <p:sp>
        <p:nvSpPr>
          <p:cNvPr id="8" name="Text 6"/>
          <p:cNvSpPr/>
          <p:nvPr/>
        </p:nvSpPr>
        <p:spPr>
          <a:xfrm>
            <a:off x="274320" y="886968"/>
            <a:ext cx="8595360" cy="274320"/>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Schéma — Les 5 critères du véhicule VTC en un coup d'œil :</a:t>
            </a:r>
            <a:endParaRPr lang="en-US" sz="1200" dirty="0"/>
          </a:p>
        </p:txBody>
      </p:sp>
      <p:sp>
        <p:nvSpPr>
          <p:cNvPr id="9" name="Shape 7"/>
          <p:cNvSpPr/>
          <p:nvPr/>
        </p:nvSpPr>
        <p:spPr>
          <a:xfrm>
            <a:off x="2560320" y="1234440"/>
            <a:ext cx="4023360" cy="1920240"/>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560320" y="1234440"/>
            <a:ext cx="4023360" cy="192024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VTC</a:t>
            </a:r>
            <a:endParaRPr lang="en-US" sz="4800" dirty="0"/>
          </a:p>
        </p:txBody>
      </p:sp>
      <p:sp>
        <p:nvSpPr>
          <p:cNvPr id="11" name="Text 9"/>
          <p:cNvSpPr/>
          <p:nvPr/>
        </p:nvSpPr>
        <p:spPr>
          <a:xfrm>
            <a:off x="2560320" y="2514600"/>
            <a:ext cx="4023360" cy="502920"/>
          </a:xfrm>
          <a:prstGeom prst="rect">
            <a:avLst/>
          </a:prstGeom>
          <a:noFill/>
          <a:ln/>
        </p:spPr>
        <p:txBody>
          <a:bodyPr wrap="square" rtlCol="0" anchor="ctr"/>
          <a:lstStyle/>
          <a:p>
            <a:pPr marL="0" indent="0" algn="ctr">
              <a:buNone/>
            </a:pPr>
            <a:r>
              <a:rPr lang="en-US" sz="1200" i="1" dirty="0">
                <a:solidFill>
                  <a:srgbClr val="00B4D8"/>
                </a:solidFill>
                <a:latin typeface="Calibri" pitchFamily="34" charset="0"/>
                <a:ea typeface="Calibri" pitchFamily="34" charset="-122"/>
                <a:cs typeface="Calibri" pitchFamily="34" charset="-120"/>
              </a:rPr>
              <a:t>VÉHICULE</a:t>
            </a:r>
            <a:endParaRPr lang="en-US" sz="1200" dirty="0"/>
          </a:p>
        </p:txBody>
      </p:sp>
      <p:sp>
        <p:nvSpPr>
          <p:cNvPr id="12" name="Shape 10"/>
          <p:cNvSpPr/>
          <p:nvPr/>
        </p:nvSpPr>
        <p:spPr>
          <a:xfrm>
            <a:off x="91440" y="1298448"/>
            <a:ext cx="2194560" cy="658368"/>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91440" y="1298448"/>
            <a:ext cx="219456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 à 9 places</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(chauffeur compris)</a:t>
            </a:r>
            <a:endParaRPr lang="en-US" sz="1000" dirty="0"/>
          </a:p>
        </p:txBody>
      </p:sp>
      <p:sp>
        <p:nvSpPr>
          <p:cNvPr id="14" name="Shape 12"/>
          <p:cNvSpPr/>
          <p:nvPr/>
        </p:nvSpPr>
        <p:spPr>
          <a:xfrm>
            <a:off x="91440" y="2240280"/>
            <a:ext cx="2194560" cy="658368"/>
          </a:xfrm>
          <a:prstGeom prst="rect">
            <a:avLst/>
          </a:prstGeom>
          <a:solidFill>
            <a:srgbClr val="2860A8"/>
          </a:solidFill>
          <a:ln w="12700">
            <a:solidFill>
              <a:srgbClr val="2860A8"/>
            </a:solidFill>
            <a:prstDash val="solid"/>
          </a:ln>
        </p:spPr>
        <p:txBody>
          <a:bodyPr/>
          <a:lstStyle/>
          <a:p>
            <a:endParaRPr lang="fr-FR"/>
          </a:p>
        </p:txBody>
      </p:sp>
      <p:sp>
        <p:nvSpPr>
          <p:cNvPr id="15" name="Text 13"/>
          <p:cNvSpPr/>
          <p:nvPr/>
        </p:nvSpPr>
        <p:spPr>
          <a:xfrm>
            <a:off x="91440" y="2240280"/>
            <a:ext cx="219456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Min 4 portes</a:t>
            </a:r>
            <a:endParaRPr lang="en-US" sz="1000" dirty="0"/>
          </a:p>
        </p:txBody>
      </p:sp>
      <p:sp>
        <p:nvSpPr>
          <p:cNvPr id="16" name="Shape 14"/>
          <p:cNvSpPr/>
          <p:nvPr/>
        </p:nvSpPr>
        <p:spPr>
          <a:xfrm>
            <a:off x="6812280" y="1298448"/>
            <a:ext cx="2194560" cy="658368"/>
          </a:xfrm>
          <a:prstGeom prst="rect">
            <a:avLst/>
          </a:prstGeom>
          <a:solidFill>
            <a:srgbClr val="F4A227"/>
          </a:solidFill>
          <a:ln w="12700">
            <a:solidFill>
              <a:srgbClr val="F4A227"/>
            </a:solidFill>
            <a:prstDash val="solid"/>
          </a:ln>
        </p:spPr>
        <p:txBody>
          <a:bodyPr/>
          <a:lstStyle/>
          <a:p>
            <a:endParaRPr lang="fr-FR"/>
          </a:p>
        </p:txBody>
      </p:sp>
      <p:sp>
        <p:nvSpPr>
          <p:cNvPr id="17" name="Text 15"/>
          <p:cNvSpPr/>
          <p:nvPr/>
        </p:nvSpPr>
        <p:spPr>
          <a:xfrm>
            <a:off x="6812280" y="1298448"/>
            <a:ext cx="219456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&lt; 7 ans</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(hors hybrides)</a:t>
            </a:r>
            <a:endParaRPr lang="en-US" sz="1000" dirty="0"/>
          </a:p>
        </p:txBody>
      </p:sp>
      <p:sp>
        <p:nvSpPr>
          <p:cNvPr id="18" name="Shape 16"/>
          <p:cNvSpPr/>
          <p:nvPr/>
        </p:nvSpPr>
        <p:spPr>
          <a:xfrm>
            <a:off x="6812280" y="2240280"/>
            <a:ext cx="2194560" cy="658368"/>
          </a:xfrm>
          <a:prstGeom prst="rect">
            <a:avLst/>
          </a:prstGeom>
          <a:solidFill>
            <a:srgbClr val="F4A227"/>
          </a:solidFill>
          <a:ln w="12700">
            <a:solidFill>
              <a:srgbClr val="F4A227"/>
            </a:solidFill>
            <a:prstDash val="solid"/>
          </a:ln>
        </p:spPr>
        <p:txBody>
          <a:bodyPr/>
          <a:lstStyle/>
          <a:p>
            <a:endParaRPr lang="fr-FR"/>
          </a:p>
        </p:txBody>
      </p:sp>
      <p:sp>
        <p:nvSpPr>
          <p:cNvPr id="19" name="Text 17"/>
          <p:cNvSpPr/>
          <p:nvPr/>
        </p:nvSpPr>
        <p:spPr>
          <a:xfrm>
            <a:off x="6812280" y="2240280"/>
            <a:ext cx="219456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4,50 m × 1,70 m</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84 kW min</a:t>
            </a:r>
            <a:endParaRPr lang="en-US" sz="1000" dirty="0"/>
          </a:p>
        </p:txBody>
      </p:sp>
      <p:sp>
        <p:nvSpPr>
          <p:cNvPr id="20" name="Text 18"/>
          <p:cNvSpPr/>
          <p:nvPr/>
        </p:nvSpPr>
        <p:spPr>
          <a:xfrm>
            <a:off x="274320" y="3273552"/>
            <a:ext cx="8595360" cy="256032"/>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Tableau comparatif — Taxi vs VTC :</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274320" y="3566160"/>
          <a:ext cx="8595360" cy="1653540"/>
        </p:xfrm>
        <a:graphic>
          <a:graphicData uri="http://schemas.openxmlformats.org/drawingml/2006/table">
            <a:tbl>
              <a:tblPr/>
              <a:tblGrid>
                <a:gridCol w="3200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198555">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Critère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TAXI</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VTC</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19855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Maraude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 Zone de rattachement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 Interdite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855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Tarif</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Réglementé (préfectoral)</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Libre (fixé avant course)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19855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Signalétique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Lumineux TAXI + commune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Vignette VTC</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855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Âge véhicule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&lt; 10 ans (variable)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&lt; 7 ans (sauf exceptions)</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19855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PSC1</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 Obligatoire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Facultatif</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8555">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Zone d'exercice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Zone de rattachement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Toute la France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6"/>
                  </a:ext>
                </a:extLst>
              </a:tr>
            </a:tbl>
          </a:graphicData>
        </a:graphic>
      </p:graphicFrame>
      <p:sp>
        <p:nvSpPr>
          <p:cNvPr id="31" name="Rectangle 3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2" name="Rectangle 3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6b. Réglementation des VMDTR</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Véhicules Motorisés à Deux ou Trois Roues — Moto-taxi</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32/88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7.jpeg"/>
          <p:cNvPicPr>
            <a:picLocks noChangeAspect="1"/>
          </p:cNvPicPr>
          <p:nvPr/>
        </p:nvPicPr>
        <p:blipFill>
          <a:blip r:embed="rId3"/>
          <a:stretch>
            <a:fillRect/>
          </a:stretch>
        </p:blipFill>
        <p:spPr>
          <a:xfrm>
            <a:off x="3266607" y="2820924"/>
            <a:ext cx="2610786" cy="1737360"/>
          </a:xfrm>
          <a:prstGeom prst="rect">
            <a:avLst/>
          </a:prstGeom>
          <a:ln w="9525">
            <a:solidFill>
              <a:srgbClr val="00B4D8"/>
            </a:solid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Réglementation des VMDTR — Cadre légal, statut et tarifs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Véhicules Motorisés à Deux ou Trois Roues — Code des transports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33/88</a:t>
            </a:r>
            <a:endParaRPr lang="en-US" sz="800" dirty="0"/>
          </a:p>
        </p:txBody>
      </p:sp>
      <p:sp>
        <p:nvSpPr>
          <p:cNvPr id="9" name="Text 7"/>
          <p:cNvSpPr/>
          <p:nvPr/>
        </p:nvSpPr>
        <p:spPr>
          <a:xfrm>
            <a:off x="274320" y="1078992"/>
            <a:ext cx="8595360" cy="502920"/>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Le VMDTR (Véhicule Motorisé à Deux ou Trois Roues) est la troisième profession T3P. Comme le VTC, la réservation préalable est TOUJOURS obligatoire. Il ne peut transporter qu'un seul passager à la fois. Exercé principalement sous forme de « moto-taxi ».</a:t>
            </a:r>
            <a:endParaRPr lang="en-US" sz="1200" dirty="0"/>
          </a:p>
        </p:txBody>
      </p:sp>
      <p:sp>
        <p:nvSpPr>
          <p:cNvPr id="10" name="Shape 8"/>
          <p:cNvSpPr/>
          <p:nvPr/>
        </p:nvSpPr>
        <p:spPr>
          <a:xfrm>
            <a:off x="274320" y="1664208"/>
            <a:ext cx="4160520" cy="171907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64208"/>
            <a:ext cx="416052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6420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CADRE RÉGLEMENTAIRE VMDTR</a:t>
            </a:r>
            <a:endParaRPr lang="en-US" sz="1050" dirty="0"/>
          </a:p>
        </p:txBody>
      </p:sp>
      <p:sp>
        <p:nvSpPr>
          <p:cNvPr id="13" name="Text 11"/>
          <p:cNvSpPr/>
          <p:nvPr/>
        </p:nvSpPr>
        <p:spPr>
          <a:xfrm>
            <a:off x="384048" y="2011680"/>
            <a:ext cx="3977640" cy="132588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Texte de référence : Code des transports.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Autorité compétente : Ministère de la Transition écologique et de la Cohésion des territoires.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Pas d'inscription à un registre national (contrairement au VTC).</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Carte professionnelle VMDTR obligatoire — délivrée par la préfecture.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Réservation PRÉALABLE obligatoire — maraude INTERDITE.</a:t>
            </a:r>
            <a:endParaRPr lang="en-US" sz="1000" dirty="0"/>
          </a:p>
        </p:txBody>
      </p:sp>
      <p:sp>
        <p:nvSpPr>
          <p:cNvPr id="14" name="Shape 12"/>
          <p:cNvSpPr/>
          <p:nvPr/>
        </p:nvSpPr>
        <p:spPr>
          <a:xfrm>
            <a:off x="4709160" y="1664208"/>
            <a:ext cx="4160520" cy="171907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4709160" y="1664208"/>
            <a:ext cx="4160520" cy="301752"/>
          </a:xfrm>
          <a:prstGeom prst="rect">
            <a:avLst/>
          </a:prstGeom>
          <a:solidFill>
            <a:srgbClr val="1A3A5C"/>
          </a:solidFill>
          <a:ln w="12700">
            <a:solidFill>
              <a:srgbClr val="1A3A5C"/>
            </a:solidFill>
            <a:prstDash val="solid"/>
          </a:ln>
        </p:spPr>
        <p:txBody>
          <a:bodyPr/>
          <a:lstStyle/>
          <a:p>
            <a:endParaRPr lang="fr-FR"/>
          </a:p>
        </p:txBody>
      </p:sp>
      <p:sp>
        <p:nvSpPr>
          <p:cNvPr id="16" name="Text 14"/>
          <p:cNvSpPr/>
          <p:nvPr/>
        </p:nvSpPr>
        <p:spPr>
          <a:xfrm>
            <a:off x="4800600" y="166420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STATUT ET TARIFS VMDTR</a:t>
            </a:r>
            <a:endParaRPr lang="en-US" sz="1050" dirty="0"/>
          </a:p>
        </p:txBody>
      </p:sp>
      <p:sp>
        <p:nvSpPr>
          <p:cNvPr id="17" name="Text 15"/>
          <p:cNvSpPr/>
          <p:nvPr/>
        </p:nvSpPr>
        <p:spPr>
          <a:xfrm>
            <a:off x="4818888" y="2011680"/>
            <a:ext cx="3977640" cy="132588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Statut : SALARIÉ ou TRAVAILLEUR INDÉPENDANT.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Tarif : forfait libre OU tarif horokilométrique — fixé à l'avance.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Prix communiqué AVANT le départ.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Pas de taximètre — système de calcul de prix requis.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RC Circulation (titre onéreux) + RC Professionnelle obligatoires.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1 passager maximum à bord.</a:t>
            </a:r>
            <a:endParaRPr lang="en-US" sz="1000" dirty="0"/>
          </a:p>
        </p:txBody>
      </p:sp>
      <p:sp>
        <p:nvSpPr>
          <p:cNvPr id="18" name="Shape 16"/>
          <p:cNvSpPr/>
          <p:nvPr/>
        </p:nvSpPr>
        <p:spPr>
          <a:xfrm>
            <a:off x="274320" y="3456432"/>
            <a:ext cx="8595360" cy="384048"/>
          </a:xfrm>
          <a:prstGeom prst="rect">
            <a:avLst/>
          </a:prstGeom>
          <a:solidFill>
            <a:srgbClr val="C0392B"/>
          </a:solidFill>
          <a:ln w="12700">
            <a:solidFill>
              <a:srgbClr val="C0392B"/>
            </a:solidFill>
            <a:prstDash val="solid"/>
          </a:ln>
        </p:spPr>
        <p:txBody>
          <a:bodyPr/>
          <a:lstStyle/>
          <a:p>
            <a:endParaRPr lang="fr-FR"/>
          </a:p>
        </p:txBody>
      </p:sp>
      <p:sp>
        <p:nvSpPr>
          <p:cNvPr id="19" name="Text 17"/>
          <p:cNvSpPr/>
          <p:nvPr/>
        </p:nvSpPr>
        <p:spPr>
          <a:xfrm>
            <a:off x="274320" y="3456432"/>
            <a:ext cx="85953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RÈGLE D'OR DU VMDTR : Réservation PRÉALABLE OBLIGATOIRE — 1 passager max — Maraude = DÉLIT : 1 an + 15 000 €</a:t>
            </a:r>
            <a:endParaRPr lang="en-US" sz="1000" dirty="0"/>
          </a:p>
        </p:txBody>
      </p:sp>
      <p:sp>
        <p:nvSpPr>
          <p:cNvPr id="20" name="Shape 18"/>
          <p:cNvSpPr/>
          <p:nvPr/>
        </p:nvSpPr>
        <p:spPr>
          <a:xfrm>
            <a:off x="274320" y="3913632"/>
            <a:ext cx="8595360" cy="292608"/>
          </a:xfrm>
          <a:prstGeom prst="rect">
            <a:avLst/>
          </a:prstGeom>
          <a:solidFill>
            <a:srgbClr val="D4530A"/>
          </a:solidFill>
          <a:ln w="12700">
            <a:solidFill>
              <a:srgbClr val="D4530A"/>
            </a:solidFill>
            <a:prstDash val="solid"/>
          </a:ln>
        </p:spPr>
        <p:txBody>
          <a:bodyPr/>
          <a:lstStyle/>
          <a:p>
            <a:endParaRPr lang="fr-FR"/>
          </a:p>
        </p:txBody>
      </p:sp>
      <p:sp>
        <p:nvSpPr>
          <p:cNvPr id="21" name="Text 19"/>
          <p:cNvSpPr/>
          <p:nvPr/>
        </p:nvSpPr>
        <p:spPr>
          <a:xfrm>
            <a:off x="274320" y="3913632"/>
            <a:ext cx="859536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SANCTIONS SPÉCIFIQUES VMDTR</a:t>
            </a:r>
            <a:endParaRPr lang="en-US" sz="1050" dirty="0"/>
          </a:p>
        </p:txBody>
      </p:sp>
      <p:sp>
        <p:nvSpPr>
          <p:cNvPr id="22" name="Shape 20"/>
          <p:cNvSpPr/>
          <p:nvPr/>
        </p:nvSpPr>
        <p:spPr>
          <a:xfrm>
            <a:off x="274320" y="4251960"/>
            <a:ext cx="8595360" cy="228600"/>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274320" y="4251960"/>
            <a:ext cx="1005840" cy="228600"/>
          </a:xfrm>
          <a:prstGeom prst="rect">
            <a:avLst/>
          </a:prstGeom>
          <a:solidFill>
            <a:srgbClr val="D4530A"/>
          </a:solidFill>
          <a:ln w="12700">
            <a:solidFill>
              <a:srgbClr val="D4530A"/>
            </a:solidFill>
            <a:prstDash val="solid"/>
          </a:ln>
        </p:spPr>
        <p:txBody>
          <a:bodyPr/>
          <a:lstStyle/>
          <a:p>
            <a:endParaRPr lang="fr-FR"/>
          </a:p>
        </p:txBody>
      </p:sp>
      <p:sp>
        <p:nvSpPr>
          <p:cNvPr id="24" name="Text 22"/>
          <p:cNvSpPr/>
          <p:nvPr/>
        </p:nvSpPr>
        <p:spPr>
          <a:xfrm>
            <a:off x="274320" y="4251960"/>
            <a:ext cx="100584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3ème classe</a:t>
            </a:r>
            <a:endParaRPr lang="en-US" sz="850" dirty="0"/>
          </a:p>
        </p:txBody>
      </p:sp>
      <p:sp>
        <p:nvSpPr>
          <p:cNvPr id="25" name="Text 23"/>
          <p:cNvSpPr/>
          <p:nvPr/>
        </p:nvSpPr>
        <p:spPr>
          <a:xfrm>
            <a:off x="1353312" y="4270248"/>
            <a:ext cx="5166360" cy="182880"/>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Exercice avec moto non-conforme (&lt; 40 kW ou &gt; 5 ans)</a:t>
            </a:r>
            <a:endParaRPr lang="en-US" sz="850" dirty="0"/>
          </a:p>
        </p:txBody>
      </p:sp>
      <p:sp>
        <p:nvSpPr>
          <p:cNvPr id="26" name="Text 24"/>
          <p:cNvSpPr/>
          <p:nvPr/>
        </p:nvSpPr>
        <p:spPr>
          <a:xfrm>
            <a:off x="6565392" y="4270248"/>
            <a:ext cx="2212848" cy="182880"/>
          </a:xfrm>
          <a:prstGeom prst="rect">
            <a:avLst/>
          </a:prstGeom>
          <a:noFill/>
          <a:ln/>
        </p:spPr>
        <p:txBody>
          <a:bodyPr wrap="square" rtlCol="0" anchor="ctr"/>
          <a:lstStyle/>
          <a:p>
            <a:pPr marL="0" indent="0" algn="r">
              <a:buNone/>
            </a:pPr>
            <a:r>
              <a:rPr lang="en-US" sz="850" b="1" dirty="0">
                <a:solidFill>
                  <a:srgbClr val="C0392B"/>
                </a:solidFill>
                <a:latin typeface="Calibri" pitchFamily="34" charset="0"/>
                <a:ea typeface="Calibri" pitchFamily="34" charset="-122"/>
                <a:cs typeface="Calibri" pitchFamily="34" charset="-120"/>
              </a:rPr>
              <a:t>Amende jusqu'à 450 €</a:t>
            </a:r>
            <a:endParaRPr lang="en-US" sz="850" dirty="0"/>
          </a:p>
        </p:txBody>
      </p:sp>
      <p:sp>
        <p:nvSpPr>
          <p:cNvPr id="27" name="Shape 25"/>
          <p:cNvSpPr/>
          <p:nvPr/>
        </p:nvSpPr>
        <p:spPr>
          <a:xfrm>
            <a:off x="274320" y="4507992"/>
            <a:ext cx="8595360" cy="228600"/>
          </a:xfrm>
          <a:prstGeom prst="rect">
            <a:avLst/>
          </a:prstGeom>
          <a:solidFill>
            <a:srgbClr val="FFFFFF"/>
          </a:solidFill>
          <a:ln w="6350">
            <a:solidFill>
              <a:srgbClr val="D0DCE8"/>
            </a:solidFill>
            <a:prstDash val="solid"/>
          </a:ln>
        </p:spPr>
        <p:txBody>
          <a:bodyPr/>
          <a:lstStyle/>
          <a:p>
            <a:endParaRPr lang="fr-FR"/>
          </a:p>
        </p:txBody>
      </p:sp>
      <p:sp>
        <p:nvSpPr>
          <p:cNvPr id="28" name="Shape 26"/>
          <p:cNvSpPr/>
          <p:nvPr/>
        </p:nvSpPr>
        <p:spPr>
          <a:xfrm>
            <a:off x="274320" y="4507992"/>
            <a:ext cx="1005840" cy="228600"/>
          </a:xfrm>
          <a:prstGeom prst="rect">
            <a:avLst/>
          </a:prstGeom>
          <a:solidFill>
            <a:srgbClr val="D4530A"/>
          </a:solidFill>
          <a:ln w="12700">
            <a:solidFill>
              <a:srgbClr val="D4530A"/>
            </a:solidFill>
            <a:prstDash val="solid"/>
          </a:ln>
        </p:spPr>
        <p:txBody>
          <a:bodyPr/>
          <a:lstStyle/>
          <a:p>
            <a:endParaRPr lang="fr-FR"/>
          </a:p>
        </p:txBody>
      </p:sp>
      <p:sp>
        <p:nvSpPr>
          <p:cNvPr id="29" name="Text 27"/>
          <p:cNvSpPr/>
          <p:nvPr/>
        </p:nvSpPr>
        <p:spPr>
          <a:xfrm>
            <a:off x="274320" y="4507992"/>
            <a:ext cx="100584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Délit</a:t>
            </a:r>
            <a:endParaRPr lang="en-US" sz="850" dirty="0"/>
          </a:p>
        </p:txBody>
      </p:sp>
      <p:sp>
        <p:nvSpPr>
          <p:cNvPr id="30" name="Text 28"/>
          <p:cNvSpPr/>
          <p:nvPr/>
        </p:nvSpPr>
        <p:spPr>
          <a:xfrm>
            <a:off x="1353312" y="4526280"/>
            <a:ext cx="5166360" cy="182880"/>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Prise en charge sans réservation préalable</a:t>
            </a:r>
            <a:endParaRPr lang="en-US" sz="850" dirty="0"/>
          </a:p>
        </p:txBody>
      </p:sp>
      <p:sp>
        <p:nvSpPr>
          <p:cNvPr id="31" name="Text 29"/>
          <p:cNvSpPr/>
          <p:nvPr/>
        </p:nvSpPr>
        <p:spPr>
          <a:xfrm>
            <a:off x="6565392" y="4526280"/>
            <a:ext cx="2212848" cy="182880"/>
          </a:xfrm>
          <a:prstGeom prst="rect">
            <a:avLst/>
          </a:prstGeom>
          <a:noFill/>
          <a:ln/>
        </p:spPr>
        <p:txBody>
          <a:bodyPr wrap="square" rtlCol="0" anchor="ctr"/>
          <a:lstStyle/>
          <a:p>
            <a:pPr marL="0" indent="0" algn="r">
              <a:buNone/>
            </a:pPr>
            <a:r>
              <a:rPr lang="en-US" sz="850" b="1" dirty="0">
                <a:solidFill>
                  <a:srgbClr val="C0392B"/>
                </a:solidFill>
                <a:latin typeface="Calibri" pitchFamily="34" charset="0"/>
                <a:ea typeface="Calibri" pitchFamily="34" charset="-122"/>
                <a:cs typeface="Calibri" pitchFamily="34" charset="-120"/>
              </a:rPr>
              <a:t>1 an de prison + 15 000 €</a:t>
            </a:r>
            <a:endParaRPr lang="en-US" sz="850" dirty="0"/>
          </a:p>
        </p:txBody>
      </p:sp>
      <p:sp>
        <p:nvSpPr>
          <p:cNvPr id="32" name="Shape 30"/>
          <p:cNvSpPr/>
          <p:nvPr/>
        </p:nvSpPr>
        <p:spPr>
          <a:xfrm>
            <a:off x="274320" y="4764024"/>
            <a:ext cx="8595360" cy="228600"/>
          </a:xfrm>
          <a:prstGeom prst="rect">
            <a:avLst/>
          </a:prstGeom>
          <a:solidFill>
            <a:srgbClr val="E8F1FA"/>
          </a:solidFill>
          <a:ln w="6350">
            <a:solidFill>
              <a:srgbClr val="D0DCE8"/>
            </a:solidFill>
            <a:prstDash val="solid"/>
          </a:ln>
        </p:spPr>
        <p:txBody>
          <a:bodyPr/>
          <a:lstStyle/>
          <a:p>
            <a:endParaRPr lang="fr-FR"/>
          </a:p>
        </p:txBody>
      </p:sp>
      <p:sp>
        <p:nvSpPr>
          <p:cNvPr id="33" name="Shape 31"/>
          <p:cNvSpPr/>
          <p:nvPr/>
        </p:nvSpPr>
        <p:spPr>
          <a:xfrm>
            <a:off x="274320" y="4764024"/>
            <a:ext cx="1005840" cy="228600"/>
          </a:xfrm>
          <a:prstGeom prst="rect">
            <a:avLst/>
          </a:prstGeom>
          <a:solidFill>
            <a:srgbClr val="D4530A"/>
          </a:solidFill>
          <a:ln w="12700">
            <a:solidFill>
              <a:srgbClr val="D4530A"/>
            </a:solidFill>
            <a:prstDash val="solid"/>
          </a:ln>
        </p:spPr>
        <p:txBody>
          <a:bodyPr/>
          <a:lstStyle/>
          <a:p>
            <a:endParaRPr lang="fr-FR"/>
          </a:p>
        </p:txBody>
      </p:sp>
      <p:sp>
        <p:nvSpPr>
          <p:cNvPr id="34" name="Text 32"/>
          <p:cNvSpPr/>
          <p:nvPr/>
        </p:nvSpPr>
        <p:spPr>
          <a:xfrm>
            <a:off x="274320" y="4764024"/>
            <a:ext cx="100584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Délit</a:t>
            </a:r>
            <a:endParaRPr lang="en-US" sz="850" dirty="0"/>
          </a:p>
        </p:txBody>
      </p:sp>
      <p:sp>
        <p:nvSpPr>
          <p:cNvPr id="35" name="Text 33"/>
          <p:cNvSpPr/>
          <p:nvPr/>
        </p:nvSpPr>
        <p:spPr>
          <a:xfrm>
            <a:off x="1353312" y="4782312"/>
            <a:ext cx="5166360" cy="182880"/>
          </a:xfrm>
          <a:prstGeom prst="rect">
            <a:avLst/>
          </a:prstGeom>
          <a:noFill/>
          <a:ln/>
        </p:spPr>
        <p:txBody>
          <a:bodyPr wrap="square" rtlCol="0" anchor="ctr"/>
          <a:lstStyle/>
          <a:p>
            <a:pPr marL="0" indent="0">
              <a:buNone/>
            </a:pPr>
            <a:r>
              <a:rPr lang="en-US" sz="850" dirty="0">
                <a:solidFill>
                  <a:srgbClr val="3A3A3A"/>
                </a:solidFill>
                <a:latin typeface="Calibri" pitchFamily="34" charset="0"/>
                <a:ea typeface="Calibri" pitchFamily="34" charset="-122"/>
                <a:cs typeface="Calibri" pitchFamily="34" charset="-120"/>
              </a:rPr>
              <a:t>Exercice sans carte professionnelle VMDTR valide</a:t>
            </a:r>
            <a:endParaRPr lang="en-US" sz="850" dirty="0"/>
          </a:p>
        </p:txBody>
      </p:sp>
      <p:sp>
        <p:nvSpPr>
          <p:cNvPr id="36" name="Text 34"/>
          <p:cNvSpPr/>
          <p:nvPr/>
        </p:nvSpPr>
        <p:spPr>
          <a:xfrm>
            <a:off x="6565392" y="4782312"/>
            <a:ext cx="2212848" cy="182880"/>
          </a:xfrm>
          <a:prstGeom prst="rect">
            <a:avLst/>
          </a:prstGeom>
          <a:noFill/>
          <a:ln/>
        </p:spPr>
        <p:txBody>
          <a:bodyPr wrap="square" rtlCol="0" anchor="ctr"/>
          <a:lstStyle/>
          <a:p>
            <a:pPr marL="0" indent="0" algn="r">
              <a:buNone/>
            </a:pPr>
            <a:r>
              <a:rPr lang="en-US" sz="850" b="1" dirty="0">
                <a:solidFill>
                  <a:srgbClr val="C0392B"/>
                </a:solidFill>
                <a:latin typeface="Calibri" pitchFamily="34" charset="0"/>
                <a:ea typeface="Calibri" pitchFamily="34" charset="-122"/>
                <a:cs typeface="Calibri" pitchFamily="34" charset="-120"/>
              </a:rPr>
              <a:t>Classe 5 + jusqu'à 1 500 €</a:t>
            </a:r>
            <a:endParaRPr lang="en-US" sz="850" dirty="0"/>
          </a:p>
        </p:txBody>
      </p:sp>
      <p:sp>
        <p:nvSpPr>
          <p:cNvPr id="37" name="Rectangle 3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8" name="Rectangle 3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Conditions d'accès à la profession VMDTR</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Permis, carte professionnelle, visite médicale, casier judiciaire</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34/88</a:t>
            </a:r>
            <a:endParaRPr lang="en-US" sz="800" dirty="0"/>
          </a:p>
        </p:txBody>
      </p:sp>
      <p:sp>
        <p:nvSpPr>
          <p:cNvPr id="9" name="Shape 7"/>
          <p:cNvSpPr/>
          <p:nvPr/>
        </p:nvSpPr>
        <p:spPr>
          <a:xfrm>
            <a:off x="274320" y="960120"/>
            <a:ext cx="8595360" cy="347472"/>
          </a:xfrm>
          <a:prstGeom prst="rect">
            <a:avLst/>
          </a:prstGeom>
          <a:solidFill>
            <a:srgbClr val="6B7A8D"/>
          </a:solidFill>
          <a:ln w="12700">
            <a:solidFill>
              <a:srgbClr val="6B7A8D"/>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CONDITIONS D'ACCÈS À LA CARTE PROFESSIONNELLE VMDTR</a:t>
            </a:r>
            <a:endParaRPr lang="en-US" sz="1200" dirty="0"/>
          </a:p>
        </p:txBody>
      </p:sp>
      <p:sp>
        <p:nvSpPr>
          <p:cNvPr id="11" name="Shape 9"/>
          <p:cNvSpPr/>
          <p:nvPr/>
        </p:nvSpPr>
        <p:spPr>
          <a:xfrm>
            <a:off x="274320" y="1389888"/>
            <a:ext cx="4160520" cy="173736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160520" cy="320040"/>
          </a:xfrm>
          <a:prstGeom prst="rect">
            <a:avLst/>
          </a:prstGeom>
          <a:solidFill>
            <a:srgbClr val="6B7A8D"/>
          </a:solidFill>
          <a:ln w="12700">
            <a:solidFill>
              <a:srgbClr val="6B7A8D"/>
            </a:solidFill>
            <a:prstDash val="solid"/>
          </a:ln>
        </p:spPr>
        <p:txBody>
          <a:bodyPr/>
          <a:lstStyle/>
          <a:p>
            <a:endParaRPr lang="fr-FR"/>
          </a:p>
        </p:txBody>
      </p:sp>
      <p:sp>
        <p:nvSpPr>
          <p:cNvPr id="13" name="Text 11"/>
          <p:cNvSpPr/>
          <p:nvPr/>
        </p:nvSpPr>
        <p:spPr>
          <a:xfrm>
            <a:off x="347472" y="1389888"/>
            <a:ext cx="4005072" cy="32004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PERMIS DE CONDUIRE CATÉGORIE A</a:t>
            </a:r>
            <a:endParaRPr lang="en-US" sz="950" dirty="0"/>
          </a:p>
        </p:txBody>
      </p:sp>
      <p:sp>
        <p:nvSpPr>
          <p:cNvPr id="14" name="Text 12"/>
          <p:cNvSpPr/>
          <p:nvPr/>
        </p:nvSpPr>
        <p:spPr>
          <a:xfrm>
            <a:off x="365760" y="1737360"/>
            <a:ext cx="3977640" cy="10789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Permis de conduire de catégorie A depuis AU MOINS 3 ANS.</a:t>
            </a:r>
            <a:endParaRPr lang="en-US" sz="880" dirty="0"/>
          </a:p>
          <a:p>
            <a:pPr marL="0" indent="0">
              <a:buNone/>
            </a:pPr>
            <a:endParaRPr lang="en-US" sz="880" dirty="0"/>
          </a:p>
          <a:p>
            <a:pPr marL="0" indent="0">
              <a:buNone/>
            </a:pPr>
            <a:r>
              <a:rPr lang="en-US" sz="880" dirty="0">
                <a:solidFill>
                  <a:srgbClr val="3A3A3A"/>
                </a:solidFill>
                <a:latin typeface="Calibri" pitchFamily="34" charset="0"/>
                <a:ea typeface="Calibri" pitchFamily="34" charset="-122"/>
                <a:cs typeface="Calibri" pitchFamily="34" charset="-120"/>
              </a:rPr>
              <a:t>Le permis doit être hors période probatoire.</a:t>
            </a:r>
            <a:endParaRPr lang="en-US" sz="880" dirty="0"/>
          </a:p>
          <a:p>
            <a:pPr marL="0" indent="0">
              <a:buNone/>
            </a:pPr>
            <a:r>
              <a:rPr lang="en-US" sz="880" dirty="0">
                <a:solidFill>
                  <a:srgbClr val="3A3A3A"/>
                </a:solidFill>
                <a:latin typeface="Calibri" pitchFamily="34" charset="0"/>
                <a:ea typeface="Calibri" pitchFamily="34" charset="-122"/>
                <a:cs typeface="Calibri" pitchFamily="34" charset="-120"/>
              </a:rPr>
              <a:t>Permis A1 ou A2 insuffisant — seul le permis A (sans restriction) est accepté.</a:t>
            </a:r>
            <a:endParaRPr lang="en-US" sz="880" dirty="0"/>
          </a:p>
          <a:p>
            <a:pPr marL="0" indent="0">
              <a:buNone/>
            </a:pPr>
            <a:r>
              <a:rPr lang="en-US" sz="880" dirty="0">
                <a:solidFill>
                  <a:srgbClr val="3A3A3A"/>
                </a:solidFill>
                <a:latin typeface="Calibri" pitchFamily="34" charset="0"/>
                <a:ea typeface="Calibri" pitchFamily="34" charset="-122"/>
                <a:cs typeface="Calibri" pitchFamily="34" charset="-120"/>
              </a:rPr>
              <a:t>Si permis obtenu en conduite accompagnée : délai réduit possible.</a:t>
            </a:r>
            <a:endParaRPr lang="en-US" sz="880" dirty="0"/>
          </a:p>
        </p:txBody>
      </p:sp>
      <p:sp>
        <p:nvSpPr>
          <p:cNvPr id="15" name="Shape 13"/>
          <p:cNvSpPr/>
          <p:nvPr/>
        </p:nvSpPr>
        <p:spPr>
          <a:xfrm>
            <a:off x="274320" y="2834640"/>
            <a:ext cx="4160520" cy="292608"/>
          </a:xfrm>
          <a:prstGeom prst="rect">
            <a:avLst/>
          </a:prstGeom>
          <a:solidFill>
            <a:srgbClr val="E8F0F8"/>
          </a:solidFill>
          <a:ln w="6350">
            <a:solidFill>
              <a:srgbClr val="D0DCE8"/>
            </a:solidFill>
            <a:prstDash val="solid"/>
          </a:ln>
        </p:spPr>
        <p:txBody>
          <a:bodyPr/>
          <a:lstStyle/>
          <a:p>
            <a:endParaRPr lang="fr-FR"/>
          </a:p>
        </p:txBody>
      </p:sp>
      <p:sp>
        <p:nvSpPr>
          <p:cNvPr id="16" name="Text 14"/>
          <p:cNvSpPr/>
          <p:nvPr/>
        </p:nvSpPr>
        <p:spPr>
          <a:xfrm>
            <a:off x="365760" y="2852928"/>
            <a:ext cx="3977640" cy="256032"/>
          </a:xfrm>
          <a:prstGeom prst="rect">
            <a:avLst/>
          </a:prstGeom>
          <a:noFill/>
          <a:ln/>
        </p:spPr>
        <p:txBody>
          <a:bodyPr wrap="square" rtlCol="0" anchor="ctr"/>
          <a:lstStyle/>
          <a:p>
            <a:pPr marL="0" indent="0">
              <a:buNone/>
            </a:pPr>
            <a:r>
              <a:rPr lang="en-US" sz="800" i="1" dirty="0">
                <a:solidFill>
                  <a:srgbClr val="1A3A5C"/>
                </a:solidFill>
                <a:latin typeface="Calibri" pitchFamily="34" charset="0"/>
                <a:ea typeface="Calibri" pitchFamily="34" charset="-122"/>
                <a:cs typeface="Calibri" pitchFamily="34" charset="-120"/>
              </a:rPr>
              <a:t>💡 Attention : contrairement au VTC/Taxi (permis B), le VMDTR exige le permis A moto — 3 ans minimum</a:t>
            </a:r>
            <a:endParaRPr lang="en-US" sz="800" dirty="0"/>
          </a:p>
        </p:txBody>
      </p:sp>
      <p:sp>
        <p:nvSpPr>
          <p:cNvPr id="17" name="Shape 15"/>
          <p:cNvSpPr/>
          <p:nvPr/>
        </p:nvSpPr>
        <p:spPr>
          <a:xfrm>
            <a:off x="4709160" y="1389888"/>
            <a:ext cx="4160520" cy="1737360"/>
          </a:xfrm>
          <a:prstGeom prst="rect">
            <a:avLst/>
          </a:prstGeom>
          <a:solidFill>
            <a:srgbClr val="E8F1FA"/>
          </a:solidFill>
          <a:ln w="6350">
            <a:solidFill>
              <a:srgbClr val="D0DCE8"/>
            </a:solidFill>
            <a:prstDash val="solid"/>
          </a:ln>
        </p:spPr>
        <p:txBody>
          <a:bodyPr/>
          <a:lstStyle/>
          <a:p>
            <a:endParaRPr lang="fr-FR"/>
          </a:p>
        </p:txBody>
      </p:sp>
      <p:sp>
        <p:nvSpPr>
          <p:cNvPr id="18" name="Shape 16"/>
          <p:cNvSpPr/>
          <p:nvPr/>
        </p:nvSpPr>
        <p:spPr>
          <a:xfrm>
            <a:off x="4709160" y="1389888"/>
            <a:ext cx="4160520" cy="320040"/>
          </a:xfrm>
          <a:prstGeom prst="rect">
            <a:avLst/>
          </a:prstGeom>
          <a:solidFill>
            <a:srgbClr val="1A3A5C"/>
          </a:solidFill>
          <a:ln w="12700">
            <a:solidFill>
              <a:srgbClr val="1A3A5C"/>
            </a:solidFill>
            <a:prstDash val="solid"/>
          </a:ln>
        </p:spPr>
        <p:txBody>
          <a:bodyPr/>
          <a:lstStyle/>
          <a:p>
            <a:endParaRPr lang="fr-FR"/>
          </a:p>
        </p:txBody>
      </p:sp>
      <p:sp>
        <p:nvSpPr>
          <p:cNvPr id="19" name="Text 17"/>
          <p:cNvSpPr/>
          <p:nvPr/>
        </p:nvSpPr>
        <p:spPr>
          <a:xfrm>
            <a:off x="4782312" y="1389888"/>
            <a:ext cx="4005072" cy="32004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CARTE PROFESSIONNELLE VMDTR</a:t>
            </a:r>
            <a:endParaRPr lang="en-US" sz="950" dirty="0"/>
          </a:p>
        </p:txBody>
      </p:sp>
      <p:sp>
        <p:nvSpPr>
          <p:cNvPr id="20" name="Text 18"/>
          <p:cNvSpPr/>
          <p:nvPr/>
        </p:nvSpPr>
        <p:spPr>
          <a:xfrm>
            <a:off x="4800600" y="1737360"/>
            <a:ext cx="3977640" cy="10789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Réussir l'examen T3P (tronc </a:t>
            </a:r>
            <a:r>
              <a:rPr lang="en-US" sz="880" dirty="0" err="1">
                <a:solidFill>
                  <a:srgbClr val="3A3A3A"/>
                </a:solidFill>
                <a:latin typeface="Calibri" pitchFamily="34" charset="0"/>
                <a:ea typeface="Calibri" pitchFamily="34" charset="-122"/>
                <a:cs typeface="Calibri" pitchFamily="34" charset="-120"/>
              </a:rPr>
              <a:t>commun</a:t>
            </a:r>
            <a:r>
              <a:rPr lang="en-US" sz="880" dirty="0">
                <a:solidFill>
                  <a:srgbClr val="3A3A3A"/>
                </a:solidFill>
                <a:latin typeface="Calibri" pitchFamily="34" charset="0"/>
                <a:ea typeface="Calibri" pitchFamily="34" charset="-122"/>
                <a:cs typeface="Calibri" pitchFamily="34" charset="-120"/>
              </a:rPr>
              <a:t>)</a:t>
            </a:r>
            <a:endParaRPr lang="en-US" sz="880" dirty="0"/>
          </a:p>
          <a:p>
            <a:pPr marL="0" indent="0">
              <a:buNone/>
            </a:pPr>
            <a:r>
              <a:rPr lang="en-US" sz="880" dirty="0">
                <a:solidFill>
                  <a:srgbClr val="3A3A3A"/>
                </a:solidFill>
                <a:latin typeface="Calibri" pitchFamily="34" charset="0"/>
                <a:ea typeface="Calibri" pitchFamily="34" charset="-122"/>
                <a:cs typeface="Calibri" pitchFamily="34" charset="-120"/>
              </a:rPr>
              <a:t>La carte est délivrée par la préfecture dans un délai maximum de 3 mois.</a:t>
            </a:r>
            <a:endParaRPr lang="en-US" sz="880" dirty="0"/>
          </a:p>
        </p:txBody>
      </p:sp>
      <p:sp>
        <p:nvSpPr>
          <p:cNvPr id="21" name="Shape 19"/>
          <p:cNvSpPr/>
          <p:nvPr/>
        </p:nvSpPr>
        <p:spPr>
          <a:xfrm>
            <a:off x="4709160" y="2834640"/>
            <a:ext cx="4160520" cy="292608"/>
          </a:xfrm>
          <a:prstGeom prst="rect">
            <a:avLst/>
          </a:prstGeom>
          <a:solidFill>
            <a:srgbClr val="E8F0F8"/>
          </a:solidFill>
          <a:ln w="6350">
            <a:solidFill>
              <a:srgbClr val="D0DCE8"/>
            </a:solidFill>
            <a:prstDash val="solid"/>
          </a:ln>
        </p:spPr>
        <p:txBody>
          <a:bodyPr/>
          <a:lstStyle/>
          <a:p>
            <a:endParaRPr lang="fr-FR"/>
          </a:p>
        </p:txBody>
      </p:sp>
      <p:sp>
        <p:nvSpPr>
          <p:cNvPr id="22" name="Text 20"/>
          <p:cNvSpPr/>
          <p:nvPr/>
        </p:nvSpPr>
        <p:spPr>
          <a:xfrm>
            <a:off x="4800600" y="2852928"/>
            <a:ext cx="3977640" cy="256032"/>
          </a:xfrm>
          <a:prstGeom prst="rect">
            <a:avLst/>
          </a:prstGeom>
          <a:noFill/>
          <a:ln/>
        </p:spPr>
        <p:txBody>
          <a:bodyPr wrap="square" rtlCol="0" anchor="ctr"/>
          <a:lstStyle/>
          <a:p>
            <a:pPr marL="0" indent="0">
              <a:buNone/>
            </a:pPr>
            <a:r>
              <a:rPr lang="en-US" sz="800" i="1" dirty="0">
                <a:solidFill>
                  <a:srgbClr val="1A3A5C"/>
                </a:solidFill>
                <a:latin typeface="Calibri" pitchFamily="34" charset="0"/>
                <a:ea typeface="Calibri" pitchFamily="34" charset="-122"/>
                <a:cs typeface="Calibri" pitchFamily="34" charset="-120"/>
              </a:rPr>
              <a:t>💡 Carte apposée sur le véhicule — photographie visible de l'extérieur obligatoire</a:t>
            </a:r>
            <a:endParaRPr lang="en-US" sz="800" dirty="0"/>
          </a:p>
        </p:txBody>
      </p:sp>
      <p:sp>
        <p:nvSpPr>
          <p:cNvPr id="25" name="Text 23"/>
          <p:cNvSpPr/>
          <p:nvPr/>
        </p:nvSpPr>
        <p:spPr>
          <a:xfrm>
            <a:off x="347472" y="3218688"/>
            <a:ext cx="4005072" cy="320040"/>
          </a:xfrm>
          <a:prstGeom prst="rect">
            <a:avLst/>
          </a:prstGeom>
          <a:noFill/>
          <a:ln/>
        </p:spPr>
        <p:txBody>
          <a:bodyPr wrap="square" lIns="0" tIns="0" rIns="0" bIns="0" rtlCol="0" anchor="ctr"/>
          <a:lstStyle/>
          <a:p>
            <a:pPr marL="0" indent="0">
              <a:buNone/>
            </a:pPr>
            <a:endParaRPr lang="en-US" sz="950" dirty="0"/>
          </a:p>
        </p:txBody>
      </p:sp>
      <p:sp>
        <p:nvSpPr>
          <p:cNvPr id="26" name="Text 24"/>
          <p:cNvSpPr/>
          <p:nvPr/>
        </p:nvSpPr>
        <p:spPr>
          <a:xfrm>
            <a:off x="365760" y="3566160"/>
            <a:ext cx="3977640" cy="1078992"/>
          </a:xfrm>
          <a:prstGeom prst="rect">
            <a:avLst/>
          </a:prstGeom>
          <a:noFill/>
          <a:ln/>
        </p:spPr>
        <p:txBody>
          <a:bodyPr wrap="square" rtlCol="0" anchor="t"/>
          <a:lstStyle/>
          <a:p>
            <a:pPr marL="0" indent="0">
              <a:buNone/>
            </a:pPr>
            <a:endParaRPr lang="en-US" sz="880" dirty="0"/>
          </a:p>
        </p:txBody>
      </p:sp>
      <p:sp>
        <p:nvSpPr>
          <p:cNvPr id="27" name="Shape 25"/>
          <p:cNvSpPr/>
          <p:nvPr/>
        </p:nvSpPr>
        <p:spPr>
          <a:xfrm>
            <a:off x="274320" y="4663440"/>
            <a:ext cx="4160520" cy="292608"/>
          </a:xfrm>
          <a:prstGeom prst="rect">
            <a:avLst/>
          </a:prstGeom>
          <a:solidFill>
            <a:srgbClr val="E8F0F8"/>
          </a:solidFill>
          <a:ln w="6350">
            <a:solidFill>
              <a:srgbClr val="D0DCE8"/>
            </a:solidFill>
            <a:prstDash val="solid"/>
          </a:ln>
        </p:spPr>
        <p:txBody>
          <a:bodyPr/>
          <a:lstStyle/>
          <a:p>
            <a:endParaRPr lang="fr-FR"/>
          </a:p>
        </p:txBody>
      </p:sp>
      <p:sp>
        <p:nvSpPr>
          <p:cNvPr id="28" name="Text 26"/>
          <p:cNvSpPr/>
          <p:nvPr/>
        </p:nvSpPr>
        <p:spPr>
          <a:xfrm>
            <a:off x="365760" y="4681728"/>
            <a:ext cx="3977640" cy="256032"/>
          </a:xfrm>
          <a:prstGeom prst="rect">
            <a:avLst/>
          </a:prstGeom>
          <a:noFill/>
          <a:ln/>
        </p:spPr>
        <p:txBody>
          <a:bodyPr wrap="square" rtlCol="0" anchor="ctr"/>
          <a:lstStyle/>
          <a:p>
            <a:pPr marL="0" indent="0">
              <a:buNone/>
            </a:pPr>
            <a:r>
              <a:rPr lang="en-US" sz="800" i="1" dirty="0">
                <a:solidFill>
                  <a:srgbClr val="1A3A5C"/>
                </a:solidFill>
                <a:latin typeface="Calibri" pitchFamily="34" charset="0"/>
                <a:ea typeface="Calibri" pitchFamily="34" charset="-122"/>
                <a:cs typeface="Calibri" pitchFamily="34" charset="-120"/>
              </a:rPr>
              <a:t>💡 Sans attestation médicale valide → Classe 4 d'amende et impossibilité de travailler</a:t>
            </a:r>
            <a:endParaRPr lang="en-US" sz="800" dirty="0"/>
          </a:p>
        </p:txBody>
      </p:sp>
      <p:sp>
        <p:nvSpPr>
          <p:cNvPr id="29" name="Shape 27"/>
          <p:cNvSpPr/>
          <p:nvPr/>
        </p:nvSpPr>
        <p:spPr>
          <a:xfrm>
            <a:off x="4709160" y="3218688"/>
            <a:ext cx="4160520" cy="173736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709160" y="3218688"/>
            <a:ext cx="4160520" cy="320040"/>
          </a:xfrm>
          <a:prstGeom prst="rect">
            <a:avLst/>
          </a:prstGeom>
          <a:solidFill>
            <a:srgbClr val="F4A227"/>
          </a:solidFill>
          <a:ln w="12700">
            <a:solidFill>
              <a:srgbClr val="F4A227"/>
            </a:solidFill>
            <a:prstDash val="solid"/>
          </a:ln>
        </p:spPr>
        <p:txBody>
          <a:bodyPr/>
          <a:lstStyle/>
          <a:p>
            <a:endParaRPr lang="fr-FR"/>
          </a:p>
        </p:txBody>
      </p:sp>
      <p:sp>
        <p:nvSpPr>
          <p:cNvPr id="31" name="Text 29"/>
          <p:cNvSpPr/>
          <p:nvPr/>
        </p:nvSpPr>
        <p:spPr>
          <a:xfrm>
            <a:off x="4782312" y="3218688"/>
            <a:ext cx="4005072" cy="32004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 CASIER JUDICIAIRE B2 VIERGE</a:t>
            </a:r>
            <a:endParaRPr lang="en-US" sz="950" dirty="0"/>
          </a:p>
        </p:txBody>
      </p:sp>
      <p:sp>
        <p:nvSpPr>
          <p:cNvPr id="32" name="Text 30"/>
          <p:cNvSpPr/>
          <p:nvPr/>
        </p:nvSpPr>
        <p:spPr>
          <a:xfrm>
            <a:off x="4800600" y="3566160"/>
            <a:ext cx="3977640" cy="10789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Le bulletin n°2 du casier judiciaire ne doit pas mentionner certaines condamnations incompatibles avec l'exercice du T3P (voir fiche spécifique mentions B2).</a:t>
            </a:r>
            <a:endParaRPr lang="en-US" sz="880" dirty="0"/>
          </a:p>
          <a:p>
            <a:pPr marL="0" indent="0">
              <a:buNone/>
            </a:pPr>
            <a:endParaRPr lang="en-US" sz="880" dirty="0"/>
          </a:p>
          <a:p>
            <a:pPr marL="0" indent="0">
              <a:buNone/>
            </a:pPr>
            <a:r>
              <a:rPr lang="en-US" sz="880" dirty="0">
                <a:solidFill>
                  <a:srgbClr val="3A3A3A"/>
                </a:solidFill>
                <a:latin typeface="Calibri" pitchFamily="34" charset="0"/>
                <a:ea typeface="Calibri" pitchFamily="34" charset="-122"/>
                <a:cs typeface="Calibri" pitchFamily="34" charset="-120"/>
              </a:rPr>
              <a:t>Casier vérifié à chaque renouvellement de la carte professionnelle.</a:t>
            </a:r>
            <a:endParaRPr lang="en-US" sz="880" dirty="0"/>
          </a:p>
        </p:txBody>
      </p:sp>
      <p:sp>
        <p:nvSpPr>
          <p:cNvPr id="33" name="Shape 31"/>
          <p:cNvSpPr/>
          <p:nvPr/>
        </p:nvSpPr>
        <p:spPr>
          <a:xfrm>
            <a:off x="4709160" y="4663440"/>
            <a:ext cx="4160520" cy="292608"/>
          </a:xfrm>
          <a:prstGeom prst="rect">
            <a:avLst/>
          </a:prstGeom>
          <a:solidFill>
            <a:srgbClr val="E8F0F8"/>
          </a:solidFill>
          <a:ln w="6350">
            <a:solidFill>
              <a:srgbClr val="D0DCE8"/>
            </a:solidFill>
            <a:prstDash val="solid"/>
          </a:ln>
        </p:spPr>
        <p:txBody>
          <a:bodyPr/>
          <a:lstStyle/>
          <a:p>
            <a:endParaRPr lang="fr-FR"/>
          </a:p>
        </p:txBody>
      </p:sp>
      <p:sp>
        <p:nvSpPr>
          <p:cNvPr id="34" name="Text 32"/>
          <p:cNvSpPr/>
          <p:nvPr/>
        </p:nvSpPr>
        <p:spPr>
          <a:xfrm>
            <a:off x="4800600" y="4681728"/>
            <a:ext cx="3977640" cy="256032"/>
          </a:xfrm>
          <a:prstGeom prst="rect">
            <a:avLst/>
          </a:prstGeom>
          <a:noFill/>
          <a:ln/>
        </p:spPr>
        <p:txBody>
          <a:bodyPr wrap="square" rtlCol="0" anchor="ctr"/>
          <a:lstStyle/>
          <a:p>
            <a:pPr marL="0" indent="0">
              <a:buNone/>
            </a:pPr>
            <a:r>
              <a:rPr lang="en-US" sz="800" i="1" dirty="0">
                <a:solidFill>
                  <a:srgbClr val="1A3A5C"/>
                </a:solidFill>
                <a:latin typeface="Calibri" pitchFamily="34" charset="0"/>
                <a:ea typeface="Calibri" pitchFamily="34" charset="-122"/>
                <a:cs typeface="Calibri" pitchFamily="34" charset="-120"/>
              </a:rPr>
              <a:t>💡 Condamnations définitives uniquement (après délai de 10 jours)</a:t>
            </a:r>
            <a:endParaRPr lang="en-US" sz="800" dirty="0"/>
          </a:p>
        </p:txBody>
      </p:sp>
      <p:sp>
        <p:nvSpPr>
          <p:cNvPr id="35" name="Rectangle 3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6" name="Rectangle 3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Conditions du véhicule VMDTR</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Critères obligatoires — Moteur, âge, équipements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35/88</a:t>
            </a:r>
            <a:endParaRPr lang="en-US" sz="800" dirty="0"/>
          </a:p>
        </p:txBody>
      </p:sp>
      <p:sp>
        <p:nvSpPr>
          <p:cNvPr id="9" name="Shape 7"/>
          <p:cNvSpPr/>
          <p:nvPr/>
        </p:nvSpPr>
        <p:spPr>
          <a:xfrm>
            <a:off x="274320" y="960120"/>
            <a:ext cx="8595360" cy="347472"/>
          </a:xfrm>
          <a:prstGeom prst="rect">
            <a:avLst/>
          </a:prstGeom>
          <a:solidFill>
            <a:srgbClr val="6B7A8D"/>
          </a:solidFill>
          <a:ln w="12700">
            <a:solidFill>
              <a:srgbClr val="6B7A8D"/>
            </a:solidFill>
            <a:prstDash val="solid"/>
          </a:ln>
        </p:spPr>
        <p:txBody>
          <a:bodyPr/>
          <a:lstStyle/>
          <a:p>
            <a:endParaRPr lang="fr-FR"/>
          </a:p>
        </p:txBody>
      </p:sp>
      <p:sp>
        <p:nvSpPr>
          <p:cNvPr id="10" name="Text 8"/>
          <p:cNvSpPr/>
          <p:nvPr/>
        </p:nvSpPr>
        <p:spPr>
          <a:xfrm>
            <a:off x="274320" y="960120"/>
            <a:ext cx="8595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 VÉHICULE MOTORISÉ À DEUX OU TROIS ROUES — Critères réglementaires</a:t>
            </a:r>
            <a:endParaRPr lang="en-US" sz="1200" dirty="0"/>
          </a:p>
        </p:txBody>
      </p:sp>
      <p:sp>
        <p:nvSpPr>
          <p:cNvPr id="11" name="Shape 9"/>
          <p:cNvSpPr/>
          <p:nvPr/>
        </p:nvSpPr>
        <p:spPr>
          <a:xfrm>
            <a:off x="274320" y="1389888"/>
            <a:ext cx="4160520" cy="173736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89888"/>
            <a:ext cx="4160520" cy="320040"/>
          </a:xfrm>
          <a:prstGeom prst="rect">
            <a:avLst/>
          </a:prstGeom>
          <a:solidFill>
            <a:srgbClr val="6B7A8D"/>
          </a:solidFill>
          <a:ln w="12700">
            <a:solidFill>
              <a:srgbClr val="6B7A8D"/>
            </a:solidFill>
            <a:prstDash val="solid"/>
          </a:ln>
        </p:spPr>
        <p:txBody>
          <a:bodyPr/>
          <a:lstStyle/>
          <a:p>
            <a:endParaRPr lang="fr-FR"/>
          </a:p>
        </p:txBody>
      </p:sp>
      <p:sp>
        <p:nvSpPr>
          <p:cNvPr id="13" name="Text 11"/>
          <p:cNvSpPr/>
          <p:nvPr/>
        </p:nvSpPr>
        <p:spPr>
          <a:xfrm>
            <a:off x="347472" y="1389888"/>
            <a:ext cx="4005072"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ÂGE MAXIMUM</a:t>
            </a:r>
            <a:endParaRPr lang="en-US" sz="1000" dirty="0"/>
          </a:p>
        </p:txBody>
      </p:sp>
      <p:sp>
        <p:nvSpPr>
          <p:cNvPr id="14" name="Shape 12"/>
          <p:cNvSpPr/>
          <p:nvPr/>
        </p:nvSpPr>
        <p:spPr>
          <a:xfrm>
            <a:off x="1645920" y="1773936"/>
            <a:ext cx="1417320" cy="685800"/>
          </a:xfrm>
          <a:prstGeom prst="rect">
            <a:avLst/>
          </a:prstGeom>
          <a:solidFill>
            <a:srgbClr val="6B7A8D"/>
          </a:solidFill>
          <a:ln w="12700">
            <a:solidFill>
              <a:srgbClr val="6B7A8D"/>
            </a:solidFill>
            <a:prstDash val="solid"/>
          </a:ln>
        </p:spPr>
        <p:txBody>
          <a:bodyPr/>
          <a:lstStyle/>
          <a:p>
            <a:endParaRPr lang="fr-FR"/>
          </a:p>
        </p:txBody>
      </p:sp>
      <p:sp>
        <p:nvSpPr>
          <p:cNvPr id="15" name="Text 13"/>
          <p:cNvSpPr/>
          <p:nvPr/>
        </p:nvSpPr>
        <p:spPr>
          <a:xfrm>
            <a:off x="1645920" y="1773936"/>
            <a:ext cx="141732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&lt; 5 ANS</a:t>
            </a:r>
            <a:endParaRPr lang="en-US" sz="2800" dirty="0"/>
          </a:p>
        </p:txBody>
      </p:sp>
      <p:sp>
        <p:nvSpPr>
          <p:cNvPr id="16" name="Text 14"/>
          <p:cNvSpPr/>
          <p:nvPr/>
        </p:nvSpPr>
        <p:spPr>
          <a:xfrm>
            <a:off x="365760" y="2505456"/>
            <a:ext cx="3977640" cy="59436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Le véhicule VMDTR doit avoir moins de 5 ans au moment de l'utilisation professionnelle. (Contrairement au VTC : &lt; 7 ans, Taxi : &lt; 10 ans)</a:t>
            </a:r>
            <a:endParaRPr lang="en-US" sz="900" dirty="0"/>
          </a:p>
        </p:txBody>
      </p:sp>
      <p:sp>
        <p:nvSpPr>
          <p:cNvPr id="17" name="Shape 15"/>
          <p:cNvSpPr/>
          <p:nvPr/>
        </p:nvSpPr>
        <p:spPr>
          <a:xfrm>
            <a:off x="4709160" y="1389888"/>
            <a:ext cx="4160520" cy="1737360"/>
          </a:xfrm>
          <a:prstGeom prst="rect">
            <a:avLst/>
          </a:prstGeom>
          <a:solidFill>
            <a:srgbClr val="E8F1FA"/>
          </a:solidFill>
          <a:ln w="6350">
            <a:solidFill>
              <a:srgbClr val="D0DCE8"/>
            </a:solidFill>
            <a:prstDash val="solid"/>
          </a:ln>
        </p:spPr>
        <p:txBody>
          <a:bodyPr/>
          <a:lstStyle/>
          <a:p>
            <a:endParaRPr lang="fr-FR"/>
          </a:p>
        </p:txBody>
      </p:sp>
      <p:sp>
        <p:nvSpPr>
          <p:cNvPr id="18" name="Shape 16"/>
          <p:cNvSpPr/>
          <p:nvPr/>
        </p:nvSpPr>
        <p:spPr>
          <a:xfrm>
            <a:off x="4709160" y="1389888"/>
            <a:ext cx="4160520" cy="320040"/>
          </a:xfrm>
          <a:prstGeom prst="rect">
            <a:avLst/>
          </a:prstGeom>
          <a:solidFill>
            <a:srgbClr val="1A3A5C"/>
          </a:solidFill>
          <a:ln w="12700">
            <a:solidFill>
              <a:srgbClr val="1A3A5C"/>
            </a:solidFill>
            <a:prstDash val="solid"/>
          </a:ln>
        </p:spPr>
        <p:txBody>
          <a:bodyPr/>
          <a:lstStyle/>
          <a:p>
            <a:endParaRPr lang="fr-FR"/>
          </a:p>
        </p:txBody>
      </p:sp>
      <p:sp>
        <p:nvSpPr>
          <p:cNvPr id="19" name="Text 17"/>
          <p:cNvSpPr/>
          <p:nvPr/>
        </p:nvSpPr>
        <p:spPr>
          <a:xfrm>
            <a:off x="4782312" y="1389888"/>
            <a:ext cx="4005072"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PUISSANCE NETTE MOTEUR</a:t>
            </a:r>
            <a:endParaRPr lang="en-US" sz="1000" dirty="0"/>
          </a:p>
        </p:txBody>
      </p:sp>
      <p:sp>
        <p:nvSpPr>
          <p:cNvPr id="20" name="Shape 18"/>
          <p:cNvSpPr/>
          <p:nvPr/>
        </p:nvSpPr>
        <p:spPr>
          <a:xfrm>
            <a:off x="6080760" y="1773936"/>
            <a:ext cx="1417320" cy="685800"/>
          </a:xfrm>
          <a:prstGeom prst="rect">
            <a:avLst/>
          </a:prstGeom>
          <a:solidFill>
            <a:srgbClr val="1A3A5C"/>
          </a:solidFill>
          <a:ln w="12700">
            <a:solidFill>
              <a:srgbClr val="1A3A5C"/>
            </a:solidFill>
            <a:prstDash val="solid"/>
          </a:ln>
        </p:spPr>
        <p:txBody>
          <a:bodyPr/>
          <a:lstStyle/>
          <a:p>
            <a:endParaRPr lang="fr-FR"/>
          </a:p>
        </p:txBody>
      </p:sp>
      <p:sp>
        <p:nvSpPr>
          <p:cNvPr id="21" name="Text 19"/>
          <p:cNvSpPr/>
          <p:nvPr/>
        </p:nvSpPr>
        <p:spPr>
          <a:xfrm>
            <a:off x="6080760" y="1773936"/>
            <a:ext cx="141732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 40 kW</a:t>
            </a:r>
            <a:endParaRPr lang="en-US" sz="2800" dirty="0"/>
          </a:p>
        </p:txBody>
      </p:sp>
      <p:sp>
        <p:nvSpPr>
          <p:cNvPr id="22" name="Text 20"/>
          <p:cNvSpPr/>
          <p:nvPr/>
        </p:nvSpPr>
        <p:spPr>
          <a:xfrm>
            <a:off x="4800600" y="2505456"/>
            <a:ext cx="3977640" cy="59436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Le moteur doit avoir une puissance nette supérieure ou égale à 40 kW. Un moteur insuffisant = infraction de 3ème classe.</a:t>
            </a:r>
            <a:endParaRPr lang="en-US" sz="900" dirty="0"/>
          </a:p>
        </p:txBody>
      </p:sp>
      <p:sp>
        <p:nvSpPr>
          <p:cNvPr id="23" name="Shape 21"/>
          <p:cNvSpPr/>
          <p:nvPr/>
        </p:nvSpPr>
        <p:spPr>
          <a:xfrm>
            <a:off x="274320" y="3218688"/>
            <a:ext cx="4160520" cy="1737360"/>
          </a:xfrm>
          <a:prstGeom prst="rect">
            <a:avLst/>
          </a:prstGeom>
          <a:solidFill>
            <a:srgbClr val="E8F1FA"/>
          </a:solidFill>
          <a:ln w="6350">
            <a:solidFill>
              <a:srgbClr val="D0DCE8"/>
            </a:solidFill>
            <a:prstDash val="solid"/>
          </a:ln>
        </p:spPr>
        <p:txBody>
          <a:bodyPr/>
          <a:lstStyle/>
          <a:p>
            <a:endParaRPr lang="fr-FR"/>
          </a:p>
        </p:txBody>
      </p:sp>
      <p:sp>
        <p:nvSpPr>
          <p:cNvPr id="24" name="Shape 22"/>
          <p:cNvSpPr/>
          <p:nvPr/>
        </p:nvSpPr>
        <p:spPr>
          <a:xfrm>
            <a:off x="274320" y="3218688"/>
            <a:ext cx="4160520" cy="320040"/>
          </a:xfrm>
          <a:prstGeom prst="rect">
            <a:avLst/>
          </a:prstGeom>
          <a:solidFill>
            <a:srgbClr val="2860A8"/>
          </a:solidFill>
          <a:ln w="12700">
            <a:solidFill>
              <a:srgbClr val="2860A8"/>
            </a:solidFill>
            <a:prstDash val="solid"/>
          </a:ln>
        </p:spPr>
        <p:txBody>
          <a:bodyPr/>
          <a:lstStyle/>
          <a:p>
            <a:endParaRPr lang="fr-FR"/>
          </a:p>
        </p:txBody>
      </p:sp>
      <p:sp>
        <p:nvSpPr>
          <p:cNvPr id="25" name="Text 23"/>
          <p:cNvSpPr/>
          <p:nvPr/>
        </p:nvSpPr>
        <p:spPr>
          <a:xfrm>
            <a:off x="347472" y="3218688"/>
            <a:ext cx="4005072"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PASSAGER MAXIMUM</a:t>
            </a:r>
            <a:endParaRPr lang="en-US" sz="1000" dirty="0"/>
          </a:p>
        </p:txBody>
      </p:sp>
      <p:sp>
        <p:nvSpPr>
          <p:cNvPr id="26" name="Shape 24"/>
          <p:cNvSpPr/>
          <p:nvPr/>
        </p:nvSpPr>
        <p:spPr>
          <a:xfrm>
            <a:off x="1645920" y="3602736"/>
            <a:ext cx="1417320" cy="685800"/>
          </a:xfrm>
          <a:prstGeom prst="rect">
            <a:avLst/>
          </a:prstGeom>
          <a:solidFill>
            <a:srgbClr val="2860A8"/>
          </a:solidFill>
          <a:ln w="12700">
            <a:solidFill>
              <a:srgbClr val="2860A8"/>
            </a:solidFill>
            <a:prstDash val="solid"/>
          </a:ln>
        </p:spPr>
        <p:txBody>
          <a:bodyPr/>
          <a:lstStyle/>
          <a:p>
            <a:endParaRPr lang="fr-FR"/>
          </a:p>
        </p:txBody>
      </p:sp>
      <p:sp>
        <p:nvSpPr>
          <p:cNvPr id="27" name="Text 25"/>
          <p:cNvSpPr/>
          <p:nvPr/>
        </p:nvSpPr>
        <p:spPr>
          <a:xfrm>
            <a:off x="1645920" y="3602736"/>
            <a:ext cx="141732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28" name="Text 26"/>
          <p:cNvSpPr/>
          <p:nvPr/>
        </p:nvSpPr>
        <p:spPr>
          <a:xfrm>
            <a:off x="365760" y="4334256"/>
            <a:ext cx="3977640" cy="59436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Le VMDTR ne peut transporter qu'un seul passager à la fois — en plus du conducteur. Pas de copassager supplémentaire.</a:t>
            </a:r>
            <a:endParaRPr lang="en-US" sz="900" dirty="0"/>
          </a:p>
        </p:txBody>
      </p:sp>
      <p:sp>
        <p:nvSpPr>
          <p:cNvPr id="29" name="Shape 27"/>
          <p:cNvSpPr/>
          <p:nvPr/>
        </p:nvSpPr>
        <p:spPr>
          <a:xfrm>
            <a:off x="4709160" y="3218688"/>
            <a:ext cx="4160520" cy="173736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709160" y="3218688"/>
            <a:ext cx="4160520" cy="320040"/>
          </a:xfrm>
          <a:prstGeom prst="rect">
            <a:avLst/>
          </a:prstGeom>
          <a:solidFill>
            <a:srgbClr val="F4A227"/>
          </a:solidFill>
          <a:ln w="12700">
            <a:solidFill>
              <a:srgbClr val="F4A227"/>
            </a:solidFill>
            <a:prstDash val="solid"/>
          </a:ln>
        </p:spPr>
        <p:txBody>
          <a:bodyPr/>
          <a:lstStyle/>
          <a:p>
            <a:endParaRPr lang="fr-FR"/>
          </a:p>
        </p:txBody>
      </p:sp>
      <p:sp>
        <p:nvSpPr>
          <p:cNvPr id="31" name="Text 29"/>
          <p:cNvSpPr/>
          <p:nvPr/>
        </p:nvSpPr>
        <p:spPr>
          <a:xfrm>
            <a:off x="4782312" y="3218688"/>
            <a:ext cx="4005072"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ÉQUIPEMENTS DE PROTECTION</a:t>
            </a:r>
            <a:endParaRPr lang="en-US" sz="1000" dirty="0"/>
          </a:p>
        </p:txBody>
      </p:sp>
      <p:sp>
        <p:nvSpPr>
          <p:cNvPr id="32" name="Shape 30"/>
          <p:cNvSpPr/>
          <p:nvPr/>
        </p:nvSpPr>
        <p:spPr>
          <a:xfrm>
            <a:off x="6080760" y="3602736"/>
            <a:ext cx="1417320" cy="685800"/>
          </a:xfrm>
          <a:prstGeom prst="rect">
            <a:avLst/>
          </a:prstGeom>
          <a:solidFill>
            <a:srgbClr val="F4A227"/>
          </a:solidFill>
          <a:ln w="12700">
            <a:solidFill>
              <a:srgbClr val="F4A227"/>
            </a:solidFill>
            <a:prstDash val="solid"/>
          </a:ln>
        </p:spPr>
        <p:txBody>
          <a:bodyPr/>
          <a:lstStyle/>
          <a:p>
            <a:endParaRPr lang="fr-FR"/>
          </a:p>
        </p:txBody>
      </p:sp>
      <p:sp>
        <p:nvSpPr>
          <p:cNvPr id="33" name="Text 31"/>
          <p:cNvSpPr/>
          <p:nvPr/>
        </p:nvSpPr>
        <p:spPr>
          <a:xfrm>
            <a:off x="6080760" y="3602736"/>
            <a:ext cx="141732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EPI</a:t>
            </a:r>
            <a:endParaRPr lang="en-US" sz="2800" dirty="0"/>
          </a:p>
        </p:txBody>
      </p:sp>
      <p:sp>
        <p:nvSpPr>
          <p:cNvPr id="34" name="Text 32"/>
          <p:cNvSpPr/>
          <p:nvPr/>
        </p:nvSpPr>
        <p:spPr>
          <a:xfrm>
            <a:off x="4800600" y="4334256"/>
            <a:ext cx="3977640" cy="594360"/>
          </a:xfrm>
          <a:prstGeom prst="rect">
            <a:avLst/>
          </a:prstGeom>
          <a:noFill/>
          <a:ln/>
        </p:spPr>
        <p:txBody>
          <a:bodyPr wrap="square" rtlCol="0" anchor="t"/>
          <a:lstStyle/>
          <a:p>
            <a:pPr marL="0" indent="0">
              <a:buNone/>
            </a:pPr>
            <a:r>
              <a:rPr lang="en-US" sz="900" dirty="0">
                <a:solidFill>
                  <a:srgbClr val="3A3A3A"/>
                </a:solidFill>
                <a:latin typeface="Calibri" pitchFamily="34" charset="0"/>
                <a:ea typeface="Calibri" pitchFamily="34" charset="-122"/>
                <a:cs typeface="Calibri" pitchFamily="34" charset="-120"/>
              </a:rPr>
              <a:t>Casque homologué obligatoire pour le conducteur ET le passager. Veste, gants, pantalons de protection recommandés/obligatoires selon réglementation.</a:t>
            </a:r>
            <a:endParaRPr lang="en-US" sz="900" dirty="0"/>
          </a:p>
        </p:txBody>
      </p:sp>
      <p:sp>
        <p:nvSpPr>
          <p:cNvPr id="35" name="Shape 33"/>
          <p:cNvSpPr/>
          <p:nvPr/>
        </p:nvSpPr>
        <p:spPr>
          <a:xfrm>
            <a:off x="274320" y="5047488"/>
            <a:ext cx="8595360" cy="347472"/>
          </a:xfrm>
          <a:prstGeom prst="rect">
            <a:avLst/>
          </a:prstGeom>
          <a:solidFill>
            <a:srgbClr val="D4530A"/>
          </a:solidFill>
          <a:ln w="12700">
            <a:solidFill>
              <a:srgbClr val="D4530A"/>
            </a:solidFill>
            <a:prstDash val="solid"/>
          </a:ln>
        </p:spPr>
        <p:txBody>
          <a:bodyPr/>
          <a:lstStyle/>
          <a:p>
            <a:endParaRPr lang="fr-FR"/>
          </a:p>
        </p:txBody>
      </p:sp>
      <p:sp>
        <p:nvSpPr>
          <p:cNvPr id="36" name="Text 34"/>
          <p:cNvSpPr/>
          <p:nvPr/>
        </p:nvSpPr>
        <p:spPr>
          <a:xfrm>
            <a:off x="274320" y="5047488"/>
            <a:ext cx="8595360" cy="34747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Exercice avec moto NON CONFORME (puissance &lt; 40 kW OU âge &gt; 5 ans) = Contravention de 3ème classe — Amende jusqu'à 450 €</a:t>
            </a:r>
            <a:endParaRPr lang="en-US" sz="950" dirty="0"/>
          </a:p>
        </p:txBody>
      </p:sp>
      <p:sp>
        <p:nvSpPr>
          <p:cNvPr id="37" name="Rectangle 3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8" name="Rectangle 3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Documents de contrôle VMDTR et comparatif des 3 professions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Ce que doit présenter un conducteur VMDTR lors d'un contrôle</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36/88</a:t>
            </a:r>
            <a:endParaRPr lang="en-US" sz="800" dirty="0"/>
          </a:p>
        </p:txBody>
      </p:sp>
      <p:sp>
        <p:nvSpPr>
          <p:cNvPr id="9" name="Shape 7"/>
          <p:cNvSpPr/>
          <p:nvPr/>
        </p:nvSpPr>
        <p:spPr>
          <a:xfrm>
            <a:off x="274320" y="960120"/>
            <a:ext cx="4160520" cy="320040"/>
          </a:xfrm>
          <a:prstGeom prst="rect">
            <a:avLst/>
          </a:prstGeom>
          <a:solidFill>
            <a:srgbClr val="6B7A8D"/>
          </a:solidFill>
          <a:ln w="12700">
            <a:solidFill>
              <a:srgbClr val="6B7A8D"/>
            </a:solidFill>
            <a:prstDash val="solid"/>
          </a:ln>
        </p:spPr>
        <p:txBody>
          <a:bodyPr/>
          <a:lstStyle/>
          <a:p>
            <a:endParaRPr lang="fr-FR"/>
          </a:p>
        </p:txBody>
      </p:sp>
      <p:sp>
        <p:nvSpPr>
          <p:cNvPr id="10" name="Text 8"/>
          <p:cNvSpPr/>
          <p:nvPr/>
        </p:nvSpPr>
        <p:spPr>
          <a:xfrm>
            <a:off x="274320" y="960120"/>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DOCUMENTS VMDTR EN CAS DE CONTRÔLE</a:t>
            </a:r>
            <a:endParaRPr lang="en-US" sz="1000" dirty="0"/>
          </a:p>
        </p:txBody>
      </p:sp>
      <p:sp>
        <p:nvSpPr>
          <p:cNvPr id="11" name="Shape 9"/>
          <p:cNvSpPr/>
          <p:nvPr/>
        </p:nvSpPr>
        <p:spPr>
          <a:xfrm>
            <a:off x="274320" y="1353312"/>
            <a:ext cx="4160520" cy="310896"/>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353312"/>
            <a:ext cx="256032" cy="310896"/>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274320" y="135331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4" name="Text 12"/>
          <p:cNvSpPr/>
          <p:nvPr/>
        </p:nvSpPr>
        <p:spPr>
          <a:xfrm>
            <a:off x="594360" y="1371600"/>
            <a:ext cx="3767328" cy="25603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Permis de conduire catégorie A</a:t>
            </a:r>
            <a:endParaRPr lang="en-US" sz="950" dirty="0"/>
          </a:p>
        </p:txBody>
      </p:sp>
      <p:sp>
        <p:nvSpPr>
          <p:cNvPr id="15" name="Shape 13"/>
          <p:cNvSpPr/>
          <p:nvPr/>
        </p:nvSpPr>
        <p:spPr>
          <a:xfrm>
            <a:off x="274320" y="1700784"/>
            <a:ext cx="4160520" cy="310896"/>
          </a:xfrm>
          <a:prstGeom prst="rect">
            <a:avLst/>
          </a:prstGeom>
          <a:solidFill>
            <a:srgbClr val="FFFFFF"/>
          </a:solidFill>
          <a:ln w="6350">
            <a:solidFill>
              <a:srgbClr val="D0DCE8"/>
            </a:solidFill>
            <a:prstDash val="solid"/>
          </a:ln>
        </p:spPr>
        <p:txBody>
          <a:bodyPr/>
          <a:lstStyle/>
          <a:p>
            <a:endParaRPr lang="fr-FR"/>
          </a:p>
        </p:txBody>
      </p:sp>
      <p:sp>
        <p:nvSpPr>
          <p:cNvPr id="16" name="Shape 14"/>
          <p:cNvSpPr/>
          <p:nvPr/>
        </p:nvSpPr>
        <p:spPr>
          <a:xfrm>
            <a:off x="274320" y="1700784"/>
            <a:ext cx="256032" cy="310896"/>
          </a:xfrm>
          <a:prstGeom prst="rect">
            <a:avLst/>
          </a:prstGeom>
          <a:solidFill>
            <a:srgbClr val="2860A8"/>
          </a:solidFill>
          <a:ln w="12700">
            <a:solidFill>
              <a:srgbClr val="2860A8"/>
            </a:solidFill>
            <a:prstDash val="solid"/>
          </a:ln>
        </p:spPr>
        <p:txBody>
          <a:bodyPr/>
          <a:lstStyle/>
          <a:p>
            <a:endParaRPr lang="fr-FR"/>
          </a:p>
        </p:txBody>
      </p:sp>
      <p:sp>
        <p:nvSpPr>
          <p:cNvPr id="17" name="Text 15"/>
          <p:cNvSpPr/>
          <p:nvPr/>
        </p:nvSpPr>
        <p:spPr>
          <a:xfrm>
            <a:off x="274320" y="170078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8" name="Text 16"/>
          <p:cNvSpPr/>
          <p:nvPr/>
        </p:nvSpPr>
        <p:spPr>
          <a:xfrm>
            <a:off x="594360" y="1719072"/>
            <a:ext cx="3767328" cy="25603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Carte professionnelle VMDTR</a:t>
            </a:r>
            <a:endParaRPr lang="en-US" sz="950" dirty="0"/>
          </a:p>
        </p:txBody>
      </p:sp>
      <p:sp>
        <p:nvSpPr>
          <p:cNvPr id="19" name="Shape 17"/>
          <p:cNvSpPr/>
          <p:nvPr/>
        </p:nvSpPr>
        <p:spPr>
          <a:xfrm>
            <a:off x="274320" y="2048256"/>
            <a:ext cx="4160520" cy="310896"/>
          </a:xfrm>
          <a:prstGeom prst="rect">
            <a:avLst/>
          </a:prstGeom>
          <a:solidFill>
            <a:srgbClr val="E8F1FA"/>
          </a:solidFill>
          <a:ln w="6350">
            <a:solidFill>
              <a:srgbClr val="D0DCE8"/>
            </a:solidFill>
            <a:prstDash val="solid"/>
          </a:ln>
        </p:spPr>
        <p:txBody>
          <a:bodyPr/>
          <a:lstStyle/>
          <a:p>
            <a:endParaRPr lang="fr-FR"/>
          </a:p>
        </p:txBody>
      </p:sp>
      <p:sp>
        <p:nvSpPr>
          <p:cNvPr id="20" name="Shape 18"/>
          <p:cNvSpPr/>
          <p:nvPr/>
        </p:nvSpPr>
        <p:spPr>
          <a:xfrm>
            <a:off x="274320" y="2048256"/>
            <a:ext cx="256032" cy="310896"/>
          </a:xfrm>
          <a:prstGeom prst="rect">
            <a:avLst/>
          </a:prstGeom>
          <a:solidFill>
            <a:srgbClr val="2860A8"/>
          </a:solidFill>
          <a:ln w="12700">
            <a:solidFill>
              <a:srgbClr val="2860A8"/>
            </a:solidFill>
            <a:prstDash val="solid"/>
          </a:ln>
        </p:spPr>
        <p:txBody>
          <a:bodyPr/>
          <a:lstStyle/>
          <a:p>
            <a:endParaRPr lang="fr-FR"/>
          </a:p>
        </p:txBody>
      </p:sp>
      <p:sp>
        <p:nvSpPr>
          <p:cNvPr id="21" name="Text 19"/>
          <p:cNvSpPr/>
          <p:nvPr/>
        </p:nvSpPr>
        <p:spPr>
          <a:xfrm>
            <a:off x="274320" y="204825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2" name="Text 20"/>
          <p:cNvSpPr/>
          <p:nvPr/>
        </p:nvSpPr>
        <p:spPr>
          <a:xfrm>
            <a:off x="594360" y="2066544"/>
            <a:ext cx="3767328" cy="25603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Attestation d'assurance RC Circulation (titre onéreux)</a:t>
            </a:r>
            <a:endParaRPr lang="en-US" sz="950" dirty="0"/>
          </a:p>
        </p:txBody>
      </p:sp>
      <p:sp>
        <p:nvSpPr>
          <p:cNvPr id="23" name="Shape 21"/>
          <p:cNvSpPr/>
          <p:nvPr/>
        </p:nvSpPr>
        <p:spPr>
          <a:xfrm>
            <a:off x="274320" y="2395728"/>
            <a:ext cx="4160520" cy="310896"/>
          </a:xfrm>
          <a:prstGeom prst="rect">
            <a:avLst/>
          </a:prstGeom>
          <a:solidFill>
            <a:srgbClr val="FFFFFF"/>
          </a:solidFill>
          <a:ln w="6350">
            <a:solidFill>
              <a:srgbClr val="D0DCE8"/>
            </a:solidFill>
            <a:prstDash val="solid"/>
          </a:ln>
        </p:spPr>
        <p:txBody>
          <a:bodyPr/>
          <a:lstStyle/>
          <a:p>
            <a:endParaRPr lang="fr-FR"/>
          </a:p>
        </p:txBody>
      </p:sp>
      <p:sp>
        <p:nvSpPr>
          <p:cNvPr id="24" name="Shape 22"/>
          <p:cNvSpPr/>
          <p:nvPr/>
        </p:nvSpPr>
        <p:spPr>
          <a:xfrm>
            <a:off x="274320" y="2395728"/>
            <a:ext cx="256032" cy="310896"/>
          </a:xfrm>
          <a:prstGeom prst="rect">
            <a:avLst/>
          </a:prstGeom>
          <a:solidFill>
            <a:srgbClr val="2860A8"/>
          </a:solidFill>
          <a:ln w="12700">
            <a:solidFill>
              <a:srgbClr val="2860A8"/>
            </a:solidFill>
            <a:prstDash val="solid"/>
          </a:ln>
        </p:spPr>
        <p:txBody>
          <a:bodyPr/>
          <a:lstStyle/>
          <a:p>
            <a:endParaRPr lang="fr-FR"/>
          </a:p>
        </p:txBody>
      </p:sp>
      <p:sp>
        <p:nvSpPr>
          <p:cNvPr id="25" name="Text 23"/>
          <p:cNvSpPr/>
          <p:nvPr/>
        </p:nvSpPr>
        <p:spPr>
          <a:xfrm>
            <a:off x="274320" y="2395728"/>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6" name="Text 24"/>
          <p:cNvSpPr/>
          <p:nvPr/>
        </p:nvSpPr>
        <p:spPr>
          <a:xfrm>
            <a:off x="594360" y="2414016"/>
            <a:ext cx="3767328" cy="25603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Attestation RC Professionnelle (exploitation)</a:t>
            </a:r>
            <a:endParaRPr lang="en-US" sz="950" dirty="0"/>
          </a:p>
        </p:txBody>
      </p:sp>
      <p:sp>
        <p:nvSpPr>
          <p:cNvPr id="27" name="Shape 25"/>
          <p:cNvSpPr/>
          <p:nvPr/>
        </p:nvSpPr>
        <p:spPr>
          <a:xfrm>
            <a:off x="274320" y="2743200"/>
            <a:ext cx="4160520" cy="310896"/>
          </a:xfrm>
          <a:prstGeom prst="rect">
            <a:avLst/>
          </a:prstGeom>
          <a:solidFill>
            <a:srgbClr val="E8F1FA"/>
          </a:solidFill>
          <a:ln w="6350">
            <a:solidFill>
              <a:srgbClr val="D0DCE8"/>
            </a:solidFill>
            <a:prstDash val="solid"/>
          </a:ln>
        </p:spPr>
        <p:txBody>
          <a:bodyPr/>
          <a:lstStyle/>
          <a:p>
            <a:endParaRPr lang="fr-FR"/>
          </a:p>
        </p:txBody>
      </p:sp>
      <p:sp>
        <p:nvSpPr>
          <p:cNvPr id="28" name="Shape 26"/>
          <p:cNvSpPr/>
          <p:nvPr/>
        </p:nvSpPr>
        <p:spPr>
          <a:xfrm>
            <a:off x="274320" y="2743200"/>
            <a:ext cx="256032" cy="310896"/>
          </a:xfrm>
          <a:prstGeom prst="rect">
            <a:avLst/>
          </a:prstGeom>
          <a:solidFill>
            <a:srgbClr val="2860A8"/>
          </a:solidFill>
          <a:ln w="12700">
            <a:solidFill>
              <a:srgbClr val="2860A8"/>
            </a:solidFill>
            <a:prstDash val="solid"/>
          </a:ln>
        </p:spPr>
        <p:txBody>
          <a:bodyPr/>
          <a:lstStyle/>
          <a:p>
            <a:endParaRPr lang="fr-FR"/>
          </a:p>
        </p:txBody>
      </p:sp>
      <p:sp>
        <p:nvSpPr>
          <p:cNvPr id="29" name="Text 27"/>
          <p:cNvSpPr/>
          <p:nvPr/>
        </p:nvSpPr>
        <p:spPr>
          <a:xfrm>
            <a:off x="274320" y="2743200"/>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0" name="Text 28"/>
          <p:cNvSpPr/>
          <p:nvPr/>
        </p:nvSpPr>
        <p:spPr>
          <a:xfrm>
            <a:off x="594360" y="2761488"/>
            <a:ext cx="3767328" cy="25603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Billet individuel (trace de la réservation préalable)</a:t>
            </a:r>
            <a:endParaRPr lang="en-US" sz="950" dirty="0"/>
          </a:p>
        </p:txBody>
      </p:sp>
      <p:sp>
        <p:nvSpPr>
          <p:cNvPr id="31" name="Shape 29"/>
          <p:cNvSpPr/>
          <p:nvPr/>
        </p:nvSpPr>
        <p:spPr>
          <a:xfrm>
            <a:off x="274320" y="3090672"/>
            <a:ext cx="4160520" cy="310896"/>
          </a:xfrm>
          <a:prstGeom prst="rect">
            <a:avLst/>
          </a:prstGeom>
          <a:solidFill>
            <a:srgbClr val="FFFFFF"/>
          </a:solidFill>
          <a:ln w="6350">
            <a:solidFill>
              <a:srgbClr val="D0DCE8"/>
            </a:solidFill>
            <a:prstDash val="solid"/>
          </a:ln>
        </p:spPr>
        <p:txBody>
          <a:bodyPr/>
          <a:lstStyle/>
          <a:p>
            <a:endParaRPr lang="fr-FR"/>
          </a:p>
        </p:txBody>
      </p:sp>
      <p:sp>
        <p:nvSpPr>
          <p:cNvPr id="32" name="Shape 30"/>
          <p:cNvSpPr/>
          <p:nvPr/>
        </p:nvSpPr>
        <p:spPr>
          <a:xfrm>
            <a:off x="274320" y="3090672"/>
            <a:ext cx="256032" cy="310896"/>
          </a:xfrm>
          <a:prstGeom prst="rect">
            <a:avLst/>
          </a:prstGeom>
          <a:solidFill>
            <a:srgbClr val="2860A8"/>
          </a:solidFill>
          <a:ln w="12700">
            <a:solidFill>
              <a:srgbClr val="2860A8"/>
            </a:solidFill>
            <a:prstDash val="solid"/>
          </a:ln>
        </p:spPr>
        <p:txBody>
          <a:bodyPr/>
          <a:lstStyle/>
          <a:p>
            <a:endParaRPr lang="fr-FR"/>
          </a:p>
        </p:txBody>
      </p:sp>
      <p:sp>
        <p:nvSpPr>
          <p:cNvPr id="33" name="Text 31"/>
          <p:cNvSpPr/>
          <p:nvPr/>
        </p:nvSpPr>
        <p:spPr>
          <a:xfrm>
            <a:off x="274320" y="309067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4" name="Text 32"/>
          <p:cNvSpPr/>
          <p:nvPr/>
        </p:nvSpPr>
        <p:spPr>
          <a:xfrm>
            <a:off x="594360" y="3108960"/>
            <a:ext cx="3767328" cy="25603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Carte grise du véhicule</a:t>
            </a:r>
            <a:endParaRPr lang="en-US" sz="950" dirty="0"/>
          </a:p>
        </p:txBody>
      </p:sp>
      <p:sp>
        <p:nvSpPr>
          <p:cNvPr id="35" name="Shape 33"/>
          <p:cNvSpPr/>
          <p:nvPr/>
        </p:nvSpPr>
        <p:spPr>
          <a:xfrm>
            <a:off x="274320" y="3438144"/>
            <a:ext cx="4160520" cy="310896"/>
          </a:xfrm>
          <a:prstGeom prst="rect">
            <a:avLst/>
          </a:prstGeom>
          <a:solidFill>
            <a:srgbClr val="E8F1FA"/>
          </a:solidFill>
          <a:ln w="6350">
            <a:solidFill>
              <a:srgbClr val="D0DCE8"/>
            </a:solidFill>
            <a:prstDash val="solid"/>
          </a:ln>
        </p:spPr>
        <p:txBody>
          <a:bodyPr/>
          <a:lstStyle/>
          <a:p>
            <a:endParaRPr lang="fr-FR"/>
          </a:p>
        </p:txBody>
      </p:sp>
      <p:sp>
        <p:nvSpPr>
          <p:cNvPr id="36" name="Shape 34"/>
          <p:cNvSpPr/>
          <p:nvPr/>
        </p:nvSpPr>
        <p:spPr>
          <a:xfrm>
            <a:off x="274320" y="3438144"/>
            <a:ext cx="256032" cy="310896"/>
          </a:xfrm>
          <a:prstGeom prst="rect">
            <a:avLst/>
          </a:prstGeom>
          <a:solidFill>
            <a:srgbClr val="2860A8"/>
          </a:solidFill>
          <a:ln w="12700">
            <a:solidFill>
              <a:srgbClr val="2860A8"/>
            </a:solidFill>
            <a:prstDash val="solid"/>
          </a:ln>
        </p:spPr>
        <p:txBody>
          <a:bodyPr/>
          <a:lstStyle/>
          <a:p>
            <a:endParaRPr lang="fr-FR"/>
          </a:p>
        </p:txBody>
      </p:sp>
      <p:sp>
        <p:nvSpPr>
          <p:cNvPr id="37" name="Text 35"/>
          <p:cNvSpPr/>
          <p:nvPr/>
        </p:nvSpPr>
        <p:spPr>
          <a:xfrm>
            <a:off x="274320" y="343814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8" name="Text 36"/>
          <p:cNvSpPr/>
          <p:nvPr/>
        </p:nvSpPr>
        <p:spPr>
          <a:xfrm>
            <a:off x="594360" y="3456432"/>
            <a:ext cx="3767328" cy="25603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Attestation d'entretien du véhicule</a:t>
            </a:r>
            <a:endParaRPr lang="en-US" sz="950" dirty="0"/>
          </a:p>
        </p:txBody>
      </p:sp>
      <p:sp>
        <p:nvSpPr>
          <p:cNvPr id="39" name="Shape 37"/>
          <p:cNvSpPr/>
          <p:nvPr/>
        </p:nvSpPr>
        <p:spPr>
          <a:xfrm>
            <a:off x="274320" y="3785616"/>
            <a:ext cx="4160520" cy="310896"/>
          </a:xfrm>
          <a:prstGeom prst="rect">
            <a:avLst/>
          </a:prstGeom>
          <a:solidFill>
            <a:srgbClr val="FFFFFF"/>
          </a:solidFill>
          <a:ln w="6350">
            <a:solidFill>
              <a:srgbClr val="D0DCE8"/>
            </a:solidFill>
            <a:prstDash val="solid"/>
          </a:ln>
        </p:spPr>
        <p:txBody>
          <a:bodyPr/>
          <a:lstStyle/>
          <a:p>
            <a:endParaRPr lang="fr-FR"/>
          </a:p>
        </p:txBody>
      </p:sp>
      <p:sp>
        <p:nvSpPr>
          <p:cNvPr id="40" name="Shape 38"/>
          <p:cNvSpPr/>
          <p:nvPr/>
        </p:nvSpPr>
        <p:spPr>
          <a:xfrm>
            <a:off x="274320" y="3785616"/>
            <a:ext cx="256032" cy="310896"/>
          </a:xfrm>
          <a:prstGeom prst="rect">
            <a:avLst/>
          </a:prstGeom>
          <a:solidFill>
            <a:srgbClr val="2860A8"/>
          </a:solidFill>
          <a:ln w="12700">
            <a:solidFill>
              <a:srgbClr val="2860A8"/>
            </a:solidFill>
            <a:prstDash val="solid"/>
          </a:ln>
        </p:spPr>
        <p:txBody>
          <a:bodyPr/>
          <a:lstStyle/>
          <a:p>
            <a:endParaRPr lang="fr-FR"/>
          </a:p>
        </p:txBody>
      </p:sp>
      <p:sp>
        <p:nvSpPr>
          <p:cNvPr id="41" name="Text 39"/>
          <p:cNvSpPr/>
          <p:nvPr/>
        </p:nvSpPr>
        <p:spPr>
          <a:xfrm>
            <a:off x="274320" y="378561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2" name="Text 40"/>
          <p:cNvSpPr/>
          <p:nvPr/>
        </p:nvSpPr>
        <p:spPr>
          <a:xfrm>
            <a:off x="594360" y="3803904"/>
            <a:ext cx="3767328" cy="256032"/>
          </a:xfrm>
          <a:prstGeom prst="rect">
            <a:avLst/>
          </a:prstGeom>
          <a:noFill/>
          <a:ln/>
        </p:spPr>
        <p:txBody>
          <a:bodyPr wrap="square" rtlCol="0" anchor="ctr"/>
          <a:lstStyle/>
          <a:p>
            <a:pPr marL="0" indent="0">
              <a:buNone/>
            </a:pPr>
            <a:r>
              <a:rPr lang="en-US" sz="950" dirty="0">
                <a:solidFill>
                  <a:srgbClr val="3A3A3A"/>
                </a:solidFill>
                <a:latin typeface="Calibri" pitchFamily="34" charset="0"/>
                <a:ea typeface="Calibri" pitchFamily="34" charset="-122"/>
                <a:cs typeface="Calibri" pitchFamily="34" charset="-120"/>
              </a:rPr>
              <a:t>Attestation médicale valide</a:t>
            </a:r>
            <a:endParaRPr lang="en-US" sz="950" dirty="0"/>
          </a:p>
        </p:txBody>
      </p:sp>
      <p:sp>
        <p:nvSpPr>
          <p:cNvPr id="43" name="Shape 41"/>
          <p:cNvSpPr/>
          <p:nvPr/>
        </p:nvSpPr>
        <p:spPr>
          <a:xfrm>
            <a:off x="4709160" y="960120"/>
            <a:ext cx="4160520" cy="320040"/>
          </a:xfrm>
          <a:prstGeom prst="rect">
            <a:avLst/>
          </a:prstGeom>
          <a:solidFill>
            <a:srgbClr val="1A3A5C"/>
          </a:solidFill>
          <a:ln w="12700">
            <a:solidFill>
              <a:srgbClr val="1A3A5C"/>
            </a:solidFill>
            <a:prstDash val="solid"/>
          </a:ln>
        </p:spPr>
        <p:txBody>
          <a:bodyPr/>
          <a:lstStyle/>
          <a:p>
            <a:endParaRPr lang="fr-FR"/>
          </a:p>
        </p:txBody>
      </p:sp>
      <p:sp>
        <p:nvSpPr>
          <p:cNvPr id="44" name="Text 42"/>
          <p:cNvSpPr/>
          <p:nvPr/>
        </p:nvSpPr>
        <p:spPr>
          <a:xfrm>
            <a:off x="4709160" y="960120"/>
            <a:ext cx="416052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TABLEAU COMPARATIF — 3 PROFESSIONS T3P</a:t>
            </a:r>
            <a:endParaRPr lang="en-US" sz="950" dirty="0"/>
          </a:p>
        </p:txBody>
      </p:sp>
      <p:graphicFrame>
        <p:nvGraphicFramePr>
          <p:cNvPr id="45" name="Table 0"/>
          <p:cNvGraphicFramePr>
            <a:graphicFrameLocks noGrp="1"/>
          </p:cNvGraphicFramePr>
          <p:nvPr>
            <p:extLst>
              <p:ext uri="{D42A27DB-BD31-4B8C-83A1-F6EECF244321}">
                <p14:modId xmlns:p14="http://schemas.microsoft.com/office/powerpoint/2010/main" val="1601336232"/>
              </p:ext>
            </p:extLst>
          </p:nvPr>
        </p:nvGraphicFramePr>
        <p:xfrm>
          <a:off x="4709160" y="1353312"/>
          <a:ext cx="4160520" cy="3154679"/>
        </p:xfrm>
        <a:graphic>
          <a:graphicData uri="http://schemas.openxmlformats.org/drawingml/2006/table">
            <a:tbl>
              <a:tblPr/>
              <a:tblGrid>
                <a:gridCol w="1234440">
                  <a:extLst>
                    <a:ext uri="{9D8B030D-6E8A-4147-A177-3AD203B41FA5}">
                      <a16:colId xmlns:a16="http://schemas.microsoft.com/office/drawing/2014/main" val="20000"/>
                    </a:ext>
                  </a:extLst>
                </a:gridCol>
                <a:gridCol w="978408">
                  <a:extLst>
                    <a:ext uri="{9D8B030D-6E8A-4147-A177-3AD203B41FA5}">
                      <a16:colId xmlns:a16="http://schemas.microsoft.com/office/drawing/2014/main" val="20001"/>
                    </a:ext>
                  </a:extLst>
                </a:gridCol>
                <a:gridCol w="978408">
                  <a:extLst>
                    <a:ext uri="{9D8B030D-6E8A-4147-A177-3AD203B41FA5}">
                      <a16:colId xmlns:a16="http://schemas.microsoft.com/office/drawing/2014/main" val="20002"/>
                    </a:ext>
                  </a:extLst>
                </a:gridCol>
                <a:gridCol w="969264">
                  <a:extLst>
                    <a:ext uri="{9D8B030D-6E8A-4147-A177-3AD203B41FA5}">
                      <a16:colId xmlns:a16="http://schemas.microsoft.com/office/drawing/2014/main" val="20003"/>
                    </a:ext>
                  </a:extLst>
                </a:gridCol>
              </a:tblGrid>
              <a:tr h="286789">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Critère</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 TAXI</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2860A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 VTC</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 VMDTR</a:t>
                      </a:r>
                      <a:endParaRPr lang="en-US" sz="8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6B7A8D"/>
                    </a:solidFill>
                  </a:tcPr>
                </a:tc>
                <a:extLst>
                  <a:ext uri="{0D108BD9-81ED-4DB2-BD59-A6C34878D82A}">
                    <a16:rowId xmlns:a16="http://schemas.microsoft.com/office/drawing/2014/main" val="10000"/>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Permis requis</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Permis B</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Permis B</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Permis A (3 ans)</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Maraude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Zone seule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Interdite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Interdite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Passagers max</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4 à 8</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4 à 8</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1 seul</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Âge véhicule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&lt; 10 ans</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&lt; 7 ans</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&lt; 5 ans</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4"/>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Puissance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Variable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Min 84 kW</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Min 40 kW</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PSC1</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Obligatoire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Facultatif</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Facultatif</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6"/>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Taximètre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Obligatoire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Non</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Non</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Registre DRIEAT</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Non</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Obligatoire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Non</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8"/>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ADS</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Obligatoire</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Non</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 Non</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6789">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Formation 14h/5 ans</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880" dirty="0">
                          <a:solidFill>
                            <a:srgbClr val="3A3A3A"/>
                          </a:solidFill>
                          <a:latin typeface="Calibri" pitchFamily="34" charset="0"/>
                          <a:ea typeface="Calibri" pitchFamily="34" charset="-122"/>
                          <a:cs typeface="Calibri" pitchFamily="34" charset="-120"/>
                        </a:rPr>
                        <a:t>✔</a:t>
                      </a:r>
                      <a:endParaRPr lang="en-US" sz="88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10"/>
                  </a:ext>
                </a:extLst>
              </a:tr>
            </a:tbl>
          </a:graphicData>
        </a:graphic>
      </p:graphicFrame>
      <p:sp>
        <p:nvSpPr>
          <p:cNvPr id="46" name="Rectangle 4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47" name="Rectangle 4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7. Les organismes autour du T3P et centres de formation</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Préfecture, DRIEAT, CMA, Ministère — Centres agréés — Fin Partie 1</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40/88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19.png"/>
          <p:cNvPicPr>
            <a:picLocks noChangeAspect="1"/>
          </p:cNvPicPr>
          <p:nvPr/>
        </p:nvPicPr>
        <p:blipFill>
          <a:blip r:embed="rId3"/>
          <a:stretch>
            <a:fillRect/>
          </a:stretch>
        </p:blipFill>
        <p:spPr>
          <a:xfrm>
            <a:off x="3749805" y="2820924"/>
            <a:ext cx="1644390" cy="1737360"/>
          </a:xfrm>
          <a:prstGeom prst="rect">
            <a:avLst/>
          </a:prstGeom>
          <a:ln w="9525">
            <a:solidFill>
              <a:srgbClr val="00B4D8"/>
            </a:solid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organismes gravitant autour du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Organismes administratifs, consulaires, représentatifs et de contrôle</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33/88</a:t>
            </a:r>
            <a:endParaRPr lang="en-US" sz="800" dirty="0"/>
          </a:p>
        </p:txBody>
      </p:sp>
      <p:sp>
        <p:nvSpPr>
          <p:cNvPr id="9" name="Text 7"/>
          <p:cNvSpPr/>
          <p:nvPr/>
        </p:nvSpPr>
        <p:spPr>
          <a:xfrm>
            <a:off x="274320" y="1078992"/>
            <a:ext cx="8595360" cy="347472"/>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Le secteur T3P est encadré par plusieurs institutions complémentaires. À l'examen, il faut savoir quel organisme est responsable de quelle mission.</a:t>
            </a:r>
            <a:endParaRPr lang="en-US" sz="1200" dirty="0"/>
          </a:p>
        </p:txBody>
      </p:sp>
      <p:sp>
        <p:nvSpPr>
          <p:cNvPr id="10" name="Shape 8"/>
          <p:cNvSpPr/>
          <p:nvPr/>
        </p:nvSpPr>
        <p:spPr>
          <a:xfrm>
            <a:off x="274320" y="1481328"/>
            <a:ext cx="4315968" cy="685800"/>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481328"/>
            <a:ext cx="4315968" cy="237744"/>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47472" y="1481328"/>
            <a:ext cx="420624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PRÉFECTURE / PRÉFET</a:t>
            </a:r>
            <a:endParaRPr lang="en-US" sz="900" dirty="0"/>
          </a:p>
        </p:txBody>
      </p:sp>
      <p:sp>
        <p:nvSpPr>
          <p:cNvPr id="13" name="Text 11"/>
          <p:cNvSpPr/>
          <p:nvPr/>
        </p:nvSpPr>
        <p:spPr>
          <a:xfrm>
            <a:off x="365760" y="1737360"/>
            <a:ext cx="4178808" cy="786384"/>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 Application et contrôle des lois concernant les activités T3P</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Délivre et retire les cartes professionnelles T3P</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Agrée les centres de formation pour une durée de 5 ans renouvelable</a:t>
            </a:r>
            <a:endParaRPr lang="en-US" sz="850" dirty="0"/>
          </a:p>
        </p:txBody>
      </p:sp>
      <p:sp>
        <p:nvSpPr>
          <p:cNvPr id="14" name="Shape 12"/>
          <p:cNvSpPr/>
          <p:nvPr/>
        </p:nvSpPr>
        <p:spPr>
          <a:xfrm>
            <a:off x="4681728" y="1481328"/>
            <a:ext cx="4315968" cy="685800"/>
          </a:xfrm>
          <a:prstGeom prst="rect">
            <a:avLst/>
          </a:prstGeom>
          <a:solidFill>
            <a:srgbClr val="E8F1FA"/>
          </a:solidFill>
          <a:ln w="6350">
            <a:solidFill>
              <a:srgbClr val="D0DCE8"/>
            </a:solidFill>
            <a:prstDash val="solid"/>
          </a:ln>
        </p:spPr>
        <p:txBody>
          <a:bodyPr/>
          <a:lstStyle/>
          <a:p>
            <a:endParaRPr lang="fr-FR"/>
          </a:p>
        </p:txBody>
      </p:sp>
      <p:sp>
        <p:nvSpPr>
          <p:cNvPr id="15" name="Shape 13"/>
          <p:cNvSpPr/>
          <p:nvPr/>
        </p:nvSpPr>
        <p:spPr>
          <a:xfrm>
            <a:off x="4681728" y="1481328"/>
            <a:ext cx="4315968" cy="237744"/>
          </a:xfrm>
          <a:prstGeom prst="rect">
            <a:avLst/>
          </a:prstGeom>
          <a:solidFill>
            <a:srgbClr val="F4A227"/>
          </a:solidFill>
          <a:ln w="12700">
            <a:solidFill>
              <a:srgbClr val="F4A227"/>
            </a:solidFill>
            <a:prstDash val="solid"/>
          </a:ln>
        </p:spPr>
        <p:txBody>
          <a:bodyPr/>
          <a:lstStyle/>
          <a:p>
            <a:endParaRPr lang="fr-FR"/>
          </a:p>
        </p:txBody>
      </p:sp>
      <p:sp>
        <p:nvSpPr>
          <p:cNvPr id="16" name="Text 14"/>
          <p:cNvSpPr/>
          <p:nvPr/>
        </p:nvSpPr>
        <p:spPr>
          <a:xfrm>
            <a:off x="4754880" y="1481328"/>
            <a:ext cx="420624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MINISTÈRE DE LA TRANSITION ÉCOLOGIQUE ET SOLIDAIRE</a:t>
            </a:r>
            <a:endParaRPr lang="en-US" sz="900" dirty="0"/>
          </a:p>
        </p:txBody>
      </p:sp>
      <p:sp>
        <p:nvSpPr>
          <p:cNvPr id="17" name="Text 15"/>
          <p:cNvSpPr/>
          <p:nvPr/>
        </p:nvSpPr>
        <p:spPr>
          <a:xfrm>
            <a:off x="4773168" y="1737360"/>
            <a:ext cx="4178808" cy="41148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 Prépare et suit la politique de l'État à l'égard des taxis et des VTC</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Répertorie la réglementation liée aux professions T3P</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Inscription au registre des VTC</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Demande de vignette VTC</a:t>
            </a:r>
            <a:endParaRPr lang="en-US" sz="850" dirty="0"/>
          </a:p>
        </p:txBody>
      </p:sp>
      <p:sp>
        <p:nvSpPr>
          <p:cNvPr id="18" name="Shape 16"/>
          <p:cNvSpPr/>
          <p:nvPr/>
        </p:nvSpPr>
        <p:spPr>
          <a:xfrm>
            <a:off x="274320" y="2642616"/>
            <a:ext cx="4315968" cy="283464"/>
          </a:xfrm>
          <a:prstGeom prst="rect">
            <a:avLst/>
          </a:prstGeom>
          <a:solidFill>
            <a:srgbClr val="E8F1FA"/>
          </a:solidFill>
          <a:ln w="6350">
            <a:solidFill>
              <a:srgbClr val="D0DCE8"/>
            </a:solidFill>
            <a:prstDash val="solid"/>
          </a:ln>
        </p:spPr>
        <p:txBody>
          <a:bodyPr/>
          <a:lstStyle/>
          <a:p>
            <a:endParaRPr lang="fr-FR"/>
          </a:p>
        </p:txBody>
      </p:sp>
      <p:sp>
        <p:nvSpPr>
          <p:cNvPr id="19" name="Shape 17"/>
          <p:cNvSpPr/>
          <p:nvPr/>
        </p:nvSpPr>
        <p:spPr>
          <a:xfrm>
            <a:off x="315176" y="2688336"/>
            <a:ext cx="4315968" cy="237744"/>
          </a:xfrm>
          <a:prstGeom prst="rect">
            <a:avLst/>
          </a:prstGeom>
          <a:solidFill>
            <a:srgbClr val="2860A8"/>
          </a:solidFill>
          <a:ln w="12700">
            <a:solidFill>
              <a:srgbClr val="2860A8"/>
            </a:solidFill>
            <a:prstDash val="solid"/>
          </a:ln>
        </p:spPr>
        <p:txBody>
          <a:bodyPr/>
          <a:lstStyle/>
          <a:p>
            <a:r>
              <a:rPr lang="en-US" sz="900" b="1" dirty="0">
                <a:solidFill>
                  <a:srgbClr val="FFFFFF"/>
                </a:solidFill>
                <a:latin typeface="Calibri" pitchFamily="34" charset="0"/>
                <a:ea typeface="Calibri" pitchFamily="34" charset="-122"/>
                <a:cs typeface="Calibri" pitchFamily="34" charset="-120"/>
              </a:rPr>
              <a:t>DRIEAT (</a:t>
            </a:r>
            <a:r>
              <a:rPr lang="en-US" sz="900" b="1" dirty="0" err="1">
                <a:solidFill>
                  <a:srgbClr val="FFFFFF"/>
                </a:solidFill>
                <a:latin typeface="Calibri" pitchFamily="34" charset="0"/>
                <a:ea typeface="Calibri" pitchFamily="34" charset="-122"/>
                <a:cs typeface="Calibri" pitchFamily="34" charset="-120"/>
              </a:rPr>
              <a:t>île-de-France</a:t>
            </a:r>
            <a:r>
              <a:rPr lang="en-US" sz="900" b="1" dirty="0">
                <a:solidFill>
                  <a:srgbClr val="FFFFFF"/>
                </a:solidFill>
                <a:latin typeface="Calibri" pitchFamily="34" charset="0"/>
                <a:ea typeface="Calibri" pitchFamily="34" charset="-122"/>
                <a:cs typeface="Calibri" pitchFamily="34" charset="-120"/>
              </a:rPr>
              <a:t>) / DREAL (</a:t>
            </a:r>
            <a:r>
              <a:rPr lang="en-US" sz="900" b="1" dirty="0" err="1">
                <a:solidFill>
                  <a:srgbClr val="FFFFFF"/>
                </a:solidFill>
                <a:latin typeface="Calibri" pitchFamily="34" charset="0"/>
                <a:ea typeface="Calibri" pitchFamily="34" charset="-122"/>
                <a:cs typeface="Calibri" pitchFamily="34" charset="-120"/>
              </a:rPr>
              <a:t>autres</a:t>
            </a:r>
            <a:r>
              <a:rPr lang="en-US" sz="900" b="1" dirty="0">
                <a:solidFill>
                  <a:srgbClr val="FFFFFF"/>
                </a:solidFill>
                <a:latin typeface="Calibri" pitchFamily="34" charset="0"/>
                <a:ea typeface="Calibri" pitchFamily="34" charset="-122"/>
                <a:cs typeface="Calibri" pitchFamily="34" charset="-120"/>
              </a:rPr>
              <a:t> </a:t>
            </a:r>
            <a:r>
              <a:rPr lang="en-US" sz="900" b="1" dirty="0" err="1">
                <a:solidFill>
                  <a:srgbClr val="FFFFFF"/>
                </a:solidFill>
                <a:latin typeface="Calibri" pitchFamily="34" charset="0"/>
                <a:ea typeface="Calibri" pitchFamily="34" charset="-122"/>
                <a:cs typeface="Calibri" pitchFamily="34" charset="-120"/>
              </a:rPr>
              <a:t>régions</a:t>
            </a: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0" name="Text 18"/>
          <p:cNvSpPr/>
          <p:nvPr/>
        </p:nvSpPr>
        <p:spPr>
          <a:xfrm>
            <a:off x="347472" y="2240280"/>
            <a:ext cx="4206240" cy="237744"/>
          </a:xfrm>
          <a:prstGeom prst="rect">
            <a:avLst/>
          </a:prstGeom>
          <a:noFill/>
          <a:ln/>
        </p:spPr>
        <p:txBody>
          <a:bodyPr wrap="square" lIns="0" tIns="0" rIns="0" bIns="0" rtlCol="0" anchor="ctr"/>
          <a:lstStyle/>
          <a:p>
            <a:pPr marL="0" indent="0">
              <a:buNone/>
            </a:pPr>
            <a:endParaRPr lang="en-US" sz="900" dirty="0"/>
          </a:p>
        </p:txBody>
      </p:sp>
      <p:sp>
        <p:nvSpPr>
          <p:cNvPr id="21" name="Text 19"/>
          <p:cNvSpPr/>
          <p:nvPr/>
        </p:nvSpPr>
        <p:spPr>
          <a:xfrm>
            <a:off x="274320" y="3021476"/>
            <a:ext cx="4178808" cy="411480"/>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 Enregistrement des entreprises de transport public (personnes et marchandises)</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Délivrance des licences de transport de personnes et de marchandises</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Contrôle l'application de la réglementation</a:t>
            </a:r>
            <a:endParaRPr lang="en-US" sz="850" dirty="0"/>
          </a:p>
        </p:txBody>
      </p:sp>
      <p:sp>
        <p:nvSpPr>
          <p:cNvPr id="22" name="Shape 20"/>
          <p:cNvSpPr/>
          <p:nvPr/>
        </p:nvSpPr>
        <p:spPr>
          <a:xfrm>
            <a:off x="4672000" y="2779776"/>
            <a:ext cx="4315968" cy="771857"/>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4681728" y="2569464"/>
            <a:ext cx="4315968" cy="237744"/>
          </a:xfrm>
          <a:prstGeom prst="rect">
            <a:avLst/>
          </a:prstGeom>
          <a:solidFill>
            <a:srgbClr val="6B7A8D"/>
          </a:solidFill>
          <a:ln w="12700">
            <a:solidFill>
              <a:srgbClr val="6B7A8D"/>
            </a:solidFill>
            <a:prstDash val="solid"/>
          </a:ln>
        </p:spPr>
        <p:txBody>
          <a:bodyPr/>
          <a:lstStyle/>
          <a:p>
            <a:r>
              <a:rPr lang="en-US" sz="900" b="1" dirty="0">
                <a:solidFill>
                  <a:srgbClr val="FFFFFF"/>
                </a:solidFill>
                <a:latin typeface="Calibri" pitchFamily="34" charset="0"/>
                <a:ea typeface="Calibri" pitchFamily="34" charset="-122"/>
                <a:cs typeface="Calibri" pitchFamily="34" charset="-120"/>
              </a:rPr>
              <a:t>CHAMBRE DES MÉTIERS ET DE L'ARTISANAT (CMA)</a:t>
            </a:r>
            <a:endParaRPr lang="fr-FR" sz="900" dirty="0"/>
          </a:p>
        </p:txBody>
      </p:sp>
      <p:sp>
        <p:nvSpPr>
          <p:cNvPr id="24" name="Text 22"/>
          <p:cNvSpPr/>
          <p:nvPr/>
        </p:nvSpPr>
        <p:spPr>
          <a:xfrm>
            <a:off x="4736592" y="2340862"/>
            <a:ext cx="4206240" cy="137161"/>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5" name="Text 23"/>
          <p:cNvSpPr/>
          <p:nvPr/>
        </p:nvSpPr>
        <p:spPr>
          <a:xfrm>
            <a:off x="4773168" y="2779776"/>
            <a:ext cx="4178808" cy="128016"/>
          </a:xfrm>
          <a:prstGeom prst="rect">
            <a:avLst/>
          </a:prstGeom>
          <a:noFill/>
          <a:ln/>
        </p:spPr>
        <p:txBody>
          <a:bodyPr wrap="square" rtlCol="0" anchor="t"/>
          <a:lstStyle/>
          <a:p>
            <a:pPr marL="0" indent="0">
              <a:buNone/>
            </a:pPr>
            <a:r>
              <a:rPr lang="en-US" sz="850" dirty="0">
                <a:solidFill>
                  <a:srgbClr val="3A3A3A"/>
                </a:solidFill>
                <a:latin typeface="Calibri" pitchFamily="34" charset="0"/>
                <a:ea typeface="Calibri" pitchFamily="34" charset="-122"/>
                <a:cs typeface="Calibri" pitchFamily="34" charset="-120"/>
              </a:rPr>
              <a:t>• Centre d'examens TAXI / VTC / VMDTR</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Défenseur des intérêts généraux de l'artisanat et des chefs d'entreprise</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Gère l'organisation et la formation de l'apprentissage</a:t>
            </a:r>
            <a:endParaRPr lang="en-US" sz="850" dirty="0"/>
          </a:p>
          <a:p>
            <a:pPr marL="0" indent="0">
              <a:buNone/>
            </a:pPr>
            <a:r>
              <a:rPr lang="en-US" sz="850" dirty="0">
                <a:solidFill>
                  <a:srgbClr val="3A3A3A"/>
                </a:solidFill>
                <a:latin typeface="Calibri" pitchFamily="34" charset="0"/>
                <a:ea typeface="Calibri" pitchFamily="34" charset="-122"/>
                <a:cs typeface="Calibri" pitchFamily="34" charset="-120"/>
              </a:rPr>
              <a:t>• Tient le répertoire des métiers</a:t>
            </a:r>
            <a:endParaRPr lang="en-US" sz="850" dirty="0"/>
          </a:p>
        </p:txBody>
      </p:sp>
      <p:sp>
        <p:nvSpPr>
          <p:cNvPr id="26" name="Shape 24"/>
          <p:cNvSpPr/>
          <p:nvPr/>
        </p:nvSpPr>
        <p:spPr>
          <a:xfrm>
            <a:off x="236382" y="3867912"/>
            <a:ext cx="8751586" cy="685800"/>
          </a:xfrm>
          <a:prstGeom prst="rect">
            <a:avLst/>
          </a:prstGeom>
          <a:solidFill>
            <a:srgbClr val="E8F1FA"/>
          </a:solidFill>
          <a:ln w="6350">
            <a:solidFill>
              <a:srgbClr val="D0DCE8"/>
            </a:solidFill>
            <a:prstDash val="solid"/>
          </a:ln>
        </p:spPr>
        <p:txBody>
          <a:bodyPr/>
          <a:lstStyle/>
          <a:p>
            <a:r>
              <a:rPr lang="en-US" sz="1000" dirty="0">
                <a:solidFill>
                  <a:srgbClr val="3A3A3A"/>
                </a:solidFill>
                <a:latin typeface="Calibri" pitchFamily="34" charset="0"/>
                <a:ea typeface="Calibri" pitchFamily="34" charset="-122"/>
                <a:cs typeface="Calibri" pitchFamily="34" charset="-120"/>
              </a:rPr>
              <a:t>• </a:t>
            </a:r>
            <a:r>
              <a:rPr lang="en-US" sz="1000" dirty="0" err="1">
                <a:solidFill>
                  <a:srgbClr val="3A3A3A"/>
                </a:solidFill>
                <a:latin typeface="Calibri" pitchFamily="34" charset="0"/>
                <a:ea typeface="Calibri" pitchFamily="34" charset="-122"/>
                <a:cs typeface="Calibri" pitchFamily="34" charset="-120"/>
              </a:rPr>
              <a:t>Dispensent</a:t>
            </a:r>
            <a:r>
              <a:rPr lang="en-US" sz="1000" dirty="0">
                <a:solidFill>
                  <a:srgbClr val="3A3A3A"/>
                </a:solidFill>
                <a:latin typeface="Calibri" pitchFamily="34" charset="0"/>
                <a:ea typeface="Calibri" pitchFamily="34" charset="-122"/>
                <a:cs typeface="Calibri" pitchFamily="34" charset="-120"/>
              </a:rPr>
              <a:t> les </a:t>
            </a:r>
            <a:r>
              <a:rPr lang="en-US" sz="1000" dirty="0" err="1">
                <a:solidFill>
                  <a:srgbClr val="3A3A3A"/>
                </a:solidFill>
                <a:latin typeface="Calibri" pitchFamily="34" charset="0"/>
                <a:ea typeface="Calibri" pitchFamily="34" charset="-122"/>
                <a:cs typeface="Calibri" pitchFamily="34" charset="-120"/>
              </a:rPr>
              <a:t>cours</a:t>
            </a:r>
            <a:r>
              <a:rPr lang="en-US" sz="1000" dirty="0">
                <a:solidFill>
                  <a:srgbClr val="3A3A3A"/>
                </a:solidFill>
                <a:latin typeface="Calibri" pitchFamily="34" charset="0"/>
                <a:ea typeface="Calibri" pitchFamily="34" charset="-122"/>
                <a:cs typeface="Calibri" pitchFamily="34" charset="-120"/>
              </a:rPr>
              <a:t> pour la </a:t>
            </a:r>
            <a:r>
              <a:rPr lang="en-US" sz="1000" dirty="0" err="1">
                <a:solidFill>
                  <a:srgbClr val="3A3A3A"/>
                </a:solidFill>
                <a:latin typeface="Calibri" pitchFamily="34" charset="0"/>
                <a:ea typeface="Calibri" pitchFamily="34" charset="-122"/>
                <a:cs typeface="Calibri" pitchFamily="34" charset="-120"/>
              </a:rPr>
              <a:t>préparation</a:t>
            </a:r>
            <a:r>
              <a:rPr lang="en-US" sz="1000" dirty="0">
                <a:solidFill>
                  <a:srgbClr val="3A3A3A"/>
                </a:solidFill>
                <a:latin typeface="Calibri" pitchFamily="34" charset="0"/>
                <a:ea typeface="Calibri" pitchFamily="34" charset="-122"/>
                <a:cs typeface="Calibri" pitchFamily="34" charset="-120"/>
              </a:rPr>
              <a:t> à </a:t>
            </a:r>
            <a:r>
              <a:rPr lang="en-US" sz="1000" dirty="0" err="1">
                <a:solidFill>
                  <a:srgbClr val="3A3A3A"/>
                </a:solidFill>
                <a:latin typeface="Calibri" pitchFamily="34" charset="0"/>
                <a:ea typeface="Calibri" pitchFamily="34" charset="-122"/>
                <a:cs typeface="Calibri" pitchFamily="34" charset="-120"/>
              </a:rPr>
              <a:t>l'examen</a:t>
            </a:r>
            <a:r>
              <a:rPr lang="en-US" sz="1000" dirty="0">
                <a:solidFill>
                  <a:srgbClr val="3A3A3A"/>
                </a:solidFill>
                <a:latin typeface="Calibri" pitchFamily="34" charset="0"/>
                <a:ea typeface="Calibri" pitchFamily="34" charset="-122"/>
                <a:cs typeface="Calibri" pitchFamily="34" charset="-120"/>
              </a:rPr>
              <a:t> de chauffeur TAXI, VTC et VMDTR</a:t>
            </a:r>
            <a:endParaRPr lang="en-US" sz="1000" dirty="0"/>
          </a:p>
          <a:p>
            <a:r>
              <a:rPr lang="en-US" sz="1000" dirty="0">
                <a:solidFill>
                  <a:srgbClr val="3A3A3A"/>
                </a:solidFill>
                <a:latin typeface="Calibri" pitchFamily="34" charset="0"/>
                <a:ea typeface="Calibri" pitchFamily="34" charset="-122"/>
                <a:cs typeface="Calibri" pitchFamily="34" charset="-120"/>
              </a:rPr>
              <a:t>• </a:t>
            </a:r>
            <a:r>
              <a:rPr lang="en-US" sz="1000" dirty="0" err="1">
                <a:solidFill>
                  <a:srgbClr val="3A3A3A"/>
                </a:solidFill>
                <a:latin typeface="Calibri" pitchFamily="34" charset="0"/>
                <a:ea typeface="Calibri" pitchFamily="34" charset="-122"/>
                <a:cs typeface="Calibri" pitchFamily="34" charset="-120"/>
              </a:rPr>
              <a:t>Agréés</a:t>
            </a:r>
            <a:r>
              <a:rPr lang="en-US" sz="1000" dirty="0">
                <a:solidFill>
                  <a:srgbClr val="3A3A3A"/>
                </a:solidFill>
                <a:latin typeface="Calibri" pitchFamily="34" charset="0"/>
                <a:ea typeface="Calibri" pitchFamily="34" charset="-122"/>
                <a:cs typeface="Calibri" pitchFamily="34" charset="-120"/>
              </a:rPr>
              <a:t> par la </a:t>
            </a:r>
            <a:r>
              <a:rPr lang="en-US" sz="1000" dirty="0" err="1">
                <a:solidFill>
                  <a:srgbClr val="3A3A3A"/>
                </a:solidFill>
                <a:latin typeface="Calibri" pitchFamily="34" charset="0"/>
                <a:ea typeface="Calibri" pitchFamily="34" charset="-122"/>
                <a:cs typeface="Calibri" pitchFamily="34" charset="-120"/>
              </a:rPr>
              <a:t>préfecture</a:t>
            </a:r>
            <a:r>
              <a:rPr lang="en-US" sz="1000" dirty="0">
                <a:solidFill>
                  <a:srgbClr val="3A3A3A"/>
                </a:solidFill>
                <a:latin typeface="Calibri" pitchFamily="34" charset="0"/>
                <a:ea typeface="Calibri" pitchFamily="34" charset="-122"/>
                <a:cs typeface="Calibri" pitchFamily="34" charset="-120"/>
              </a:rPr>
              <a:t> pour </a:t>
            </a:r>
            <a:r>
              <a:rPr lang="en-US" sz="1000" dirty="0" err="1">
                <a:solidFill>
                  <a:srgbClr val="3A3A3A"/>
                </a:solidFill>
                <a:latin typeface="Calibri" pitchFamily="34" charset="0"/>
                <a:ea typeface="Calibri" pitchFamily="34" charset="-122"/>
                <a:cs typeface="Calibri" pitchFamily="34" charset="-120"/>
              </a:rPr>
              <a:t>une</a:t>
            </a:r>
            <a:r>
              <a:rPr lang="en-US" sz="1000" dirty="0">
                <a:solidFill>
                  <a:srgbClr val="3A3A3A"/>
                </a:solidFill>
                <a:latin typeface="Calibri" pitchFamily="34" charset="0"/>
                <a:ea typeface="Calibri" pitchFamily="34" charset="-122"/>
                <a:cs typeface="Calibri" pitchFamily="34" charset="-120"/>
              </a:rPr>
              <a:t> durée de 5 </a:t>
            </a:r>
            <a:r>
              <a:rPr lang="en-US" sz="1000" dirty="0" err="1">
                <a:solidFill>
                  <a:srgbClr val="3A3A3A"/>
                </a:solidFill>
                <a:latin typeface="Calibri" pitchFamily="34" charset="0"/>
                <a:ea typeface="Calibri" pitchFamily="34" charset="-122"/>
                <a:cs typeface="Calibri" pitchFamily="34" charset="-120"/>
              </a:rPr>
              <a:t>ans</a:t>
            </a:r>
            <a:r>
              <a:rPr lang="en-US" sz="1000" dirty="0">
                <a:solidFill>
                  <a:srgbClr val="3A3A3A"/>
                </a:solidFill>
                <a:latin typeface="Calibri" pitchFamily="34" charset="0"/>
                <a:ea typeface="Calibri" pitchFamily="34" charset="-122"/>
                <a:cs typeface="Calibri" pitchFamily="34" charset="-120"/>
              </a:rPr>
              <a:t> </a:t>
            </a:r>
            <a:r>
              <a:rPr lang="en-US" sz="1000" dirty="0" err="1">
                <a:solidFill>
                  <a:srgbClr val="3A3A3A"/>
                </a:solidFill>
                <a:latin typeface="Calibri" pitchFamily="34" charset="0"/>
                <a:ea typeface="Calibri" pitchFamily="34" charset="-122"/>
                <a:cs typeface="Calibri" pitchFamily="34" charset="-120"/>
              </a:rPr>
              <a:t>renouvelable</a:t>
            </a:r>
            <a:endParaRPr lang="en-US" sz="1000" dirty="0"/>
          </a:p>
          <a:p>
            <a:r>
              <a:rPr lang="en-US" sz="1000" dirty="0">
                <a:solidFill>
                  <a:srgbClr val="3A3A3A"/>
                </a:solidFill>
                <a:latin typeface="Calibri" pitchFamily="34" charset="0"/>
                <a:ea typeface="Calibri" pitchFamily="34" charset="-122"/>
                <a:cs typeface="Calibri" pitchFamily="34" charset="-120"/>
              </a:rPr>
              <a:t>• </a:t>
            </a:r>
            <a:r>
              <a:rPr lang="en-US" sz="1000" dirty="0" err="1">
                <a:solidFill>
                  <a:srgbClr val="3A3A3A"/>
                </a:solidFill>
                <a:latin typeface="Calibri" pitchFamily="34" charset="0"/>
                <a:ea typeface="Calibri" pitchFamily="34" charset="-122"/>
                <a:cs typeface="Calibri" pitchFamily="34" charset="-120"/>
              </a:rPr>
              <a:t>Proposent</a:t>
            </a:r>
            <a:r>
              <a:rPr lang="en-US" sz="1000" dirty="0">
                <a:solidFill>
                  <a:srgbClr val="3A3A3A"/>
                </a:solidFill>
                <a:latin typeface="Calibri" pitchFamily="34" charset="0"/>
                <a:ea typeface="Calibri" pitchFamily="34" charset="-122"/>
                <a:cs typeface="Calibri" pitchFamily="34" charset="-120"/>
              </a:rPr>
              <a:t> les formations continues </a:t>
            </a:r>
            <a:r>
              <a:rPr lang="en-US" sz="1000" dirty="0" err="1">
                <a:solidFill>
                  <a:srgbClr val="3A3A3A"/>
                </a:solidFill>
                <a:latin typeface="Calibri" pitchFamily="34" charset="0"/>
                <a:ea typeface="Calibri" pitchFamily="34" charset="-122"/>
                <a:cs typeface="Calibri" pitchFamily="34" charset="-120"/>
              </a:rPr>
              <a:t>obligatoires</a:t>
            </a:r>
            <a:r>
              <a:rPr lang="en-US" sz="1000" dirty="0">
                <a:solidFill>
                  <a:srgbClr val="3A3A3A"/>
                </a:solidFill>
                <a:latin typeface="Calibri" pitchFamily="34" charset="0"/>
                <a:ea typeface="Calibri" pitchFamily="34" charset="-122"/>
                <a:cs typeface="Calibri" pitchFamily="34" charset="-120"/>
              </a:rPr>
              <a:t> pour les chauffeurs TAXI, VTC et VMDTR</a:t>
            </a:r>
            <a:endParaRPr lang="en-US" sz="1000" dirty="0"/>
          </a:p>
        </p:txBody>
      </p:sp>
      <p:sp>
        <p:nvSpPr>
          <p:cNvPr id="27" name="Shape 25"/>
          <p:cNvSpPr/>
          <p:nvPr/>
        </p:nvSpPr>
        <p:spPr>
          <a:xfrm>
            <a:off x="228600" y="3547872"/>
            <a:ext cx="8759368" cy="274320"/>
          </a:xfrm>
          <a:prstGeom prst="rect">
            <a:avLst/>
          </a:prstGeom>
          <a:solidFill>
            <a:srgbClr val="00897B"/>
          </a:solidFill>
          <a:ln w="12700">
            <a:solidFill>
              <a:srgbClr val="00897B"/>
            </a:solidFill>
            <a:prstDash val="solid"/>
          </a:ln>
        </p:spPr>
        <p:txBody>
          <a:bodyPr/>
          <a:lstStyle/>
          <a:p>
            <a:r>
              <a:rPr lang="en-US" sz="1400" b="1" dirty="0">
                <a:solidFill>
                  <a:srgbClr val="FFFFFF"/>
                </a:solidFill>
                <a:latin typeface="Calibri" pitchFamily="34" charset="0"/>
                <a:ea typeface="Calibri" pitchFamily="34" charset="-122"/>
                <a:cs typeface="Calibri" pitchFamily="34" charset="-120"/>
              </a:rPr>
              <a:t>LES CENTRES DE FORMATION</a:t>
            </a:r>
            <a:endParaRPr lang="en-US" sz="1400" dirty="0"/>
          </a:p>
        </p:txBody>
      </p:sp>
      <p:sp>
        <p:nvSpPr>
          <p:cNvPr id="28" name="Text 26"/>
          <p:cNvSpPr/>
          <p:nvPr/>
        </p:nvSpPr>
        <p:spPr>
          <a:xfrm>
            <a:off x="347472" y="2999232"/>
            <a:ext cx="8485632" cy="237744"/>
          </a:xfrm>
          <a:prstGeom prst="rect">
            <a:avLst/>
          </a:prstGeom>
          <a:noFill/>
          <a:ln/>
        </p:spPr>
        <p:txBody>
          <a:bodyPr wrap="square" lIns="0" tIns="0" rIns="0" bIns="0" rtlCol="0" anchor="ctr"/>
          <a:lstStyle/>
          <a:p>
            <a:pPr marL="0" indent="0">
              <a:buNone/>
            </a:pPr>
            <a:endParaRPr lang="en-US" sz="900" dirty="0"/>
          </a:p>
        </p:txBody>
      </p:sp>
      <p:sp>
        <p:nvSpPr>
          <p:cNvPr id="29" name="Text 27"/>
          <p:cNvSpPr/>
          <p:nvPr/>
        </p:nvSpPr>
        <p:spPr>
          <a:xfrm>
            <a:off x="365760" y="3255264"/>
            <a:ext cx="8458200" cy="411480"/>
          </a:xfrm>
          <a:prstGeom prst="rect">
            <a:avLst/>
          </a:prstGeom>
          <a:noFill/>
          <a:ln/>
        </p:spPr>
        <p:txBody>
          <a:bodyPr wrap="square" rtlCol="0" anchor="t"/>
          <a:lstStyle/>
          <a:p>
            <a:pPr marL="0" indent="0">
              <a:buNone/>
            </a:pPr>
            <a:endParaRPr lang="en-US" sz="850" dirty="0"/>
          </a:p>
        </p:txBody>
      </p:sp>
      <p:sp>
        <p:nvSpPr>
          <p:cNvPr id="34" name="Rectangle 33"/>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5" name="Rectangle 3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9">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8. Les assurances obligatoires</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RC Circulation + RC Professionnelle — Loi Badinter — FGAO</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36/88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17.jpeg"/>
          <p:cNvPicPr>
            <a:picLocks noChangeAspect="1"/>
          </p:cNvPicPr>
          <p:nvPr/>
        </p:nvPicPr>
        <p:blipFill>
          <a:blip r:embed="rId3"/>
          <a:stretch>
            <a:fillRect/>
          </a:stretch>
        </p:blipFill>
        <p:spPr>
          <a:xfrm>
            <a:off x="3241987" y="2820924"/>
            <a:ext cx="2660025" cy="1737360"/>
          </a:xfrm>
          <a:prstGeom prst="rect">
            <a:avLst/>
          </a:prstGeom>
          <a:ln w="9525">
            <a:solidFill>
              <a:srgbClr val="00B4D8"/>
            </a:solid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2 assurances obligatoires pour tout conducteur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RC de circulation + RC professionnelle — Toutes deux obligatoires et cumulatives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37/88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Tout conducteur T3P doit impérativement souscrire DEUX contrats d'assurance distincts. Ces deux assurances couvrent des risques différents et sont complémentaires. Oublier de déclarer l'usage professionnel peut entraîner un refus total d'indemnisation.</a:t>
            </a:r>
            <a:endParaRPr lang="en-US" sz="1200" dirty="0"/>
          </a:p>
        </p:txBody>
      </p:sp>
      <p:sp>
        <p:nvSpPr>
          <p:cNvPr id="10" name="Shape 8"/>
          <p:cNvSpPr/>
          <p:nvPr/>
        </p:nvSpPr>
        <p:spPr>
          <a:xfrm>
            <a:off x="274320" y="1627632"/>
            <a:ext cx="4160520" cy="208483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274320" y="1627632"/>
            <a:ext cx="416052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65760" y="1627632"/>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1. RC CIRCULATION (à titre onéreux)</a:t>
            </a:r>
            <a:endParaRPr lang="en-US" sz="1050" dirty="0"/>
          </a:p>
        </p:txBody>
      </p:sp>
      <p:sp>
        <p:nvSpPr>
          <p:cNvPr id="13" name="Text 11"/>
          <p:cNvSpPr/>
          <p:nvPr/>
        </p:nvSpPr>
        <p:spPr>
          <a:xfrm>
            <a:off x="384048" y="1975104"/>
            <a:ext cx="3977640" cy="169164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Couvre les dommages CORPORELS, MATÉRIELS et IMMATÉRIELS causés à un client ou à un tiers AVEC L'IMPLICATION DU VÉHICULE.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Exemple : accident lors d'une course qui blesse le passager ou un autre usager de la route — le véhicule est impliqué.</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OBLIGATION : déclarer l'usage professionnel à l'assureur. Sans déclaration = fausse déclaration → risque de refus d'indemnisation total.</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Défaut d'assurance : DÉLIT — jusqu'à 3 750 € d'amende.</a:t>
            </a:r>
            <a:endParaRPr lang="en-US" sz="1000" dirty="0"/>
          </a:p>
        </p:txBody>
      </p:sp>
      <p:sp>
        <p:nvSpPr>
          <p:cNvPr id="14" name="Shape 12"/>
          <p:cNvSpPr/>
          <p:nvPr/>
        </p:nvSpPr>
        <p:spPr>
          <a:xfrm>
            <a:off x="4709160" y="1627632"/>
            <a:ext cx="4160520" cy="2084832"/>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4709160" y="1627632"/>
            <a:ext cx="4160520" cy="301752"/>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4800600" y="1627632"/>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2. RC PROFESSIONNELLE (d'exploitation)</a:t>
            </a:r>
            <a:endParaRPr lang="en-US" sz="1050" dirty="0"/>
          </a:p>
        </p:txBody>
      </p:sp>
      <p:sp>
        <p:nvSpPr>
          <p:cNvPr id="17" name="Text 15"/>
          <p:cNvSpPr/>
          <p:nvPr/>
        </p:nvSpPr>
        <p:spPr>
          <a:xfrm>
            <a:off x="4818888" y="1975104"/>
            <a:ext cx="3977640" cy="1691640"/>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Couvre les dommages CORPORELS, MATÉRIELS et IMMATÉRIELS causés à un client ou à un tiers EN DEHORS DE TOUTE IMPLICATION DU VÉHICULE.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Exemple : un client glisse en montant dans le véhicule. Ou ses bagages sont endommagés lors du chargement. Le véhicule n'est pas impliqué dans un accident.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Les 3 éléments de la responsabilité civile : FAUTE + DOMMAGE + LIEN DE CAUSALITÉ.</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Sans ces 3 éléments simultanément, la responsabilité ne peut pas être engagée.</a:t>
            </a:r>
            <a:endParaRPr lang="en-US" sz="1000" dirty="0"/>
          </a:p>
        </p:txBody>
      </p:sp>
      <p:sp>
        <p:nvSpPr>
          <p:cNvPr id="18" name="Shape 16"/>
          <p:cNvSpPr/>
          <p:nvPr/>
        </p:nvSpPr>
        <p:spPr>
          <a:xfrm>
            <a:off x="274320" y="3785616"/>
            <a:ext cx="8595360" cy="868680"/>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9" name="Shape 17"/>
          <p:cNvSpPr/>
          <p:nvPr/>
        </p:nvSpPr>
        <p:spPr>
          <a:xfrm>
            <a:off x="274320" y="3785616"/>
            <a:ext cx="8595360" cy="301752"/>
          </a:xfrm>
          <a:prstGeom prst="rect">
            <a:avLst/>
          </a:prstGeom>
          <a:solidFill>
            <a:srgbClr val="1A3A5C"/>
          </a:solidFill>
          <a:ln w="12700">
            <a:solidFill>
              <a:srgbClr val="1A3A5C"/>
            </a:solidFill>
            <a:prstDash val="solid"/>
          </a:ln>
        </p:spPr>
        <p:txBody>
          <a:bodyPr/>
          <a:lstStyle/>
          <a:p>
            <a:endParaRPr lang="fr-FR"/>
          </a:p>
        </p:txBody>
      </p:sp>
      <p:sp>
        <p:nvSpPr>
          <p:cNvPr id="20" name="Text 18"/>
          <p:cNvSpPr/>
          <p:nvPr/>
        </p:nvSpPr>
        <p:spPr>
          <a:xfrm>
            <a:off x="365760" y="3785616"/>
            <a:ext cx="845820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LOI BADINTER (5 juillet 1985) — Protection des victimes + FGAO</a:t>
            </a:r>
            <a:endParaRPr lang="en-US" sz="1050" dirty="0"/>
          </a:p>
        </p:txBody>
      </p:sp>
      <p:sp>
        <p:nvSpPr>
          <p:cNvPr id="21" name="Text 19"/>
          <p:cNvSpPr/>
          <p:nvPr/>
        </p:nvSpPr>
        <p:spPr>
          <a:xfrm>
            <a:off x="384048" y="4133088"/>
            <a:ext cx="8412480" cy="475488"/>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La loi Badinter garantit l'indemnisation de TOUTES les victimes sous 3 conditions : accident de circulation + véhicule terrestre à moteur impliqué + implication du véhicule.</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FGAO (Fonds de Garantie des Assurances Obligatoires) : indemnise les victimes quand le responsable n'est PAS ASSURÉ ou n'est PAS IDENTIFIÉ (délit de fuite). Le conducteur non assuré reste personnellement redevable de la totalité des sommes versées.</a:t>
            </a:r>
            <a:endParaRPr lang="en-US" sz="1000" dirty="0"/>
          </a:p>
        </p:txBody>
      </p:sp>
      <p:sp>
        <p:nvSpPr>
          <p:cNvPr id="22" name="Rectangle 2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3" name="Rectangle 2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82296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8229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Les assurances — Schéma : qui couvre quoi ?</a:t>
            </a:r>
            <a:endParaRPr lang="en-US" sz="2200" dirty="0"/>
          </a:p>
        </p:txBody>
      </p:sp>
      <p:sp>
        <p:nvSpPr>
          <p:cNvPr id="5" name="Shape 3"/>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6" name="Text 4"/>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7" name="Text 5"/>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38/88</a:t>
            </a:r>
            <a:endParaRPr lang="en-US" sz="800" dirty="0"/>
          </a:p>
        </p:txBody>
      </p:sp>
      <p:sp>
        <p:nvSpPr>
          <p:cNvPr id="8" name="Text 6"/>
          <p:cNvSpPr/>
          <p:nvPr/>
        </p:nvSpPr>
        <p:spPr>
          <a:xfrm>
            <a:off x="274320" y="886968"/>
            <a:ext cx="8595360" cy="274320"/>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Schéma — RC Circulation vs RC Professionnelle : les deux situations couvertes :</a:t>
            </a:r>
            <a:endParaRPr lang="en-US" sz="1200" dirty="0"/>
          </a:p>
        </p:txBody>
      </p:sp>
      <p:sp>
        <p:nvSpPr>
          <p:cNvPr id="9" name="Shape 7"/>
          <p:cNvSpPr/>
          <p:nvPr/>
        </p:nvSpPr>
        <p:spPr>
          <a:xfrm>
            <a:off x="274320" y="1234440"/>
            <a:ext cx="4160520" cy="3200400"/>
          </a:xfrm>
          <a:prstGeom prst="rect">
            <a:avLst/>
          </a:prstGeom>
          <a:solidFill>
            <a:srgbClr val="E8F1FA"/>
          </a:solidFill>
          <a:ln w="19050">
            <a:solidFill>
              <a:srgbClr val="1A3A5C"/>
            </a:solidFill>
            <a:prstDash val="solid"/>
          </a:ln>
        </p:spPr>
        <p:txBody>
          <a:bodyPr/>
          <a:lstStyle/>
          <a:p>
            <a:endParaRPr lang="fr-FR"/>
          </a:p>
        </p:txBody>
      </p:sp>
      <p:sp>
        <p:nvSpPr>
          <p:cNvPr id="10" name="Shape 8"/>
          <p:cNvSpPr/>
          <p:nvPr/>
        </p:nvSpPr>
        <p:spPr>
          <a:xfrm>
            <a:off x="274320" y="1234440"/>
            <a:ext cx="4160520" cy="347472"/>
          </a:xfrm>
          <a:prstGeom prst="rect">
            <a:avLst/>
          </a:prstGeom>
          <a:solidFill>
            <a:srgbClr val="1A3A5C"/>
          </a:solidFill>
          <a:ln w="12700">
            <a:solidFill>
              <a:srgbClr val="1A3A5C"/>
            </a:solidFill>
            <a:prstDash val="solid"/>
          </a:ln>
        </p:spPr>
        <p:txBody>
          <a:bodyPr/>
          <a:lstStyle/>
          <a:p>
            <a:endParaRPr lang="fr-FR"/>
          </a:p>
        </p:txBody>
      </p:sp>
      <p:sp>
        <p:nvSpPr>
          <p:cNvPr id="11" name="Text 9"/>
          <p:cNvSpPr/>
          <p:nvPr/>
        </p:nvSpPr>
        <p:spPr>
          <a:xfrm>
            <a:off x="274320" y="1234440"/>
            <a:ext cx="41605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RC CIRCULATION</a:t>
            </a:r>
            <a:endParaRPr lang="en-US" sz="1200" dirty="0"/>
          </a:p>
        </p:txBody>
      </p:sp>
      <p:sp>
        <p:nvSpPr>
          <p:cNvPr id="12" name="Text 10"/>
          <p:cNvSpPr/>
          <p:nvPr/>
        </p:nvSpPr>
        <p:spPr>
          <a:xfrm>
            <a:off x="457200" y="1645920"/>
            <a:ext cx="3794760" cy="594360"/>
          </a:xfrm>
          <a:prstGeom prst="rect">
            <a:avLst/>
          </a:prstGeom>
          <a:noFill/>
          <a:ln/>
        </p:spPr>
        <p:txBody>
          <a:bodyPr wrap="square" rtlCol="0" anchor="ctr"/>
          <a:lstStyle/>
          <a:p>
            <a:pPr marL="0" indent="0" algn="ctr">
              <a:buNone/>
            </a:pPr>
            <a:r>
              <a:rPr lang="en-US" sz="1300" b="1" dirty="0">
                <a:solidFill>
                  <a:srgbClr val="1A3A5C"/>
                </a:solidFill>
                <a:latin typeface="Calibri" pitchFamily="34" charset="0"/>
                <a:ea typeface="Calibri" pitchFamily="34" charset="-122"/>
                <a:cs typeface="Calibri" pitchFamily="34" charset="-120"/>
              </a:rPr>
              <a:t>VÉHICULE IMPLIQUÉ</a:t>
            </a:r>
            <a:endParaRPr lang="en-US" sz="1300" dirty="0"/>
          </a:p>
          <a:p>
            <a:pPr marL="0" indent="0" algn="ctr">
              <a:buNone/>
            </a:pPr>
            <a:r>
              <a:rPr lang="en-US" sz="1300" b="1" dirty="0">
                <a:solidFill>
                  <a:srgbClr val="1A3A5C"/>
                </a:solidFill>
                <a:latin typeface="Calibri" pitchFamily="34" charset="0"/>
                <a:ea typeface="Calibri" pitchFamily="34" charset="-122"/>
                <a:cs typeface="Calibri" pitchFamily="34" charset="-120"/>
              </a:rPr>
              <a:t>dans l'accident</a:t>
            </a:r>
            <a:endParaRPr lang="en-US" sz="1300" dirty="0"/>
          </a:p>
        </p:txBody>
      </p:sp>
      <p:sp>
        <p:nvSpPr>
          <p:cNvPr id="13" name="Text 11"/>
          <p:cNvSpPr/>
          <p:nvPr/>
        </p:nvSpPr>
        <p:spPr>
          <a:xfrm>
            <a:off x="365760" y="2286000"/>
            <a:ext cx="3931920" cy="2103120"/>
          </a:xfrm>
          <a:prstGeom prst="rect">
            <a:avLst/>
          </a:prstGeom>
          <a:noFill/>
          <a:ln/>
        </p:spPr>
        <p:txBody>
          <a:bodyPr wrap="square" rtlCol="0" anchor="t"/>
          <a:lstStyle/>
          <a:p>
            <a:pPr marL="0" indent="0">
              <a:buNone/>
            </a:pPr>
            <a:r>
              <a:rPr lang="en-US" sz="1050" dirty="0">
                <a:solidFill>
                  <a:srgbClr val="3A3A3A"/>
                </a:solidFill>
                <a:latin typeface="Calibri" pitchFamily="34" charset="0"/>
                <a:ea typeface="Calibri" pitchFamily="34" charset="-122"/>
                <a:cs typeface="Calibri" pitchFamily="34" charset="-120"/>
              </a:rPr>
              <a:t>Exemples :</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 Accident avec un autre véhicule pendant une course</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 Choc avec un piéton lors du trajet</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 Collision dans un parking</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 Tout dommage où le véhicule est impliqué</a:t>
            </a:r>
            <a:endParaRPr lang="en-US" sz="1050" dirty="0"/>
          </a:p>
          <a:p>
            <a:pPr marL="0" indent="0">
              <a:buNone/>
            </a:pP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Obligation : déclarer l'usage professionnel</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à l'assureur sinon refus d'indemnisation</a:t>
            </a:r>
            <a:endParaRPr lang="en-US" sz="1050" dirty="0"/>
          </a:p>
        </p:txBody>
      </p:sp>
      <p:sp>
        <p:nvSpPr>
          <p:cNvPr id="14" name="Shape 12"/>
          <p:cNvSpPr/>
          <p:nvPr/>
        </p:nvSpPr>
        <p:spPr>
          <a:xfrm>
            <a:off x="4709160" y="1234440"/>
            <a:ext cx="4160520" cy="3200400"/>
          </a:xfrm>
          <a:prstGeom prst="rect">
            <a:avLst/>
          </a:prstGeom>
          <a:solidFill>
            <a:srgbClr val="E8F1FA"/>
          </a:solidFill>
          <a:ln w="19050">
            <a:solidFill>
              <a:srgbClr val="2860A8"/>
            </a:solidFill>
            <a:prstDash val="solid"/>
          </a:ln>
        </p:spPr>
        <p:txBody>
          <a:bodyPr/>
          <a:lstStyle/>
          <a:p>
            <a:endParaRPr lang="fr-FR"/>
          </a:p>
        </p:txBody>
      </p:sp>
      <p:sp>
        <p:nvSpPr>
          <p:cNvPr id="15" name="Shape 13"/>
          <p:cNvSpPr/>
          <p:nvPr/>
        </p:nvSpPr>
        <p:spPr>
          <a:xfrm>
            <a:off x="4709160" y="1234440"/>
            <a:ext cx="4160520" cy="347472"/>
          </a:xfrm>
          <a:prstGeom prst="rect">
            <a:avLst/>
          </a:prstGeom>
          <a:solidFill>
            <a:srgbClr val="2860A8"/>
          </a:solidFill>
          <a:ln w="12700">
            <a:solidFill>
              <a:srgbClr val="2860A8"/>
            </a:solidFill>
            <a:prstDash val="solid"/>
          </a:ln>
        </p:spPr>
        <p:txBody>
          <a:bodyPr/>
          <a:lstStyle/>
          <a:p>
            <a:endParaRPr lang="fr-FR"/>
          </a:p>
        </p:txBody>
      </p:sp>
      <p:sp>
        <p:nvSpPr>
          <p:cNvPr id="16" name="Text 14"/>
          <p:cNvSpPr/>
          <p:nvPr/>
        </p:nvSpPr>
        <p:spPr>
          <a:xfrm>
            <a:off x="4709160" y="1234440"/>
            <a:ext cx="41605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RC PROFESSIONNELLE</a:t>
            </a:r>
            <a:endParaRPr lang="en-US" sz="1200" dirty="0"/>
          </a:p>
        </p:txBody>
      </p:sp>
      <p:sp>
        <p:nvSpPr>
          <p:cNvPr id="17" name="Text 15"/>
          <p:cNvSpPr/>
          <p:nvPr/>
        </p:nvSpPr>
        <p:spPr>
          <a:xfrm>
            <a:off x="4800600" y="1645920"/>
            <a:ext cx="3977640" cy="594360"/>
          </a:xfrm>
          <a:prstGeom prst="rect">
            <a:avLst/>
          </a:prstGeom>
          <a:noFill/>
          <a:ln/>
        </p:spPr>
        <p:txBody>
          <a:bodyPr wrap="square" rtlCol="0" anchor="ctr"/>
          <a:lstStyle/>
          <a:p>
            <a:pPr marL="0" indent="0" algn="ctr">
              <a:buNone/>
            </a:pPr>
            <a:r>
              <a:rPr lang="en-US" sz="1300" b="1" dirty="0">
                <a:solidFill>
                  <a:srgbClr val="2860A8"/>
                </a:solidFill>
                <a:latin typeface="Calibri" pitchFamily="34" charset="0"/>
                <a:ea typeface="Calibri" pitchFamily="34" charset="-122"/>
                <a:cs typeface="Calibri" pitchFamily="34" charset="-120"/>
              </a:rPr>
              <a:t>VÉHICULE NON IMPLIQUÉ</a:t>
            </a:r>
            <a:endParaRPr lang="en-US" sz="1300" dirty="0"/>
          </a:p>
          <a:p>
            <a:pPr marL="0" indent="0" algn="ctr">
              <a:buNone/>
            </a:pPr>
            <a:r>
              <a:rPr lang="en-US" sz="1300" b="1" dirty="0">
                <a:solidFill>
                  <a:srgbClr val="2860A8"/>
                </a:solidFill>
                <a:latin typeface="Calibri" pitchFamily="34" charset="0"/>
                <a:ea typeface="Calibri" pitchFamily="34" charset="-122"/>
                <a:cs typeface="Calibri" pitchFamily="34" charset="-120"/>
              </a:rPr>
              <a:t>pas d'accident de circulation</a:t>
            </a:r>
            <a:endParaRPr lang="en-US" sz="1300" dirty="0"/>
          </a:p>
        </p:txBody>
      </p:sp>
      <p:sp>
        <p:nvSpPr>
          <p:cNvPr id="18" name="Text 16"/>
          <p:cNvSpPr/>
          <p:nvPr/>
        </p:nvSpPr>
        <p:spPr>
          <a:xfrm>
            <a:off x="4800600" y="2286000"/>
            <a:ext cx="3977640" cy="2103120"/>
          </a:xfrm>
          <a:prstGeom prst="rect">
            <a:avLst/>
          </a:prstGeom>
          <a:noFill/>
          <a:ln/>
        </p:spPr>
        <p:txBody>
          <a:bodyPr wrap="square" rtlCol="0" anchor="t"/>
          <a:lstStyle/>
          <a:p>
            <a:pPr marL="0" indent="0">
              <a:buNone/>
            </a:pPr>
            <a:r>
              <a:rPr lang="en-US" sz="1050" dirty="0">
                <a:solidFill>
                  <a:srgbClr val="3A3A3A"/>
                </a:solidFill>
                <a:latin typeface="Calibri" pitchFamily="34" charset="0"/>
                <a:ea typeface="Calibri" pitchFamily="34" charset="-122"/>
                <a:cs typeface="Calibri" pitchFamily="34" charset="-120"/>
              </a:rPr>
              <a:t>Exemples :</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 Client glisse en montant dans le véhicule</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 Bagages endommagés lors du chargement</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 Chute d'un passager à l'arrêt complet</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 Mauvaise information causant un préjudice</a:t>
            </a:r>
            <a:endParaRPr lang="en-US" sz="1050" dirty="0"/>
          </a:p>
          <a:p>
            <a:pPr marL="0" indent="0">
              <a:buNone/>
            </a:pP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3 conditions : Faute + Dommage</a:t>
            </a:r>
            <a:endParaRPr lang="en-US" sz="1050" dirty="0"/>
          </a:p>
          <a:p>
            <a:pPr marL="0" indent="0">
              <a:buNone/>
            </a:pPr>
            <a:r>
              <a:rPr lang="en-US" sz="1050" dirty="0">
                <a:solidFill>
                  <a:srgbClr val="3A3A3A"/>
                </a:solidFill>
                <a:latin typeface="Calibri" pitchFamily="34" charset="0"/>
                <a:ea typeface="Calibri" pitchFamily="34" charset="-122"/>
                <a:cs typeface="Calibri" pitchFamily="34" charset="-120"/>
              </a:rPr>
              <a:t>+ Lien de causalité DIRECT</a:t>
            </a:r>
            <a:endParaRPr lang="en-US" sz="1050" dirty="0"/>
          </a:p>
        </p:txBody>
      </p:sp>
      <p:sp>
        <p:nvSpPr>
          <p:cNvPr id="19" name="Shape 17"/>
          <p:cNvSpPr/>
          <p:nvPr/>
        </p:nvSpPr>
        <p:spPr>
          <a:xfrm>
            <a:off x="274320" y="4526280"/>
            <a:ext cx="8595360" cy="274320"/>
          </a:xfrm>
          <a:prstGeom prst="rect">
            <a:avLst/>
          </a:prstGeom>
          <a:solidFill>
            <a:srgbClr val="FEF0EE"/>
          </a:solidFill>
          <a:ln w="19050">
            <a:solidFill>
              <a:srgbClr val="C0392B"/>
            </a:solidFill>
            <a:prstDash val="solid"/>
          </a:ln>
        </p:spPr>
        <p:txBody>
          <a:bodyPr/>
          <a:lstStyle/>
          <a:p>
            <a:endParaRPr lang="fr-FR"/>
          </a:p>
        </p:txBody>
      </p:sp>
      <p:sp>
        <p:nvSpPr>
          <p:cNvPr id="20" name="Shape 18"/>
          <p:cNvSpPr/>
          <p:nvPr/>
        </p:nvSpPr>
        <p:spPr>
          <a:xfrm>
            <a:off x="274320" y="4526280"/>
            <a:ext cx="54864" cy="274320"/>
          </a:xfrm>
          <a:prstGeom prst="rect">
            <a:avLst/>
          </a:prstGeom>
          <a:solidFill>
            <a:srgbClr val="C0392B"/>
          </a:solidFill>
          <a:ln w="12700">
            <a:solidFill>
              <a:srgbClr val="C0392B"/>
            </a:solidFill>
            <a:prstDash val="solid"/>
          </a:ln>
        </p:spPr>
        <p:txBody>
          <a:bodyPr/>
          <a:lstStyle/>
          <a:p>
            <a:endParaRPr lang="fr-FR"/>
          </a:p>
        </p:txBody>
      </p:sp>
      <p:sp>
        <p:nvSpPr>
          <p:cNvPr id="21" name="Text 19"/>
          <p:cNvSpPr/>
          <p:nvPr/>
        </p:nvSpPr>
        <p:spPr>
          <a:xfrm>
            <a:off x="384048" y="4526280"/>
            <a:ext cx="8467344" cy="274320"/>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Les 2 assurances sont CUMULATIVES et obligatoires. Ni l'une ni l'autre ne peut remplacer l'autre. Sanction : jusqu'à 3 750 € d'amende.</a:t>
            </a:r>
            <a:endParaRPr lang="en-US" sz="1000" dirty="0"/>
          </a:p>
        </p:txBody>
      </p:sp>
      <p:sp>
        <p:nvSpPr>
          <p:cNvPr id="22" name="Rectangle 2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3" name="Rectangle 2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2">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9. Formation continue et visite médicale</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Obligations périodiques pour maintenir la carte professionnelle</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39/88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24.jpeg"/>
          <p:cNvPicPr>
            <a:picLocks noChangeAspect="1"/>
          </p:cNvPicPr>
          <p:nvPr/>
        </p:nvPicPr>
        <p:blipFill>
          <a:blip r:embed="rId3"/>
          <a:stretch>
            <a:fillRect/>
          </a:stretch>
        </p:blipFill>
        <p:spPr>
          <a:xfrm>
            <a:off x="2596506" y="2987475"/>
            <a:ext cx="1965960" cy="1404257"/>
          </a:xfrm>
          <a:prstGeom prst="rect">
            <a:avLst/>
          </a:prstGeom>
          <a:ln w="9525">
            <a:solidFill>
              <a:srgbClr val="00B4D8"/>
            </a:solidFill>
          </a:ln>
        </p:spPr>
      </p:pic>
      <p:pic>
        <p:nvPicPr>
          <p:cNvPr id="12" name="Picture 11" descr="image13.jpg"/>
          <p:cNvPicPr>
            <a:picLocks noChangeAspect="1"/>
          </p:cNvPicPr>
          <p:nvPr/>
        </p:nvPicPr>
        <p:blipFill>
          <a:blip r:embed="rId4"/>
          <a:stretch>
            <a:fillRect/>
          </a:stretch>
        </p:blipFill>
        <p:spPr>
          <a:xfrm>
            <a:off x="4882506" y="2912364"/>
            <a:ext cx="1664988" cy="1554480"/>
          </a:xfrm>
          <a:prstGeom prst="rect">
            <a:avLst/>
          </a:prstGeom>
          <a:ln w="9525">
            <a:solidFill>
              <a:srgbClr val="00B4D8"/>
            </a:solid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Formation continue et visite médicale obligatoires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Conditions de maintien de la carte professionnelle T3P</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42/88</a:t>
            </a:r>
            <a:endParaRPr lang="en-US" sz="800" dirty="0"/>
          </a:p>
        </p:txBody>
      </p:sp>
      <p:sp>
        <p:nvSpPr>
          <p:cNvPr id="9" name="Text 7"/>
          <p:cNvSpPr/>
          <p:nvPr/>
        </p:nvSpPr>
        <p:spPr>
          <a:xfrm>
            <a:off x="274320" y="1078992"/>
            <a:ext cx="8595360" cy="438912"/>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Obtenir la carte professionnelle n'est qu'une première étape. Pour la conserver, deux obligations périodiques doivent être respectées : la formation continue et la visite médicale. Elles s'appliquent aux Taxis, VTC et VMDTR.</a:t>
            </a:r>
            <a:endParaRPr lang="en-US" sz="1200" dirty="0"/>
          </a:p>
        </p:txBody>
      </p:sp>
      <p:sp>
        <p:nvSpPr>
          <p:cNvPr id="10" name="Shape 8"/>
          <p:cNvSpPr/>
          <p:nvPr/>
        </p:nvSpPr>
        <p:spPr>
          <a:xfrm>
            <a:off x="274320" y="1572768"/>
            <a:ext cx="8595360" cy="384048"/>
          </a:xfrm>
          <a:prstGeom prst="rect">
            <a:avLst/>
          </a:prstGeom>
          <a:solidFill>
            <a:srgbClr val="1A3A5C"/>
          </a:solidFill>
          <a:ln w="12700">
            <a:solidFill>
              <a:srgbClr val="1A3A5C"/>
            </a:solidFill>
            <a:prstDash val="solid"/>
          </a:ln>
        </p:spPr>
        <p:txBody>
          <a:bodyPr/>
          <a:lstStyle/>
          <a:p>
            <a:endParaRPr lang="fr-FR"/>
          </a:p>
        </p:txBody>
      </p:sp>
      <p:sp>
        <p:nvSpPr>
          <p:cNvPr id="11" name="Text 9"/>
          <p:cNvSpPr/>
          <p:nvPr/>
        </p:nvSpPr>
        <p:spPr>
          <a:xfrm>
            <a:off x="274320" y="1572768"/>
            <a:ext cx="859536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FORMATION CONTINUE OBLIGATOIRE — 14 heures tous les 5 ANS — Taxi, VTC et VMDTR</a:t>
            </a:r>
            <a:endParaRPr lang="en-US" sz="1300" dirty="0"/>
          </a:p>
        </p:txBody>
      </p:sp>
      <p:sp>
        <p:nvSpPr>
          <p:cNvPr id="12" name="Shape 10"/>
          <p:cNvSpPr/>
          <p:nvPr/>
        </p:nvSpPr>
        <p:spPr>
          <a:xfrm>
            <a:off x="274320" y="2029968"/>
            <a:ext cx="4160520" cy="1207008"/>
          </a:xfrm>
          <a:prstGeom prst="rect">
            <a:avLst/>
          </a:prstGeom>
          <a:solidFill>
            <a:srgbClr val="E8F1F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3" name="Shape 11"/>
          <p:cNvSpPr/>
          <p:nvPr/>
        </p:nvSpPr>
        <p:spPr>
          <a:xfrm>
            <a:off x="274320" y="2029968"/>
            <a:ext cx="4160520" cy="301752"/>
          </a:xfrm>
          <a:prstGeom prst="rect">
            <a:avLst/>
          </a:prstGeom>
          <a:solidFill>
            <a:srgbClr val="2860A8"/>
          </a:solidFill>
          <a:ln w="12700">
            <a:solidFill>
              <a:srgbClr val="2860A8"/>
            </a:solidFill>
            <a:prstDash val="solid"/>
          </a:ln>
        </p:spPr>
        <p:txBody>
          <a:bodyPr/>
          <a:lstStyle/>
          <a:p>
            <a:endParaRPr lang="fr-FR"/>
          </a:p>
        </p:txBody>
      </p:sp>
      <p:sp>
        <p:nvSpPr>
          <p:cNvPr id="14" name="Text 12"/>
          <p:cNvSpPr/>
          <p:nvPr/>
        </p:nvSpPr>
        <p:spPr>
          <a:xfrm>
            <a:off x="365760" y="202996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CONTENU DE LA FORMATION</a:t>
            </a:r>
            <a:endParaRPr lang="en-US" sz="1050" dirty="0"/>
          </a:p>
        </p:txBody>
      </p:sp>
      <p:sp>
        <p:nvSpPr>
          <p:cNvPr id="15" name="Text 13"/>
          <p:cNvSpPr/>
          <p:nvPr/>
        </p:nvSpPr>
        <p:spPr>
          <a:xfrm>
            <a:off x="384048" y="2377440"/>
            <a:ext cx="3977640" cy="813816"/>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Mise à jour réglementaire (nouvelles lois, arrêtés).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Révision de la sécurité routière spécifique T3P.</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Amélioration relation client — gestion situations difficiles.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Depuis 2024 : prévention des discriminations et des VSS.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Centre de formation AGRÉÉ par le Préfet (pour 5 ans).</a:t>
            </a:r>
            <a:endParaRPr lang="en-US" sz="1000" dirty="0"/>
          </a:p>
        </p:txBody>
      </p:sp>
      <p:sp>
        <p:nvSpPr>
          <p:cNvPr id="16" name="Shape 14"/>
          <p:cNvSpPr/>
          <p:nvPr/>
        </p:nvSpPr>
        <p:spPr>
          <a:xfrm>
            <a:off x="4709160" y="2029968"/>
            <a:ext cx="4160520" cy="1207008"/>
          </a:xfrm>
          <a:prstGeom prst="rect">
            <a:avLst/>
          </a:prstGeom>
          <a:solidFill>
            <a:srgbClr val="FDECEA"/>
          </a:solidFill>
          <a:ln w="6350">
            <a:solidFill>
              <a:srgbClr val="D0DCE8"/>
            </a:solidFill>
            <a:prstDash val="solid"/>
          </a:ln>
          <a:effectLst>
            <a:outerShdw blurRad="50800" dist="25400" dir="8100000" algn="bl" rotWithShape="0">
              <a:srgbClr val="000000">
                <a:alpha val="12000"/>
              </a:srgbClr>
            </a:outerShdw>
          </a:effectLst>
        </p:spPr>
        <p:txBody>
          <a:bodyPr/>
          <a:lstStyle/>
          <a:p>
            <a:endParaRPr lang="fr-FR"/>
          </a:p>
        </p:txBody>
      </p:sp>
      <p:sp>
        <p:nvSpPr>
          <p:cNvPr id="17" name="Shape 15"/>
          <p:cNvSpPr/>
          <p:nvPr/>
        </p:nvSpPr>
        <p:spPr>
          <a:xfrm>
            <a:off x="4709160" y="2029968"/>
            <a:ext cx="4160520" cy="301752"/>
          </a:xfrm>
          <a:prstGeom prst="rect">
            <a:avLst/>
          </a:prstGeom>
          <a:solidFill>
            <a:srgbClr val="C0392B"/>
          </a:solidFill>
          <a:ln w="12700">
            <a:solidFill>
              <a:srgbClr val="C0392B"/>
            </a:solidFill>
            <a:prstDash val="solid"/>
          </a:ln>
        </p:spPr>
        <p:txBody>
          <a:bodyPr/>
          <a:lstStyle/>
          <a:p>
            <a:endParaRPr lang="fr-FR"/>
          </a:p>
        </p:txBody>
      </p:sp>
      <p:sp>
        <p:nvSpPr>
          <p:cNvPr id="18" name="Text 16"/>
          <p:cNvSpPr/>
          <p:nvPr/>
        </p:nvSpPr>
        <p:spPr>
          <a:xfrm>
            <a:off x="4800600" y="2029968"/>
            <a:ext cx="4023360" cy="30175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CONSÉQUENCES DU NON-RESPECT</a:t>
            </a:r>
            <a:endParaRPr lang="en-US" sz="1050" dirty="0"/>
          </a:p>
        </p:txBody>
      </p:sp>
      <p:sp>
        <p:nvSpPr>
          <p:cNvPr id="19" name="Text 17"/>
          <p:cNvSpPr/>
          <p:nvPr/>
        </p:nvSpPr>
        <p:spPr>
          <a:xfrm>
            <a:off x="4818888" y="2377440"/>
            <a:ext cx="3977640" cy="813816"/>
          </a:xfrm>
          <a:prstGeom prst="rect">
            <a:avLst/>
          </a:prstGeom>
          <a:noFill/>
          <a:ln/>
        </p:spPr>
        <p:txBody>
          <a:bodyPr wrap="square" rtlCol="0" anchor="t"/>
          <a:lstStyle/>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La carte professionnelle NE PEUT PAS être renouvelée sans justificatif de formation.</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Exercer avec carte périmée = exercice illégal = DÉLIT.</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La formation peut être fractionnée sur les 5 ans.</a:t>
            </a:r>
            <a:endParaRPr lang="en-US" sz="1000" dirty="0"/>
          </a:p>
          <a:p>
            <a:pPr marL="342900" indent="-342900">
              <a:spcAft>
                <a:spcPts val="200"/>
              </a:spcAft>
              <a:buSzPct val="100000"/>
              <a:buChar char="•"/>
            </a:pPr>
            <a:r>
              <a:rPr lang="en-US" sz="1000" dirty="0">
                <a:solidFill>
                  <a:srgbClr val="3A3A3A"/>
                </a:solidFill>
                <a:latin typeface="Calibri" pitchFamily="34" charset="0"/>
                <a:ea typeface="Calibri" pitchFamily="34" charset="-122"/>
                <a:cs typeface="Calibri" pitchFamily="34" charset="-120"/>
              </a:rPr>
              <a:t>CPF mobilisable pour financer la formation continue.</a:t>
            </a:r>
            <a:endParaRPr lang="en-US" sz="1000" dirty="0"/>
          </a:p>
        </p:txBody>
      </p:sp>
      <p:sp>
        <p:nvSpPr>
          <p:cNvPr id="20" name="Text 18"/>
          <p:cNvSpPr/>
          <p:nvPr/>
        </p:nvSpPr>
        <p:spPr>
          <a:xfrm>
            <a:off x="274320" y="3310128"/>
            <a:ext cx="8595360" cy="256032"/>
          </a:xfrm>
          <a:prstGeom prst="rect">
            <a:avLst/>
          </a:prstGeom>
          <a:noFill/>
          <a:ln/>
        </p:spPr>
        <p:txBody>
          <a:bodyPr wrap="square" rtlCol="0" anchor="t"/>
          <a:lstStyle/>
          <a:p>
            <a:pPr marL="0" indent="0">
              <a:buNone/>
            </a:pPr>
            <a:r>
              <a:rPr lang="en-US" sz="1200" b="1" dirty="0">
                <a:solidFill>
                  <a:srgbClr val="1A3A5C"/>
                </a:solidFill>
                <a:latin typeface="Calibri" pitchFamily="34" charset="0"/>
                <a:ea typeface="Calibri" pitchFamily="34" charset="-122"/>
                <a:cs typeface="Calibri" pitchFamily="34" charset="-120"/>
              </a:rPr>
              <a:t>Visite médicale obligatoire — Fréquence selon l'âge du conducteur :</a:t>
            </a:r>
            <a:endParaRPr lang="en-US" sz="1200" dirty="0"/>
          </a:p>
        </p:txBody>
      </p:sp>
      <p:sp>
        <p:nvSpPr>
          <p:cNvPr id="21" name="Shape 19"/>
          <p:cNvSpPr/>
          <p:nvPr/>
        </p:nvSpPr>
        <p:spPr>
          <a:xfrm>
            <a:off x="274320" y="3611880"/>
            <a:ext cx="2743200" cy="1097280"/>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274320" y="3611880"/>
            <a:ext cx="2743200" cy="292608"/>
          </a:xfrm>
          <a:prstGeom prst="rect">
            <a:avLst/>
          </a:prstGeom>
          <a:solidFill>
            <a:srgbClr val="1A3A5C"/>
          </a:solidFill>
          <a:ln w="12700">
            <a:solidFill>
              <a:srgbClr val="1A3A5C"/>
            </a:solidFill>
            <a:prstDash val="solid"/>
          </a:ln>
        </p:spPr>
        <p:txBody>
          <a:bodyPr/>
          <a:lstStyle/>
          <a:p>
            <a:endParaRPr lang="fr-FR"/>
          </a:p>
        </p:txBody>
      </p:sp>
      <p:sp>
        <p:nvSpPr>
          <p:cNvPr id="23" name="Text 21"/>
          <p:cNvSpPr/>
          <p:nvPr/>
        </p:nvSpPr>
        <p:spPr>
          <a:xfrm>
            <a:off x="329184" y="3611880"/>
            <a:ext cx="2651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 → 60 ans</a:t>
            </a:r>
            <a:endParaRPr lang="en-US" sz="1100" dirty="0"/>
          </a:p>
        </p:txBody>
      </p:sp>
      <p:sp>
        <p:nvSpPr>
          <p:cNvPr id="24" name="Text 22"/>
          <p:cNvSpPr/>
          <p:nvPr/>
        </p:nvSpPr>
        <p:spPr>
          <a:xfrm>
            <a:off x="320040" y="3931920"/>
            <a:ext cx="2651760" cy="749808"/>
          </a:xfrm>
          <a:prstGeom prst="rect">
            <a:avLst/>
          </a:prstGeom>
          <a:noFill/>
          <a:ln/>
        </p:spPr>
        <p:txBody>
          <a:bodyPr wrap="square" rtlCol="0" anchor="ctr"/>
          <a:lstStyle/>
          <a:p>
            <a:pPr marL="0" indent="0" algn="ctr">
              <a:buNone/>
            </a:pPr>
            <a:r>
              <a:rPr lang="en-US" sz="2000" b="1" dirty="0">
                <a:solidFill>
                  <a:srgbClr val="1A3A5C"/>
                </a:solidFill>
                <a:latin typeface="Calibri" pitchFamily="34" charset="0"/>
                <a:ea typeface="Calibri" pitchFamily="34" charset="-122"/>
                <a:cs typeface="Calibri" pitchFamily="34" charset="-120"/>
              </a:rPr>
              <a:t>Tous les</a:t>
            </a:r>
            <a:endParaRPr lang="en-US" sz="2000" dirty="0"/>
          </a:p>
          <a:p>
            <a:pPr marL="0" indent="0" algn="ctr">
              <a:buNone/>
            </a:pPr>
            <a:r>
              <a:rPr lang="en-US" sz="2000" b="1" dirty="0">
                <a:solidFill>
                  <a:srgbClr val="1A3A5C"/>
                </a:solidFill>
                <a:latin typeface="Calibri" pitchFamily="34" charset="0"/>
                <a:ea typeface="Calibri" pitchFamily="34" charset="-122"/>
                <a:cs typeface="Calibri" pitchFamily="34" charset="-120"/>
              </a:rPr>
              <a:t>5 ANS</a:t>
            </a:r>
            <a:endParaRPr lang="en-US" sz="2000" dirty="0"/>
          </a:p>
        </p:txBody>
      </p:sp>
      <p:sp>
        <p:nvSpPr>
          <p:cNvPr id="25" name="Shape 23"/>
          <p:cNvSpPr/>
          <p:nvPr/>
        </p:nvSpPr>
        <p:spPr>
          <a:xfrm>
            <a:off x="3154680" y="3611880"/>
            <a:ext cx="2743200" cy="1097280"/>
          </a:xfrm>
          <a:prstGeom prst="rect">
            <a:avLst/>
          </a:prstGeom>
          <a:solidFill>
            <a:srgbClr val="E8F1FA"/>
          </a:solidFill>
          <a:ln w="6350">
            <a:solidFill>
              <a:srgbClr val="D0DCE8"/>
            </a:solidFill>
            <a:prstDash val="solid"/>
          </a:ln>
        </p:spPr>
        <p:txBody>
          <a:bodyPr/>
          <a:lstStyle/>
          <a:p>
            <a:endParaRPr lang="fr-FR"/>
          </a:p>
        </p:txBody>
      </p:sp>
      <p:sp>
        <p:nvSpPr>
          <p:cNvPr id="26" name="Shape 24"/>
          <p:cNvSpPr/>
          <p:nvPr/>
        </p:nvSpPr>
        <p:spPr>
          <a:xfrm>
            <a:off x="3154680" y="3611880"/>
            <a:ext cx="2743200" cy="292608"/>
          </a:xfrm>
          <a:prstGeom prst="rect">
            <a:avLst/>
          </a:prstGeom>
          <a:solidFill>
            <a:srgbClr val="F4A227"/>
          </a:solidFill>
          <a:ln w="12700">
            <a:solidFill>
              <a:srgbClr val="F4A227"/>
            </a:solidFill>
            <a:prstDash val="solid"/>
          </a:ln>
        </p:spPr>
        <p:txBody>
          <a:bodyPr/>
          <a:lstStyle/>
          <a:p>
            <a:endParaRPr lang="fr-FR"/>
          </a:p>
        </p:txBody>
      </p:sp>
      <p:sp>
        <p:nvSpPr>
          <p:cNvPr id="27" name="Text 25"/>
          <p:cNvSpPr/>
          <p:nvPr/>
        </p:nvSpPr>
        <p:spPr>
          <a:xfrm>
            <a:off x="3209544" y="3611880"/>
            <a:ext cx="2651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60 → 76 ans</a:t>
            </a:r>
            <a:endParaRPr lang="en-US" sz="1100" dirty="0"/>
          </a:p>
        </p:txBody>
      </p:sp>
      <p:sp>
        <p:nvSpPr>
          <p:cNvPr id="28" name="Text 26"/>
          <p:cNvSpPr/>
          <p:nvPr/>
        </p:nvSpPr>
        <p:spPr>
          <a:xfrm>
            <a:off x="3200400" y="3931920"/>
            <a:ext cx="2651760" cy="749808"/>
          </a:xfrm>
          <a:prstGeom prst="rect">
            <a:avLst/>
          </a:prstGeom>
          <a:noFill/>
          <a:ln/>
        </p:spPr>
        <p:txBody>
          <a:bodyPr wrap="square" rtlCol="0" anchor="ctr"/>
          <a:lstStyle/>
          <a:p>
            <a:pPr marL="0" indent="0" algn="ctr">
              <a:buNone/>
            </a:pPr>
            <a:r>
              <a:rPr lang="en-US" sz="2000" b="1" dirty="0">
                <a:solidFill>
                  <a:srgbClr val="F4A227"/>
                </a:solidFill>
                <a:latin typeface="Calibri" pitchFamily="34" charset="0"/>
                <a:ea typeface="Calibri" pitchFamily="34" charset="-122"/>
                <a:cs typeface="Calibri" pitchFamily="34" charset="-120"/>
              </a:rPr>
              <a:t>Tous les</a:t>
            </a:r>
            <a:endParaRPr lang="en-US" sz="2000" dirty="0"/>
          </a:p>
          <a:p>
            <a:pPr marL="0" indent="0" algn="ctr">
              <a:buNone/>
            </a:pPr>
            <a:r>
              <a:rPr lang="en-US" sz="2000" b="1" dirty="0">
                <a:solidFill>
                  <a:srgbClr val="F4A227"/>
                </a:solidFill>
                <a:latin typeface="Calibri" pitchFamily="34" charset="0"/>
                <a:ea typeface="Calibri" pitchFamily="34" charset="-122"/>
                <a:cs typeface="Calibri" pitchFamily="34" charset="-120"/>
              </a:rPr>
              <a:t>2 ANS</a:t>
            </a:r>
            <a:endParaRPr lang="en-US" sz="2000" dirty="0"/>
          </a:p>
        </p:txBody>
      </p:sp>
      <p:sp>
        <p:nvSpPr>
          <p:cNvPr id="29" name="Shape 27"/>
          <p:cNvSpPr/>
          <p:nvPr/>
        </p:nvSpPr>
        <p:spPr>
          <a:xfrm>
            <a:off x="6035040" y="3611880"/>
            <a:ext cx="2743200" cy="109728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6035040" y="3611880"/>
            <a:ext cx="2743200" cy="292608"/>
          </a:xfrm>
          <a:prstGeom prst="rect">
            <a:avLst/>
          </a:prstGeom>
          <a:solidFill>
            <a:srgbClr val="C0392B"/>
          </a:solidFill>
          <a:ln w="12700">
            <a:solidFill>
              <a:srgbClr val="C0392B"/>
            </a:solidFill>
            <a:prstDash val="solid"/>
          </a:ln>
        </p:spPr>
        <p:txBody>
          <a:bodyPr/>
          <a:lstStyle/>
          <a:p>
            <a:endParaRPr lang="fr-FR"/>
          </a:p>
        </p:txBody>
      </p:sp>
      <p:sp>
        <p:nvSpPr>
          <p:cNvPr id="31" name="Text 29"/>
          <p:cNvSpPr/>
          <p:nvPr/>
        </p:nvSpPr>
        <p:spPr>
          <a:xfrm>
            <a:off x="6089904" y="3611880"/>
            <a:ext cx="2651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76 ans et plus</a:t>
            </a:r>
            <a:endParaRPr lang="en-US" sz="1100" dirty="0"/>
          </a:p>
        </p:txBody>
      </p:sp>
      <p:sp>
        <p:nvSpPr>
          <p:cNvPr id="32" name="Text 30"/>
          <p:cNvSpPr/>
          <p:nvPr/>
        </p:nvSpPr>
        <p:spPr>
          <a:xfrm>
            <a:off x="6080760" y="3931920"/>
            <a:ext cx="2651760" cy="749808"/>
          </a:xfrm>
          <a:prstGeom prst="rect">
            <a:avLst/>
          </a:prstGeom>
          <a:noFill/>
          <a:ln/>
        </p:spPr>
        <p:txBody>
          <a:bodyPr wrap="square" rtlCol="0" anchor="ctr"/>
          <a:lstStyle/>
          <a:p>
            <a:pPr marL="0" indent="0" algn="ctr">
              <a:buNone/>
            </a:pPr>
            <a:r>
              <a:rPr lang="en-US" sz="2000" b="1" dirty="0">
                <a:solidFill>
                  <a:srgbClr val="C0392B"/>
                </a:solidFill>
                <a:latin typeface="Calibri" pitchFamily="34" charset="0"/>
                <a:ea typeface="Calibri" pitchFamily="34" charset="-122"/>
                <a:cs typeface="Calibri" pitchFamily="34" charset="-120"/>
              </a:rPr>
              <a:t>Chaque</a:t>
            </a:r>
            <a:endParaRPr lang="en-US" sz="2000" dirty="0"/>
          </a:p>
          <a:p>
            <a:pPr marL="0" indent="0" algn="ctr">
              <a:buNone/>
            </a:pPr>
            <a:r>
              <a:rPr lang="en-US" sz="2000" b="1" dirty="0">
                <a:solidFill>
                  <a:srgbClr val="C0392B"/>
                </a:solidFill>
                <a:latin typeface="Calibri" pitchFamily="34" charset="0"/>
                <a:ea typeface="Calibri" pitchFamily="34" charset="-122"/>
                <a:cs typeface="Calibri" pitchFamily="34" charset="-120"/>
              </a:rPr>
              <a:t>ANNÉE</a:t>
            </a:r>
            <a:endParaRPr lang="en-US" sz="2000" dirty="0"/>
          </a:p>
        </p:txBody>
      </p:sp>
      <p:sp>
        <p:nvSpPr>
          <p:cNvPr id="33" name="Rectangle 3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4" name="Rectangle 33"/>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Documents à présenter en cas de contrôle — TAXI</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Ce que doit présenter un conducteur taxi lors d'un contrôle</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37b/88</a:t>
            </a:r>
            <a:endParaRPr lang="en-US" sz="800" dirty="0"/>
          </a:p>
        </p:txBody>
      </p:sp>
      <p:sp>
        <p:nvSpPr>
          <p:cNvPr id="9" name="Shape SH9"/>
          <p:cNvSpPr/>
          <p:nvPr/>
        </p:nvSpPr>
        <p:spPr>
          <a:xfrm>
            <a:off x="274320" y="960120"/>
            <a:ext cx="4160520" cy="320040"/>
          </a:xfrm>
          <a:prstGeom prst="rect">
            <a:avLst/>
          </a:prstGeom>
          <a:solidFill>
            <a:srgbClr val="6B7A8D"/>
          </a:solidFill>
          <a:ln w="12700">
            <a:solidFill>
              <a:srgbClr val="6B7A8D"/>
            </a:solidFill>
            <a:prstDash val="solid"/>
          </a:ln>
        </p:spPr>
        <p:txBody>
          <a:bodyPr/>
          <a:lstStyle/>
          <a:p>
            <a:endParaRPr lang="fr-FR"/>
          </a:p>
        </p:txBody>
      </p:sp>
      <p:sp>
        <p:nvSpPr>
          <p:cNvPr id="10" name="Text SH10"/>
          <p:cNvSpPr/>
          <p:nvPr/>
        </p:nvSpPr>
        <p:spPr>
          <a:xfrm>
            <a:off x="274320" y="960120"/>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DOCUMENTS TAXI (1 à 6)</a:t>
            </a:r>
            <a:endParaRPr lang="en-US" sz="1000" dirty="0"/>
          </a:p>
        </p:txBody>
      </p:sp>
      <p:sp>
        <p:nvSpPr>
          <p:cNvPr id="11" name="Shape SH11"/>
          <p:cNvSpPr/>
          <p:nvPr/>
        </p:nvSpPr>
        <p:spPr>
          <a:xfrm>
            <a:off x="4709160" y="960120"/>
            <a:ext cx="4160520" cy="320040"/>
          </a:xfrm>
          <a:prstGeom prst="rect">
            <a:avLst/>
          </a:prstGeom>
          <a:solidFill>
            <a:srgbClr val="6B7A8D"/>
          </a:solidFill>
          <a:ln w="12700">
            <a:solidFill>
              <a:srgbClr val="6B7A8D"/>
            </a:solidFill>
            <a:prstDash val="solid"/>
          </a:ln>
        </p:spPr>
        <p:txBody>
          <a:bodyPr/>
          <a:lstStyle/>
          <a:p>
            <a:endParaRPr lang="fr-FR"/>
          </a:p>
        </p:txBody>
      </p:sp>
      <p:sp>
        <p:nvSpPr>
          <p:cNvPr id="12" name="Text SH12"/>
          <p:cNvSpPr/>
          <p:nvPr/>
        </p:nvSpPr>
        <p:spPr>
          <a:xfrm>
            <a:off x="4709160" y="960120"/>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DOCUMENTS TAXI (7 à 12)</a:t>
            </a:r>
            <a:endParaRPr lang="en-US" sz="1000" dirty="0"/>
          </a:p>
        </p:txBody>
      </p:sp>
      <p:sp>
        <p:nvSpPr>
          <p:cNvPr id="13" name="Shape R13"/>
          <p:cNvSpPr/>
          <p:nvPr/>
        </p:nvSpPr>
        <p:spPr>
          <a:xfrm>
            <a:off x="274320" y="1353312"/>
            <a:ext cx="4160520" cy="310896"/>
          </a:xfrm>
          <a:prstGeom prst="rect">
            <a:avLst/>
          </a:prstGeom>
          <a:solidFill>
            <a:srgbClr val="E8F1FA"/>
          </a:solidFill>
          <a:ln w="6350">
            <a:solidFill>
              <a:srgbClr val="D0DCE8"/>
            </a:solidFill>
            <a:prstDash val="solid"/>
          </a:ln>
        </p:spPr>
        <p:txBody>
          <a:bodyPr/>
          <a:lstStyle/>
          <a:p>
            <a:endParaRPr lang="fr-FR"/>
          </a:p>
        </p:txBody>
      </p:sp>
      <p:sp>
        <p:nvSpPr>
          <p:cNvPr id="14" name="Shape R14"/>
          <p:cNvSpPr/>
          <p:nvPr/>
        </p:nvSpPr>
        <p:spPr>
          <a:xfrm>
            <a:off x="274320" y="1353312"/>
            <a:ext cx="256032" cy="310896"/>
          </a:xfrm>
          <a:prstGeom prst="rect">
            <a:avLst/>
          </a:prstGeom>
          <a:solidFill>
            <a:srgbClr val="2860A8"/>
          </a:solidFill>
          <a:ln w="12700">
            <a:solidFill>
              <a:srgbClr val="2860A8"/>
            </a:solidFill>
            <a:prstDash val="solid"/>
          </a:ln>
        </p:spPr>
        <p:txBody>
          <a:bodyPr/>
          <a:lstStyle/>
          <a:p>
            <a:endParaRPr lang="fr-FR"/>
          </a:p>
        </p:txBody>
      </p:sp>
      <p:sp>
        <p:nvSpPr>
          <p:cNvPr id="15" name="Text R15"/>
          <p:cNvSpPr/>
          <p:nvPr/>
        </p:nvSpPr>
        <p:spPr>
          <a:xfrm>
            <a:off x="274320" y="135331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6" name="Text R16"/>
          <p:cNvSpPr/>
          <p:nvPr/>
        </p:nvSpPr>
        <p:spPr>
          <a:xfrm>
            <a:off x="594360" y="1371600"/>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Carte professionnelle T3P (taxi)</a:t>
            </a:r>
            <a:endParaRPr lang="en-US" sz="900" dirty="0"/>
          </a:p>
        </p:txBody>
      </p:sp>
      <p:sp>
        <p:nvSpPr>
          <p:cNvPr id="17" name="Shape R17"/>
          <p:cNvSpPr/>
          <p:nvPr/>
        </p:nvSpPr>
        <p:spPr>
          <a:xfrm>
            <a:off x="274320" y="1700784"/>
            <a:ext cx="4160520" cy="310896"/>
          </a:xfrm>
          <a:prstGeom prst="rect">
            <a:avLst/>
          </a:prstGeom>
          <a:solidFill>
            <a:srgbClr val="FFFFFF"/>
          </a:solidFill>
          <a:ln w="6350">
            <a:solidFill>
              <a:srgbClr val="D0DCE8"/>
            </a:solidFill>
            <a:prstDash val="solid"/>
          </a:ln>
        </p:spPr>
        <p:txBody>
          <a:bodyPr/>
          <a:lstStyle/>
          <a:p>
            <a:endParaRPr lang="fr-FR"/>
          </a:p>
        </p:txBody>
      </p:sp>
      <p:sp>
        <p:nvSpPr>
          <p:cNvPr id="18" name="Shape R18"/>
          <p:cNvSpPr/>
          <p:nvPr/>
        </p:nvSpPr>
        <p:spPr>
          <a:xfrm>
            <a:off x="274320" y="1700784"/>
            <a:ext cx="256032" cy="310896"/>
          </a:xfrm>
          <a:prstGeom prst="rect">
            <a:avLst/>
          </a:prstGeom>
          <a:solidFill>
            <a:srgbClr val="2860A8"/>
          </a:solidFill>
          <a:ln w="12700">
            <a:solidFill>
              <a:srgbClr val="2860A8"/>
            </a:solidFill>
            <a:prstDash val="solid"/>
          </a:ln>
        </p:spPr>
        <p:txBody>
          <a:bodyPr/>
          <a:lstStyle/>
          <a:p>
            <a:endParaRPr lang="fr-FR"/>
          </a:p>
        </p:txBody>
      </p:sp>
      <p:sp>
        <p:nvSpPr>
          <p:cNvPr id="19" name="Text R19"/>
          <p:cNvSpPr/>
          <p:nvPr/>
        </p:nvSpPr>
        <p:spPr>
          <a:xfrm>
            <a:off x="274320" y="170078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0" name="Text R20"/>
          <p:cNvSpPr/>
          <p:nvPr/>
        </p:nvSpPr>
        <p:spPr>
          <a:xfrm>
            <a:off x="594360" y="1719072"/>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Permis B hors période probatoire</a:t>
            </a:r>
            <a:endParaRPr lang="en-US" sz="900" dirty="0"/>
          </a:p>
        </p:txBody>
      </p:sp>
      <p:sp>
        <p:nvSpPr>
          <p:cNvPr id="21" name="Shape R21"/>
          <p:cNvSpPr/>
          <p:nvPr/>
        </p:nvSpPr>
        <p:spPr>
          <a:xfrm>
            <a:off x="274320" y="2048256"/>
            <a:ext cx="4160520" cy="310896"/>
          </a:xfrm>
          <a:prstGeom prst="rect">
            <a:avLst/>
          </a:prstGeom>
          <a:solidFill>
            <a:srgbClr val="E8F1FA"/>
          </a:solidFill>
          <a:ln w="6350">
            <a:solidFill>
              <a:srgbClr val="D0DCE8"/>
            </a:solidFill>
            <a:prstDash val="solid"/>
          </a:ln>
        </p:spPr>
        <p:txBody>
          <a:bodyPr/>
          <a:lstStyle/>
          <a:p>
            <a:endParaRPr lang="fr-FR"/>
          </a:p>
        </p:txBody>
      </p:sp>
      <p:sp>
        <p:nvSpPr>
          <p:cNvPr id="22" name="Shape R22"/>
          <p:cNvSpPr/>
          <p:nvPr/>
        </p:nvSpPr>
        <p:spPr>
          <a:xfrm>
            <a:off x="274320" y="2048256"/>
            <a:ext cx="256032" cy="310896"/>
          </a:xfrm>
          <a:prstGeom prst="rect">
            <a:avLst/>
          </a:prstGeom>
          <a:solidFill>
            <a:srgbClr val="2860A8"/>
          </a:solidFill>
          <a:ln w="12700">
            <a:solidFill>
              <a:srgbClr val="2860A8"/>
            </a:solidFill>
            <a:prstDash val="solid"/>
          </a:ln>
        </p:spPr>
        <p:txBody>
          <a:bodyPr/>
          <a:lstStyle/>
          <a:p>
            <a:endParaRPr lang="fr-FR"/>
          </a:p>
        </p:txBody>
      </p:sp>
      <p:sp>
        <p:nvSpPr>
          <p:cNvPr id="23" name="Text R23"/>
          <p:cNvSpPr/>
          <p:nvPr/>
        </p:nvSpPr>
        <p:spPr>
          <a:xfrm>
            <a:off x="274320" y="204825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4" name="Text R24"/>
          <p:cNvSpPr/>
          <p:nvPr/>
        </p:nvSpPr>
        <p:spPr>
          <a:xfrm>
            <a:off x="594360" y="2066544"/>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Autorisation de stationnement (ADS)</a:t>
            </a:r>
            <a:endParaRPr lang="en-US" sz="900" dirty="0"/>
          </a:p>
        </p:txBody>
      </p:sp>
      <p:sp>
        <p:nvSpPr>
          <p:cNvPr id="25" name="Shape R25"/>
          <p:cNvSpPr/>
          <p:nvPr/>
        </p:nvSpPr>
        <p:spPr>
          <a:xfrm>
            <a:off x="274320" y="2395728"/>
            <a:ext cx="4160520" cy="310896"/>
          </a:xfrm>
          <a:prstGeom prst="rect">
            <a:avLst/>
          </a:prstGeom>
          <a:solidFill>
            <a:srgbClr val="FFFFFF"/>
          </a:solidFill>
          <a:ln w="6350">
            <a:solidFill>
              <a:srgbClr val="D0DCE8"/>
            </a:solidFill>
            <a:prstDash val="solid"/>
          </a:ln>
        </p:spPr>
        <p:txBody>
          <a:bodyPr/>
          <a:lstStyle/>
          <a:p>
            <a:endParaRPr lang="fr-FR"/>
          </a:p>
        </p:txBody>
      </p:sp>
      <p:sp>
        <p:nvSpPr>
          <p:cNvPr id="26" name="Shape R26"/>
          <p:cNvSpPr/>
          <p:nvPr/>
        </p:nvSpPr>
        <p:spPr>
          <a:xfrm>
            <a:off x="274320" y="2395728"/>
            <a:ext cx="256032" cy="310896"/>
          </a:xfrm>
          <a:prstGeom prst="rect">
            <a:avLst/>
          </a:prstGeom>
          <a:solidFill>
            <a:srgbClr val="2860A8"/>
          </a:solidFill>
          <a:ln w="12700">
            <a:solidFill>
              <a:srgbClr val="2860A8"/>
            </a:solidFill>
            <a:prstDash val="solid"/>
          </a:ln>
        </p:spPr>
        <p:txBody>
          <a:bodyPr/>
          <a:lstStyle/>
          <a:p>
            <a:endParaRPr lang="fr-FR"/>
          </a:p>
        </p:txBody>
      </p:sp>
      <p:sp>
        <p:nvSpPr>
          <p:cNvPr id="27" name="Text R27"/>
          <p:cNvSpPr/>
          <p:nvPr/>
        </p:nvSpPr>
        <p:spPr>
          <a:xfrm>
            <a:off x="274320" y="2395728"/>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8" name="Text R28"/>
          <p:cNvSpPr/>
          <p:nvPr/>
        </p:nvSpPr>
        <p:spPr>
          <a:xfrm>
            <a:off x="594360" y="2414016"/>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Carte grise du véhicule</a:t>
            </a:r>
            <a:endParaRPr lang="en-US" sz="900" dirty="0"/>
          </a:p>
        </p:txBody>
      </p:sp>
      <p:sp>
        <p:nvSpPr>
          <p:cNvPr id="29" name="Shape R29"/>
          <p:cNvSpPr/>
          <p:nvPr/>
        </p:nvSpPr>
        <p:spPr>
          <a:xfrm>
            <a:off x="274320" y="2743200"/>
            <a:ext cx="4160520" cy="310896"/>
          </a:xfrm>
          <a:prstGeom prst="rect">
            <a:avLst/>
          </a:prstGeom>
          <a:solidFill>
            <a:srgbClr val="E8F1FA"/>
          </a:solidFill>
          <a:ln w="6350">
            <a:solidFill>
              <a:srgbClr val="D0DCE8"/>
            </a:solidFill>
            <a:prstDash val="solid"/>
          </a:ln>
        </p:spPr>
        <p:txBody>
          <a:bodyPr/>
          <a:lstStyle/>
          <a:p>
            <a:endParaRPr lang="fr-FR"/>
          </a:p>
        </p:txBody>
      </p:sp>
      <p:sp>
        <p:nvSpPr>
          <p:cNvPr id="30" name="Shape R30"/>
          <p:cNvSpPr/>
          <p:nvPr/>
        </p:nvSpPr>
        <p:spPr>
          <a:xfrm>
            <a:off x="274320" y="2743200"/>
            <a:ext cx="256032" cy="310896"/>
          </a:xfrm>
          <a:prstGeom prst="rect">
            <a:avLst/>
          </a:prstGeom>
          <a:solidFill>
            <a:srgbClr val="2860A8"/>
          </a:solidFill>
          <a:ln w="12700">
            <a:solidFill>
              <a:srgbClr val="2860A8"/>
            </a:solidFill>
            <a:prstDash val="solid"/>
          </a:ln>
        </p:spPr>
        <p:txBody>
          <a:bodyPr/>
          <a:lstStyle/>
          <a:p>
            <a:endParaRPr lang="fr-FR"/>
          </a:p>
        </p:txBody>
      </p:sp>
      <p:sp>
        <p:nvSpPr>
          <p:cNvPr id="31" name="Text R31"/>
          <p:cNvSpPr/>
          <p:nvPr/>
        </p:nvSpPr>
        <p:spPr>
          <a:xfrm>
            <a:off x="274320" y="2743200"/>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2" name="Text R32"/>
          <p:cNvSpPr/>
          <p:nvPr/>
        </p:nvSpPr>
        <p:spPr>
          <a:xfrm>
            <a:off x="594360" y="2761488"/>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RC circulation (titre onéreux)</a:t>
            </a:r>
            <a:endParaRPr lang="en-US" sz="900" dirty="0"/>
          </a:p>
        </p:txBody>
      </p:sp>
      <p:sp>
        <p:nvSpPr>
          <p:cNvPr id="33" name="Shape R33"/>
          <p:cNvSpPr/>
          <p:nvPr/>
        </p:nvSpPr>
        <p:spPr>
          <a:xfrm>
            <a:off x="274320" y="3090672"/>
            <a:ext cx="4160520" cy="310896"/>
          </a:xfrm>
          <a:prstGeom prst="rect">
            <a:avLst/>
          </a:prstGeom>
          <a:solidFill>
            <a:srgbClr val="FFFFFF"/>
          </a:solidFill>
          <a:ln w="6350">
            <a:solidFill>
              <a:srgbClr val="D0DCE8"/>
            </a:solidFill>
            <a:prstDash val="solid"/>
          </a:ln>
        </p:spPr>
        <p:txBody>
          <a:bodyPr/>
          <a:lstStyle/>
          <a:p>
            <a:endParaRPr lang="fr-FR"/>
          </a:p>
        </p:txBody>
      </p:sp>
      <p:sp>
        <p:nvSpPr>
          <p:cNvPr id="34" name="Shape R34"/>
          <p:cNvSpPr/>
          <p:nvPr/>
        </p:nvSpPr>
        <p:spPr>
          <a:xfrm>
            <a:off x="274320" y="3090672"/>
            <a:ext cx="256032" cy="310896"/>
          </a:xfrm>
          <a:prstGeom prst="rect">
            <a:avLst/>
          </a:prstGeom>
          <a:solidFill>
            <a:srgbClr val="2860A8"/>
          </a:solidFill>
          <a:ln w="12700">
            <a:solidFill>
              <a:srgbClr val="2860A8"/>
            </a:solidFill>
            <a:prstDash val="solid"/>
          </a:ln>
        </p:spPr>
        <p:txBody>
          <a:bodyPr/>
          <a:lstStyle/>
          <a:p>
            <a:endParaRPr lang="fr-FR"/>
          </a:p>
        </p:txBody>
      </p:sp>
      <p:sp>
        <p:nvSpPr>
          <p:cNvPr id="35" name="Text R35"/>
          <p:cNvSpPr/>
          <p:nvPr/>
        </p:nvSpPr>
        <p:spPr>
          <a:xfrm>
            <a:off x="274320" y="309067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6" name="Text R36"/>
          <p:cNvSpPr/>
          <p:nvPr/>
        </p:nvSpPr>
        <p:spPr>
          <a:xfrm>
            <a:off x="594360" y="3108960"/>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RC professionnelle (exploitation)</a:t>
            </a:r>
            <a:endParaRPr lang="en-US" sz="900" dirty="0"/>
          </a:p>
        </p:txBody>
      </p:sp>
      <p:sp>
        <p:nvSpPr>
          <p:cNvPr id="37" name="Shape R37"/>
          <p:cNvSpPr/>
          <p:nvPr/>
        </p:nvSpPr>
        <p:spPr>
          <a:xfrm>
            <a:off x="4709160" y="1353312"/>
            <a:ext cx="4160520" cy="310896"/>
          </a:xfrm>
          <a:prstGeom prst="rect">
            <a:avLst/>
          </a:prstGeom>
          <a:solidFill>
            <a:srgbClr val="E8F1FA"/>
          </a:solidFill>
          <a:ln w="6350">
            <a:solidFill>
              <a:srgbClr val="D0DCE8"/>
            </a:solidFill>
            <a:prstDash val="solid"/>
          </a:ln>
        </p:spPr>
        <p:txBody>
          <a:bodyPr/>
          <a:lstStyle/>
          <a:p>
            <a:endParaRPr lang="fr-FR"/>
          </a:p>
        </p:txBody>
      </p:sp>
      <p:sp>
        <p:nvSpPr>
          <p:cNvPr id="38" name="Shape R38"/>
          <p:cNvSpPr/>
          <p:nvPr/>
        </p:nvSpPr>
        <p:spPr>
          <a:xfrm>
            <a:off x="4709160" y="1353312"/>
            <a:ext cx="256032" cy="310896"/>
          </a:xfrm>
          <a:prstGeom prst="rect">
            <a:avLst/>
          </a:prstGeom>
          <a:solidFill>
            <a:srgbClr val="2860A8"/>
          </a:solidFill>
          <a:ln w="12700">
            <a:solidFill>
              <a:srgbClr val="2860A8"/>
            </a:solidFill>
            <a:prstDash val="solid"/>
          </a:ln>
        </p:spPr>
        <p:txBody>
          <a:bodyPr/>
          <a:lstStyle/>
          <a:p>
            <a:endParaRPr lang="fr-FR"/>
          </a:p>
        </p:txBody>
      </p:sp>
      <p:sp>
        <p:nvSpPr>
          <p:cNvPr id="39" name="Text R39"/>
          <p:cNvSpPr/>
          <p:nvPr/>
        </p:nvSpPr>
        <p:spPr>
          <a:xfrm>
            <a:off x="4709160" y="135331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0" name="Text R40"/>
          <p:cNvSpPr/>
          <p:nvPr/>
        </p:nvSpPr>
        <p:spPr>
          <a:xfrm>
            <a:off x="5029200" y="1371600"/>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Carnet métrologique du taximètre</a:t>
            </a:r>
            <a:endParaRPr lang="en-US" sz="900" dirty="0"/>
          </a:p>
        </p:txBody>
      </p:sp>
      <p:sp>
        <p:nvSpPr>
          <p:cNvPr id="41" name="Shape R41"/>
          <p:cNvSpPr/>
          <p:nvPr/>
        </p:nvSpPr>
        <p:spPr>
          <a:xfrm>
            <a:off x="4709160" y="1700784"/>
            <a:ext cx="4160520" cy="310896"/>
          </a:xfrm>
          <a:prstGeom prst="rect">
            <a:avLst/>
          </a:prstGeom>
          <a:solidFill>
            <a:srgbClr val="FFFFFF"/>
          </a:solidFill>
          <a:ln w="6350">
            <a:solidFill>
              <a:srgbClr val="D0DCE8"/>
            </a:solidFill>
            <a:prstDash val="solid"/>
          </a:ln>
        </p:spPr>
        <p:txBody>
          <a:bodyPr/>
          <a:lstStyle/>
          <a:p>
            <a:endParaRPr lang="fr-FR"/>
          </a:p>
        </p:txBody>
      </p:sp>
      <p:sp>
        <p:nvSpPr>
          <p:cNvPr id="42" name="Shape R42"/>
          <p:cNvSpPr/>
          <p:nvPr/>
        </p:nvSpPr>
        <p:spPr>
          <a:xfrm>
            <a:off x="4709160" y="1700784"/>
            <a:ext cx="256032" cy="310896"/>
          </a:xfrm>
          <a:prstGeom prst="rect">
            <a:avLst/>
          </a:prstGeom>
          <a:solidFill>
            <a:srgbClr val="2860A8"/>
          </a:solidFill>
          <a:ln w="12700">
            <a:solidFill>
              <a:srgbClr val="2860A8"/>
            </a:solidFill>
            <a:prstDash val="solid"/>
          </a:ln>
        </p:spPr>
        <p:txBody>
          <a:bodyPr/>
          <a:lstStyle/>
          <a:p>
            <a:endParaRPr lang="fr-FR"/>
          </a:p>
        </p:txBody>
      </p:sp>
      <p:sp>
        <p:nvSpPr>
          <p:cNvPr id="43" name="Text R43"/>
          <p:cNvSpPr/>
          <p:nvPr/>
        </p:nvSpPr>
        <p:spPr>
          <a:xfrm>
            <a:off x="4709160" y="170078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4" name="Text R44"/>
          <p:cNvSpPr/>
          <p:nvPr/>
        </p:nvSpPr>
        <p:spPr>
          <a:xfrm>
            <a:off x="5029200" y="1719072"/>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Carnet de notes concernant les tarifs</a:t>
            </a:r>
            <a:endParaRPr lang="en-US" sz="900" dirty="0"/>
          </a:p>
        </p:txBody>
      </p:sp>
      <p:sp>
        <p:nvSpPr>
          <p:cNvPr id="45" name="Shape R45"/>
          <p:cNvSpPr/>
          <p:nvPr/>
        </p:nvSpPr>
        <p:spPr>
          <a:xfrm>
            <a:off x="4709160" y="2048256"/>
            <a:ext cx="4160520" cy="310896"/>
          </a:xfrm>
          <a:prstGeom prst="rect">
            <a:avLst/>
          </a:prstGeom>
          <a:solidFill>
            <a:srgbClr val="E8F1FA"/>
          </a:solidFill>
          <a:ln w="6350">
            <a:solidFill>
              <a:srgbClr val="D0DCE8"/>
            </a:solidFill>
            <a:prstDash val="solid"/>
          </a:ln>
        </p:spPr>
        <p:txBody>
          <a:bodyPr/>
          <a:lstStyle/>
          <a:p>
            <a:endParaRPr lang="fr-FR"/>
          </a:p>
        </p:txBody>
      </p:sp>
      <p:sp>
        <p:nvSpPr>
          <p:cNvPr id="46" name="Shape R46"/>
          <p:cNvSpPr/>
          <p:nvPr/>
        </p:nvSpPr>
        <p:spPr>
          <a:xfrm>
            <a:off x="4709160" y="2048256"/>
            <a:ext cx="256032" cy="310896"/>
          </a:xfrm>
          <a:prstGeom prst="rect">
            <a:avLst/>
          </a:prstGeom>
          <a:solidFill>
            <a:srgbClr val="2860A8"/>
          </a:solidFill>
          <a:ln w="12700">
            <a:solidFill>
              <a:srgbClr val="2860A8"/>
            </a:solidFill>
            <a:prstDash val="solid"/>
          </a:ln>
        </p:spPr>
        <p:txBody>
          <a:bodyPr/>
          <a:lstStyle/>
          <a:p>
            <a:endParaRPr lang="fr-FR"/>
          </a:p>
        </p:txBody>
      </p:sp>
      <p:sp>
        <p:nvSpPr>
          <p:cNvPr id="47" name="Text R47"/>
          <p:cNvSpPr/>
          <p:nvPr/>
        </p:nvSpPr>
        <p:spPr>
          <a:xfrm>
            <a:off x="4709160" y="204825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8" name="Text R48"/>
          <p:cNvSpPr/>
          <p:nvPr/>
        </p:nvSpPr>
        <p:spPr>
          <a:xfrm>
            <a:off x="5029200" y="2066544"/>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médicale valide</a:t>
            </a:r>
            <a:endParaRPr lang="en-US" sz="900" dirty="0"/>
          </a:p>
        </p:txBody>
      </p:sp>
      <p:sp>
        <p:nvSpPr>
          <p:cNvPr id="49" name="Shape R49"/>
          <p:cNvSpPr/>
          <p:nvPr/>
        </p:nvSpPr>
        <p:spPr>
          <a:xfrm>
            <a:off x="4709160" y="2395728"/>
            <a:ext cx="4160520" cy="310896"/>
          </a:xfrm>
          <a:prstGeom prst="rect">
            <a:avLst/>
          </a:prstGeom>
          <a:solidFill>
            <a:srgbClr val="FFFFFF"/>
          </a:solidFill>
          <a:ln w="6350">
            <a:solidFill>
              <a:srgbClr val="D0DCE8"/>
            </a:solidFill>
            <a:prstDash val="solid"/>
          </a:ln>
        </p:spPr>
        <p:txBody>
          <a:bodyPr/>
          <a:lstStyle/>
          <a:p>
            <a:endParaRPr lang="fr-FR"/>
          </a:p>
        </p:txBody>
      </p:sp>
      <p:sp>
        <p:nvSpPr>
          <p:cNvPr id="50" name="Shape R50"/>
          <p:cNvSpPr/>
          <p:nvPr/>
        </p:nvSpPr>
        <p:spPr>
          <a:xfrm>
            <a:off x="4709160" y="2395728"/>
            <a:ext cx="256032" cy="310896"/>
          </a:xfrm>
          <a:prstGeom prst="rect">
            <a:avLst/>
          </a:prstGeom>
          <a:solidFill>
            <a:srgbClr val="2860A8"/>
          </a:solidFill>
          <a:ln w="12700">
            <a:solidFill>
              <a:srgbClr val="2860A8"/>
            </a:solidFill>
            <a:prstDash val="solid"/>
          </a:ln>
        </p:spPr>
        <p:txBody>
          <a:bodyPr/>
          <a:lstStyle/>
          <a:p>
            <a:endParaRPr lang="fr-FR"/>
          </a:p>
        </p:txBody>
      </p:sp>
      <p:sp>
        <p:nvSpPr>
          <p:cNvPr id="51" name="Text R51"/>
          <p:cNvSpPr/>
          <p:nvPr/>
        </p:nvSpPr>
        <p:spPr>
          <a:xfrm>
            <a:off x="4709160" y="2395728"/>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52" name="Text R52"/>
          <p:cNvSpPr/>
          <p:nvPr/>
        </p:nvSpPr>
        <p:spPr>
          <a:xfrm>
            <a:off x="5029200" y="2414016"/>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PSC1 (premiers secours)</a:t>
            </a:r>
            <a:endParaRPr lang="en-US" sz="900" dirty="0"/>
          </a:p>
        </p:txBody>
      </p:sp>
      <p:sp>
        <p:nvSpPr>
          <p:cNvPr id="53" name="Shape R53"/>
          <p:cNvSpPr/>
          <p:nvPr/>
        </p:nvSpPr>
        <p:spPr>
          <a:xfrm>
            <a:off x="4709160" y="2743200"/>
            <a:ext cx="4160520" cy="310896"/>
          </a:xfrm>
          <a:prstGeom prst="rect">
            <a:avLst/>
          </a:prstGeom>
          <a:solidFill>
            <a:srgbClr val="E8F1FA"/>
          </a:solidFill>
          <a:ln w="6350">
            <a:solidFill>
              <a:srgbClr val="D0DCE8"/>
            </a:solidFill>
            <a:prstDash val="solid"/>
          </a:ln>
        </p:spPr>
        <p:txBody>
          <a:bodyPr/>
          <a:lstStyle/>
          <a:p>
            <a:endParaRPr lang="fr-FR"/>
          </a:p>
        </p:txBody>
      </p:sp>
      <p:sp>
        <p:nvSpPr>
          <p:cNvPr id="54" name="Shape R54"/>
          <p:cNvSpPr/>
          <p:nvPr/>
        </p:nvSpPr>
        <p:spPr>
          <a:xfrm>
            <a:off x="4709160" y="2743200"/>
            <a:ext cx="256032" cy="310896"/>
          </a:xfrm>
          <a:prstGeom prst="rect">
            <a:avLst/>
          </a:prstGeom>
          <a:solidFill>
            <a:srgbClr val="2860A8"/>
          </a:solidFill>
          <a:ln w="12700">
            <a:solidFill>
              <a:srgbClr val="2860A8"/>
            </a:solidFill>
            <a:prstDash val="solid"/>
          </a:ln>
        </p:spPr>
        <p:txBody>
          <a:bodyPr/>
          <a:lstStyle/>
          <a:p>
            <a:endParaRPr lang="fr-FR"/>
          </a:p>
        </p:txBody>
      </p:sp>
      <p:sp>
        <p:nvSpPr>
          <p:cNvPr id="55" name="Text R55"/>
          <p:cNvSpPr/>
          <p:nvPr/>
        </p:nvSpPr>
        <p:spPr>
          <a:xfrm>
            <a:off x="4709160" y="2743200"/>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56" name="Text R56"/>
          <p:cNvSpPr/>
          <p:nvPr/>
        </p:nvSpPr>
        <p:spPr>
          <a:xfrm>
            <a:off x="5029200" y="2761488"/>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de formation continue</a:t>
            </a:r>
            <a:endParaRPr lang="en-US" sz="900" dirty="0"/>
          </a:p>
        </p:txBody>
      </p:sp>
      <p:sp>
        <p:nvSpPr>
          <p:cNvPr id="57" name="Shape R57"/>
          <p:cNvSpPr/>
          <p:nvPr/>
        </p:nvSpPr>
        <p:spPr>
          <a:xfrm>
            <a:off x="4709160" y="3090672"/>
            <a:ext cx="4160520" cy="310896"/>
          </a:xfrm>
          <a:prstGeom prst="rect">
            <a:avLst/>
          </a:prstGeom>
          <a:solidFill>
            <a:srgbClr val="FFFFFF"/>
          </a:solidFill>
          <a:ln w="6350">
            <a:solidFill>
              <a:srgbClr val="D0DCE8"/>
            </a:solidFill>
            <a:prstDash val="solid"/>
          </a:ln>
        </p:spPr>
        <p:txBody>
          <a:bodyPr/>
          <a:lstStyle/>
          <a:p>
            <a:endParaRPr lang="fr-FR"/>
          </a:p>
        </p:txBody>
      </p:sp>
      <p:sp>
        <p:nvSpPr>
          <p:cNvPr id="58" name="Shape R58"/>
          <p:cNvSpPr/>
          <p:nvPr/>
        </p:nvSpPr>
        <p:spPr>
          <a:xfrm>
            <a:off x="4709160" y="3090672"/>
            <a:ext cx="256032" cy="310896"/>
          </a:xfrm>
          <a:prstGeom prst="rect">
            <a:avLst/>
          </a:prstGeom>
          <a:solidFill>
            <a:srgbClr val="2860A8"/>
          </a:solidFill>
          <a:ln w="12700">
            <a:solidFill>
              <a:srgbClr val="2860A8"/>
            </a:solidFill>
            <a:prstDash val="solid"/>
          </a:ln>
        </p:spPr>
        <p:txBody>
          <a:bodyPr/>
          <a:lstStyle/>
          <a:p>
            <a:endParaRPr lang="fr-FR"/>
          </a:p>
        </p:txBody>
      </p:sp>
      <p:sp>
        <p:nvSpPr>
          <p:cNvPr id="59" name="Text R59"/>
          <p:cNvSpPr/>
          <p:nvPr/>
        </p:nvSpPr>
        <p:spPr>
          <a:xfrm>
            <a:off x="4709160" y="309067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60" name="Text R60"/>
          <p:cNvSpPr/>
          <p:nvPr/>
        </p:nvSpPr>
        <p:spPr>
          <a:xfrm>
            <a:off x="5029200" y="3108960"/>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Salariés : contrat de travail + DPAE</a:t>
            </a:r>
            <a:endParaRPr lang="en-US" sz="900" dirty="0"/>
          </a:p>
        </p:txBody>
      </p:sp>
      <p:sp>
        <p:nvSpPr>
          <p:cNvPr id="61" name="Rectangle 6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62" name="Rectangle 6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name="Slide 4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Documents à présenter en cas de contrôle — VTC</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Ce que doit présenter un chauffeur VTC lors d'un contrôle</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37c/88</a:t>
            </a:r>
            <a:endParaRPr lang="en-US" sz="800" dirty="0"/>
          </a:p>
        </p:txBody>
      </p:sp>
      <p:sp>
        <p:nvSpPr>
          <p:cNvPr id="9" name="Shape SH9"/>
          <p:cNvSpPr/>
          <p:nvPr/>
        </p:nvSpPr>
        <p:spPr>
          <a:xfrm>
            <a:off x="274320" y="960120"/>
            <a:ext cx="4160520" cy="320040"/>
          </a:xfrm>
          <a:prstGeom prst="rect">
            <a:avLst/>
          </a:prstGeom>
          <a:solidFill>
            <a:srgbClr val="6B7A8D"/>
          </a:solidFill>
          <a:ln w="12700">
            <a:solidFill>
              <a:srgbClr val="6B7A8D"/>
            </a:solidFill>
            <a:prstDash val="solid"/>
          </a:ln>
        </p:spPr>
        <p:txBody>
          <a:bodyPr/>
          <a:lstStyle/>
          <a:p>
            <a:endParaRPr lang="fr-FR"/>
          </a:p>
        </p:txBody>
      </p:sp>
      <p:sp>
        <p:nvSpPr>
          <p:cNvPr id="10" name="Text SH10"/>
          <p:cNvSpPr/>
          <p:nvPr/>
        </p:nvSpPr>
        <p:spPr>
          <a:xfrm>
            <a:off x="274320" y="960120"/>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DOCUMENTS VTC (1 à 5)</a:t>
            </a:r>
            <a:endParaRPr lang="en-US" sz="1000" dirty="0"/>
          </a:p>
        </p:txBody>
      </p:sp>
      <p:sp>
        <p:nvSpPr>
          <p:cNvPr id="11" name="Shape SH11"/>
          <p:cNvSpPr/>
          <p:nvPr/>
        </p:nvSpPr>
        <p:spPr>
          <a:xfrm>
            <a:off x="4709160" y="960120"/>
            <a:ext cx="4160520" cy="320040"/>
          </a:xfrm>
          <a:prstGeom prst="rect">
            <a:avLst/>
          </a:prstGeom>
          <a:solidFill>
            <a:srgbClr val="6B7A8D"/>
          </a:solidFill>
          <a:ln w="12700">
            <a:solidFill>
              <a:srgbClr val="6B7A8D"/>
            </a:solidFill>
            <a:prstDash val="solid"/>
          </a:ln>
        </p:spPr>
        <p:txBody>
          <a:bodyPr/>
          <a:lstStyle/>
          <a:p>
            <a:endParaRPr lang="fr-FR"/>
          </a:p>
        </p:txBody>
      </p:sp>
      <p:sp>
        <p:nvSpPr>
          <p:cNvPr id="12" name="Text SH12"/>
          <p:cNvSpPr/>
          <p:nvPr/>
        </p:nvSpPr>
        <p:spPr>
          <a:xfrm>
            <a:off x="4709160" y="960120"/>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DOCUMENTS VTC (6 à 10)</a:t>
            </a:r>
            <a:endParaRPr lang="en-US" sz="1000" dirty="0"/>
          </a:p>
        </p:txBody>
      </p:sp>
      <p:sp>
        <p:nvSpPr>
          <p:cNvPr id="13" name="Shape R13"/>
          <p:cNvSpPr/>
          <p:nvPr/>
        </p:nvSpPr>
        <p:spPr>
          <a:xfrm>
            <a:off x="274320" y="1353312"/>
            <a:ext cx="4160520" cy="310896"/>
          </a:xfrm>
          <a:prstGeom prst="rect">
            <a:avLst/>
          </a:prstGeom>
          <a:solidFill>
            <a:srgbClr val="E8F1FA"/>
          </a:solidFill>
          <a:ln w="6350">
            <a:solidFill>
              <a:srgbClr val="D0DCE8"/>
            </a:solidFill>
            <a:prstDash val="solid"/>
          </a:ln>
        </p:spPr>
        <p:txBody>
          <a:bodyPr/>
          <a:lstStyle/>
          <a:p>
            <a:endParaRPr lang="fr-FR"/>
          </a:p>
        </p:txBody>
      </p:sp>
      <p:sp>
        <p:nvSpPr>
          <p:cNvPr id="14" name="Shape R14"/>
          <p:cNvSpPr/>
          <p:nvPr/>
        </p:nvSpPr>
        <p:spPr>
          <a:xfrm>
            <a:off x="274320" y="1353312"/>
            <a:ext cx="256032" cy="310896"/>
          </a:xfrm>
          <a:prstGeom prst="rect">
            <a:avLst/>
          </a:prstGeom>
          <a:solidFill>
            <a:srgbClr val="2860A8"/>
          </a:solidFill>
          <a:ln w="12700">
            <a:solidFill>
              <a:srgbClr val="2860A8"/>
            </a:solidFill>
            <a:prstDash val="solid"/>
          </a:ln>
        </p:spPr>
        <p:txBody>
          <a:bodyPr/>
          <a:lstStyle/>
          <a:p>
            <a:endParaRPr lang="fr-FR"/>
          </a:p>
        </p:txBody>
      </p:sp>
      <p:sp>
        <p:nvSpPr>
          <p:cNvPr id="15" name="Text R15"/>
          <p:cNvSpPr/>
          <p:nvPr/>
        </p:nvSpPr>
        <p:spPr>
          <a:xfrm>
            <a:off x="274320" y="135331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6" name="Text R16"/>
          <p:cNvSpPr/>
          <p:nvPr/>
        </p:nvSpPr>
        <p:spPr>
          <a:xfrm>
            <a:off x="594360" y="1371600"/>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Carte professionnelle T3P (VTC)</a:t>
            </a:r>
            <a:endParaRPr lang="en-US" sz="900" dirty="0"/>
          </a:p>
        </p:txBody>
      </p:sp>
      <p:sp>
        <p:nvSpPr>
          <p:cNvPr id="17" name="Shape R17"/>
          <p:cNvSpPr/>
          <p:nvPr/>
        </p:nvSpPr>
        <p:spPr>
          <a:xfrm>
            <a:off x="274320" y="1700784"/>
            <a:ext cx="4160520" cy="310896"/>
          </a:xfrm>
          <a:prstGeom prst="rect">
            <a:avLst/>
          </a:prstGeom>
          <a:solidFill>
            <a:srgbClr val="FFFFFF"/>
          </a:solidFill>
          <a:ln w="6350">
            <a:solidFill>
              <a:srgbClr val="D0DCE8"/>
            </a:solidFill>
            <a:prstDash val="solid"/>
          </a:ln>
        </p:spPr>
        <p:txBody>
          <a:bodyPr/>
          <a:lstStyle/>
          <a:p>
            <a:endParaRPr lang="fr-FR"/>
          </a:p>
        </p:txBody>
      </p:sp>
      <p:sp>
        <p:nvSpPr>
          <p:cNvPr id="18" name="Shape R18"/>
          <p:cNvSpPr/>
          <p:nvPr/>
        </p:nvSpPr>
        <p:spPr>
          <a:xfrm>
            <a:off x="274320" y="1700784"/>
            <a:ext cx="256032" cy="310896"/>
          </a:xfrm>
          <a:prstGeom prst="rect">
            <a:avLst/>
          </a:prstGeom>
          <a:solidFill>
            <a:srgbClr val="2860A8"/>
          </a:solidFill>
          <a:ln w="12700">
            <a:solidFill>
              <a:srgbClr val="2860A8"/>
            </a:solidFill>
            <a:prstDash val="solid"/>
          </a:ln>
        </p:spPr>
        <p:txBody>
          <a:bodyPr/>
          <a:lstStyle/>
          <a:p>
            <a:endParaRPr lang="fr-FR"/>
          </a:p>
        </p:txBody>
      </p:sp>
      <p:sp>
        <p:nvSpPr>
          <p:cNvPr id="19" name="Text R19"/>
          <p:cNvSpPr/>
          <p:nvPr/>
        </p:nvSpPr>
        <p:spPr>
          <a:xfrm>
            <a:off x="274320" y="170078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0" name="Text R20"/>
          <p:cNvSpPr/>
          <p:nvPr/>
        </p:nvSpPr>
        <p:spPr>
          <a:xfrm>
            <a:off x="594360" y="1719072"/>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Permis B hors période probatoire</a:t>
            </a:r>
            <a:endParaRPr lang="en-US" sz="900" dirty="0"/>
          </a:p>
        </p:txBody>
      </p:sp>
      <p:sp>
        <p:nvSpPr>
          <p:cNvPr id="21" name="Shape R21"/>
          <p:cNvSpPr/>
          <p:nvPr/>
        </p:nvSpPr>
        <p:spPr>
          <a:xfrm>
            <a:off x="274320" y="2048256"/>
            <a:ext cx="4160520" cy="310896"/>
          </a:xfrm>
          <a:prstGeom prst="rect">
            <a:avLst/>
          </a:prstGeom>
          <a:solidFill>
            <a:srgbClr val="E8F1FA"/>
          </a:solidFill>
          <a:ln w="6350">
            <a:solidFill>
              <a:srgbClr val="D0DCE8"/>
            </a:solidFill>
            <a:prstDash val="solid"/>
          </a:ln>
        </p:spPr>
        <p:txBody>
          <a:bodyPr/>
          <a:lstStyle/>
          <a:p>
            <a:endParaRPr lang="fr-FR"/>
          </a:p>
        </p:txBody>
      </p:sp>
      <p:sp>
        <p:nvSpPr>
          <p:cNvPr id="22" name="Shape R22"/>
          <p:cNvSpPr/>
          <p:nvPr/>
        </p:nvSpPr>
        <p:spPr>
          <a:xfrm>
            <a:off x="274320" y="2048256"/>
            <a:ext cx="256032" cy="310896"/>
          </a:xfrm>
          <a:prstGeom prst="rect">
            <a:avLst/>
          </a:prstGeom>
          <a:solidFill>
            <a:srgbClr val="2860A8"/>
          </a:solidFill>
          <a:ln w="12700">
            <a:solidFill>
              <a:srgbClr val="2860A8"/>
            </a:solidFill>
            <a:prstDash val="solid"/>
          </a:ln>
        </p:spPr>
        <p:txBody>
          <a:bodyPr/>
          <a:lstStyle/>
          <a:p>
            <a:endParaRPr lang="fr-FR"/>
          </a:p>
        </p:txBody>
      </p:sp>
      <p:sp>
        <p:nvSpPr>
          <p:cNvPr id="23" name="Text R23"/>
          <p:cNvSpPr/>
          <p:nvPr/>
        </p:nvSpPr>
        <p:spPr>
          <a:xfrm>
            <a:off x="274320" y="204825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4" name="Text R24"/>
          <p:cNvSpPr/>
          <p:nvPr/>
        </p:nvSpPr>
        <p:spPr>
          <a:xfrm>
            <a:off x="594360" y="2066544"/>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Inscription au Registre national VTC</a:t>
            </a:r>
            <a:endParaRPr lang="en-US" sz="900" dirty="0"/>
          </a:p>
        </p:txBody>
      </p:sp>
      <p:sp>
        <p:nvSpPr>
          <p:cNvPr id="25" name="Shape R25"/>
          <p:cNvSpPr/>
          <p:nvPr/>
        </p:nvSpPr>
        <p:spPr>
          <a:xfrm>
            <a:off x="274320" y="2395728"/>
            <a:ext cx="4160520" cy="310896"/>
          </a:xfrm>
          <a:prstGeom prst="rect">
            <a:avLst/>
          </a:prstGeom>
          <a:solidFill>
            <a:srgbClr val="FFFFFF"/>
          </a:solidFill>
          <a:ln w="6350">
            <a:solidFill>
              <a:srgbClr val="D0DCE8"/>
            </a:solidFill>
            <a:prstDash val="solid"/>
          </a:ln>
        </p:spPr>
        <p:txBody>
          <a:bodyPr/>
          <a:lstStyle/>
          <a:p>
            <a:endParaRPr lang="fr-FR"/>
          </a:p>
        </p:txBody>
      </p:sp>
      <p:sp>
        <p:nvSpPr>
          <p:cNvPr id="26" name="Shape R26"/>
          <p:cNvSpPr/>
          <p:nvPr/>
        </p:nvSpPr>
        <p:spPr>
          <a:xfrm>
            <a:off x="274320" y="2395728"/>
            <a:ext cx="256032" cy="310896"/>
          </a:xfrm>
          <a:prstGeom prst="rect">
            <a:avLst/>
          </a:prstGeom>
          <a:solidFill>
            <a:srgbClr val="2860A8"/>
          </a:solidFill>
          <a:ln w="12700">
            <a:solidFill>
              <a:srgbClr val="2860A8"/>
            </a:solidFill>
            <a:prstDash val="solid"/>
          </a:ln>
        </p:spPr>
        <p:txBody>
          <a:bodyPr/>
          <a:lstStyle/>
          <a:p>
            <a:endParaRPr lang="fr-FR"/>
          </a:p>
        </p:txBody>
      </p:sp>
      <p:sp>
        <p:nvSpPr>
          <p:cNvPr id="27" name="Text R27"/>
          <p:cNvSpPr/>
          <p:nvPr/>
        </p:nvSpPr>
        <p:spPr>
          <a:xfrm>
            <a:off x="274320" y="2395728"/>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8" name="Text R28"/>
          <p:cNvSpPr/>
          <p:nvPr/>
        </p:nvSpPr>
        <p:spPr>
          <a:xfrm>
            <a:off x="594360" y="2414016"/>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Vignette VTC apposée sur le véhicule</a:t>
            </a:r>
            <a:endParaRPr lang="en-US" sz="900" dirty="0"/>
          </a:p>
        </p:txBody>
      </p:sp>
      <p:sp>
        <p:nvSpPr>
          <p:cNvPr id="29" name="Shape R29"/>
          <p:cNvSpPr/>
          <p:nvPr/>
        </p:nvSpPr>
        <p:spPr>
          <a:xfrm>
            <a:off x="274320" y="2743200"/>
            <a:ext cx="4160520" cy="310896"/>
          </a:xfrm>
          <a:prstGeom prst="rect">
            <a:avLst/>
          </a:prstGeom>
          <a:solidFill>
            <a:srgbClr val="E8F1FA"/>
          </a:solidFill>
          <a:ln w="6350">
            <a:solidFill>
              <a:srgbClr val="D0DCE8"/>
            </a:solidFill>
            <a:prstDash val="solid"/>
          </a:ln>
        </p:spPr>
        <p:txBody>
          <a:bodyPr/>
          <a:lstStyle/>
          <a:p>
            <a:endParaRPr lang="fr-FR"/>
          </a:p>
        </p:txBody>
      </p:sp>
      <p:sp>
        <p:nvSpPr>
          <p:cNvPr id="30" name="Shape R30"/>
          <p:cNvSpPr/>
          <p:nvPr/>
        </p:nvSpPr>
        <p:spPr>
          <a:xfrm>
            <a:off x="274320" y="2743200"/>
            <a:ext cx="256032" cy="310896"/>
          </a:xfrm>
          <a:prstGeom prst="rect">
            <a:avLst/>
          </a:prstGeom>
          <a:solidFill>
            <a:srgbClr val="2860A8"/>
          </a:solidFill>
          <a:ln w="12700">
            <a:solidFill>
              <a:srgbClr val="2860A8"/>
            </a:solidFill>
            <a:prstDash val="solid"/>
          </a:ln>
        </p:spPr>
        <p:txBody>
          <a:bodyPr/>
          <a:lstStyle/>
          <a:p>
            <a:endParaRPr lang="fr-FR"/>
          </a:p>
        </p:txBody>
      </p:sp>
      <p:sp>
        <p:nvSpPr>
          <p:cNvPr id="31" name="Text R31"/>
          <p:cNvSpPr/>
          <p:nvPr/>
        </p:nvSpPr>
        <p:spPr>
          <a:xfrm>
            <a:off x="274320" y="2743200"/>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2" name="Text R32"/>
          <p:cNvSpPr/>
          <p:nvPr/>
        </p:nvSpPr>
        <p:spPr>
          <a:xfrm>
            <a:off x="594360" y="2761488"/>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Carte grise du véhicule</a:t>
            </a:r>
            <a:endParaRPr lang="en-US" sz="900" dirty="0"/>
          </a:p>
        </p:txBody>
      </p:sp>
      <p:sp>
        <p:nvSpPr>
          <p:cNvPr id="33" name="Shape R33"/>
          <p:cNvSpPr/>
          <p:nvPr/>
        </p:nvSpPr>
        <p:spPr>
          <a:xfrm>
            <a:off x="4709160" y="1353312"/>
            <a:ext cx="4160520" cy="310896"/>
          </a:xfrm>
          <a:prstGeom prst="rect">
            <a:avLst/>
          </a:prstGeom>
          <a:solidFill>
            <a:srgbClr val="E8F1FA"/>
          </a:solidFill>
          <a:ln w="6350">
            <a:solidFill>
              <a:srgbClr val="D0DCE8"/>
            </a:solidFill>
            <a:prstDash val="solid"/>
          </a:ln>
        </p:spPr>
        <p:txBody>
          <a:bodyPr/>
          <a:lstStyle/>
          <a:p>
            <a:endParaRPr lang="fr-FR"/>
          </a:p>
        </p:txBody>
      </p:sp>
      <p:sp>
        <p:nvSpPr>
          <p:cNvPr id="34" name="Shape R34"/>
          <p:cNvSpPr/>
          <p:nvPr/>
        </p:nvSpPr>
        <p:spPr>
          <a:xfrm>
            <a:off x="4709160" y="1353312"/>
            <a:ext cx="256032" cy="310896"/>
          </a:xfrm>
          <a:prstGeom prst="rect">
            <a:avLst/>
          </a:prstGeom>
          <a:solidFill>
            <a:srgbClr val="2860A8"/>
          </a:solidFill>
          <a:ln w="12700">
            <a:solidFill>
              <a:srgbClr val="2860A8"/>
            </a:solidFill>
            <a:prstDash val="solid"/>
          </a:ln>
        </p:spPr>
        <p:txBody>
          <a:bodyPr/>
          <a:lstStyle/>
          <a:p>
            <a:endParaRPr lang="fr-FR"/>
          </a:p>
        </p:txBody>
      </p:sp>
      <p:sp>
        <p:nvSpPr>
          <p:cNvPr id="35" name="Text R35"/>
          <p:cNvSpPr/>
          <p:nvPr/>
        </p:nvSpPr>
        <p:spPr>
          <a:xfrm>
            <a:off x="4709160" y="135331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6" name="Text R36"/>
          <p:cNvSpPr/>
          <p:nvPr/>
        </p:nvSpPr>
        <p:spPr>
          <a:xfrm>
            <a:off x="5029200" y="1371600"/>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RC circulation (titre onéreux)</a:t>
            </a:r>
            <a:endParaRPr lang="en-US" sz="900" dirty="0"/>
          </a:p>
        </p:txBody>
      </p:sp>
      <p:sp>
        <p:nvSpPr>
          <p:cNvPr id="37" name="Shape R37"/>
          <p:cNvSpPr/>
          <p:nvPr/>
        </p:nvSpPr>
        <p:spPr>
          <a:xfrm>
            <a:off x="4709160" y="1700784"/>
            <a:ext cx="4160520" cy="310896"/>
          </a:xfrm>
          <a:prstGeom prst="rect">
            <a:avLst/>
          </a:prstGeom>
          <a:solidFill>
            <a:srgbClr val="FFFFFF"/>
          </a:solidFill>
          <a:ln w="6350">
            <a:solidFill>
              <a:srgbClr val="D0DCE8"/>
            </a:solidFill>
            <a:prstDash val="solid"/>
          </a:ln>
        </p:spPr>
        <p:txBody>
          <a:bodyPr/>
          <a:lstStyle/>
          <a:p>
            <a:endParaRPr lang="fr-FR"/>
          </a:p>
        </p:txBody>
      </p:sp>
      <p:sp>
        <p:nvSpPr>
          <p:cNvPr id="38" name="Shape R38"/>
          <p:cNvSpPr/>
          <p:nvPr/>
        </p:nvSpPr>
        <p:spPr>
          <a:xfrm>
            <a:off x="4709160" y="1700784"/>
            <a:ext cx="256032" cy="310896"/>
          </a:xfrm>
          <a:prstGeom prst="rect">
            <a:avLst/>
          </a:prstGeom>
          <a:solidFill>
            <a:srgbClr val="2860A8"/>
          </a:solidFill>
          <a:ln w="12700">
            <a:solidFill>
              <a:srgbClr val="2860A8"/>
            </a:solidFill>
            <a:prstDash val="solid"/>
          </a:ln>
        </p:spPr>
        <p:txBody>
          <a:bodyPr/>
          <a:lstStyle/>
          <a:p>
            <a:endParaRPr lang="fr-FR"/>
          </a:p>
        </p:txBody>
      </p:sp>
      <p:sp>
        <p:nvSpPr>
          <p:cNvPr id="39" name="Text R39"/>
          <p:cNvSpPr/>
          <p:nvPr/>
        </p:nvSpPr>
        <p:spPr>
          <a:xfrm>
            <a:off x="4709160" y="170078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0" name="Text R40"/>
          <p:cNvSpPr/>
          <p:nvPr/>
        </p:nvSpPr>
        <p:spPr>
          <a:xfrm>
            <a:off x="5029200" y="1719072"/>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RC professionnelle (exploitation)</a:t>
            </a:r>
            <a:endParaRPr lang="en-US" sz="900" dirty="0"/>
          </a:p>
        </p:txBody>
      </p:sp>
      <p:sp>
        <p:nvSpPr>
          <p:cNvPr id="41" name="Shape R41"/>
          <p:cNvSpPr/>
          <p:nvPr/>
        </p:nvSpPr>
        <p:spPr>
          <a:xfrm>
            <a:off x="4709160" y="2048256"/>
            <a:ext cx="4160520" cy="310896"/>
          </a:xfrm>
          <a:prstGeom prst="rect">
            <a:avLst/>
          </a:prstGeom>
          <a:solidFill>
            <a:srgbClr val="E8F1FA"/>
          </a:solidFill>
          <a:ln w="6350">
            <a:solidFill>
              <a:srgbClr val="D0DCE8"/>
            </a:solidFill>
            <a:prstDash val="solid"/>
          </a:ln>
        </p:spPr>
        <p:txBody>
          <a:bodyPr/>
          <a:lstStyle/>
          <a:p>
            <a:endParaRPr lang="fr-FR"/>
          </a:p>
        </p:txBody>
      </p:sp>
      <p:sp>
        <p:nvSpPr>
          <p:cNvPr id="42" name="Shape R42"/>
          <p:cNvSpPr/>
          <p:nvPr/>
        </p:nvSpPr>
        <p:spPr>
          <a:xfrm>
            <a:off x="4709160" y="2048256"/>
            <a:ext cx="256032" cy="310896"/>
          </a:xfrm>
          <a:prstGeom prst="rect">
            <a:avLst/>
          </a:prstGeom>
          <a:solidFill>
            <a:srgbClr val="2860A8"/>
          </a:solidFill>
          <a:ln w="12700">
            <a:solidFill>
              <a:srgbClr val="2860A8"/>
            </a:solidFill>
            <a:prstDash val="solid"/>
          </a:ln>
        </p:spPr>
        <p:txBody>
          <a:bodyPr/>
          <a:lstStyle/>
          <a:p>
            <a:endParaRPr lang="fr-FR"/>
          </a:p>
        </p:txBody>
      </p:sp>
      <p:sp>
        <p:nvSpPr>
          <p:cNvPr id="43" name="Text R43"/>
          <p:cNvSpPr/>
          <p:nvPr/>
        </p:nvSpPr>
        <p:spPr>
          <a:xfrm>
            <a:off x="4709160" y="204825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4" name="Text R44"/>
          <p:cNvSpPr/>
          <p:nvPr/>
        </p:nvSpPr>
        <p:spPr>
          <a:xfrm>
            <a:off x="5029200" y="2066544"/>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Justificatif de réservation préalable</a:t>
            </a:r>
            <a:endParaRPr lang="en-US" sz="900" dirty="0"/>
          </a:p>
        </p:txBody>
      </p:sp>
      <p:sp>
        <p:nvSpPr>
          <p:cNvPr id="45" name="Shape R45"/>
          <p:cNvSpPr/>
          <p:nvPr/>
        </p:nvSpPr>
        <p:spPr>
          <a:xfrm>
            <a:off x="4709160" y="2395728"/>
            <a:ext cx="4160520" cy="310896"/>
          </a:xfrm>
          <a:prstGeom prst="rect">
            <a:avLst/>
          </a:prstGeom>
          <a:solidFill>
            <a:srgbClr val="FFFFFF"/>
          </a:solidFill>
          <a:ln w="6350">
            <a:solidFill>
              <a:srgbClr val="D0DCE8"/>
            </a:solidFill>
            <a:prstDash val="solid"/>
          </a:ln>
        </p:spPr>
        <p:txBody>
          <a:bodyPr/>
          <a:lstStyle/>
          <a:p>
            <a:endParaRPr lang="fr-FR"/>
          </a:p>
        </p:txBody>
      </p:sp>
      <p:sp>
        <p:nvSpPr>
          <p:cNvPr id="46" name="Shape R46"/>
          <p:cNvSpPr/>
          <p:nvPr/>
        </p:nvSpPr>
        <p:spPr>
          <a:xfrm>
            <a:off x="4709160" y="2395728"/>
            <a:ext cx="256032" cy="310896"/>
          </a:xfrm>
          <a:prstGeom prst="rect">
            <a:avLst/>
          </a:prstGeom>
          <a:solidFill>
            <a:srgbClr val="2860A8"/>
          </a:solidFill>
          <a:ln w="12700">
            <a:solidFill>
              <a:srgbClr val="2860A8"/>
            </a:solidFill>
            <a:prstDash val="solid"/>
          </a:ln>
        </p:spPr>
        <p:txBody>
          <a:bodyPr/>
          <a:lstStyle/>
          <a:p>
            <a:endParaRPr lang="fr-FR"/>
          </a:p>
        </p:txBody>
      </p:sp>
      <p:sp>
        <p:nvSpPr>
          <p:cNvPr id="47" name="Text R47"/>
          <p:cNvSpPr/>
          <p:nvPr/>
        </p:nvSpPr>
        <p:spPr>
          <a:xfrm>
            <a:off x="4709160" y="2395728"/>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8" name="Text R48"/>
          <p:cNvSpPr/>
          <p:nvPr/>
        </p:nvSpPr>
        <p:spPr>
          <a:xfrm>
            <a:off x="5029200" y="2414016"/>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médicale valide</a:t>
            </a:r>
            <a:endParaRPr lang="en-US" sz="900" dirty="0"/>
          </a:p>
        </p:txBody>
      </p:sp>
      <p:sp>
        <p:nvSpPr>
          <p:cNvPr id="49" name="Shape R49"/>
          <p:cNvSpPr/>
          <p:nvPr/>
        </p:nvSpPr>
        <p:spPr>
          <a:xfrm>
            <a:off x="4709160" y="2743200"/>
            <a:ext cx="4160520" cy="310896"/>
          </a:xfrm>
          <a:prstGeom prst="rect">
            <a:avLst/>
          </a:prstGeom>
          <a:solidFill>
            <a:srgbClr val="E8F1FA"/>
          </a:solidFill>
          <a:ln w="6350">
            <a:solidFill>
              <a:srgbClr val="D0DCE8"/>
            </a:solidFill>
            <a:prstDash val="solid"/>
          </a:ln>
        </p:spPr>
        <p:txBody>
          <a:bodyPr/>
          <a:lstStyle/>
          <a:p>
            <a:endParaRPr lang="fr-FR"/>
          </a:p>
        </p:txBody>
      </p:sp>
      <p:sp>
        <p:nvSpPr>
          <p:cNvPr id="50" name="Shape R50"/>
          <p:cNvSpPr/>
          <p:nvPr/>
        </p:nvSpPr>
        <p:spPr>
          <a:xfrm>
            <a:off x="4709160" y="2743200"/>
            <a:ext cx="256032" cy="310896"/>
          </a:xfrm>
          <a:prstGeom prst="rect">
            <a:avLst/>
          </a:prstGeom>
          <a:solidFill>
            <a:srgbClr val="2860A8"/>
          </a:solidFill>
          <a:ln w="12700">
            <a:solidFill>
              <a:srgbClr val="2860A8"/>
            </a:solidFill>
            <a:prstDash val="solid"/>
          </a:ln>
        </p:spPr>
        <p:txBody>
          <a:bodyPr/>
          <a:lstStyle/>
          <a:p>
            <a:endParaRPr lang="fr-FR"/>
          </a:p>
        </p:txBody>
      </p:sp>
      <p:sp>
        <p:nvSpPr>
          <p:cNvPr id="51" name="Text R51"/>
          <p:cNvSpPr/>
          <p:nvPr/>
        </p:nvSpPr>
        <p:spPr>
          <a:xfrm>
            <a:off x="4709160" y="2743200"/>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52" name="Text R52"/>
          <p:cNvSpPr/>
          <p:nvPr/>
        </p:nvSpPr>
        <p:spPr>
          <a:xfrm>
            <a:off x="5029200" y="2761488"/>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de formation continue</a:t>
            </a:r>
            <a:endParaRPr lang="en-US" sz="900" dirty="0"/>
          </a:p>
        </p:txBody>
      </p:sp>
      <p:sp>
        <p:nvSpPr>
          <p:cNvPr id="53" name="Rectangle 53"/>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54" name="Rectangle 5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name="Slide 4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Documents communs à présenter en cas de contrôle</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Documents exigés quelle que soit la profession — Taxi, VTC et VMDTR</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37e/88</a:t>
            </a:r>
            <a:endParaRPr lang="en-US" sz="800" dirty="0"/>
          </a:p>
        </p:txBody>
      </p:sp>
      <p:sp>
        <p:nvSpPr>
          <p:cNvPr id="9" name="Shape SH9"/>
          <p:cNvSpPr/>
          <p:nvPr/>
        </p:nvSpPr>
        <p:spPr>
          <a:xfrm>
            <a:off x="274320" y="960120"/>
            <a:ext cx="4160520" cy="320040"/>
          </a:xfrm>
          <a:prstGeom prst="rect">
            <a:avLst/>
          </a:prstGeom>
          <a:solidFill>
            <a:srgbClr val="6B7A8D"/>
          </a:solidFill>
          <a:ln w="12700">
            <a:solidFill>
              <a:srgbClr val="6B7A8D"/>
            </a:solidFill>
            <a:prstDash val="solid"/>
          </a:ln>
        </p:spPr>
        <p:txBody>
          <a:bodyPr/>
          <a:lstStyle/>
          <a:p>
            <a:endParaRPr lang="fr-FR"/>
          </a:p>
        </p:txBody>
      </p:sp>
      <p:sp>
        <p:nvSpPr>
          <p:cNvPr id="10" name="Text SH10"/>
          <p:cNvSpPr/>
          <p:nvPr/>
        </p:nvSpPr>
        <p:spPr>
          <a:xfrm>
            <a:off x="274320" y="960120"/>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SOCLE COMMUN (1 à 4)</a:t>
            </a:r>
            <a:endParaRPr lang="en-US" sz="1000" dirty="0"/>
          </a:p>
        </p:txBody>
      </p:sp>
      <p:sp>
        <p:nvSpPr>
          <p:cNvPr id="11" name="Shape SH11"/>
          <p:cNvSpPr/>
          <p:nvPr/>
        </p:nvSpPr>
        <p:spPr>
          <a:xfrm>
            <a:off x="4709160" y="960120"/>
            <a:ext cx="4160520" cy="320040"/>
          </a:xfrm>
          <a:prstGeom prst="rect">
            <a:avLst/>
          </a:prstGeom>
          <a:solidFill>
            <a:srgbClr val="6B7A8D"/>
          </a:solidFill>
          <a:ln w="12700">
            <a:solidFill>
              <a:srgbClr val="6B7A8D"/>
            </a:solidFill>
            <a:prstDash val="solid"/>
          </a:ln>
        </p:spPr>
        <p:txBody>
          <a:bodyPr/>
          <a:lstStyle/>
          <a:p>
            <a:endParaRPr lang="fr-FR"/>
          </a:p>
        </p:txBody>
      </p:sp>
      <p:sp>
        <p:nvSpPr>
          <p:cNvPr id="12" name="Text SH12"/>
          <p:cNvSpPr/>
          <p:nvPr/>
        </p:nvSpPr>
        <p:spPr>
          <a:xfrm>
            <a:off x="4709160" y="960120"/>
            <a:ext cx="41605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SOCLE COMMUN (5 à 8)</a:t>
            </a:r>
            <a:endParaRPr lang="en-US" sz="1000" dirty="0"/>
          </a:p>
        </p:txBody>
      </p:sp>
      <p:sp>
        <p:nvSpPr>
          <p:cNvPr id="13" name="Shape R13"/>
          <p:cNvSpPr/>
          <p:nvPr/>
        </p:nvSpPr>
        <p:spPr>
          <a:xfrm>
            <a:off x="274320" y="1353312"/>
            <a:ext cx="4160520" cy="310896"/>
          </a:xfrm>
          <a:prstGeom prst="rect">
            <a:avLst/>
          </a:prstGeom>
          <a:solidFill>
            <a:srgbClr val="E8F1FA"/>
          </a:solidFill>
          <a:ln w="6350">
            <a:solidFill>
              <a:srgbClr val="D0DCE8"/>
            </a:solidFill>
            <a:prstDash val="solid"/>
          </a:ln>
        </p:spPr>
        <p:txBody>
          <a:bodyPr/>
          <a:lstStyle/>
          <a:p>
            <a:endParaRPr lang="fr-FR"/>
          </a:p>
        </p:txBody>
      </p:sp>
      <p:sp>
        <p:nvSpPr>
          <p:cNvPr id="14" name="Shape R14"/>
          <p:cNvSpPr/>
          <p:nvPr/>
        </p:nvSpPr>
        <p:spPr>
          <a:xfrm>
            <a:off x="274320" y="1353312"/>
            <a:ext cx="256032" cy="310896"/>
          </a:xfrm>
          <a:prstGeom prst="rect">
            <a:avLst/>
          </a:prstGeom>
          <a:solidFill>
            <a:srgbClr val="2860A8"/>
          </a:solidFill>
          <a:ln w="12700">
            <a:solidFill>
              <a:srgbClr val="2860A8"/>
            </a:solidFill>
            <a:prstDash val="solid"/>
          </a:ln>
        </p:spPr>
        <p:txBody>
          <a:bodyPr/>
          <a:lstStyle/>
          <a:p>
            <a:endParaRPr lang="fr-FR"/>
          </a:p>
        </p:txBody>
      </p:sp>
      <p:sp>
        <p:nvSpPr>
          <p:cNvPr id="15" name="Text R15"/>
          <p:cNvSpPr/>
          <p:nvPr/>
        </p:nvSpPr>
        <p:spPr>
          <a:xfrm>
            <a:off x="274320" y="135331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6" name="Text R16"/>
          <p:cNvSpPr/>
          <p:nvPr/>
        </p:nvSpPr>
        <p:spPr>
          <a:xfrm>
            <a:off x="594360" y="1371600"/>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Carte professionnelle T3P (taxi, VTC ou VMDTR)</a:t>
            </a:r>
            <a:endParaRPr lang="en-US" sz="900" dirty="0"/>
          </a:p>
        </p:txBody>
      </p:sp>
      <p:sp>
        <p:nvSpPr>
          <p:cNvPr id="17" name="Shape R17"/>
          <p:cNvSpPr/>
          <p:nvPr/>
        </p:nvSpPr>
        <p:spPr>
          <a:xfrm>
            <a:off x="274320" y="1700784"/>
            <a:ext cx="4160520" cy="310896"/>
          </a:xfrm>
          <a:prstGeom prst="rect">
            <a:avLst/>
          </a:prstGeom>
          <a:solidFill>
            <a:srgbClr val="FFFFFF"/>
          </a:solidFill>
          <a:ln w="6350">
            <a:solidFill>
              <a:srgbClr val="D0DCE8"/>
            </a:solidFill>
            <a:prstDash val="solid"/>
          </a:ln>
        </p:spPr>
        <p:txBody>
          <a:bodyPr/>
          <a:lstStyle/>
          <a:p>
            <a:endParaRPr lang="fr-FR"/>
          </a:p>
        </p:txBody>
      </p:sp>
      <p:sp>
        <p:nvSpPr>
          <p:cNvPr id="18" name="Shape R18"/>
          <p:cNvSpPr/>
          <p:nvPr/>
        </p:nvSpPr>
        <p:spPr>
          <a:xfrm>
            <a:off x="274320" y="1700784"/>
            <a:ext cx="256032" cy="310896"/>
          </a:xfrm>
          <a:prstGeom prst="rect">
            <a:avLst/>
          </a:prstGeom>
          <a:solidFill>
            <a:srgbClr val="2860A8"/>
          </a:solidFill>
          <a:ln w="12700">
            <a:solidFill>
              <a:srgbClr val="2860A8"/>
            </a:solidFill>
            <a:prstDash val="solid"/>
          </a:ln>
        </p:spPr>
        <p:txBody>
          <a:bodyPr/>
          <a:lstStyle/>
          <a:p>
            <a:endParaRPr lang="fr-FR"/>
          </a:p>
        </p:txBody>
      </p:sp>
      <p:sp>
        <p:nvSpPr>
          <p:cNvPr id="19" name="Text R19"/>
          <p:cNvSpPr/>
          <p:nvPr/>
        </p:nvSpPr>
        <p:spPr>
          <a:xfrm>
            <a:off x="274320" y="170078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0" name="Text R20"/>
          <p:cNvSpPr/>
          <p:nvPr/>
        </p:nvSpPr>
        <p:spPr>
          <a:xfrm>
            <a:off x="594360" y="1719072"/>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Permis de conduire valide, hors période probatoire</a:t>
            </a:r>
            <a:endParaRPr lang="en-US" sz="900" dirty="0"/>
          </a:p>
        </p:txBody>
      </p:sp>
      <p:sp>
        <p:nvSpPr>
          <p:cNvPr id="21" name="Shape R21"/>
          <p:cNvSpPr/>
          <p:nvPr/>
        </p:nvSpPr>
        <p:spPr>
          <a:xfrm>
            <a:off x="274320" y="2048256"/>
            <a:ext cx="4160520" cy="310896"/>
          </a:xfrm>
          <a:prstGeom prst="rect">
            <a:avLst/>
          </a:prstGeom>
          <a:solidFill>
            <a:srgbClr val="E8F1FA"/>
          </a:solidFill>
          <a:ln w="6350">
            <a:solidFill>
              <a:srgbClr val="D0DCE8"/>
            </a:solidFill>
            <a:prstDash val="solid"/>
          </a:ln>
        </p:spPr>
        <p:txBody>
          <a:bodyPr/>
          <a:lstStyle/>
          <a:p>
            <a:endParaRPr lang="fr-FR"/>
          </a:p>
        </p:txBody>
      </p:sp>
      <p:sp>
        <p:nvSpPr>
          <p:cNvPr id="22" name="Shape R22"/>
          <p:cNvSpPr/>
          <p:nvPr/>
        </p:nvSpPr>
        <p:spPr>
          <a:xfrm>
            <a:off x="274320" y="2048256"/>
            <a:ext cx="256032" cy="310896"/>
          </a:xfrm>
          <a:prstGeom prst="rect">
            <a:avLst/>
          </a:prstGeom>
          <a:solidFill>
            <a:srgbClr val="2860A8"/>
          </a:solidFill>
          <a:ln w="12700">
            <a:solidFill>
              <a:srgbClr val="2860A8"/>
            </a:solidFill>
            <a:prstDash val="solid"/>
          </a:ln>
        </p:spPr>
        <p:txBody>
          <a:bodyPr/>
          <a:lstStyle/>
          <a:p>
            <a:endParaRPr lang="fr-FR"/>
          </a:p>
        </p:txBody>
      </p:sp>
      <p:sp>
        <p:nvSpPr>
          <p:cNvPr id="23" name="Text R23"/>
          <p:cNvSpPr/>
          <p:nvPr/>
        </p:nvSpPr>
        <p:spPr>
          <a:xfrm>
            <a:off x="274320" y="204825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4" name="Text R24"/>
          <p:cNvSpPr/>
          <p:nvPr/>
        </p:nvSpPr>
        <p:spPr>
          <a:xfrm>
            <a:off x="594360" y="2066544"/>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Carte grise du véhicule</a:t>
            </a:r>
            <a:endParaRPr lang="en-US" sz="900" dirty="0"/>
          </a:p>
        </p:txBody>
      </p:sp>
      <p:sp>
        <p:nvSpPr>
          <p:cNvPr id="25" name="Shape R25"/>
          <p:cNvSpPr/>
          <p:nvPr/>
        </p:nvSpPr>
        <p:spPr>
          <a:xfrm>
            <a:off x="274320" y="2395728"/>
            <a:ext cx="4160520" cy="310896"/>
          </a:xfrm>
          <a:prstGeom prst="rect">
            <a:avLst/>
          </a:prstGeom>
          <a:solidFill>
            <a:srgbClr val="FFFFFF"/>
          </a:solidFill>
          <a:ln w="6350">
            <a:solidFill>
              <a:srgbClr val="D0DCE8"/>
            </a:solidFill>
            <a:prstDash val="solid"/>
          </a:ln>
        </p:spPr>
        <p:txBody>
          <a:bodyPr/>
          <a:lstStyle/>
          <a:p>
            <a:endParaRPr lang="fr-FR"/>
          </a:p>
        </p:txBody>
      </p:sp>
      <p:sp>
        <p:nvSpPr>
          <p:cNvPr id="26" name="Shape R26"/>
          <p:cNvSpPr/>
          <p:nvPr/>
        </p:nvSpPr>
        <p:spPr>
          <a:xfrm>
            <a:off x="274320" y="2395728"/>
            <a:ext cx="256032" cy="310896"/>
          </a:xfrm>
          <a:prstGeom prst="rect">
            <a:avLst/>
          </a:prstGeom>
          <a:solidFill>
            <a:srgbClr val="2860A8"/>
          </a:solidFill>
          <a:ln w="12700">
            <a:solidFill>
              <a:srgbClr val="2860A8"/>
            </a:solidFill>
            <a:prstDash val="solid"/>
          </a:ln>
        </p:spPr>
        <p:txBody>
          <a:bodyPr/>
          <a:lstStyle/>
          <a:p>
            <a:endParaRPr lang="fr-FR"/>
          </a:p>
        </p:txBody>
      </p:sp>
      <p:sp>
        <p:nvSpPr>
          <p:cNvPr id="27" name="Text R27"/>
          <p:cNvSpPr/>
          <p:nvPr/>
        </p:nvSpPr>
        <p:spPr>
          <a:xfrm>
            <a:off x="274320" y="2395728"/>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8" name="Text R28"/>
          <p:cNvSpPr/>
          <p:nvPr/>
        </p:nvSpPr>
        <p:spPr>
          <a:xfrm>
            <a:off x="594360" y="2414016"/>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RC circulation (titre onéreux)</a:t>
            </a:r>
            <a:endParaRPr lang="en-US" sz="900" dirty="0"/>
          </a:p>
        </p:txBody>
      </p:sp>
      <p:sp>
        <p:nvSpPr>
          <p:cNvPr id="29" name="Shape R29"/>
          <p:cNvSpPr/>
          <p:nvPr/>
        </p:nvSpPr>
        <p:spPr>
          <a:xfrm>
            <a:off x="4709160" y="1353312"/>
            <a:ext cx="4160520" cy="310896"/>
          </a:xfrm>
          <a:prstGeom prst="rect">
            <a:avLst/>
          </a:prstGeom>
          <a:solidFill>
            <a:srgbClr val="E8F1FA"/>
          </a:solidFill>
          <a:ln w="6350">
            <a:solidFill>
              <a:srgbClr val="D0DCE8"/>
            </a:solidFill>
            <a:prstDash val="solid"/>
          </a:ln>
        </p:spPr>
        <p:txBody>
          <a:bodyPr/>
          <a:lstStyle/>
          <a:p>
            <a:endParaRPr lang="fr-FR"/>
          </a:p>
        </p:txBody>
      </p:sp>
      <p:sp>
        <p:nvSpPr>
          <p:cNvPr id="30" name="Shape R30"/>
          <p:cNvSpPr/>
          <p:nvPr/>
        </p:nvSpPr>
        <p:spPr>
          <a:xfrm>
            <a:off x="4709160" y="1353312"/>
            <a:ext cx="256032" cy="310896"/>
          </a:xfrm>
          <a:prstGeom prst="rect">
            <a:avLst/>
          </a:prstGeom>
          <a:solidFill>
            <a:srgbClr val="2860A8"/>
          </a:solidFill>
          <a:ln w="12700">
            <a:solidFill>
              <a:srgbClr val="2860A8"/>
            </a:solidFill>
            <a:prstDash val="solid"/>
          </a:ln>
        </p:spPr>
        <p:txBody>
          <a:bodyPr/>
          <a:lstStyle/>
          <a:p>
            <a:endParaRPr lang="fr-FR"/>
          </a:p>
        </p:txBody>
      </p:sp>
      <p:sp>
        <p:nvSpPr>
          <p:cNvPr id="31" name="Text R31"/>
          <p:cNvSpPr/>
          <p:nvPr/>
        </p:nvSpPr>
        <p:spPr>
          <a:xfrm>
            <a:off x="4709160" y="1353312"/>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2" name="Text R32"/>
          <p:cNvSpPr/>
          <p:nvPr/>
        </p:nvSpPr>
        <p:spPr>
          <a:xfrm>
            <a:off x="5029200" y="1371600"/>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RC professionnelle (exploitation)</a:t>
            </a:r>
            <a:endParaRPr lang="en-US" sz="900" dirty="0"/>
          </a:p>
        </p:txBody>
      </p:sp>
      <p:sp>
        <p:nvSpPr>
          <p:cNvPr id="33" name="Shape R33"/>
          <p:cNvSpPr/>
          <p:nvPr/>
        </p:nvSpPr>
        <p:spPr>
          <a:xfrm>
            <a:off x="4709160" y="1700784"/>
            <a:ext cx="4160520" cy="310896"/>
          </a:xfrm>
          <a:prstGeom prst="rect">
            <a:avLst/>
          </a:prstGeom>
          <a:solidFill>
            <a:srgbClr val="FFFFFF"/>
          </a:solidFill>
          <a:ln w="6350">
            <a:solidFill>
              <a:srgbClr val="D0DCE8"/>
            </a:solidFill>
            <a:prstDash val="solid"/>
          </a:ln>
        </p:spPr>
        <p:txBody>
          <a:bodyPr/>
          <a:lstStyle/>
          <a:p>
            <a:endParaRPr lang="fr-FR"/>
          </a:p>
        </p:txBody>
      </p:sp>
      <p:sp>
        <p:nvSpPr>
          <p:cNvPr id="34" name="Shape R34"/>
          <p:cNvSpPr/>
          <p:nvPr/>
        </p:nvSpPr>
        <p:spPr>
          <a:xfrm>
            <a:off x="4709160" y="1700784"/>
            <a:ext cx="256032" cy="310896"/>
          </a:xfrm>
          <a:prstGeom prst="rect">
            <a:avLst/>
          </a:prstGeom>
          <a:solidFill>
            <a:srgbClr val="2860A8"/>
          </a:solidFill>
          <a:ln w="12700">
            <a:solidFill>
              <a:srgbClr val="2860A8"/>
            </a:solidFill>
            <a:prstDash val="solid"/>
          </a:ln>
        </p:spPr>
        <p:txBody>
          <a:bodyPr/>
          <a:lstStyle/>
          <a:p>
            <a:endParaRPr lang="fr-FR"/>
          </a:p>
        </p:txBody>
      </p:sp>
      <p:sp>
        <p:nvSpPr>
          <p:cNvPr id="35" name="Text R35"/>
          <p:cNvSpPr/>
          <p:nvPr/>
        </p:nvSpPr>
        <p:spPr>
          <a:xfrm>
            <a:off x="4709160" y="170078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6" name="Text R36"/>
          <p:cNvSpPr/>
          <p:nvPr/>
        </p:nvSpPr>
        <p:spPr>
          <a:xfrm>
            <a:off x="5029200" y="1719072"/>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médicale valide</a:t>
            </a:r>
            <a:endParaRPr lang="en-US" sz="900" dirty="0"/>
          </a:p>
        </p:txBody>
      </p:sp>
      <p:sp>
        <p:nvSpPr>
          <p:cNvPr id="37" name="Shape R37"/>
          <p:cNvSpPr/>
          <p:nvPr/>
        </p:nvSpPr>
        <p:spPr>
          <a:xfrm>
            <a:off x="4709160" y="2048256"/>
            <a:ext cx="4160520" cy="310896"/>
          </a:xfrm>
          <a:prstGeom prst="rect">
            <a:avLst/>
          </a:prstGeom>
          <a:solidFill>
            <a:srgbClr val="E8F1FA"/>
          </a:solidFill>
          <a:ln w="6350">
            <a:solidFill>
              <a:srgbClr val="D0DCE8"/>
            </a:solidFill>
            <a:prstDash val="solid"/>
          </a:ln>
        </p:spPr>
        <p:txBody>
          <a:bodyPr/>
          <a:lstStyle/>
          <a:p>
            <a:endParaRPr lang="fr-FR"/>
          </a:p>
        </p:txBody>
      </p:sp>
      <p:sp>
        <p:nvSpPr>
          <p:cNvPr id="38" name="Shape R38"/>
          <p:cNvSpPr/>
          <p:nvPr/>
        </p:nvSpPr>
        <p:spPr>
          <a:xfrm>
            <a:off x="4709160" y="2048256"/>
            <a:ext cx="256032" cy="310896"/>
          </a:xfrm>
          <a:prstGeom prst="rect">
            <a:avLst/>
          </a:prstGeom>
          <a:solidFill>
            <a:srgbClr val="2860A8"/>
          </a:solidFill>
          <a:ln w="12700">
            <a:solidFill>
              <a:srgbClr val="2860A8"/>
            </a:solidFill>
            <a:prstDash val="solid"/>
          </a:ln>
        </p:spPr>
        <p:txBody>
          <a:bodyPr/>
          <a:lstStyle/>
          <a:p>
            <a:endParaRPr lang="fr-FR"/>
          </a:p>
        </p:txBody>
      </p:sp>
      <p:sp>
        <p:nvSpPr>
          <p:cNvPr id="39" name="Text R39"/>
          <p:cNvSpPr/>
          <p:nvPr/>
        </p:nvSpPr>
        <p:spPr>
          <a:xfrm>
            <a:off x="4709160" y="204825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0" name="Text R40"/>
          <p:cNvSpPr/>
          <p:nvPr/>
        </p:nvSpPr>
        <p:spPr>
          <a:xfrm>
            <a:off x="5029200" y="2066544"/>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de formation continue (14h/5 ans)</a:t>
            </a:r>
            <a:endParaRPr lang="en-US" sz="900" dirty="0"/>
          </a:p>
        </p:txBody>
      </p:sp>
      <p:sp>
        <p:nvSpPr>
          <p:cNvPr id="41" name="Shape R41"/>
          <p:cNvSpPr/>
          <p:nvPr/>
        </p:nvSpPr>
        <p:spPr>
          <a:xfrm>
            <a:off x="4709160" y="2395728"/>
            <a:ext cx="4160520" cy="310896"/>
          </a:xfrm>
          <a:prstGeom prst="rect">
            <a:avLst/>
          </a:prstGeom>
          <a:solidFill>
            <a:srgbClr val="FFFFFF"/>
          </a:solidFill>
          <a:ln w="6350">
            <a:solidFill>
              <a:srgbClr val="D0DCE8"/>
            </a:solidFill>
            <a:prstDash val="solid"/>
          </a:ln>
        </p:spPr>
        <p:txBody>
          <a:bodyPr/>
          <a:lstStyle/>
          <a:p>
            <a:endParaRPr lang="fr-FR"/>
          </a:p>
        </p:txBody>
      </p:sp>
      <p:sp>
        <p:nvSpPr>
          <p:cNvPr id="42" name="Shape R42"/>
          <p:cNvSpPr/>
          <p:nvPr/>
        </p:nvSpPr>
        <p:spPr>
          <a:xfrm>
            <a:off x="4709160" y="2395728"/>
            <a:ext cx="256032" cy="310896"/>
          </a:xfrm>
          <a:prstGeom prst="rect">
            <a:avLst/>
          </a:prstGeom>
          <a:solidFill>
            <a:srgbClr val="2860A8"/>
          </a:solidFill>
          <a:ln w="12700">
            <a:solidFill>
              <a:srgbClr val="2860A8"/>
            </a:solidFill>
            <a:prstDash val="solid"/>
          </a:ln>
        </p:spPr>
        <p:txBody>
          <a:bodyPr/>
          <a:lstStyle/>
          <a:p>
            <a:endParaRPr lang="fr-FR"/>
          </a:p>
        </p:txBody>
      </p:sp>
      <p:sp>
        <p:nvSpPr>
          <p:cNvPr id="43" name="Text R43"/>
          <p:cNvSpPr/>
          <p:nvPr/>
        </p:nvSpPr>
        <p:spPr>
          <a:xfrm>
            <a:off x="4709160" y="2395728"/>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4" name="Text R44"/>
          <p:cNvSpPr/>
          <p:nvPr/>
        </p:nvSpPr>
        <p:spPr>
          <a:xfrm>
            <a:off x="5029200" y="2414016"/>
            <a:ext cx="376732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Salariés : contrat de travail + DPAE</a:t>
            </a:r>
            <a:endParaRPr lang="en-US" sz="900" dirty="0"/>
          </a:p>
        </p:txBody>
      </p:sp>
      <p:sp>
        <p:nvSpPr>
          <p:cNvPr id="45" name="Shape NB45"/>
          <p:cNvSpPr/>
          <p:nvPr/>
        </p:nvSpPr>
        <p:spPr>
          <a:xfrm>
            <a:off x="274320" y="2943200"/>
            <a:ext cx="8595360" cy="256032"/>
          </a:xfrm>
          <a:prstGeom prst="rect">
            <a:avLst/>
          </a:prstGeom>
          <a:solidFill>
            <a:srgbClr val="EDF7EE"/>
          </a:solidFill>
          <a:ln w="19050">
            <a:solidFill>
              <a:srgbClr val="2E7D32"/>
            </a:solidFill>
            <a:prstDash val="solid"/>
          </a:ln>
        </p:spPr>
        <p:txBody>
          <a:bodyPr/>
          <a:lstStyle/>
          <a:p>
            <a:endParaRPr lang="fr-FR"/>
          </a:p>
        </p:txBody>
      </p:sp>
      <p:sp>
        <p:nvSpPr>
          <p:cNvPr id="46" name="Shape NB46"/>
          <p:cNvSpPr/>
          <p:nvPr/>
        </p:nvSpPr>
        <p:spPr>
          <a:xfrm>
            <a:off x="274320" y="2943200"/>
            <a:ext cx="54864" cy="256032"/>
          </a:xfrm>
          <a:prstGeom prst="rect">
            <a:avLst/>
          </a:prstGeom>
          <a:solidFill>
            <a:srgbClr val="2E7D32"/>
          </a:solidFill>
          <a:ln w="12700">
            <a:solidFill>
              <a:srgbClr val="2E7D32"/>
            </a:solidFill>
            <a:prstDash val="solid"/>
          </a:ln>
        </p:spPr>
        <p:txBody>
          <a:bodyPr/>
          <a:lstStyle/>
          <a:p>
            <a:endParaRPr lang="fr-FR"/>
          </a:p>
        </p:txBody>
      </p:sp>
      <p:sp>
        <p:nvSpPr>
          <p:cNvPr id="47" name="Text NB47"/>
          <p:cNvSpPr/>
          <p:nvPr/>
        </p:nvSpPr>
        <p:spPr>
          <a:xfrm>
            <a:off x="384048" y="2943200"/>
            <a:ext cx="8468352" cy="25603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S'ajoutent à ces documents ceux propres à chaque profession : ADS (taxi), registre national VTC + vignette (VTC), permis A et carte VMDTR (VMDTR).</a:t>
            </a:r>
            <a:endParaRPr lang="en-US" sz="1000" dirty="0"/>
          </a:p>
        </p:txBody>
      </p:sp>
      <p:sp>
        <p:nvSpPr>
          <p:cNvPr id="48" name="Rectangle 4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49" name="Rectangle 4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name="Slide 4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Conditions de délivrance de la carte professionnelle T3P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3 conditions cumulatives — communes aux 3 professions Taxi, VTC et VMDTR</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37d/88</a:t>
            </a:r>
            <a:endParaRPr lang="en-US" sz="800" dirty="0"/>
          </a:p>
        </p:txBody>
      </p:sp>
      <p:sp>
        <p:nvSpPr>
          <p:cNvPr id="9" name="Text P9"/>
          <p:cNvSpPr/>
          <p:nvPr/>
        </p:nvSpPr>
        <p:spPr>
          <a:xfrm>
            <a:off x="274320" y="960120"/>
            <a:ext cx="8595360" cy="3657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Quelle que soit la profession visée (taxi, VTC ou VMDTR), la délivrance de la carte professionnelle T3P par la préfecture repose sur 3 conditions cumulatives, détaillées ci-dessous.</a:t>
            </a:r>
            <a:endParaRPr lang="en-US" sz="1000" dirty="0"/>
          </a:p>
        </p:txBody>
      </p:sp>
      <p:sp>
        <p:nvSpPr>
          <p:cNvPr id="10" name="Shape CB10"/>
          <p:cNvSpPr/>
          <p:nvPr/>
        </p:nvSpPr>
        <p:spPr>
          <a:xfrm>
            <a:off x="274320" y="1500000"/>
            <a:ext cx="2724912" cy="896112"/>
          </a:xfrm>
          <a:prstGeom prst="rect">
            <a:avLst/>
          </a:prstGeom>
          <a:solidFill>
            <a:srgbClr val="E8F1FA"/>
          </a:solidFill>
          <a:ln w="6350">
            <a:solidFill>
              <a:srgbClr val="D0DCE8"/>
            </a:solidFill>
            <a:prstDash val="solid"/>
          </a:ln>
        </p:spPr>
        <p:txBody>
          <a:bodyPr/>
          <a:lstStyle/>
          <a:p>
            <a:endParaRPr lang="fr-FR"/>
          </a:p>
        </p:txBody>
      </p:sp>
      <p:sp>
        <p:nvSpPr>
          <p:cNvPr id="11" name="Shape CB11"/>
          <p:cNvSpPr/>
          <p:nvPr/>
        </p:nvSpPr>
        <p:spPr>
          <a:xfrm>
            <a:off x="274320" y="1500000"/>
            <a:ext cx="2724912" cy="237744"/>
          </a:xfrm>
          <a:prstGeom prst="rect">
            <a:avLst/>
          </a:prstGeom>
          <a:solidFill>
            <a:srgbClr val="2860A8"/>
          </a:solidFill>
          <a:ln w="12700">
            <a:solidFill>
              <a:srgbClr val="2860A8"/>
            </a:solidFill>
            <a:prstDash val="solid"/>
          </a:ln>
        </p:spPr>
        <p:txBody>
          <a:bodyPr/>
          <a:lstStyle/>
          <a:p>
            <a:endParaRPr lang="fr-FR"/>
          </a:p>
        </p:txBody>
      </p:sp>
      <p:sp>
        <p:nvSpPr>
          <p:cNvPr id="12" name="Text CB12"/>
          <p:cNvSpPr/>
          <p:nvPr/>
        </p:nvSpPr>
        <p:spPr>
          <a:xfrm>
            <a:off x="347472" y="1500000"/>
            <a:ext cx="257860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Permis hors période probatoire</a:t>
            </a:r>
            <a:endParaRPr lang="en-US" sz="900" dirty="0"/>
          </a:p>
        </p:txBody>
      </p:sp>
      <p:sp>
        <p:nvSpPr>
          <p:cNvPr id="13" name="Text CB13"/>
          <p:cNvSpPr/>
          <p:nvPr/>
        </p:nvSpPr>
        <p:spPr>
          <a:xfrm>
            <a:off x="365760" y="1756032"/>
            <a:ext cx="2542032" cy="6217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Titulaire d'un permis B (taxi/VTC) ou A depuis 3 ans (VMDTR), hors période probatoire.</a:t>
            </a:r>
            <a:endParaRPr lang="en-US" sz="880" dirty="0"/>
          </a:p>
        </p:txBody>
      </p:sp>
      <p:sp>
        <p:nvSpPr>
          <p:cNvPr id="14" name="Shape CB14"/>
          <p:cNvSpPr/>
          <p:nvPr/>
        </p:nvSpPr>
        <p:spPr>
          <a:xfrm>
            <a:off x="3154680" y="1500000"/>
            <a:ext cx="2724912" cy="896112"/>
          </a:xfrm>
          <a:prstGeom prst="rect">
            <a:avLst/>
          </a:prstGeom>
          <a:solidFill>
            <a:srgbClr val="E8F1FA"/>
          </a:solidFill>
          <a:ln w="6350">
            <a:solidFill>
              <a:srgbClr val="D0DCE8"/>
            </a:solidFill>
            <a:prstDash val="solid"/>
          </a:ln>
        </p:spPr>
        <p:txBody>
          <a:bodyPr/>
          <a:lstStyle/>
          <a:p>
            <a:endParaRPr lang="fr-FR"/>
          </a:p>
        </p:txBody>
      </p:sp>
      <p:sp>
        <p:nvSpPr>
          <p:cNvPr id="15" name="Shape CB15"/>
          <p:cNvSpPr/>
          <p:nvPr/>
        </p:nvSpPr>
        <p:spPr>
          <a:xfrm>
            <a:off x="3154680" y="1500000"/>
            <a:ext cx="2724912" cy="237744"/>
          </a:xfrm>
          <a:prstGeom prst="rect">
            <a:avLst/>
          </a:prstGeom>
          <a:solidFill>
            <a:srgbClr val="F4A227"/>
          </a:solidFill>
          <a:ln w="12700">
            <a:solidFill>
              <a:srgbClr val="F4A227"/>
            </a:solidFill>
            <a:prstDash val="solid"/>
          </a:ln>
        </p:spPr>
        <p:txBody>
          <a:bodyPr/>
          <a:lstStyle/>
          <a:p>
            <a:endParaRPr lang="fr-FR"/>
          </a:p>
        </p:txBody>
      </p:sp>
      <p:sp>
        <p:nvSpPr>
          <p:cNvPr id="16" name="Text CB16"/>
          <p:cNvSpPr/>
          <p:nvPr/>
        </p:nvSpPr>
        <p:spPr>
          <a:xfrm>
            <a:off x="3227832" y="1500000"/>
            <a:ext cx="257860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Aptitude professionnelle</a:t>
            </a:r>
            <a:endParaRPr lang="en-US" sz="900" dirty="0"/>
          </a:p>
        </p:txBody>
      </p:sp>
      <p:sp>
        <p:nvSpPr>
          <p:cNvPr id="17" name="Text CB17"/>
          <p:cNvSpPr/>
          <p:nvPr/>
        </p:nvSpPr>
        <p:spPr>
          <a:xfrm>
            <a:off x="3246120" y="1756032"/>
            <a:ext cx="2542032" cy="6217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Examen T3P réussi (tronc commun taxi/VTC, épreuve spécifique VMDTR).</a:t>
            </a:r>
            <a:endParaRPr lang="en-US" sz="880" dirty="0"/>
          </a:p>
        </p:txBody>
      </p:sp>
      <p:sp>
        <p:nvSpPr>
          <p:cNvPr id="18" name="Shape CB18"/>
          <p:cNvSpPr/>
          <p:nvPr/>
        </p:nvSpPr>
        <p:spPr>
          <a:xfrm>
            <a:off x="6035040" y="1500000"/>
            <a:ext cx="2724912" cy="896112"/>
          </a:xfrm>
          <a:prstGeom prst="rect">
            <a:avLst/>
          </a:prstGeom>
          <a:solidFill>
            <a:srgbClr val="E8F1FA"/>
          </a:solidFill>
          <a:ln w="6350">
            <a:solidFill>
              <a:srgbClr val="D0DCE8"/>
            </a:solidFill>
            <a:prstDash val="solid"/>
          </a:ln>
        </p:spPr>
        <p:txBody>
          <a:bodyPr/>
          <a:lstStyle/>
          <a:p>
            <a:endParaRPr lang="fr-FR"/>
          </a:p>
        </p:txBody>
      </p:sp>
      <p:sp>
        <p:nvSpPr>
          <p:cNvPr id="19" name="Shape CB19"/>
          <p:cNvSpPr/>
          <p:nvPr/>
        </p:nvSpPr>
        <p:spPr>
          <a:xfrm>
            <a:off x="6035040" y="1500000"/>
            <a:ext cx="2724912" cy="237744"/>
          </a:xfrm>
          <a:prstGeom prst="rect">
            <a:avLst/>
          </a:prstGeom>
          <a:solidFill>
            <a:srgbClr val="6B7A8D"/>
          </a:solidFill>
          <a:ln w="12700">
            <a:solidFill>
              <a:srgbClr val="6B7A8D"/>
            </a:solidFill>
            <a:prstDash val="solid"/>
          </a:ln>
        </p:spPr>
        <p:txBody>
          <a:bodyPr/>
          <a:lstStyle/>
          <a:p>
            <a:endParaRPr lang="fr-FR"/>
          </a:p>
        </p:txBody>
      </p:sp>
      <p:sp>
        <p:nvSpPr>
          <p:cNvPr id="20" name="Text CB20"/>
          <p:cNvSpPr/>
          <p:nvPr/>
        </p:nvSpPr>
        <p:spPr>
          <a:xfrm>
            <a:off x="6108192" y="1500000"/>
            <a:ext cx="257860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Honorabilité professionnelle</a:t>
            </a:r>
            <a:endParaRPr lang="en-US" sz="900" dirty="0"/>
          </a:p>
        </p:txBody>
      </p:sp>
      <p:sp>
        <p:nvSpPr>
          <p:cNvPr id="21" name="Text CB21"/>
          <p:cNvSpPr/>
          <p:nvPr/>
        </p:nvSpPr>
        <p:spPr>
          <a:xfrm>
            <a:off x="6126480" y="1756032"/>
            <a:ext cx="2542032" cy="6217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Casier judiciaire B2 vierge des mentions incompatibles avec l'exercice du T3P.</a:t>
            </a:r>
            <a:endParaRPr lang="en-US" sz="880" dirty="0"/>
          </a:p>
        </p:txBody>
      </p:sp>
      <p:sp>
        <p:nvSpPr>
          <p:cNvPr id="22" name="Shape SH22"/>
          <p:cNvSpPr/>
          <p:nvPr/>
        </p:nvSpPr>
        <p:spPr>
          <a:xfrm>
            <a:off x="274320" y="2596112"/>
            <a:ext cx="8595360" cy="320040"/>
          </a:xfrm>
          <a:prstGeom prst="rect">
            <a:avLst/>
          </a:prstGeom>
          <a:solidFill>
            <a:srgbClr val="1A3A5C"/>
          </a:solidFill>
          <a:ln w="12700">
            <a:solidFill>
              <a:srgbClr val="1A3A5C"/>
            </a:solidFill>
            <a:prstDash val="solid"/>
          </a:ln>
        </p:spPr>
        <p:txBody>
          <a:bodyPr/>
          <a:lstStyle/>
          <a:p>
            <a:endParaRPr lang="fr-FR"/>
          </a:p>
        </p:txBody>
      </p:sp>
      <p:sp>
        <p:nvSpPr>
          <p:cNvPr id="23" name="Text SH23"/>
          <p:cNvSpPr/>
          <p:nvPr/>
        </p:nvSpPr>
        <p:spPr>
          <a:xfrm>
            <a:off x="274320" y="2596112"/>
            <a:ext cx="859536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PERMIS DE CONDUIRE REQUIS SELON LA PROFESSION</a:t>
            </a:r>
            <a:endParaRPr lang="en-US" sz="1000" dirty="0"/>
          </a:p>
        </p:txBody>
      </p:sp>
      <p:sp>
        <p:nvSpPr>
          <p:cNvPr id="24" name="Shape R24"/>
          <p:cNvSpPr/>
          <p:nvPr/>
        </p:nvSpPr>
        <p:spPr>
          <a:xfrm>
            <a:off x="274320" y="2989304"/>
            <a:ext cx="8595360" cy="310896"/>
          </a:xfrm>
          <a:prstGeom prst="rect">
            <a:avLst/>
          </a:prstGeom>
          <a:solidFill>
            <a:srgbClr val="E8F1FA"/>
          </a:solidFill>
          <a:ln w="6350">
            <a:solidFill>
              <a:srgbClr val="D0DCE8"/>
            </a:solidFill>
            <a:prstDash val="solid"/>
          </a:ln>
        </p:spPr>
        <p:txBody>
          <a:bodyPr/>
          <a:lstStyle/>
          <a:p>
            <a:endParaRPr lang="fr-FR"/>
          </a:p>
        </p:txBody>
      </p:sp>
      <p:sp>
        <p:nvSpPr>
          <p:cNvPr id="25" name="Shape R25"/>
          <p:cNvSpPr/>
          <p:nvPr/>
        </p:nvSpPr>
        <p:spPr>
          <a:xfrm>
            <a:off x="274320" y="2989304"/>
            <a:ext cx="256032" cy="310896"/>
          </a:xfrm>
          <a:prstGeom prst="rect">
            <a:avLst/>
          </a:prstGeom>
          <a:solidFill>
            <a:srgbClr val="2860A8"/>
          </a:solidFill>
          <a:ln w="12700">
            <a:solidFill>
              <a:srgbClr val="2860A8"/>
            </a:solidFill>
            <a:prstDash val="solid"/>
          </a:ln>
        </p:spPr>
        <p:txBody>
          <a:bodyPr/>
          <a:lstStyle/>
          <a:p>
            <a:endParaRPr lang="fr-FR"/>
          </a:p>
        </p:txBody>
      </p:sp>
      <p:sp>
        <p:nvSpPr>
          <p:cNvPr id="26" name="Text R26"/>
          <p:cNvSpPr/>
          <p:nvPr/>
        </p:nvSpPr>
        <p:spPr>
          <a:xfrm>
            <a:off x="274320" y="298930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7" name="Text R27"/>
          <p:cNvSpPr/>
          <p:nvPr/>
        </p:nvSpPr>
        <p:spPr>
          <a:xfrm>
            <a:off x="594360" y="30075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Taxi et VTC : permis B, hors période probatoire (pas d'équivalence par expérience).</a:t>
            </a:r>
            <a:endParaRPr lang="en-US" sz="900" dirty="0"/>
          </a:p>
        </p:txBody>
      </p:sp>
      <p:sp>
        <p:nvSpPr>
          <p:cNvPr id="28" name="Shape R28"/>
          <p:cNvSpPr/>
          <p:nvPr/>
        </p:nvSpPr>
        <p:spPr>
          <a:xfrm>
            <a:off x="274320" y="3336776"/>
            <a:ext cx="8595360" cy="310896"/>
          </a:xfrm>
          <a:prstGeom prst="rect">
            <a:avLst/>
          </a:prstGeom>
          <a:solidFill>
            <a:srgbClr val="FFFFFF"/>
          </a:solidFill>
          <a:ln w="6350">
            <a:solidFill>
              <a:srgbClr val="D0DCE8"/>
            </a:solidFill>
            <a:prstDash val="solid"/>
          </a:ln>
        </p:spPr>
        <p:txBody>
          <a:bodyPr/>
          <a:lstStyle/>
          <a:p>
            <a:endParaRPr lang="fr-FR"/>
          </a:p>
        </p:txBody>
      </p:sp>
      <p:sp>
        <p:nvSpPr>
          <p:cNvPr id="29" name="Shape R29"/>
          <p:cNvSpPr/>
          <p:nvPr/>
        </p:nvSpPr>
        <p:spPr>
          <a:xfrm>
            <a:off x="274320" y="3336776"/>
            <a:ext cx="256032" cy="310896"/>
          </a:xfrm>
          <a:prstGeom prst="rect">
            <a:avLst/>
          </a:prstGeom>
          <a:solidFill>
            <a:srgbClr val="2860A8"/>
          </a:solidFill>
          <a:ln w="12700">
            <a:solidFill>
              <a:srgbClr val="2860A8"/>
            </a:solidFill>
            <a:prstDash val="solid"/>
          </a:ln>
        </p:spPr>
        <p:txBody>
          <a:bodyPr/>
          <a:lstStyle/>
          <a:p>
            <a:endParaRPr lang="fr-FR"/>
          </a:p>
        </p:txBody>
      </p:sp>
      <p:sp>
        <p:nvSpPr>
          <p:cNvPr id="30" name="Text R30"/>
          <p:cNvSpPr/>
          <p:nvPr/>
        </p:nvSpPr>
        <p:spPr>
          <a:xfrm>
            <a:off x="274320" y="333677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1" name="Text R31"/>
          <p:cNvSpPr/>
          <p:nvPr/>
        </p:nvSpPr>
        <p:spPr>
          <a:xfrm>
            <a:off x="594360" y="3355064"/>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VMDTR : permis A (sans restriction, A1/A2 insuffisant) depuis au moins 3 ans, hors période probatoire.</a:t>
            </a:r>
            <a:endParaRPr lang="en-US" sz="900" dirty="0"/>
          </a:p>
        </p:txBody>
      </p:sp>
      <p:sp>
        <p:nvSpPr>
          <p:cNvPr id="32" name="Shape NB32"/>
          <p:cNvSpPr/>
          <p:nvPr/>
        </p:nvSpPr>
        <p:spPr>
          <a:xfrm>
            <a:off x="274320" y="3834248"/>
            <a:ext cx="8595360" cy="256032"/>
          </a:xfrm>
          <a:prstGeom prst="rect">
            <a:avLst/>
          </a:prstGeom>
          <a:solidFill>
            <a:srgbClr val="EDF7EE"/>
          </a:solidFill>
          <a:ln w="19050">
            <a:solidFill>
              <a:srgbClr val="2E7D32"/>
            </a:solidFill>
            <a:prstDash val="solid"/>
          </a:ln>
        </p:spPr>
        <p:txBody>
          <a:bodyPr/>
          <a:lstStyle/>
          <a:p>
            <a:endParaRPr lang="fr-FR"/>
          </a:p>
        </p:txBody>
      </p:sp>
      <p:sp>
        <p:nvSpPr>
          <p:cNvPr id="33" name="Shape NB33"/>
          <p:cNvSpPr/>
          <p:nvPr/>
        </p:nvSpPr>
        <p:spPr>
          <a:xfrm>
            <a:off x="274320" y="3834248"/>
            <a:ext cx="54864" cy="256032"/>
          </a:xfrm>
          <a:prstGeom prst="rect">
            <a:avLst/>
          </a:prstGeom>
          <a:solidFill>
            <a:srgbClr val="2E7D32"/>
          </a:solidFill>
          <a:ln w="12700">
            <a:solidFill>
              <a:srgbClr val="2E7D32"/>
            </a:solidFill>
            <a:prstDash val="solid"/>
          </a:ln>
        </p:spPr>
        <p:txBody>
          <a:bodyPr/>
          <a:lstStyle/>
          <a:p>
            <a:endParaRPr lang="fr-FR"/>
          </a:p>
        </p:txBody>
      </p:sp>
      <p:sp>
        <p:nvSpPr>
          <p:cNvPr id="34" name="Text NB34"/>
          <p:cNvSpPr/>
          <p:nvPr/>
        </p:nvSpPr>
        <p:spPr>
          <a:xfrm>
            <a:off x="384048" y="3834248"/>
            <a:ext cx="8468352" cy="25603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Délai maximum de délivrance : 3 mois. La carte doit être apposée côté photo visible de l'extérieur. Restitution obligatoire à la cessation d'activité.</a:t>
            </a:r>
            <a:endParaRPr lang="en-US" sz="1000" dirty="0"/>
          </a:p>
        </p:txBody>
      </p:sp>
      <p:sp>
        <p:nvSpPr>
          <p:cNvPr id="35" name="Rectangle 3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6" name="Rectangle 3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infractions pénales — 3 catégories</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Classification selon la gravité — Code pénal</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37e/88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Le droit pénal français distingue trois catégories d'infractions selon leur gravité croissante. Cette classification détermine le tribunal compétent et l'échelle des peines encourues.</a:t>
            </a:r>
            <a:endParaRPr lang="en-US" sz="1200" dirty="0"/>
          </a:p>
        </p:txBody>
      </p:sp>
      <p:sp>
        <p:nvSpPr>
          <p:cNvPr id="10" name="Shape 8"/>
          <p:cNvSpPr/>
          <p:nvPr/>
        </p:nvSpPr>
        <p:spPr>
          <a:xfrm>
            <a:off x="274320" y="1627632"/>
            <a:ext cx="2743200" cy="3127248"/>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627632"/>
            <a:ext cx="274320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47472" y="1627632"/>
            <a:ext cx="261518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CONTRAVENTIONS</a:t>
            </a:r>
            <a:endParaRPr lang="en-US" sz="1000" dirty="0"/>
          </a:p>
        </p:txBody>
      </p:sp>
      <p:sp>
        <p:nvSpPr>
          <p:cNvPr id="13" name="Shape 11"/>
          <p:cNvSpPr/>
          <p:nvPr/>
        </p:nvSpPr>
        <p:spPr>
          <a:xfrm>
            <a:off x="548640" y="1993392"/>
            <a:ext cx="2194560" cy="475488"/>
          </a:xfrm>
          <a:prstGeom prst="rect">
            <a:avLst/>
          </a:prstGeom>
          <a:solidFill>
            <a:srgbClr val="1A3A5C"/>
          </a:solidFill>
          <a:ln w="12700">
            <a:solidFill>
              <a:srgbClr val="1A3A5C"/>
            </a:solidFill>
            <a:prstDash val="solid"/>
          </a:ln>
        </p:spPr>
        <p:txBody>
          <a:bodyPr/>
          <a:lstStyle/>
          <a:p>
            <a:endParaRPr lang="fr-FR"/>
          </a:p>
        </p:txBody>
      </p:sp>
      <p:sp>
        <p:nvSpPr>
          <p:cNvPr id="14" name="Text 12"/>
          <p:cNvSpPr/>
          <p:nvPr/>
        </p:nvSpPr>
        <p:spPr>
          <a:xfrm>
            <a:off x="548640" y="1993392"/>
            <a:ext cx="219456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3 000 €</a:t>
            </a:r>
            <a:endParaRPr lang="en-US" sz="1600" dirty="0"/>
          </a:p>
        </p:txBody>
      </p:sp>
      <p:sp>
        <p:nvSpPr>
          <p:cNvPr id="15" name="Text 13"/>
          <p:cNvSpPr/>
          <p:nvPr/>
        </p:nvSpPr>
        <p:spPr>
          <a:xfrm>
            <a:off x="365760" y="2514600"/>
            <a:ext cx="2578608" cy="2194560"/>
          </a:xfrm>
          <a:prstGeom prst="rect">
            <a:avLst/>
          </a:prstGeom>
          <a:noFill/>
          <a:ln/>
        </p:spPr>
        <p:txBody>
          <a:bodyPr wrap="square" rtlCol="0" anchor="t"/>
          <a:lstStyle/>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Amende max. selon 5 classes : 1ʳᵉ (38 €), 2ᵉ (150 €), 3ᵉ (450 €), 4ᵉ (750 €), 5ᵉ (1 500 €, 3 000 € en récidive).</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Exemples : stationnement gênant (1ʳᵉ), défaut de casque (2ᵉ), défaut de ceinture (3ᵉ), téléphone au volant (4ᵉ), défaut d'assurance (5ᵉ).</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Jugées par le tribunal de police (juge unique).</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En général sans incidence sur le casier B2, sauf peine complémentaire prononcée par le juge.</a:t>
            </a:r>
            <a:endParaRPr lang="en-US" sz="880" dirty="0"/>
          </a:p>
        </p:txBody>
      </p:sp>
      <p:sp>
        <p:nvSpPr>
          <p:cNvPr id="16" name="Shape 14"/>
          <p:cNvSpPr/>
          <p:nvPr/>
        </p:nvSpPr>
        <p:spPr>
          <a:xfrm>
            <a:off x="3154680" y="1627632"/>
            <a:ext cx="2743200" cy="3127248"/>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3154680" y="1627632"/>
            <a:ext cx="2743200" cy="301752"/>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3227832" y="1627632"/>
            <a:ext cx="261518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DÉLITS</a:t>
            </a:r>
            <a:endParaRPr lang="en-US" sz="1000" dirty="0"/>
          </a:p>
        </p:txBody>
      </p:sp>
      <p:sp>
        <p:nvSpPr>
          <p:cNvPr id="19" name="Shape 17"/>
          <p:cNvSpPr/>
          <p:nvPr/>
        </p:nvSpPr>
        <p:spPr>
          <a:xfrm>
            <a:off x="3429000" y="1993392"/>
            <a:ext cx="2194560" cy="475488"/>
          </a:xfrm>
          <a:prstGeom prst="rect">
            <a:avLst/>
          </a:prstGeom>
          <a:solidFill>
            <a:srgbClr val="2860A8"/>
          </a:solidFill>
          <a:ln w="12700">
            <a:solidFill>
              <a:srgbClr val="2860A8"/>
            </a:solidFill>
            <a:prstDash val="solid"/>
          </a:ln>
        </p:spPr>
        <p:txBody>
          <a:bodyPr/>
          <a:lstStyle/>
          <a:p>
            <a:endParaRPr lang="fr-FR"/>
          </a:p>
        </p:txBody>
      </p:sp>
      <p:sp>
        <p:nvSpPr>
          <p:cNvPr id="20" name="Text 18"/>
          <p:cNvSpPr/>
          <p:nvPr/>
        </p:nvSpPr>
        <p:spPr>
          <a:xfrm>
            <a:off x="3429000" y="1993392"/>
            <a:ext cx="219456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 ANS</a:t>
            </a:r>
            <a:endParaRPr lang="en-US" sz="1600" dirty="0"/>
          </a:p>
        </p:txBody>
      </p:sp>
      <p:sp>
        <p:nvSpPr>
          <p:cNvPr id="21" name="Text 19"/>
          <p:cNvSpPr/>
          <p:nvPr/>
        </p:nvSpPr>
        <p:spPr>
          <a:xfrm>
            <a:off x="3246120" y="2514600"/>
            <a:ext cx="2578608" cy="2194560"/>
          </a:xfrm>
          <a:prstGeom prst="rect">
            <a:avLst/>
          </a:prstGeom>
          <a:noFill/>
          <a:ln/>
        </p:spPr>
        <p:txBody>
          <a:bodyPr wrap="square" rtlCol="0" anchor="t"/>
          <a:lstStyle/>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Amende ≥ 3 750 € et/ou emprisonnement jusqu'à 10 ans (20 ans en cas de récidive).</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Exemples : vol, escroquerie, abus de confiance, violences aggravées, conduite sous stupéfiants ou en état d'ivresse, délit de fuite, maraude illégale (VTC/VMDTR).</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Jugés par le tribunal correctionnel.</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Inscrits au bulletin n°2 → impact direct sur l'honorabilité professionnelle T3P.</a:t>
            </a:r>
            <a:endParaRPr lang="en-US" sz="880" dirty="0"/>
          </a:p>
        </p:txBody>
      </p:sp>
      <p:sp>
        <p:nvSpPr>
          <p:cNvPr id="22" name="Shape 20"/>
          <p:cNvSpPr/>
          <p:nvPr/>
        </p:nvSpPr>
        <p:spPr>
          <a:xfrm>
            <a:off x="6035040" y="1627632"/>
            <a:ext cx="2743200" cy="3127248"/>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6035040" y="1627632"/>
            <a:ext cx="2743200" cy="301752"/>
          </a:xfrm>
          <a:prstGeom prst="rect">
            <a:avLst/>
          </a:prstGeom>
          <a:solidFill>
            <a:srgbClr val="F4A227"/>
          </a:solidFill>
          <a:ln w="12700">
            <a:solidFill>
              <a:srgbClr val="F4A227"/>
            </a:solidFill>
            <a:prstDash val="solid"/>
          </a:ln>
        </p:spPr>
        <p:txBody>
          <a:bodyPr/>
          <a:lstStyle/>
          <a:p>
            <a:endParaRPr lang="fr-FR"/>
          </a:p>
        </p:txBody>
      </p:sp>
      <p:sp>
        <p:nvSpPr>
          <p:cNvPr id="24" name="Text 22"/>
          <p:cNvSpPr/>
          <p:nvPr/>
        </p:nvSpPr>
        <p:spPr>
          <a:xfrm>
            <a:off x="6108192" y="1627632"/>
            <a:ext cx="261518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CRIMES</a:t>
            </a:r>
            <a:endParaRPr lang="en-US" sz="1000" dirty="0"/>
          </a:p>
        </p:txBody>
      </p:sp>
      <p:sp>
        <p:nvSpPr>
          <p:cNvPr id="25" name="Shape 23"/>
          <p:cNvSpPr/>
          <p:nvPr/>
        </p:nvSpPr>
        <p:spPr>
          <a:xfrm>
            <a:off x="6309360" y="1993392"/>
            <a:ext cx="2194560" cy="475488"/>
          </a:xfrm>
          <a:prstGeom prst="rect">
            <a:avLst/>
          </a:prstGeom>
          <a:solidFill>
            <a:srgbClr val="F4A227"/>
          </a:solidFill>
          <a:ln w="12700">
            <a:solidFill>
              <a:srgbClr val="F4A227"/>
            </a:solidFill>
            <a:prstDash val="solid"/>
          </a:ln>
        </p:spPr>
        <p:txBody>
          <a:bodyPr/>
          <a:lstStyle/>
          <a:p>
            <a:endParaRPr lang="fr-FR"/>
          </a:p>
        </p:txBody>
      </p:sp>
      <p:sp>
        <p:nvSpPr>
          <p:cNvPr id="26" name="Text 24"/>
          <p:cNvSpPr/>
          <p:nvPr/>
        </p:nvSpPr>
        <p:spPr>
          <a:xfrm>
            <a:off x="6309360" y="1993392"/>
            <a:ext cx="219456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15 ANS À PERPÉTUITÉ</a:t>
            </a:r>
            <a:endParaRPr lang="en-US" sz="1600" dirty="0"/>
          </a:p>
        </p:txBody>
      </p:sp>
      <p:sp>
        <p:nvSpPr>
          <p:cNvPr id="27" name="Text 25"/>
          <p:cNvSpPr/>
          <p:nvPr/>
        </p:nvSpPr>
        <p:spPr>
          <a:xfrm>
            <a:off x="6126480" y="2514600"/>
            <a:ext cx="2578608" cy="2194560"/>
          </a:xfrm>
          <a:prstGeom prst="rect">
            <a:avLst/>
          </a:prstGeom>
          <a:noFill/>
          <a:ln/>
        </p:spPr>
        <p:txBody>
          <a:bodyPr wrap="square" rtlCol="0" anchor="t"/>
          <a:lstStyle/>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Peines de 15 ans de réclusion à la réclusion criminelle à perpétuité.</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Exemples : meurtre, viol, vol à main armée, actes de torture et de barbarie.</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Jugés en cour d'assises (ou cour criminelle départementale pour les crimes punis de 15 à 20 ans).</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Inscrits systématiquement au B2 → exclusion automatique de la profession T3P.</a:t>
            </a:r>
            <a:endParaRPr lang="en-US" sz="880" dirty="0"/>
          </a:p>
        </p:txBody>
      </p:sp>
      <p:sp>
        <p:nvSpPr>
          <p:cNvPr id="28" name="Rectangle 2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9" name="Rectangle 2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3 bulletins du casier judiciaire</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Bulletin n°1, n°2, n°3 — quelles infractions y figurent</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37f/88</a:t>
            </a:r>
            <a:endParaRPr lang="en-US" sz="800" dirty="0"/>
          </a:p>
        </p:txBody>
      </p:sp>
      <p:sp>
        <p:nvSpPr>
          <p:cNvPr id="9" name="Text 7"/>
          <p:cNvSpPr/>
          <p:nvPr/>
        </p:nvSpPr>
        <p:spPr>
          <a:xfrm>
            <a:off x="274320" y="1078992"/>
            <a:ext cx="8595360" cy="475488"/>
          </a:xfrm>
          <a:prstGeom prst="rect">
            <a:avLst/>
          </a:prstGeom>
          <a:noFill/>
          <a:ln/>
        </p:spPr>
        <p:txBody>
          <a:bodyPr wrap="square" rtlCol="0" anchor="t"/>
          <a:lstStyle/>
          <a:p>
            <a:pPr marL="0" indent="0">
              <a:buNone/>
            </a:pPr>
            <a:r>
              <a:rPr lang="en-US" sz="1200" dirty="0">
                <a:solidFill>
                  <a:srgbClr val="3A3A3A"/>
                </a:solidFill>
                <a:latin typeface="Calibri" pitchFamily="34" charset="0"/>
                <a:ea typeface="Calibri" pitchFamily="34" charset="-122"/>
                <a:cs typeface="Calibri" pitchFamily="34" charset="-120"/>
              </a:rPr>
              <a:t>Le casier judiciaire national comporte trois bulletins, du plus complet au plus restreint. Seul le bulletin n°2 est exigé pour l'exercice d'une profession T3P.</a:t>
            </a:r>
            <a:endParaRPr lang="en-US" sz="1200" dirty="0"/>
          </a:p>
        </p:txBody>
      </p:sp>
      <p:sp>
        <p:nvSpPr>
          <p:cNvPr id="10" name="Shape 8"/>
          <p:cNvSpPr/>
          <p:nvPr/>
        </p:nvSpPr>
        <p:spPr>
          <a:xfrm>
            <a:off x="274320" y="1627632"/>
            <a:ext cx="2743200" cy="3127248"/>
          </a:xfrm>
          <a:prstGeom prst="rect">
            <a:avLst/>
          </a:prstGeom>
          <a:solidFill>
            <a:srgbClr val="E8F1FA"/>
          </a:solidFill>
          <a:ln w="6350">
            <a:solidFill>
              <a:srgbClr val="D0DCE8"/>
            </a:solidFill>
            <a:prstDash val="solid"/>
          </a:ln>
        </p:spPr>
        <p:txBody>
          <a:bodyPr/>
          <a:lstStyle/>
          <a:p>
            <a:endParaRPr lang="fr-FR"/>
          </a:p>
        </p:txBody>
      </p:sp>
      <p:sp>
        <p:nvSpPr>
          <p:cNvPr id="11" name="Shape 9"/>
          <p:cNvSpPr/>
          <p:nvPr/>
        </p:nvSpPr>
        <p:spPr>
          <a:xfrm>
            <a:off x="274320" y="1627632"/>
            <a:ext cx="2743200" cy="301752"/>
          </a:xfrm>
          <a:prstGeom prst="rect">
            <a:avLst/>
          </a:prstGeom>
          <a:solidFill>
            <a:srgbClr val="1A3A5C"/>
          </a:solidFill>
          <a:ln w="12700">
            <a:solidFill>
              <a:srgbClr val="1A3A5C"/>
            </a:solidFill>
            <a:prstDash val="solid"/>
          </a:ln>
        </p:spPr>
        <p:txBody>
          <a:bodyPr/>
          <a:lstStyle/>
          <a:p>
            <a:endParaRPr lang="fr-FR"/>
          </a:p>
        </p:txBody>
      </p:sp>
      <p:sp>
        <p:nvSpPr>
          <p:cNvPr id="12" name="Text 10"/>
          <p:cNvSpPr/>
          <p:nvPr/>
        </p:nvSpPr>
        <p:spPr>
          <a:xfrm>
            <a:off x="347472" y="1627632"/>
            <a:ext cx="261518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BULLETIN N°1</a:t>
            </a:r>
            <a:endParaRPr lang="en-US" sz="1000" dirty="0"/>
          </a:p>
        </p:txBody>
      </p:sp>
      <p:sp>
        <p:nvSpPr>
          <p:cNvPr id="13" name="Shape 11"/>
          <p:cNvSpPr/>
          <p:nvPr/>
        </p:nvSpPr>
        <p:spPr>
          <a:xfrm>
            <a:off x="548640" y="1993392"/>
            <a:ext cx="2194560" cy="475488"/>
          </a:xfrm>
          <a:prstGeom prst="rect">
            <a:avLst/>
          </a:prstGeom>
          <a:solidFill>
            <a:srgbClr val="1A3A5C"/>
          </a:solidFill>
          <a:ln w="12700">
            <a:solidFill>
              <a:srgbClr val="1A3A5C"/>
            </a:solidFill>
            <a:prstDash val="solid"/>
          </a:ln>
        </p:spPr>
        <p:txBody>
          <a:bodyPr/>
          <a:lstStyle/>
          <a:p>
            <a:endParaRPr lang="fr-FR"/>
          </a:p>
        </p:txBody>
      </p:sp>
      <p:sp>
        <p:nvSpPr>
          <p:cNvPr id="14" name="Text 12"/>
          <p:cNvSpPr/>
          <p:nvPr/>
        </p:nvSpPr>
        <p:spPr>
          <a:xfrm>
            <a:off x="548640" y="1993392"/>
            <a:ext cx="219456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LE PLUS COMPLET</a:t>
            </a:r>
            <a:endParaRPr lang="en-US" sz="1600" dirty="0"/>
          </a:p>
        </p:txBody>
      </p:sp>
      <p:sp>
        <p:nvSpPr>
          <p:cNvPr id="15" name="Text 13"/>
          <p:cNvSpPr/>
          <p:nvPr/>
        </p:nvSpPr>
        <p:spPr>
          <a:xfrm>
            <a:off x="365760" y="2514600"/>
            <a:ext cx="2578608" cy="2194560"/>
          </a:xfrm>
          <a:prstGeom prst="rect">
            <a:avLst/>
          </a:prstGeom>
          <a:noFill/>
          <a:ln/>
        </p:spPr>
        <p:txBody>
          <a:bodyPr wrap="square" rtlCol="0" anchor="t"/>
          <a:lstStyle/>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Comporte TOUTES les condamnations et décisions de justice (prison, amendes, mesures éducatives), y compris pour les mineurs.</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Non communicable au public : accès réservé aux magistrats et à certaines autorités judiciaires.</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Jamais demandé pour l'obtention d'une carte professionnelle T3P.</a:t>
            </a:r>
            <a:endParaRPr lang="en-US" sz="880" dirty="0"/>
          </a:p>
        </p:txBody>
      </p:sp>
      <p:sp>
        <p:nvSpPr>
          <p:cNvPr id="16" name="Shape 14"/>
          <p:cNvSpPr/>
          <p:nvPr/>
        </p:nvSpPr>
        <p:spPr>
          <a:xfrm>
            <a:off x="3154680" y="1627632"/>
            <a:ext cx="2743200" cy="3127248"/>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3154680" y="1627632"/>
            <a:ext cx="2743200" cy="301752"/>
          </a:xfrm>
          <a:prstGeom prst="rect">
            <a:avLst/>
          </a:prstGeom>
          <a:solidFill>
            <a:srgbClr val="2860A8"/>
          </a:solidFill>
          <a:ln w="12700">
            <a:solidFill>
              <a:srgbClr val="2860A8"/>
            </a:solidFill>
            <a:prstDash val="solid"/>
          </a:ln>
        </p:spPr>
        <p:txBody>
          <a:bodyPr/>
          <a:lstStyle/>
          <a:p>
            <a:endParaRPr lang="fr-FR"/>
          </a:p>
        </p:txBody>
      </p:sp>
      <p:sp>
        <p:nvSpPr>
          <p:cNvPr id="18" name="Text 16"/>
          <p:cNvSpPr/>
          <p:nvPr/>
        </p:nvSpPr>
        <p:spPr>
          <a:xfrm>
            <a:off x="3227832" y="1627632"/>
            <a:ext cx="261518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BULLETIN N°2</a:t>
            </a:r>
            <a:endParaRPr lang="en-US" sz="1000" dirty="0"/>
          </a:p>
        </p:txBody>
      </p:sp>
      <p:sp>
        <p:nvSpPr>
          <p:cNvPr id="19" name="Shape 17"/>
          <p:cNvSpPr/>
          <p:nvPr/>
        </p:nvSpPr>
        <p:spPr>
          <a:xfrm>
            <a:off x="3429000" y="1993392"/>
            <a:ext cx="2194560" cy="475488"/>
          </a:xfrm>
          <a:prstGeom prst="rect">
            <a:avLst/>
          </a:prstGeom>
          <a:solidFill>
            <a:srgbClr val="2860A8"/>
          </a:solidFill>
          <a:ln w="12700">
            <a:solidFill>
              <a:srgbClr val="2860A8"/>
            </a:solidFill>
            <a:prstDash val="solid"/>
          </a:ln>
        </p:spPr>
        <p:txBody>
          <a:bodyPr/>
          <a:lstStyle/>
          <a:p>
            <a:endParaRPr lang="fr-FR"/>
          </a:p>
        </p:txBody>
      </p:sp>
      <p:sp>
        <p:nvSpPr>
          <p:cNvPr id="20" name="Text 18"/>
          <p:cNvSpPr/>
          <p:nvPr/>
        </p:nvSpPr>
        <p:spPr>
          <a:xfrm>
            <a:off x="3429000" y="1993392"/>
            <a:ext cx="219456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EXIGÉ POUR LE T3P</a:t>
            </a:r>
            <a:endParaRPr lang="en-US" sz="1600" dirty="0"/>
          </a:p>
        </p:txBody>
      </p:sp>
      <p:sp>
        <p:nvSpPr>
          <p:cNvPr id="21" name="Text 19"/>
          <p:cNvSpPr/>
          <p:nvPr/>
        </p:nvSpPr>
        <p:spPr>
          <a:xfrm>
            <a:off x="3246120" y="2514600"/>
            <a:ext cx="2578608" cy="2194560"/>
          </a:xfrm>
          <a:prstGeom prst="rect">
            <a:avLst/>
          </a:prstGeom>
          <a:noFill/>
          <a:ln/>
        </p:spPr>
        <p:txBody>
          <a:bodyPr wrap="square" rtlCol="0" anchor="t"/>
          <a:lstStyle/>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Comporte la plupart des condamnations pour crimes et délits, MAIS exclut les décisions sur mineurs et la plupart des contraventions.</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Certaines mentions s'effacent avec le temps (réhabilitation, amnistie, délai légal selon la peine).</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Communicable à certaines administrations et employeurs habilités — dont la PRÉFECTURE pour le T3P.</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C'est ce bulletin que la préfecture consulte pour délivrer ou renouveler la carte T3P : il doit être vierge des 3 mentions incompatibles vues précédemment.</a:t>
            </a:r>
            <a:endParaRPr lang="en-US" sz="880" dirty="0"/>
          </a:p>
        </p:txBody>
      </p:sp>
      <p:sp>
        <p:nvSpPr>
          <p:cNvPr id="22" name="Shape 20"/>
          <p:cNvSpPr/>
          <p:nvPr/>
        </p:nvSpPr>
        <p:spPr>
          <a:xfrm>
            <a:off x="6035040" y="1627632"/>
            <a:ext cx="2743200" cy="3127248"/>
          </a:xfrm>
          <a:prstGeom prst="rect">
            <a:avLst/>
          </a:prstGeom>
          <a:solidFill>
            <a:srgbClr val="E8F1FA"/>
          </a:solidFill>
          <a:ln w="6350">
            <a:solidFill>
              <a:srgbClr val="D0DCE8"/>
            </a:solidFill>
            <a:prstDash val="solid"/>
          </a:ln>
        </p:spPr>
        <p:txBody>
          <a:bodyPr/>
          <a:lstStyle/>
          <a:p>
            <a:endParaRPr lang="fr-FR"/>
          </a:p>
        </p:txBody>
      </p:sp>
      <p:sp>
        <p:nvSpPr>
          <p:cNvPr id="23" name="Shape 21"/>
          <p:cNvSpPr/>
          <p:nvPr/>
        </p:nvSpPr>
        <p:spPr>
          <a:xfrm>
            <a:off x="6035040" y="1627632"/>
            <a:ext cx="2743200" cy="301752"/>
          </a:xfrm>
          <a:prstGeom prst="rect">
            <a:avLst/>
          </a:prstGeom>
          <a:solidFill>
            <a:srgbClr val="F4A227"/>
          </a:solidFill>
          <a:ln w="12700">
            <a:solidFill>
              <a:srgbClr val="F4A227"/>
            </a:solidFill>
            <a:prstDash val="solid"/>
          </a:ln>
        </p:spPr>
        <p:txBody>
          <a:bodyPr/>
          <a:lstStyle/>
          <a:p>
            <a:endParaRPr lang="fr-FR"/>
          </a:p>
        </p:txBody>
      </p:sp>
      <p:sp>
        <p:nvSpPr>
          <p:cNvPr id="24" name="Text 22"/>
          <p:cNvSpPr/>
          <p:nvPr/>
        </p:nvSpPr>
        <p:spPr>
          <a:xfrm>
            <a:off x="6108192" y="1627632"/>
            <a:ext cx="2615184" cy="30175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BULLETIN N°3</a:t>
            </a:r>
            <a:endParaRPr lang="en-US" sz="1000" dirty="0"/>
          </a:p>
        </p:txBody>
      </p:sp>
      <p:sp>
        <p:nvSpPr>
          <p:cNvPr id="25" name="Shape 23"/>
          <p:cNvSpPr/>
          <p:nvPr/>
        </p:nvSpPr>
        <p:spPr>
          <a:xfrm>
            <a:off x="6309360" y="1993392"/>
            <a:ext cx="2194560" cy="475488"/>
          </a:xfrm>
          <a:prstGeom prst="rect">
            <a:avLst/>
          </a:prstGeom>
          <a:solidFill>
            <a:srgbClr val="F4A227"/>
          </a:solidFill>
          <a:ln w="12700">
            <a:solidFill>
              <a:srgbClr val="F4A227"/>
            </a:solidFill>
            <a:prstDash val="solid"/>
          </a:ln>
        </p:spPr>
        <p:txBody>
          <a:bodyPr/>
          <a:lstStyle/>
          <a:p>
            <a:endParaRPr lang="fr-FR"/>
          </a:p>
        </p:txBody>
      </p:sp>
      <p:sp>
        <p:nvSpPr>
          <p:cNvPr id="26" name="Text 24"/>
          <p:cNvSpPr/>
          <p:nvPr/>
        </p:nvSpPr>
        <p:spPr>
          <a:xfrm>
            <a:off x="6309360" y="1993392"/>
            <a:ext cx="2194560"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LE PLUS RESTREINT</a:t>
            </a:r>
            <a:endParaRPr lang="en-US" sz="1600" dirty="0"/>
          </a:p>
        </p:txBody>
      </p:sp>
      <p:sp>
        <p:nvSpPr>
          <p:cNvPr id="27" name="Text 25"/>
          <p:cNvSpPr/>
          <p:nvPr/>
        </p:nvSpPr>
        <p:spPr>
          <a:xfrm>
            <a:off x="6126480" y="2514600"/>
            <a:ext cx="2578608" cy="2194560"/>
          </a:xfrm>
          <a:prstGeom prst="rect">
            <a:avLst/>
          </a:prstGeom>
          <a:noFill/>
          <a:ln/>
        </p:spPr>
        <p:txBody>
          <a:bodyPr wrap="square" rtlCol="0" anchor="t"/>
          <a:lstStyle/>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Comporte uniquement les condamnations les plus graves : peines de prison ferme, interdictions et déchéances en cours.</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Seul bulletin que la personne peut demander elle-même (en ligne, gratuit, sous 2 à 3 semaines).</a:t>
            </a:r>
            <a:endParaRPr lang="en-US" sz="880" dirty="0"/>
          </a:p>
          <a:p>
            <a:pPr marL="228600" indent="-228600">
              <a:spcAft>
                <a:spcPts val="200"/>
              </a:spcAft>
              <a:buSzPct val="100000"/>
              <a:buChar char="•"/>
            </a:pPr>
            <a:r>
              <a:rPr lang="en-US" sz="880" dirty="0">
                <a:solidFill>
                  <a:srgbClr val="3A3A3A"/>
                </a:solidFill>
                <a:latin typeface="Calibri" pitchFamily="34" charset="0"/>
                <a:ea typeface="Calibri" pitchFamily="34" charset="-122"/>
                <a:cs typeface="Calibri" pitchFamily="34" charset="-120"/>
              </a:rPr>
              <a:t>Utilisé par exemple pour un emploi au contact de mineurs ou dans la fonction publique — pas pour le T3P.</a:t>
            </a:r>
            <a:endParaRPr lang="en-US" sz="880" dirty="0"/>
          </a:p>
        </p:txBody>
      </p:sp>
      <p:sp>
        <p:nvSpPr>
          <p:cNvPr id="28" name="Rectangle 2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29" name="Rectangle 2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Honorabilité professionnelle — Le casier judiciaire B2</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Bulletin n°2 (sur B1/B2/B3) — ce qui doit rester vierge pour exercer le T3P</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37g/88</a:t>
            </a:r>
            <a:endParaRPr lang="en-US" sz="800" dirty="0"/>
          </a:p>
        </p:txBody>
      </p:sp>
      <p:sp>
        <p:nvSpPr>
          <p:cNvPr id="9" name="Text P9"/>
          <p:cNvSpPr/>
          <p:nvPr/>
        </p:nvSpPr>
        <p:spPr>
          <a:xfrm>
            <a:off x="274320" y="960120"/>
            <a:ext cx="8595360" cy="36576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Pour toutes les professions T3P, le bulletin n°2 du casier judiciaire (l'un des 3 bulletins, avec le B1 complet et le B3 restreint) ne doit comporter AUCUNE des 3 condamnations définitives suivantes.</a:t>
            </a:r>
            <a:endParaRPr lang="en-US" sz="1000" dirty="0"/>
          </a:p>
        </p:txBody>
      </p:sp>
      <p:sp>
        <p:nvSpPr>
          <p:cNvPr id="10" name="Shape CB10"/>
          <p:cNvSpPr/>
          <p:nvPr/>
        </p:nvSpPr>
        <p:spPr>
          <a:xfrm>
            <a:off x="274320" y="1500000"/>
            <a:ext cx="2724912" cy="896112"/>
          </a:xfrm>
          <a:prstGeom prst="rect">
            <a:avLst/>
          </a:prstGeom>
          <a:solidFill>
            <a:srgbClr val="E8F1FA"/>
          </a:solidFill>
          <a:ln w="6350">
            <a:solidFill>
              <a:srgbClr val="D0DCE8"/>
            </a:solidFill>
            <a:prstDash val="solid"/>
          </a:ln>
        </p:spPr>
        <p:txBody>
          <a:bodyPr/>
          <a:lstStyle/>
          <a:p>
            <a:endParaRPr lang="fr-FR"/>
          </a:p>
        </p:txBody>
      </p:sp>
      <p:sp>
        <p:nvSpPr>
          <p:cNvPr id="11" name="Shape CB11"/>
          <p:cNvSpPr/>
          <p:nvPr/>
        </p:nvSpPr>
        <p:spPr>
          <a:xfrm>
            <a:off x="274320" y="1500000"/>
            <a:ext cx="2724912" cy="237744"/>
          </a:xfrm>
          <a:prstGeom prst="rect">
            <a:avLst/>
          </a:prstGeom>
          <a:solidFill>
            <a:srgbClr val="2860A8"/>
          </a:solidFill>
          <a:ln w="12700">
            <a:solidFill>
              <a:srgbClr val="2860A8"/>
            </a:solidFill>
            <a:prstDash val="solid"/>
          </a:ln>
        </p:spPr>
        <p:txBody>
          <a:bodyPr/>
          <a:lstStyle/>
          <a:p>
            <a:endParaRPr lang="fr-FR"/>
          </a:p>
        </p:txBody>
      </p:sp>
      <p:sp>
        <p:nvSpPr>
          <p:cNvPr id="12" name="Text CB12"/>
          <p:cNvSpPr/>
          <p:nvPr/>
        </p:nvSpPr>
        <p:spPr>
          <a:xfrm>
            <a:off x="347472" y="1500000"/>
            <a:ext cx="257860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Retrait de 6 points d'un coup</a:t>
            </a:r>
            <a:endParaRPr lang="en-US" sz="900" dirty="0"/>
          </a:p>
        </p:txBody>
      </p:sp>
      <p:sp>
        <p:nvSpPr>
          <p:cNvPr id="13" name="Text CB13"/>
          <p:cNvSpPr/>
          <p:nvPr/>
        </p:nvSpPr>
        <p:spPr>
          <a:xfrm>
            <a:off x="365760" y="1756032"/>
            <a:ext cx="2542032" cy="6217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Ne pas avoir perdu 6 points d'un coup (délit) sur le permis de conduire.</a:t>
            </a:r>
            <a:endParaRPr lang="en-US" sz="880" dirty="0"/>
          </a:p>
        </p:txBody>
      </p:sp>
      <p:sp>
        <p:nvSpPr>
          <p:cNvPr id="14" name="Shape CB14"/>
          <p:cNvSpPr/>
          <p:nvPr/>
        </p:nvSpPr>
        <p:spPr>
          <a:xfrm>
            <a:off x="3154680" y="1500000"/>
            <a:ext cx="2724912" cy="896112"/>
          </a:xfrm>
          <a:prstGeom prst="rect">
            <a:avLst/>
          </a:prstGeom>
          <a:solidFill>
            <a:srgbClr val="E8F1FA"/>
          </a:solidFill>
          <a:ln w="6350">
            <a:solidFill>
              <a:srgbClr val="D0DCE8"/>
            </a:solidFill>
            <a:prstDash val="solid"/>
          </a:ln>
        </p:spPr>
        <p:txBody>
          <a:bodyPr/>
          <a:lstStyle/>
          <a:p>
            <a:endParaRPr lang="fr-FR"/>
          </a:p>
        </p:txBody>
      </p:sp>
      <p:sp>
        <p:nvSpPr>
          <p:cNvPr id="15" name="Shape CB15"/>
          <p:cNvSpPr/>
          <p:nvPr/>
        </p:nvSpPr>
        <p:spPr>
          <a:xfrm>
            <a:off x="3154680" y="1500000"/>
            <a:ext cx="2724912" cy="237744"/>
          </a:xfrm>
          <a:prstGeom prst="rect">
            <a:avLst/>
          </a:prstGeom>
          <a:solidFill>
            <a:srgbClr val="F4A227"/>
          </a:solidFill>
          <a:ln w="12700">
            <a:solidFill>
              <a:srgbClr val="F4A227"/>
            </a:solidFill>
            <a:prstDash val="solid"/>
          </a:ln>
        </p:spPr>
        <p:txBody>
          <a:bodyPr/>
          <a:lstStyle/>
          <a:p>
            <a:endParaRPr lang="fr-FR"/>
          </a:p>
        </p:txBody>
      </p:sp>
      <p:sp>
        <p:nvSpPr>
          <p:cNvPr id="16" name="Text CB16"/>
          <p:cNvSpPr/>
          <p:nvPr/>
        </p:nvSpPr>
        <p:spPr>
          <a:xfrm>
            <a:off x="3227832" y="1500000"/>
            <a:ext cx="257860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Peine ≥ 6 mois de prison</a:t>
            </a:r>
            <a:endParaRPr lang="en-US" sz="900" dirty="0"/>
          </a:p>
        </p:txBody>
      </p:sp>
      <p:sp>
        <p:nvSpPr>
          <p:cNvPr id="17" name="Text CB17"/>
          <p:cNvSpPr/>
          <p:nvPr/>
        </p:nvSpPr>
        <p:spPr>
          <a:xfrm>
            <a:off x="3246120" y="1756032"/>
            <a:ext cx="2542032" cy="6217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Ne pas avoir été condamné à au moins 6 mois d'emprisonnement pour vol, escroquerie, abus de confiance, etc., en France ou à l'étranger.</a:t>
            </a:r>
            <a:endParaRPr lang="en-US" sz="880" dirty="0"/>
          </a:p>
        </p:txBody>
      </p:sp>
      <p:sp>
        <p:nvSpPr>
          <p:cNvPr id="18" name="Shape CB18"/>
          <p:cNvSpPr/>
          <p:nvPr/>
        </p:nvSpPr>
        <p:spPr>
          <a:xfrm>
            <a:off x="6035040" y="1500000"/>
            <a:ext cx="2724912" cy="896112"/>
          </a:xfrm>
          <a:prstGeom prst="rect">
            <a:avLst/>
          </a:prstGeom>
          <a:solidFill>
            <a:srgbClr val="E8F1FA"/>
          </a:solidFill>
          <a:ln w="6350">
            <a:solidFill>
              <a:srgbClr val="D0DCE8"/>
            </a:solidFill>
            <a:prstDash val="solid"/>
          </a:ln>
        </p:spPr>
        <p:txBody>
          <a:bodyPr/>
          <a:lstStyle/>
          <a:p>
            <a:endParaRPr lang="fr-FR"/>
          </a:p>
        </p:txBody>
      </p:sp>
      <p:sp>
        <p:nvSpPr>
          <p:cNvPr id="19" name="Shape CB19"/>
          <p:cNvSpPr/>
          <p:nvPr/>
        </p:nvSpPr>
        <p:spPr>
          <a:xfrm>
            <a:off x="6035040" y="1500000"/>
            <a:ext cx="2724912" cy="237744"/>
          </a:xfrm>
          <a:prstGeom prst="rect">
            <a:avLst/>
          </a:prstGeom>
          <a:solidFill>
            <a:srgbClr val="6B7A8D"/>
          </a:solidFill>
          <a:ln w="12700">
            <a:solidFill>
              <a:srgbClr val="6B7A8D"/>
            </a:solidFill>
            <a:prstDash val="solid"/>
          </a:ln>
        </p:spPr>
        <p:txBody>
          <a:bodyPr/>
          <a:lstStyle/>
          <a:p>
            <a:endParaRPr lang="fr-FR"/>
          </a:p>
        </p:txBody>
      </p:sp>
      <p:sp>
        <p:nvSpPr>
          <p:cNvPr id="20" name="Text CB20"/>
          <p:cNvSpPr/>
          <p:nvPr/>
        </p:nvSpPr>
        <p:spPr>
          <a:xfrm>
            <a:off x="6108192" y="1500000"/>
            <a:ext cx="257860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Refus de restitution du permis</a:t>
            </a:r>
            <a:endParaRPr lang="en-US" sz="900" dirty="0"/>
          </a:p>
        </p:txBody>
      </p:sp>
      <p:sp>
        <p:nvSpPr>
          <p:cNvPr id="21" name="Text CB21"/>
          <p:cNvSpPr/>
          <p:nvPr/>
        </p:nvSpPr>
        <p:spPr>
          <a:xfrm>
            <a:off x="6126480" y="1756032"/>
            <a:ext cx="2542032" cy="6217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Ne pas avoir été condamné pour refus de restitution du permis malgré son annulation, son invalidation, ou l'interdiction de l'obtenir.</a:t>
            </a:r>
            <a:endParaRPr lang="en-US" sz="880" dirty="0"/>
          </a:p>
        </p:txBody>
      </p:sp>
      <p:sp>
        <p:nvSpPr>
          <p:cNvPr id="22" name="Shape SH22"/>
          <p:cNvSpPr/>
          <p:nvPr/>
        </p:nvSpPr>
        <p:spPr>
          <a:xfrm>
            <a:off x="274320" y="2596112"/>
            <a:ext cx="8595360" cy="320040"/>
          </a:xfrm>
          <a:prstGeom prst="rect">
            <a:avLst/>
          </a:prstGeom>
          <a:solidFill>
            <a:srgbClr val="1A3A5C"/>
          </a:solidFill>
          <a:ln w="12700">
            <a:solidFill>
              <a:srgbClr val="1A3A5C"/>
            </a:solidFill>
            <a:prstDash val="solid"/>
          </a:ln>
        </p:spPr>
        <p:txBody>
          <a:bodyPr/>
          <a:lstStyle/>
          <a:p>
            <a:endParaRPr lang="fr-FR"/>
          </a:p>
        </p:txBody>
      </p:sp>
      <p:sp>
        <p:nvSpPr>
          <p:cNvPr id="23" name="Text SH23"/>
          <p:cNvSpPr/>
          <p:nvPr/>
        </p:nvSpPr>
        <p:spPr>
          <a:xfrm>
            <a:off x="274320" y="2596112"/>
            <a:ext cx="859536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USAGE PRIVÉ / USAGE PROFESSIONNEL DE LA CARTE</a:t>
            </a:r>
            <a:endParaRPr lang="en-US" sz="1000" dirty="0"/>
          </a:p>
        </p:txBody>
      </p:sp>
      <p:sp>
        <p:nvSpPr>
          <p:cNvPr id="24" name="Shape R24"/>
          <p:cNvSpPr/>
          <p:nvPr/>
        </p:nvSpPr>
        <p:spPr>
          <a:xfrm>
            <a:off x="274320" y="2989304"/>
            <a:ext cx="8595360" cy="310896"/>
          </a:xfrm>
          <a:prstGeom prst="rect">
            <a:avLst/>
          </a:prstGeom>
          <a:solidFill>
            <a:srgbClr val="E8F1FA"/>
          </a:solidFill>
          <a:ln w="6350">
            <a:solidFill>
              <a:srgbClr val="D0DCE8"/>
            </a:solidFill>
            <a:prstDash val="solid"/>
          </a:ln>
        </p:spPr>
        <p:txBody>
          <a:bodyPr/>
          <a:lstStyle/>
          <a:p>
            <a:endParaRPr lang="fr-FR"/>
          </a:p>
        </p:txBody>
      </p:sp>
      <p:sp>
        <p:nvSpPr>
          <p:cNvPr id="25" name="Shape R25"/>
          <p:cNvSpPr/>
          <p:nvPr/>
        </p:nvSpPr>
        <p:spPr>
          <a:xfrm>
            <a:off x="274320" y="2989304"/>
            <a:ext cx="256032" cy="310896"/>
          </a:xfrm>
          <a:prstGeom prst="rect">
            <a:avLst/>
          </a:prstGeom>
          <a:solidFill>
            <a:srgbClr val="2860A8"/>
          </a:solidFill>
          <a:ln w="12700">
            <a:solidFill>
              <a:srgbClr val="2860A8"/>
            </a:solidFill>
            <a:prstDash val="solid"/>
          </a:ln>
        </p:spPr>
        <p:txBody>
          <a:bodyPr/>
          <a:lstStyle/>
          <a:p>
            <a:endParaRPr lang="fr-FR"/>
          </a:p>
        </p:txBody>
      </p:sp>
      <p:sp>
        <p:nvSpPr>
          <p:cNvPr id="26" name="Text R26"/>
          <p:cNvSpPr/>
          <p:nvPr/>
        </p:nvSpPr>
        <p:spPr>
          <a:xfrm>
            <a:off x="274320" y="2989304"/>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7" name="Text R27"/>
          <p:cNvSpPr/>
          <p:nvPr/>
        </p:nvSpPr>
        <p:spPr>
          <a:xfrm>
            <a:off x="594360" y="30075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En usage PRIVÉ du véhicule, la carte professionnelle doit être RETIRÉE (non visible).</a:t>
            </a:r>
            <a:endParaRPr lang="en-US" sz="900" dirty="0"/>
          </a:p>
        </p:txBody>
      </p:sp>
      <p:sp>
        <p:nvSpPr>
          <p:cNvPr id="28" name="Shape R28"/>
          <p:cNvSpPr/>
          <p:nvPr/>
        </p:nvSpPr>
        <p:spPr>
          <a:xfrm>
            <a:off x="274320" y="3336776"/>
            <a:ext cx="8595360" cy="310896"/>
          </a:xfrm>
          <a:prstGeom prst="rect">
            <a:avLst/>
          </a:prstGeom>
          <a:solidFill>
            <a:srgbClr val="FFFFFF"/>
          </a:solidFill>
          <a:ln w="6350">
            <a:solidFill>
              <a:srgbClr val="D0DCE8"/>
            </a:solidFill>
            <a:prstDash val="solid"/>
          </a:ln>
        </p:spPr>
        <p:txBody>
          <a:bodyPr/>
          <a:lstStyle/>
          <a:p>
            <a:endParaRPr lang="fr-FR"/>
          </a:p>
        </p:txBody>
      </p:sp>
      <p:sp>
        <p:nvSpPr>
          <p:cNvPr id="29" name="Shape R29"/>
          <p:cNvSpPr/>
          <p:nvPr/>
        </p:nvSpPr>
        <p:spPr>
          <a:xfrm>
            <a:off x="274320" y="3336776"/>
            <a:ext cx="256032" cy="310896"/>
          </a:xfrm>
          <a:prstGeom prst="rect">
            <a:avLst/>
          </a:prstGeom>
          <a:solidFill>
            <a:srgbClr val="2860A8"/>
          </a:solidFill>
          <a:ln w="12700">
            <a:solidFill>
              <a:srgbClr val="2860A8"/>
            </a:solidFill>
            <a:prstDash val="solid"/>
          </a:ln>
        </p:spPr>
        <p:txBody>
          <a:bodyPr/>
          <a:lstStyle/>
          <a:p>
            <a:endParaRPr lang="fr-FR"/>
          </a:p>
        </p:txBody>
      </p:sp>
      <p:sp>
        <p:nvSpPr>
          <p:cNvPr id="30" name="Text R30"/>
          <p:cNvSpPr/>
          <p:nvPr/>
        </p:nvSpPr>
        <p:spPr>
          <a:xfrm>
            <a:off x="274320" y="3336776"/>
            <a:ext cx="256032" cy="310896"/>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1" name="Text R31"/>
          <p:cNvSpPr/>
          <p:nvPr/>
        </p:nvSpPr>
        <p:spPr>
          <a:xfrm>
            <a:off x="594360" y="3355064"/>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En usage PROFESSIONNEL, elle doit être réapposée, côté photo visible de l'extérieur.</a:t>
            </a:r>
            <a:endParaRPr lang="en-US" sz="900" dirty="0"/>
          </a:p>
        </p:txBody>
      </p:sp>
      <p:sp>
        <p:nvSpPr>
          <p:cNvPr id="32" name="Shape NB32"/>
          <p:cNvSpPr/>
          <p:nvPr/>
        </p:nvSpPr>
        <p:spPr>
          <a:xfrm>
            <a:off x="274320" y="3834248"/>
            <a:ext cx="8595360" cy="504000"/>
          </a:xfrm>
          <a:prstGeom prst="rect">
            <a:avLst/>
          </a:prstGeom>
          <a:solidFill>
            <a:srgbClr val="EDF7EE"/>
          </a:solidFill>
          <a:ln w="19050">
            <a:solidFill>
              <a:srgbClr val="2E7D32"/>
            </a:solidFill>
            <a:prstDash val="solid"/>
          </a:ln>
        </p:spPr>
        <p:txBody>
          <a:bodyPr/>
          <a:lstStyle/>
          <a:p>
            <a:endParaRPr lang="fr-FR"/>
          </a:p>
        </p:txBody>
      </p:sp>
      <p:sp>
        <p:nvSpPr>
          <p:cNvPr id="33" name="Shape NB33"/>
          <p:cNvSpPr/>
          <p:nvPr/>
        </p:nvSpPr>
        <p:spPr>
          <a:xfrm>
            <a:off x="274320" y="3834248"/>
            <a:ext cx="54864" cy="504000"/>
          </a:xfrm>
          <a:prstGeom prst="rect">
            <a:avLst/>
          </a:prstGeom>
          <a:solidFill>
            <a:srgbClr val="2E7D32"/>
          </a:solidFill>
          <a:ln w="12700">
            <a:solidFill>
              <a:srgbClr val="2E7D32"/>
            </a:solidFill>
            <a:prstDash val="solid"/>
          </a:ln>
        </p:spPr>
        <p:txBody>
          <a:bodyPr/>
          <a:lstStyle/>
          <a:p>
            <a:endParaRPr lang="fr-FR"/>
          </a:p>
        </p:txBody>
      </p:sp>
      <p:sp>
        <p:nvSpPr>
          <p:cNvPr id="34" name="Text NB34"/>
          <p:cNvSpPr/>
          <p:nvPr/>
        </p:nvSpPr>
        <p:spPr>
          <a:xfrm>
            <a:off x="384048" y="3834248"/>
            <a:ext cx="8468352" cy="504000"/>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La PRÉFECTURE peut RETIRER la carte professionnelle si elle n'est pas restituée en fin d'activité ou en cas de non-respect de la réglementation. Seules les condamnations DÉFINITIVES comptent (délai de recours ≈ 10 jours).</a:t>
            </a:r>
            <a:endParaRPr lang="en-US" sz="1000" dirty="0"/>
          </a:p>
        </p:txBody>
      </p:sp>
      <p:sp>
        <p:nvSpPr>
          <p:cNvPr id="60" name="Text Reminder"/>
          <p:cNvSpPr/>
          <p:nvPr/>
        </p:nvSpPr>
        <p:spPr>
          <a:xfrm>
            <a:off x="274320" y="4360000"/>
            <a:ext cx="8595360" cy="400000"/>
          </a:xfrm>
          <a:prstGeom prst="rect">
            <a:avLst/>
          </a:prstGeom>
          <a:noFill/>
          <a:ln/>
        </p:spPr>
        <p:txBody>
          <a:bodyPr wrap="square" rtlCol="0" anchor="t"/>
          <a:lstStyle/>
          <a:p>
            <a:pPr marL="0" indent="0">
              <a:buNone/>
            </a:pPr>
            <a:r>
              <a:rPr lang="en-US" sz="900" i="1" dirty="0">
                <a:solidFill>
                  <a:srgbClr val="6B6B6B"/>
                </a:solidFill>
                <a:latin typeface="Calibri" pitchFamily="34" charset="0"/>
                <a:ea typeface="Calibri" pitchFamily="34" charset="-122"/>
                <a:cs typeface="Calibri" pitchFamily="34" charset="-120"/>
              </a:rPr>
              <a:t>ℹ  Rappel : le droit pénal distingue aussi 3 catégories d'infractions selon leur gravité — CONTRAVENTION (≤ 3 000 €) &lt; DÉLIT (jusqu'à 10 ans) &lt; CRIME (15 ans à perpétuité) — voir détail sur les 2 pages suivantes.</a:t>
            </a:r>
            <a:endParaRPr lang="en-US" sz="900" i="1" dirty="0"/>
          </a:p>
        </p:txBody>
      </p:sp>
      <p:sp>
        <p:nvSpPr>
          <p:cNvPr id="35" name="Rectangle 3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6" name="Rectangle 36"/>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name="Slide 4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Les délits qui font perdre 6 points d'un coup</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Perte immédiate de la moitié du capital de points du permis</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37h/88</a:t>
            </a:r>
            <a:endParaRPr lang="en-US" sz="800" dirty="0"/>
          </a:p>
        </p:txBody>
      </p:sp>
      <p:sp>
        <p:nvSpPr>
          <p:cNvPr id="9" name="Text P9"/>
          <p:cNvSpPr/>
          <p:nvPr/>
        </p:nvSpPr>
        <p:spPr>
          <a:xfrm>
            <a:off x="274320" y="960120"/>
            <a:ext cx="8595360" cy="320040"/>
          </a:xfrm>
          <a:prstGeom prst="rect">
            <a:avLst/>
          </a:prstGeom>
          <a:noFill/>
          <a:ln/>
        </p:spPr>
        <p:txBody>
          <a:bodyPr wrap="square" rtlCol="0" anchor="t"/>
          <a:lstStyle/>
          <a:p>
            <a:pPr marL="0" indent="0">
              <a:buNone/>
            </a:pPr>
            <a:r>
              <a:rPr lang="en-US" sz="1000" dirty="0">
                <a:solidFill>
                  <a:srgbClr val="3A3A3A"/>
                </a:solidFill>
                <a:latin typeface="Calibri" pitchFamily="34" charset="0"/>
                <a:ea typeface="Calibri" pitchFamily="34" charset="-122"/>
                <a:cs typeface="Calibri" pitchFamily="34" charset="-120"/>
              </a:rPr>
              <a:t>Certains délits routiers entraînent le retrait immédiat de 6 points — la moitié du capital maximal — dès la condamnation définitive.</a:t>
            </a:r>
            <a:endParaRPr lang="en-US" sz="1000" dirty="0"/>
          </a:p>
        </p:txBody>
      </p:sp>
      <p:sp>
        <p:nvSpPr>
          <p:cNvPr id="10" name="Shape SH10"/>
          <p:cNvSpPr/>
          <p:nvPr/>
        </p:nvSpPr>
        <p:spPr>
          <a:xfrm>
            <a:off x="274320" y="1353312"/>
            <a:ext cx="8595360" cy="320040"/>
          </a:xfrm>
          <a:prstGeom prst="rect">
            <a:avLst/>
          </a:prstGeom>
          <a:solidFill>
            <a:srgbClr val="C0392B"/>
          </a:solidFill>
          <a:ln w="12700">
            <a:solidFill>
              <a:srgbClr val="C0392B"/>
            </a:solidFill>
            <a:prstDash val="solid"/>
          </a:ln>
        </p:spPr>
        <p:txBody>
          <a:bodyPr/>
          <a:lstStyle/>
          <a:p>
            <a:endParaRPr lang="fr-FR"/>
          </a:p>
        </p:txBody>
      </p:sp>
      <p:sp>
        <p:nvSpPr>
          <p:cNvPr id="11" name="Text SH11"/>
          <p:cNvSpPr/>
          <p:nvPr/>
        </p:nvSpPr>
        <p:spPr>
          <a:xfrm>
            <a:off x="274320" y="1353312"/>
            <a:ext cx="859536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LES 10 DÉLITS ENTRAÎNANT UN RETRAIT DE 6 POINTS</a:t>
            </a:r>
            <a:endParaRPr lang="en-US" sz="1000" dirty="0"/>
          </a:p>
        </p:txBody>
      </p:sp>
      <p:sp>
        <p:nvSpPr>
          <p:cNvPr id="12" name="Shape R12"/>
          <p:cNvSpPr/>
          <p:nvPr/>
        </p:nvSpPr>
        <p:spPr>
          <a:xfrm>
            <a:off x="274320" y="1746504"/>
            <a:ext cx="8595360" cy="270000"/>
          </a:xfrm>
          <a:prstGeom prst="rect">
            <a:avLst/>
          </a:prstGeom>
          <a:solidFill>
            <a:srgbClr val="E8F1FA"/>
          </a:solidFill>
          <a:ln w="6350">
            <a:solidFill>
              <a:srgbClr val="D0DCE8"/>
            </a:solidFill>
            <a:prstDash val="solid"/>
          </a:ln>
        </p:spPr>
        <p:txBody>
          <a:bodyPr/>
          <a:lstStyle/>
          <a:p>
            <a:endParaRPr lang="fr-FR"/>
          </a:p>
        </p:txBody>
      </p:sp>
      <p:sp>
        <p:nvSpPr>
          <p:cNvPr id="13" name="Shape R13"/>
          <p:cNvSpPr/>
          <p:nvPr/>
        </p:nvSpPr>
        <p:spPr>
          <a:xfrm>
            <a:off x="274320" y="1746504"/>
            <a:ext cx="256032" cy="270000"/>
          </a:xfrm>
          <a:prstGeom prst="rect">
            <a:avLst/>
          </a:prstGeom>
          <a:solidFill>
            <a:srgbClr val="2860A8"/>
          </a:solidFill>
          <a:ln w="12700">
            <a:solidFill>
              <a:srgbClr val="2860A8"/>
            </a:solidFill>
            <a:prstDash val="solid"/>
          </a:ln>
        </p:spPr>
        <p:txBody>
          <a:bodyPr/>
          <a:lstStyle/>
          <a:p>
            <a:endParaRPr lang="fr-FR"/>
          </a:p>
        </p:txBody>
      </p:sp>
      <p:sp>
        <p:nvSpPr>
          <p:cNvPr id="14" name="Text R14"/>
          <p:cNvSpPr/>
          <p:nvPr/>
        </p:nvSpPr>
        <p:spPr>
          <a:xfrm>
            <a:off x="274320" y="17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5" name="Text R15"/>
          <p:cNvSpPr/>
          <p:nvPr/>
        </p:nvSpPr>
        <p:spPr>
          <a:xfrm>
            <a:off x="594360" y="17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Alcool ≥ 0,40 mg/litre d'air expiré (≥ 0,8 g/litre de sang)</a:t>
            </a:r>
            <a:endParaRPr lang="en-US" sz="900" dirty="0"/>
          </a:p>
        </p:txBody>
      </p:sp>
      <p:sp>
        <p:nvSpPr>
          <p:cNvPr id="16" name="Shape R16"/>
          <p:cNvSpPr/>
          <p:nvPr/>
        </p:nvSpPr>
        <p:spPr>
          <a:xfrm>
            <a:off x="274320" y="2046504"/>
            <a:ext cx="8595360" cy="270000"/>
          </a:xfrm>
          <a:prstGeom prst="rect">
            <a:avLst/>
          </a:prstGeom>
          <a:solidFill>
            <a:srgbClr val="FFFFFF"/>
          </a:solidFill>
          <a:ln w="6350">
            <a:solidFill>
              <a:srgbClr val="D0DCE8"/>
            </a:solidFill>
            <a:prstDash val="solid"/>
          </a:ln>
        </p:spPr>
        <p:txBody>
          <a:bodyPr/>
          <a:lstStyle/>
          <a:p>
            <a:endParaRPr lang="fr-FR"/>
          </a:p>
        </p:txBody>
      </p:sp>
      <p:sp>
        <p:nvSpPr>
          <p:cNvPr id="17" name="Shape R17"/>
          <p:cNvSpPr/>
          <p:nvPr/>
        </p:nvSpPr>
        <p:spPr>
          <a:xfrm>
            <a:off x="274320" y="2046504"/>
            <a:ext cx="256032" cy="270000"/>
          </a:xfrm>
          <a:prstGeom prst="rect">
            <a:avLst/>
          </a:prstGeom>
          <a:solidFill>
            <a:srgbClr val="2860A8"/>
          </a:solidFill>
          <a:ln w="12700">
            <a:solidFill>
              <a:srgbClr val="2860A8"/>
            </a:solidFill>
            <a:prstDash val="solid"/>
          </a:ln>
        </p:spPr>
        <p:txBody>
          <a:bodyPr/>
          <a:lstStyle/>
          <a:p>
            <a:endParaRPr lang="fr-FR"/>
          </a:p>
        </p:txBody>
      </p:sp>
      <p:sp>
        <p:nvSpPr>
          <p:cNvPr id="18" name="Text R18"/>
          <p:cNvSpPr/>
          <p:nvPr/>
        </p:nvSpPr>
        <p:spPr>
          <a:xfrm>
            <a:off x="274320" y="20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9" name="Text R19"/>
          <p:cNvSpPr/>
          <p:nvPr/>
        </p:nvSpPr>
        <p:spPr>
          <a:xfrm>
            <a:off x="594360" y="20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Conduite en état d'ivresse manifeste</a:t>
            </a:r>
            <a:endParaRPr lang="en-US" sz="900" dirty="0"/>
          </a:p>
        </p:txBody>
      </p:sp>
      <p:sp>
        <p:nvSpPr>
          <p:cNvPr id="20" name="Shape R20"/>
          <p:cNvSpPr/>
          <p:nvPr/>
        </p:nvSpPr>
        <p:spPr>
          <a:xfrm>
            <a:off x="274320" y="2346504"/>
            <a:ext cx="8595360" cy="270000"/>
          </a:xfrm>
          <a:prstGeom prst="rect">
            <a:avLst/>
          </a:prstGeom>
          <a:solidFill>
            <a:srgbClr val="E8F1FA"/>
          </a:solidFill>
          <a:ln w="6350">
            <a:solidFill>
              <a:srgbClr val="D0DCE8"/>
            </a:solidFill>
            <a:prstDash val="solid"/>
          </a:ln>
        </p:spPr>
        <p:txBody>
          <a:bodyPr/>
          <a:lstStyle/>
          <a:p>
            <a:endParaRPr lang="fr-FR"/>
          </a:p>
        </p:txBody>
      </p:sp>
      <p:sp>
        <p:nvSpPr>
          <p:cNvPr id="21" name="Shape R21"/>
          <p:cNvSpPr/>
          <p:nvPr/>
        </p:nvSpPr>
        <p:spPr>
          <a:xfrm>
            <a:off x="274320" y="2346504"/>
            <a:ext cx="256032" cy="270000"/>
          </a:xfrm>
          <a:prstGeom prst="rect">
            <a:avLst/>
          </a:prstGeom>
          <a:solidFill>
            <a:srgbClr val="2860A8"/>
          </a:solidFill>
          <a:ln w="12700">
            <a:solidFill>
              <a:srgbClr val="2860A8"/>
            </a:solidFill>
            <a:prstDash val="solid"/>
          </a:ln>
        </p:spPr>
        <p:txBody>
          <a:bodyPr/>
          <a:lstStyle/>
          <a:p>
            <a:endParaRPr lang="fr-FR"/>
          </a:p>
        </p:txBody>
      </p:sp>
      <p:sp>
        <p:nvSpPr>
          <p:cNvPr id="22" name="Text R22"/>
          <p:cNvSpPr/>
          <p:nvPr/>
        </p:nvSpPr>
        <p:spPr>
          <a:xfrm>
            <a:off x="274320" y="23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3" name="Text R23"/>
          <p:cNvSpPr/>
          <p:nvPr/>
        </p:nvSpPr>
        <p:spPr>
          <a:xfrm>
            <a:off x="594360" y="23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Conduite après usage de stupéfiants</a:t>
            </a:r>
            <a:endParaRPr lang="en-US" sz="900" dirty="0"/>
          </a:p>
        </p:txBody>
      </p:sp>
      <p:sp>
        <p:nvSpPr>
          <p:cNvPr id="24" name="Shape R24"/>
          <p:cNvSpPr/>
          <p:nvPr/>
        </p:nvSpPr>
        <p:spPr>
          <a:xfrm>
            <a:off x="274320" y="2646504"/>
            <a:ext cx="8595360" cy="270000"/>
          </a:xfrm>
          <a:prstGeom prst="rect">
            <a:avLst/>
          </a:prstGeom>
          <a:solidFill>
            <a:srgbClr val="FFFFFF"/>
          </a:solidFill>
          <a:ln w="6350">
            <a:solidFill>
              <a:srgbClr val="D0DCE8"/>
            </a:solidFill>
            <a:prstDash val="solid"/>
          </a:ln>
        </p:spPr>
        <p:txBody>
          <a:bodyPr/>
          <a:lstStyle/>
          <a:p>
            <a:endParaRPr lang="fr-FR"/>
          </a:p>
        </p:txBody>
      </p:sp>
      <p:sp>
        <p:nvSpPr>
          <p:cNvPr id="25" name="Shape R25"/>
          <p:cNvSpPr/>
          <p:nvPr/>
        </p:nvSpPr>
        <p:spPr>
          <a:xfrm>
            <a:off x="274320" y="2646504"/>
            <a:ext cx="256032" cy="270000"/>
          </a:xfrm>
          <a:prstGeom prst="rect">
            <a:avLst/>
          </a:prstGeom>
          <a:solidFill>
            <a:srgbClr val="2860A8"/>
          </a:solidFill>
          <a:ln w="12700">
            <a:solidFill>
              <a:srgbClr val="2860A8"/>
            </a:solidFill>
            <a:prstDash val="solid"/>
          </a:ln>
        </p:spPr>
        <p:txBody>
          <a:bodyPr/>
          <a:lstStyle/>
          <a:p>
            <a:endParaRPr lang="fr-FR"/>
          </a:p>
        </p:txBody>
      </p:sp>
      <p:sp>
        <p:nvSpPr>
          <p:cNvPr id="26" name="Text R26"/>
          <p:cNvSpPr/>
          <p:nvPr/>
        </p:nvSpPr>
        <p:spPr>
          <a:xfrm>
            <a:off x="274320" y="26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7" name="Text R27"/>
          <p:cNvSpPr/>
          <p:nvPr/>
        </p:nvSpPr>
        <p:spPr>
          <a:xfrm>
            <a:off x="594360" y="26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Refus de se soumettre aux tests de dépistage (alcool ou stupéfiants)</a:t>
            </a:r>
            <a:endParaRPr lang="en-US" sz="900" dirty="0"/>
          </a:p>
        </p:txBody>
      </p:sp>
      <p:sp>
        <p:nvSpPr>
          <p:cNvPr id="28" name="Shape R28"/>
          <p:cNvSpPr/>
          <p:nvPr/>
        </p:nvSpPr>
        <p:spPr>
          <a:xfrm>
            <a:off x="274320" y="2946504"/>
            <a:ext cx="8595360" cy="270000"/>
          </a:xfrm>
          <a:prstGeom prst="rect">
            <a:avLst/>
          </a:prstGeom>
          <a:solidFill>
            <a:srgbClr val="E8F1FA"/>
          </a:solidFill>
          <a:ln w="6350">
            <a:solidFill>
              <a:srgbClr val="D0DCE8"/>
            </a:solidFill>
            <a:prstDash val="solid"/>
          </a:ln>
        </p:spPr>
        <p:txBody>
          <a:bodyPr/>
          <a:lstStyle/>
          <a:p>
            <a:endParaRPr lang="fr-FR"/>
          </a:p>
        </p:txBody>
      </p:sp>
      <p:sp>
        <p:nvSpPr>
          <p:cNvPr id="29" name="Shape R29"/>
          <p:cNvSpPr/>
          <p:nvPr/>
        </p:nvSpPr>
        <p:spPr>
          <a:xfrm>
            <a:off x="274320" y="2946504"/>
            <a:ext cx="256032" cy="270000"/>
          </a:xfrm>
          <a:prstGeom prst="rect">
            <a:avLst/>
          </a:prstGeom>
          <a:solidFill>
            <a:srgbClr val="2860A8"/>
          </a:solidFill>
          <a:ln w="12700">
            <a:solidFill>
              <a:srgbClr val="2860A8"/>
            </a:solidFill>
            <a:prstDash val="solid"/>
          </a:ln>
        </p:spPr>
        <p:txBody>
          <a:bodyPr/>
          <a:lstStyle/>
          <a:p>
            <a:endParaRPr lang="fr-FR"/>
          </a:p>
        </p:txBody>
      </p:sp>
      <p:sp>
        <p:nvSpPr>
          <p:cNvPr id="30" name="Text R30"/>
          <p:cNvSpPr/>
          <p:nvPr/>
        </p:nvSpPr>
        <p:spPr>
          <a:xfrm>
            <a:off x="274320" y="29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1" name="Text R31"/>
          <p:cNvSpPr/>
          <p:nvPr/>
        </p:nvSpPr>
        <p:spPr>
          <a:xfrm>
            <a:off x="594360" y="29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Homicide ou blessures involontaires (avec incapacité de travail)</a:t>
            </a:r>
            <a:endParaRPr lang="en-US" sz="900" dirty="0"/>
          </a:p>
        </p:txBody>
      </p:sp>
      <p:sp>
        <p:nvSpPr>
          <p:cNvPr id="32" name="Shape R32"/>
          <p:cNvSpPr/>
          <p:nvPr/>
        </p:nvSpPr>
        <p:spPr>
          <a:xfrm>
            <a:off x="274320" y="3246504"/>
            <a:ext cx="8595360" cy="270000"/>
          </a:xfrm>
          <a:prstGeom prst="rect">
            <a:avLst/>
          </a:prstGeom>
          <a:solidFill>
            <a:srgbClr val="FFFFFF"/>
          </a:solidFill>
          <a:ln w="6350">
            <a:solidFill>
              <a:srgbClr val="D0DCE8"/>
            </a:solidFill>
            <a:prstDash val="solid"/>
          </a:ln>
        </p:spPr>
        <p:txBody>
          <a:bodyPr/>
          <a:lstStyle/>
          <a:p>
            <a:endParaRPr lang="fr-FR"/>
          </a:p>
        </p:txBody>
      </p:sp>
      <p:sp>
        <p:nvSpPr>
          <p:cNvPr id="33" name="Shape R33"/>
          <p:cNvSpPr/>
          <p:nvPr/>
        </p:nvSpPr>
        <p:spPr>
          <a:xfrm>
            <a:off x="274320" y="3246504"/>
            <a:ext cx="256032" cy="270000"/>
          </a:xfrm>
          <a:prstGeom prst="rect">
            <a:avLst/>
          </a:prstGeom>
          <a:solidFill>
            <a:srgbClr val="2860A8"/>
          </a:solidFill>
          <a:ln w="12700">
            <a:solidFill>
              <a:srgbClr val="2860A8"/>
            </a:solidFill>
            <a:prstDash val="solid"/>
          </a:ln>
        </p:spPr>
        <p:txBody>
          <a:bodyPr/>
          <a:lstStyle/>
          <a:p>
            <a:endParaRPr lang="fr-FR"/>
          </a:p>
        </p:txBody>
      </p:sp>
      <p:sp>
        <p:nvSpPr>
          <p:cNvPr id="34" name="Text R34"/>
          <p:cNvSpPr/>
          <p:nvPr/>
        </p:nvSpPr>
        <p:spPr>
          <a:xfrm>
            <a:off x="274320" y="32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5" name="Text R35"/>
          <p:cNvSpPr/>
          <p:nvPr/>
        </p:nvSpPr>
        <p:spPr>
          <a:xfrm>
            <a:off x="594360" y="32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Délit de fuite</a:t>
            </a:r>
            <a:endParaRPr lang="en-US" sz="900" dirty="0"/>
          </a:p>
        </p:txBody>
      </p:sp>
      <p:sp>
        <p:nvSpPr>
          <p:cNvPr id="36" name="Shape R36"/>
          <p:cNvSpPr/>
          <p:nvPr/>
        </p:nvSpPr>
        <p:spPr>
          <a:xfrm>
            <a:off x="274320" y="3546504"/>
            <a:ext cx="8595360" cy="270000"/>
          </a:xfrm>
          <a:prstGeom prst="rect">
            <a:avLst/>
          </a:prstGeom>
          <a:solidFill>
            <a:srgbClr val="E8F1FA"/>
          </a:solidFill>
          <a:ln w="6350">
            <a:solidFill>
              <a:srgbClr val="D0DCE8"/>
            </a:solidFill>
            <a:prstDash val="solid"/>
          </a:ln>
        </p:spPr>
        <p:txBody>
          <a:bodyPr/>
          <a:lstStyle/>
          <a:p>
            <a:endParaRPr lang="fr-FR"/>
          </a:p>
        </p:txBody>
      </p:sp>
      <p:sp>
        <p:nvSpPr>
          <p:cNvPr id="37" name="Shape R37"/>
          <p:cNvSpPr/>
          <p:nvPr/>
        </p:nvSpPr>
        <p:spPr>
          <a:xfrm>
            <a:off x="274320" y="3546504"/>
            <a:ext cx="256032" cy="270000"/>
          </a:xfrm>
          <a:prstGeom prst="rect">
            <a:avLst/>
          </a:prstGeom>
          <a:solidFill>
            <a:srgbClr val="2860A8"/>
          </a:solidFill>
          <a:ln w="12700">
            <a:solidFill>
              <a:srgbClr val="2860A8"/>
            </a:solidFill>
            <a:prstDash val="solid"/>
          </a:ln>
        </p:spPr>
        <p:txBody>
          <a:bodyPr/>
          <a:lstStyle/>
          <a:p>
            <a:endParaRPr lang="fr-FR"/>
          </a:p>
        </p:txBody>
      </p:sp>
      <p:sp>
        <p:nvSpPr>
          <p:cNvPr id="38" name="Text R38"/>
          <p:cNvSpPr/>
          <p:nvPr/>
        </p:nvSpPr>
        <p:spPr>
          <a:xfrm>
            <a:off x="274320" y="35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9" name="Text R39"/>
          <p:cNvSpPr/>
          <p:nvPr/>
        </p:nvSpPr>
        <p:spPr>
          <a:xfrm>
            <a:off x="594360" y="35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Refus d'obtempérer ou de s'immobiliser</a:t>
            </a:r>
            <a:endParaRPr lang="en-US" sz="900" dirty="0"/>
          </a:p>
        </p:txBody>
      </p:sp>
      <p:sp>
        <p:nvSpPr>
          <p:cNvPr id="40" name="Shape R40"/>
          <p:cNvSpPr/>
          <p:nvPr/>
        </p:nvSpPr>
        <p:spPr>
          <a:xfrm>
            <a:off x="274320" y="3846504"/>
            <a:ext cx="8595360" cy="270000"/>
          </a:xfrm>
          <a:prstGeom prst="rect">
            <a:avLst/>
          </a:prstGeom>
          <a:solidFill>
            <a:srgbClr val="FFFFFF"/>
          </a:solidFill>
          <a:ln w="6350">
            <a:solidFill>
              <a:srgbClr val="D0DCE8"/>
            </a:solidFill>
            <a:prstDash val="solid"/>
          </a:ln>
        </p:spPr>
        <p:txBody>
          <a:bodyPr/>
          <a:lstStyle/>
          <a:p>
            <a:endParaRPr lang="fr-FR"/>
          </a:p>
        </p:txBody>
      </p:sp>
      <p:sp>
        <p:nvSpPr>
          <p:cNvPr id="41" name="Shape R41"/>
          <p:cNvSpPr/>
          <p:nvPr/>
        </p:nvSpPr>
        <p:spPr>
          <a:xfrm>
            <a:off x="274320" y="3846504"/>
            <a:ext cx="256032" cy="270000"/>
          </a:xfrm>
          <a:prstGeom prst="rect">
            <a:avLst/>
          </a:prstGeom>
          <a:solidFill>
            <a:srgbClr val="2860A8"/>
          </a:solidFill>
          <a:ln w="12700">
            <a:solidFill>
              <a:srgbClr val="2860A8"/>
            </a:solidFill>
            <a:prstDash val="solid"/>
          </a:ln>
        </p:spPr>
        <p:txBody>
          <a:bodyPr/>
          <a:lstStyle/>
          <a:p>
            <a:endParaRPr lang="fr-FR"/>
          </a:p>
        </p:txBody>
      </p:sp>
      <p:sp>
        <p:nvSpPr>
          <p:cNvPr id="42" name="Text R42"/>
          <p:cNvSpPr/>
          <p:nvPr/>
        </p:nvSpPr>
        <p:spPr>
          <a:xfrm>
            <a:off x="274320" y="38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3" name="Text R43"/>
          <p:cNvSpPr/>
          <p:nvPr/>
        </p:nvSpPr>
        <p:spPr>
          <a:xfrm>
            <a:off x="594360" y="38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Gêne ou entrave à la circulation</a:t>
            </a:r>
            <a:endParaRPr lang="en-US" sz="900" dirty="0"/>
          </a:p>
        </p:txBody>
      </p:sp>
      <p:sp>
        <p:nvSpPr>
          <p:cNvPr id="44" name="Shape R44"/>
          <p:cNvSpPr/>
          <p:nvPr/>
        </p:nvSpPr>
        <p:spPr>
          <a:xfrm>
            <a:off x="274320" y="4146504"/>
            <a:ext cx="8595360" cy="270000"/>
          </a:xfrm>
          <a:prstGeom prst="rect">
            <a:avLst/>
          </a:prstGeom>
          <a:solidFill>
            <a:srgbClr val="E8F1FA"/>
          </a:solidFill>
          <a:ln w="6350">
            <a:solidFill>
              <a:srgbClr val="D0DCE8"/>
            </a:solidFill>
            <a:prstDash val="solid"/>
          </a:ln>
        </p:spPr>
        <p:txBody>
          <a:bodyPr/>
          <a:lstStyle/>
          <a:p>
            <a:endParaRPr lang="fr-FR"/>
          </a:p>
        </p:txBody>
      </p:sp>
      <p:sp>
        <p:nvSpPr>
          <p:cNvPr id="45" name="Shape R45"/>
          <p:cNvSpPr/>
          <p:nvPr/>
        </p:nvSpPr>
        <p:spPr>
          <a:xfrm>
            <a:off x="274320" y="4146504"/>
            <a:ext cx="256032" cy="270000"/>
          </a:xfrm>
          <a:prstGeom prst="rect">
            <a:avLst/>
          </a:prstGeom>
          <a:solidFill>
            <a:srgbClr val="2860A8"/>
          </a:solidFill>
          <a:ln w="12700">
            <a:solidFill>
              <a:srgbClr val="2860A8"/>
            </a:solidFill>
            <a:prstDash val="solid"/>
          </a:ln>
        </p:spPr>
        <p:txBody>
          <a:bodyPr/>
          <a:lstStyle/>
          <a:p>
            <a:endParaRPr lang="fr-FR"/>
          </a:p>
        </p:txBody>
      </p:sp>
      <p:sp>
        <p:nvSpPr>
          <p:cNvPr id="46" name="Text R46"/>
          <p:cNvSpPr/>
          <p:nvPr/>
        </p:nvSpPr>
        <p:spPr>
          <a:xfrm>
            <a:off x="274320" y="41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7" name="Text R47"/>
          <p:cNvSpPr/>
          <p:nvPr/>
        </p:nvSpPr>
        <p:spPr>
          <a:xfrm>
            <a:off x="594360" y="41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Usage volontaire de fausses plaques d'immatriculation</a:t>
            </a:r>
            <a:endParaRPr lang="en-US" sz="900" dirty="0"/>
          </a:p>
        </p:txBody>
      </p:sp>
      <p:sp>
        <p:nvSpPr>
          <p:cNvPr id="48" name="Shape R48"/>
          <p:cNvSpPr/>
          <p:nvPr/>
        </p:nvSpPr>
        <p:spPr>
          <a:xfrm>
            <a:off x="274320" y="4446504"/>
            <a:ext cx="8595360" cy="270000"/>
          </a:xfrm>
          <a:prstGeom prst="rect">
            <a:avLst/>
          </a:prstGeom>
          <a:solidFill>
            <a:srgbClr val="FFFFFF"/>
          </a:solidFill>
          <a:ln w="6350">
            <a:solidFill>
              <a:srgbClr val="D0DCE8"/>
            </a:solidFill>
            <a:prstDash val="solid"/>
          </a:ln>
        </p:spPr>
        <p:txBody>
          <a:bodyPr/>
          <a:lstStyle/>
          <a:p>
            <a:endParaRPr lang="fr-FR"/>
          </a:p>
        </p:txBody>
      </p:sp>
      <p:sp>
        <p:nvSpPr>
          <p:cNvPr id="49" name="Shape R49"/>
          <p:cNvSpPr/>
          <p:nvPr/>
        </p:nvSpPr>
        <p:spPr>
          <a:xfrm>
            <a:off x="274320" y="4446504"/>
            <a:ext cx="256032" cy="270000"/>
          </a:xfrm>
          <a:prstGeom prst="rect">
            <a:avLst/>
          </a:prstGeom>
          <a:solidFill>
            <a:srgbClr val="2860A8"/>
          </a:solidFill>
          <a:ln w="12700">
            <a:solidFill>
              <a:srgbClr val="2860A8"/>
            </a:solidFill>
            <a:prstDash val="solid"/>
          </a:ln>
        </p:spPr>
        <p:txBody>
          <a:bodyPr/>
          <a:lstStyle/>
          <a:p>
            <a:endParaRPr lang="fr-FR"/>
          </a:p>
        </p:txBody>
      </p:sp>
      <p:sp>
        <p:nvSpPr>
          <p:cNvPr id="50" name="Text R50"/>
          <p:cNvSpPr/>
          <p:nvPr/>
        </p:nvSpPr>
        <p:spPr>
          <a:xfrm>
            <a:off x="274320" y="4446504"/>
            <a:ext cx="256032" cy="270000"/>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51" name="Text R51"/>
          <p:cNvSpPr/>
          <p:nvPr/>
        </p:nvSpPr>
        <p:spPr>
          <a:xfrm>
            <a:off x="594360" y="4464792"/>
            <a:ext cx="8202168" cy="25603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Conduite malgré un retrait, une suspension ou une annulation du permis</a:t>
            </a:r>
            <a:endParaRPr lang="en-US" sz="900" dirty="0"/>
          </a:p>
        </p:txBody>
      </p:sp>
      <p:sp>
        <p:nvSpPr>
          <p:cNvPr id="52" name="Rectangle 52"/>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53" name="Rectangle 53"/>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0D25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B4D8"/>
          </a:solidFill>
          <a:ln w="12700">
            <a:solidFill>
              <a:srgbClr val="00B4D8"/>
            </a:solidFill>
            <a:prstDash val="solid"/>
          </a:ln>
        </p:spPr>
        <p:txBody>
          <a:bodyPr/>
          <a:lstStyle/>
          <a:p>
            <a:endParaRPr lang="fr-FR"/>
          </a:p>
        </p:txBody>
      </p:sp>
      <p:sp>
        <p:nvSpPr>
          <p:cNvPr id="3" name="Shape 1"/>
          <p:cNvSpPr/>
          <p:nvPr/>
        </p:nvSpPr>
        <p:spPr>
          <a:xfrm>
            <a:off x="320040" y="1828800"/>
            <a:ext cx="8503920" cy="45720"/>
          </a:xfrm>
          <a:prstGeom prst="rect">
            <a:avLst/>
          </a:prstGeom>
          <a:solidFill>
            <a:srgbClr val="2860A8"/>
          </a:solidFill>
          <a:ln w="12700">
            <a:solidFill>
              <a:srgbClr val="2860A8"/>
            </a:solidFill>
            <a:prstDash val="solid"/>
          </a:ln>
        </p:spPr>
        <p:txBody>
          <a:bodyPr/>
          <a:lstStyle/>
          <a:p>
            <a:endParaRPr lang="fr-FR"/>
          </a:p>
        </p:txBody>
      </p:sp>
      <p:sp>
        <p:nvSpPr>
          <p:cNvPr id="4" name="Text 2"/>
          <p:cNvSpPr/>
          <p:nvPr/>
        </p:nvSpPr>
        <p:spPr>
          <a:xfrm>
            <a:off x="594360" y="822960"/>
            <a:ext cx="822960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Synthèse Partie 1 — Révision pages 107 à 112</a:t>
            </a:r>
            <a:endParaRPr lang="en-US" sz="3000" dirty="0"/>
          </a:p>
        </p:txBody>
      </p:sp>
      <p:sp>
        <p:nvSpPr>
          <p:cNvPr id="5" name="Text 3"/>
          <p:cNvSpPr/>
          <p:nvPr/>
        </p:nvSpPr>
        <p:spPr>
          <a:xfrm>
            <a:off x="594360" y="1965960"/>
            <a:ext cx="8229600" cy="502920"/>
          </a:xfrm>
          <a:prstGeom prst="rect">
            <a:avLst/>
          </a:prstGeom>
          <a:noFill/>
          <a:ln/>
        </p:spPr>
        <p:txBody>
          <a:bodyPr wrap="square" rtlCol="0" anchor="ctr"/>
          <a:lstStyle/>
          <a:p>
            <a:pPr marL="0" indent="0">
              <a:buNone/>
            </a:pPr>
            <a:r>
              <a:rPr lang="en-US" sz="1400" i="1" dirty="0">
                <a:solidFill>
                  <a:srgbClr val="00B4D8"/>
                </a:solidFill>
                <a:latin typeface="Calibri" pitchFamily="34" charset="0"/>
                <a:ea typeface="Calibri" pitchFamily="34" charset="-122"/>
                <a:cs typeface="Calibri" pitchFamily="34" charset="-120"/>
              </a:rPr>
              <a:t>Définition T3P · Non-inscription · Assurances · Maraude · Carte pro · Permis</a:t>
            </a:r>
            <a:endParaRPr lang="en-US" sz="14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Rectangle 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10" name="Rectangle 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pic>
        <p:nvPicPr>
          <p:cNvPr id="11" name="Picture 10" descr="image32.jpeg"/>
          <p:cNvPicPr>
            <a:picLocks noChangeAspect="1"/>
          </p:cNvPicPr>
          <p:nvPr/>
        </p:nvPicPr>
        <p:blipFill>
          <a:blip r:embed="rId3"/>
          <a:stretch>
            <a:fillRect/>
          </a:stretch>
        </p:blipFill>
        <p:spPr>
          <a:xfrm>
            <a:off x="3703320" y="2820924"/>
            <a:ext cx="1737360" cy="1737360"/>
          </a:xfrm>
          <a:prstGeom prst="rect">
            <a:avLst/>
          </a:prstGeom>
          <a:ln w="9525">
            <a:solidFill>
              <a:srgbClr val="00B4D8"/>
            </a:solid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Définition du T3P et cas de non-inscription à l'examen</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Livre pages 107-108-109</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274320"/>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32688"/>
            <a:ext cx="859536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DÉFINITION DES PRESTATIONS T3P (Code des transports)</a:t>
            </a:r>
            <a:endParaRPr lang="en-US" sz="1000" dirty="0"/>
          </a:p>
        </p:txBody>
      </p:sp>
      <p:sp>
        <p:nvSpPr>
          <p:cNvPr id="11" name="Shape 9"/>
          <p:cNvSpPr/>
          <p:nvPr/>
        </p:nvSpPr>
        <p:spPr>
          <a:xfrm>
            <a:off x="274320" y="1243584"/>
            <a:ext cx="8595360" cy="621792"/>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243584"/>
            <a:ext cx="54864" cy="621792"/>
          </a:xfrm>
          <a:prstGeom prst="rect">
            <a:avLst/>
          </a:prstGeom>
          <a:solidFill>
            <a:srgbClr val="1A3A5C"/>
          </a:solidFill>
          <a:ln w="12700">
            <a:solidFill>
              <a:srgbClr val="1A3A5C"/>
            </a:solidFill>
            <a:prstDash val="solid"/>
          </a:ln>
        </p:spPr>
        <p:txBody>
          <a:bodyPr/>
          <a:lstStyle/>
          <a:p>
            <a:endParaRPr lang="fr-FR"/>
          </a:p>
        </p:txBody>
      </p:sp>
      <p:sp>
        <p:nvSpPr>
          <p:cNvPr id="13" name="Text 11"/>
          <p:cNvSpPr/>
          <p:nvPr/>
        </p:nvSpPr>
        <p:spPr>
          <a:xfrm>
            <a:off x="411480" y="1261872"/>
            <a:ext cx="8321040" cy="585216"/>
          </a:xfrm>
          <a:prstGeom prst="rect">
            <a:avLst/>
          </a:prstGeom>
          <a:noFill/>
          <a:ln/>
        </p:spPr>
        <p:txBody>
          <a:bodyPr wrap="square" rtlCol="0" anchor="ctr"/>
          <a:lstStyle/>
          <a:p>
            <a:pPr marL="0" indent="0">
              <a:buNone/>
            </a:pPr>
            <a:r>
              <a:rPr lang="en-US" sz="920" dirty="0">
                <a:solidFill>
                  <a:srgbClr val="3A3A3A"/>
                </a:solidFill>
                <a:latin typeface="Calibri" pitchFamily="34" charset="0"/>
                <a:ea typeface="Calibri" pitchFamily="34" charset="-122"/>
                <a:cs typeface="Calibri" pitchFamily="34" charset="-120"/>
              </a:rPr>
              <a:t>Les prestations de transports publics particuliers sont des prestations de transport public routier de personnes qui NE relèvent NI des transports publics collectifs NI du transport privé routier de personnes.</a:t>
            </a:r>
            <a:endParaRPr lang="en-US" sz="920" dirty="0"/>
          </a:p>
          <a:p>
            <a:pPr marL="0" indent="0">
              <a:buNone/>
            </a:pPr>
            <a:r>
              <a:rPr lang="en-US" sz="920" dirty="0">
                <a:solidFill>
                  <a:srgbClr val="3A3A3A"/>
                </a:solidFill>
                <a:latin typeface="Calibri" pitchFamily="34" charset="0"/>
                <a:ea typeface="Calibri" pitchFamily="34" charset="-122"/>
                <a:cs typeface="Calibri" pitchFamily="34" charset="-120"/>
              </a:rPr>
              <a:t>Elles sont exécutées, à titre onéreux, par les taxis, les voitures de transport avec chauffeur et les véhicules motorisés à deux ou trois roues.</a:t>
            </a:r>
            <a:endParaRPr lang="en-US" sz="920" dirty="0"/>
          </a:p>
        </p:txBody>
      </p:sp>
      <p:sp>
        <p:nvSpPr>
          <p:cNvPr id="14" name="Shape 12"/>
          <p:cNvSpPr/>
          <p:nvPr/>
        </p:nvSpPr>
        <p:spPr>
          <a:xfrm>
            <a:off x="274320" y="1938528"/>
            <a:ext cx="8595360" cy="274320"/>
          </a:xfrm>
          <a:prstGeom prst="rect">
            <a:avLst/>
          </a:prstGeom>
          <a:solidFill>
            <a:srgbClr val="C0392B"/>
          </a:solidFill>
          <a:ln w="12700">
            <a:solidFill>
              <a:srgbClr val="C0392B"/>
            </a:solidFill>
            <a:prstDash val="solid"/>
          </a:ln>
        </p:spPr>
        <p:txBody>
          <a:bodyPr/>
          <a:lstStyle/>
          <a:p>
            <a:endParaRPr lang="fr-FR"/>
          </a:p>
        </p:txBody>
      </p:sp>
      <p:sp>
        <p:nvSpPr>
          <p:cNvPr id="15" name="Text 13"/>
          <p:cNvSpPr/>
          <p:nvPr/>
        </p:nvSpPr>
        <p:spPr>
          <a:xfrm>
            <a:off x="274320" y="1938528"/>
            <a:ext cx="859536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LES 3 CAS DE NON-INSCRIPTION À UN EXAMEN T3P</a:t>
            </a:r>
            <a:endParaRPr lang="en-US" sz="1000" dirty="0"/>
          </a:p>
        </p:txBody>
      </p:sp>
      <p:sp>
        <p:nvSpPr>
          <p:cNvPr id="16" name="Shape 14"/>
          <p:cNvSpPr/>
          <p:nvPr/>
        </p:nvSpPr>
        <p:spPr>
          <a:xfrm>
            <a:off x="274320" y="2267712"/>
            <a:ext cx="2724912" cy="2084832"/>
          </a:xfrm>
          <a:prstGeom prst="rect">
            <a:avLst/>
          </a:prstGeom>
          <a:solidFill>
            <a:srgbClr val="E8F1FA"/>
          </a:solidFill>
          <a:ln w="6350">
            <a:solidFill>
              <a:srgbClr val="D0DCE8"/>
            </a:solidFill>
            <a:prstDash val="solid"/>
          </a:ln>
        </p:spPr>
        <p:txBody>
          <a:bodyPr/>
          <a:lstStyle/>
          <a:p>
            <a:endParaRPr lang="fr-FR"/>
          </a:p>
        </p:txBody>
      </p:sp>
      <p:sp>
        <p:nvSpPr>
          <p:cNvPr id="17" name="Shape 15"/>
          <p:cNvSpPr/>
          <p:nvPr/>
        </p:nvSpPr>
        <p:spPr>
          <a:xfrm>
            <a:off x="274320" y="2267712"/>
            <a:ext cx="2724912" cy="274320"/>
          </a:xfrm>
          <a:prstGeom prst="rect">
            <a:avLst/>
          </a:prstGeom>
          <a:solidFill>
            <a:srgbClr val="C0392B"/>
          </a:solidFill>
          <a:ln w="12700">
            <a:solidFill>
              <a:srgbClr val="C0392B"/>
            </a:solidFill>
            <a:prstDash val="solid"/>
          </a:ln>
        </p:spPr>
        <p:txBody>
          <a:bodyPr/>
          <a:lstStyle/>
          <a:p>
            <a:endParaRPr lang="fr-FR"/>
          </a:p>
        </p:txBody>
      </p:sp>
      <p:sp>
        <p:nvSpPr>
          <p:cNvPr id="18" name="Text 16"/>
          <p:cNvSpPr/>
          <p:nvPr/>
        </p:nvSpPr>
        <p:spPr>
          <a:xfrm>
            <a:off x="347472" y="2267712"/>
            <a:ext cx="2578608" cy="27432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1er CAS — Retrait définitif de carte</a:t>
            </a:r>
            <a:endParaRPr lang="en-US" sz="850" dirty="0"/>
          </a:p>
        </p:txBody>
      </p:sp>
      <p:sp>
        <p:nvSpPr>
          <p:cNvPr id="19" name="Text 17"/>
          <p:cNvSpPr/>
          <p:nvPr/>
        </p:nvSpPr>
        <p:spPr>
          <a:xfrm>
            <a:off x="365760" y="2560320"/>
            <a:ext cx="2542032" cy="1773936"/>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Il a fait l'objet, dans les DIX ANS qui précèdent sa demande, d'un retrait DÉFINITIF de sa carte professionnelle.</a:t>
            </a:r>
            <a:endParaRPr lang="en-US" sz="880" dirty="0"/>
          </a:p>
          <a:p>
            <a:pPr marL="0" indent="0">
              <a:buNone/>
            </a:pPr>
            <a:r>
              <a:rPr lang="en-US" sz="880" dirty="0">
                <a:solidFill>
                  <a:srgbClr val="3A3A3A"/>
                </a:solidFill>
                <a:latin typeface="Calibri" pitchFamily="34" charset="0"/>
                <a:ea typeface="Calibri" pitchFamily="34" charset="-122"/>
                <a:cs typeface="Calibri" pitchFamily="34" charset="-120"/>
              </a:rPr>
              <a:t>(Suite à une violation de la réglementation T3P par le conducteur)</a:t>
            </a:r>
            <a:endParaRPr lang="en-US" sz="880" dirty="0"/>
          </a:p>
        </p:txBody>
      </p:sp>
      <p:sp>
        <p:nvSpPr>
          <p:cNvPr id="20" name="Shape 18"/>
          <p:cNvSpPr/>
          <p:nvPr/>
        </p:nvSpPr>
        <p:spPr>
          <a:xfrm>
            <a:off x="3154680" y="2267712"/>
            <a:ext cx="2724912" cy="2084832"/>
          </a:xfrm>
          <a:prstGeom prst="rect">
            <a:avLst/>
          </a:prstGeom>
          <a:solidFill>
            <a:srgbClr val="E8F1FA"/>
          </a:solidFill>
          <a:ln w="6350">
            <a:solidFill>
              <a:srgbClr val="D0DCE8"/>
            </a:solidFill>
            <a:prstDash val="solid"/>
          </a:ln>
        </p:spPr>
        <p:txBody>
          <a:bodyPr/>
          <a:lstStyle/>
          <a:p>
            <a:endParaRPr lang="fr-FR"/>
          </a:p>
        </p:txBody>
      </p:sp>
      <p:sp>
        <p:nvSpPr>
          <p:cNvPr id="21" name="Shape 19"/>
          <p:cNvSpPr/>
          <p:nvPr/>
        </p:nvSpPr>
        <p:spPr>
          <a:xfrm>
            <a:off x="3154680" y="2267712"/>
            <a:ext cx="2724912" cy="274320"/>
          </a:xfrm>
          <a:prstGeom prst="rect">
            <a:avLst/>
          </a:prstGeom>
          <a:solidFill>
            <a:srgbClr val="F4A227"/>
          </a:solidFill>
          <a:ln w="12700">
            <a:solidFill>
              <a:srgbClr val="F4A227"/>
            </a:solidFill>
            <a:prstDash val="solid"/>
          </a:ln>
        </p:spPr>
        <p:txBody>
          <a:bodyPr/>
          <a:lstStyle/>
          <a:p>
            <a:endParaRPr lang="fr-FR"/>
          </a:p>
        </p:txBody>
      </p:sp>
      <p:sp>
        <p:nvSpPr>
          <p:cNvPr id="22" name="Text 20"/>
          <p:cNvSpPr/>
          <p:nvPr/>
        </p:nvSpPr>
        <p:spPr>
          <a:xfrm>
            <a:off x="3227832" y="2267712"/>
            <a:ext cx="2578608" cy="27432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2ème CAS — Fraude à un examen</a:t>
            </a:r>
            <a:endParaRPr lang="en-US" sz="850" dirty="0"/>
          </a:p>
        </p:txBody>
      </p:sp>
      <p:sp>
        <p:nvSpPr>
          <p:cNvPr id="23" name="Text 21"/>
          <p:cNvSpPr/>
          <p:nvPr/>
        </p:nvSpPr>
        <p:spPr>
          <a:xfrm>
            <a:off x="3246120" y="2560320"/>
            <a:ext cx="2542032" cy="1773936"/>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Il a fait l'objet, dans les CINQ ANS qui précèdent sa demande, d'une exclusion pour fraude lors d'une session à l'un des examens des professions T3P.</a:t>
            </a:r>
            <a:endParaRPr lang="en-US" sz="880" dirty="0"/>
          </a:p>
        </p:txBody>
      </p:sp>
      <p:sp>
        <p:nvSpPr>
          <p:cNvPr id="24" name="Shape 22"/>
          <p:cNvSpPr/>
          <p:nvPr/>
        </p:nvSpPr>
        <p:spPr>
          <a:xfrm>
            <a:off x="6035040" y="2267712"/>
            <a:ext cx="2724912" cy="2084832"/>
          </a:xfrm>
          <a:prstGeom prst="rect">
            <a:avLst/>
          </a:prstGeom>
          <a:solidFill>
            <a:srgbClr val="E8F1FA"/>
          </a:solidFill>
          <a:ln w="6350">
            <a:solidFill>
              <a:srgbClr val="D0DCE8"/>
            </a:solidFill>
            <a:prstDash val="solid"/>
          </a:ln>
        </p:spPr>
        <p:txBody>
          <a:bodyPr/>
          <a:lstStyle/>
          <a:p>
            <a:endParaRPr lang="fr-FR"/>
          </a:p>
        </p:txBody>
      </p:sp>
      <p:sp>
        <p:nvSpPr>
          <p:cNvPr id="25" name="Shape 23"/>
          <p:cNvSpPr/>
          <p:nvPr/>
        </p:nvSpPr>
        <p:spPr>
          <a:xfrm>
            <a:off x="6035040" y="2267712"/>
            <a:ext cx="2724912" cy="274320"/>
          </a:xfrm>
          <a:prstGeom prst="rect">
            <a:avLst/>
          </a:prstGeom>
          <a:solidFill>
            <a:srgbClr val="1A3A5C"/>
          </a:solidFill>
          <a:ln w="12700">
            <a:solidFill>
              <a:srgbClr val="1A3A5C"/>
            </a:solidFill>
            <a:prstDash val="solid"/>
          </a:ln>
        </p:spPr>
        <p:txBody>
          <a:bodyPr/>
          <a:lstStyle/>
          <a:p>
            <a:endParaRPr lang="fr-FR"/>
          </a:p>
        </p:txBody>
      </p:sp>
      <p:sp>
        <p:nvSpPr>
          <p:cNvPr id="26" name="Text 24"/>
          <p:cNvSpPr/>
          <p:nvPr/>
        </p:nvSpPr>
        <p:spPr>
          <a:xfrm>
            <a:off x="6108192" y="2267712"/>
            <a:ext cx="2578608" cy="27432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3ème CAS — Permis probatoire</a:t>
            </a:r>
            <a:endParaRPr lang="en-US" sz="850" dirty="0"/>
          </a:p>
        </p:txBody>
      </p:sp>
      <p:sp>
        <p:nvSpPr>
          <p:cNvPr id="27" name="Text 25"/>
          <p:cNvSpPr/>
          <p:nvPr/>
        </p:nvSpPr>
        <p:spPr>
          <a:xfrm>
            <a:off x="6126480" y="2560320"/>
            <a:ext cx="2542032" cy="1773936"/>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Le délai probatoire applicable à son permis n'est pas expiré.</a:t>
            </a:r>
            <a:endParaRPr lang="en-US" sz="880" dirty="0"/>
          </a:p>
          <a:p>
            <a:pPr marL="0" indent="0">
              <a:buNone/>
            </a:pPr>
            <a:r>
              <a:rPr lang="en-US" sz="880" dirty="0">
                <a:solidFill>
                  <a:srgbClr val="3A3A3A"/>
                </a:solidFill>
                <a:latin typeface="Calibri" pitchFamily="34" charset="0"/>
                <a:ea typeface="Calibri" pitchFamily="34" charset="-122"/>
                <a:cs typeface="Calibri" pitchFamily="34" charset="-120"/>
              </a:rPr>
              <a:t>2 ans minimum en conduite accompagnée ou 3 ans en conduite normale.</a:t>
            </a:r>
            <a:endParaRPr lang="en-US" sz="880" dirty="0"/>
          </a:p>
        </p:txBody>
      </p:sp>
      <p:sp>
        <p:nvSpPr>
          <p:cNvPr id="28" name="Shape 26"/>
          <p:cNvSpPr/>
          <p:nvPr/>
        </p:nvSpPr>
        <p:spPr>
          <a:xfrm>
            <a:off x="274320" y="4462272"/>
            <a:ext cx="8595360" cy="347472"/>
          </a:xfrm>
          <a:prstGeom prst="rect">
            <a:avLst/>
          </a:prstGeom>
          <a:solidFill>
            <a:srgbClr val="FFFBEB"/>
          </a:solidFill>
          <a:ln w="19050">
            <a:solidFill>
              <a:srgbClr val="F4A227"/>
            </a:solidFill>
            <a:prstDash val="solid"/>
          </a:ln>
        </p:spPr>
        <p:txBody>
          <a:bodyPr/>
          <a:lstStyle/>
          <a:p>
            <a:endParaRPr lang="fr-FR"/>
          </a:p>
        </p:txBody>
      </p:sp>
      <p:sp>
        <p:nvSpPr>
          <p:cNvPr id="29" name="Shape 27"/>
          <p:cNvSpPr/>
          <p:nvPr/>
        </p:nvSpPr>
        <p:spPr>
          <a:xfrm>
            <a:off x="274320" y="4462272"/>
            <a:ext cx="54864" cy="347472"/>
          </a:xfrm>
          <a:prstGeom prst="rect">
            <a:avLst/>
          </a:prstGeom>
          <a:solidFill>
            <a:srgbClr val="F4A227"/>
          </a:solidFill>
          <a:ln w="12700">
            <a:solidFill>
              <a:srgbClr val="F4A227"/>
            </a:solidFill>
            <a:prstDash val="solid"/>
          </a:ln>
        </p:spPr>
        <p:txBody>
          <a:bodyPr/>
          <a:lstStyle/>
          <a:p>
            <a:endParaRPr lang="fr-FR"/>
          </a:p>
        </p:txBody>
      </p:sp>
      <p:sp>
        <p:nvSpPr>
          <p:cNvPr id="30" name="Text 28"/>
          <p:cNvSpPr/>
          <p:nvPr/>
        </p:nvSpPr>
        <p:spPr>
          <a:xfrm>
            <a:off x="384048" y="4462272"/>
            <a:ext cx="8467344" cy="34747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ℹ  ATTENTION : une condamnation DÉFINITIVE n'est pas une condamnation temporaire. Le délai de recours est en général de 10 jours après le prononcé du jugement.</a:t>
            </a:r>
            <a:endParaRPr lang="en-US" sz="1000" dirty="0"/>
          </a:p>
        </p:txBody>
      </p:sp>
      <p:sp>
        <p:nvSpPr>
          <p:cNvPr id="31" name="Rectangle 3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32" name="Rectangle 31"/>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Assurances, visite médicale, formation continue et maraude</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Livre pages 108-109-110</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4160520" cy="256032"/>
          </a:xfrm>
          <a:prstGeom prst="rect">
            <a:avLst/>
          </a:prstGeom>
          <a:solidFill>
            <a:srgbClr val="2860A8"/>
          </a:solidFill>
          <a:ln w="12700">
            <a:solidFill>
              <a:srgbClr val="2860A8"/>
            </a:solidFill>
            <a:prstDash val="solid"/>
          </a:ln>
        </p:spPr>
        <p:txBody>
          <a:bodyPr/>
          <a:lstStyle/>
          <a:p>
            <a:endParaRPr lang="fr-FR"/>
          </a:p>
        </p:txBody>
      </p:sp>
      <p:sp>
        <p:nvSpPr>
          <p:cNvPr id="10" name="Text 8"/>
          <p:cNvSpPr/>
          <p:nvPr/>
        </p:nvSpPr>
        <p:spPr>
          <a:xfrm>
            <a:off x="274320" y="932688"/>
            <a:ext cx="416052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LES 2 ASSURANCES OBLIGATOIRES T3P</a:t>
            </a:r>
            <a:endParaRPr lang="en-US" sz="900" dirty="0"/>
          </a:p>
        </p:txBody>
      </p:sp>
      <p:sp>
        <p:nvSpPr>
          <p:cNvPr id="11" name="Shape 9"/>
          <p:cNvSpPr/>
          <p:nvPr/>
        </p:nvSpPr>
        <p:spPr>
          <a:xfrm>
            <a:off x="274320" y="1243584"/>
            <a:ext cx="4160520" cy="960120"/>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243584"/>
            <a:ext cx="4160520" cy="237744"/>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347472" y="1243584"/>
            <a:ext cx="4005072" cy="23774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RC CIRCULATION</a:t>
            </a:r>
            <a:endParaRPr lang="en-US" sz="850" dirty="0"/>
          </a:p>
        </p:txBody>
      </p:sp>
      <p:sp>
        <p:nvSpPr>
          <p:cNvPr id="14" name="Text 12"/>
          <p:cNvSpPr/>
          <p:nvPr/>
        </p:nvSpPr>
        <p:spPr>
          <a:xfrm>
            <a:off x="365760" y="1499616"/>
            <a:ext cx="3950208"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Dommages corporels, matériels ou immatériels causés à un client ou un tiers AVEC implication du véhicule.</a:t>
            </a:r>
            <a:endParaRPr lang="en-US" sz="880" dirty="0"/>
          </a:p>
          <a:p>
            <a:pPr marL="0" indent="0">
              <a:buNone/>
            </a:pPr>
            <a:r>
              <a:rPr lang="en-US" sz="880" dirty="0">
                <a:solidFill>
                  <a:srgbClr val="3A3A3A"/>
                </a:solidFill>
                <a:latin typeface="Calibri" pitchFamily="34" charset="0"/>
                <a:ea typeface="Calibri" pitchFamily="34" charset="-122"/>
                <a:cs typeface="Calibri" pitchFamily="34" charset="-120"/>
              </a:rPr>
              <a:t>Ex : accident avec un automobiliste.</a:t>
            </a:r>
            <a:endParaRPr lang="en-US" sz="880" dirty="0"/>
          </a:p>
        </p:txBody>
      </p:sp>
      <p:sp>
        <p:nvSpPr>
          <p:cNvPr id="15" name="Shape 13"/>
          <p:cNvSpPr/>
          <p:nvPr/>
        </p:nvSpPr>
        <p:spPr>
          <a:xfrm>
            <a:off x="274320" y="2267712"/>
            <a:ext cx="4160520" cy="960120"/>
          </a:xfrm>
          <a:prstGeom prst="rect">
            <a:avLst/>
          </a:prstGeom>
          <a:solidFill>
            <a:srgbClr val="E8F1FA"/>
          </a:solidFill>
          <a:ln w="6350">
            <a:solidFill>
              <a:srgbClr val="D0DCE8"/>
            </a:solidFill>
            <a:prstDash val="solid"/>
          </a:ln>
        </p:spPr>
        <p:txBody>
          <a:bodyPr/>
          <a:lstStyle/>
          <a:p>
            <a:endParaRPr lang="fr-FR"/>
          </a:p>
        </p:txBody>
      </p:sp>
      <p:sp>
        <p:nvSpPr>
          <p:cNvPr id="16" name="Shape 14"/>
          <p:cNvSpPr/>
          <p:nvPr/>
        </p:nvSpPr>
        <p:spPr>
          <a:xfrm>
            <a:off x="274320" y="2267712"/>
            <a:ext cx="4160520" cy="237744"/>
          </a:xfrm>
          <a:prstGeom prst="rect">
            <a:avLst/>
          </a:prstGeom>
          <a:solidFill>
            <a:srgbClr val="1A3A5C"/>
          </a:solidFill>
          <a:ln w="12700">
            <a:solidFill>
              <a:srgbClr val="1A3A5C"/>
            </a:solidFill>
            <a:prstDash val="solid"/>
          </a:ln>
        </p:spPr>
        <p:txBody>
          <a:bodyPr/>
          <a:lstStyle/>
          <a:p>
            <a:endParaRPr lang="fr-FR"/>
          </a:p>
        </p:txBody>
      </p:sp>
      <p:sp>
        <p:nvSpPr>
          <p:cNvPr id="17" name="Text 15"/>
          <p:cNvSpPr/>
          <p:nvPr/>
        </p:nvSpPr>
        <p:spPr>
          <a:xfrm>
            <a:off x="347472" y="2267712"/>
            <a:ext cx="4005072" cy="23774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RC PROFESSIONNELLE D'EXPLOITATION</a:t>
            </a:r>
            <a:endParaRPr lang="en-US" sz="850" dirty="0"/>
          </a:p>
        </p:txBody>
      </p:sp>
      <p:sp>
        <p:nvSpPr>
          <p:cNvPr id="18" name="Text 16"/>
          <p:cNvSpPr/>
          <p:nvPr/>
        </p:nvSpPr>
        <p:spPr>
          <a:xfrm>
            <a:off x="365760" y="2523744"/>
            <a:ext cx="3950208" cy="685800"/>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Dommages corporels, matériels ou immatériels causés à un client ou un tiers EN DEHORS de toute implication du véhicule.</a:t>
            </a:r>
            <a:endParaRPr lang="en-US" sz="880" dirty="0"/>
          </a:p>
          <a:p>
            <a:pPr marL="0" indent="0">
              <a:buNone/>
            </a:pPr>
            <a:r>
              <a:rPr lang="en-US" sz="880" dirty="0">
                <a:solidFill>
                  <a:srgbClr val="3A3A3A"/>
                </a:solidFill>
                <a:latin typeface="Calibri" pitchFamily="34" charset="0"/>
                <a:ea typeface="Calibri" pitchFamily="34" charset="-122"/>
                <a:cs typeface="Calibri" pitchFamily="34" charset="-120"/>
              </a:rPr>
              <a:t>Ex : détérioration des bagages.</a:t>
            </a:r>
            <a:endParaRPr lang="en-US" sz="880" dirty="0"/>
          </a:p>
        </p:txBody>
      </p:sp>
      <p:sp>
        <p:nvSpPr>
          <p:cNvPr id="19" name="Shape 17"/>
          <p:cNvSpPr/>
          <p:nvPr/>
        </p:nvSpPr>
        <p:spPr>
          <a:xfrm>
            <a:off x="4709160" y="932688"/>
            <a:ext cx="4160520" cy="256032"/>
          </a:xfrm>
          <a:prstGeom prst="rect">
            <a:avLst/>
          </a:prstGeom>
          <a:solidFill>
            <a:srgbClr val="F4A227"/>
          </a:solidFill>
          <a:ln w="12700">
            <a:solidFill>
              <a:srgbClr val="F4A227"/>
            </a:solidFill>
            <a:prstDash val="solid"/>
          </a:ln>
        </p:spPr>
        <p:txBody>
          <a:bodyPr/>
          <a:lstStyle/>
          <a:p>
            <a:endParaRPr lang="fr-FR"/>
          </a:p>
        </p:txBody>
      </p:sp>
      <p:sp>
        <p:nvSpPr>
          <p:cNvPr id="20" name="Text 18"/>
          <p:cNvSpPr/>
          <p:nvPr/>
        </p:nvSpPr>
        <p:spPr>
          <a:xfrm>
            <a:off x="4709160" y="932688"/>
            <a:ext cx="416052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VISITE MÉDICALE OBLIGATOIRE</a:t>
            </a:r>
            <a:endParaRPr lang="en-US" sz="900" dirty="0"/>
          </a:p>
        </p:txBody>
      </p:sp>
      <p:sp>
        <p:nvSpPr>
          <p:cNvPr id="21" name="Shape 19"/>
          <p:cNvSpPr/>
          <p:nvPr/>
        </p:nvSpPr>
        <p:spPr>
          <a:xfrm>
            <a:off x="4709160" y="1243584"/>
            <a:ext cx="4160520" cy="594360"/>
          </a:xfrm>
          <a:prstGeom prst="rect">
            <a:avLst/>
          </a:prstGeom>
          <a:solidFill>
            <a:srgbClr val="E8F1FA"/>
          </a:solidFill>
          <a:ln w="6350">
            <a:solidFill>
              <a:srgbClr val="D0DCE8"/>
            </a:solidFill>
            <a:prstDash val="solid"/>
          </a:ln>
        </p:spPr>
        <p:txBody>
          <a:bodyPr/>
          <a:lstStyle/>
          <a:p>
            <a:endParaRPr lang="fr-FR"/>
          </a:p>
        </p:txBody>
      </p:sp>
      <p:sp>
        <p:nvSpPr>
          <p:cNvPr id="22" name="Shape 20"/>
          <p:cNvSpPr/>
          <p:nvPr/>
        </p:nvSpPr>
        <p:spPr>
          <a:xfrm>
            <a:off x="4709160" y="1243584"/>
            <a:ext cx="1097280" cy="594360"/>
          </a:xfrm>
          <a:prstGeom prst="rect">
            <a:avLst/>
          </a:prstGeom>
          <a:solidFill>
            <a:srgbClr val="2E7D32"/>
          </a:solidFill>
          <a:ln w="12700">
            <a:solidFill>
              <a:srgbClr val="2E7D32"/>
            </a:solidFill>
            <a:prstDash val="solid"/>
          </a:ln>
        </p:spPr>
        <p:txBody>
          <a:bodyPr/>
          <a:lstStyle/>
          <a:p>
            <a:endParaRPr lang="fr-FR"/>
          </a:p>
        </p:txBody>
      </p:sp>
      <p:sp>
        <p:nvSpPr>
          <p:cNvPr id="23" name="Text 21"/>
          <p:cNvSpPr/>
          <p:nvPr/>
        </p:nvSpPr>
        <p:spPr>
          <a:xfrm>
            <a:off x="4709160" y="1243584"/>
            <a:ext cx="1097280" cy="5943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 à 60 ans</a:t>
            </a:r>
            <a:endParaRPr lang="en-US" sz="900" dirty="0"/>
          </a:p>
        </p:txBody>
      </p:sp>
      <p:sp>
        <p:nvSpPr>
          <p:cNvPr id="24" name="Text 22"/>
          <p:cNvSpPr/>
          <p:nvPr/>
        </p:nvSpPr>
        <p:spPr>
          <a:xfrm>
            <a:off x="5870448" y="1335024"/>
            <a:ext cx="2926080" cy="43891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Tous les 5 ans</a:t>
            </a:r>
            <a:endParaRPr lang="en-US" sz="900" dirty="0"/>
          </a:p>
        </p:txBody>
      </p:sp>
      <p:sp>
        <p:nvSpPr>
          <p:cNvPr id="25" name="Shape 23"/>
          <p:cNvSpPr/>
          <p:nvPr/>
        </p:nvSpPr>
        <p:spPr>
          <a:xfrm>
            <a:off x="4709160" y="1901952"/>
            <a:ext cx="4160520" cy="594360"/>
          </a:xfrm>
          <a:prstGeom prst="rect">
            <a:avLst/>
          </a:prstGeom>
          <a:solidFill>
            <a:srgbClr val="E8F1FA"/>
          </a:solidFill>
          <a:ln w="6350">
            <a:solidFill>
              <a:srgbClr val="D0DCE8"/>
            </a:solidFill>
            <a:prstDash val="solid"/>
          </a:ln>
        </p:spPr>
        <p:txBody>
          <a:bodyPr/>
          <a:lstStyle/>
          <a:p>
            <a:endParaRPr lang="fr-FR"/>
          </a:p>
        </p:txBody>
      </p:sp>
      <p:sp>
        <p:nvSpPr>
          <p:cNvPr id="26" name="Shape 24"/>
          <p:cNvSpPr/>
          <p:nvPr/>
        </p:nvSpPr>
        <p:spPr>
          <a:xfrm>
            <a:off x="4709160" y="1901952"/>
            <a:ext cx="1097280" cy="594360"/>
          </a:xfrm>
          <a:prstGeom prst="rect">
            <a:avLst/>
          </a:prstGeom>
          <a:solidFill>
            <a:srgbClr val="F4A227"/>
          </a:solidFill>
          <a:ln w="12700">
            <a:solidFill>
              <a:srgbClr val="F4A227"/>
            </a:solidFill>
            <a:prstDash val="solid"/>
          </a:ln>
        </p:spPr>
        <p:txBody>
          <a:bodyPr/>
          <a:lstStyle/>
          <a:p>
            <a:endParaRPr lang="fr-FR"/>
          </a:p>
        </p:txBody>
      </p:sp>
      <p:sp>
        <p:nvSpPr>
          <p:cNvPr id="27" name="Text 25"/>
          <p:cNvSpPr/>
          <p:nvPr/>
        </p:nvSpPr>
        <p:spPr>
          <a:xfrm>
            <a:off x="4709160" y="1901952"/>
            <a:ext cx="1097280" cy="5943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60 à 76 ans</a:t>
            </a:r>
            <a:endParaRPr lang="en-US" sz="900" dirty="0"/>
          </a:p>
        </p:txBody>
      </p:sp>
      <p:sp>
        <p:nvSpPr>
          <p:cNvPr id="28" name="Text 26"/>
          <p:cNvSpPr/>
          <p:nvPr/>
        </p:nvSpPr>
        <p:spPr>
          <a:xfrm>
            <a:off x="5870448" y="1993392"/>
            <a:ext cx="2926080" cy="43891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Tous les 2 ans (lendemain date anniversaire des 60 ans)</a:t>
            </a:r>
            <a:endParaRPr lang="en-US" sz="900" dirty="0"/>
          </a:p>
        </p:txBody>
      </p:sp>
      <p:sp>
        <p:nvSpPr>
          <p:cNvPr id="29" name="Shape 27"/>
          <p:cNvSpPr/>
          <p:nvPr/>
        </p:nvSpPr>
        <p:spPr>
          <a:xfrm>
            <a:off x="4709160" y="2560320"/>
            <a:ext cx="4160520" cy="594360"/>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709160" y="2560320"/>
            <a:ext cx="1097280" cy="594360"/>
          </a:xfrm>
          <a:prstGeom prst="rect">
            <a:avLst/>
          </a:prstGeom>
          <a:solidFill>
            <a:srgbClr val="C0392B"/>
          </a:solidFill>
          <a:ln w="12700">
            <a:solidFill>
              <a:srgbClr val="C0392B"/>
            </a:solidFill>
            <a:prstDash val="solid"/>
          </a:ln>
        </p:spPr>
        <p:txBody>
          <a:bodyPr/>
          <a:lstStyle/>
          <a:p>
            <a:endParaRPr lang="fr-FR"/>
          </a:p>
        </p:txBody>
      </p:sp>
      <p:sp>
        <p:nvSpPr>
          <p:cNvPr id="31" name="Text 29"/>
          <p:cNvSpPr/>
          <p:nvPr/>
        </p:nvSpPr>
        <p:spPr>
          <a:xfrm>
            <a:off x="4709160" y="2560320"/>
            <a:ext cx="1097280" cy="5943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À partir de 76 ans</a:t>
            </a:r>
            <a:endParaRPr lang="en-US" sz="900" dirty="0"/>
          </a:p>
        </p:txBody>
      </p:sp>
      <p:sp>
        <p:nvSpPr>
          <p:cNvPr id="32" name="Text 30"/>
          <p:cNvSpPr/>
          <p:nvPr/>
        </p:nvSpPr>
        <p:spPr>
          <a:xfrm>
            <a:off x="5870448" y="2651760"/>
            <a:ext cx="2926080" cy="438912"/>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Chaque année (lendemain date anniversaire)</a:t>
            </a:r>
            <a:endParaRPr lang="en-US" sz="900" dirty="0"/>
          </a:p>
        </p:txBody>
      </p:sp>
      <p:sp>
        <p:nvSpPr>
          <p:cNvPr id="33" name="Shape 31"/>
          <p:cNvSpPr/>
          <p:nvPr/>
        </p:nvSpPr>
        <p:spPr>
          <a:xfrm>
            <a:off x="4709160" y="3273552"/>
            <a:ext cx="4160520" cy="256032"/>
          </a:xfrm>
          <a:prstGeom prst="rect">
            <a:avLst/>
          </a:prstGeom>
          <a:solidFill>
            <a:srgbClr val="1A3A5C"/>
          </a:solidFill>
          <a:ln w="12700">
            <a:solidFill>
              <a:srgbClr val="1A3A5C"/>
            </a:solidFill>
            <a:prstDash val="solid"/>
          </a:ln>
        </p:spPr>
        <p:txBody>
          <a:bodyPr/>
          <a:lstStyle/>
          <a:p>
            <a:endParaRPr lang="fr-FR"/>
          </a:p>
        </p:txBody>
      </p:sp>
      <p:sp>
        <p:nvSpPr>
          <p:cNvPr id="34" name="Text 32"/>
          <p:cNvSpPr/>
          <p:nvPr/>
        </p:nvSpPr>
        <p:spPr>
          <a:xfrm>
            <a:off x="4709160" y="3273552"/>
            <a:ext cx="416052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FORMATION CONTINUE OBLIGATOIRE</a:t>
            </a:r>
            <a:endParaRPr lang="en-US" sz="900" dirty="0"/>
          </a:p>
        </p:txBody>
      </p:sp>
      <p:sp>
        <p:nvSpPr>
          <p:cNvPr id="35" name="Shape 33"/>
          <p:cNvSpPr/>
          <p:nvPr/>
        </p:nvSpPr>
        <p:spPr>
          <a:xfrm>
            <a:off x="4709160" y="3566160"/>
            <a:ext cx="4160520" cy="475488"/>
          </a:xfrm>
          <a:prstGeom prst="rect">
            <a:avLst/>
          </a:prstGeom>
          <a:solidFill>
            <a:srgbClr val="E8F1FA"/>
          </a:solidFill>
          <a:ln w="6350">
            <a:solidFill>
              <a:srgbClr val="D0DCE8"/>
            </a:solidFill>
            <a:prstDash val="solid"/>
          </a:ln>
        </p:spPr>
        <p:txBody>
          <a:bodyPr/>
          <a:lstStyle/>
          <a:p>
            <a:endParaRPr lang="fr-FR"/>
          </a:p>
        </p:txBody>
      </p:sp>
      <p:sp>
        <p:nvSpPr>
          <p:cNvPr id="36" name="Text 34"/>
          <p:cNvSpPr/>
          <p:nvPr/>
        </p:nvSpPr>
        <p:spPr>
          <a:xfrm>
            <a:off x="4782312" y="3602736"/>
            <a:ext cx="4005072" cy="402336"/>
          </a:xfrm>
          <a:prstGeom prst="rect">
            <a:avLst/>
          </a:prstGeom>
          <a:noFill/>
          <a:ln/>
        </p:spPr>
        <p:txBody>
          <a:bodyPr wrap="square" rtlCol="0" anchor="ctr"/>
          <a:lstStyle/>
          <a:p>
            <a:pPr marL="0" indent="0">
              <a:buNone/>
            </a:pPr>
            <a:r>
              <a:rPr lang="en-US" sz="950" b="1" dirty="0">
                <a:solidFill>
                  <a:srgbClr val="1A3A5C"/>
                </a:solidFill>
                <a:latin typeface="Calibri" pitchFamily="34" charset="0"/>
                <a:ea typeface="Calibri" pitchFamily="34" charset="-122"/>
                <a:cs typeface="Calibri" pitchFamily="34" charset="-120"/>
              </a:rPr>
              <a:t>TAXI / VTC / VMDTR : Tous les 5 ans — 14 heures — auprès d'un centre de formation agréé par le préfet.</a:t>
            </a:r>
            <a:endParaRPr lang="en-US" sz="950" dirty="0"/>
          </a:p>
        </p:txBody>
      </p:sp>
      <p:sp>
        <p:nvSpPr>
          <p:cNvPr id="37" name="Shape 35"/>
          <p:cNvSpPr/>
          <p:nvPr/>
        </p:nvSpPr>
        <p:spPr>
          <a:xfrm>
            <a:off x="274320" y="3273552"/>
            <a:ext cx="4160520" cy="256032"/>
          </a:xfrm>
          <a:prstGeom prst="rect">
            <a:avLst/>
          </a:prstGeom>
          <a:solidFill>
            <a:srgbClr val="C0392B"/>
          </a:solidFill>
          <a:ln w="12700">
            <a:solidFill>
              <a:srgbClr val="C0392B"/>
            </a:solidFill>
            <a:prstDash val="solid"/>
          </a:ln>
        </p:spPr>
        <p:txBody>
          <a:bodyPr/>
          <a:lstStyle/>
          <a:p>
            <a:endParaRPr lang="fr-FR"/>
          </a:p>
        </p:txBody>
      </p:sp>
      <p:sp>
        <p:nvSpPr>
          <p:cNvPr id="38" name="Text 36"/>
          <p:cNvSpPr/>
          <p:nvPr/>
        </p:nvSpPr>
        <p:spPr>
          <a:xfrm>
            <a:off x="274320" y="3273552"/>
            <a:ext cx="416052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 MARAUDE — TABLEAU DES RÈGLES</a:t>
            </a:r>
            <a:endParaRPr lang="en-US" sz="9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274320" y="3566160"/>
          <a:ext cx="4160520" cy="960120"/>
        </p:xfrm>
        <a:graphic>
          <a:graphicData uri="http://schemas.openxmlformats.org/drawingml/2006/table">
            <a:tbl>
              <a:tblPr/>
              <a:tblGrid>
                <a:gridCol w="118872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24003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Profession</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Prise en charge voie publique</a:t>
                      </a:r>
                      <a:endParaRPr lang="en-US" sz="90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40030">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 TAXI</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Oui — uniquement dans la zone de rattachement</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0030">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 VTC</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Non — réservation préalable obligatoire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E8F1FA"/>
                    </a:solidFill>
                  </a:tcPr>
                </a:tc>
                <a:extLst>
                  <a:ext uri="{0D108BD9-81ED-4DB2-BD59-A6C34878D82A}">
                    <a16:rowId xmlns:a16="http://schemas.microsoft.com/office/drawing/2014/main" val="10002"/>
                  </a:ext>
                </a:extLst>
              </a:tr>
              <a:tr h="240030">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 VMDTR</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tc>
                  <a:txBody>
                    <a:bodyPr/>
                    <a:lstStyle/>
                    <a:p>
                      <a:pPr marL="0" indent="0">
                        <a:buNone/>
                      </a:pPr>
                      <a:r>
                        <a:rPr lang="en-US" sz="950" dirty="0">
                          <a:solidFill>
                            <a:srgbClr val="3A3A3A"/>
                          </a:solidFill>
                          <a:latin typeface="Calibri" pitchFamily="34" charset="0"/>
                          <a:ea typeface="Calibri" pitchFamily="34" charset="-122"/>
                          <a:cs typeface="Calibri" pitchFamily="34" charset="-120"/>
                        </a:rPr>
                        <a:t>Non — réservation préalable obligatoire</a:t>
                      </a:r>
                      <a:endParaRPr lang="en-US" sz="950" dirty="0">
                        <a:latin typeface="Calibri" charset="0"/>
                        <a:ea typeface="Calibri" charset="0"/>
                        <a:cs typeface="Calibri" charset="0"/>
                      </a:endParaRPr>
                    </a:p>
                  </a:txBody>
                  <a:tcPr>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0" name="Shape 37"/>
          <p:cNvSpPr/>
          <p:nvPr/>
        </p:nvSpPr>
        <p:spPr>
          <a:xfrm>
            <a:off x="274320" y="4608576"/>
            <a:ext cx="8595360" cy="237744"/>
          </a:xfrm>
          <a:prstGeom prst="rect">
            <a:avLst/>
          </a:prstGeom>
          <a:solidFill>
            <a:srgbClr val="2860A8"/>
          </a:solidFill>
          <a:ln w="12700">
            <a:solidFill>
              <a:srgbClr val="2860A8"/>
            </a:solidFill>
            <a:prstDash val="solid"/>
          </a:ln>
        </p:spPr>
        <p:txBody>
          <a:bodyPr/>
          <a:lstStyle/>
          <a:p>
            <a:endParaRPr lang="fr-FR"/>
          </a:p>
        </p:txBody>
      </p:sp>
      <p:sp>
        <p:nvSpPr>
          <p:cNvPr id="41" name="Text 38"/>
          <p:cNvSpPr/>
          <p:nvPr/>
        </p:nvSpPr>
        <p:spPr>
          <a:xfrm>
            <a:off x="347472" y="4608576"/>
            <a:ext cx="8458200" cy="237744"/>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SOURCES DE LA RÉGLEMENTATION — Les 3 professions s'appuient sur : Code des transports | Textes préfectoraux (Taxi) | EPCI/Métropole (Taxi)</a:t>
            </a:r>
            <a:endParaRPr lang="en-US" sz="850" dirty="0"/>
          </a:p>
        </p:txBody>
      </p:sp>
      <p:sp>
        <p:nvSpPr>
          <p:cNvPr id="50" name="Rectangle 49"/>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51" name="Rectangle 50"/>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Documents de contrôle et délivrance de la carte professionnelle</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Livre pages 110-111</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4160520" cy="274320"/>
          </a:xfrm>
          <a:prstGeom prst="rect">
            <a:avLst/>
          </a:prstGeom>
          <a:solidFill>
            <a:srgbClr val="1A3A5C"/>
          </a:solidFill>
          <a:ln w="12700">
            <a:solidFill>
              <a:srgbClr val="1A3A5C"/>
            </a:solidFill>
            <a:prstDash val="solid"/>
          </a:ln>
        </p:spPr>
        <p:txBody>
          <a:bodyPr/>
          <a:lstStyle/>
          <a:p>
            <a:endParaRPr lang="fr-FR"/>
          </a:p>
        </p:txBody>
      </p:sp>
      <p:sp>
        <p:nvSpPr>
          <p:cNvPr id="10" name="Text 8"/>
          <p:cNvSpPr/>
          <p:nvPr/>
        </p:nvSpPr>
        <p:spPr>
          <a:xfrm>
            <a:off x="274320" y="932688"/>
            <a:ext cx="41605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DOCUMENTS VÉHICULE</a:t>
            </a:r>
            <a:endParaRPr lang="en-US" sz="1000" dirty="0"/>
          </a:p>
        </p:txBody>
      </p:sp>
      <p:sp>
        <p:nvSpPr>
          <p:cNvPr id="11" name="Shape 9"/>
          <p:cNvSpPr/>
          <p:nvPr/>
        </p:nvSpPr>
        <p:spPr>
          <a:xfrm>
            <a:off x="274320" y="1252728"/>
            <a:ext cx="4160520" cy="292608"/>
          </a:xfrm>
          <a:prstGeom prst="rect">
            <a:avLst/>
          </a:prstGeom>
          <a:solidFill>
            <a:srgbClr val="E8F1FA"/>
          </a:solidFill>
          <a:ln w="6350">
            <a:solidFill>
              <a:srgbClr val="D0DCE8"/>
            </a:solidFill>
            <a:prstDash val="solid"/>
          </a:ln>
        </p:spPr>
        <p:txBody>
          <a:bodyPr/>
          <a:lstStyle/>
          <a:p>
            <a:endParaRPr lang="fr-FR"/>
          </a:p>
        </p:txBody>
      </p:sp>
      <p:sp>
        <p:nvSpPr>
          <p:cNvPr id="12" name="Shape 10"/>
          <p:cNvSpPr/>
          <p:nvPr/>
        </p:nvSpPr>
        <p:spPr>
          <a:xfrm>
            <a:off x="274320" y="1252728"/>
            <a:ext cx="228600" cy="292608"/>
          </a:xfrm>
          <a:prstGeom prst="rect">
            <a:avLst/>
          </a:prstGeom>
          <a:solidFill>
            <a:srgbClr val="2860A8"/>
          </a:solidFill>
          <a:ln w="12700">
            <a:solidFill>
              <a:srgbClr val="2860A8"/>
            </a:solidFill>
            <a:prstDash val="solid"/>
          </a:ln>
        </p:spPr>
        <p:txBody>
          <a:bodyPr/>
          <a:lstStyle/>
          <a:p>
            <a:endParaRPr lang="fr-FR"/>
          </a:p>
        </p:txBody>
      </p:sp>
      <p:sp>
        <p:nvSpPr>
          <p:cNvPr id="13" name="Text 11"/>
          <p:cNvSpPr/>
          <p:nvPr/>
        </p:nvSpPr>
        <p:spPr>
          <a:xfrm>
            <a:off x="274320" y="1252728"/>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4" name="Text 12"/>
          <p:cNvSpPr/>
          <p:nvPr/>
        </p:nvSpPr>
        <p:spPr>
          <a:xfrm>
            <a:off x="548640" y="1271016"/>
            <a:ext cx="3794760" cy="23774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Carte grise</a:t>
            </a:r>
            <a:endParaRPr lang="en-US" sz="900" dirty="0"/>
          </a:p>
        </p:txBody>
      </p:sp>
      <p:sp>
        <p:nvSpPr>
          <p:cNvPr id="15" name="Shape 13"/>
          <p:cNvSpPr/>
          <p:nvPr/>
        </p:nvSpPr>
        <p:spPr>
          <a:xfrm>
            <a:off x="274320" y="1581912"/>
            <a:ext cx="4160520" cy="292608"/>
          </a:xfrm>
          <a:prstGeom prst="rect">
            <a:avLst/>
          </a:prstGeom>
          <a:solidFill>
            <a:srgbClr val="FFFFFF"/>
          </a:solidFill>
          <a:ln w="6350">
            <a:solidFill>
              <a:srgbClr val="D0DCE8"/>
            </a:solidFill>
            <a:prstDash val="solid"/>
          </a:ln>
        </p:spPr>
        <p:txBody>
          <a:bodyPr/>
          <a:lstStyle/>
          <a:p>
            <a:endParaRPr lang="fr-FR"/>
          </a:p>
        </p:txBody>
      </p:sp>
      <p:sp>
        <p:nvSpPr>
          <p:cNvPr id="16" name="Shape 14"/>
          <p:cNvSpPr/>
          <p:nvPr/>
        </p:nvSpPr>
        <p:spPr>
          <a:xfrm>
            <a:off x="274320" y="1581912"/>
            <a:ext cx="228600" cy="292608"/>
          </a:xfrm>
          <a:prstGeom prst="rect">
            <a:avLst/>
          </a:prstGeom>
          <a:solidFill>
            <a:srgbClr val="2860A8"/>
          </a:solidFill>
          <a:ln w="12700">
            <a:solidFill>
              <a:srgbClr val="2860A8"/>
            </a:solidFill>
            <a:prstDash val="solid"/>
          </a:ln>
        </p:spPr>
        <p:txBody>
          <a:bodyPr/>
          <a:lstStyle/>
          <a:p>
            <a:endParaRPr lang="fr-FR"/>
          </a:p>
        </p:txBody>
      </p:sp>
      <p:sp>
        <p:nvSpPr>
          <p:cNvPr id="17" name="Text 15"/>
          <p:cNvSpPr/>
          <p:nvPr/>
        </p:nvSpPr>
        <p:spPr>
          <a:xfrm>
            <a:off x="274320" y="1581912"/>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18" name="Text 16"/>
          <p:cNvSpPr/>
          <p:nvPr/>
        </p:nvSpPr>
        <p:spPr>
          <a:xfrm>
            <a:off x="548640" y="1600200"/>
            <a:ext cx="3794760" cy="23774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Contrôle technique ou attestation d'entretien</a:t>
            </a:r>
            <a:endParaRPr lang="en-US" sz="900" dirty="0"/>
          </a:p>
        </p:txBody>
      </p:sp>
      <p:sp>
        <p:nvSpPr>
          <p:cNvPr id="19" name="Shape 17"/>
          <p:cNvSpPr/>
          <p:nvPr/>
        </p:nvSpPr>
        <p:spPr>
          <a:xfrm>
            <a:off x="274320" y="1911096"/>
            <a:ext cx="4160520" cy="292608"/>
          </a:xfrm>
          <a:prstGeom prst="rect">
            <a:avLst/>
          </a:prstGeom>
          <a:solidFill>
            <a:srgbClr val="E8F1FA"/>
          </a:solidFill>
          <a:ln w="6350">
            <a:solidFill>
              <a:srgbClr val="D0DCE8"/>
            </a:solidFill>
            <a:prstDash val="solid"/>
          </a:ln>
        </p:spPr>
        <p:txBody>
          <a:bodyPr/>
          <a:lstStyle/>
          <a:p>
            <a:endParaRPr lang="fr-FR"/>
          </a:p>
        </p:txBody>
      </p:sp>
      <p:sp>
        <p:nvSpPr>
          <p:cNvPr id="20" name="Shape 18"/>
          <p:cNvSpPr/>
          <p:nvPr/>
        </p:nvSpPr>
        <p:spPr>
          <a:xfrm>
            <a:off x="274320" y="1911096"/>
            <a:ext cx="228600" cy="292608"/>
          </a:xfrm>
          <a:prstGeom prst="rect">
            <a:avLst/>
          </a:prstGeom>
          <a:solidFill>
            <a:srgbClr val="2860A8"/>
          </a:solidFill>
          <a:ln w="12700">
            <a:solidFill>
              <a:srgbClr val="2860A8"/>
            </a:solidFill>
            <a:prstDash val="solid"/>
          </a:ln>
        </p:spPr>
        <p:txBody>
          <a:bodyPr/>
          <a:lstStyle/>
          <a:p>
            <a:endParaRPr lang="fr-FR"/>
          </a:p>
        </p:txBody>
      </p:sp>
      <p:sp>
        <p:nvSpPr>
          <p:cNvPr id="21" name="Text 19"/>
          <p:cNvSpPr/>
          <p:nvPr/>
        </p:nvSpPr>
        <p:spPr>
          <a:xfrm>
            <a:off x="274320" y="1911096"/>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2" name="Text 20"/>
          <p:cNvSpPr/>
          <p:nvPr/>
        </p:nvSpPr>
        <p:spPr>
          <a:xfrm>
            <a:off x="548640" y="1929384"/>
            <a:ext cx="3794760" cy="23774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Attestation d'assurance à titre onéreux</a:t>
            </a:r>
            <a:endParaRPr lang="en-US" sz="900" dirty="0"/>
          </a:p>
        </p:txBody>
      </p:sp>
      <p:sp>
        <p:nvSpPr>
          <p:cNvPr id="23" name="Shape 21"/>
          <p:cNvSpPr/>
          <p:nvPr/>
        </p:nvSpPr>
        <p:spPr>
          <a:xfrm>
            <a:off x="274320" y="2240280"/>
            <a:ext cx="4160520" cy="292608"/>
          </a:xfrm>
          <a:prstGeom prst="rect">
            <a:avLst/>
          </a:prstGeom>
          <a:solidFill>
            <a:srgbClr val="FFFFFF"/>
          </a:solidFill>
          <a:ln w="6350">
            <a:solidFill>
              <a:srgbClr val="D0DCE8"/>
            </a:solidFill>
            <a:prstDash val="solid"/>
          </a:ln>
        </p:spPr>
        <p:txBody>
          <a:bodyPr/>
          <a:lstStyle/>
          <a:p>
            <a:endParaRPr lang="fr-FR"/>
          </a:p>
        </p:txBody>
      </p:sp>
      <p:sp>
        <p:nvSpPr>
          <p:cNvPr id="24" name="Shape 22"/>
          <p:cNvSpPr/>
          <p:nvPr/>
        </p:nvSpPr>
        <p:spPr>
          <a:xfrm>
            <a:off x="274320" y="2240280"/>
            <a:ext cx="228600" cy="292608"/>
          </a:xfrm>
          <a:prstGeom prst="rect">
            <a:avLst/>
          </a:prstGeom>
          <a:solidFill>
            <a:srgbClr val="2860A8"/>
          </a:solidFill>
          <a:ln w="12700">
            <a:solidFill>
              <a:srgbClr val="2860A8"/>
            </a:solidFill>
            <a:prstDash val="solid"/>
          </a:ln>
        </p:spPr>
        <p:txBody>
          <a:bodyPr/>
          <a:lstStyle/>
          <a:p>
            <a:endParaRPr lang="fr-FR"/>
          </a:p>
        </p:txBody>
      </p:sp>
      <p:sp>
        <p:nvSpPr>
          <p:cNvPr id="25" name="Text 23"/>
          <p:cNvSpPr/>
          <p:nvPr/>
        </p:nvSpPr>
        <p:spPr>
          <a:xfrm>
            <a:off x="274320" y="2240280"/>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26" name="Text 24"/>
          <p:cNvSpPr/>
          <p:nvPr/>
        </p:nvSpPr>
        <p:spPr>
          <a:xfrm>
            <a:off x="548640" y="2258568"/>
            <a:ext cx="3794760" cy="237744"/>
          </a:xfrm>
          <a:prstGeom prst="rect">
            <a:avLst/>
          </a:prstGeom>
          <a:noFill/>
          <a:ln/>
        </p:spPr>
        <p:txBody>
          <a:bodyPr wrap="square" rtlCol="0" anchor="ctr"/>
          <a:lstStyle/>
          <a:p>
            <a:pPr marL="0" indent="0">
              <a:buNone/>
            </a:pPr>
            <a:r>
              <a:rPr lang="en-US" sz="900" dirty="0">
                <a:solidFill>
                  <a:srgbClr val="3A3A3A"/>
                </a:solidFill>
                <a:latin typeface="Calibri" pitchFamily="34" charset="0"/>
                <a:ea typeface="Calibri" pitchFamily="34" charset="-122"/>
                <a:cs typeface="Calibri" pitchFamily="34" charset="-120"/>
              </a:rPr>
              <a:t>Permis A ou B</a:t>
            </a:r>
            <a:endParaRPr lang="en-US" sz="900" dirty="0"/>
          </a:p>
        </p:txBody>
      </p:sp>
      <p:sp>
        <p:nvSpPr>
          <p:cNvPr id="27" name="Shape 25"/>
          <p:cNvSpPr/>
          <p:nvPr/>
        </p:nvSpPr>
        <p:spPr>
          <a:xfrm>
            <a:off x="4709160" y="932688"/>
            <a:ext cx="4160520" cy="274320"/>
          </a:xfrm>
          <a:prstGeom prst="rect">
            <a:avLst/>
          </a:prstGeom>
          <a:solidFill>
            <a:srgbClr val="2860A8"/>
          </a:solidFill>
          <a:ln w="12700">
            <a:solidFill>
              <a:srgbClr val="2860A8"/>
            </a:solidFill>
            <a:prstDash val="solid"/>
          </a:ln>
        </p:spPr>
        <p:txBody>
          <a:bodyPr/>
          <a:lstStyle/>
          <a:p>
            <a:endParaRPr lang="fr-FR"/>
          </a:p>
        </p:txBody>
      </p:sp>
      <p:sp>
        <p:nvSpPr>
          <p:cNvPr id="28" name="Text 26"/>
          <p:cNvSpPr/>
          <p:nvPr/>
        </p:nvSpPr>
        <p:spPr>
          <a:xfrm>
            <a:off x="4709160" y="932688"/>
            <a:ext cx="41605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DOCUMENTS PROFESSION</a:t>
            </a:r>
            <a:endParaRPr lang="en-US" sz="1000" dirty="0"/>
          </a:p>
        </p:txBody>
      </p:sp>
      <p:sp>
        <p:nvSpPr>
          <p:cNvPr id="29" name="Shape 27"/>
          <p:cNvSpPr/>
          <p:nvPr/>
        </p:nvSpPr>
        <p:spPr>
          <a:xfrm>
            <a:off x="4709160" y="1252728"/>
            <a:ext cx="4160520" cy="292608"/>
          </a:xfrm>
          <a:prstGeom prst="rect">
            <a:avLst/>
          </a:prstGeom>
          <a:solidFill>
            <a:srgbClr val="E8F1FA"/>
          </a:solidFill>
          <a:ln w="6350">
            <a:solidFill>
              <a:srgbClr val="D0DCE8"/>
            </a:solidFill>
            <a:prstDash val="solid"/>
          </a:ln>
        </p:spPr>
        <p:txBody>
          <a:bodyPr/>
          <a:lstStyle/>
          <a:p>
            <a:endParaRPr lang="fr-FR"/>
          </a:p>
        </p:txBody>
      </p:sp>
      <p:sp>
        <p:nvSpPr>
          <p:cNvPr id="30" name="Shape 28"/>
          <p:cNvSpPr/>
          <p:nvPr/>
        </p:nvSpPr>
        <p:spPr>
          <a:xfrm>
            <a:off x="4709160" y="1252728"/>
            <a:ext cx="228600" cy="292608"/>
          </a:xfrm>
          <a:prstGeom prst="rect">
            <a:avLst/>
          </a:prstGeom>
          <a:solidFill>
            <a:srgbClr val="1A3A5C"/>
          </a:solidFill>
          <a:ln w="12700">
            <a:solidFill>
              <a:srgbClr val="1A3A5C"/>
            </a:solidFill>
            <a:prstDash val="solid"/>
          </a:ln>
        </p:spPr>
        <p:txBody>
          <a:bodyPr/>
          <a:lstStyle/>
          <a:p>
            <a:endParaRPr lang="fr-FR"/>
          </a:p>
        </p:txBody>
      </p:sp>
      <p:sp>
        <p:nvSpPr>
          <p:cNvPr id="31" name="Text 29"/>
          <p:cNvSpPr/>
          <p:nvPr/>
        </p:nvSpPr>
        <p:spPr>
          <a:xfrm>
            <a:off x="4709160" y="1252728"/>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2" name="Text 30"/>
          <p:cNvSpPr/>
          <p:nvPr/>
        </p:nvSpPr>
        <p:spPr>
          <a:xfrm>
            <a:off x="4983480" y="1271016"/>
            <a:ext cx="3767328" cy="237744"/>
          </a:xfrm>
          <a:prstGeom prst="rect">
            <a:avLst/>
          </a:prstGeom>
          <a:noFill/>
          <a:ln/>
        </p:spPr>
        <p:txBody>
          <a:bodyPr wrap="square" rtlCol="0" anchor="ctr"/>
          <a:lstStyle/>
          <a:p>
            <a:pPr marL="0" indent="0">
              <a:buNone/>
            </a:pPr>
            <a:r>
              <a:rPr lang="en-US" sz="880" dirty="0">
                <a:solidFill>
                  <a:srgbClr val="3A3A3A"/>
                </a:solidFill>
                <a:latin typeface="Calibri" pitchFamily="34" charset="0"/>
                <a:ea typeface="Calibri" pitchFamily="34" charset="-122"/>
                <a:cs typeface="Calibri" pitchFamily="34" charset="-120"/>
              </a:rPr>
              <a:t>Carte professionnelle T3P</a:t>
            </a:r>
            <a:endParaRPr lang="en-US" sz="880" dirty="0"/>
          </a:p>
        </p:txBody>
      </p:sp>
      <p:sp>
        <p:nvSpPr>
          <p:cNvPr id="33" name="Shape 31"/>
          <p:cNvSpPr/>
          <p:nvPr/>
        </p:nvSpPr>
        <p:spPr>
          <a:xfrm>
            <a:off x="4709160" y="1581912"/>
            <a:ext cx="4160520" cy="292608"/>
          </a:xfrm>
          <a:prstGeom prst="rect">
            <a:avLst/>
          </a:prstGeom>
          <a:solidFill>
            <a:srgbClr val="FFFFFF"/>
          </a:solidFill>
          <a:ln w="6350">
            <a:solidFill>
              <a:srgbClr val="D0DCE8"/>
            </a:solidFill>
            <a:prstDash val="solid"/>
          </a:ln>
        </p:spPr>
        <p:txBody>
          <a:bodyPr/>
          <a:lstStyle/>
          <a:p>
            <a:endParaRPr lang="fr-FR"/>
          </a:p>
        </p:txBody>
      </p:sp>
      <p:sp>
        <p:nvSpPr>
          <p:cNvPr id="34" name="Shape 32"/>
          <p:cNvSpPr/>
          <p:nvPr/>
        </p:nvSpPr>
        <p:spPr>
          <a:xfrm>
            <a:off x="4709160" y="1581912"/>
            <a:ext cx="228600" cy="292608"/>
          </a:xfrm>
          <a:prstGeom prst="rect">
            <a:avLst/>
          </a:prstGeom>
          <a:solidFill>
            <a:srgbClr val="1A3A5C"/>
          </a:solidFill>
          <a:ln w="12700">
            <a:solidFill>
              <a:srgbClr val="1A3A5C"/>
            </a:solidFill>
            <a:prstDash val="solid"/>
          </a:ln>
        </p:spPr>
        <p:txBody>
          <a:bodyPr/>
          <a:lstStyle/>
          <a:p>
            <a:endParaRPr lang="fr-FR"/>
          </a:p>
        </p:txBody>
      </p:sp>
      <p:sp>
        <p:nvSpPr>
          <p:cNvPr id="35" name="Text 33"/>
          <p:cNvSpPr/>
          <p:nvPr/>
        </p:nvSpPr>
        <p:spPr>
          <a:xfrm>
            <a:off x="4709160" y="1581912"/>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36" name="Text 34"/>
          <p:cNvSpPr/>
          <p:nvPr/>
        </p:nvSpPr>
        <p:spPr>
          <a:xfrm>
            <a:off x="4983480" y="1600200"/>
            <a:ext cx="3767328" cy="237744"/>
          </a:xfrm>
          <a:prstGeom prst="rect">
            <a:avLst/>
          </a:prstGeom>
          <a:noFill/>
          <a:ln/>
        </p:spPr>
        <p:txBody>
          <a:bodyPr wrap="square" rtlCol="0" anchor="ctr"/>
          <a:lstStyle/>
          <a:p>
            <a:pPr marL="0" indent="0">
              <a:buNone/>
            </a:pPr>
            <a:r>
              <a:rPr lang="en-US" sz="880" dirty="0">
                <a:solidFill>
                  <a:srgbClr val="3A3A3A"/>
                </a:solidFill>
                <a:latin typeface="Calibri" pitchFamily="34" charset="0"/>
                <a:ea typeface="Calibri" pitchFamily="34" charset="-122"/>
                <a:cs typeface="Calibri" pitchFamily="34" charset="-120"/>
              </a:rPr>
              <a:t>Attestation médicale ou visite médicale</a:t>
            </a:r>
            <a:endParaRPr lang="en-US" sz="880" dirty="0"/>
          </a:p>
        </p:txBody>
      </p:sp>
      <p:sp>
        <p:nvSpPr>
          <p:cNvPr id="37" name="Shape 35"/>
          <p:cNvSpPr/>
          <p:nvPr/>
        </p:nvSpPr>
        <p:spPr>
          <a:xfrm>
            <a:off x="4709160" y="1911096"/>
            <a:ext cx="4160520" cy="292608"/>
          </a:xfrm>
          <a:prstGeom prst="rect">
            <a:avLst/>
          </a:prstGeom>
          <a:solidFill>
            <a:srgbClr val="E8F1FA"/>
          </a:solidFill>
          <a:ln w="6350">
            <a:solidFill>
              <a:srgbClr val="D0DCE8"/>
            </a:solidFill>
            <a:prstDash val="solid"/>
          </a:ln>
        </p:spPr>
        <p:txBody>
          <a:bodyPr/>
          <a:lstStyle/>
          <a:p>
            <a:endParaRPr lang="fr-FR"/>
          </a:p>
        </p:txBody>
      </p:sp>
      <p:sp>
        <p:nvSpPr>
          <p:cNvPr id="38" name="Shape 36"/>
          <p:cNvSpPr/>
          <p:nvPr/>
        </p:nvSpPr>
        <p:spPr>
          <a:xfrm>
            <a:off x="4709160" y="1911096"/>
            <a:ext cx="228600" cy="292608"/>
          </a:xfrm>
          <a:prstGeom prst="rect">
            <a:avLst/>
          </a:prstGeom>
          <a:solidFill>
            <a:srgbClr val="1A3A5C"/>
          </a:solidFill>
          <a:ln w="12700">
            <a:solidFill>
              <a:srgbClr val="1A3A5C"/>
            </a:solidFill>
            <a:prstDash val="solid"/>
          </a:ln>
        </p:spPr>
        <p:txBody>
          <a:bodyPr/>
          <a:lstStyle/>
          <a:p>
            <a:endParaRPr lang="fr-FR"/>
          </a:p>
        </p:txBody>
      </p:sp>
      <p:sp>
        <p:nvSpPr>
          <p:cNvPr id="39" name="Text 37"/>
          <p:cNvSpPr/>
          <p:nvPr/>
        </p:nvSpPr>
        <p:spPr>
          <a:xfrm>
            <a:off x="4709160" y="1911096"/>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0" name="Text 38"/>
          <p:cNvSpPr/>
          <p:nvPr/>
        </p:nvSpPr>
        <p:spPr>
          <a:xfrm>
            <a:off x="4983480" y="1929384"/>
            <a:ext cx="3767328" cy="237744"/>
          </a:xfrm>
          <a:prstGeom prst="rect">
            <a:avLst/>
          </a:prstGeom>
          <a:noFill/>
          <a:ln/>
        </p:spPr>
        <p:txBody>
          <a:bodyPr wrap="square" rtlCol="0" anchor="ctr"/>
          <a:lstStyle/>
          <a:p>
            <a:pPr marL="0" indent="0">
              <a:buNone/>
            </a:pPr>
            <a:r>
              <a:rPr lang="en-US" sz="880" dirty="0">
                <a:solidFill>
                  <a:srgbClr val="3A3A3A"/>
                </a:solidFill>
                <a:latin typeface="Calibri" pitchFamily="34" charset="0"/>
                <a:ea typeface="Calibri" pitchFamily="34" charset="-122"/>
                <a:cs typeface="Calibri" pitchFamily="34" charset="-120"/>
              </a:rPr>
              <a:t>Billet individuel ou collectif ou carnet de bord (sauf taxi)</a:t>
            </a:r>
            <a:endParaRPr lang="en-US" sz="880" dirty="0"/>
          </a:p>
        </p:txBody>
      </p:sp>
      <p:sp>
        <p:nvSpPr>
          <p:cNvPr id="41" name="Shape 39"/>
          <p:cNvSpPr/>
          <p:nvPr/>
        </p:nvSpPr>
        <p:spPr>
          <a:xfrm>
            <a:off x="4709160" y="2240280"/>
            <a:ext cx="4160520" cy="292608"/>
          </a:xfrm>
          <a:prstGeom prst="rect">
            <a:avLst/>
          </a:prstGeom>
          <a:solidFill>
            <a:srgbClr val="FFFFFF"/>
          </a:solidFill>
          <a:ln w="6350">
            <a:solidFill>
              <a:srgbClr val="D0DCE8"/>
            </a:solidFill>
            <a:prstDash val="solid"/>
          </a:ln>
        </p:spPr>
        <p:txBody>
          <a:bodyPr/>
          <a:lstStyle/>
          <a:p>
            <a:endParaRPr lang="fr-FR"/>
          </a:p>
        </p:txBody>
      </p:sp>
      <p:sp>
        <p:nvSpPr>
          <p:cNvPr id="42" name="Shape 40"/>
          <p:cNvSpPr/>
          <p:nvPr/>
        </p:nvSpPr>
        <p:spPr>
          <a:xfrm>
            <a:off x="4709160" y="2240280"/>
            <a:ext cx="228600" cy="292608"/>
          </a:xfrm>
          <a:prstGeom prst="rect">
            <a:avLst/>
          </a:prstGeom>
          <a:solidFill>
            <a:srgbClr val="1A3A5C"/>
          </a:solidFill>
          <a:ln w="12700">
            <a:solidFill>
              <a:srgbClr val="1A3A5C"/>
            </a:solidFill>
            <a:prstDash val="solid"/>
          </a:ln>
        </p:spPr>
        <p:txBody>
          <a:bodyPr/>
          <a:lstStyle/>
          <a:p>
            <a:endParaRPr lang="fr-FR"/>
          </a:p>
        </p:txBody>
      </p:sp>
      <p:sp>
        <p:nvSpPr>
          <p:cNvPr id="43" name="Text 41"/>
          <p:cNvSpPr/>
          <p:nvPr/>
        </p:nvSpPr>
        <p:spPr>
          <a:xfrm>
            <a:off x="4709160" y="2240280"/>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4" name="Text 42"/>
          <p:cNvSpPr/>
          <p:nvPr/>
        </p:nvSpPr>
        <p:spPr>
          <a:xfrm>
            <a:off x="4983480" y="2258568"/>
            <a:ext cx="3767328" cy="237744"/>
          </a:xfrm>
          <a:prstGeom prst="rect">
            <a:avLst/>
          </a:prstGeom>
          <a:noFill/>
          <a:ln/>
        </p:spPr>
        <p:txBody>
          <a:bodyPr wrap="square" rtlCol="0" anchor="ctr"/>
          <a:lstStyle/>
          <a:p>
            <a:pPr marL="0" indent="0">
              <a:buNone/>
            </a:pPr>
            <a:r>
              <a:rPr lang="en-US" sz="880" dirty="0">
                <a:solidFill>
                  <a:srgbClr val="3A3A3A"/>
                </a:solidFill>
                <a:latin typeface="Calibri" pitchFamily="34" charset="0"/>
                <a:ea typeface="Calibri" pitchFamily="34" charset="-122"/>
                <a:cs typeface="Calibri" pitchFamily="34" charset="-120"/>
              </a:rPr>
              <a:t>Licence (ADS ou inscription au registre)</a:t>
            </a:r>
            <a:endParaRPr lang="en-US" sz="880" dirty="0"/>
          </a:p>
        </p:txBody>
      </p:sp>
      <p:sp>
        <p:nvSpPr>
          <p:cNvPr id="45" name="Shape 43"/>
          <p:cNvSpPr/>
          <p:nvPr/>
        </p:nvSpPr>
        <p:spPr>
          <a:xfrm>
            <a:off x="4709160" y="2569464"/>
            <a:ext cx="4160520" cy="292608"/>
          </a:xfrm>
          <a:prstGeom prst="rect">
            <a:avLst/>
          </a:prstGeom>
          <a:solidFill>
            <a:srgbClr val="E8F1FA"/>
          </a:solidFill>
          <a:ln w="6350">
            <a:solidFill>
              <a:srgbClr val="D0DCE8"/>
            </a:solidFill>
            <a:prstDash val="solid"/>
          </a:ln>
        </p:spPr>
        <p:txBody>
          <a:bodyPr/>
          <a:lstStyle/>
          <a:p>
            <a:endParaRPr lang="fr-FR"/>
          </a:p>
        </p:txBody>
      </p:sp>
      <p:sp>
        <p:nvSpPr>
          <p:cNvPr id="46" name="Shape 44"/>
          <p:cNvSpPr/>
          <p:nvPr/>
        </p:nvSpPr>
        <p:spPr>
          <a:xfrm>
            <a:off x="4709160" y="2569464"/>
            <a:ext cx="228600" cy="292608"/>
          </a:xfrm>
          <a:prstGeom prst="rect">
            <a:avLst/>
          </a:prstGeom>
          <a:solidFill>
            <a:srgbClr val="1A3A5C"/>
          </a:solidFill>
          <a:ln w="12700">
            <a:solidFill>
              <a:srgbClr val="1A3A5C"/>
            </a:solidFill>
            <a:prstDash val="solid"/>
          </a:ln>
        </p:spPr>
        <p:txBody>
          <a:bodyPr/>
          <a:lstStyle/>
          <a:p>
            <a:endParaRPr lang="fr-FR"/>
          </a:p>
        </p:txBody>
      </p:sp>
      <p:sp>
        <p:nvSpPr>
          <p:cNvPr id="47" name="Text 45"/>
          <p:cNvSpPr/>
          <p:nvPr/>
        </p:nvSpPr>
        <p:spPr>
          <a:xfrm>
            <a:off x="4709160" y="2569464"/>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48" name="Text 46"/>
          <p:cNvSpPr/>
          <p:nvPr/>
        </p:nvSpPr>
        <p:spPr>
          <a:xfrm>
            <a:off x="4983480" y="2587752"/>
            <a:ext cx="3767328" cy="237744"/>
          </a:xfrm>
          <a:prstGeom prst="rect">
            <a:avLst/>
          </a:prstGeom>
          <a:noFill/>
          <a:ln/>
        </p:spPr>
        <p:txBody>
          <a:bodyPr wrap="square" rtlCol="0" anchor="ctr"/>
          <a:lstStyle/>
          <a:p>
            <a:pPr marL="0" indent="0">
              <a:buNone/>
            </a:pPr>
            <a:r>
              <a:rPr lang="en-US" sz="880" dirty="0">
                <a:solidFill>
                  <a:srgbClr val="3A3A3A"/>
                </a:solidFill>
                <a:latin typeface="Calibri" pitchFamily="34" charset="0"/>
                <a:ea typeface="Calibri" pitchFamily="34" charset="-122"/>
                <a:cs typeface="Calibri" pitchFamily="34" charset="-120"/>
              </a:rPr>
              <a:t>Pour salariés : contrat de travail + DPAE</a:t>
            </a:r>
            <a:endParaRPr lang="en-US" sz="880" dirty="0"/>
          </a:p>
        </p:txBody>
      </p:sp>
      <p:sp>
        <p:nvSpPr>
          <p:cNvPr id="49" name="Shape 47"/>
          <p:cNvSpPr/>
          <p:nvPr/>
        </p:nvSpPr>
        <p:spPr>
          <a:xfrm>
            <a:off x="4709160" y="2898648"/>
            <a:ext cx="4160520" cy="292608"/>
          </a:xfrm>
          <a:prstGeom prst="rect">
            <a:avLst/>
          </a:prstGeom>
          <a:solidFill>
            <a:srgbClr val="FFFFFF"/>
          </a:solidFill>
          <a:ln w="6350">
            <a:solidFill>
              <a:srgbClr val="D0DCE8"/>
            </a:solidFill>
            <a:prstDash val="solid"/>
          </a:ln>
        </p:spPr>
        <p:txBody>
          <a:bodyPr/>
          <a:lstStyle/>
          <a:p>
            <a:endParaRPr lang="fr-FR"/>
          </a:p>
        </p:txBody>
      </p:sp>
      <p:sp>
        <p:nvSpPr>
          <p:cNvPr id="50" name="Shape 48"/>
          <p:cNvSpPr/>
          <p:nvPr/>
        </p:nvSpPr>
        <p:spPr>
          <a:xfrm>
            <a:off x="4709160" y="2898648"/>
            <a:ext cx="228600" cy="292608"/>
          </a:xfrm>
          <a:prstGeom prst="rect">
            <a:avLst/>
          </a:prstGeom>
          <a:solidFill>
            <a:srgbClr val="1A3A5C"/>
          </a:solidFill>
          <a:ln w="12700">
            <a:solidFill>
              <a:srgbClr val="1A3A5C"/>
            </a:solidFill>
            <a:prstDash val="solid"/>
          </a:ln>
        </p:spPr>
        <p:txBody>
          <a:bodyPr/>
          <a:lstStyle/>
          <a:p>
            <a:endParaRPr lang="fr-FR"/>
          </a:p>
        </p:txBody>
      </p:sp>
      <p:sp>
        <p:nvSpPr>
          <p:cNvPr id="51" name="Text 49"/>
          <p:cNvSpPr/>
          <p:nvPr/>
        </p:nvSpPr>
        <p:spPr>
          <a:xfrm>
            <a:off x="4709160" y="2898648"/>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52" name="Text 50"/>
          <p:cNvSpPr/>
          <p:nvPr/>
        </p:nvSpPr>
        <p:spPr>
          <a:xfrm>
            <a:off x="4983480" y="2916936"/>
            <a:ext cx="3767328" cy="237744"/>
          </a:xfrm>
          <a:prstGeom prst="rect">
            <a:avLst/>
          </a:prstGeom>
          <a:noFill/>
          <a:ln/>
        </p:spPr>
        <p:txBody>
          <a:bodyPr wrap="square" rtlCol="0" anchor="ctr"/>
          <a:lstStyle/>
          <a:p>
            <a:pPr marL="0" indent="0">
              <a:buNone/>
            </a:pPr>
            <a:r>
              <a:rPr lang="en-US" sz="880" dirty="0">
                <a:solidFill>
                  <a:srgbClr val="3A3A3A"/>
                </a:solidFill>
                <a:latin typeface="Calibri" pitchFamily="34" charset="0"/>
                <a:ea typeface="Calibri" pitchFamily="34" charset="-122"/>
                <a:cs typeface="Calibri" pitchFamily="34" charset="-120"/>
              </a:rPr>
              <a:t>Carnet de notes concernant les tarifs</a:t>
            </a:r>
            <a:endParaRPr lang="en-US" sz="880" dirty="0"/>
          </a:p>
        </p:txBody>
      </p:sp>
      <p:sp>
        <p:nvSpPr>
          <p:cNvPr id="53" name="Shape 51"/>
          <p:cNvSpPr/>
          <p:nvPr/>
        </p:nvSpPr>
        <p:spPr>
          <a:xfrm>
            <a:off x="4709160" y="3227832"/>
            <a:ext cx="4160520" cy="292608"/>
          </a:xfrm>
          <a:prstGeom prst="rect">
            <a:avLst/>
          </a:prstGeom>
          <a:solidFill>
            <a:srgbClr val="E8F1FA"/>
          </a:solidFill>
          <a:ln w="6350">
            <a:solidFill>
              <a:srgbClr val="D0DCE8"/>
            </a:solidFill>
            <a:prstDash val="solid"/>
          </a:ln>
        </p:spPr>
        <p:txBody>
          <a:bodyPr/>
          <a:lstStyle/>
          <a:p>
            <a:endParaRPr lang="fr-FR"/>
          </a:p>
        </p:txBody>
      </p:sp>
      <p:sp>
        <p:nvSpPr>
          <p:cNvPr id="54" name="Shape 52"/>
          <p:cNvSpPr/>
          <p:nvPr/>
        </p:nvSpPr>
        <p:spPr>
          <a:xfrm>
            <a:off x="4709160" y="3227832"/>
            <a:ext cx="228600" cy="292608"/>
          </a:xfrm>
          <a:prstGeom prst="rect">
            <a:avLst/>
          </a:prstGeom>
          <a:solidFill>
            <a:srgbClr val="1A3A5C"/>
          </a:solidFill>
          <a:ln w="12700">
            <a:solidFill>
              <a:srgbClr val="1A3A5C"/>
            </a:solidFill>
            <a:prstDash val="solid"/>
          </a:ln>
        </p:spPr>
        <p:txBody>
          <a:bodyPr/>
          <a:lstStyle/>
          <a:p>
            <a:endParaRPr lang="fr-FR"/>
          </a:p>
        </p:txBody>
      </p:sp>
      <p:sp>
        <p:nvSpPr>
          <p:cNvPr id="55" name="Text 53"/>
          <p:cNvSpPr/>
          <p:nvPr/>
        </p:nvSpPr>
        <p:spPr>
          <a:xfrm>
            <a:off x="4709160" y="3227832"/>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56" name="Text 54"/>
          <p:cNvSpPr/>
          <p:nvPr/>
        </p:nvSpPr>
        <p:spPr>
          <a:xfrm>
            <a:off x="4983480" y="3246120"/>
            <a:ext cx="3767328" cy="237744"/>
          </a:xfrm>
          <a:prstGeom prst="rect">
            <a:avLst/>
          </a:prstGeom>
          <a:noFill/>
          <a:ln/>
        </p:spPr>
        <p:txBody>
          <a:bodyPr wrap="square" rtlCol="0" anchor="ctr"/>
          <a:lstStyle/>
          <a:p>
            <a:pPr marL="0" indent="0">
              <a:buNone/>
            </a:pPr>
            <a:r>
              <a:rPr lang="en-US" sz="880" dirty="0">
                <a:solidFill>
                  <a:srgbClr val="3A3A3A"/>
                </a:solidFill>
                <a:latin typeface="Calibri" pitchFamily="34" charset="0"/>
                <a:ea typeface="Calibri" pitchFamily="34" charset="-122"/>
                <a:cs typeface="Calibri" pitchFamily="34" charset="-120"/>
              </a:rPr>
              <a:t>Carnet métrologique taximètre (taxi)</a:t>
            </a:r>
            <a:endParaRPr lang="en-US" sz="880" dirty="0"/>
          </a:p>
        </p:txBody>
      </p:sp>
      <p:sp>
        <p:nvSpPr>
          <p:cNvPr id="57" name="Shape 55"/>
          <p:cNvSpPr/>
          <p:nvPr/>
        </p:nvSpPr>
        <p:spPr>
          <a:xfrm>
            <a:off x="4709160" y="3557016"/>
            <a:ext cx="4160520" cy="292608"/>
          </a:xfrm>
          <a:prstGeom prst="rect">
            <a:avLst/>
          </a:prstGeom>
          <a:solidFill>
            <a:srgbClr val="FFFFFF"/>
          </a:solidFill>
          <a:ln w="6350">
            <a:solidFill>
              <a:srgbClr val="D0DCE8"/>
            </a:solidFill>
            <a:prstDash val="solid"/>
          </a:ln>
        </p:spPr>
        <p:txBody>
          <a:bodyPr/>
          <a:lstStyle/>
          <a:p>
            <a:endParaRPr lang="fr-FR"/>
          </a:p>
        </p:txBody>
      </p:sp>
      <p:sp>
        <p:nvSpPr>
          <p:cNvPr id="58" name="Shape 56"/>
          <p:cNvSpPr/>
          <p:nvPr/>
        </p:nvSpPr>
        <p:spPr>
          <a:xfrm>
            <a:off x="4709160" y="3557016"/>
            <a:ext cx="228600" cy="292608"/>
          </a:xfrm>
          <a:prstGeom prst="rect">
            <a:avLst/>
          </a:prstGeom>
          <a:solidFill>
            <a:srgbClr val="1A3A5C"/>
          </a:solidFill>
          <a:ln w="12700">
            <a:solidFill>
              <a:srgbClr val="1A3A5C"/>
            </a:solidFill>
            <a:prstDash val="solid"/>
          </a:ln>
        </p:spPr>
        <p:txBody>
          <a:bodyPr/>
          <a:lstStyle/>
          <a:p>
            <a:endParaRPr lang="fr-FR"/>
          </a:p>
        </p:txBody>
      </p:sp>
      <p:sp>
        <p:nvSpPr>
          <p:cNvPr id="59" name="Text 57"/>
          <p:cNvSpPr/>
          <p:nvPr/>
        </p:nvSpPr>
        <p:spPr>
          <a:xfrm>
            <a:off x="4709160" y="3557016"/>
            <a:ext cx="228600" cy="292608"/>
          </a:xfrm>
          <a:prstGeom prst="rect">
            <a:avLst/>
          </a:prstGeom>
          <a:noFill/>
          <a:ln/>
        </p:spPr>
        <p:txBody>
          <a:bodyPr wrap="square"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a:t>
            </a:r>
            <a:endParaRPr lang="en-US" sz="700" dirty="0"/>
          </a:p>
        </p:txBody>
      </p:sp>
      <p:sp>
        <p:nvSpPr>
          <p:cNvPr id="60" name="Text 58"/>
          <p:cNvSpPr/>
          <p:nvPr/>
        </p:nvSpPr>
        <p:spPr>
          <a:xfrm>
            <a:off x="4983480" y="3575304"/>
            <a:ext cx="3767328" cy="237744"/>
          </a:xfrm>
          <a:prstGeom prst="rect">
            <a:avLst/>
          </a:prstGeom>
          <a:noFill/>
          <a:ln/>
        </p:spPr>
        <p:txBody>
          <a:bodyPr wrap="square" rtlCol="0" anchor="ctr"/>
          <a:lstStyle/>
          <a:p>
            <a:pPr marL="0" indent="0">
              <a:buNone/>
            </a:pPr>
            <a:r>
              <a:rPr lang="en-US" sz="880" dirty="0">
                <a:solidFill>
                  <a:srgbClr val="3A3A3A"/>
                </a:solidFill>
                <a:latin typeface="Calibri" pitchFamily="34" charset="0"/>
                <a:ea typeface="Calibri" pitchFamily="34" charset="-122"/>
                <a:cs typeface="Calibri" pitchFamily="34" charset="-120"/>
              </a:rPr>
              <a:t>Attestation de formation continue</a:t>
            </a:r>
            <a:endParaRPr lang="en-US" sz="880" dirty="0"/>
          </a:p>
        </p:txBody>
      </p:sp>
      <p:sp>
        <p:nvSpPr>
          <p:cNvPr id="61" name="Shape 59"/>
          <p:cNvSpPr/>
          <p:nvPr/>
        </p:nvSpPr>
        <p:spPr>
          <a:xfrm>
            <a:off x="274320" y="3950208"/>
            <a:ext cx="8595360" cy="274320"/>
          </a:xfrm>
          <a:prstGeom prst="rect">
            <a:avLst/>
          </a:prstGeom>
          <a:solidFill>
            <a:srgbClr val="6B7A8D"/>
          </a:solidFill>
          <a:ln w="12700">
            <a:solidFill>
              <a:srgbClr val="6B7A8D"/>
            </a:solidFill>
            <a:prstDash val="solid"/>
          </a:ln>
        </p:spPr>
        <p:txBody>
          <a:bodyPr/>
          <a:lstStyle/>
          <a:p>
            <a:endParaRPr lang="fr-FR"/>
          </a:p>
        </p:txBody>
      </p:sp>
      <p:sp>
        <p:nvSpPr>
          <p:cNvPr id="62" name="Text 60"/>
          <p:cNvSpPr/>
          <p:nvPr/>
        </p:nvSpPr>
        <p:spPr>
          <a:xfrm>
            <a:off x="274320" y="3950208"/>
            <a:ext cx="859536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LA CARTE PROFESSIONNELLE — CONDITIONS DE DÉLIVRANCE</a:t>
            </a:r>
            <a:endParaRPr lang="en-US" sz="1000" dirty="0"/>
          </a:p>
        </p:txBody>
      </p:sp>
      <p:sp>
        <p:nvSpPr>
          <p:cNvPr id="63" name="Shape 61"/>
          <p:cNvSpPr/>
          <p:nvPr/>
        </p:nvSpPr>
        <p:spPr>
          <a:xfrm>
            <a:off x="274320" y="4279392"/>
            <a:ext cx="2724912" cy="896112"/>
          </a:xfrm>
          <a:prstGeom prst="rect">
            <a:avLst/>
          </a:prstGeom>
          <a:solidFill>
            <a:srgbClr val="E8F1FA"/>
          </a:solidFill>
          <a:ln w="6350">
            <a:solidFill>
              <a:srgbClr val="D0DCE8"/>
            </a:solidFill>
            <a:prstDash val="solid"/>
          </a:ln>
        </p:spPr>
        <p:txBody>
          <a:bodyPr/>
          <a:lstStyle/>
          <a:p>
            <a:endParaRPr lang="fr-FR"/>
          </a:p>
        </p:txBody>
      </p:sp>
      <p:sp>
        <p:nvSpPr>
          <p:cNvPr id="64" name="Shape 62"/>
          <p:cNvSpPr/>
          <p:nvPr/>
        </p:nvSpPr>
        <p:spPr>
          <a:xfrm>
            <a:off x="274320" y="4279392"/>
            <a:ext cx="2724912" cy="237744"/>
          </a:xfrm>
          <a:prstGeom prst="rect">
            <a:avLst/>
          </a:prstGeom>
          <a:solidFill>
            <a:srgbClr val="2860A8"/>
          </a:solidFill>
          <a:ln w="12700">
            <a:solidFill>
              <a:srgbClr val="2860A8"/>
            </a:solidFill>
            <a:prstDash val="solid"/>
          </a:ln>
        </p:spPr>
        <p:txBody>
          <a:bodyPr/>
          <a:lstStyle/>
          <a:p>
            <a:endParaRPr lang="fr-FR"/>
          </a:p>
        </p:txBody>
      </p:sp>
      <p:sp>
        <p:nvSpPr>
          <p:cNvPr id="65" name="Text 63"/>
          <p:cNvSpPr/>
          <p:nvPr/>
        </p:nvSpPr>
        <p:spPr>
          <a:xfrm>
            <a:off x="347472" y="4279392"/>
            <a:ext cx="257860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Permis hors période probatoire</a:t>
            </a:r>
            <a:endParaRPr lang="en-US" sz="900" dirty="0"/>
          </a:p>
        </p:txBody>
      </p:sp>
      <p:sp>
        <p:nvSpPr>
          <p:cNvPr id="66" name="Text 64"/>
          <p:cNvSpPr/>
          <p:nvPr/>
        </p:nvSpPr>
        <p:spPr>
          <a:xfrm>
            <a:off x="365760" y="4535424"/>
            <a:ext cx="2542032" cy="6217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Titulaire d'un permis B (taxi/VTC) ou A 3 ans (VMDTR), hors période probatoire.</a:t>
            </a:r>
            <a:endParaRPr lang="en-US" sz="880" dirty="0"/>
          </a:p>
        </p:txBody>
      </p:sp>
      <p:sp>
        <p:nvSpPr>
          <p:cNvPr id="67" name="Shape 65"/>
          <p:cNvSpPr/>
          <p:nvPr/>
        </p:nvSpPr>
        <p:spPr>
          <a:xfrm>
            <a:off x="3154680" y="4279392"/>
            <a:ext cx="2724912" cy="896112"/>
          </a:xfrm>
          <a:prstGeom prst="rect">
            <a:avLst/>
          </a:prstGeom>
          <a:solidFill>
            <a:srgbClr val="E8F1FA"/>
          </a:solidFill>
          <a:ln w="6350">
            <a:solidFill>
              <a:srgbClr val="D0DCE8"/>
            </a:solidFill>
            <a:prstDash val="solid"/>
          </a:ln>
        </p:spPr>
        <p:txBody>
          <a:bodyPr/>
          <a:lstStyle/>
          <a:p>
            <a:endParaRPr lang="fr-FR"/>
          </a:p>
        </p:txBody>
      </p:sp>
      <p:sp>
        <p:nvSpPr>
          <p:cNvPr id="68" name="Shape 66"/>
          <p:cNvSpPr/>
          <p:nvPr/>
        </p:nvSpPr>
        <p:spPr>
          <a:xfrm>
            <a:off x="3154680" y="4279392"/>
            <a:ext cx="2724912" cy="237744"/>
          </a:xfrm>
          <a:prstGeom prst="rect">
            <a:avLst/>
          </a:prstGeom>
          <a:solidFill>
            <a:srgbClr val="F4A227"/>
          </a:solidFill>
          <a:ln w="12700">
            <a:solidFill>
              <a:srgbClr val="F4A227"/>
            </a:solidFill>
            <a:prstDash val="solid"/>
          </a:ln>
        </p:spPr>
        <p:txBody>
          <a:bodyPr/>
          <a:lstStyle/>
          <a:p>
            <a:endParaRPr lang="fr-FR"/>
          </a:p>
        </p:txBody>
      </p:sp>
      <p:sp>
        <p:nvSpPr>
          <p:cNvPr id="69" name="Text 67"/>
          <p:cNvSpPr/>
          <p:nvPr/>
        </p:nvSpPr>
        <p:spPr>
          <a:xfrm>
            <a:off x="3227832" y="4279392"/>
            <a:ext cx="257860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Aptitude professionnelle</a:t>
            </a:r>
            <a:endParaRPr lang="en-US" sz="900" dirty="0"/>
          </a:p>
        </p:txBody>
      </p:sp>
      <p:sp>
        <p:nvSpPr>
          <p:cNvPr id="70" name="Text 68"/>
          <p:cNvSpPr/>
          <p:nvPr/>
        </p:nvSpPr>
        <p:spPr>
          <a:xfrm>
            <a:off x="3246120" y="4535424"/>
            <a:ext cx="2542032" cy="621792"/>
          </a:xfrm>
          <a:prstGeom prst="rect">
            <a:avLst/>
          </a:prstGeom>
          <a:noFill/>
          <a:ln/>
        </p:spPr>
        <p:txBody>
          <a:bodyPr wrap="square" rtlCol="0" anchor="t"/>
          <a:lstStyle/>
          <a:p>
            <a:r>
              <a:rPr lang="en-US" sz="880" dirty="0">
                <a:solidFill>
                  <a:srgbClr val="3A3A3A"/>
                </a:solidFill>
                <a:latin typeface="Calibri" pitchFamily="34" charset="0"/>
                <a:ea typeface="Calibri" pitchFamily="34" charset="-122"/>
                <a:cs typeface="Calibri" pitchFamily="34" charset="-120"/>
              </a:rPr>
              <a:t>Examen </a:t>
            </a:r>
            <a:r>
              <a:rPr lang="en-US" sz="880" dirty="0" err="1">
                <a:solidFill>
                  <a:srgbClr val="3A3A3A"/>
                </a:solidFill>
                <a:latin typeface="Calibri" pitchFamily="34" charset="0"/>
                <a:ea typeface="Calibri" pitchFamily="34" charset="-122"/>
                <a:cs typeface="Calibri" pitchFamily="34" charset="-120"/>
              </a:rPr>
              <a:t>réussi</a:t>
            </a:r>
            <a:endParaRPr lang="en-US" sz="880" dirty="0"/>
          </a:p>
        </p:txBody>
      </p:sp>
      <p:sp>
        <p:nvSpPr>
          <p:cNvPr id="71" name="Shape 69"/>
          <p:cNvSpPr/>
          <p:nvPr/>
        </p:nvSpPr>
        <p:spPr>
          <a:xfrm>
            <a:off x="6035040" y="4279392"/>
            <a:ext cx="2724912" cy="896112"/>
          </a:xfrm>
          <a:prstGeom prst="rect">
            <a:avLst/>
          </a:prstGeom>
          <a:solidFill>
            <a:srgbClr val="E8F1FA"/>
          </a:solidFill>
          <a:ln w="6350">
            <a:solidFill>
              <a:srgbClr val="D0DCE8"/>
            </a:solidFill>
            <a:prstDash val="solid"/>
          </a:ln>
        </p:spPr>
        <p:txBody>
          <a:bodyPr/>
          <a:lstStyle/>
          <a:p>
            <a:endParaRPr lang="fr-FR"/>
          </a:p>
        </p:txBody>
      </p:sp>
      <p:sp>
        <p:nvSpPr>
          <p:cNvPr id="72" name="Shape 70"/>
          <p:cNvSpPr/>
          <p:nvPr/>
        </p:nvSpPr>
        <p:spPr>
          <a:xfrm>
            <a:off x="6035040" y="4279392"/>
            <a:ext cx="2724912" cy="237744"/>
          </a:xfrm>
          <a:prstGeom prst="rect">
            <a:avLst/>
          </a:prstGeom>
          <a:solidFill>
            <a:srgbClr val="6B7A8D"/>
          </a:solidFill>
          <a:ln w="12700">
            <a:solidFill>
              <a:srgbClr val="6B7A8D"/>
            </a:solidFill>
            <a:prstDash val="solid"/>
          </a:ln>
        </p:spPr>
        <p:txBody>
          <a:bodyPr/>
          <a:lstStyle/>
          <a:p>
            <a:endParaRPr lang="fr-FR"/>
          </a:p>
        </p:txBody>
      </p:sp>
      <p:sp>
        <p:nvSpPr>
          <p:cNvPr id="73" name="Text 71"/>
          <p:cNvSpPr/>
          <p:nvPr/>
        </p:nvSpPr>
        <p:spPr>
          <a:xfrm>
            <a:off x="6108192" y="4279392"/>
            <a:ext cx="257860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Honorabilité professionnelle</a:t>
            </a:r>
            <a:endParaRPr lang="en-US" sz="900" dirty="0"/>
          </a:p>
        </p:txBody>
      </p:sp>
      <p:sp>
        <p:nvSpPr>
          <p:cNvPr id="74" name="Text 72"/>
          <p:cNvSpPr/>
          <p:nvPr/>
        </p:nvSpPr>
        <p:spPr>
          <a:xfrm>
            <a:off x="6126480" y="4535424"/>
            <a:ext cx="2542032" cy="621792"/>
          </a:xfrm>
          <a:prstGeom prst="rect">
            <a:avLst/>
          </a:prstGeom>
          <a:noFill/>
          <a:ln/>
        </p:spPr>
        <p:txBody>
          <a:bodyPr wrap="square" rtlCol="0" anchor="t"/>
          <a:lstStyle/>
          <a:p>
            <a:pPr marL="0" indent="0">
              <a:buNone/>
            </a:pPr>
            <a:r>
              <a:rPr lang="en-US" sz="880" dirty="0">
                <a:solidFill>
                  <a:srgbClr val="3A3A3A"/>
                </a:solidFill>
                <a:latin typeface="Calibri" pitchFamily="34" charset="0"/>
                <a:ea typeface="Calibri" pitchFamily="34" charset="-122"/>
                <a:cs typeface="Calibri" pitchFamily="34" charset="-120"/>
              </a:rPr>
              <a:t>Casier judiciaire B2 vierge des mentions incompatibles avec l'exercice du T3P.</a:t>
            </a:r>
            <a:endParaRPr lang="en-US" sz="880" dirty="0"/>
          </a:p>
        </p:txBody>
      </p:sp>
      <p:sp>
        <p:nvSpPr>
          <p:cNvPr id="75" name="Shape 73"/>
          <p:cNvSpPr/>
          <p:nvPr/>
        </p:nvSpPr>
        <p:spPr>
          <a:xfrm>
            <a:off x="274320" y="5248656"/>
            <a:ext cx="8595360" cy="256032"/>
          </a:xfrm>
          <a:prstGeom prst="rect">
            <a:avLst/>
          </a:prstGeom>
          <a:solidFill>
            <a:srgbClr val="EDF7EE"/>
          </a:solidFill>
          <a:ln w="19050">
            <a:solidFill>
              <a:srgbClr val="2E7D32"/>
            </a:solidFill>
            <a:prstDash val="solid"/>
          </a:ln>
        </p:spPr>
        <p:txBody>
          <a:bodyPr/>
          <a:lstStyle/>
          <a:p>
            <a:endParaRPr lang="fr-FR"/>
          </a:p>
        </p:txBody>
      </p:sp>
      <p:sp>
        <p:nvSpPr>
          <p:cNvPr id="76" name="Shape 74"/>
          <p:cNvSpPr/>
          <p:nvPr/>
        </p:nvSpPr>
        <p:spPr>
          <a:xfrm>
            <a:off x="274320" y="5248656"/>
            <a:ext cx="54864" cy="256032"/>
          </a:xfrm>
          <a:prstGeom prst="rect">
            <a:avLst/>
          </a:prstGeom>
          <a:solidFill>
            <a:srgbClr val="2E7D32"/>
          </a:solidFill>
          <a:ln w="12700">
            <a:solidFill>
              <a:srgbClr val="2E7D32"/>
            </a:solidFill>
            <a:prstDash val="solid"/>
          </a:ln>
        </p:spPr>
        <p:txBody>
          <a:bodyPr/>
          <a:lstStyle/>
          <a:p>
            <a:endParaRPr lang="fr-FR"/>
          </a:p>
        </p:txBody>
      </p:sp>
      <p:sp>
        <p:nvSpPr>
          <p:cNvPr id="77" name="Text 75"/>
          <p:cNvSpPr/>
          <p:nvPr/>
        </p:nvSpPr>
        <p:spPr>
          <a:xfrm>
            <a:off x="384048" y="5248656"/>
            <a:ext cx="8467344" cy="256032"/>
          </a:xfrm>
          <a:prstGeom prst="rect">
            <a:avLst/>
          </a:prstGeom>
          <a:noFill/>
          <a:ln/>
        </p:spPr>
        <p:txBody>
          <a:bodyPr wrap="square" rtlCol="0" anchor="ctr"/>
          <a:lstStyle/>
          <a:p>
            <a:pPr marL="0" indent="0">
              <a:buNone/>
            </a:pPr>
            <a:r>
              <a:rPr lang="en-US" sz="1000" dirty="0">
                <a:solidFill>
                  <a:srgbClr val="3A3A3A"/>
                </a:solidFill>
                <a:latin typeface="Calibri" pitchFamily="34" charset="0"/>
                <a:ea typeface="Calibri" pitchFamily="34" charset="-122"/>
                <a:cs typeface="Calibri" pitchFamily="34" charset="-120"/>
              </a:rPr>
              <a:t>✔  Délai maximum de délivrance : 3 mois. La carte doit être apposée sur le pare-brise (côté photo visible de l'extérieur). Restitution obligatoire à la cessation d'activité.</a:t>
            </a:r>
            <a:endParaRPr lang="en-US" sz="1000" dirty="0"/>
          </a:p>
        </p:txBody>
      </p:sp>
      <p:sp>
        <p:nvSpPr>
          <p:cNvPr id="78" name="Rectangle 77"/>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79" name="Rectangle 78"/>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fr-FR"/>
          </a:p>
        </p:txBody>
      </p:sp>
      <p:sp>
        <p:nvSpPr>
          <p:cNvPr id="3" name="Shape 1"/>
          <p:cNvSpPr/>
          <p:nvPr/>
        </p:nvSpPr>
        <p:spPr>
          <a:xfrm>
            <a:off x="0" y="0"/>
            <a:ext cx="54864" cy="1005840"/>
          </a:xfrm>
          <a:prstGeom prst="rect">
            <a:avLst/>
          </a:prstGeom>
          <a:solidFill>
            <a:srgbClr val="00B4D8"/>
          </a:solidFill>
          <a:ln w="12700">
            <a:solidFill>
              <a:srgbClr val="00B4D8"/>
            </a:solidFill>
            <a:prstDash val="solid"/>
          </a:ln>
        </p:spPr>
        <p:txBody>
          <a:bodyPr/>
          <a:lstStyle/>
          <a:p>
            <a:endParaRPr lang="fr-FR"/>
          </a:p>
        </p:txBody>
      </p:sp>
      <p:sp>
        <p:nvSpPr>
          <p:cNvPr id="4" name="Text 2"/>
          <p:cNvSpPr/>
          <p:nvPr/>
        </p:nvSpPr>
        <p:spPr>
          <a:xfrm>
            <a:off x="201168" y="0"/>
            <a:ext cx="8778240" cy="64008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Perte des 6 points du permis et casier judiciaire B2</a:t>
            </a:r>
            <a:endParaRPr lang="en-US" sz="2100" dirty="0"/>
          </a:p>
        </p:txBody>
      </p:sp>
      <p:sp>
        <p:nvSpPr>
          <p:cNvPr id="5" name="Text 3"/>
          <p:cNvSpPr/>
          <p:nvPr/>
        </p:nvSpPr>
        <p:spPr>
          <a:xfrm>
            <a:off x="201168" y="640080"/>
            <a:ext cx="8778240" cy="347472"/>
          </a:xfrm>
          <a:prstGeom prst="rect">
            <a:avLst/>
          </a:prstGeom>
          <a:noFill/>
          <a:ln/>
        </p:spPr>
        <p:txBody>
          <a:bodyPr wrap="square"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Livre pages 111-112</a:t>
            </a:r>
            <a:endParaRPr lang="en-US" sz="1100" dirty="0"/>
          </a:p>
        </p:txBody>
      </p:sp>
      <p:sp>
        <p:nvSpPr>
          <p:cNvPr id="6" name="Shape 4"/>
          <p:cNvSpPr/>
          <p:nvPr/>
        </p:nvSpPr>
        <p:spPr>
          <a:xfrm>
            <a:off x="0" y="4910328"/>
            <a:ext cx="9144000" cy="233172"/>
          </a:xfrm>
          <a:prstGeom prst="rect">
            <a:avLst/>
          </a:prstGeom>
          <a:solidFill>
            <a:srgbClr val="0D2540"/>
          </a:solidFill>
          <a:ln w="12700">
            <a:solidFill>
              <a:srgbClr val="0D2540"/>
            </a:solidFill>
            <a:prstDash val="solid"/>
          </a:ln>
        </p:spPr>
        <p:txBody>
          <a:bodyPr/>
          <a:lstStyle/>
          <a:p>
            <a:endParaRPr lang="fr-FR"/>
          </a:p>
        </p:txBody>
      </p:sp>
      <p:sp>
        <p:nvSpPr>
          <p:cNvPr id="7" name="Text 5"/>
          <p:cNvSpPr/>
          <p:nvPr/>
        </p:nvSpPr>
        <p:spPr>
          <a:xfrm>
            <a:off x="182880" y="4910328"/>
            <a:ext cx="7498080" cy="233172"/>
          </a:xfrm>
          <a:prstGeom prst="rect">
            <a:avLst/>
          </a:prstGeom>
          <a:noFill/>
          <a:ln/>
        </p:spPr>
        <p:txBody>
          <a:bodyPr wrap="square" rtlCol="0" anchor="ctr"/>
          <a:lstStyle/>
          <a:p>
            <a:pPr marL="0" indent="0">
              <a:buNone/>
            </a:pPr>
            <a:r>
              <a:rPr lang="en-US" sz="750" dirty="0">
                <a:solidFill>
                  <a:srgbClr val="00B4D8"/>
                </a:solidFill>
                <a:latin typeface="Calibri" pitchFamily="34" charset="0"/>
                <a:ea typeface="Calibri" pitchFamily="34" charset="-122"/>
                <a:cs typeface="Calibri" pitchFamily="34" charset="-120"/>
              </a:rPr>
              <a:t>FTRANSPORT - SERVICES PRO  •  Formation certifiée Qualiopi  •  Éligible CPF  •  Lyon</a:t>
            </a:r>
            <a:endParaRPr lang="en-US" sz="750" dirty="0"/>
          </a:p>
        </p:txBody>
      </p:sp>
      <p:sp>
        <p:nvSpPr>
          <p:cNvPr id="8" name="Text 6"/>
          <p:cNvSpPr/>
          <p:nvPr/>
        </p:nvSpPr>
        <p:spPr>
          <a:xfrm>
            <a:off x="8229600" y="4910328"/>
            <a:ext cx="777240" cy="233172"/>
          </a:xfrm>
          <a:prstGeom prst="rect">
            <a:avLst/>
          </a:prstGeom>
          <a:noFill/>
          <a:ln/>
        </p:spPr>
        <p:txBody>
          <a:bodyPr wrap="square"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0/88</a:t>
            </a:r>
            <a:endParaRPr lang="en-US" sz="800" dirty="0"/>
          </a:p>
        </p:txBody>
      </p:sp>
      <p:sp>
        <p:nvSpPr>
          <p:cNvPr id="9" name="Shape 7"/>
          <p:cNvSpPr/>
          <p:nvPr/>
        </p:nvSpPr>
        <p:spPr>
          <a:xfrm>
            <a:off x="274320" y="932688"/>
            <a:ext cx="8595360" cy="274320"/>
          </a:xfrm>
          <a:prstGeom prst="rect">
            <a:avLst/>
          </a:prstGeom>
          <a:solidFill>
            <a:srgbClr val="C0392B"/>
          </a:solidFill>
          <a:ln w="12700">
            <a:solidFill>
              <a:srgbClr val="C0392B"/>
            </a:solidFill>
            <a:prstDash val="solid"/>
          </a:ln>
        </p:spPr>
        <p:txBody>
          <a:bodyPr/>
          <a:lstStyle/>
          <a:p>
            <a:endParaRPr lang="fr-FR"/>
          </a:p>
        </p:txBody>
      </p:sp>
      <p:sp>
        <p:nvSpPr>
          <p:cNvPr id="10" name="Text 8"/>
          <p:cNvSpPr/>
          <p:nvPr/>
        </p:nvSpPr>
        <p:spPr>
          <a:xfrm>
            <a:off x="274320" y="932688"/>
            <a:ext cx="859536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LA PERTE DE 6 POINTS SUR LE PERMIS DE CONDUIRE</a:t>
            </a:r>
            <a:endParaRPr lang="en-US" sz="1000" dirty="0"/>
          </a:p>
        </p:txBody>
      </p:sp>
      <p:sp>
        <p:nvSpPr>
          <p:cNvPr id="19" name="Shape 17"/>
          <p:cNvSpPr/>
          <p:nvPr/>
        </p:nvSpPr>
        <p:spPr>
          <a:xfrm>
            <a:off x="274320" y="1261872"/>
            <a:ext cx="8595360" cy="237744"/>
          </a:xfrm>
          <a:prstGeom prst="rect">
            <a:avLst/>
          </a:prstGeom>
          <a:solidFill>
            <a:srgbClr val="C0392B"/>
          </a:solidFill>
          <a:ln w="12700">
            <a:solidFill>
              <a:srgbClr val="C0392B"/>
            </a:solidFill>
            <a:prstDash val="solid"/>
          </a:ln>
        </p:spPr>
        <p:txBody>
          <a:bodyPr/>
          <a:lstStyle/>
          <a:p>
            <a:endParaRPr lang="fr-FR"/>
          </a:p>
        </p:txBody>
      </p:sp>
      <p:sp>
        <p:nvSpPr>
          <p:cNvPr id="20" name="Text 18"/>
          <p:cNvSpPr/>
          <p:nvPr/>
        </p:nvSpPr>
        <p:spPr>
          <a:xfrm>
            <a:off x="274320" y="1261872"/>
            <a:ext cx="8595360"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LES DÉLITS — 6 pts retirés</a:t>
            </a:r>
            <a:endParaRPr lang="en-US" sz="900" dirty="0"/>
          </a:p>
        </p:txBody>
      </p:sp>
      <p:sp>
        <p:nvSpPr>
          <p:cNvPr id="21" name="Shape 19"/>
          <p:cNvSpPr/>
          <p:nvPr/>
        </p:nvSpPr>
        <p:spPr>
          <a:xfrm>
            <a:off x="274320" y="1536192"/>
            <a:ext cx="8595360" cy="237744"/>
          </a:xfrm>
          <a:prstGeom prst="rect">
            <a:avLst/>
          </a:prstGeom>
          <a:solidFill>
            <a:srgbClr val="E8F1FA"/>
          </a:solidFill>
          <a:ln w="6350">
            <a:solidFill>
              <a:srgbClr val="D0DCE8"/>
            </a:solidFill>
            <a:prstDash val="solid"/>
          </a:ln>
        </p:spPr>
        <p:txBody>
          <a:bodyPr/>
          <a:lstStyle/>
          <a:p>
            <a:endParaRPr lang="fr-FR"/>
          </a:p>
        </p:txBody>
      </p:sp>
      <p:sp>
        <p:nvSpPr>
          <p:cNvPr id="22" name="Text 20"/>
          <p:cNvSpPr/>
          <p:nvPr/>
        </p:nvSpPr>
        <p:spPr>
          <a:xfrm>
            <a:off x="384048" y="1554480"/>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Alcool ≥ 0,40 mg/litre d'air expiré (≥ 0,8 g/l de sang)</a:t>
            </a:r>
            <a:endParaRPr lang="en-US" sz="800" dirty="0"/>
          </a:p>
        </p:txBody>
      </p:sp>
      <p:sp>
        <p:nvSpPr>
          <p:cNvPr id="23" name="Shape 21"/>
          <p:cNvSpPr/>
          <p:nvPr/>
        </p:nvSpPr>
        <p:spPr>
          <a:xfrm>
            <a:off x="274320" y="1801368"/>
            <a:ext cx="8595360" cy="237744"/>
          </a:xfrm>
          <a:prstGeom prst="rect">
            <a:avLst/>
          </a:prstGeom>
          <a:solidFill>
            <a:srgbClr val="FFFFFF"/>
          </a:solidFill>
          <a:ln w="6350">
            <a:solidFill>
              <a:srgbClr val="D0DCE8"/>
            </a:solidFill>
            <a:prstDash val="solid"/>
          </a:ln>
        </p:spPr>
        <p:txBody>
          <a:bodyPr/>
          <a:lstStyle/>
          <a:p>
            <a:endParaRPr lang="fr-FR"/>
          </a:p>
        </p:txBody>
      </p:sp>
      <p:sp>
        <p:nvSpPr>
          <p:cNvPr id="24" name="Text 22"/>
          <p:cNvSpPr/>
          <p:nvPr/>
        </p:nvSpPr>
        <p:spPr>
          <a:xfrm>
            <a:off x="384048" y="1819656"/>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Conduite en état d'ivresse manifeste</a:t>
            </a:r>
            <a:endParaRPr lang="en-US" sz="800" dirty="0"/>
          </a:p>
        </p:txBody>
      </p:sp>
      <p:sp>
        <p:nvSpPr>
          <p:cNvPr id="25" name="Shape 23"/>
          <p:cNvSpPr/>
          <p:nvPr/>
        </p:nvSpPr>
        <p:spPr>
          <a:xfrm>
            <a:off x="274320" y="2066544"/>
            <a:ext cx="8595360" cy="237744"/>
          </a:xfrm>
          <a:prstGeom prst="rect">
            <a:avLst/>
          </a:prstGeom>
          <a:solidFill>
            <a:srgbClr val="E8F1FA"/>
          </a:solidFill>
          <a:ln w="6350">
            <a:solidFill>
              <a:srgbClr val="D0DCE8"/>
            </a:solidFill>
            <a:prstDash val="solid"/>
          </a:ln>
        </p:spPr>
        <p:txBody>
          <a:bodyPr/>
          <a:lstStyle/>
          <a:p>
            <a:endParaRPr lang="fr-FR"/>
          </a:p>
        </p:txBody>
      </p:sp>
      <p:sp>
        <p:nvSpPr>
          <p:cNvPr id="26" name="Text 24"/>
          <p:cNvSpPr/>
          <p:nvPr/>
        </p:nvSpPr>
        <p:spPr>
          <a:xfrm>
            <a:off x="384048" y="2084832"/>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Conduite après consommation de stupéfiants</a:t>
            </a:r>
            <a:endParaRPr lang="en-US" sz="800" dirty="0"/>
          </a:p>
        </p:txBody>
      </p:sp>
      <p:sp>
        <p:nvSpPr>
          <p:cNvPr id="27" name="Shape 25"/>
          <p:cNvSpPr/>
          <p:nvPr/>
        </p:nvSpPr>
        <p:spPr>
          <a:xfrm>
            <a:off x="274320" y="2331720"/>
            <a:ext cx="8595360" cy="237744"/>
          </a:xfrm>
          <a:prstGeom prst="rect">
            <a:avLst/>
          </a:prstGeom>
          <a:solidFill>
            <a:srgbClr val="FFFFFF"/>
          </a:solidFill>
          <a:ln w="6350">
            <a:solidFill>
              <a:srgbClr val="D0DCE8"/>
            </a:solidFill>
            <a:prstDash val="solid"/>
          </a:ln>
        </p:spPr>
        <p:txBody>
          <a:bodyPr/>
          <a:lstStyle/>
          <a:p>
            <a:endParaRPr lang="fr-FR"/>
          </a:p>
        </p:txBody>
      </p:sp>
      <p:sp>
        <p:nvSpPr>
          <p:cNvPr id="28" name="Text 26"/>
          <p:cNvSpPr/>
          <p:nvPr/>
        </p:nvSpPr>
        <p:spPr>
          <a:xfrm>
            <a:off x="384048" y="2350008"/>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Refus de se soumettre aux tests (alcool ou stupéfiants)</a:t>
            </a:r>
            <a:endParaRPr lang="en-US" sz="800" dirty="0"/>
          </a:p>
        </p:txBody>
      </p:sp>
      <p:sp>
        <p:nvSpPr>
          <p:cNvPr id="29" name="Shape 27"/>
          <p:cNvSpPr/>
          <p:nvPr/>
        </p:nvSpPr>
        <p:spPr>
          <a:xfrm>
            <a:off x="274320" y="2596896"/>
            <a:ext cx="8595360" cy="237744"/>
          </a:xfrm>
          <a:prstGeom prst="rect">
            <a:avLst/>
          </a:prstGeom>
          <a:solidFill>
            <a:srgbClr val="E8F1FA"/>
          </a:solidFill>
          <a:ln w="6350">
            <a:solidFill>
              <a:srgbClr val="D0DCE8"/>
            </a:solidFill>
            <a:prstDash val="solid"/>
          </a:ln>
        </p:spPr>
        <p:txBody>
          <a:bodyPr/>
          <a:lstStyle/>
          <a:p>
            <a:endParaRPr lang="fr-FR"/>
          </a:p>
        </p:txBody>
      </p:sp>
      <p:sp>
        <p:nvSpPr>
          <p:cNvPr id="30" name="Text 28"/>
          <p:cNvSpPr/>
          <p:nvPr/>
        </p:nvSpPr>
        <p:spPr>
          <a:xfrm>
            <a:off x="384048" y="2615184"/>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Homicide ou blessures involontaires (incapacité de travail)</a:t>
            </a:r>
            <a:endParaRPr lang="en-US" sz="800" dirty="0"/>
          </a:p>
        </p:txBody>
      </p:sp>
      <p:sp>
        <p:nvSpPr>
          <p:cNvPr id="31" name="Shape 29"/>
          <p:cNvSpPr/>
          <p:nvPr/>
        </p:nvSpPr>
        <p:spPr>
          <a:xfrm>
            <a:off x="274320" y="2862072"/>
            <a:ext cx="8595360" cy="237744"/>
          </a:xfrm>
          <a:prstGeom prst="rect">
            <a:avLst/>
          </a:prstGeom>
          <a:solidFill>
            <a:srgbClr val="FFFFFF"/>
          </a:solidFill>
          <a:ln w="6350">
            <a:solidFill>
              <a:srgbClr val="D0DCE8"/>
            </a:solidFill>
            <a:prstDash val="solid"/>
          </a:ln>
        </p:spPr>
        <p:txBody>
          <a:bodyPr/>
          <a:lstStyle/>
          <a:p>
            <a:endParaRPr lang="fr-FR"/>
          </a:p>
        </p:txBody>
      </p:sp>
      <p:sp>
        <p:nvSpPr>
          <p:cNvPr id="32" name="Text 30"/>
          <p:cNvSpPr/>
          <p:nvPr/>
        </p:nvSpPr>
        <p:spPr>
          <a:xfrm>
            <a:off x="384048" y="2880360"/>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Délit de fuite</a:t>
            </a:r>
            <a:endParaRPr lang="en-US" sz="800" dirty="0"/>
          </a:p>
        </p:txBody>
      </p:sp>
      <p:sp>
        <p:nvSpPr>
          <p:cNvPr id="33" name="Shape 31"/>
          <p:cNvSpPr/>
          <p:nvPr/>
        </p:nvSpPr>
        <p:spPr>
          <a:xfrm>
            <a:off x="274320" y="3127248"/>
            <a:ext cx="8595360" cy="237744"/>
          </a:xfrm>
          <a:prstGeom prst="rect">
            <a:avLst/>
          </a:prstGeom>
          <a:solidFill>
            <a:srgbClr val="E8F1FA"/>
          </a:solidFill>
          <a:ln w="6350">
            <a:solidFill>
              <a:srgbClr val="D0DCE8"/>
            </a:solidFill>
            <a:prstDash val="solid"/>
          </a:ln>
        </p:spPr>
        <p:txBody>
          <a:bodyPr/>
          <a:lstStyle/>
          <a:p>
            <a:endParaRPr lang="fr-FR"/>
          </a:p>
        </p:txBody>
      </p:sp>
      <p:sp>
        <p:nvSpPr>
          <p:cNvPr id="34" name="Text 32"/>
          <p:cNvSpPr/>
          <p:nvPr/>
        </p:nvSpPr>
        <p:spPr>
          <a:xfrm>
            <a:off x="384048" y="3145536"/>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Refus d'obtempérer ou de s'immobiliser</a:t>
            </a:r>
            <a:endParaRPr lang="en-US" sz="800" dirty="0"/>
          </a:p>
        </p:txBody>
      </p:sp>
      <p:sp>
        <p:nvSpPr>
          <p:cNvPr id="35" name="Shape 33"/>
          <p:cNvSpPr/>
          <p:nvPr/>
        </p:nvSpPr>
        <p:spPr>
          <a:xfrm>
            <a:off x="274320" y="3392424"/>
            <a:ext cx="8595360" cy="237744"/>
          </a:xfrm>
          <a:prstGeom prst="rect">
            <a:avLst/>
          </a:prstGeom>
          <a:solidFill>
            <a:srgbClr val="FFFFFF"/>
          </a:solidFill>
          <a:ln w="6350">
            <a:solidFill>
              <a:srgbClr val="D0DCE8"/>
            </a:solidFill>
            <a:prstDash val="solid"/>
          </a:ln>
        </p:spPr>
        <p:txBody>
          <a:bodyPr/>
          <a:lstStyle/>
          <a:p>
            <a:endParaRPr lang="fr-FR"/>
          </a:p>
        </p:txBody>
      </p:sp>
      <p:sp>
        <p:nvSpPr>
          <p:cNvPr id="36" name="Text 34"/>
          <p:cNvSpPr/>
          <p:nvPr/>
        </p:nvSpPr>
        <p:spPr>
          <a:xfrm>
            <a:off x="384048" y="3410712"/>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Gêne ou entrave à la circulation</a:t>
            </a:r>
            <a:endParaRPr lang="en-US" sz="800" dirty="0"/>
          </a:p>
        </p:txBody>
      </p:sp>
      <p:sp>
        <p:nvSpPr>
          <p:cNvPr id="37" name="Shape 35"/>
          <p:cNvSpPr/>
          <p:nvPr/>
        </p:nvSpPr>
        <p:spPr>
          <a:xfrm>
            <a:off x="274320" y="3657600"/>
            <a:ext cx="8595360" cy="237744"/>
          </a:xfrm>
          <a:prstGeom prst="rect">
            <a:avLst/>
          </a:prstGeom>
          <a:solidFill>
            <a:srgbClr val="E8F1FA"/>
          </a:solidFill>
          <a:ln w="6350">
            <a:solidFill>
              <a:srgbClr val="D0DCE8"/>
            </a:solidFill>
            <a:prstDash val="solid"/>
          </a:ln>
        </p:spPr>
        <p:txBody>
          <a:bodyPr/>
          <a:lstStyle/>
          <a:p>
            <a:endParaRPr lang="fr-FR"/>
          </a:p>
        </p:txBody>
      </p:sp>
      <p:sp>
        <p:nvSpPr>
          <p:cNvPr id="38" name="Text 36"/>
          <p:cNvSpPr/>
          <p:nvPr/>
        </p:nvSpPr>
        <p:spPr>
          <a:xfrm>
            <a:off x="384048" y="3675888"/>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Usage volontaire de fausses plaques d'immatriculation</a:t>
            </a:r>
            <a:endParaRPr lang="en-US" sz="800" dirty="0"/>
          </a:p>
        </p:txBody>
      </p:sp>
      <p:sp>
        <p:nvSpPr>
          <p:cNvPr id="39" name="Shape 37"/>
          <p:cNvSpPr/>
          <p:nvPr/>
        </p:nvSpPr>
        <p:spPr>
          <a:xfrm>
            <a:off x="274320" y="3922776"/>
            <a:ext cx="8595360" cy="237744"/>
          </a:xfrm>
          <a:prstGeom prst="rect">
            <a:avLst/>
          </a:prstGeom>
          <a:solidFill>
            <a:srgbClr val="FFFFFF"/>
          </a:solidFill>
          <a:ln w="6350">
            <a:solidFill>
              <a:srgbClr val="D0DCE8"/>
            </a:solidFill>
            <a:prstDash val="solid"/>
          </a:ln>
        </p:spPr>
        <p:txBody>
          <a:bodyPr/>
          <a:lstStyle/>
          <a:p>
            <a:endParaRPr lang="fr-FR"/>
          </a:p>
        </p:txBody>
      </p:sp>
      <p:sp>
        <p:nvSpPr>
          <p:cNvPr id="40" name="Text 38"/>
          <p:cNvSpPr/>
          <p:nvPr/>
        </p:nvSpPr>
        <p:spPr>
          <a:xfrm>
            <a:off x="384048" y="3941064"/>
            <a:ext cx="8366760" cy="201168"/>
          </a:xfrm>
          <a:prstGeom prst="rect">
            <a:avLst/>
          </a:prstGeom>
          <a:noFill/>
          <a:ln/>
        </p:spPr>
        <p:txBody>
          <a:bodyPr wrap="square" rtlCol="0" anchor="ctr"/>
          <a:lstStyle/>
          <a:p>
            <a:pPr marL="0" indent="0">
              <a:buNone/>
            </a:pPr>
            <a:r>
              <a:rPr lang="en-US" sz="800" dirty="0">
                <a:solidFill>
                  <a:srgbClr val="3A3A3A"/>
                </a:solidFill>
                <a:latin typeface="Calibri" pitchFamily="34" charset="0"/>
                <a:ea typeface="Calibri" pitchFamily="34" charset="-122"/>
                <a:cs typeface="Calibri" pitchFamily="34" charset="-120"/>
              </a:rPr>
              <a:t>▶ Conduite malgré retrait/suspension/annulation de permis</a:t>
            </a:r>
            <a:endParaRPr lang="en-US" sz="800" dirty="0"/>
          </a:p>
        </p:txBody>
      </p:sp>
      <p:sp>
        <p:nvSpPr>
          <p:cNvPr id="41" name="Shape 39"/>
          <p:cNvSpPr/>
          <p:nvPr/>
        </p:nvSpPr>
        <p:spPr>
          <a:xfrm>
            <a:off x="274320" y="4206240"/>
            <a:ext cx="8595360" cy="256032"/>
          </a:xfrm>
          <a:prstGeom prst="rect">
            <a:avLst/>
          </a:prstGeom>
          <a:solidFill>
            <a:srgbClr val="1A3A5C"/>
          </a:solidFill>
          <a:ln w="12700">
            <a:solidFill>
              <a:srgbClr val="1A3A5C"/>
            </a:solidFill>
            <a:prstDash val="solid"/>
          </a:ln>
        </p:spPr>
        <p:txBody>
          <a:bodyPr/>
          <a:lstStyle/>
          <a:p>
            <a:endParaRPr lang="fr-FR"/>
          </a:p>
        </p:txBody>
      </p:sp>
      <p:sp>
        <p:nvSpPr>
          <p:cNvPr id="42" name="Text 40"/>
          <p:cNvSpPr/>
          <p:nvPr/>
        </p:nvSpPr>
        <p:spPr>
          <a:xfrm>
            <a:off x="274320" y="4206240"/>
            <a:ext cx="8595360"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MENTIONS DU B2 INCOMPATIBLES AVEC L'EXERCICE DU T3P — 3 CONDAMNATIONS DÉFINITIVES</a:t>
            </a:r>
            <a:endParaRPr lang="en-US" sz="900" dirty="0"/>
          </a:p>
        </p:txBody>
      </p:sp>
      <p:sp>
        <p:nvSpPr>
          <p:cNvPr id="43" name="Shape 41"/>
          <p:cNvSpPr/>
          <p:nvPr/>
        </p:nvSpPr>
        <p:spPr>
          <a:xfrm>
            <a:off x="274320" y="4517136"/>
            <a:ext cx="2724912" cy="749808"/>
          </a:xfrm>
          <a:prstGeom prst="rect">
            <a:avLst/>
          </a:prstGeom>
          <a:solidFill>
            <a:srgbClr val="E8F1FA"/>
          </a:solidFill>
          <a:ln w="6350">
            <a:solidFill>
              <a:srgbClr val="D0DCE8"/>
            </a:solidFill>
            <a:prstDash val="solid"/>
          </a:ln>
        </p:spPr>
        <p:txBody>
          <a:bodyPr/>
          <a:lstStyle/>
          <a:p>
            <a:endParaRPr lang="fr-FR"/>
          </a:p>
        </p:txBody>
      </p:sp>
      <p:sp>
        <p:nvSpPr>
          <p:cNvPr id="44" name="Shape 42"/>
          <p:cNvSpPr/>
          <p:nvPr/>
        </p:nvSpPr>
        <p:spPr>
          <a:xfrm>
            <a:off x="274320" y="4517136"/>
            <a:ext cx="2724912" cy="219456"/>
          </a:xfrm>
          <a:prstGeom prst="rect">
            <a:avLst/>
          </a:prstGeom>
          <a:solidFill>
            <a:srgbClr val="C0392B"/>
          </a:solidFill>
          <a:ln w="12700">
            <a:solidFill>
              <a:srgbClr val="C0392B"/>
            </a:solidFill>
            <a:prstDash val="solid"/>
          </a:ln>
        </p:spPr>
        <p:txBody>
          <a:bodyPr/>
          <a:lstStyle/>
          <a:p>
            <a:endParaRPr lang="fr-FR"/>
          </a:p>
        </p:txBody>
      </p:sp>
      <p:sp>
        <p:nvSpPr>
          <p:cNvPr id="45" name="Text 43"/>
          <p:cNvSpPr/>
          <p:nvPr/>
        </p:nvSpPr>
        <p:spPr>
          <a:xfrm>
            <a:off x="347472" y="4517136"/>
            <a:ext cx="2578608"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Délit permis (retrait 6 pts)</a:t>
            </a:r>
            <a:endParaRPr lang="en-US" sz="820" dirty="0"/>
          </a:p>
        </p:txBody>
      </p:sp>
      <p:sp>
        <p:nvSpPr>
          <p:cNvPr id="46" name="Text 44"/>
          <p:cNvSpPr/>
          <p:nvPr/>
        </p:nvSpPr>
        <p:spPr>
          <a:xfrm>
            <a:off x="365760" y="4754880"/>
            <a:ext cx="2542032" cy="502920"/>
          </a:xfrm>
          <a:prstGeom prst="rect">
            <a:avLst/>
          </a:prstGeom>
          <a:noFill/>
          <a:ln/>
        </p:spPr>
        <p:txBody>
          <a:bodyPr wrap="square" rtlCol="0" anchor="t"/>
          <a:lstStyle/>
          <a:p>
            <a:pPr marL="0" indent="0">
              <a:buNone/>
            </a:pPr>
            <a:r>
              <a:rPr lang="en-US" sz="780" dirty="0">
                <a:solidFill>
                  <a:srgbClr val="3A3A3A"/>
                </a:solidFill>
                <a:latin typeface="Calibri" pitchFamily="34" charset="0"/>
                <a:ea typeface="Calibri" pitchFamily="34" charset="-122"/>
                <a:cs typeface="Calibri" pitchFamily="34" charset="-120"/>
              </a:rPr>
              <a:t>Condamnation définitive pour un délit du Code de la route donnant lieu à une réduction de la moitié du nombre maximal de points du permis.</a:t>
            </a:r>
            <a:endParaRPr lang="en-US" sz="780" dirty="0"/>
          </a:p>
        </p:txBody>
      </p:sp>
      <p:sp>
        <p:nvSpPr>
          <p:cNvPr id="47" name="Shape 45"/>
          <p:cNvSpPr/>
          <p:nvPr/>
        </p:nvSpPr>
        <p:spPr>
          <a:xfrm>
            <a:off x="3154680" y="4517136"/>
            <a:ext cx="2724912" cy="749808"/>
          </a:xfrm>
          <a:prstGeom prst="rect">
            <a:avLst/>
          </a:prstGeom>
          <a:solidFill>
            <a:srgbClr val="E8F1FA"/>
          </a:solidFill>
          <a:ln w="6350">
            <a:solidFill>
              <a:srgbClr val="D0DCE8"/>
            </a:solidFill>
            <a:prstDash val="solid"/>
          </a:ln>
        </p:spPr>
        <p:txBody>
          <a:bodyPr/>
          <a:lstStyle/>
          <a:p>
            <a:endParaRPr lang="fr-FR"/>
          </a:p>
        </p:txBody>
      </p:sp>
      <p:sp>
        <p:nvSpPr>
          <p:cNvPr id="48" name="Shape 46"/>
          <p:cNvSpPr/>
          <p:nvPr/>
        </p:nvSpPr>
        <p:spPr>
          <a:xfrm>
            <a:off x="3154680" y="4517136"/>
            <a:ext cx="2724912" cy="219456"/>
          </a:xfrm>
          <a:prstGeom prst="rect">
            <a:avLst/>
          </a:prstGeom>
          <a:solidFill>
            <a:srgbClr val="F4A227"/>
          </a:solidFill>
          <a:ln w="12700">
            <a:solidFill>
              <a:srgbClr val="F4A227"/>
            </a:solidFill>
            <a:prstDash val="solid"/>
          </a:ln>
        </p:spPr>
        <p:txBody>
          <a:bodyPr/>
          <a:lstStyle/>
          <a:p>
            <a:endParaRPr lang="fr-FR"/>
          </a:p>
        </p:txBody>
      </p:sp>
      <p:sp>
        <p:nvSpPr>
          <p:cNvPr id="49" name="Text 47"/>
          <p:cNvSpPr/>
          <p:nvPr/>
        </p:nvSpPr>
        <p:spPr>
          <a:xfrm>
            <a:off x="3227832" y="4517136"/>
            <a:ext cx="2578608"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Peine criminelle ou correctionnelle ≥ 6 mois</a:t>
            </a:r>
            <a:endParaRPr lang="en-US" sz="820" dirty="0"/>
          </a:p>
        </p:txBody>
      </p:sp>
      <p:sp>
        <p:nvSpPr>
          <p:cNvPr id="50" name="Text 48"/>
          <p:cNvSpPr/>
          <p:nvPr/>
        </p:nvSpPr>
        <p:spPr>
          <a:xfrm>
            <a:off x="3246120" y="4754880"/>
            <a:ext cx="2542032" cy="502920"/>
          </a:xfrm>
          <a:prstGeom prst="rect">
            <a:avLst/>
          </a:prstGeom>
          <a:noFill/>
          <a:ln/>
        </p:spPr>
        <p:txBody>
          <a:bodyPr wrap="square" rtlCol="0" anchor="t"/>
          <a:lstStyle/>
          <a:p>
            <a:pPr marL="0" indent="0">
              <a:buNone/>
            </a:pPr>
            <a:r>
              <a:rPr lang="en-US" sz="780" dirty="0">
                <a:solidFill>
                  <a:srgbClr val="3A3A3A"/>
                </a:solidFill>
                <a:latin typeface="Calibri" pitchFamily="34" charset="0"/>
                <a:ea typeface="Calibri" pitchFamily="34" charset="-122"/>
                <a:cs typeface="Calibri" pitchFamily="34" charset="-120"/>
              </a:rPr>
              <a:t>Vol, escroquerie, abus de confiance, atteinte à l'intégrité, agression sexuelle, trafic d'armes, extorsion, stupéfiants.</a:t>
            </a:r>
            <a:endParaRPr lang="en-US" sz="780" dirty="0"/>
          </a:p>
        </p:txBody>
      </p:sp>
      <p:sp>
        <p:nvSpPr>
          <p:cNvPr id="51" name="Shape 49"/>
          <p:cNvSpPr/>
          <p:nvPr/>
        </p:nvSpPr>
        <p:spPr>
          <a:xfrm>
            <a:off x="6035040" y="4517136"/>
            <a:ext cx="2724912" cy="749808"/>
          </a:xfrm>
          <a:prstGeom prst="rect">
            <a:avLst/>
          </a:prstGeom>
          <a:solidFill>
            <a:srgbClr val="E8F1FA"/>
          </a:solidFill>
          <a:ln w="6350">
            <a:solidFill>
              <a:srgbClr val="D0DCE8"/>
            </a:solidFill>
            <a:prstDash val="solid"/>
          </a:ln>
        </p:spPr>
        <p:txBody>
          <a:bodyPr/>
          <a:lstStyle/>
          <a:p>
            <a:endParaRPr lang="fr-FR"/>
          </a:p>
        </p:txBody>
      </p:sp>
      <p:sp>
        <p:nvSpPr>
          <p:cNvPr id="52" name="Shape 50"/>
          <p:cNvSpPr/>
          <p:nvPr/>
        </p:nvSpPr>
        <p:spPr>
          <a:xfrm>
            <a:off x="6035040" y="4517136"/>
            <a:ext cx="2724912" cy="219456"/>
          </a:xfrm>
          <a:prstGeom prst="rect">
            <a:avLst/>
          </a:prstGeom>
          <a:solidFill>
            <a:srgbClr val="1A3A5C"/>
          </a:solidFill>
          <a:ln w="12700">
            <a:solidFill>
              <a:srgbClr val="1A3A5C"/>
            </a:solidFill>
            <a:prstDash val="solid"/>
          </a:ln>
        </p:spPr>
        <p:txBody>
          <a:bodyPr/>
          <a:lstStyle/>
          <a:p>
            <a:endParaRPr lang="fr-FR"/>
          </a:p>
        </p:txBody>
      </p:sp>
      <p:sp>
        <p:nvSpPr>
          <p:cNvPr id="53" name="Text 51"/>
          <p:cNvSpPr/>
          <p:nvPr/>
        </p:nvSpPr>
        <p:spPr>
          <a:xfrm>
            <a:off x="6108192" y="4517136"/>
            <a:ext cx="2578608" cy="219456"/>
          </a:xfrm>
          <a:prstGeom prst="rect">
            <a:avLst/>
          </a:prstGeom>
          <a:noFill/>
          <a:ln/>
        </p:spPr>
        <p:txBody>
          <a:bodyPr wrap="square" lIns="0" tIns="0" rIns="0" bIns="0" rtlCol="0" anchor="ctr"/>
          <a:lstStyle/>
          <a:p>
            <a:pPr marL="0" indent="0">
              <a:buNone/>
            </a:pPr>
            <a:r>
              <a:rPr lang="en-US" sz="820" b="1" dirty="0">
                <a:solidFill>
                  <a:srgbClr val="FFFFFF"/>
                </a:solidFill>
                <a:latin typeface="Calibri" pitchFamily="34" charset="0"/>
                <a:ea typeface="Calibri" pitchFamily="34" charset="-122"/>
                <a:cs typeface="Calibri" pitchFamily="34" charset="-120"/>
              </a:rPr>
              <a:t>Conduite sans permis / malgré annulation</a:t>
            </a:r>
            <a:endParaRPr lang="en-US" sz="820" dirty="0"/>
          </a:p>
        </p:txBody>
      </p:sp>
      <p:sp>
        <p:nvSpPr>
          <p:cNvPr id="54" name="Text 52"/>
          <p:cNvSpPr/>
          <p:nvPr/>
        </p:nvSpPr>
        <p:spPr>
          <a:xfrm>
            <a:off x="6126480" y="4754880"/>
            <a:ext cx="2542032" cy="502920"/>
          </a:xfrm>
          <a:prstGeom prst="rect">
            <a:avLst/>
          </a:prstGeom>
          <a:noFill/>
          <a:ln/>
        </p:spPr>
        <p:txBody>
          <a:bodyPr wrap="square" rtlCol="0" anchor="t"/>
          <a:lstStyle/>
          <a:p>
            <a:pPr marL="0" indent="0">
              <a:buNone/>
            </a:pPr>
            <a:r>
              <a:rPr lang="en-US" sz="780" dirty="0">
                <a:solidFill>
                  <a:srgbClr val="3A3A3A"/>
                </a:solidFill>
                <a:latin typeface="Calibri" pitchFamily="34" charset="0"/>
                <a:ea typeface="Calibri" pitchFamily="34" charset="-122"/>
                <a:cs typeface="Calibri" pitchFamily="34" charset="-120"/>
              </a:rPr>
              <a:t>Conduite sans permis, malgré l'annulation, l'interdiction d'obtenir le permis, ou refus de restitution après invalidation.</a:t>
            </a:r>
            <a:endParaRPr lang="en-US" sz="780" dirty="0"/>
          </a:p>
        </p:txBody>
      </p:sp>
      <p:sp>
        <p:nvSpPr>
          <p:cNvPr id="55" name="Rectangle 54"/>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Réglementation T3P — Partie 1</a:t>
            </a:r>
          </a:p>
        </p:txBody>
      </p:sp>
      <p:sp>
        <p:nvSpPr>
          <p:cNvPr id="56" name="Rectangle 55"/>
          <p:cNvSpPr/>
          <p:nvPr/>
        </p:nvSpPr>
        <p:spPr>
          <a:xfrm>
            <a:off x="0" y="0"/>
            <a:ext cx="9144000" cy="251999"/>
          </a:xfrm>
          <a:prstGeom prst="rect">
            <a:avLst/>
          </a:prstGeom>
          <a:solidFill>
            <a:srgbClr val="0D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00B4D8"/>
                </a:solidFill>
              </a:rPr>
              <a:t>ÉPREUVE T3P — Partie 1 sur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786</TotalTime>
  <Words>9499</Words>
  <Application>Microsoft Office PowerPoint</Application>
  <PresentationFormat>Affichage à l'écran (16:9)</PresentationFormat>
  <Paragraphs>1185</Paragraphs>
  <Slides>52</Slides>
  <Notes>42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52</vt:i4>
      </vt:variant>
    </vt:vector>
  </HeadingPairs>
  <TitlesOfParts>
    <vt:vector size="5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Réglementation T3P — FTRANSPORT</dc:title>
  <dc:subject>PptxGenJS Presentation</dc:subject>
  <dc:creator>PptxGenJS</dc:creator>
  <cp:lastModifiedBy>naoufal guenichi</cp:lastModifiedBy>
  <cp:revision>3</cp:revision>
  <dcterms:created xsi:type="dcterms:W3CDTF">2026-02-22T21:39:09Z</dcterms:created>
  <dcterms:modified xsi:type="dcterms:W3CDTF">2026-09-15T08:27:20Z</dcterms:modified>
</cp:coreProperties>
</file>