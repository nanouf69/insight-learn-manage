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99" r:id="rId2"/>
    <p:sldId id="300" r:id="rId3"/>
    <p:sldId id="312" r:id="rId4"/>
    <p:sldId id="301" r:id="rId5"/>
    <p:sldId id="302" r:id="rId6"/>
    <p:sldId id="303" r:id="rId7"/>
    <p:sldId id="304" r:id="rId8"/>
    <p:sldId id="305" r:id="rId9"/>
    <p:sldId id="306" r:id="rId10"/>
    <p:sldId id="307" r:id="rId11"/>
    <p:sldId id="308" r:id="rId12"/>
    <p:sldId id="309" r:id="rId13"/>
    <p:sldId id="31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6605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A1A2E"/>
          </a:solidFill>
          <a:ln w="12700">
            <a:solidFill>
              <a:srgbClr val="0A1A2E"/>
            </a:solidFill>
            <a:prstDash val="solid"/>
          </a:ln>
        </p:spPr>
        <p:txBody>
          <a:bodyPr/>
          <a:lstStyle/>
          <a:p>
            <a:endParaRPr lang="fr-FR"/>
          </a:p>
        </p:txBody>
      </p:sp>
      <p:sp>
        <p:nvSpPr>
          <p:cNvPr id="3" name="Shape 1"/>
          <p:cNvSpPr/>
          <p:nvPr/>
        </p:nvSpPr>
        <p:spPr>
          <a:xfrm>
            <a:off x="0" y="1645920"/>
            <a:ext cx="9144000" cy="1737360"/>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457200" y="1719072"/>
            <a:ext cx="8229600" cy="84124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PARTIE 3</a:t>
            </a:r>
            <a:endParaRPr lang="en-US" sz="3600" dirty="0"/>
          </a:p>
        </p:txBody>
      </p:sp>
      <p:sp>
        <p:nvSpPr>
          <p:cNvPr id="5" name="Text 3"/>
          <p:cNvSpPr/>
          <p:nvPr/>
        </p:nvSpPr>
        <p:spPr>
          <a:xfrm>
            <a:off x="457200" y="2596896"/>
            <a:ext cx="8229600" cy="475488"/>
          </a:xfrm>
          <a:prstGeom prst="rect">
            <a:avLst/>
          </a:prstGeom>
          <a:noFill/>
          <a:ln/>
        </p:spPr>
        <p:txBody>
          <a:bodyPr wrap="square" rtlCol="0" anchor="ctr"/>
          <a:lstStyle/>
          <a:p>
            <a:pPr marL="0" indent="0" algn="ctr">
              <a:buNone/>
            </a:pPr>
            <a:r>
              <a:rPr lang="en-US" sz="1500" i="1" dirty="0">
                <a:solidFill>
                  <a:srgbClr val="D4EAF8"/>
                </a:solidFill>
                <a:latin typeface="Calibri" pitchFamily="34" charset="0"/>
                <a:ea typeface="Calibri" pitchFamily="34" charset="-122"/>
                <a:cs typeface="Calibri" pitchFamily="34" charset="-120"/>
              </a:rPr>
              <a:t>Marge · Dividendes · CMA · CGA · Paiements · SIG</a:t>
            </a:r>
            <a:endParaRPr lang="en-US" sz="1500" dirty="0"/>
          </a:p>
        </p:txBody>
      </p:sp>
      <p:sp>
        <p:nvSpPr>
          <p:cNvPr id="6" name="Text 4"/>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0D8A8A"/>
          </a:solidFill>
          <a:ln/>
        </p:spPr>
        <p:txBody>
          <a:bodyPr/>
          <a:lstStyle/>
          <a:p>
            <a:endParaRPr/>
          </a:p>
        </p:txBody>
      </p:sp>
      <p:sp>
        <p:nvSpPr>
          <p:cNvPr id="3" name="Text 1"/>
          <p:cNvSpPr/>
          <p:nvPr/>
        </p:nvSpPr>
        <p:spPr>
          <a:xfrm>
            <a:off x="365760" y="0"/>
            <a:ext cx="8412480" cy="603504"/>
          </a:xfrm>
          <a:prstGeom prst="rect">
            <a:avLst/>
          </a:prstGeom>
          <a:noFill/>
          <a:ln/>
        </p:spPr>
        <p:txBody>
          <a:bodyPr wrap="square" lIns="0" tIns="0" rIns="0" bIns="0"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Sommaire — Partie 3</a:t>
            </a:r>
            <a:endParaRPr lang="en-US" sz="1900" dirty="0"/>
          </a:p>
        </p:txBody>
      </p:sp>
      <p:sp>
        <p:nvSpPr>
          <p:cNvPr id="4" name="Text 2"/>
          <p:cNvSpPr/>
          <p:nvPr/>
        </p:nvSpPr>
        <p:spPr>
          <a:xfrm>
            <a:off x="365760" y="621792"/>
            <a:ext cx="8412480" cy="329184"/>
          </a:xfrm>
          <a:prstGeom prst="rect">
            <a:avLst/>
          </a:prstGeom>
          <a:noFill/>
          <a:ln/>
        </p:spPr>
        <p:txBody>
          <a:bodyPr wrap="square" lIns="0" tIns="0" rIns="0" bIns="0" rtlCol="0" anchor="t"/>
          <a:lstStyle/>
          <a:p>
            <a:pPr marL="0" indent="0">
              <a:buNone/>
            </a:pPr>
            <a:r>
              <a:rPr lang="en-US" sz="1050" i="1" dirty="0">
                <a:solidFill>
                  <a:srgbClr val="CADCFC"/>
                </a:solidFill>
                <a:latin typeface="Calibri" pitchFamily="34" charset="0"/>
                <a:ea typeface="Calibri" pitchFamily="34" charset="-122"/>
                <a:cs typeface="Calibri" pitchFamily="34" charset="-120"/>
              </a:rPr>
              <a:t>Marge, TVA, dividendes, organismes et indicateurs</a:t>
            </a:r>
            <a:endParaRPr lang="en-US" sz="1050" dirty="0"/>
          </a:p>
        </p:txBody>
      </p:sp>
      <p:sp>
        <p:nvSpPr>
          <p:cNvPr id="5" name="Text 3"/>
          <p:cNvSpPr/>
          <p:nvPr/>
        </p:nvSpPr>
        <p:spPr>
          <a:xfrm>
            <a:off x="274320" y="4892040"/>
            <a:ext cx="8046720" cy="201168"/>
          </a:xfrm>
          <a:prstGeom prst="rect">
            <a:avLst/>
          </a:prstGeom>
          <a:noFill/>
          <a:ln/>
        </p:spPr>
        <p:txBody>
          <a:bodyPr wrap="square" lIns="0" tIns="0" rIns="0" bIns="0" rtlCol="0" anchor="ctr"/>
          <a:lstStyle/>
          <a:p>
            <a:pPr marL="0" indent="0">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6" name="Text 4"/>
          <p:cNvSpPr/>
          <p:nvPr/>
        </p:nvSpPr>
        <p:spPr>
          <a:xfrm>
            <a:off x="8732520" y="4892040"/>
            <a:ext cx="347472" cy="201168"/>
          </a:xfrm>
          <a:prstGeom prst="rect">
            <a:avLst/>
          </a:prstGeom>
          <a:noFill/>
          <a:ln/>
        </p:spPr>
        <p:txBody>
          <a:bodyPr wrap="square" lIns="0" tIns="0" rIns="0" bIns="0"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25</a:t>
            </a:r>
            <a:endParaRPr lang="en-US" sz="800" dirty="0"/>
          </a:p>
        </p:txBody>
      </p:sp>
      <p:sp>
        <p:nvSpPr>
          <p:cNvPr id="7" name="Shape 5"/>
          <p:cNvSpPr/>
          <p:nvPr/>
        </p:nvSpPr>
        <p:spPr>
          <a:xfrm>
            <a:off x="256032" y="1042416"/>
            <a:ext cx="420624" cy="603504"/>
          </a:xfrm>
          <a:prstGeom prst="rect">
            <a:avLst/>
          </a:prstGeom>
          <a:solidFill>
            <a:srgbClr val="0D8A8A"/>
          </a:solidFill>
          <a:ln/>
        </p:spPr>
        <p:txBody>
          <a:bodyPr/>
          <a:lstStyle/>
          <a:p>
            <a:endParaRPr lang="fr-FR"/>
          </a:p>
        </p:txBody>
      </p:sp>
      <p:sp>
        <p:nvSpPr>
          <p:cNvPr id="8" name="Text 6"/>
          <p:cNvSpPr/>
          <p:nvPr/>
        </p:nvSpPr>
        <p:spPr>
          <a:xfrm>
            <a:off x="256032" y="1042416"/>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Shape 7"/>
          <p:cNvSpPr/>
          <p:nvPr/>
        </p:nvSpPr>
        <p:spPr>
          <a:xfrm>
            <a:off x="713232" y="1042416"/>
            <a:ext cx="3959352" cy="603504"/>
          </a:xfrm>
          <a:prstGeom prst="rect">
            <a:avLst/>
          </a:prstGeom>
          <a:solidFill>
            <a:srgbClr val="F5F7FA"/>
          </a:solidFill>
          <a:ln/>
        </p:spPr>
        <p:txBody>
          <a:bodyPr/>
          <a:lstStyle/>
          <a:p>
            <a:endParaRPr lang="fr-FR"/>
          </a:p>
        </p:txBody>
      </p:sp>
      <p:sp>
        <p:nvSpPr>
          <p:cNvPr id="10" name="Text 8"/>
          <p:cNvSpPr/>
          <p:nvPr/>
        </p:nvSpPr>
        <p:spPr>
          <a:xfrm>
            <a:off x="804672" y="1097280"/>
            <a:ext cx="3776472" cy="256032"/>
          </a:xfrm>
          <a:prstGeom prst="rect">
            <a:avLst/>
          </a:prstGeom>
          <a:noFill/>
          <a:ln/>
        </p:spPr>
        <p:txBody>
          <a:bodyPr wrap="square" lIns="0" tIns="0" rIns="0" bIns="0" rtlCol="0" anchor="ctr"/>
          <a:lstStyle/>
          <a:p>
            <a:pPr marL="0" indent="0">
              <a:buNone/>
            </a:pPr>
            <a:endParaRPr lang="en-US" sz="1050" dirty="0"/>
          </a:p>
        </p:txBody>
      </p:sp>
      <p:sp>
        <p:nvSpPr>
          <p:cNvPr id="11" name="Text 9"/>
          <p:cNvSpPr/>
          <p:nvPr/>
        </p:nvSpPr>
        <p:spPr>
          <a:xfrm>
            <a:off x="804672" y="1353312"/>
            <a:ext cx="3776472" cy="237744"/>
          </a:xfrm>
          <a:prstGeom prst="rect">
            <a:avLst/>
          </a:prstGeom>
          <a:noFill/>
          <a:ln/>
        </p:spPr>
        <p:txBody>
          <a:bodyPr wrap="square" lIns="0" tIns="0" rIns="0" bIns="0" rtlCol="0" anchor="t"/>
          <a:lstStyle/>
          <a:p>
            <a:pPr marL="0" indent="0">
              <a:buNone/>
            </a:pPr>
            <a:r>
              <a:rPr lang="en-US" sz="850" dirty="0">
                <a:solidFill>
                  <a:srgbClr val="555F6D"/>
                </a:solidFill>
                <a:latin typeface="Calibri" pitchFamily="34" charset="0"/>
                <a:ea typeface="Calibri" pitchFamily="34" charset="-122"/>
                <a:cs typeface="Calibri" pitchFamily="34" charset="-120"/>
              </a:rPr>
              <a:t>Obligations, mentions, exemple chiffré</a:t>
            </a:r>
            <a:endParaRPr lang="en-US" sz="850" dirty="0"/>
          </a:p>
        </p:txBody>
      </p:sp>
      <p:sp>
        <p:nvSpPr>
          <p:cNvPr id="12" name="Shape 10"/>
          <p:cNvSpPr/>
          <p:nvPr/>
        </p:nvSpPr>
        <p:spPr>
          <a:xfrm>
            <a:off x="256032" y="1719072"/>
            <a:ext cx="420624" cy="603504"/>
          </a:xfrm>
          <a:prstGeom prst="rect">
            <a:avLst/>
          </a:prstGeom>
          <a:solidFill>
            <a:srgbClr val="0D8A8A"/>
          </a:solidFill>
          <a:ln/>
        </p:spPr>
        <p:txBody>
          <a:bodyPr/>
          <a:lstStyle/>
          <a:p>
            <a:endParaRPr lang="fr-FR"/>
          </a:p>
        </p:txBody>
      </p:sp>
      <p:sp>
        <p:nvSpPr>
          <p:cNvPr id="13" name="Text 11"/>
          <p:cNvSpPr/>
          <p:nvPr/>
        </p:nvSpPr>
        <p:spPr>
          <a:xfrm>
            <a:off x="256032" y="1719072"/>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Shape 12"/>
          <p:cNvSpPr/>
          <p:nvPr/>
        </p:nvSpPr>
        <p:spPr>
          <a:xfrm>
            <a:off x="713232" y="1719072"/>
            <a:ext cx="3959352" cy="603504"/>
          </a:xfrm>
          <a:prstGeom prst="rect">
            <a:avLst/>
          </a:prstGeom>
          <a:solidFill>
            <a:srgbClr val="F5F7FA"/>
          </a:solidFill>
          <a:ln/>
        </p:spPr>
        <p:txBody>
          <a:bodyPr/>
          <a:lstStyle/>
          <a:p>
            <a:endParaRPr lang="fr-FR"/>
          </a:p>
        </p:txBody>
      </p:sp>
      <p:sp>
        <p:nvSpPr>
          <p:cNvPr id="15" name="Text 13"/>
          <p:cNvSpPr/>
          <p:nvPr/>
        </p:nvSpPr>
        <p:spPr>
          <a:xfrm>
            <a:off x="804672" y="1773936"/>
            <a:ext cx="3776472" cy="256032"/>
          </a:xfrm>
          <a:prstGeom prst="rect">
            <a:avLst/>
          </a:prstGeom>
          <a:noFill/>
          <a:ln/>
        </p:spPr>
        <p:txBody>
          <a:bodyPr wrap="square" lIns="0" tIns="0" rIns="0" bIns="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Marge et prix de vente</a:t>
            </a:r>
            <a:endParaRPr lang="en-US" sz="1050" dirty="0"/>
          </a:p>
        </p:txBody>
      </p:sp>
      <p:sp>
        <p:nvSpPr>
          <p:cNvPr id="16" name="Text 14"/>
          <p:cNvSpPr/>
          <p:nvPr/>
        </p:nvSpPr>
        <p:spPr>
          <a:xfrm>
            <a:off x="804672" y="2029968"/>
            <a:ext cx="3776472" cy="237744"/>
          </a:xfrm>
          <a:prstGeom prst="rect">
            <a:avLst/>
          </a:prstGeom>
          <a:noFill/>
          <a:ln/>
        </p:spPr>
        <p:txBody>
          <a:bodyPr wrap="square" lIns="0" tIns="0" rIns="0" bIns="0" rtlCol="0" anchor="t"/>
          <a:lstStyle/>
          <a:p>
            <a:pPr marL="0" indent="0">
              <a:buNone/>
            </a:pPr>
            <a:r>
              <a:rPr lang="en-US" sz="850" dirty="0">
                <a:solidFill>
                  <a:srgbClr val="555F6D"/>
                </a:solidFill>
                <a:latin typeface="Calibri" pitchFamily="34" charset="0"/>
                <a:ea typeface="Calibri" pitchFamily="34" charset="-122"/>
                <a:cs typeface="Calibri" pitchFamily="34" charset="-120"/>
              </a:rPr>
              <a:t>Formules, calcul prix, application VTC</a:t>
            </a:r>
            <a:endParaRPr lang="en-US" sz="850" dirty="0"/>
          </a:p>
        </p:txBody>
      </p:sp>
      <p:sp>
        <p:nvSpPr>
          <p:cNvPr id="17" name="Shape 15"/>
          <p:cNvSpPr/>
          <p:nvPr/>
        </p:nvSpPr>
        <p:spPr>
          <a:xfrm>
            <a:off x="256032" y="2395728"/>
            <a:ext cx="420624" cy="603504"/>
          </a:xfrm>
          <a:prstGeom prst="rect">
            <a:avLst/>
          </a:prstGeom>
          <a:solidFill>
            <a:srgbClr val="0D8A8A"/>
          </a:solidFill>
          <a:ln/>
        </p:spPr>
        <p:txBody>
          <a:bodyPr/>
          <a:lstStyle/>
          <a:p>
            <a:endParaRPr lang="fr-FR"/>
          </a:p>
        </p:txBody>
      </p:sp>
      <p:sp>
        <p:nvSpPr>
          <p:cNvPr id="18" name="Text 16"/>
          <p:cNvSpPr/>
          <p:nvPr/>
        </p:nvSpPr>
        <p:spPr>
          <a:xfrm>
            <a:off x="256032" y="2395728"/>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Shape 17"/>
          <p:cNvSpPr/>
          <p:nvPr/>
        </p:nvSpPr>
        <p:spPr>
          <a:xfrm>
            <a:off x="713232" y="2395728"/>
            <a:ext cx="3959352" cy="603504"/>
          </a:xfrm>
          <a:prstGeom prst="rect">
            <a:avLst/>
          </a:prstGeom>
          <a:solidFill>
            <a:srgbClr val="F5F7FA"/>
          </a:solidFill>
          <a:ln/>
        </p:spPr>
        <p:txBody>
          <a:bodyPr/>
          <a:lstStyle/>
          <a:p>
            <a:endParaRPr lang="fr-FR"/>
          </a:p>
        </p:txBody>
      </p:sp>
      <p:sp>
        <p:nvSpPr>
          <p:cNvPr id="20" name="Text 18"/>
          <p:cNvSpPr/>
          <p:nvPr/>
        </p:nvSpPr>
        <p:spPr>
          <a:xfrm>
            <a:off x="804672" y="2450592"/>
            <a:ext cx="3776472" cy="256032"/>
          </a:xfrm>
          <a:prstGeom prst="rect">
            <a:avLst/>
          </a:prstGeom>
          <a:noFill/>
          <a:ln/>
        </p:spPr>
        <p:txBody>
          <a:bodyPr wrap="square" lIns="0" tIns="0" rIns="0" bIns="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Les dividendes</a:t>
            </a:r>
            <a:endParaRPr lang="en-US" sz="1050" dirty="0"/>
          </a:p>
        </p:txBody>
      </p:sp>
      <p:sp>
        <p:nvSpPr>
          <p:cNvPr id="21" name="Text 19"/>
          <p:cNvSpPr/>
          <p:nvPr/>
        </p:nvSpPr>
        <p:spPr>
          <a:xfrm>
            <a:off x="804672" y="2706624"/>
            <a:ext cx="3776472" cy="237744"/>
          </a:xfrm>
          <a:prstGeom prst="rect">
            <a:avLst/>
          </a:prstGeom>
          <a:noFill/>
          <a:ln/>
        </p:spPr>
        <p:txBody>
          <a:bodyPr wrap="square" lIns="0" tIns="0" rIns="0" bIns="0" rtlCol="0" anchor="t"/>
          <a:lstStyle/>
          <a:p>
            <a:pPr marL="0" indent="0">
              <a:buNone/>
            </a:pPr>
            <a:r>
              <a:rPr lang="en-US" sz="850" dirty="0">
                <a:solidFill>
                  <a:srgbClr val="555F6D"/>
                </a:solidFill>
                <a:latin typeface="Calibri" pitchFamily="34" charset="0"/>
                <a:ea typeface="Calibri" pitchFamily="34" charset="-122"/>
                <a:cs typeface="Calibri" pitchFamily="34" charset="-120"/>
              </a:rPr>
              <a:t>Définition, imposition, prélèvements sociaux</a:t>
            </a:r>
            <a:endParaRPr lang="en-US" sz="850" dirty="0"/>
          </a:p>
        </p:txBody>
      </p:sp>
      <p:sp>
        <p:nvSpPr>
          <p:cNvPr id="22" name="Shape 20"/>
          <p:cNvSpPr/>
          <p:nvPr/>
        </p:nvSpPr>
        <p:spPr>
          <a:xfrm>
            <a:off x="256032" y="3072384"/>
            <a:ext cx="420624" cy="603504"/>
          </a:xfrm>
          <a:prstGeom prst="rect">
            <a:avLst/>
          </a:prstGeom>
          <a:solidFill>
            <a:srgbClr val="0D8A8A"/>
          </a:solidFill>
          <a:ln/>
        </p:spPr>
        <p:txBody>
          <a:bodyPr/>
          <a:lstStyle/>
          <a:p>
            <a:endParaRPr lang="fr-FR"/>
          </a:p>
        </p:txBody>
      </p:sp>
      <p:sp>
        <p:nvSpPr>
          <p:cNvPr id="23" name="Text 21"/>
          <p:cNvSpPr/>
          <p:nvPr/>
        </p:nvSpPr>
        <p:spPr>
          <a:xfrm>
            <a:off x="256032" y="3072384"/>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Shape 22"/>
          <p:cNvSpPr/>
          <p:nvPr/>
        </p:nvSpPr>
        <p:spPr>
          <a:xfrm>
            <a:off x="713232" y="3072384"/>
            <a:ext cx="3959352" cy="603504"/>
          </a:xfrm>
          <a:prstGeom prst="rect">
            <a:avLst/>
          </a:prstGeom>
          <a:solidFill>
            <a:srgbClr val="F5F7FA"/>
          </a:solidFill>
          <a:ln/>
        </p:spPr>
        <p:txBody>
          <a:bodyPr/>
          <a:lstStyle/>
          <a:p>
            <a:endParaRPr lang="fr-FR"/>
          </a:p>
        </p:txBody>
      </p:sp>
      <p:sp>
        <p:nvSpPr>
          <p:cNvPr id="25" name="Text 23"/>
          <p:cNvSpPr/>
          <p:nvPr/>
        </p:nvSpPr>
        <p:spPr>
          <a:xfrm>
            <a:off x="804672" y="3127248"/>
            <a:ext cx="3776472" cy="256032"/>
          </a:xfrm>
          <a:prstGeom prst="rect">
            <a:avLst/>
          </a:prstGeom>
          <a:noFill/>
          <a:ln/>
        </p:spPr>
        <p:txBody>
          <a:bodyPr wrap="square" lIns="0" tIns="0" rIns="0" bIns="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Statuts du conjoint entrepreneur</a:t>
            </a:r>
            <a:endParaRPr lang="en-US" sz="1050" dirty="0"/>
          </a:p>
        </p:txBody>
      </p:sp>
      <p:sp>
        <p:nvSpPr>
          <p:cNvPr id="26" name="Text 24"/>
          <p:cNvSpPr/>
          <p:nvPr/>
        </p:nvSpPr>
        <p:spPr>
          <a:xfrm>
            <a:off x="804672" y="3383280"/>
            <a:ext cx="3776472" cy="237744"/>
          </a:xfrm>
          <a:prstGeom prst="rect">
            <a:avLst/>
          </a:prstGeom>
          <a:noFill/>
          <a:ln/>
        </p:spPr>
        <p:txBody>
          <a:bodyPr wrap="square" lIns="0" tIns="0" rIns="0" bIns="0" rtlCol="0" anchor="t"/>
          <a:lstStyle/>
          <a:p>
            <a:pPr marL="0" indent="0">
              <a:buNone/>
            </a:pPr>
            <a:r>
              <a:rPr lang="en-US" sz="850" dirty="0">
                <a:solidFill>
                  <a:srgbClr val="555F6D"/>
                </a:solidFill>
                <a:latin typeface="Calibri" pitchFamily="34" charset="0"/>
                <a:ea typeface="Calibri" pitchFamily="34" charset="-122"/>
                <a:cs typeface="Calibri" pitchFamily="34" charset="-120"/>
              </a:rPr>
              <a:t>Collaborateur, associé, salarié</a:t>
            </a:r>
            <a:endParaRPr lang="en-US" sz="850" dirty="0"/>
          </a:p>
        </p:txBody>
      </p:sp>
      <p:sp>
        <p:nvSpPr>
          <p:cNvPr id="27" name="Shape 25"/>
          <p:cNvSpPr/>
          <p:nvPr/>
        </p:nvSpPr>
        <p:spPr>
          <a:xfrm>
            <a:off x="256032" y="3749040"/>
            <a:ext cx="420624" cy="603504"/>
          </a:xfrm>
          <a:prstGeom prst="rect">
            <a:avLst/>
          </a:prstGeom>
          <a:solidFill>
            <a:srgbClr val="0D8A8A"/>
          </a:solidFill>
          <a:ln/>
        </p:spPr>
        <p:txBody>
          <a:bodyPr/>
          <a:lstStyle/>
          <a:p>
            <a:endParaRPr lang="fr-FR"/>
          </a:p>
        </p:txBody>
      </p:sp>
      <p:sp>
        <p:nvSpPr>
          <p:cNvPr id="28" name="Text 26"/>
          <p:cNvSpPr/>
          <p:nvPr/>
        </p:nvSpPr>
        <p:spPr>
          <a:xfrm>
            <a:off x="256032" y="3749040"/>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Shape 27"/>
          <p:cNvSpPr/>
          <p:nvPr/>
        </p:nvSpPr>
        <p:spPr>
          <a:xfrm>
            <a:off x="713232" y="3749040"/>
            <a:ext cx="3959352" cy="603504"/>
          </a:xfrm>
          <a:prstGeom prst="rect">
            <a:avLst/>
          </a:prstGeom>
          <a:solidFill>
            <a:srgbClr val="F5F7FA"/>
          </a:solidFill>
          <a:ln/>
        </p:spPr>
        <p:txBody>
          <a:bodyPr/>
          <a:lstStyle/>
          <a:p>
            <a:endParaRPr lang="fr-FR"/>
          </a:p>
        </p:txBody>
      </p:sp>
      <p:sp>
        <p:nvSpPr>
          <p:cNvPr id="30" name="Text 28"/>
          <p:cNvSpPr/>
          <p:nvPr/>
        </p:nvSpPr>
        <p:spPr>
          <a:xfrm>
            <a:off x="804672" y="3803904"/>
            <a:ext cx="3776472" cy="256032"/>
          </a:xfrm>
          <a:prstGeom prst="rect">
            <a:avLst/>
          </a:prstGeom>
          <a:noFill/>
          <a:ln/>
        </p:spPr>
        <p:txBody>
          <a:bodyPr wrap="square" lIns="0" tIns="0" rIns="0" bIns="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CMA, CGA &amp; Expert-comptable</a:t>
            </a:r>
            <a:endParaRPr lang="en-US" sz="1050" dirty="0"/>
          </a:p>
        </p:txBody>
      </p:sp>
      <p:sp>
        <p:nvSpPr>
          <p:cNvPr id="31" name="Text 29"/>
          <p:cNvSpPr/>
          <p:nvPr/>
        </p:nvSpPr>
        <p:spPr>
          <a:xfrm>
            <a:off x="804672" y="4059936"/>
            <a:ext cx="3776472" cy="237744"/>
          </a:xfrm>
          <a:prstGeom prst="rect">
            <a:avLst/>
          </a:prstGeom>
          <a:noFill/>
          <a:ln/>
        </p:spPr>
        <p:txBody>
          <a:bodyPr wrap="square" lIns="0" tIns="0" rIns="0" bIns="0" rtlCol="0" anchor="t"/>
          <a:lstStyle/>
          <a:p>
            <a:pPr marL="0" indent="0">
              <a:buNone/>
            </a:pPr>
            <a:r>
              <a:rPr lang="en-US" sz="850" dirty="0">
                <a:solidFill>
                  <a:srgbClr val="555F6D"/>
                </a:solidFill>
                <a:latin typeface="Calibri" pitchFamily="34" charset="0"/>
                <a:ea typeface="Calibri" pitchFamily="34" charset="-122"/>
                <a:cs typeface="Calibri" pitchFamily="34" charset="-120"/>
              </a:rPr>
              <a:t>Missions, certification, hiérarchie</a:t>
            </a:r>
            <a:endParaRPr lang="en-US" sz="850" dirty="0"/>
          </a:p>
        </p:txBody>
      </p:sp>
      <p:sp>
        <p:nvSpPr>
          <p:cNvPr id="32" name="Shape 30"/>
          <p:cNvSpPr/>
          <p:nvPr/>
        </p:nvSpPr>
        <p:spPr>
          <a:xfrm>
            <a:off x="4681728" y="1042416"/>
            <a:ext cx="420624" cy="603504"/>
          </a:xfrm>
          <a:prstGeom prst="rect">
            <a:avLst/>
          </a:prstGeom>
          <a:solidFill>
            <a:srgbClr val="0D8A8A"/>
          </a:solidFill>
          <a:ln/>
        </p:spPr>
        <p:txBody>
          <a:bodyPr/>
          <a:lstStyle/>
          <a:p>
            <a:endParaRPr lang="fr-FR"/>
          </a:p>
        </p:txBody>
      </p:sp>
      <p:sp>
        <p:nvSpPr>
          <p:cNvPr id="33" name="Text 31"/>
          <p:cNvSpPr/>
          <p:nvPr/>
        </p:nvSpPr>
        <p:spPr>
          <a:xfrm>
            <a:off x="4681728" y="1042416"/>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Shape 32"/>
          <p:cNvSpPr/>
          <p:nvPr/>
        </p:nvSpPr>
        <p:spPr>
          <a:xfrm>
            <a:off x="5138928" y="1042416"/>
            <a:ext cx="3959352" cy="603504"/>
          </a:xfrm>
          <a:prstGeom prst="rect">
            <a:avLst/>
          </a:prstGeom>
          <a:solidFill>
            <a:srgbClr val="F5F7FA"/>
          </a:solidFill>
          <a:ln/>
        </p:spPr>
        <p:txBody>
          <a:bodyPr/>
          <a:lstStyle/>
          <a:p>
            <a:endParaRPr lang="fr-FR"/>
          </a:p>
        </p:txBody>
      </p:sp>
      <p:sp>
        <p:nvSpPr>
          <p:cNvPr id="35" name="Text 33"/>
          <p:cNvSpPr/>
          <p:nvPr/>
        </p:nvSpPr>
        <p:spPr>
          <a:xfrm>
            <a:off x="5230368" y="1097280"/>
            <a:ext cx="3776472" cy="256032"/>
          </a:xfrm>
          <a:prstGeom prst="rect">
            <a:avLst/>
          </a:prstGeom>
          <a:noFill/>
          <a:ln/>
        </p:spPr>
        <p:txBody>
          <a:bodyPr wrap="square" lIns="0" tIns="0" rIns="0" bIns="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Les moyens de paiement</a:t>
            </a:r>
            <a:endParaRPr lang="en-US" sz="1050" dirty="0"/>
          </a:p>
        </p:txBody>
      </p:sp>
      <p:sp>
        <p:nvSpPr>
          <p:cNvPr id="36" name="Text 34"/>
          <p:cNvSpPr/>
          <p:nvPr/>
        </p:nvSpPr>
        <p:spPr>
          <a:xfrm>
            <a:off x="5230368" y="1353312"/>
            <a:ext cx="3776472" cy="237744"/>
          </a:xfrm>
          <a:prstGeom prst="rect">
            <a:avLst/>
          </a:prstGeom>
          <a:noFill/>
          <a:ln/>
        </p:spPr>
        <p:txBody>
          <a:bodyPr wrap="square" lIns="0" tIns="0" rIns="0" bIns="0" rtlCol="0" anchor="t"/>
          <a:lstStyle/>
          <a:p>
            <a:pPr marL="0" indent="0">
              <a:buNone/>
            </a:pPr>
            <a:r>
              <a:rPr lang="en-US" sz="850" dirty="0">
                <a:solidFill>
                  <a:srgbClr val="555F6D"/>
                </a:solidFill>
                <a:latin typeface="Calibri" pitchFamily="34" charset="0"/>
                <a:ea typeface="Calibri" pitchFamily="34" charset="-122"/>
                <a:cs typeface="Calibri" pitchFamily="34" charset="-120"/>
              </a:rPr>
              <a:t>Chèque, carte bancaire, espèces</a:t>
            </a:r>
            <a:endParaRPr lang="en-US" sz="850" dirty="0"/>
          </a:p>
        </p:txBody>
      </p:sp>
      <p:sp>
        <p:nvSpPr>
          <p:cNvPr id="37" name="Shape 35"/>
          <p:cNvSpPr/>
          <p:nvPr/>
        </p:nvSpPr>
        <p:spPr>
          <a:xfrm>
            <a:off x="4681728" y="1719072"/>
            <a:ext cx="420624" cy="603504"/>
          </a:xfrm>
          <a:prstGeom prst="rect">
            <a:avLst/>
          </a:prstGeom>
          <a:solidFill>
            <a:srgbClr val="0D8A8A"/>
          </a:solidFill>
          <a:ln/>
        </p:spPr>
        <p:txBody>
          <a:bodyPr/>
          <a:lstStyle/>
          <a:p>
            <a:endParaRPr lang="fr-FR"/>
          </a:p>
        </p:txBody>
      </p:sp>
      <p:sp>
        <p:nvSpPr>
          <p:cNvPr id="38" name="Text 36"/>
          <p:cNvSpPr/>
          <p:nvPr/>
        </p:nvSpPr>
        <p:spPr>
          <a:xfrm>
            <a:off x="4681728" y="1719072"/>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9" name="Shape 37"/>
          <p:cNvSpPr/>
          <p:nvPr/>
        </p:nvSpPr>
        <p:spPr>
          <a:xfrm>
            <a:off x="5138928" y="1719072"/>
            <a:ext cx="3959352" cy="603504"/>
          </a:xfrm>
          <a:prstGeom prst="rect">
            <a:avLst/>
          </a:prstGeom>
          <a:solidFill>
            <a:srgbClr val="F5F7FA"/>
          </a:solidFill>
          <a:ln/>
        </p:spPr>
        <p:txBody>
          <a:bodyPr/>
          <a:lstStyle/>
          <a:p>
            <a:endParaRPr lang="fr-FR"/>
          </a:p>
        </p:txBody>
      </p:sp>
      <p:sp>
        <p:nvSpPr>
          <p:cNvPr id="40" name="Text 38"/>
          <p:cNvSpPr/>
          <p:nvPr/>
        </p:nvSpPr>
        <p:spPr>
          <a:xfrm>
            <a:off x="5230368" y="1773936"/>
            <a:ext cx="3776472" cy="256032"/>
          </a:xfrm>
          <a:prstGeom prst="rect">
            <a:avLst/>
          </a:prstGeom>
          <a:noFill/>
          <a:ln/>
        </p:spPr>
        <p:txBody>
          <a:bodyPr wrap="square" lIns="0" tIns="0" rIns="0" bIns="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Impôt libératoire &amp; Fiche de paie</a:t>
            </a:r>
            <a:endParaRPr lang="en-US" sz="1050" dirty="0"/>
          </a:p>
        </p:txBody>
      </p:sp>
      <p:sp>
        <p:nvSpPr>
          <p:cNvPr id="41" name="Text 39"/>
          <p:cNvSpPr/>
          <p:nvPr/>
        </p:nvSpPr>
        <p:spPr>
          <a:xfrm>
            <a:off x="5230368" y="2029968"/>
            <a:ext cx="3776472" cy="237744"/>
          </a:xfrm>
          <a:prstGeom prst="rect">
            <a:avLst/>
          </a:prstGeom>
          <a:noFill/>
          <a:ln/>
        </p:spPr>
        <p:txBody>
          <a:bodyPr wrap="square" lIns="0" tIns="0" rIns="0" bIns="0" rtlCol="0" anchor="t"/>
          <a:lstStyle/>
          <a:p>
            <a:pPr marL="0" indent="0">
              <a:buNone/>
            </a:pPr>
            <a:endParaRPr lang="en-US" sz="850" dirty="0"/>
          </a:p>
        </p:txBody>
      </p:sp>
      <p:sp>
        <p:nvSpPr>
          <p:cNvPr id="42" name="Shape 40"/>
          <p:cNvSpPr/>
          <p:nvPr/>
        </p:nvSpPr>
        <p:spPr>
          <a:xfrm>
            <a:off x="4681728" y="2395728"/>
            <a:ext cx="420624" cy="603504"/>
          </a:xfrm>
          <a:prstGeom prst="rect">
            <a:avLst/>
          </a:prstGeom>
          <a:solidFill>
            <a:srgbClr val="0D8A8A"/>
          </a:solidFill>
          <a:ln/>
        </p:spPr>
        <p:txBody>
          <a:bodyPr/>
          <a:lstStyle/>
          <a:p>
            <a:endParaRPr lang="fr-FR"/>
          </a:p>
        </p:txBody>
      </p:sp>
      <p:sp>
        <p:nvSpPr>
          <p:cNvPr id="43" name="Text 41"/>
          <p:cNvSpPr/>
          <p:nvPr/>
        </p:nvSpPr>
        <p:spPr>
          <a:xfrm>
            <a:off x="4681728" y="2395728"/>
            <a:ext cx="420624" cy="60350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4" name="Shape 42"/>
          <p:cNvSpPr/>
          <p:nvPr/>
        </p:nvSpPr>
        <p:spPr>
          <a:xfrm>
            <a:off x="5138928" y="2395728"/>
            <a:ext cx="3959352" cy="603504"/>
          </a:xfrm>
          <a:prstGeom prst="rect">
            <a:avLst/>
          </a:prstGeom>
          <a:solidFill>
            <a:srgbClr val="F5F7FA"/>
          </a:solidFill>
          <a:ln/>
        </p:spPr>
        <p:txBody>
          <a:bodyPr/>
          <a:lstStyle/>
          <a:p>
            <a:endParaRPr lang="fr-FR"/>
          </a:p>
        </p:txBody>
      </p:sp>
      <p:sp>
        <p:nvSpPr>
          <p:cNvPr id="45" name="Text 43"/>
          <p:cNvSpPr/>
          <p:nvPr/>
        </p:nvSpPr>
        <p:spPr>
          <a:xfrm>
            <a:off x="5230368" y="2450592"/>
            <a:ext cx="3776472" cy="256032"/>
          </a:xfrm>
          <a:prstGeom prst="rect">
            <a:avLst/>
          </a:prstGeom>
          <a:noFill/>
          <a:ln/>
        </p:spPr>
        <p:txBody>
          <a:bodyPr wrap="square" lIns="0" tIns="0" rIns="0" bIns="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SIG, Fonds de roulement, BFR</a:t>
            </a:r>
            <a:endParaRPr lang="en-US" sz="1050" dirty="0"/>
          </a:p>
        </p:txBody>
      </p:sp>
      <p:sp>
        <p:nvSpPr>
          <p:cNvPr id="46" name="Text 44"/>
          <p:cNvSpPr/>
          <p:nvPr/>
        </p:nvSpPr>
        <p:spPr>
          <a:xfrm>
            <a:off x="5230368" y="2706624"/>
            <a:ext cx="3776472" cy="237744"/>
          </a:xfrm>
          <a:prstGeom prst="rect">
            <a:avLst/>
          </a:prstGeom>
          <a:noFill/>
          <a:ln/>
        </p:spPr>
        <p:txBody>
          <a:bodyPr wrap="square" lIns="0" tIns="0" rIns="0" bIns="0" rtlCol="0" anchor="t"/>
          <a:lstStyle/>
          <a:p>
            <a:pPr marL="0" indent="0">
              <a:buNone/>
            </a:pPr>
            <a:r>
              <a:rPr lang="en-US" sz="850" dirty="0">
                <a:solidFill>
                  <a:srgbClr val="555F6D"/>
                </a:solidFill>
                <a:latin typeface="Calibri" pitchFamily="34" charset="0"/>
                <a:ea typeface="Calibri" pitchFamily="34" charset="-122"/>
                <a:cs typeface="Calibri" pitchFamily="34" charset="-120"/>
              </a:rPr>
              <a:t>Indicateurs de gestion financière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1A3A5C"/>
          </a:solidFill>
          <a:ln/>
        </p:spPr>
        <p:txBody>
          <a:bodyPr/>
          <a:lstStyle/>
          <a:p>
            <a:endParaRPr lang="fr-FR"/>
          </a:p>
        </p:txBody>
      </p:sp>
      <p:sp>
        <p:nvSpPr>
          <p:cNvPr id="3" name="Text 1"/>
          <p:cNvSpPr/>
          <p:nvPr/>
        </p:nvSpPr>
        <p:spPr>
          <a:xfrm>
            <a:off x="365760" y="0"/>
            <a:ext cx="8412480" cy="603504"/>
          </a:xfrm>
          <a:prstGeom prst="rect">
            <a:avLst/>
          </a:prstGeom>
          <a:noFill/>
          <a:ln/>
        </p:spPr>
        <p:txBody>
          <a:bodyPr wrap="square" lIns="0" tIns="0" rIns="0" bIns="0"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Marge, TVA et calcul du prix de vente</a:t>
            </a:r>
            <a:endParaRPr lang="en-US" sz="1900" dirty="0"/>
          </a:p>
        </p:txBody>
      </p:sp>
      <p:sp>
        <p:nvSpPr>
          <p:cNvPr id="4" name="Text 2"/>
          <p:cNvSpPr/>
          <p:nvPr/>
        </p:nvSpPr>
        <p:spPr>
          <a:xfrm>
            <a:off x="365760" y="621792"/>
            <a:ext cx="8412480" cy="329184"/>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Savoir passer du HT au TTC, du TTC au HT, et calculer sa marge</a:t>
            </a:r>
            <a:endParaRPr lang="en-US" sz="1050" dirty="0"/>
          </a:p>
        </p:txBody>
      </p:sp>
      <p:sp>
        <p:nvSpPr>
          <p:cNvPr id="5" name="Text 3"/>
          <p:cNvSpPr/>
          <p:nvPr/>
        </p:nvSpPr>
        <p:spPr>
          <a:xfrm>
            <a:off x="274320" y="4892040"/>
            <a:ext cx="8046720" cy="201168"/>
          </a:xfrm>
          <a:prstGeom prst="rect">
            <a:avLst/>
          </a:prstGeom>
          <a:noFill/>
          <a:ln/>
        </p:spPr>
        <p:txBody>
          <a:bodyPr wrap="square" lIns="0" tIns="0" rIns="0" bIns="0" rtlCol="0" anchor="ctr"/>
          <a:lstStyle/>
          <a:p>
            <a:pPr marL="0" indent="0">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6" name="Text 4"/>
          <p:cNvSpPr/>
          <p:nvPr/>
        </p:nvSpPr>
        <p:spPr>
          <a:xfrm>
            <a:off x="8732520" y="4892040"/>
            <a:ext cx="347472" cy="201168"/>
          </a:xfrm>
          <a:prstGeom prst="rect">
            <a:avLst/>
          </a:prstGeom>
          <a:noFill/>
          <a:ln/>
        </p:spPr>
        <p:txBody>
          <a:bodyPr wrap="square" lIns="0" tIns="0" rIns="0" bIns="0"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27</a:t>
            </a:r>
            <a:endParaRPr lang="en-US" sz="800" dirty="0"/>
          </a:p>
        </p:txBody>
      </p:sp>
      <p:sp>
        <p:nvSpPr>
          <p:cNvPr id="7" name="Shape 5"/>
          <p:cNvSpPr/>
          <p:nvPr/>
        </p:nvSpPr>
        <p:spPr>
          <a:xfrm>
            <a:off x="274320" y="1005840"/>
            <a:ext cx="8595360" cy="256032"/>
          </a:xfrm>
          <a:prstGeom prst="rect">
            <a:avLst/>
          </a:prstGeom>
          <a:solidFill>
            <a:srgbClr val="0D8A8A"/>
          </a:solidFill>
          <a:ln/>
        </p:spPr>
        <p:txBody>
          <a:bodyPr/>
          <a:lstStyle/>
          <a:p>
            <a:endParaRPr lang="fr-FR"/>
          </a:p>
        </p:txBody>
      </p:sp>
      <p:sp>
        <p:nvSpPr>
          <p:cNvPr id="8" name="Text 6"/>
          <p:cNvSpPr/>
          <p:nvPr/>
        </p:nvSpPr>
        <p:spPr>
          <a:xfrm>
            <a:off x="347472" y="1005840"/>
            <a:ext cx="841248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CALCUL DE LA TVA  —  Taux VTC / Taxi = 10 %</a:t>
            </a:r>
            <a:endParaRPr lang="en-US" sz="1100" dirty="0"/>
          </a:p>
        </p:txBody>
      </p:sp>
      <p:sp>
        <p:nvSpPr>
          <p:cNvPr id="9" name="Shape 7"/>
          <p:cNvSpPr/>
          <p:nvPr/>
        </p:nvSpPr>
        <p:spPr>
          <a:xfrm>
            <a:off x="274320" y="1316736"/>
            <a:ext cx="2798064" cy="1426464"/>
          </a:xfrm>
          <a:prstGeom prst="rect">
            <a:avLst/>
          </a:prstGeom>
          <a:solidFill>
            <a:srgbClr val="F0F4F8"/>
          </a:solidFill>
          <a:ln/>
        </p:spPr>
        <p:txBody>
          <a:bodyPr/>
          <a:lstStyle/>
          <a:p>
            <a:endParaRPr lang="fr-FR"/>
          </a:p>
        </p:txBody>
      </p:sp>
      <p:sp>
        <p:nvSpPr>
          <p:cNvPr id="10" name="Shape 8"/>
          <p:cNvSpPr/>
          <p:nvPr/>
        </p:nvSpPr>
        <p:spPr>
          <a:xfrm>
            <a:off x="274320" y="1316736"/>
            <a:ext cx="2798064" cy="219456"/>
          </a:xfrm>
          <a:prstGeom prst="rect">
            <a:avLst/>
          </a:prstGeom>
          <a:solidFill>
            <a:srgbClr val="2980B9"/>
          </a:solidFill>
          <a:ln/>
        </p:spPr>
        <p:txBody>
          <a:bodyPr/>
          <a:lstStyle/>
          <a:p>
            <a:endParaRPr lang="fr-FR"/>
          </a:p>
        </p:txBody>
      </p:sp>
      <p:sp>
        <p:nvSpPr>
          <p:cNvPr id="11" name="Text 9"/>
          <p:cNvSpPr/>
          <p:nvPr/>
        </p:nvSpPr>
        <p:spPr>
          <a:xfrm>
            <a:off x="329184" y="1316736"/>
            <a:ext cx="2688336" cy="219456"/>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Je connais le HT → trouver le TTC</a:t>
            </a:r>
            <a:endParaRPr lang="en-US" sz="850" dirty="0"/>
          </a:p>
        </p:txBody>
      </p:sp>
      <p:sp>
        <p:nvSpPr>
          <p:cNvPr id="12" name="Text 10"/>
          <p:cNvSpPr/>
          <p:nvPr/>
        </p:nvSpPr>
        <p:spPr>
          <a:xfrm>
            <a:off x="347472" y="1572768"/>
            <a:ext cx="2651760" cy="1133856"/>
          </a:xfrm>
          <a:prstGeom prst="rect">
            <a:avLst/>
          </a:prstGeom>
          <a:noFill/>
          <a:ln/>
        </p:spPr>
        <p:txBody>
          <a:bodyPr wrap="square" lIns="0" tIns="0" rIns="0" bIns="0" rtlCol="0" anchor="t"/>
          <a:lstStyle/>
          <a:p>
            <a:pPr marL="0" indent="0">
              <a:buNone/>
            </a:pPr>
            <a:r>
              <a:rPr lang="en-US" sz="900" b="1" dirty="0">
                <a:solidFill>
                  <a:srgbClr val="1A3A5C"/>
                </a:solidFill>
              </a:rPr>
              <a:t>Formule :</a:t>
            </a:r>
            <a:endParaRPr lang="en-US" sz="900" dirty="0"/>
          </a:p>
          <a:p>
            <a:pPr marL="0" indent="0">
              <a:buNone/>
            </a:pPr>
            <a:r>
              <a:rPr lang="en-US" sz="1200" b="1" dirty="0">
                <a:solidFill>
                  <a:srgbClr val="1A3A5C"/>
                </a:solidFill>
                <a:latin typeface="Consolas" pitchFamily="34" charset="0"/>
                <a:ea typeface="Consolas" pitchFamily="34" charset="-122"/>
                <a:cs typeface="Consolas" pitchFamily="34" charset="-120"/>
              </a:rPr>
              <a:t>TTC = HT × 1,10</a:t>
            </a:r>
            <a:endParaRPr lang="en-US" sz="900" dirty="0"/>
          </a:p>
          <a:p>
            <a:pPr marL="0" indent="0">
              <a:buNone/>
            </a:pPr>
            <a:r>
              <a:rPr lang="en-US" sz="1000" dirty="0">
                <a:solidFill>
                  <a:srgbClr val="1E2D3D"/>
                </a:solidFill>
                <a:latin typeface="Consolas" pitchFamily="34" charset="0"/>
                <a:ea typeface="Consolas" pitchFamily="34" charset="-122"/>
                <a:cs typeface="Consolas" pitchFamily="34" charset="-120"/>
              </a:rPr>
              <a:t>TVA = HT × 0,10</a:t>
            </a:r>
            <a:endParaRPr lang="en-US" sz="900" dirty="0"/>
          </a:p>
          <a:p>
            <a:pPr marL="0" indent="0">
              <a:buNone/>
            </a:pPr>
            <a:endParaRPr lang="en-US" sz="900" dirty="0"/>
          </a:p>
          <a:p>
            <a:pPr marL="0" indent="0">
              <a:buNone/>
            </a:pPr>
            <a:r>
              <a:rPr lang="en-US" sz="900" b="1" dirty="0">
                <a:solidFill>
                  <a:srgbClr val="000000"/>
                </a:solidFill>
              </a:rPr>
              <a:t>📌 Exemple :</a:t>
            </a:r>
            <a:endParaRPr lang="en-US" sz="900" dirty="0"/>
          </a:p>
          <a:p>
            <a:pPr marL="0" indent="0">
              <a:buNone/>
            </a:pPr>
            <a:r>
              <a:rPr lang="en-US" sz="900" dirty="0">
                <a:solidFill>
                  <a:srgbClr val="000000"/>
                </a:solidFill>
              </a:rPr>
              <a:t>Course facturée 80 € HT</a:t>
            </a:r>
            <a:endParaRPr lang="en-US" sz="900" dirty="0"/>
          </a:p>
          <a:p>
            <a:pPr marL="0" indent="0">
              <a:buNone/>
            </a:pPr>
            <a:r>
              <a:rPr lang="en-US" sz="950" dirty="0">
                <a:solidFill>
                  <a:srgbClr val="000000"/>
                </a:solidFill>
                <a:latin typeface="Consolas" pitchFamily="34" charset="0"/>
                <a:ea typeface="Consolas" pitchFamily="34" charset="-122"/>
                <a:cs typeface="Consolas" pitchFamily="34" charset="-120"/>
              </a:rPr>
              <a:t>TVA = 80 × 0,10 = 8 €</a:t>
            </a:r>
            <a:endParaRPr lang="en-US" sz="900" dirty="0"/>
          </a:p>
          <a:p>
            <a:pPr marL="0" indent="0">
              <a:buNone/>
            </a:pPr>
            <a:r>
              <a:rPr lang="en-US" sz="950" b="1" dirty="0">
                <a:solidFill>
                  <a:srgbClr val="2980B9"/>
                </a:solidFill>
                <a:latin typeface="Consolas" pitchFamily="34" charset="0"/>
                <a:ea typeface="Consolas" pitchFamily="34" charset="-122"/>
                <a:cs typeface="Consolas" pitchFamily="34" charset="-120"/>
              </a:rPr>
              <a:t>TTC = 80 × 1,10 = 88 €</a:t>
            </a:r>
            <a:endParaRPr lang="en-US" sz="900" dirty="0"/>
          </a:p>
        </p:txBody>
      </p:sp>
      <p:sp>
        <p:nvSpPr>
          <p:cNvPr id="13" name="Shape 11"/>
          <p:cNvSpPr/>
          <p:nvPr/>
        </p:nvSpPr>
        <p:spPr>
          <a:xfrm>
            <a:off x="3172968" y="1316736"/>
            <a:ext cx="2798064" cy="1426464"/>
          </a:xfrm>
          <a:prstGeom prst="rect">
            <a:avLst/>
          </a:prstGeom>
          <a:solidFill>
            <a:srgbClr val="F0F4F8"/>
          </a:solidFill>
          <a:ln/>
        </p:spPr>
        <p:txBody>
          <a:bodyPr/>
          <a:lstStyle/>
          <a:p>
            <a:endParaRPr lang="fr-FR"/>
          </a:p>
        </p:txBody>
      </p:sp>
      <p:sp>
        <p:nvSpPr>
          <p:cNvPr id="14" name="Shape 12"/>
          <p:cNvSpPr/>
          <p:nvPr/>
        </p:nvSpPr>
        <p:spPr>
          <a:xfrm>
            <a:off x="3172968" y="1316736"/>
            <a:ext cx="2798064" cy="219456"/>
          </a:xfrm>
          <a:prstGeom prst="rect">
            <a:avLst/>
          </a:prstGeom>
          <a:solidFill>
            <a:srgbClr val="C05621"/>
          </a:solidFill>
          <a:ln/>
        </p:spPr>
        <p:txBody>
          <a:bodyPr/>
          <a:lstStyle/>
          <a:p>
            <a:endParaRPr lang="fr-FR"/>
          </a:p>
        </p:txBody>
      </p:sp>
      <p:sp>
        <p:nvSpPr>
          <p:cNvPr id="15" name="Text 13"/>
          <p:cNvSpPr/>
          <p:nvPr/>
        </p:nvSpPr>
        <p:spPr>
          <a:xfrm>
            <a:off x="3227832" y="1316736"/>
            <a:ext cx="2688336" cy="219456"/>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Je connais le TTC → trouver le HT</a:t>
            </a:r>
            <a:endParaRPr lang="en-US" sz="850" dirty="0"/>
          </a:p>
        </p:txBody>
      </p:sp>
      <p:sp>
        <p:nvSpPr>
          <p:cNvPr id="16" name="Text 14"/>
          <p:cNvSpPr/>
          <p:nvPr/>
        </p:nvSpPr>
        <p:spPr>
          <a:xfrm>
            <a:off x="3246120" y="1572768"/>
            <a:ext cx="2651760" cy="1133856"/>
          </a:xfrm>
          <a:prstGeom prst="rect">
            <a:avLst/>
          </a:prstGeom>
          <a:noFill/>
          <a:ln/>
        </p:spPr>
        <p:txBody>
          <a:bodyPr wrap="square" lIns="0" tIns="0" rIns="0" bIns="0" rtlCol="0" anchor="t"/>
          <a:lstStyle/>
          <a:p>
            <a:pPr marL="0" indent="0">
              <a:buNone/>
            </a:pPr>
            <a:r>
              <a:rPr lang="en-US" sz="900" b="1" dirty="0">
                <a:solidFill>
                  <a:srgbClr val="1A3A5C"/>
                </a:solidFill>
              </a:rPr>
              <a:t>Formule :</a:t>
            </a:r>
            <a:endParaRPr lang="en-US" sz="900" dirty="0"/>
          </a:p>
          <a:p>
            <a:pPr marL="0" indent="0">
              <a:buNone/>
            </a:pPr>
            <a:r>
              <a:rPr lang="en-US" sz="1200" b="1" dirty="0">
                <a:solidFill>
                  <a:srgbClr val="1A3A5C"/>
                </a:solidFill>
                <a:latin typeface="Consolas" pitchFamily="34" charset="0"/>
                <a:ea typeface="Consolas" pitchFamily="34" charset="-122"/>
                <a:cs typeface="Consolas" pitchFamily="34" charset="-120"/>
              </a:rPr>
              <a:t>HT = TTC ÷ 1,10</a:t>
            </a:r>
            <a:endParaRPr lang="en-US" sz="900" dirty="0"/>
          </a:p>
          <a:p>
            <a:pPr marL="0" indent="0">
              <a:buNone/>
            </a:pPr>
            <a:r>
              <a:rPr lang="en-US" sz="1000" dirty="0">
                <a:solidFill>
                  <a:srgbClr val="1E2D3D"/>
                </a:solidFill>
                <a:latin typeface="Consolas" pitchFamily="34" charset="0"/>
                <a:ea typeface="Consolas" pitchFamily="34" charset="-122"/>
                <a:cs typeface="Consolas" pitchFamily="34" charset="-120"/>
              </a:rPr>
              <a:t>TVA = TTC − HT</a:t>
            </a:r>
            <a:endParaRPr lang="en-US" sz="900" dirty="0"/>
          </a:p>
          <a:p>
            <a:pPr marL="0" indent="0">
              <a:buNone/>
            </a:pPr>
            <a:endParaRPr lang="en-US" sz="900" dirty="0"/>
          </a:p>
          <a:p>
            <a:pPr marL="0" indent="0">
              <a:buNone/>
            </a:pPr>
            <a:r>
              <a:rPr lang="en-US" sz="900" b="1" dirty="0">
                <a:solidFill>
                  <a:srgbClr val="000000"/>
                </a:solidFill>
              </a:rPr>
              <a:t>📌 Exemple :</a:t>
            </a:r>
            <a:endParaRPr lang="en-US" sz="900" dirty="0"/>
          </a:p>
          <a:p>
            <a:pPr marL="0" indent="0">
              <a:buNone/>
            </a:pPr>
            <a:r>
              <a:rPr lang="en-US" sz="900" dirty="0">
                <a:solidFill>
                  <a:srgbClr val="000000"/>
                </a:solidFill>
              </a:rPr>
              <a:t>Compteur affiche 88 € TTC</a:t>
            </a:r>
            <a:endParaRPr lang="en-US" sz="900" dirty="0"/>
          </a:p>
          <a:p>
            <a:pPr marL="0" indent="0">
              <a:buNone/>
            </a:pPr>
            <a:r>
              <a:rPr lang="en-US" sz="950" b="1" dirty="0">
                <a:solidFill>
                  <a:srgbClr val="C05621"/>
                </a:solidFill>
                <a:latin typeface="Consolas" pitchFamily="34" charset="0"/>
                <a:ea typeface="Consolas" pitchFamily="34" charset="-122"/>
                <a:cs typeface="Consolas" pitchFamily="34" charset="-120"/>
              </a:rPr>
              <a:t>HT  = 88 ÷ 1,10 = 80 €</a:t>
            </a:r>
            <a:endParaRPr lang="en-US" sz="900" dirty="0"/>
          </a:p>
          <a:p>
            <a:pPr marL="0" indent="0">
              <a:buNone/>
            </a:pPr>
            <a:r>
              <a:rPr lang="en-US" sz="950" dirty="0">
                <a:solidFill>
                  <a:srgbClr val="000000"/>
                </a:solidFill>
                <a:latin typeface="Consolas" pitchFamily="34" charset="0"/>
                <a:ea typeface="Consolas" pitchFamily="34" charset="-122"/>
                <a:cs typeface="Consolas" pitchFamily="34" charset="-120"/>
              </a:rPr>
              <a:t>TVA = 88 − 80 = 8 €</a:t>
            </a:r>
            <a:endParaRPr lang="en-US" sz="900" dirty="0"/>
          </a:p>
        </p:txBody>
      </p:sp>
      <p:sp>
        <p:nvSpPr>
          <p:cNvPr id="17" name="Shape 15"/>
          <p:cNvSpPr/>
          <p:nvPr/>
        </p:nvSpPr>
        <p:spPr>
          <a:xfrm>
            <a:off x="6071616" y="1316736"/>
            <a:ext cx="2798064" cy="1426464"/>
          </a:xfrm>
          <a:prstGeom prst="rect">
            <a:avLst/>
          </a:prstGeom>
          <a:solidFill>
            <a:srgbClr val="F0F4F8"/>
          </a:solidFill>
          <a:ln/>
        </p:spPr>
        <p:txBody>
          <a:bodyPr/>
          <a:lstStyle/>
          <a:p>
            <a:endParaRPr lang="fr-FR"/>
          </a:p>
        </p:txBody>
      </p:sp>
      <p:sp>
        <p:nvSpPr>
          <p:cNvPr id="18" name="Shape 16"/>
          <p:cNvSpPr/>
          <p:nvPr/>
        </p:nvSpPr>
        <p:spPr>
          <a:xfrm>
            <a:off x="6071616" y="1316736"/>
            <a:ext cx="2798064" cy="219456"/>
          </a:xfrm>
          <a:prstGeom prst="rect">
            <a:avLst/>
          </a:prstGeom>
          <a:solidFill>
            <a:srgbClr val="0D8A8A"/>
          </a:solidFill>
          <a:ln/>
        </p:spPr>
        <p:txBody>
          <a:bodyPr/>
          <a:lstStyle/>
          <a:p>
            <a:endParaRPr lang="fr-FR"/>
          </a:p>
        </p:txBody>
      </p:sp>
      <p:sp>
        <p:nvSpPr>
          <p:cNvPr id="19" name="Text 17"/>
          <p:cNvSpPr/>
          <p:nvPr/>
        </p:nvSpPr>
        <p:spPr>
          <a:xfrm>
            <a:off x="6126480" y="1316736"/>
            <a:ext cx="2688336" cy="219456"/>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Calculer le montant de TVA</a:t>
            </a:r>
            <a:endParaRPr lang="en-US" sz="850" dirty="0"/>
          </a:p>
        </p:txBody>
      </p:sp>
      <p:sp>
        <p:nvSpPr>
          <p:cNvPr id="20" name="Text 18"/>
          <p:cNvSpPr/>
          <p:nvPr/>
        </p:nvSpPr>
        <p:spPr>
          <a:xfrm>
            <a:off x="6144768" y="1572768"/>
            <a:ext cx="2651760" cy="1133856"/>
          </a:xfrm>
          <a:prstGeom prst="rect">
            <a:avLst/>
          </a:prstGeom>
          <a:noFill/>
          <a:ln/>
        </p:spPr>
        <p:txBody>
          <a:bodyPr wrap="square" lIns="0" tIns="0" rIns="0" bIns="0" rtlCol="0" anchor="t"/>
          <a:lstStyle/>
          <a:p>
            <a:pPr marL="0" indent="0">
              <a:buNone/>
            </a:pPr>
            <a:r>
              <a:rPr lang="en-US" sz="900" b="1" dirty="0">
                <a:solidFill>
                  <a:srgbClr val="1A3A5C"/>
                </a:solidFill>
              </a:rPr>
              <a:t>À partir du HT :</a:t>
            </a:r>
            <a:endParaRPr lang="en-US" sz="900" dirty="0"/>
          </a:p>
          <a:p>
            <a:pPr marL="0" indent="0">
              <a:buNone/>
            </a:pPr>
            <a:r>
              <a:rPr lang="en-US" sz="1000" b="1" dirty="0">
                <a:solidFill>
                  <a:srgbClr val="1A3A5C"/>
                </a:solidFill>
                <a:latin typeface="Consolas" pitchFamily="34" charset="0"/>
                <a:ea typeface="Consolas" pitchFamily="34" charset="-122"/>
                <a:cs typeface="Consolas" pitchFamily="34" charset="-120"/>
              </a:rPr>
              <a:t>TVA = HT × 0,10</a:t>
            </a:r>
            <a:endParaRPr lang="en-US" sz="900" dirty="0"/>
          </a:p>
          <a:p>
            <a:pPr marL="0" indent="0">
              <a:buNone/>
            </a:pPr>
            <a:r>
              <a:rPr lang="en-US" sz="900" dirty="0">
                <a:solidFill>
                  <a:srgbClr val="555F6D"/>
                </a:solidFill>
              </a:rPr>
              <a:t>→ 80 × 0,10 = 8 €</a:t>
            </a:r>
            <a:endParaRPr lang="en-US" sz="900" dirty="0"/>
          </a:p>
          <a:p>
            <a:pPr marL="0" indent="0">
              <a:buNone/>
            </a:pPr>
            <a:endParaRPr lang="en-US" sz="900" dirty="0"/>
          </a:p>
          <a:p>
            <a:pPr marL="0" indent="0">
              <a:buNone/>
            </a:pPr>
            <a:r>
              <a:rPr lang="en-US" sz="900" b="1" dirty="0">
                <a:solidFill>
                  <a:srgbClr val="1A3A5C"/>
                </a:solidFill>
              </a:rPr>
              <a:t>À partir du TTC :</a:t>
            </a:r>
            <a:endParaRPr lang="en-US" sz="900" dirty="0"/>
          </a:p>
          <a:p>
            <a:pPr marL="0" indent="0">
              <a:buNone/>
            </a:pPr>
            <a:r>
              <a:rPr lang="en-US" sz="1000" b="1" dirty="0">
                <a:solidFill>
                  <a:srgbClr val="1A3A5C"/>
                </a:solidFill>
                <a:latin typeface="Consolas" pitchFamily="34" charset="0"/>
                <a:ea typeface="Consolas" pitchFamily="34" charset="-122"/>
                <a:cs typeface="Consolas" pitchFamily="34" charset="-120"/>
              </a:rPr>
              <a:t>TVA = TTC − (TTC ÷ 1,10)</a:t>
            </a:r>
            <a:endParaRPr lang="en-US" sz="900" dirty="0"/>
          </a:p>
          <a:p>
            <a:pPr marL="0" indent="0">
              <a:buNone/>
            </a:pPr>
            <a:r>
              <a:rPr lang="en-US" sz="900" dirty="0">
                <a:solidFill>
                  <a:srgbClr val="555F6D"/>
                </a:solidFill>
              </a:rPr>
              <a:t>→ 88 − (88÷1,10) = 88 − 80 = 8 €</a:t>
            </a:r>
            <a:endParaRPr lang="en-US" sz="900" dirty="0"/>
          </a:p>
          <a:p>
            <a:pPr marL="0" indent="0">
              <a:buNone/>
            </a:pPr>
            <a:endParaRPr lang="en-US" sz="900" dirty="0"/>
          </a:p>
          <a:p>
            <a:pPr marL="0" indent="0">
              <a:buNone/>
            </a:pPr>
            <a:r>
              <a:rPr lang="en-US" sz="850" i="1" dirty="0">
                <a:solidFill>
                  <a:srgbClr val="0D8A8A"/>
                </a:solidFill>
              </a:rPr>
              <a:t>Vous reversez la TVA à l'État</a:t>
            </a:r>
            <a:endParaRPr lang="en-US" sz="900" dirty="0"/>
          </a:p>
        </p:txBody>
      </p:sp>
      <p:sp>
        <p:nvSpPr>
          <p:cNvPr id="21" name="Shape 19"/>
          <p:cNvSpPr/>
          <p:nvPr/>
        </p:nvSpPr>
        <p:spPr>
          <a:xfrm>
            <a:off x="274320" y="2834640"/>
            <a:ext cx="8595360" cy="237744"/>
          </a:xfrm>
          <a:prstGeom prst="rect">
            <a:avLst/>
          </a:prstGeom>
          <a:solidFill>
            <a:srgbClr val="2A5580"/>
          </a:solidFill>
          <a:ln/>
        </p:spPr>
        <p:txBody>
          <a:bodyPr/>
          <a:lstStyle/>
          <a:p>
            <a:endParaRPr lang="fr-FR"/>
          </a:p>
        </p:txBody>
      </p:sp>
      <p:sp>
        <p:nvSpPr>
          <p:cNvPr id="22" name="Text 20"/>
          <p:cNvSpPr/>
          <p:nvPr/>
        </p:nvSpPr>
        <p:spPr>
          <a:xfrm>
            <a:off x="347472" y="2834640"/>
            <a:ext cx="8412480" cy="23774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LA MARGE  —  Ce qui reste après avoir payé le coût de revient</a:t>
            </a:r>
            <a:endParaRPr lang="en-US" sz="1000" dirty="0"/>
          </a:p>
        </p:txBody>
      </p:sp>
      <p:sp>
        <p:nvSpPr>
          <p:cNvPr id="23" name="Shape 21"/>
          <p:cNvSpPr/>
          <p:nvPr/>
        </p:nvSpPr>
        <p:spPr>
          <a:xfrm>
            <a:off x="274320" y="3127248"/>
            <a:ext cx="4160520" cy="987552"/>
          </a:xfrm>
          <a:prstGeom prst="rect">
            <a:avLst/>
          </a:prstGeom>
          <a:solidFill>
            <a:srgbClr val="F0F4F8"/>
          </a:solidFill>
          <a:ln/>
        </p:spPr>
        <p:txBody>
          <a:bodyPr/>
          <a:lstStyle/>
          <a:p>
            <a:endParaRPr lang="fr-FR"/>
          </a:p>
        </p:txBody>
      </p:sp>
      <p:sp>
        <p:nvSpPr>
          <p:cNvPr id="24" name="Shape 22"/>
          <p:cNvSpPr/>
          <p:nvPr/>
        </p:nvSpPr>
        <p:spPr>
          <a:xfrm>
            <a:off x="274320" y="3127248"/>
            <a:ext cx="4160520" cy="219456"/>
          </a:xfrm>
          <a:prstGeom prst="rect">
            <a:avLst/>
          </a:prstGeom>
          <a:solidFill>
            <a:srgbClr val="276749"/>
          </a:solidFill>
          <a:ln/>
        </p:spPr>
        <p:txBody>
          <a:bodyPr/>
          <a:lstStyle/>
          <a:p>
            <a:endParaRPr lang="fr-FR"/>
          </a:p>
        </p:txBody>
      </p:sp>
      <p:sp>
        <p:nvSpPr>
          <p:cNvPr id="25" name="Text 23"/>
          <p:cNvSpPr/>
          <p:nvPr/>
        </p:nvSpPr>
        <p:spPr>
          <a:xfrm>
            <a:off x="347472" y="3127248"/>
            <a:ext cx="4014216"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Exemple : % sur le coût de revient</a:t>
            </a:r>
            <a:endParaRPr lang="en-US" sz="900" dirty="0"/>
          </a:p>
        </p:txBody>
      </p:sp>
      <p:sp>
        <p:nvSpPr>
          <p:cNvPr id="26" name="Text 24"/>
          <p:cNvSpPr/>
          <p:nvPr/>
        </p:nvSpPr>
        <p:spPr>
          <a:xfrm>
            <a:off x="384048" y="3383280"/>
            <a:ext cx="3941064" cy="694944"/>
          </a:xfrm>
          <a:prstGeom prst="rect">
            <a:avLst/>
          </a:prstGeom>
          <a:noFill/>
          <a:ln/>
        </p:spPr>
        <p:txBody>
          <a:bodyPr wrap="square" lIns="0" tIns="0" rIns="0" bIns="0" rtlCol="0" anchor="t"/>
          <a:lstStyle/>
          <a:p>
            <a:pPr marL="0" indent="0">
              <a:buNone/>
            </a:pPr>
            <a:r>
              <a:rPr lang="en-US" sz="850" b="1" dirty="0">
                <a:solidFill>
                  <a:srgbClr val="000000"/>
                </a:solidFill>
              </a:rPr>
              <a:t>Coût = 40 €  |  Prix de vente = 60 € HT</a:t>
            </a:r>
            <a:endParaRPr lang="en-US" sz="850" dirty="0"/>
          </a:p>
          <a:p>
            <a:pPr marL="0" indent="0">
              <a:buNone/>
            </a:pPr>
            <a:r>
              <a:rPr lang="en-US" sz="1000" b="1" dirty="0">
                <a:solidFill>
                  <a:srgbClr val="276749"/>
                </a:solidFill>
                <a:latin typeface="Consolas" pitchFamily="34" charset="0"/>
                <a:ea typeface="Consolas" pitchFamily="34" charset="-122"/>
                <a:cs typeface="Consolas" pitchFamily="34" charset="-120"/>
              </a:rPr>
              <a:t>Marge = 60 − 40 = 20 €</a:t>
            </a:r>
            <a:endParaRPr lang="en-US" sz="850" dirty="0"/>
          </a:p>
          <a:p>
            <a:pPr marL="0" indent="0">
              <a:buNone/>
            </a:pPr>
            <a:r>
              <a:rPr lang="en-US" sz="1000" dirty="0">
                <a:solidFill>
                  <a:srgbClr val="000000"/>
                </a:solidFill>
                <a:latin typeface="Consolas" pitchFamily="34" charset="0"/>
                <a:ea typeface="Consolas" pitchFamily="34" charset="-122"/>
                <a:cs typeface="Consolas" pitchFamily="34" charset="-120"/>
              </a:rPr>
              <a:t>% marge = (20 ÷ 40) × 100 = 50 %</a:t>
            </a:r>
            <a:endParaRPr lang="en-US" sz="850" dirty="0"/>
          </a:p>
          <a:p>
            <a:pPr marL="0" indent="0">
              <a:buNone/>
            </a:pPr>
            <a:r>
              <a:rPr lang="en-US" sz="850" i="1" dirty="0">
                <a:solidFill>
                  <a:srgbClr val="276749"/>
                </a:solidFill>
              </a:rPr>
              <a:t>→ Sur chaque € dépensé, 0,50 € de marge</a:t>
            </a:r>
            <a:endParaRPr lang="en-US" sz="850" dirty="0"/>
          </a:p>
        </p:txBody>
      </p:sp>
      <p:sp>
        <p:nvSpPr>
          <p:cNvPr id="27" name="Shape 25"/>
          <p:cNvSpPr/>
          <p:nvPr/>
        </p:nvSpPr>
        <p:spPr>
          <a:xfrm>
            <a:off x="4709160" y="3127248"/>
            <a:ext cx="4160520" cy="987552"/>
          </a:xfrm>
          <a:prstGeom prst="rect">
            <a:avLst/>
          </a:prstGeom>
          <a:solidFill>
            <a:srgbClr val="F0F4F8"/>
          </a:solidFill>
          <a:ln/>
        </p:spPr>
        <p:txBody>
          <a:bodyPr/>
          <a:lstStyle/>
          <a:p>
            <a:endParaRPr lang="fr-FR"/>
          </a:p>
        </p:txBody>
      </p:sp>
      <p:sp>
        <p:nvSpPr>
          <p:cNvPr id="28" name="Shape 26"/>
          <p:cNvSpPr/>
          <p:nvPr/>
        </p:nvSpPr>
        <p:spPr>
          <a:xfrm>
            <a:off x="4709160" y="3127248"/>
            <a:ext cx="4160520" cy="219456"/>
          </a:xfrm>
          <a:prstGeom prst="rect">
            <a:avLst/>
          </a:prstGeom>
          <a:solidFill>
            <a:srgbClr val="C05621"/>
          </a:solidFill>
          <a:ln/>
        </p:spPr>
        <p:txBody>
          <a:bodyPr/>
          <a:lstStyle/>
          <a:p>
            <a:endParaRPr lang="fr-FR"/>
          </a:p>
        </p:txBody>
      </p:sp>
      <p:sp>
        <p:nvSpPr>
          <p:cNvPr id="29" name="Text 27"/>
          <p:cNvSpPr/>
          <p:nvPr/>
        </p:nvSpPr>
        <p:spPr>
          <a:xfrm>
            <a:off x="4782312" y="3127248"/>
            <a:ext cx="4014216" cy="21945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Exemple : % sur le chiffre d'affaires</a:t>
            </a:r>
            <a:endParaRPr lang="en-US" sz="900" dirty="0"/>
          </a:p>
        </p:txBody>
      </p:sp>
      <p:sp>
        <p:nvSpPr>
          <p:cNvPr id="30" name="Text 28"/>
          <p:cNvSpPr/>
          <p:nvPr/>
        </p:nvSpPr>
        <p:spPr>
          <a:xfrm>
            <a:off x="4818888" y="3383280"/>
            <a:ext cx="3941064" cy="694944"/>
          </a:xfrm>
          <a:prstGeom prst="rect">
            <a:avLst/>
          </a:prstGeom>
          <a:noFill/>
          <a:ln/>
        </p:spPr>
        <p:txBody>
          <a:bodyPr wrap="square" lIns="0" tIns="0" rIns="0" bIns="0" rtlCol="0" anchor="t"/>
          <a:lstStyle/>
          <a:p>
            <a:pPr marL="0" indent="0">
              <a:buNone/>
            </a:pPr>
            <a:r>
              <a:rPr lang="en-US" sz="850" b="1" dirty="0">
                <a:solidFill>
                  <a:srgbClr val="000000"/>
                </a:solidFill>
              </a:rPr>
              <a:t>Mêmes données : Marge = 20 €  |  CA = 60 €</a:t>
            </a:r>
            <a:endParaRPr lang="en-US" sz="850" dirty="0"/>
          </a:p>
          <a:p>
            <a:pPr marL="0" indent="0">
              <a:buNone/>
            </a:pPr>
            <a:r>
              <a:rPr lang="en-US" sz="1000" dirty="0">
                <a:solidFill>
                  <a:srgbClr val="000000"/>
                </a:solidFill>
                <a:latin typeface="Consolas" pitchFamily="34" charset="0"/>
                <a:ea typeface="Consolas" pitchFamily="34" charset="-122"/>
                <a:cs typeface="Consolas" pitchFamily="34" charset="-120"/>
              </a:rPr>
              <a:t>% marge = (20 ÷ 60) × 100 = 33,3 %</a:t>
            </a:r>
            <a:endParaRPr lang="en-US" sz="850" dirty="0"/>
          </a:p>
          <a:p>
            <a:pPr marL="0" indent="0">
              <a:buNone/>
            </a:pPr>
            <a:r>
              <a:rPr lang="en-US" sz="850" i="1" dirty="0">
                <a:solidFill>
                  <a:srgbClr val="C05621"/>
                </a:solidFill>
              </a:rPr>
              <a:t>→ Sur chaque € encaissé, 0,33 € de marge</a:t>
            </a:r>
            <a:endParaRPr lang="en-US" sz="850" dirty="0"/>
          </a:p>
          <a:p>
            <a:pPr marL="0" indent="0">
              <a:buNone/>
            </a:pPr>
            <a:r>
              <a:rPr lang="en-US" sz="850" b="1" dirty="0">
                <a:solidFill>
                  <a:srgbClr val="C05621"/>
                </a:solidFill>
              </a:rPr>
              <a:t>⚠️ Même 20 € mais 50% vs 33% selon la base !</a:t>
            </a:r>
            <a:endParaRPr lang="en-US" sz="850" dirty="0"/>
          </a:p>
        </p:txBody>
      </p:sp>
      <p:sp>
        <p:nvSpPr>
          <p:cNvPr id="31" name="Shape 29"/>
          <p:cNvSpPr/>
          <p:nvPr/>
        </p:nvSpPr>
        <p:spPr>
          <a:xfrm>
            <a:off x="274320" y="4133088"/>
            <a:ext cx="8595360" cy="256032"/>
          </a:xfrm>
          <a:prstGeom prst="rect">
            <a:avLst/>
          </a:prstGeom>
          <a:solidFill>
            <a:srgbClr val="1A3A5C"/>
          </a:solidFill>
          <a:ln/>
        </p:spPr>
        <p:txBody>
          <a:bodyPr/>
          <a:lstStyle/>
          <a:p>
            <a:endParaRPr lang="fr-FR"/>
          </a:p>
        </p:txBody>
      </p:sp>
      <p:sp>
        <p:nvSpPr>
          <p:cNvPr id="32" name="Text 30"/>
          <p:cNvSpPr/>
          <p:nvPr/>
        </p:nvSpPr>
        <p:spPr>
          <a:xfrm>
            <a:off x="402336" y="4133088"/>
            <a:ext cx="8339328"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TVA VTC = 10%  |  TTC = HT × 1,10  |  HT = TTC ÷ 1,10  |  Marge en % : préciser « sur le coût » ou « sur le CA »</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4F7FB"/>
          </a:solidFill>
          <a:ln w="12700">
            <a:solidFill>
              <a:srgbClr val="F4F7FB"/>
            </a:solidFill>
            <a:prstDash val="solid"/>
          </a:ln>
        </p:spPr>
        <p:txBody>
          <a:bodyPr/>
          <a:lstStyle/>
          <a:p>
            <a:endParaRPr lang="fr-FR"/>
          </a:p>
        </p:txBody>
      </p:sp>
      <p:sp>
        <p:nvSpPr>
          <p:cNvPr id="3" name="Shape 1"/>
          <p:cNvSpPr/>
          <p:nvPr/>
        </p:nvSpPr>
        <p:spPr>
          <a:xfrm>
            <a:off x="0" y="0"/>
            <a:ext cx="9144000" cy="969264"/>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365760" y="0"/>
            <a:ext cx="8412480" cy="603504"/>
          </a:xfrm>
          <a:prstGeom prst="rect">
            <a:avLst/>
          </a:prstGeom>
          <a:noFill/>
          <a:ln/>
        </p:spPr>
        <p:txBody>
          <a:bodyPr wrap="square"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Les dividendes</a:t>
            </a:r>
            <a:endParaRPr lang="en-US" sz="1900" dirty="0"/>
          </a:p>
        </p:txBody>
      </p:sp>
      <p:sp>
        <p:nvSpPr>
          <p:cNvPr id="5" name="Text 3"/>
          <p:cNvSpPr/>
          <p:nvPr/>
        </p:nvSpPr>
        <p:spPr>
          <a:xfrm>
            <a:off x="365760" y="621792"/>
            <a:ext cx="8412480" cy="329184"/>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Part des bénéfices nets distribuée aux investisseurs (actionnaires)</a:t>
            </a:r>
            <a:endParaRPr lang="en-US" sz="1050" dirty="0"/>
          </a:p>
        </p:txBody>
      </p:sp>
      <p:sp>
        <p:nvSpPr>
          <p:cNvPr id="6" name="Text 4"/>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28</a:t>
            </a:r>
            <a:endParaRPr lang="en-US" sz="800" dirty="0"/>
          </a:p>
        </p:txBody>
      </p:sp>
      <p:sp>
        <p:nvSpPr>
          <p:cNvPr id="8" name="Shape 6"/>
          <p:cNvSpPr/>
          <p:nvPr/>
        </p:nvSpPr>
        <p:spPr>
          <a:xfrm>
            <a:off x="274320" y="1005840"/>
            <a:ext cx="8595360" cy="475488"/>
          </a:xfrm>
          <a:prstGeom prst="rect">
            <a:avLst/>
          </a:prstGeom>
          <a:solidFill>
            <a:srgbClr val="EBF4FC"/>
          </a:solidFill>
          <a:ln w="12700">
            <a:solidFill>
              <a:srgbClr val="028090"/>
            </a:solidFill>
            <a:prstDash val="solid"/>
          </a:ln>
        </p:spPr>
        <p:txBody>
          <a:bodyPr/>
          <a:lstStyle/>
          <a:p>
            <a:endParaRPr lang="fr-FR"/>
          </a:p>
        </p:txBody>
      </p:sp>
      <p:sp>
        <p:nvSpPr>
          <p:cNvPr id="9" name="Text 7"/>
          <p:cNvSpPr/>
          <p:nvPr/>
        </p:nvSpPr>
        <p:spPr>
          <a:xfrm>
            <a:off x="402336" y="1024128"/>
            <a:ext cx="8321040" cy="438912"/>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Les dividendes ne sont pas considérés comme une rémunération mais comme des revenus de capitaux mobiliers. Ils ne sont pas soumis aux cotisations sociales mais donnent lieu aux prélèvements sociaux (~17,2%).</a:t>
            </a:r>
            <a:endParaRPr lang="en-US" sz="1000" dirty="0"/>
          </a:p>
        </p:txBody>
      </p:sp>
      <p:sp>
        <p:nvSpPr>
          <p:cNvPr id="10" name="Shape 8"/>
          <p:cNvSpPr/>
          <p:nvPr/>
        </p:nvSpPr>
        <p:spPr>
          <a:xfrm>
            <a:off x="274320" y="1554480"/>
            <a:ext cx="4160520" cy="1335024"/>
          </a:xfrm>
          <a:prstGeom prst="rect">
            <a:avLst/>
          </a:prstGeom>
          <a:solidFill>
            <a:srgbClr val="EBF4FC"/>
          </a:solidFill>
          <a:ln w="6350">
            <a:solidFill>
              <a:srgbClr val="D0DCE8"/>
            </a:solidFill>
            <a:prstDash val="solid"/>
          </a:ln>
        </p:spPr>
        <p:txBody>
          <a:bodyPr/>
          <a:lstStyle/>
          <a:p>
            <a:endParaRPr lang="fr-FR"/>
          </a:p>
        </p:txBody>
      </p:sp>
      <p:sp>
        <p:nvSpPr>
          <p:cNvPr id="11" name="Shape 9"/>
          <p:cNvSpPr/>
          <p:nvPr/>
        </p:nvSpPr>
        <p:spPr>
          <a:xfrm>
            <a:off x="274320" y="1554480"/>
            <a:ext cx="4160520" cy="292608"/>
          </a:xfrm>
          <a:prstGeom prst="rect">
            <a:avLst/>
          </a:prstGeom>
          <a:solidFill>
            <a:srgbClr val="028090"/>
          </a:solidFill>
          <a:ln w="12700">
            <a:solidFill>
              <a:srgbClr val="028090"/>
            </a:solidFill>
            <a:prstDash val="solid"/>
          </a:ln>
        </p:spPr>
        <p:txBody>
          <a:bodyPr/>
          <a:lstStyle/>
          <a:p>
            <a:endParaRPr lang="fr-FR"/>
          </a:p>
        </p:txBody>
      </p:sp>
      <p:sp>
        <p:nvSpPr>
          <p:cNvPr id="12" name="Text 10"/>
          <p:cNvSpPr/>
          <p:nvPr/>
        </p:nvSpPr>
        <p:spPr>
          <a:xfrm>
            <a:off x="347472" y="1554480"/>
            <a:ext cx="405079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Définition</a:t>
            </a:r>
            <a:endParaRPr lang="en-US" sz="1050" dirty="0"/>
          </a:p>
        </p:txBody>
      </p:sp>
      <p:sp>
        <p:nvSpPr>
          <p:cNvPr id="13" name="Text 11"/>
          <p:cNvSpPr/>
          <p:nvPr/>
        </p:nvSpPr>
        <p:spPr>
          <a:xfrm>
            <a:off x="365760" y="1883664"/>
            <a:ext cx="3995928" cy="950976"/>
          </a:xfrm>
          <a:prstGeom prst="rect">
            <a:avLst/>
          </a:prstGeom>
          <a:noFill/>
          <a:ln/>
        </p:spPr>
        <p:txBody>
          <a:bodyPr wrap="square" rtlCol="0" anchor="t"/>
          <a:lstStyle/>
          <a:p>
            <a:pPr marL="0" indent="0">
              <a:buNone/>
            </a:pPr>
            <a:r>
              <a:rPr lang="en-US" sz="900" dirty="0">
                <a:solidFill>
                  <a:srgbClr val="1E2D3D"/>
                </a:solidFill>
                <a:latin typeface="Calibri" pitchFamily="34" charset="0"/>
                <a:ea typeface="Calibri" pitchFamily="34" charset="-122"/>
                <a:cs typeface="Calibri" pitchFamily="34" charset="-120"/>
              </a:rPr>
              <a:t>Partie des bénéfices nets d'une entreprise distribuée aux investisseurs (actionnaires, associés…). Décidée en assemblée générale après approbation des comptes annuels.</a:t>
            </a:r>
            <a:endParaRPr lang="en-US" sz="900" dirty="0"/>
          </a:p>
        </p:txBody>
      </p:sp>
      <p:sp>
        <p:nvSpPr>
          <p:cNvPr id="14" name="Shape 12"/>
          <p:cNvSpPr/>
          <p:nvPr/>
        </p:nvSpPr>
        <p:spPr>
          <a:xfrm>
            <a:off x="4709160" y="1554480"/>
            <a:ext cx="4160520" cy="1335024"/>
          </a:xfrm>
          <a:prstGeom prst="rect">
            <a:avLst/>
          </a:prstGeom>
          <a:solidFill>
            <a:srgbClr val="EBF4FC"/>
          </a:solidFill>
          <a:ln w="6350">
            <a:solidFill>
              <a:srgbClr val="D0DCE8"/>
            </a:solidFill>
            <a:prstDash val="solid"/>
          </a:ln>
        </p:spPr>
        <p:txBody>
          <a:bodyPr/>
          <a:lstStyle/>
          <a:p>
            <a:endParaRPr lang="fr-FR"/>
          </a:p>
        </p:txBody>
      </p:sp>
      <p:sp>
        <p:nvSpPr>
          <p:cNvPr id="15" name="Shape 13"/>
          <p:cNvSpPr/>
          <p:nvPr/>
        </p:nvSpPr>
        <p:spPr>
          <a:xfrm>
            <a:off x="4709160" y="1554480"/>
            <a:ext cx="4160520" cy="292608"/>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4782312" y="1554480"/>
            <a:ext cx="405079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Imposition</a:t>
            </a:r>
            <a:endParaRPr lang="en-US" sz="1050" dirty="0"/>
          </a:p>
        </p:txBody>
      </p:sp>
      <p:sp>
        <p:nvSpPr>
          <p:cNvPr id="17" name="Text 15"/>
          <p:cNvSpPr/>
          <p:nvPr/>
        </p:nvSpPr>
        <p:spPr>
          <a:xfrm>
            <a:off x="4800600" y="1883664"/>
            <a:ext cx="3995928" cy="950976"/>
          </a:xfrm>
          <a:prstGeom prst="rect">
            <a:avLst/>
          </a:prstGeom>
          <a:noFill/>
          <a:ln/>
        </p:spPr>
        <p:txBody>
          <a:bodyPr wrap="square" rtlCol="0" anchor="t"/>
          <a:lstStyle/>
          <a:p>
            <a:pPr marL="0" indent="0">
              <a:buNone/>
            </a:pPr>
            <a:r>
              <a:rPr lang="en-US" sz="900" dirty="0">
                <a:solidFill>
                  <a:srgbClr val="1E2D3D"/>
                </a:solidFill>
                <a:latin typeface="Calibri" pitchFamily="34" charset="0"/>
                <a:ea typeface="Calibri" pitchFamily="34" charset="-122"/>
                <a:cs typeface="Calibri" pitchFamily="34" charset="-120"/>
              </a:rPr>
              <a:t>Les dividendes sont soumis au Prélèvement Forfaitaire Unique (PFU) de 30% (12,8% IR + 17,2% prélèvements sociaux). Option possible pour barème progressif de l'IR avec abattement de 40%.</a:t>
            </a:r>
            <a:endParaRPr lang="en-US" sz="900" dirty="0"/>
          </a:p>
        </p:txBody>
      </p:sp>
      <p:sp>
        <p:nvSpPr>
          <p:cNvPr id="18" name="Shape 16"/>
          <p:cNvSpPr/>
          <p:nvPr/>
        </p:nvSpPr>
        <p:spPr>
          <a:xfrm>
            <a:off x="274320" y="2999232"/>
            <a:ext cx="4160520" cy="1335024"/>
          </a:xfrm>
          <a:prstGeom prst="rect">
            <a:avLst/>
          </a:prstGeom>
          <a:solidFill>
            <a:srgbClr val="EBF4FC"/>
          </a:solidFill>
          <a:ln w="6350">
            <a:solidFill>
              <a:srgbClr val="D0DCE8"/>
            </a:solidFill>
            <a:prstDash val="solid"/>
          </a:ln>
        </p:spPr>
        <p:txBody>
          <a:bodyPr/>
          <a:lstStyle/>
          <a:p>
            <a:endParaRPr lang="fr-FR"/>
          </a:p>
        </p:txBody>
      </p:sp>
      <p:sp>
        <p:nvSpPr>
          <p:cNvPr id="19" name="Shape 17"/>
          <p:cNvSpPr/>
          <p:nvPr/>
        </p:nvSpPr>
        <p:spPr>
          <a:xfrm>
            <a:off x="274320" y="2999232"/>
            <a:ext cx="4160520" cy="292608"/>
          </a:xfrm>
          <a:prstGeom prst="rect">
            <a:avLst/>
          </a:prstGeom>
          <a:solidFill>
            <a:srgbClr val="E87722"/>
          </a:solidFill>
          <a:ln w="12700">
            <a:solidFill>
              <a:srgbClr val="E87722"/>
            </a:solidFill>
            <a:prstDash val="solid"/>
          </a:ln>
        </p:spPr>
        <p:txBody>
          <a:bodyPr/>
          <a:lstStyle/>
          <a:p>
            <a:endParaRPr lang="fr-FR"/>
          </a:p>
        </p:txBody>
      </p:sp>
      <p:sp>
        <p:nvSpPr>
          <p:cNvPr id="20" name="Text 18"/>
          <p:cNvSpPr/>
          <p:nvPr/>
        </p:nvSpPr>
        <p:spPr>
          <a:xfrm>
            <a:off x="347472" y="2999232"/>
            <a:ext cx="405079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Vs rémunération</a:t>
            </a:r>
            <a:endParaRPr lang="en-US" sz="1050" dirty="0"/>
          </a:p>
        </p:txBody>
      </p:sp>
      <p:sp>
        <p:nvSpPr>
          <p:cNvPr id="21" name="Text 19"/>
          <p:cNvSpPr/>
          <p:nvPr/>
        </p:nvSpPr>
        <p:spPr>
          <a:xfrm>
            <a:off x="365760" y="3328416"/>
            <a:ext cx="3995928" cy="950976"/>
          </a:xfrm>
          <a:prstGeom prst="rect">
            <a:avLst/>
          </a:prstGeom>
          <a:noFill/>
          <a:ln/>
        </p:spPr>
        <p:txBody>
          <a:bodyPr wrap="square" rtlCol="0" anchor="t"/>
          <a:lstStyle/>
          <a:p>
            <a:pPr marL="0" indent="0">
              <a:buNone/>
            </a:pPr>
            <a:r>
              <a:rPr lang="en-US" sz="900" dirty="0">
                <a:solidFill>
                  <a:srgbClr val="1E2D3D"/>
                </a:solidFill>
                <a:latin typeface="Calibri" pitchFamily="34" charset="0"/>
                <a:ea typeface="Calibri" pitchFamily="34" charset="-122"/>
                <a:cs typeface="Calibri" pitchFamily="34" charset="-120"/>
              </a:rPr>
              <a:t>La rémunération est soumise aux cotisations sociales (~45% TNS, ~75% assimilé salarié).</a:t>
            </a:r>
            <a:endParaRPr lang="en-US" sz="900" dirty="0"/>
          </a:p>
          <a:p>
            <a:pPr marL="0" indent="0">
              <a:buNone/>
            </a:pPr>
            <a:r>
              <a:rPr lang="en-US" sz="900" dirty="0">
                <a:solidFill>
                  <a:srgbClr val="1E2D3D"/>
                </a:solidFill>
                <a:latin typeface="Calibri" pitchFamily="34" charset="0"/>
                <a:ea typeface="Calibri" pitchFamily="34" charset="-122"/>
                <a:cs typeface="Calibri" pitchFamily="34" charset="-120"/>
              </a:rPr>
              <a:t>Les dividendes ne le sont pas → économie de charges, mais protection sociale moindre.</a:t>
            </a:r>
            <a:endParaRPr lang="en-US" sz="900" dirty="0"/>
          </a:p>
        </p:txBody>
      </p:sp>
      <p:sp>
        <p:nvSpPr>
          <p:cNvPr id="22" name="Shape 20"/>
          <p:cNvSpPr/>
          <p:nvPr/>
        </p:nvSpPr>
        <p:spPr>
          <a:xfrm>
            <a:off x="4709160" y="2999232"/>
            <a:ext cx="4160520" cy="1335024"/>
          </a:xfrm>
          <a:prstGeom prst="rect">
            <a:avLst/>
          </a:prstGeom>
          <a:solidFill>
            <a:srgbClr val="EBF4FC"/>
          </a:solidFill>
          <a:ln w="6350">
            <a:solidFill>
              <a:srgbClr val="D0DCE8"/>
            </a:solidFill>
            <a:prstDash val="solid"/>
          </a:ln>
        </p:spPr>
        <p:txBody>
          <a:bodyPr/>
          <a:lstStyle/>
          <a:p>
            <a:endParaRPr lang="fr-FR"/>
          </a:p>
        </p:txBody>
      </p:sp>
      <p:sp>
        <p:nvSpPr>
          <p:cNvPr id="23" name="Shape 21"/>
          <p:cNvSpPr/>
          <p:nvPr/>
        </p:nvSpPr>
        <p:spPr>
          <a:xfrm>
            <a:off x="4709160" y="2999232"/>
            <a:ext cx="4160520" cy="292608"/>
          </a:xfrm>
          <a:prstGeom prst="rect">
            <a:avLst/>
          </a:prstGeom>
          <a:solidFill>
            <a:srgbClr val="2E7D32"/>
          </a:solidFill>
          <a:ln w="12700">
            <a:solidFill>
              <a:srgbClr val="2E7D32"/>
            </a:solidFill>
            <a:prstDash val="solid"/>
          </a:ln>
        </p:spPr>
        <p:txBody>
          <a:bodyPr/>
          <a:lstStyle/>
          <a:p>
            <a:endParaRPr lang="fr-FR"/>
          </a:p>
        </p:txBody>
      </p:sp>
      <p:sp>
        <p:nvSpPr>
          <p:cNvPr id="24" name="Text 22"/>
          <p:cNvSpPr/>
          <p:nvPr/>
        </p:nvSpPr>
        <p:spPr>
          <a:xfrm>
            <a:off x="4782312" y="2999232"/>
            <a:ext cx="4050792" cy="29260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Qui peut verser ?</a:t>
            </a:r>
            <a:endParaRPr lang="en-US" sz="1050" dirty="0"/>
          </a:p>
        </p:txBody>
      </p:sp>
      <p:sp>
        <p:nvSpPr>
          <p:cNvPr id="25" name="Text 23"/>
          <p:cNvSpPr/>
          <p:nvPr/>
        </p:nvSpPr>
        <p:spPr>
          <a:xfrm>
            <a:off x="4800600" y="3328416"/>
            <a:ext cx="3995928" cy="950976"/>
          </a:xfrm>
          <a:prstGeom prst="rect">
            <a:avLst/>
          </a:prstGeom>
          <a:noFill/>
          <a:ln/>
        </p:spPr>
        <p:txBody>
          <a:bodyPr wrap="square" rtlCol="0" anchor="t"/>
          <a:lstStyle/>
          <a:p>
            <a:pPr marL="0" indent="0">
              <a:buNone/>
            </a:pPr>
            <a:r>
              <a:rPr lang="en-US" sz="900" dirty="0">
                <a:solidFill>
                  <a:srgbClr val="1E2D3D"/>
                </a:solidFill>
                <a:latin typeface="Calibri" pitchFamily="34" charset="0"/>
                <a:ea typeface="Calibri" pitchFamily="34" charset="-122"/>
                <a:cs typeface="Calibri" pitchFamily="34" charset="-120"/>
              </a:rPr>
              <a:t>SARL, EURL, SAS, SASU, SA… toute société après résultat bénéficiaire et décision d'affectation en AG.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4F7FB"/>
          </a:solidFill>
          <a:ln w="12700">
            <a:solidFill>
              <a:srgbClr val="F4F7FB"/>
            </a:solidFill>
            <a:prstDash val="solid"/>
          </a:ln>
        </p:spPr>
        <p:txBody>
          <a:bodyPr/>
          <a:lstStyle/>
          <a:p>
            <a:endParaRPr lang="fr-FR"/>
          </a:p>
        </p:txBody>
      </p:sp>
      <p:sp>
        <p:nvSpPr>
          <p:cNvPr id="3" name="Shape 1"/>
          <p:cNvSpPr/>
          <p:nvPr/>
        </p:nvSpPr>
        <p:spPr>
          <a:xfrm>
            <a:off x="0" y="0"/>
            <a:ext cx="9144000" cy="969264"/>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365760" y="0"/>
            <a:ext cx="8412480" cy="603504"/>
          </a:xfrm>
          <a:prstGeom prst="rect">
            <a:avLst/>
          </a:prstGeom>
          <a:noFill/>
          <a:ln/>
        </p:spPr>
        <p:txBody>
          <a:bodyPr wrap="square"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Les statuts du conjoint entrepreneur</a:t>
            </a:r>
            <a:endParaRPr lang="en-US" sz="1900" dirty="0"/>
          </a:p>
        </p:txBody>
      </p:sp>
      <p:sp>
        <p:nvSpPr>
          <p:cNvPr id="5" name="Text 3"/>
          <p:cNvSpPr/>
          <p:nvPr/>
        </p:nvSpPr>
        <p:spPr>
          <a:xfrm>
            <a:off x="365760" y="621792"/>
            <a:ext cx="8412480" cy="329184"/>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3 statuts possibles si le conjoint travaille régulièrement dans l'entreprise</a:t>
            </a:r>
            <a:endParaRPr lang="en-US" sz="1050" dirty="0"/>
          </a:p>
        </p:txBody>
      </p:sp>
      <p:sp>
        <p:nvSpPr>
          <p:cNvPr id="6" name="Text 4"/>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29</a:t>
            </a:r>
            <a:endParaRPr lang="en-US" sz="800" dirty="0"/>
          </a:p>
        </p:txBody>
      </p:sp>
      <p:sp>
        <p:nvSpPr>
          <p:cNvPr id="8" name="Shape 6"/>
          <p:cNvSpPr/>
          <p:nvPr/>
        </p:nvSpPr>
        <p:spPr>
          <a:xfrm>
            <a:off x="274320" y="1005840"/>
            <a:ext cx="8595360" cy="347472"/>
          </a:xfrm>
          <a:prstGeom prst="rect">
            <a:avLst/>
          </a:prstGeom>
          <a:solidFill>
            <a:srgbClr val="EBF4FC"/>
          </a:solidFill>
          <a:ln w="10160">
            <a:solidFill>
              <a:srgbClr val="028090"/>
            </a:solidFill>
            <a:prstDash val="solid"/>
          </a:ln>
        </p:spPr>
        <p:txBody>
          <a:bodyPr/>
          <a:lstStyle/>
          <a:p>
            <a:endParaRPr lang="fr-FR"/>
          </a:p>
        </p:txBody>
      </p:sp>
      <p:sp>
        <p:nvSpPr>
          <p:cNvPr id="9" name="Text 7"/>
          <p:cNvSpPr/>
          <p:nvPr/>
        </p:nvSpPr>
        <p:spPr>
          <a:xfrm>
            <a:off x="402336" y="1024128"/>
            <a:ext cx="8321040" cy="310896"/>
          </a:xfrm>
          <a:prstGeom prst="rect">
            <a:avLst/>
          </a:prstGeom>
          <a:noFill/>
          <a:ln/>
        </p:spPr>
        <p:txBody>
          <a:bodyPr wrap="square" rtlCol="0" anchor="ctr"/>
          <a:lstStyle/>
          <a:p>
            <a:pPr marL="0" indent="0">
              <a:buNone/>
            </a:pPr>
            <a:r>
              <a:rPr lang="en-US" sz="950" b="1" dirty="0">
                <a:solidFill>
                  <a:srgbClr val="1A3A5C"/>
                </a:solidFill>
                <a:latin typeface="Calibri" pitchFamily="34" charset="0"/>
                <a:ea typeface="Calibri" pitchFamily="34" charset="-122"/>
                <a:cs typeface="Calibri" pitchFamily="34" charset="-120"/>
              </a:rPr>
              <a:t>Obligation légale : si votre conjoint (marié, pacsé ou en union libre) travaille régulièrement dans votre entreprise, vous devez le déclarer. 3 statuts possibles.</a:t>
            </a:r>
            <a:endParaRPr lang="en-US" sz="950" dirty="0"/>
          </a:p>
        </p:txBody>
      </p:sp>
      <p:sp>
        <p:nvSpPr>
          <p:cNvPr id="10" name="Shape 8"/>
          <p:cNvSpPr/>
          <p:nvPr/>
        </p:nvSpPr>
        <p:spPr>
          <a:xfrm>
            <a:off x="274320" y="1426464"/>
            <a:ext cx="8595360" cy="1078992"/>
          </a:xfrm>
          <a:prstGeom prst="rect">
            <a:avLst/>
          </a:prstGeom>
          <a:solidFill>
            <a:srgbClr val="EBF4FC"/>
          </a:solidFill>
          <a:ln w="6350">
            <a:solidFill>
              <a:srgbClr val="D0DCE8"/>
            </a:solidFill>
            <a:prstDash val="solid"/>
          </a:ln>
        </p:spPr>
        <p:txBody>
          <a:bodyPr/>
          <a:lstStyle/>
          <a:p>
            <a:endParaRPr lang="fr-FR"/>
          </a:p>
        </p:txBody>
      </p:sp>
      <p:sp>
        <p:nvSpPr>
          <p:cNvPr id="11" name="Shape 9"/>
          <p:cNvSpPr/>
          <p:nvPr/>
        </p:nvSpPr>
        <p:spPr>
          <a:xfrm>
            <a:off x="274320" y="1426464"/>
            <a:ext cx="347472" cy="107899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274320" y="1426464"/>
            <a:ext cx="347472" cy="10789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713232" y="1481328"/>
            <a:ext cx="6766560" cy="256032"/>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 Conjoint collaborateur</a:t>
            </a:r>
            <a:endParaRPr lang="en-US" sz="1100" dirty="0"/>
          </a:p>
        </p:txBody>
      </p:sp>
      <p:sp>
        <p:nvSpPr>
          <p:cNvPr id="14" name="Text 12"/>
          <p:cNvSpPr/>
          <p:nvPr/>
        </p:nvSpPr>
        <p:spPr>
          <a:xfrm>
            <a:off x="713232" y="1773936"/>
            <a:ext cx="6766560" cy="676656"/>
          </a:xfrm>
          <a:prstGeom prst="rect">
            <a:avLst/>
          </a:prstGeom>
          <a:noFill/>
          <a:ln/>
        </p:spPr>
        <p:txBody>
          <a:bodyPr wrap="square" rtlCol="0" anchor="t"/>
          <a:lstStyle/>
          <a:p>
            <a:pPr marL="0" indent="0">
              <a:buNone/>
            </a:pPr>
            <a:r>
              <a:rPr lang="en-US" sz="880" dirty="0">
                <a:solidFill>
                  <a:srgbClr val="1E2D3D"/>
                </a:solidFill>
                <a:latin typeface="Calibri" pitchFamily="34" charset="0"/>
                <a:ea typeface="Calibri" pitchFamily="34" charset="-122"/>
                <a:cs typeface="Calibri" pitchFamily="34" charset="-120"/>
              </a:rPr>
              <a:t>Travaille régulièrement, non rémunéré, non associé.</a:t>
            </a:r>
            <a:endParaRPr lang="en-US" sz="880" dirty="0"/>
          </a:p>
          <a:p>
            <a:pPr marL="0" indent="0">
              <a:buNone/>
            </a:pPr>
            <a:r>
              <a:rPr lang="en-US" sz="880" dirty="0">
                <a:solidFill>
                  <a:srgbClr val="1E2D3D"/>
                </a:solidFill>
                <a:latin typeface="Calibri" pitchFamily="34" charset="0"/>
                <a:ea typeface="Calibri" pitchFamily="34" charset="-122"/>
                <a:cs typeface="Calibri" pitchFamily="34" charset="-120"/>
              </a:rPr>
              <a:t>Droits : maladie-maternité, indemnités journalières, retraite, formation professionnelle.</a:t>
            </a:r>
            <a:endParaRPr lang="en-US" sz="880" dirty="0"/>
          </a:p>
          <a:p>
            <a:pPr marL="0" indent="0">
              <a:buNone/>
            </a:pPr>
            <a:r>
              <a:rPr lang="en-US" sz="880" dirty="0">
                <a:solidFill>
                  <a:srgbClr val="1E2D3D"/>
                </a:solidFill>
                <a:latin typeface="Calibri" pitchFamily="34" charset="0"/>
                <a:ea typeface="Calibri" pitchFamily="34" charset="-122"/>
                <a:cs typeface="Calibri" pitchFamily="34" charset="-120"/>
              </a:rPr>
              <a:t>Formes possibles : EI, EURL, SARL (gérance majorit.)</a:t>
            </a:r>
            <a:endParaRPr lang="en-US" sz="880" dirty="0"/>
          </a:p>
          <a:p>
            <a:pPr marL="0" indent="0">
              <a:buNone/>
            </a:pPr>
            <a:r>
              <a:rPr lang="en-US" sz="880" dirty="0">
                <a:solidFill>
                  <a:srgbClr val="1E2D3D"/>
                </a:solidFill>
                <a:latin typeface="Calibri" pitchFamily="34" charset="0"/>
                <a:ea typeface="Calibri" pitchFamily="34" charset="-122"/>
                <a:cs typeface="Calibri" pitchFamily="34" charset="-120"/>
              </a:rPr>
              <a:t>⚠️ Limité à 5 ans depuis 2022 → passage automatique au statut salarié si aucune déclaration.</a:t>
            </a:r>
            <a:endParaRPr lang="en-US" sz="880" dirty="0"/>
          </a:p>
        </p:txBody>
      </p:sp>
      <p:sp>
        <p:nvSpPr>
          <p:cNvPr id="15" name="Shape 13"/>
          <p:cNvSpPr/>
          <p:nvPr/>
        </p:nvSpPr>
        <p:spPr>
          <a:xfrm>
            <a:off x="7607808" y="1737360"/>
            <a:ext cx="1170432" cy="512064"/>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7626096" y="1792224"/>
            <a:ext cx="1133856" cy="402336"/>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Faible coût</a:t>
            </a:r>
            <a:endParaRPr lang="en-US" sz="800" dirty="0"/>
          </a:p>
        </p:txBody>
      </p:sp>
      <p:sp>
        <p:nvSpPr>
          <p:cNvPr id="17" name="Shape 15"/>
          <p:cNvSpPr/>
          <p:nvPr/>
        </p:nvSpPr>
        <p:spPr>
          <a:xfrm>
            <a:off x="274320" y="2596896"/>
            <a:ext cx="8595360" cy="1078992"/>
          </a:xfrm>
          <a:prstGeom prst="rect">
            <a:avLst/>
          </a:prstGeom>
          <a:solidFill>
            <a:srgbClr val="FFFFFF"/>
          </a:solidFill>
          <a:ln w="6350">
            <a:solidFill>
              <a:srgbClr val="D0DCE8"/>
            </a:solidFill>
            <a:prstDash val="solid"/>
          </a:ln>
        </p:spPr>
        <p:txBody>
          <a:bodyPr/>
          <a:lstStyle/>
          <a:p>
            <a:endParaRPr lang="fr-FR"/>
          </a:p>
        </p:txBody>
      </p:sp>
      <p:sp>
        <p:nvSpPr>
          <p:cNvPr id="18" name="Shape 16"/>
          <p:cNvSpPr/>
          <p:nvPr/>
        </p:nvSpPr>
        <p:spPr>
          <a:xfrm>
            <a:off x="274320" y="2596896"/>
            <a:ext cx="347472" cy="1078992"/>
          </a:xfrm>
          <a:prstGeom prst="rect">
            <a:avLst/>
          </a:prstGeom>
          <a:solidFill>
            <a:srgbClr val="E87722"/>
          </a:solidFill>
          <a:ln w="12700">
            <a:solidFill>
              <a:srgbClr val="E87722"/>
            </a:solidFill>
            <a:prstDash val="solid"/>
          </a:ln>
        </p:spPr>
        <p:txBody>
          <a:bodyPr/>
          <a:lstStyle/>
          <a:p>
            <a:endParaRPr lang="fr-FR"/>
          </a:p>
        </p:txBody>
      </p:sp>
      <p:sp>
        <p:nvSpPr>
          <p:cNvPr id="19" name="Text 17"/>
          <p:cNvSpPr/>
          <p:nvPr/>
        </p:nvSpPr>
        <p:spPr>
          <a:xfrm>
            <a:off x="274320" y="2596896"/>
            <a:ext cx="347472" cy="10789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0" name="Text 18"/>
          <p:cNvSpPr/>
          <p:nvPr/>
        </p:nvSpPr>
        <p:spPr>
          <a:xfrm>
            <a:off x="713232" y="2651760"/>
            <a:ext cx="6766560" cy="256032"/>
          </a:xfrm>
          <a:prstGeom prst="rect">
            <a:avLst/>
          </a:prstGeom>
          <a:noFill/>
          <a:ln/>
        </p:spPr>
        <p:txBody>
          <a:bodyPr wrap="square" rtlCol="0" anchor="ctr"/>
          <a:lstStyle/>
          <a:p>
            <a:pPr marL="0" indent="0">
              <a:buNone/>
            </a:pPr>
            <a:r>
              <a:rPr lang="en-US" sz="1100" b="1" dirty="0">
                <a:solidFill>
                  <a:srgbClr val="E87722"/>
                </a:solidFill>
                <a:latin typeface="Calibri" pitchFamily="34" charset="0"/>
                <a:ea typeface="Calibri" pitchFamily="34" charset="-122"/>
                <a:cs typeface="Calibri" pitchFamily="34" charset="-120"/>
              </a:rPr>
              <a:t>💰 Conjoint associé</a:t>
            </a:r>
            <a:endParaRPr lang="en-US" sz="1100" dirty="0"/>
          </a:p>
        </p:txBody>
      </p:sp>
      <p:sp>
        <p:nvSpPr>
          <p:cNvPr id="21" name="Text 19"/>
          <p:cNvSpPr/>
          <p:nvPr/>
        </p:nvSpPr>
        <p:spPr>
          <a:xfrm>
            <a:off x="713232" y="2944368"/>
            <a:ext cx="6766560" cy="676656"/>
          </a:xfrm>
          <a:prstGeom prst="rect">
            <a:avLst/>
          </a:prstGeom>
          <a:noFill/>
          <a:ln/>
        </p:spPr>
        <p:txBody>
          <a:bodyPr wrap="square" rtlCol="0" anchor="t"/>
          <a:lstStyle/>
          <a:p>
            <a:pPr marL="0" indent="0">
              <a:buNone/>
            </a:pPr>
            <a:r>
              <a:rPr lang="en-US" sz="880" dirty="0">
                <a:solidFill>
                  <a:srgbClr val="1E2D3D"/>
                </a:solidFill>
                <a:latin typeface="Calibri" pitchFamily="34" charset="0"/>
                <a:ea typeface="Calibri" pitchFamily="34" charset="-122"/>
                <a:cs typeface="Calibri" pitchFamily="34" charset="-120"/>
              </a:rPr>
              <a:t>Est associé au capital de l'entreprise.</a:t>
            </a:r>
            <a:endParaRPr lang="en-US" sz="880" dirty="0"/>
          </a:p>
          <a:p>
            <a:pPr marL="0" indent="0">
              <a:buNone/>
            </a:pPr>
            <a:r>
              <a:rPr lang="en-US" sz="880" dirty="0">
                <a:solidFill>
                  <a:srgbClr val="1E2D3D"/>
                </a:solidFill>
                <a:latin typeface="Calibri" pitchFamily="34" charset="0"/>
                <a:ea typeface="Calibri" pitchFamily="34" charset="-122"/>
                <a:cs typeface="Calibri" pitchFamily="34" charset="-120"/>
              </a:rPr>
              <a:t>Droits identiques au chef d'entreprise. Partage des bénéfices (dividendes). Peut cumuler avec salarié.</a:t>
            </a:r>
            <a:endParaRPr lang="en-US" sz="880" dirty="0"/>
          </a:p>
          <a:p>
            <a:pPr marL="0" indent="0">
              <a:buNone/>
            </a:pPr>
            <a:r>
              <a:rPr lang="en-US" sz="880" dirty="0">
                <a:solidFill>
                  <a:srgbClr val="1E2D3D"/>
                </a:solidFill>
                <a:latin typeface="Calibri" pitchFamily="34" charset="0"/>
                <a:ea typeface="Calibri" pitchFamily="34" charset="-122"/>
                <a:cs typeface="Calibri" pitchFamily="34" charset="-120"/>
              </a:rPr>
              <a:t>Obligations : cotisations identiques, droits et obligations d'associé.</a:t>
            </a:r>
            <a:endParaRPr lang="en-US" sz="880" dirty="0"/>
          </a:p>
        </p:txBody>
      </p:sp>
      <p:sp>
        <p:nvSpPr>
          <p:cNvPr id="22" name="Shape 20"/>
          <p:cNvSpPr/>
          <p:nvPr/>
        </p:nvSpPr>
        <p:spPr>
          <a:xfrm>
            <a:off x="7607808" y="2907792"/>
            <a:ext cx="1170432" cy="512064"/>
          </a:xfrm>
          <a:prstGeom prst="rect">
            <a:avLst/>
          </a:prstGeom>
          <a:solidFill>
            <a:srgbClr val="E87722"/>
          </a:solidFill>
          <a:ln w="12700">
            <a:solidFill>
              <a:srgbClr val="E87722"/>
            </a:solidFill>
            <a:prstDash val="solid"/>
          </a:ln>
        </p:spPr>
        <p:txBody>
          <a:bodyPr/>
          <a:lstStyle/>
          <a:p>
            <a:endParaRPr lang="fr-FR"/>
          </a:p>
        </p:txBody>
      </p:sp>
      <p:sp>
        <p:nvSpPr>
          <p:cNvPr id="23" name="Text 21"/>
          <p:cNvSpPr/>
          <p:nvPr/>
        </p:nvSpPr>
        <p:spPr>
          <a:xfrm>
            <a:off x="7626096" y="2962656"/>
            <a:ext cx="1133856" cy="402336"/>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Partage bénéfices</a:t>
            </a:r>
            <a:endParaRPr lang="en-US" sz="800" dirty="0"/>
          </a:p>
        </p:txBody>
      </p:sp>
      <p:sp>
        <p:nvSpPr>
          <p:cNvPr id="24" name="Shape 22"/>
          <p:cNvSpPr/>
          <p:nvPr/>
        </p:nvSpPr>
        <p:spPr>
          <a:xfrm>
            <a:off x="274320" y="3767328"/>
            <a:ext cx="8595360" cy="1078992"/>
          </a:xfrm>
          <a:prstGeom prst="rect">
            <a:avLst/>
          </a:prstGeom>
          <a:solidFill>
            <a:srgbClr val="EBF4FC"/>
          </a:solidFill>
          <a:ln w="6350">
            <a:solidFill>
              <a:srgbClr val="D0DCE8"/>
            </a:solidFill>
            <a:prstDash val="solid"/>
          </a:ln>
        </p:spPr>
        <p:txBody>
          <a:bodyPr/>
          <a:lstStyle/>
          <a:p>
            <a:endParaRPr lang="fr-FR"/>
          </a:p>
        </p:txBody>
      </p:sp>
      <p:sp>
        <p:nvSpPr>
          <p:cNvPr id="25" name="Shape 23"/>
          <p:cNvSpPr/>
          <p:nvPr/>
        </p:nvSpPr>
        <p:spPr>
          <a:xfrm>
            <a:off x="274320" y="3767328"/>
            <a:ext cx="347472" cy="1078992"/>
          </a:xfrm>
          <a:prstGeom prst="rect">
            <a:avLst/>
          </a:prstGeom>
          <a:solidFill>
            <a:srgbClr val="2E7D32"/>
          </a:solidFill>
          <a:ln w="12700">
            <a:solidFill>
              <a:srgbClr val="2E7D32"/>
            </a:solidFill>
            <a:prstDash val="solid"/>
          </a:ln>
        </p:spPr>
        <p:txBody>
          <a:bodyPr/>
          <a:lstStyle/>
          <a:p>
            <a:endParaRPr lang="fr-FR"/>
          </a:p>
        </p:txBody>
      </p:sp>
      <p:sp>
        <p:nvSpPr>
          <p:cNvPr id="26" name="Text 24"/>
          <p:cNvSpPr/>
          <p:nvPr/>
        </p:nvSpPr>
        <p:spPr>
          <a:xfrm>
            <a:off x="274320" y="3767328"/>
            <a:ext cx="347472" cy="10789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7" name="Text 25"/>
          <p:cNvSpPr/>
          <p:nvPr/>
        </p:nvSpPr>
        <p:spPr>
          <a:xfrm>
            <a:off x="713232" y="3822192"/>
            <a:ext cx="6766560" cy="25603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Conjoint salarié</a:t>
            </a:r>
            <a:endParaRPr lang="en-US" sz="1100" dirty="0"/>
          </a:p>
        </p:txBody>
      </p:sp>
      <p:sp>
        <p:nvSpPr>
          <p:cNvPr id="28" name="Text 26"/>
          <p:cNvSpPr/>
          <p:nvPr/>
        </p:nvSpPr>
        <p:spPr>
          <a:xfrm>
            <a:off x="713232" y="4114800"/>
            <a:ext cx="6766560" cy="676656"/>
          </a:xfrm>
          <a:prstGeom prst="rect">
            <a:avLst/>
          </a:prstGeom>
          <a:noFill/>
          <a:ln/>
        </p:spPr>
        <p:txBody>
          <a:bodyPr wrap="square" rtlCol="0" anchor="t"/>
          <a:lstStyle/>
          <a:p>
            <a:pPr marL="0" indent="0">
              <a:buNone/>
            </a:pPr>
            <a:r>
              <a:rPr lang="en-US" sz="880" dirty="0">
                <a:solidFill>
                  <a:srgbClr val="1E2D3D"/>
                </a:solidFill>
                <a:latin typeface="Calibri" pitchFamily="34" charset="0"/>
                <a:ea typeface="Calibri" pitchFamily="34" charset="-122"/>
                <a:cs typeface="Calibri" pitchFamily="34" charset="-120"/>
              </a:rPr>
              <a:t>Lien de subordination avec le chef d'entreprise. Salaire ≥ SMIC obligatoire.</a:t>
            </a:r>
            <a:endParaRPr lang="en-US" sz="880" dirty="0"/>
          </a:p>
          <a:p>
            <a:pPr marL="0" indent="0">
              <a:buNone/>
            </a:pPr>
            <a:r>
              <a:rPr lang="en-US" sz="880" dirty="0">
                <a:solidFill>
                  <a:srgbClr val="1E2D3D"/>
                </a:solidFill>
                <a:latin typeface="Calibri" pitchFamily="34" charset="0"/>
                <a:ea typeface="Calibri" pitchFamily="34" charset="-122"/>
                <a:cs typeface="Calibri" pitchFamily="34" charset="-120"/>
              </a:rPr>
              <a:t>Droits : chômage, couverture sociale complète, retraite.</a:t>
            </a:r>
            <a:endParaRPr lang="en-US" sz="880" dirty="0"/>
          </a:p>
          <a:p>
            <a:pPr marL="0" indent="0">
              <a:buNone/>
            </a:pPr>
            <a:r>
              <a:rPr lang="en-US" sz="880" dirty="0">
                <a:solidFill>
                  <a:srgbClr val="1E2D3D"/>
                </a:solidFill>
                <a:latin typeface="Calibri" pitchFamily="34" charset="0"/>
                <a:ea typeface="Calibri" pitchFamily="34" charset="-122"/>
                <a:cs typeface="Calibri" pitchFamily="34" charset="-120"/>
              </a:rPr>
              <a:t>Statut identique à tout salarié.</a:t>
            </a:r>
            <a:endParaRPr lang="en-US" sz="880" dirty="0"/>
          </a:p>
        </p:txBody>
      </p:sp>
      <p:sp>
        <p:nvSpPr>
          <p:cNvPr id="29" name="Shape 27"/>
          <p:cNvSpPr/>
          <p:nvPr/>
        </p:nvSpPr>
        <p:spPr>
          <a:xfrm>
            <a:off x="7607808" y="4078224"/>
            <a:ext cx="1170432" cy="512064"/>
          </a:xfrm>
          <a:prstGeom prst="rect">
            <a:avLst/>
          </a:prstGeom>
          <a:solidFill>
            <a:srgbClr val="2E7D32"/>
          </a:solidFill>
          <a:ln w="12700">
            <a:solidFill>
              <a:srgbClr val="2E7D32"/>
            </a:solidFill>
            <a:prstDash val="solid"/>
          </a:ln>
        </p:spPr>
        <p:txBody>
          <a:bodyPr/>
          <a:lstStyle/>
          <a:p>
            <a:endParaRPr lang="fr-FR"/>
          </a:p>
        </p:txBody>
      </p:sp>
      <p:sp>
        <p:nvSpPr>
          <p:cNvPr id="30" name="Text 28"/>
          <p:cNvSpPr/>
          <p:nvPr/>
        </p:nvSpPr>
        <p:spPr>
          <a:xfrm>
            <a:off x="7626096" y="4133088"/>
            <a:ext cx="1133856" cy="402336"/>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Couverture max</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4F7FB"/>
          </a:solidFill>
          <a:ln w="12700">
            <a:solidFill>
              <a:srgbClr val="F4F7FB"/>
            </a:solidFill>
            <a:prstDash val="solid"/>
          </a:ln>
        </p:spPr>
        <p:txBody>
          <a:bodyPr/>
          <a:lstStyle/>
          <a:p>
            <a:endParaRPr lang="fr-FR"/>
          </a:p>
        </p:txBody>
      </p:sp>
      <p:sp>
        <p:nvSpPr>
          <p:cNvPr id="3" name="Shape 1"/>
          <p:cNvSpPr/>
          <p:nvPr/>
        </p:nvSpPr>
        <p:spPr>
          <a:xfrm>
            <a:off x="0" y="0"/>
            <a:ext cx="9144000" cy="969264"/>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365760" y="0"/>
            <a:ext cx="8412480" cy="603504"/>
          </a:xfrm>
          <a:prstGeom prst="rect">
            <a:avLst/>
          </a:prstGeom>
          <a:noFill/>
          <a:ln/>
        </p:spPr>
        <p:txBody>
          <a:bodyPr wrap="square"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La Chambre des Métiers et de l'Artisanat (CMA)</a:t>
            </a:r>
            <a:endParaRPr lang="en-US" sz="1900" dirty="0"/>
          </a:p>
        </p:txBody>
      </p:sp>
      <p:sp>
        <p:nvSpPr>
          <p:cNvPr id="5" name="Text 3"/>
          <p:cNvSpPr/>
          <p:nvPr/>
        </p:nvSpPr>
        <p:spPr>
          <a:xfrm>
            <a:off x="365760" y="621792"/>
            <a:ext cx="8412480" cy="329184"/>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Représenter, promouvoir et défendre les intérêts de l'artisanat</a:t>
            </a:r>
            <a:endParaRPr lang="en-US" sz="1050" dirty="0"/>
          </a:p>
        </p:txBody>
      </p:sp>
      <p:sp>
        <p:nvSpPr>
          <p:cNvPr id="6" name="Text 4"/>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30</a:t>
            </a:r>
            <a:endParaRPr lang="en-US" sz="800" dirty="0"/>
          </a:p>
        </p:txBody>
      </p:sp>
      <p:sp>
        <p:nvSpPr>
          <p:cNvPr id="8" name="Shape 6"/>
          <p:cNvSpPr/>
          <p:nvPr/>
        </p:nvSpPr>
        <p:spPr>
          <a:xfrm>
            <a:off x="274320" y="1005840"/>
            <a:ext cx="8595360" cy="347472"/>
          </a:xfrm>
          <a:prstGeom prst="rect">
            <a:avLst/>
          </a:prstGeom>
          <a:solidFill>
            <a:srgbClr val="EBF4FC"/>
          </a:solidFill>
          <a:ln w="10160">
            <a:solidFill>
              <a:srgbClr val="028090"/>
            </a:solidFill>
            <a:prstDash val="solid"/>
          </a:ln>
        </p:spPr>
        <p:txBody>
          <a:bodyPr/>
          <a:lstStyle/>
          <a:p>
            <a:endParaRPr lang="fr-FR"/>
          </a:p>
        </p:txBody>
      </p:sp>
      <p:sp>
        <p:nvSpPr>
          <p:cNvPr id="9" name="Text 7"/>
          <p:cNvSpPr/>
          <p:nvPr/>
        </p:nvSpPr>
        <p:spPr>
          <a:xfrm>
            <a:off x="402336" y="1024128"/>
            <a:ext cx="8321040" cy="310896"/>
          </a:xfrm>
          <a:prstGeom prst="rect">
            <a:avLst/>
          </a:prstGeom>
          <a:noFill/>
          <a:ln/>
        </p:spPr>
        <p:txBody>
          <a:bodyPr wrap="square" rtlCol="0" anchor="ctr"/>
          <a:lstStyle/>
          <a:p>
            <a:pPr marL="0" indent="0">
              <a:buNone/>
            </a:pPr>
            <a:r>
              <a:rPr lang="en-US" sz="950" b="1" dirty="0">
                <a:solidFill>
                  <a:srgbClr val="1A3A5C"/>
                </a:solidFill>
                <a:latin typeface="Calibri" pitchFamily="34" charset="0"/>
                <a:ea typeface="Calibri" pitchFamily="34" charset="-122"/>
                <a:cs typeface="Calibri" pitchFamily="34" charset="-120"/>
              </a:rPr>
              <a:t>Établissement public administratif. Administrée par des artisans élus pour 5 ans au suffrage universel parmi les personnes immatriculées au Répertoire des métiers.</a:t>
            </a:r>
            <a:endParaRPr lang="en-US" sz="950" dirty="0"/>
          </a:p>
        </p:txBody>
      </p:sp>
      <p:sp>
        <p:nvSpPr>
          <p:cNvPr id="10" name="Shape 8"/>
          <p:cNvSpPr/>
          <p:nvPr/>
        </p:nvSpPr>
        <p:spPr>
          <a:xfrm>
            <a:off x="274320" y="1426464"/>
            <a:ext cx="4160520" cy="274320"/>
          </a:xfrm>
          <a:prstGeom prst="rect">
            <a:avLst/>
          </a:prstGeom>
          <a:solidFill>
            <a:srgbClr val="028090"/>
          </a:solidFill>
          <a:ln w="12700">
            <a:solidFill>
              <a:srgbClr val="028090"/>
            </a:solidFill>
            <a:prstDash val="solid"/>
          </a:ln>
        </p:spPr>
        <p:txBody>
          <a:bodyPr/>
          <a:lstStyle/>
          <a:p>
            <a:endParaRPr lang="fr-FR"/>
          </a:p>
        </p:txBody>
      </p:sp>
      <p:sp>
        <p:nvSpPr>
          <p:cNvPr id="11" name="Text 9"/>
          <p:cNvSpPr/>
          <p:nvPr/>
        </p:nvSpPr>
        <p:spPr>
          <a:xfrm>
            <a:off x="365760" y="1426464"/>
            <a:ext cx="39776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MISSIONS</a:t>
            </a:r>
            <a:endParaRPr lang="en-US" sz="1000" dirty="0"/>
          </a:p>
        </p:txBody>
      </p:sp>
      <p:sp>
        <p:nvSpPr>
          <p:cNvPr id="12" name="Shape 10"/>
          <p:cNvSpPr/>
          <p:nvPr/>
        </p:nvSpPr>
        <p:spPr>
          <a:xfrm>
            <a:off x="274320" y="1755648"/>
            <a:ext cx="4160520" cy="402336"/>
          </a:xfrm>
          <a:prstGeom prst="rect">
            <a:avLst/>
          </a:prstGeom>
          <a:solidFill>
            <a:srgbClr val="EBF4FC"/>
          </a:solidFill>
          <a:ln w="3810">
            <a:solidFill>
              <a:srgbClr val="D0DCE8"/>
            </a:solidFill>
            <a:prstDash val="solid"/>
          </a:ln>
        </p:spPr>
        <p:txBody>
          <a:bodyPr/>
          <a:lstStyle/>
          <a:p>
            <a:endParaRPr lang="fr-FR"/>
          </a:p>
        </p:txBody>
      </p:sp>
      <p:sp>
        <p:nvSpPr>
          <p:cNvPr id="13" name="Text 11"/>
          <p:cNvSpPr/>
          <p:nvPr/>
        </p:nvSpPr>
        <p:spPr>
          <a:xfrm>
            <a:off x="402336" y="1773936"/>
            <a:ext cx="3913632" cy="329184"/>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Représenter et défendre les intérêts de l'artisanat</a:t>
            </a:r>
            <a:endParaRPr lang="en-US" sz="900" dirty="0"/>
          </a:p>
        </p:txBody>
      </p:sp>
      <p:sp>
        <p:nvSpPr>
          <p:cNvPr id="14" name="Shape 12"/>
          <p:cNvSpPr/>
          <p:nvPr/>
        </p:nvSpPr>
        <p:spPr>
          <a:xfrm>
            <a:off x="274320" y="2194560"/>
            <a:ext cx="4160520" cy="402336"/>
          </a:xfrm>
          <a:prstGeom prst="rect">
            <a:avLst/>
          </a:prstGeom>
          <a:solidFill>
            <a:srgbClr val="FFFFFF"/>
          </a:solidFill>
          <a:ln w="3810">
            <a:solidFill>
              <a:srgbClr val="D0DCE8"/>
            </a:solidFill>
            <a:prstDash val="solid"/>
          </a:ln>
        </p:spPr>
        <p:txBody>
          <a:bodyPr/>
          <a:lstStyle/>
          <a:p>
            <a:endParaRPr lang="fr-FR"/>
          </a:p>
        </p:txBody>
      </p:sp>
      <p:sp>
        <p:nvSpPr>
          <p:cNvPr id="15" name="Text 13"/>
          <p:cNvSpPr/>
          <p:nvPr/>
        </p:nvSpPr>
        <p:spPr>
          <a:xfrm>
            <a:off x="402336" y="2212848"/>
            <a:ext cx="3913632" cy="329184"/>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Accompagner la création d'entreprise artisanale</a:t>
            </a:r>
            <a:endParaRPr lang="en-US" sz="900" dirty="0"/>
          </a:p>
        </p:txBody>
      </p:sp>
      <p:sp>
        <p:nvSpPr>
          <p:cNvPr id="16" name="Shape 14"/>
          <p:cNvSpPr/>
          <p:nvPr/>
        </p:nvSpPr>
        <p:spPr>
          <a:xfrm>
            <a:off x="274320" y="2633472"/>
            <a:ext cx="4160520" cy="402336"/>
          </a:xfrm>
          <a:prstGeom prst="rect">
            <a:avLst/>
          </a:prstGeom>
          <a:solidFill>
            <a:srgbClr val="EBF4FC"/>
          </a:solidFill>
          <a:ln w="3810">
            <a:solidFill>
              <a:srgbClr val="D0DCE8"/>
            </a:solidFill>
            <a:prstDash val="solid"/>
          </a:ln>
        </p:spPr>
        <p:txBody>
          <a:bodyPr/>
          <a:lstStyle/>
          <a:p>
            <a:endParaRPr lang="fr-FR"/>
          </a:p>
        </p:txBody>
      </p:sp>
      <p:sp>
        <p:nvSpPr>
          <p:cNvPr id="17" name="Text 15"/>
          <p:cNvSpPr/>
          <p:nvPr/>
        </p:nvSpPr>
        <p:spPr>
          <a:xfrm>
            <a:off x="402336" y="2651760"/>
            <a:ext cx="3913632" cy="329184"/>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Organiser et promouvoir l'apprentissage</a:t>
            </a:r>
            <a:endParaRPr lang="en-US" sz="900" dirty="0"/>
          </a:p>
        </p:txBody>
      </p:sp>
      <p:sp>
        <p:nvSpPr>
          <p:cNvPr id="18" name="Shape 16"/>
          <p:cNvSpPr/>
          <p:nvPr/>
        </p:nvSpPr>
        <p:spPr>
          <a:xfrm>
            <a:off x="274320" y="3072384"/>
            <a:ext cx="4160520" cy="402336"/>
          </a:xfrm>
          <a:prstGeom prst="rect">
            <a:avLst/>
          </a:prstGeom>
          <a:solidFill>
            <a:srgbClr val="FFFFFF"/>
          </a:solidFill>
          <a:ln w="3810">
            <a:solidFill>
              <a:srgbClr val="D0DCE8"/>
            </a:solidFill>
            <a:prstDash val="solid"/>
          </a:ln>
        </p:spPr>
        <p:txBody>
          <a:bodyPr/>
          <a:lstStyle/>
          <a:p>
            <a:endParaRPr lang="fr-FR"/>
          </a:p>
        </p:txBody>
      </p:sp>
      <p:sp>
        <p:nvSpPr>
          <p:cNvPr id="19" name="Text 17"/>
          <p:cNvSpPr/>
          <p:nvPr/>
        </p:nvSpPr>
        <p:spPr>
          <a:xfrm>
            <a:off x="402336" y="3090672"/>
            <a:ext cx="3913632" cy="329184"/>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Accompagner la transmission d'entreprise</a:t>
            </a:r>
            <a:endParaRPr lang="en-US" sz="900" dirty="0"/>
          </a:p>
        </p:txBody>
      </p:sp>
      <p:sp>
        <p:nvSpPr>
          <p:cNvPr id="20" name="Shape 18"/>
          <p:cNvSpPr/>
          <p:nvPr/>
        </p:nvSpPr>
        <p:spPr>
          <a:xfrm>
            <a:off x="274320" y="3511296"/>
            <a:ext cx="4160520" cy="402336"/>
          </a:xfrm>
          <a:prstGeom prst="rect">
            <a:avLst/>
          </a:prstGeom>
          <a:solidFill>
            <a:srgbClr val="EBF4FC"/>
          </a:solidFill>
          <a:ln w="3810">
            <a:solidFill>
              <a:srgbClr val="D0DCE8"/>
            </a:solidFill>
            <a:prstDash val="solid"/>
          </a:ln>
        </p:spPr>
        <p:txBody>
          <a:bodyPr/>
          <a:lstStyle/>
          <a:p>
            <a:endParaRPr lang="fr-FR"/>
          </a:p>
        </p:txBody>
      </p:sp>
      <p:sp>
        <p:nvSpPr>
          <p:cNvPr id="21" name="Text 19"/>
          <p:cNvSpPr/>
          <p:nvPr/>
        </p:nvSpPr>
        <p:spPr>
          <a:xfrm>
            <a:off x="402336" y="3529584"/>
            <a:ext cx="3913632" cy="329184"/>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Promouvoir le développement économique</a:t>
            </a:r>
            <a:endParaRPr lang="en-US" sz="900" dirty="0"/>
          </a:p>
        </p:txBody>
      </p:sp>
      <p:sp>
        <p:nvSpPr>
          <p:cNvPr id="22" name="Shape 20"/>
          <p:cNvSpPr/>
          <p:nvPr/>
        </p:nvSpPr>
        <p:spPr>
          <a:xfrm>
            <a:off x="274320" y="3950208"/>
            <a:ext cx="4160520" cy="402336"/>
          </a:xfrm>
          <a:prstGeom prst="rect">
            <a:avLst/>
          </a:prstGeom>
          <a:solidFill>
            <a:srgbClr val="FFFFFF"/>
          </a:solidFill>
          <a:ln w="3810">
            <a:solidFill>
              <a:srgbClr val="D0DCE8"/>
            </a:solidFill>
            <a:prstDash val="solid"/>
          </a:ln>
        </p:spPr>
        <p:txBody>
          <a:bodyPr/>
          <a:lstStyle/>
          <a:p>
            <a:endParaRPr lang="fr-FR"/>
          </a:p>
        </p:txBody>
      </p:sp>
      <p:sp>
        <p:nvSpPr>
          <p:cNvPr id="23" name="Text 21"/>
          <p:cNvSpPr/>
          <p:nvPr/>
        </p:nvSpPr>
        <p:spPr>
          <a:xfrm>
            <a:off x="402336" y="3968496"/>
            <a:ext cx="3913632" cy="329184"/>
          </a:xfrm>
          <a:prstGeom prst="rect">
            <a:avLst/>
          </a:prstGeom>
          <a:noFill/>
          <a:ln/>
        </p:spPr>
        <p:txBody>
          <a:bodyPr wrap="square" rtlCol="0" anchor="ctr"/>
          <a:lstStyle/>
          <a:p>
            <a:pPr marL="0" indent="0">
              <a:buNone/>
            </a:pPr>
            <a:r>
              <a:rPr lang="en-US" sz="900" b="1" dirty="0">
                <a:solidFill>
                  <a:srgbClr val="1E2D3D"/>
                </a:solidFill>
                <a:latin typeface="Calibri" pitchFamily="34" charset="0"/>
                <a:ea typeface="Calibri" pitchFamily="34" charset="-122"/>
                <a:cs typeface="Calibri" pitchFamily="34" charset="-120"/>
              </a:rPr>
              <a:t>▸ 🎓 Élaborer les sujets d'examen TAXI et VTC</a:t>
            </a:r>
            <a:endParaRPr lang="en-US" sz="900" dirty="0"/>
          </a:p>
        </p:txBody>
      </p:sp>
      <p:sp>
        <p:nvSpPr>
          <p:cNvPr id="24" name="Shape 22"/>
          <p:cNvSpPr/>
          <p:nvPr/>
        </p:nvSpPr>
        <p:spPr>
          <a:xfrm>
            <a:off x="4709160" y="1426464"/>
            <a:ext cx="4160520" cy="274320"/>
          </a:xfrm>
          <a:prstGeom prst="rect">
            <a:avLst/>
          </a:prstGeom>
          <a:solidFill>
            <a:srgbClr val="1A3A5C"/>
          </a:solidFill>
          <a:ln w="12700">
            <a:solidFill>
              <a:srgbClr val="1A3A5C"/>
            </a:solidFill>
            <a:prstDash val="solid"/>
          </a:ln>
        </p:spPr>
        <p:txBody>
          <a:bodyPr/>
          <a:lstStyle/>
          <a:p>
            <a:endParaRPr lang="fr-FR"/>
          </a:p>
        </p:txBody>
      </p:sp>
      <p:sp>
        <p:nvSpPr>
          <p:cNvPr id="25" name="Text 23"/>
          <p:cNvSpPr/>
          <p:nvPr/>
        </p:nvSpPr>
        <p:spPr>
          <a:xfrm>
            <a:off x="4800600" y="1426464"/>
            <a:ext cx="39776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HIÉRARCHIE</a:t>
            </a:r>
            <a:endParaRPr lang="en-US" sz="1000" dirty="0"/>
          </a:p>
        </p:txBody>
      </p:sp>
      <p:sp>
        <p:nvSpPr>
          <p:cNvPr id="26" name="Shape 24"/>
          <p:cNvSpPr/>
          <p:nvPr/>
        </p:nvSpPr>
        <p:spPr>
          <a:xfrm>
            <a:off x="4709160" y="1755648"/>
            <a:ext cx="4160520" cy="402336"/>
          </a:xfrm>
          <a:prstGeom prst="rect">
            <a:avLst/>
          </a:prstGeom>
          <a:solidFill>
            <a:srgbClr val="FFFFFF"/>
          </a:solidFill>
          <a:ln w="3810">
            <a:solidFill>
              <a:srgbClr val="D0DCE8"/>
            </a:solidFill>
            <a:prstDash val="solid"/>
          </a:ln>
        </p:spPr>
        <p:txBody>
          <a:bodyPr/>
          <a:lstStyle/>
          <a:p>
            <a:endParaRPr lang="fr-FR"/>
          </a:p>
        </p:txBody>
      </p:sp>
      <p:sp>
        <p:nvSpPr>
          <p:cNvPr id="27" name="Text 25"/>
          <p:cNvSpPr/>
          <p:nvPr/>
        </p:nvSpPr>
        <p:spPr>
          <a:xfrm>
            <a:off x="4818888" y="1773936"/>
            <a:ext cx="1097280" cy="329184"/>
          </a:xfrm>
          <a:prstGeom prst="rect">
            <a:avLst/>
          </a:prstGeom>
          <a:noFill/>
          <a:ln/>
        </p:spPr>
        <p:txBody>
          <a:bodyPr wrap="square" rtlCol="0" anchor="ctr"/>
          <a:lstStyle/>
          <a:p>
            <a:pPr marL="0" indent="0">
              <a:buNone/>
            </a:pPr>
            <a:r>
              <a:rPr lang="en-US" sz="820" b="1" dirty="0">
                <a:solidFill>
                  <a:srgbClr val="1A3A5C"/>
                </a:solidFill>
                <a:latin typeface="Calibri" pitchFamily="34" charset="0"/>
                <a:ea typeface="Calibri" pitchFamily="34" charset="-122"/>
                <a:cs typeface="Calibri" pitchFamily="34" charset="-120"/>
              </a:rPr>
              <a:t>National</a:t>
            </a:r>
            <a:endParaRPr lang="en-US" sz="820" dirty="0"/>
          </a:p>
        </p:txBody>
      </p:sp>
      <p:sp>
        <p:nvSpPr>
          <p:cNvPr id="28" name="Text 26"/>
          <p:cNvSpPr/>
          <p:nvPr/>
        </p:nvSpPr>
        <p:spPr>
          <a:xfrm>
            <a:off x="6007608" y="1773936"/>
            <a:ext cx="2761488" cy="329184"/>
          </a:xfrm>
          <a:prstGeom prst="rect">
            <a:avLst/>
          </a:prstGeom>
          <a:noFill/>
          <a:ln/>
        </p:spPr>
        <p:txBody>
          <a:bodyPr wrap="square" rtlCol="0" anchor="ctr"/>
          <a:lstStyle/>
          <a:p>
            <a:pPr marL="0" indent="0">
              <a:buNone/>
            </a:pPr>
            <a:r>
              <a:rPr lang="en-US" sz="820" dirty="0">
                <a:solidFill>
                  <a:srgbClr val="1E2D3D"/>
                </a:solidFill>
                <a:latin typeface="Calibri" pitchFamily="34" charset="0"/>
                <a:ea typeface="Calibri" pitchFamily="34" charset="-122"/>
                <a:cs typeface="Calibri" pitchFamily="34" charset="-120"/>
              </a:rPr>
              <a:t>APCMA — Assemblée Permanente des CMA</a:t>
            </a:r>
            <a:endParaRPr lang="en-US" sz="820" dirty="0"/>
          </a:p>
        </p:txBody>
      </p:sp>
      <p:sp>
        <p:nvSpPr>
          <p:cNvPr id="29" name="Shape 27"/>
          <p:cNvSpPr/>
          <p:nvPr/>
        </p:nvSpPr>
        <p:spPr>
          <a:xfrm>
            <a:off x="4709160" y="2194560"/>
            <a:ext cx="4160520" cy="402336"/>
          </a:xfrm>
          <a:prstGeom prst="rect">
            <a:avLst/>
          </a:prstGeom>
          <a:solidFill>
            <a:srgbClr val="EBF4FC"/>
          </a:solidFill>
          <a:ln w="3810">
            <a:solidFill>
              <a:srgbClr val="D0DCE8"/>
            </a:solidFill>
            <a:prstDash val="solid"/>
          </a:ln>
        </p:spPr>
        <p:txBody>
          <a:bodyPr/>
          <a:lstStyle/>
          <a:p>
            <a:endParaRPr lang="fr-FR"/>
          </a:p>
        </p:txBody>
      </p:sp>
      <p:sp>
        <p:nvSpPr>
          <p:cNvPr id="30" name="Text 28"/>
          <p:cNvSpPr/>
          <p:nvPr/>
        </p:nvSpPr>
        <p:spPr>
          <a:xfrm>
            <a:off x="4818888" y="2212848"/>
            <a:ext cx="1097280" cy="329184"/>
          </a:xfrm>
          <a:prstGeom prst="rect">
            <a:avLst/>
          </a:prstGeom>
          <a:noFill/>
          <a:ln/>
        </p:spPr>
        <p:txBody>
          <a:bodyPr wrap="square" rtlCol="0" anchor="ctr"/>
          <a:lstStyle/>
          <a:p>
            <a:pPr marL="0" indent="0">
              <a:buNone/>
            </a:pPr>
            <a:r>
              <a:rPr lang="en-US" sz="820" b="1" dirty="0">
                <a:solidFill>
                  <a:srgbClr val="1A3A5C"/>
                </a:solidFill>
                <a:latin typeface="Calibri" pitchFamily="34" charset="0"/>
                <a:ea typeface="Calibri" pitchFamily="34" charset="-122"/>
                <a:cs typeface="Calibri" pitchFamily="34" charset="-120"/>
              </a:rPr>
              <a:t>Régional</a:t>
            </a:r>
            <a:endParaRPr lang="en-US" sz="820" dirty="0"/>
          </a:p>
        </p:txBody>
      </p:sp>
      <p:sp>
        <p:nvSpPr>
          <p:cNvPr id="31" name="Text 29"/>
          <p:cNvSpPr/>
          <p:nvPr/>
        </p:nvSpPr>
        <p:spPr>
          <a:xfrm>
            <a:off x="6007608" y="2212848"/>
            <a:ext cx="2761488" cy="329184"/>
          </a:xfrm>
          <a:prstGeom prst="rect">
            <a:avLst/>
          </a:prstGeom>
          <a:noFill/>
          <a:ln/>
        </p:spPr>
        <p:txBody>
          <a:bodyPr wrap="square" rtlCol="0" anchor="ctr"/>
          <a:lstStyle/>
          <a:p>
            <a:pPr marL="0" indent="0">
              <a:buNone/>
            </a:pPr>
            <a:r>
              <a:rPr lang="en-US" sz="820" dirty="0">
                <a:solidFill>
                  <a:srgbClr val="1E2D3D"/>
                </a:solidFill>
                <a:latin typeface="Calibri" pitchFamily="34" charset="0"/>
                <a:ea typeface="Calibri" pitchFamily="34" charset="-122"/>
                <a:cs typeface="Calibri" pitchFamily="34" charset="-120"/>
              </a:rPr>
              <a:t>CRMA — Chambres Régionales des Métiers</a:t>
            </a:r>
            <a:endParaRPr lang="en-US" sz="820" dirty="0"/>
          </a:p>
        </p:txBody>
      </p:sp>
      <p:sp>
        <p:nvSpPr>
          <p:cNvPr id="32" name="Shape 30"/>
          <p:cNvSpPr/>
          <p:nvPr/>
        </p:nvSpPr>
        <p:spPr>
          <a:xfrm>
            <a:off x="4709160" y="2633472"/>
            <a:ext cx="4160520" cy="402336"/>
          </a:xfrm>
          <a:prstGeom prst="rect">
            <a:avLst/>
          </a:prstGeom>
          <a:solidFill>
            <a:srgbClr val="FFFFFF"/>
          </a:solidFill>
          <a:ln w="3810">
            <a:solidFill>
              <a:srgbClr val="D0DCE8"/>
            </a:solidFill>
            <a:prstDash val="solid"/>
          </a:ln>
        </p:spPr>
        <p:txBody>
          <a:bodyPr/>
          <a:lstStyle/>
          <a:p>
            <a:endParaRPr lang="fr-FR"/>
          </a:p>
        </p:txBody>
      </p:sp>
      <p:sp>
        <p:nvSpPr>
          <p:cNvPr id="33" name="Text 31"/>
          <p:cNvSpPr/>
          <p:nvPr/>
        </p:nvSpPr>
        <p:spPr>
          <a:xfrm>
            <a:off x="4818888" y="2651760"/>
            <a:ext cx="1097280" cy="329184"/>
          </a:xfrm>
          <a:prstGeom prst="rect">
            <a:avLst/>
          </a:prstGeom>
          <a:noFill/>
          <a:ln/>
        </p:spPr>
        <p:txBody>
          <a:bodyPr wrap="square" rtlCol="0" anchor="ctr"/>
          <a:lstStyle/>
          <a:p>
            <a:pPr marL="0" indent="0">
              <a:buNone/>
            </a:pPr>
            <a:r>
              <a:rPr lang="en-US" sz="820" b="1" dirty="0">
                <a:solidFill>
                  <a:srgbClr val="1A3A5C"/>
                </a:solidFill>
                <a:latin typeface="Calibri" pitchFamily="34" charset="0"/>
                <a:ea typeface="Calibri" pitchFamily="34" charset="-122"/>
                <a:cs typeface="Calibri" pitchFamily="34" charset="-120"/>
              </a:rPr>
              <a:t>Départemental</a:t>
            </a:r>
            <a:endParaRPr lang="en-US" sz="820" dirty="0"/>
          </a:p>
        </p:txBody>
      </p:sp>
      <p:sp>
        <p:nvSpPr>
          <p:cNvPr id="34" name="Text 32"/>
          <p:cNvSpPr/>
          <p:nvPr/>
        </p:nvSpPr>
        <p:spPr>
          <a:xfrm>
            <a:off x="6007608" y="2651760"/>
            <a:ext cx="2761488" cy="329184"/>
          </a:xfrm>
          <a:prstGeom prst="rect">
            <a:avLst/>
          </a:prstGeom>
          <a:noFill/>
          <a:ln/>
        </p:spPr>
        <p:txBody>
          <a:bodyPr wrap="square" rtlCol="0" anchor="ctr"/>
          <a:lstStyle/>
          <a:p>
            <a:pPr marL="0" indent="0">
              <a:buNone/>
            </a:pPr>
            <a:r>
              <a:rPr lang="en-US" sz="820" dirty="0">
                <a:solidFill>
                  <a:srgbClr val="1E2D3D"/>
                </a:solidFill>
                <a:latin typeface="Calibri" pitchFamily="34" charset="0"/>
                <a:ea typeface="Calibri" pitchFamily="34" charset="-122"/>
                <a:cs typeface="Calibri" pitchFamily="34" charset="-120"/>
              </a:rPr>
              <a:t>CMAD — Chambres Départementales des Métiers</a:t>
            </a:r>
            <a:endParaRPr lang="en-US" sz="820" dirty="0"/>
          </a:p>
        </p:txBody>
      </p:sp>
      <p:sp>
        <p:nvSpPr>
          <p:cNvPr id="35" name="Shape 33"/>
          <p:cNvSpPr/>
          <p:nvPr/>
        </p:nvSpPr>
        <p:spPr>
          <a:xfrm>
            <a:off x="4709160" y="3072384"/>
            <a:ext cx="4160520" cy="402336"/>
          </a:xfrm>
          <a:prstGeom prst="rect">
            <a:avLst/>
          </a:prstGeom>
          <a:solidFill>
            <a:srgbClr val="EBF4FC"/>
          </a:solidFill>
          <a:ln w="3810">
            <a:solidFill>
              <a:srgbClr val="D0DCE8"/>
            </a:solidFill>
            <a:prstDash val="solid"/>
          </a:ln>
        </p:spPr>
        <p:txBody>
          <a:bodyPr/>
          <a:lstStyle/>
          <a:p>
            <a:endParaRPr lang="fr-FR"/>
          </a:p>
        </p:txBody>
      </p:sp>
      <p:sp>
        <p:nvSpPr>
          <p:cNvPr id="36" name="Text 34"/>
          <p:cNvSpPr/>
          <p:nvPr/>
        </p:nvSpPr>
        <p:spPr>
          <a:xfrm>
            <a:off x="4818888" y="3090672"/>
            <a:ext cx="1097280" cy="329184"/>
          </a:xfrm>
          <a:prstGeom prst="rect">
            <a:avLst/>
          </a:prstGeom>
          <a:noFill/>
          <a:ln/>
        </p:spPr>
        <p:txBody>
          <a:bodyPr wrap="square" rtlCol="0" anchor="ctr"/>
          <a:lstStyle/>
          <a:p>
            <a:pPr marL="0" indent="0">
              <a:buNone/>
            </a:pPr>
            <a:r>
              <a:rPr lang="en-US" sz="820" b="1" dirty="0">
                <a:solidFill>
                  <a:srgbClr val="1A3A5C"/>
                </a:solidFill>
                <a:latin typeface="Calibri" pitchFamily="34" charset="0"/>
                <a:ea typeface="Calibri" pitchFamily="34" charset="-122"/>
                <a:cs typeface="Calibri" pitchFamily="34" charset="-120"/>
              </a:rPr>
              <a:t>Élections</a:t>
            </a:r>
            <a:endParaRPr lang="en-US" sz="820" dirty="0"/>
          </a:p>
        </p:txBody>
      </p:sp>
      <p:sp>
        <p:nvSpPr>
          <p:cNvPr id="37" name="Text 35"/>
          <p:cNvSpPr/>
          <p:nvPr/>
        </p:nvSpPr>
        <p:spPr>
          <a:xfrm>
            <a:off x="6007608" y="3090672"/>
            <a:ext cx="2761488" cy="329184"/>
          </a:xfrm>
          <a:prstGeom prst="rect">
            <a:avLst/>
          </a:prstGeom>
          <a:noFill/>
          <a:ln/>
        </p:spPr>
        <p:txBody>
          <a:bodyPr wrap="square" rtlCol="0" anchor="ctr"/>
          <a:lstStyle/>
          <a:p>
            <a:pPr marL="0" indent="0">
              <a:buNone/>
            </a:pPr>
            <a:r>
              <a:rPr lang="en-US" sz="820" dirty="0">
                <a:solidFill>
                  <a:srgbClr val="1E2D3D"/>
                </a:solidFill>
                <a:latin typeface="Calibri" pitchFamily="34" charset="0"/>
                <a:ea typeface="Calibri" pitchFamily="34" charset="-122"/>
                <a:cs typeface="Calibri" pitchFamily="34" charset="-120"/>
              </a:rPr>
              <a:t>Artisans élus pour 5 ans au suffrage universel</a:t>
            </a:r>
            <a:endParaRPr lang="en-US" sz="820" dirty="0"/>
          </a:p>
        </p:txBody>
      </p:sp>
      <p:sp>
        <p:nvSpPr>
          <p:cNvPr id="38" name="Shape 36"/>
          <p:cNvSpPr/>
          <p:nvPr/>
        </p:nvSpPr>
        <p:spPr>
          <a:xfrm>
            <a:off x="4709160" y="3511296"/>
            <a:ext cx="4160520" cy="402336"/>
          </a:xfrm>
          <a:prstGeom prst="rect">
            <a:avLst/>
          </a:prstGeom>
          <a:solidFill>
            <a:srgbClr val="FFFFFF"/>
          </a:solidFill>
          <a:ln w="3810">
            <a:solidFill>
              <a:srgbClr val="D0DCE8"/>
            </a:solidFill>
            <a:prstDash val="solid"/>
          </a:ln>
        </p:spPr>
        <p:txBody>
          <a:bodyPr/>
          <a:lstStyle/>
          <a:p>
            <a:endParaRPr lang="fr-FR"/>
          </a:p>
        </p:txBody>
      </p:sp>
      <p:sp>
        <p:nvSpPr>
          <p:cNvPr id="39" name="Text 37"/>
          <p:cNvSpPr/>
          <p:nvPr/>
        </p:nvSpPr>
        <p:spPr>
          <a:xfrm>
            <a:off x="4818888" y="3529584"/>
            <a:ext cx="1097280" cy="329184"/>
          </a:xfrm>
          <a:prstGeom prst="rect">
            <a:avLst/>
          </a:prstGeom>
          <a:noFill/>
          <a:ln/>
        </p:spPr>
        <p:txBody>
          <a:bodyPr wrap="square" rtlCol="0" anchor="ctr"/>
          <a:lstStyle/>
          <a:p>
            <a:pPr marL="0" indent="0">
              <a:buNone/>
            </a:pPr>
            <a:r>
              <a:rPr lang="en-US" sz="820" b="1" dirty="0">
                <a:solidFill>
                  <a:srgbClr val="1A3A5C"/>
                </a:solidFill>
                <a:latin typeface="Calibri" pitchFamily="34" charset="0"/>
                <a:ea typeface="Calibri" pitchFamily="34" charset="-122"/>
                <a:cs typeface="Calibri" pitchFamily="34" charset="-120"/>
              </a:rPr>
              <a:t>Répertoire</a:t>
            </a:r>
            <a:endParaRPr lang="en-US" sz="820" dirty="0"/>
          </a:p>
        </p:txBody>
      </p:sp>
      <p:sp>
        <p:nvSpPr>
          <p:cNvPr id="40" name="Text 38"/>
          <p:cNvSpPr/>
          <p:nvPr/>
        </p:nvSpPr>
        <p:spPr>
          <a:xfrm>
            <a:off x="6007608" y="3529584"/>
            <a:ext cx="2761488" cy="329184"/>
          </a:xfrm>
          <a:prstGeom prst="rect">
            <a:avLst/>
          </a:prstGeom>
          <a:noFill/>
          <a:ln/>
        </p:spPr>
        <p:txBody>
          <a:bodyPr wrap="square" rtlCol="0" anchor="ctr"/>
          <a:lstStyle/>
          <a:p>
            <a:pPr marL="0" indent="0">
              <a:buNone/>
            </a:pPr>
            <a:r>
              <a:rPr lang="en-US" sz="820" dirty="0">
                <a:solidFill>
                  <a:srgbClr val="1E2D3D"/>
                </a:solidFill>
                <a:latin typeface="Calibri" pitchFamily="34" charset="0"/>
                <a:ea typeface="Calibri" pitchFamily="34" charset="-122"/>
                <a:cs typeface="Calibri" pitchFamily="34" charset="-120"/>
              </a:rPr>
              <a:t>Répertoire des Métiers (RM)</a:t>
            </a:r>
            <a:endParaRPr lang="en-US" sz="820" dirty="0"/>
          </a:p>
        </p:txBody>
      </p:sp>
      <p:sp>
        <p:nvSpPr>
          <p:cNvPr id="41" name="Shape 39"/>
          <p:cNvSpPr/>
          <p:nvPr/>
        </p:nvSpPr>
        <p:spPr>
          <a:xfrm>
            <a:off x="4709160" y="3950208"/>
            <a:ext cx="4160520" cy="402336"/>
          </a:xfrm>
          <a:prstGeom prst="rect">
            <a:avLst/>
          </a:prstGeom>
          <a:solidFill>
            <a:srgbClr val="EBF4FC"/>
          </a:solidFill>
          <a:ln w="3810">
            <a:solidFill>
              <a:srgbClr val="D0DCE8"/>
            </a:solidFill>
            <a:prstDash val="solid"/>
          </a:ln>
        </p:spPr>
        <p:txBody>
          <a:bodyPr/>
          <a:lstStyle/>
          <a:p>
            <a:endParaRPr lang="fr-FR"/>
          </a:p>
        </p:txBody>
      </p:sp>
      <p:sp>
        <p:nvSpPr>
          <p:cNvPr id="42" name="Text 40"/>
          <p:cNvSpPr/>
          <p:nvPr/>
        </p:nvSpPr>
        <p:spPr>
          <a:xfrm>
            <a:off x="4818888" y="3968496"/>
            <a:ext cx="1097280" cy="329184"/>
          </a:xfrm>
          <a:prstGeom prst="rect">
            <a:avLst/>
          </a:prstGeom>
          <a:noFill/>
          <a:ln/>
        </p:spPr>
        <p:txBody>
          <a:bodyPr wrap="square" rtlCol="0" anchor="ctr"/>
          <a:lstStyle/>
          <a:p>
            <a:pPr marL="0" indent="0">
              <a:buNone/>
            </a:pPr>
            <a:r>
              <a:rPr lang="en-US" sz="820" b="1" dirty="0">
                <a:solidFill>
                  <a:srgbClr val="1A3A5C"/>
                </a:solidFill>
                <a:latin typeface="Calibri" pitchFamily="34" charset="0"/>
                <a:ea typeface="Calibri" pitchFamily="34" charset="-122"/>
                <a:cs typeface="Calibri" pitchFamily="34" charset="-120"/>
              </a:rPr>
              <a:t>🔑 Rôle VTC/Taxi</a:t>
            </a:r>
            <a:endParaRPr lang="en-US" sz="820" dirty="0"/>
          </a:p>
        </p:txBody>
      </p:sp>
      <p:sp>
        <p:nvSpPr>
          <p:cNvPr id="43" name="Text 41"/>
          <p:cNvSpPr/>
          <p:nvPr/>
        </p:nvSpPr>
        <p:spPr>
          <a:xfrm>
            <a:off x="6007608" y="3968496"/>
            <a:ext cx="2761488" cy="329184"/>
          </a:xfrm>
          <a:prstGeom prst="rect">
            <a:avLst/>
          </a:prstGeom>
          <a:noFill/>
          <a:ln/>
        </p:spPr>
        <p:txBody>
          <a:bodyPr wrap="square" rtlCol="0" anchor="ctr"/>
          <a:lstStyle/>
          <a:p>
            <a:pPr marL="0" indent="0">
              <a:buNone/>
            </a:pPr>
            <a:r>
              <a:rPr lang="en-US" sz="820" dirty="0">
                <a:solidFill>
                  <a:srgbClr val="1E2D3D"/>
                </a:solidFill>
                <a:latin typeface="Calibri" pitchFamily="34" charset="0"/>
                <a:ea typeface="Calibri" pitchFamily="34" charset="-122"/>
                <a:cs typeface="Calibri" pitchFamily="34" charset="-120"/>
              </a:rPr>
              <a:t>Élabore les sujets de l'examen professionnel</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1A3A5C"/>
          </a:solidFill>
          <a:ln/>
        </p:spPr>
        <p:txBody>
          <a:bodyPr/>
          <a:lstStyle/>
          <a:p>
            <a:endParaRPr lang="fr-FR"/>
          </a:p>
        </p:txBody>
      </p:sp>
      <p:sp>
        <p:nvSpPr>
          <p:cNvPr id="3" name="Text 1"/>
          <p:cNvSpPr/>
          <p:nvPr/>
        </p:nvSpPr>
        <p:spPr>
          <a:xfrm>
            <a:off x="365760" y="0"/>
            <a:ext cx="8412480" cy="603504"/>
          </a:xfrm>
          <a:prstGeom prst="rect">
            <a:avLst/>
          </a:prstGeom>
          <a:noFill/>
          <a:ln/>
        </p:spPr>
        <p:txBody>
          <a:bodyPr wrap="square" lIns="0" tIns="0" rIns="0" bIns="0"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CGA et Expert-comptable</a:t>
            </a:r>
            <a:endParaRPr lang="en-US" sz="1900" dirty="0"/>
          </a:p>
        </p:txBody>
      </p:sp>
      <p:sp>
        <p:nvSpPr>
          <p:cNvPr id="4" name="Text 2"/>
          <p:cNvSpPr/>
          <p:nvPr/>
        </p:nvSpPr>
        <p:spPr>
          <a:xfrm>
            <a:off x="365760" y="621792"/>
            <a:ext cx="8412480" cy="329184"/>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Deux acteurs complémentaires — mais des rôles très différents</a:t>
            </a:r>
            <a:endParaRPr lang="en-US" sz="1050" dirty="0"/>
          </a:p>
        </p:txBody>
      </p:sp>
      <p:sp>
        <p:nvSpPr>
          <p:cNvPr id="5" name="Text 3"/>
          <p:cNvSpPr/>
          <p:nvPr/>
        </p:nvSpPr>
        <p:spPr>
          <a:xfrm>
            <a:off x="274320" y="4892040"/>
            <a:ext cx="8046720" cy="201168"/>
          </a:xfrm>
          <a:prstGeom prst="rect">
            <a:avLst/>
          </a:prstGeom>
          <a:noFill/>
          <a:ln/>
        </p:spPr>
        <p:txBody>
          <a:bodyPr wrap="square" lIns="0" tIns="0" rIns="0" bIns="0" rtlCol="0" anchor="ctr"/>
          <a:lstStyle/>
          <a:p>
            <a:pPr marL="0" indent="0">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6" name="Text 4"/>
          <p:cNvSpPr/>
          <p:nvPr/>
        </p:nvSpPr>
        <p:spPr>
          <a:xfrm>
            <a:off x="8732520" y="4892040"/>
            <a:ext cx="347472" cy="201168"/>
          </a:xfrm>
          <a:prstGeom prst="rect">
            <a:avLst/>
          </a:prstGeom>
          <a:noFill/>
          <a:ln/>
        </p:spPr>
        <p:txBody>
          <a:bodyPr wrap="square" lIns="0" tIns="0" rIns="0" bIns="0"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31</a:t>
            </a:r>
            <a:endParaRPr lang="en-US" sz="800" dirty="0"/>
          </a:p>
        </p:txBody>
      </p:sp>
      <p:sp>
        <p:nvSpPr>
          <p:cNvPr id="7" name="Shape 5"/>
          <p:cNvSpPr/>
          <p:nvPr/>
        </p:nvSpPr>
        <p:spPr>
          <a:xfrm>
            <a:off x="274320" y="1005840"/>
            <a:ext cx="8595360" cy="420624"/>
          </a:xfrm>
          <a:prstGeom prst="rect">
            <a:avLst/>
          </a:prstGeom>
          <a:solidFill>
            <a:srgbClr val="F0F4F8"/>
          </a:solidFill>
          <a:ln/>
        </p:spPr>
        <p:txBody>
          <a:bodyPr/>
          <a:lstStyle/>
          <a:p>
            <a:endParaRPr lang="fr-FR"/>
          </a:p>
        </p:txBody>
      </p:sp>
      <p:sp>
        <p:nvSpPr>
          <p:cNvPr id="8" name="Text 6"/>
          <p:cNvSpPr/>
          <p:nvPr/>
        </p:nvSpPr>
        <p:spPr>
          <a:xfrm>
            <a:off x="402336" y="1024128"/>
            <a:ext cx="8339328" cy="384048"/>
          </a:xfrm>
          <a:prstGeom prst="rect">
            <a:avLst/>
          </a:prstGeom>
          <a:noFill/>
          <a:ln/>
        </p:spPr>
        <p:txBody>
          <a:bodyPr wrap="square" lIns="0" tIns="0" rIns="0" bIns="0" rtlCol="0" anchor="ctr"/>
          <a:lstStyle/>
          <a:p>
            <a:pPr marL="0" indent="0">
              <a:buNone/>
            </a:pPr>
            <a:r>
              <a:rPr lang="en-US" sz="1000" b="1" dirty="0">
                <a:solidFill>
                  <a:srgbClr val="1A3A5C"/>
                </a:solidFill>
              </a:rPr>
              <a:t>Le CGA vérifie, l'expert-comptable fait le travail. </a:t>
            </a:r>
            <a:r>
              <a:rPr lang="en-US" sz="950" dirty="0">
                <a:solidFill>
                  <a:srgbClr val="1E2D3D"/>
                </a:solidFill>
              </a:rPr>
              <a:t>Le CGA contrôle vos comptes a posteriori. L'expert-comptable tient votre comptabilité au quotidien ET certifie vos comptes auprès du fisc. Ce sont deux choses différentes !</a:t>
            </a:r>
            <a:endParaRPr lang="en-US" sz="1000" dirty="0"/>
          </a:p>
        </p:txBody>
      </p:sp>
      <p:sp>
        <p:nvSpPr>
          <p:cNvPr id="9" name="Shape 7"/>
          <p:cNvSpPr/>
          <p:nvPr/>
        </p:nvSpPr>
        <p:spPr>
          <a:xfrm>
            <a:off x="274320" y="1499616"/>
            <a:ext cx="4160520" cy="2560320"/>
          </a:xfrm>
          <a:prstGeom prst="rect">
            <a:avLst/>
          </a:prstGeom>
          <a:solidFill>
            <a:srgbClr val="F0F4F8"/>
          </a:solidFill>
          <a:ln/>
        </p:spPr>
        <p:txBody>
          <a:bodyPr/>
          <a:lstStyle/>
          <a:p>
            <a:endParaRPr lang="fr-FR"/>
          </a:p>
        </p:txBody>
      </p:sp>
      <p:sp>
        <p:nvSpPr>
          <p:cNvPr id="10" name="Shape 8"/>
          <p:cNvSpPr/>
          <p:nvPr/>
        </p:nvSpPr>
        <p:spPr>
          <a:xfrm>
            <a:off x="274320" y="1499616"/>
            <a:ext cx="4160520" cy="256032"/>
          </a:xfrm>
          <a:prstGeom prst="rect">
            <a:avLst/>
          </a:prstGeom>
          <a:solidFill>
            <a:srgbClr val="B8860B"/>
          </a:solidFill>
          <a:ln/>
        </p:spPr>
        <p:txBody>
          <a:bodyPr/>
          <a:lstStyle/>
          <a:p>
            <a:endParaRPr lang="fr-FR"/>
          </a:p>
        </p:txBody>
      </p:sp>
      <p:sp>
        <p:nvSpPr>
          <p:cNvPr id="11" name="Text 9"/>
          <p:cNvSpPr/>
          <p:nvPr/>
        </p:nvSpPr>
        <p:spPr>
          <a:xfrm>
            <a:off x="347472" y="1499616"/>
            <a:ext cx="401421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Centre de Gestion Agréé (CGA)</a:t>
            </a:r>
            <a:endParaRPr lang="en-US" sz="1000" dirty="0"/>
          </a:p>
        </p:txBody>
      </p:sp>
      <p:sp>
        <p:nvSpPr>
          <p:cNvPr id="12" name="Text 10"/>
          <p:cNvSpPr/>
          <p:nvPr/>
        </p:nvSpPr>
        <p:spPr>
          <a:xfrm>
            <a:off x="384048" y="1792224"/>
            <a:ext cx="3941064" cy="2231136"/>
          </a:xfrm>
          <a:prstGeom prst="rect">
            <a:avLst/>
          </a:prstGeom>
          <a:noFill/>
          <a:ln/>
        </p:spPr>
        <p:txBody>
          <a:bodyPr wrap="square" lIns="0" tIns="0" rIns="0" bIns="0" rtlCol="0" anchor="t"/>
          <a:lstStyle/>
          <a:p>
            <a:pPr marL="0" indent="0">
              <a:buNone/>
            </a:pPr>
            <a:r>
              <a:rPr lang="en-US" sz="1000" b="1" dirty="0">
                <a:solidFill>
                  <a:srgbClr val="1A3A5C"/>
                </a:solidFill>
              </a:rPr>
              <a:t>Ce qu'il fait :</a:t>
            </a:r>
            <a:endParaRPr lang="en-US" sz="1000" dirty="0"/>
          </a:p>
          <a:p>
            <a:pPr marL="0" indent="0">
              <a:buNone/>
            </a:pPr>
            <a:r>
              <a:rPr lang="en-US" sz="950" dirty="0">
                <a:solidFill>
                  <a:srgbClr val="000000"/>
                </a:solidFill>
              </a:rPr>
              <a:t>▸ Vérifie vos déclarations fiscales</a:t>
            </a:r>
            <a:endParaRPr lang="en-US" sz="1000" dirty="0"/>
          </a:p>
          <a:p>
            <a:pPr marL="0" indent="0">
              <a:buNone/>
            </a:pPr>
            <a:r>
              <a:rPr lang="en-US" sz="950" dirty="0">
                <a:solidFill>
                  <a:srgbClr val="000000"/>
                </a:solidFill>
              </a:rPr>
              <a:t>▸ Révise votre comptabilité (cherche les erreurs)</a:t>
            </a:r>
            <a:endParaRPr lang="en-US" sz="1000" dirty="0"/>
          </a:p>
          <a:p>
            <a:pPr marL="0" indent="0">
              <a:buNone/>
            </a:pPr>
            <a:r>
              <a:rPr lang="en-US" sz="950" dirty="0">
                <a:solidFill>
                  <a:srgbClr val="000000"/>
                </a:solidFill>
              </a:rPr>
              <a:t>▸ Propose des formations et ateliers</a:t>
            </a:r>
            <a:endParaRPr lang="en-US" sz="1000" dirty="0"/>
          </a:p>
          <a:p>
            <a:pPr marL="0" indent="0">
              <a:buNone/>
            </a:pPr>
            <a:endParaRPr lang="en-US" sz="1000" dirty="0"/>
          </a:p>
          <a:p>
            <a:pPr marL="0" indent="0">
              <a:buNone/>
            </a:pPr>
            <a:r>
              <a:rPr lang="en-US" sz="1000" b="1" dirty="0">
                <a:solidFill>
                  <a:srgbClr val="C05621"/>
                </a:solidFill>
              </a:rPr>
              <a:t>Ce qu'il NE fait PAS :</a:t>
            </a:r>
            <a:endParaRPr lang="en-US" sz="1000" dirty="0"/>
          </a:p>
          <a:p>
            <a:pPr marL="0" indent="0">
              <a:buNone/>
            </a:pPr>
            <a:r>
              <a:rPr lang="en-US" sz="950" dirty="0">
                <a:solidFill>
                  <a:srgbClr val="C05621"/>
                </a:solidFill>
              </a:rPr>
              <a:t>✖ NE tient PAS votre comptabilité au quotidien</a:t>
            </a:r>
            <a:endParaRPr lang="en-US" sz="1000" dirty="0"/>
          </a:p>
          <a:p>
            <a:pPr marL="0" indent="0">
              <a:buNone/>
            </a:pPr>
            <a:r>
              <a:rPr lang="en-US" sz="950" dirty="0">
                <a:solidFill>
                  <a:srgbClr val="C05621"/>
                </a:solidFill>
              </a:rPr>
              <a:t>✖ N'a PAS le pouvoir de certifier vos comptes</a:t>
            </a:r>
            <a:endParaRPr lang="en-US" sz="1000" dirty="0"/>
          </a:p>
          <a:p>
            <a:pPr marL="0" indent="0">
              <a:buNone/>
            </a:pPr>
            <a:r>
              <a:rPr lang="en-US" sz="950" dirty="0">
                <a:solidFill>
                  <a:srgbClr val="C05621"/>
                </a:solidFill>
              </a:rPr>
              <a:t>✖ Ne peut PAS attester auprès du fisc</a:t>
            </a:r>
            <a:endParaRPr lang="en-US" sz="1000" dirty="0"/>
          </a:p>
          <a:p>
            <a:pPr marL="0" indent="0">
              <a:buNone/>
            </a:pPr>
            <a:endParaRPr lang="en-US" sz="1000" dirty="0"/>
          </a:p>
          <a:p>
            <a:pPr marL="0" indent="0">
              <a:buNone/>
            </a:pPr>
            <a:r>
              <a:rPr lang="en-US" sz="950" b="1" dirty="0">
                <a:solidFill>
                  <a:srgbClr val="1A3A5C"/>
                </a:solidFill>
              </a:rPr>
              <a:t>Conditions :</a:t>
            </a:r>
            <a:endParaRPr lang="en-US" sz="1000" dirty="0"/>
          </a:p>
          <a:p>
            <a:pPr marL="0" indent="0">
              <a:buNone/>
            </a:pPr>
            <a:r>
              <a:rPr lang="en-US" sz="900" dirty="0">
                <a:solidFill>
                  <a:srgbClr val="000000"/>
                </a:solidFill>
              </a:rPr>
              <a:t>▸ Adhésion payante (cotisation annuelle)</a:t>
            </a:r>
            <a:endParaRPr lang="en-US" sz="1000" dirty="0"/>
          </a:p>
          <a:p>
            <a:pPr marL="0" indent="0">
              <a:buNone/>
            </a:pPr>
            <a:r>
              <a:rPr lang="en-US" sz="900" dirty="0">
                <a:solidFill>
                  <a:srgbClr val="000000"/>
                </a:solidFill>
              </a:rPr>
              <a:t>▸ Obligation d'accepter le chèque OU la CB</a:t>
            </a:r>
            <a:endParaRPr lang="en-US" sz="1000" dirty="0"/>
          </a:p>
        </p:txBody>
      </p:sp>
      <p:sp>
        <p:nvSpPr>
          <p:cNvPr id="13" name="Shape 11"/>
          <p:cNvSpPr/>
          <p:nvPr/>
        </p:nvSpPr>
        <p:spPr>
          <a:xfrm>
            <a:off x="4709160" y="1499616"/>
            <a:ext cx="4160520" cy="2560320"/>
          </a:xfrm>
          <a:prstGeom prst="rect">
            <a:avLst/>
          </a:prstGeom>
          <a:solidFill>
            <a:srgbClr val="F0F4F8"/>
          </a:solidFill>
          <a:ln/>
        </p:spPr>
        <p:txBody>
          <a:bodyPr/>
          <a:lstStyle/>
          <a:p>
            <a:endParaRPr lang="fr-FR"/>
          </a:p>
        </p:txBody>
      </p:sp>
      <p:sp>
        <p:nvSpPr>
          <p:cNvPr id="14" name="Shape 12"/>
          <p:cNvSpPr/>
          <p:nvPr/>
        </p:nvSpPr>
        <p:spPr>
          <a:xfrm>
            <a:off x="4709160" y="1499616"/>
            <a:ext cx="4160520" cy="256032"/>
          </a:xfrm>
          <a:prstGeom prst="rect">
            <a:avLst/>
          </a:prstGeom>
          <a:solidFill>
            <a:srgbClr val="276749"/>
          </a:solidFill>
          <a:ln/>
        </p:spPr>
        <p:txBody>
          <a:bodyPr/>
          <a:lstStyle/>
          <a:p>
            <a:endParaRPr lang="fr-FR"/>
          </a:p>
        </p:txBody>
      </p:sp>
      <p:sp>
        <p:nvSpPr>
          <p:cNvPr id="15" name="Text 13"/>
          <p:cNvSpPr/>
          <p:nvPr/>
        </p:nvSpPr>
        <p:spPr>
          <a:xfrm>
            <a:off x="4782312" y="1499616"/>
            <a:ext cx="401421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Expert-comptable</a:t>
            </a:r>
            <a:endParaRPr lang="en-US" sz="1000" dirty="0"/>
          </a:p>
        </p:txBody>
      </p:sp>
      <p:sp>
        <p:nvSpPr>
          <p:cNvPr id="16" name="Text 14"/>
          <p:cNvSpPr/>
          <p:nvPr/>
        </p:nvSpPr>
        <p:spPr>
          <a:xfrm>
            <a:off x="4818888" y="1792224"/>
            <a:ext cx="3941064" cy="2231136"/>
          </a:xfrm>
          <a:prstGeom prst="rect">
            <a:avLst/>
          </a:prstGeom>
          <a:noFill/>
          <a:ln/>
        </p:spPr>
        <p:txBody>
          <a:bodyPr wrap="square" lIns="0" tIns="0" rIns="0" bIns="0" rtlCol="0" anchor="t"/>
          <a:lstStyle/>
          <a:p>
            <a:pPr marL="0" indent="0">
              <a:buNone/>
            </a:pPr>
            <a:r>
              <a:rPr lang="en-US" sz="1000" b="1" dirty="0">
                <a:solidFill>
                  <a:srgbClr val="1A3A5C"/>
                </a:solidFill>
              </a:rPr>
              <a:t>Ce qu'il fait :</a:t>
            </a:r>
            <a:endParaRPr lang="en-US" sz="1000" dirty="0"/>
          </a:p>
          <a:p>
            <a:pPr marL="0" indent="0">
              <a:buNone/>
            </a:pPr>
            <a:r>
              <a:rPr lang="en-US" sz="950" dirty="0">
                <a:solidFill>
                  <a:srgbClr val="000000"/>
                </a:solidFill>
              </a:rPr>
              <a:t>▸ Tient la comptabilité au quotidien</a:t>
            </a:r>
            <a:endParaRPr lang="en-US" sz="1000" dirty="0"/>
          </a:p>
          <a:p>
            <a:pPr marL="0" indent="0">
              <a:buNone/>
            </a:pPr>
            <a:r>
              <a:rPr lang="en-US" sz="850" dirty="0">
                <a:solidFill>
                  <a:srgbClr val="555F6D"/>
                </a:solidFill>
              </a:rPr>
              <a:t>   (journaux, grand livre, comptes annuels)</a:t>
            </a:r>
            <a:endParaRPr lang="en-US" sz="1000" dirty="0"/>
          </a:p>
          <a:p>
            <a:pPr marL="0" indent="0">
              <a:buNone/>
            </a:pPr>
            <a:r>
              <a:rPr lang="en-US" sz="950" dirty="0">
                <a:solidFill>
                  <a:srgbClr val="000000"/>
                </a:solidFill>
              </a:rPr>
              <a:t>▸ Établit les déclarations fiscales et sociales</a:t>
            </a:r>
            <a:endParaRPr lang="en-US" sz="1000" dirty="0"/>
          </a:p>
          <a:p>
            <a:pPr marL="0" indent="0">
              <a:buNone/>
            </a:pPr>
            <a:r>
              <a:rPr lang="en-US" sz="950" dirty="0">
                <a:solidFill>
                  <a:srgbClr val="000000"/>
                </a:solidFill>
              </a:rPr>
              <a:t>▸ Prépare bilan, compte de résultat, annexes</a:t>
            </a:r>
            <a:endParaRPr lang="en-US" sz="1000" dirty="0"/>
          </a:p>
          <a:p>
            <a:pPr marL="0" indent="0">
              <a:buNone/>
            </a:pPr>
            <a:endParaRPr lang="en-US" sz="1000" dirty="0"/>
          </a:p>
          <a:p>
            <a:pPr marL="0" indent="0">
              <a:buNone/>
            </a:pPr>
            <a:r>
              <a:rPr lang="en-US" sz="1000" b="1" dirty="0">
                <a:solidFill>
                  <a:srgbClr val="276749"/>
                </a:solidFill>
              </a:rPr>
              <a:t>Ce qu'il fait EN PLUS du CGA :</a:t>
            </a:r>
            <a:endParaRPr lang="en-US" sz="1000" dirty="0"/>
          </a:p>
          <a:p>
            <a:pPr marL="0" indent="0">
              <a:buNone/>
            </a:pPr>
            <a:r>
              <a:rPr lang="en-US" sz="950" b="1" dirty="0">
                <a:solidFill>
                  <a:srgbClr val="276749"/>
                </a:solidFill>
              </a:rPr>
              <a:t>✅ CERTIFIE les comptes (régularité, sincérité)</a:t>
            </a:r>
            <a:endParaRPr lang="en-US" sz="1000" dirty="0"/>
          </a:p>
          <a:p>
            <a:pPr marL="0" indent="0">
              <a:buNone/>
            </a:pPr>
            <a:r>
              <a:rPr lang="en-US" sz="950" b="1" dirty="0">
                <a:solidFill>
                  <a:srgbClr val="276749"/>
                </a:solidFill>
              </a:rPr>
              <a:t>✅ A le PLEIN POUVOIR d'attestation fiscale</a:t>
            </a:r>
            <a:endParaRPr lang="en-US" sz="1000" dirty="0"/>
          </a:p>
          <a:p>
            <a:pPr marL="0" indent="0">
              <a:buNone/>
            </a:pPr>
            <a:r>
              <a:rPr lang="en-US" sz="950" b="1" dirty="0">
                <a:solidFill>
                  <a:srgbClr val="276749"/>
                </a:solidFill>
              </a:rPr>
              <a:t>✅ Conseille le dirigeant (optimisation, gestion)</a:t>
            </a:r>
            <a:endParaRPr lang="en-US" sz="1000" dirty="0"/>
          </a:p>
          <a:p>
            <a:pPr marL="0" indent="0">
              <a:buNone/>
            </a:pPr>
            <a:endParaRPr lang="en-US" sz="1000" dirty="0"/>
          </a:p>
          <a:p>
            <a:pPr marL="0" indent="0">
              <a:buNone/>
            </a:pPr>
            <a:r>
              <a:rPr lang="en-US" sz="950" b="1" dirty="0">
                <a:solidFill>
                  <a:srgbClr val="1A3A5C"/>
                </a:solidFill>
              </a:rPr>
              <a:t>Obligation :</a:t>
            </a:r>
            <a:endParaRPr lang="en-US" sz="1000" dirty="0"/>
          </a:p>
          <a:p>
            <a:pPr marL="0" indent="0">
              <a:buNone/>
            </a:pPr>
            <a:r>
              <a:rPr lang="en-US" sz="900" dirty="0">
                <a:solidFill>
                  <a:srgbClr val="000000"/>
                </a:solidFill>
              </a:rPr>
              <a:t>▸ Diplômé et inscrit à l'Ordre des Experts-Comptables</a:t>
            </a:r>
            <a:endParaRPr lang="en-US" sz="1000" dirty="0"/>
          </a:p>
          <a:p>
            <a:pPr marL="0" indent="0">
              <a:buNone/>
            </a:pPr>
            <a:r>
              <a:rPr lang="en-US" sz="900" dirty="0">
                <a:solidFill>
                  <a:srgbClr val="000000"/>
                </a:solidFill>
              </a:rPr>
              <a:t>▸ Respecte le Plan Comptable Général (PCG)</a:t>
            </a:r>
            <a:endParaRPr lang="en-US" sz="1000" dirty="0"/>
          </a:p>
        </p:txBody>
      </p:sp>
      <p:sp>
        <p:nvSpPr>
          <p:cNvPr id="17" name="Shape 15"/>
          <p:cNvSpPr/>
          <p:nvPr/>
        </p:nvSpPr>
        <p:spPr>
          <a:xfrm>
            <a:off x="274320" y="4151376"/>
            <a:ext cx="8595360" cy="256032"/>
          </a:xfrm>
          <a:prstGeom prst="rect">
            <a:avLst/>
          </a:prstGeom>
          <a:solidFill>
            <a:srgbClr val="1A3A5C"/>
          </a:solidFill>
          <a:ln/>
        </p:spPr>
        <p:txBody>
          <a:bodyPr/>
          <a:lstStyle/>
          <a:p>
            <a:endParaRPr lang="fr-FR"/>
          </a:p>
        </p:txBody>
      </p:sp>
      <p:sp>
        <p:nvSpPr>
          <p:cNvPr id="18" name="Text 16"/>
          <p:cNvSpPr/>
          <p:nvPr/>
        </p:nvSpPr>
        <p:spPr>
          <a:xfrm>
            <a:off x="402336" y="4151376"/>
            <a:ext cx="8339328"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En résumé : le CGA VÉRIFIE ce que vous avez fait  —  l'expert-comptable FAIT le travail ET le certifie auprès du fisc.</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4F7FB"/>
          </a:solidFill>
          <a:ln w="12700">
            <a:solidFill>
              <a:srgbClr val="F4F7FB"/>
            </a:solidFill>
            <a:prstDash val="solid"/>
          </a:ln>
        </p:spPr>
        <p:txBody>
          <a:bodyPr/>
          <a:lstStyle/>
          <a:p>
            <a:endParaRPr lang="fr-FR"/>
          </a:p>
        </p:txBody>
      </p:sp>
      <p:sp>
        <p:nvSpPr>
          <p:cNvPr id="3" name="Shape 1"/>
          <p:cNvSpPr/>
          <p:nvPr/>
        </p:nvSpPr>
        <p:spPr>
          <a:xfrm>
            <a:off x="0" y="0"/>
            <a:ext cx="9144000" cy="969264"/>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365760" y="0"/>
            <a:ext cx="8412480" cy="603504"/>
          </a:xfrm>
          <a:prstGeom prst="rect">
            <a:avLst/>
          </a:prstGeom>
          <a:noFill/>
          <a:ln/>
        </p:spPr>
        <p:txBody>
          <a:bodyPr wrap="square"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Les moyens de paiement</a:t>
            </a:r>
            <a:endParaRPr lang="en-US" sz="1900" dirty="0"/>
          </a:p>
        </p:txBody>
      </p:sp>
      <p:sp>
        <p:nvSpPr>
          <p:cNvPr id="5" name="Text 3"/>
          <p:cNvSpPr/>
          <p:nvPr/>
        </p:nvSpPr>
        <p:spPr>
          <a:xfrm>
            <a:off x="365760" y="621792"/>
            <a:ext cx="8412480" cy="329184"/>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Obligations pour les professionnels T3P</a:t>
            </a:r>
            <a:endParaRPr lang="en-US" sz="1050" dirty="0"/>
          </a:p>
        </p:txBody>
      </p:sp>
      <p:sp>
        <p:nvSpPr>
          <p:cNvPr id="6" name="Text 4"/>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32</a:t>
            </a:r>
            <a:endParaRPr lang="en-US" sz="800" dirty="0"/>
          </a:p>
        </p:txBody>
      </p:sp>
      <p:sp>
        <p:nvSpPr>
          <p:cNvPr id="8" name="Shape 6"/>
          <p:cNvSpPr/>
          <p:nvPr/>
        </p:nvSpPr>
        <p:spPr>
          <a:xfrm>
            <a:off x="274320" y="1005840"/>
            <a:ext cx="8595360" cy="1280160"/>
          </a:xfrm>
          <a:prstGeom prst="rect">
            <a:avLst/>
          </a:prstGeom>
          <a:solidFill>
            <a:srgbClr val="EBF4FC"/>
          </a:solidFill>
          <a:ln w="5080">
            <a:solidFill>
              <a:srgbClr val="D0DCE8"/>
            </a:solidFill>
            <a:prstDash val="solid"/>
          </a:ln>
        </p:spPr>
        <p:txBody>
          <a:bodyPr/>
          <a:lstStyle/>
          <a:p>
            <a:endParaRPr lang="fr-FR"/>
          </a:p>
        </p:txBody>
      </p:sp>
      <p:sp>
        <p:nvSpPr>
          <p:cNvPr id="9" name="Shape 7"/>
          <p:cNvSpPr/>
          <p:nvPr/>
        </p:nvSpPr>
        <p:spPr>
          <a:xfrm>
            <a:off x="274320" y="1005840"/>
            <a:ext cx="8595360" cy="274320"/>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347472" y="1005840"/>
            <a:ext cx="84856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Le chèque</a:t>
            </a:r>
            <a:endParaRPr lang="en-US" sz="1100" dirty="0"/>
          </a:p>
        </p:txBody>
      </p:sp>
      <p:sp>
        <p:nvSpPr>
          <p:cNvPr id="11" name="Text 9"/>
          <p:cNvSpPr/>
          <p:nvPr/>
        </p:nvSpPr>
        <p:spPr>
          <a:xfrm>
            <a:off x="365760" y="1316736"/>
            <a:ext cx="8430768" cy="932688"/>
          </a:xfrm>
          <a:prstGeom prst="rect">
            <a:avLst/>
          </a:prstGeom>
          <a:noFill/>
          <a:ln/>
        </p:spPr>
        <p:txBody>
          <a:bodyPr wrap="square" rtlCol="0" anchor="t"/>
          <a:lstStyle/>
          <a:p>
            <a:pPr marL="0" indent="0">
              <a:buNone/>
            </a:pPr>
            <a:r>
              <a:rPr lang="en-US" sz="920" dirty="0">
                <a:solidFill>
                  <a:srgbClr val="1E2D3D"/>
                </a:solidFill>
                <a:latin typeface="Calibri" pitchFamily="34" charset="0"/>
                <a:ea typeface="Calibri" pitchFamily="34" charset="-122"/>
                <a:cs typeface="Calibri" pitchFamily="34" charset="-120"/>
              </a:rPr>
              <a:t>Un professionnel peut refuser un paiement par chèque ou fixer un montant minimal/maximal, à condition d'en avoir clairement informé sa clientèle (affichage + CGV).</a:t>
            </a:r>
            <a:endParaRPr lang="en-US" sz="920" dirty="0"/>
          </a:p>
          <a:p>
            <a:pPr marL="0" indent="0">
              <a:buNone/>
            </a:pPr>
            <a:endParaRPr lang="en-US" sz="920" dirty="0"/>
          </a:p>
          <a:p>
            <a:pPr marL="0" indent="0">
              <a:buNone/>
            </a:pPr>
            <a:r>
              <a:rPr lang="en-US" sz="920" dirty="0">
                <a:solidFill>
                  <a:srgbClr val="1E2D3D"/>
                </a:solidFill>
                <a:latin typeface="Calibri" pitchFamily="34" charset="0"/>
                <a:ea typeface="Calibri" pitchFamily="34" charset="-122"/>
                <a:cs typeface="Calibri" pitchFamily="34" charset="-120"/>
              </a:rPr>
              <a:t>À partir de la signature : 1 an et 8 jours pour le déposer à la banque.</a:t>
            </a:r>
            <a:endParaRPr lang="en-US" sz="920" dirty="0"/>
          </a:p>
        </p:txBody>
      </p:sp>
      <p:sp>
        <p:nvSpPr>
          <p:cNvPr id="12" name="Shape 10"/>
          <p:cNvSpPr/>
          <p:nvPr/>
        </p:nvSpPr>
        <p:spPr>
          <a:xfrm>
            <a:off x="274320" y="2395728"/>
            <a:ext cx="8595360" cy="1280160"/>
          </a:xfrm>
          <a:prstGeom prst="rect">
            <a:avLst/>
          </a:prstGeom>
          <a:solidFill>
            <a:srgbClr val="FFFFFF"/>
          </a:solidFill>
          <a:ln w="5080">
            <a:solidFill>
              <a:srgbClr val="D0DCE8"/>
            </a:solidFill>
            <a:prstDash val="solid"/>
          </a:ln>
        </p:spPr>
        <p:txBody>
          <a:bodyPr/>
          <a:lstStyle/>
          <a:p>
            <a:endParaRPr lang="fr-FR"/>
          </a:p>
        </p:txBody>
      </p:sp>
      <p:sp>
        <p:nvSpPr>
          <p:cNvPr id="13" name="Shape 11"/>
          <p:cNvSpPr/>
          <p:nvPr/>
        </p:nvSpPr>
        <p:spPr>
          <a:xfrm>
            <a:off x="274320" y="2395728"/>
            <a:ext cx="8595360" cy="274320"/>
          </a:xfrm>
          <a:prstGeom prst="rect">
            <a:avLst/>
          </a:prstGeom>
          <a:solidFill>
            <a:srgbClr val="E87722"/>
          </a:solidFill>
          <a:ln w="12700">
            <a:solidFill>
              <a:srgbClr val="E87722"/>
            </a:solidFill>
            <a:prstDash val="solid"/>
          </a:ln>
        </p:spPr>
        <p:txBody>
          <a:bodyPr/>
          <a:lstStyle/>
          <a:p>
            <a:endParaRPr lang="fr-FR"/>
          </a:p>
        </p:txBody>
      </p:sp>
      <p:sp>
        <p:nvSpPr>
          <p:cNvPr id="14" name="Text 12"/>
          <p:cNvSpPr/>
          <p:nvPr/>
        </p:nvSpPr>
        <p:spPr>
          <a:xfrm>
            <a:off x="347472" y="2395728"/>
            <a:ext cx="84856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La carte bancaire</a:t>
            </a:r>
            <a:endParaRPr lang="en-US" sz="1100" dirty="0"/>
          </a:p>
        </p:txBody>
      </p:sp>
      <p:sp>
        <p:nvSpPr>
          <p:cNvPr id="15" name="Text 13"/>
          <p:cNvSpPr/>
          <p:nvPr/>
        </p:nvSpPr>
        <p:spPr>
          <a:xfrm>
            <a:off x="365760" y="2706624"/>
            <a:ext cx="8430768" cy="932688"/>
          </a:xfrm>
          <a:prstGeom prst="rect">
            <a:avLst/>
          </a:prstGeom>
          <a:noFill/>
          <a:ln/>
        </p:spPr>
        <p:txBody>
          <a:bodyPr wrap="square" rtlCol="0" anchor="t"/>
          <a:lstStyle/>
          <a:p>
            <a:pPr marL="0" indent="0">
              <a:buNone/>
            </a:pPr>
            <a:r>
              <a:rPr lang="en-US" sz="920" dirty="0">
                <a:solidFill>
                  <a:srgbClr val="1E2D3D"/>
                </a:solidFill>
                <a:latin typeface="Calibri" pitchFamily="34" charset="0"/>
                <a:ea typeface="Calibri" pitchFamily="34" charset="-122"/>
                <a:cs typeface="Calibri" pitchFamily="34" charset="-120"/>
              </a:rPr>
              <a:t>Taxis : TPE OBLIGATOIRE | VTC : non obligatoire mais recommandé.</a:t>
            </a:r>
            <a:endParaRPr lang="en-US" sz="920" dirty="0"/>
          </a:p>
          <a:p>
            <a:pPr marL="0" indent="0">
              <a:buNone/>
            </a:pPr>
            <a:endParaRPr lang="en-US" sz="920" dirty="0"/>
          </a:p>
          <a:p>
            <a:pPr marL="0" indent="0">
              <a:buNone/>
            </a:pPr>
            <a:r>
              <a:rPr lang="en-US" sz="920" dirty="0">
                <a:solidFill>
                  <a:srgbClr val="1E2D3D"/>
                </a:solidFill>
                <a:latin typeface="Calibri" pitchFamily="34" charset="0"/>
                <a:ea typeface="Calibri" pitchFamily="34" charset="-122"/>
                <a:cs typeface="Calibri" pitchFamily="34" charset="-120"/>
              </a:rPr>
              <a:t>Si TPE présent → obligation d'accepter.</a:t>
            </a:r>
            <a:endParaRPr lang="en-US" sz="920" dirty="0"/>
          </a:p>
          <a:p>
            <a:pPr marL="0" indent="0">
              <a:buNone/>
            </a:pPr>
            <a:r>
              <a:rPr lang="en-US" sz="920" dirty="0">
                <a:solidFill>
                  <a:srgbClr val="1E2D3D"/>
                </a:solidFill>
                <a:latin typeface="Calibri" pitchFamily="34" charset="0"/>
                <a:ea typeface="Calibri" pitchFamily="34" charset="-122"/>
                <a:cs typeface="Calibri" pitchFamily="34" charset="-120"/>
              </a:rPr>
              <a:t>Refus sans affichage : 3 000€ (EI) ou 15 000€ (société).</a:t>
            </a:r>
            <a:endParaRPr lang="en-US" sz="920" dirty="0"/>
          </a:p>
        </p:txBody>
      </p:sp>
      <p:sp>
        <p:nvSpPr>
          <p:cNvPr id="16" name="Shape 14"/>
          <p:cNvSpPr/>
          <p:nvPr/>
        </p:nvSpPr>
        <p:spPr>
          <a:xfrm>
            <a:off x="274320" y="3785616"/>
            <a:ext cx="8595360" cy="1280160"/>
          </a:xfrm>
          <a:prstGeom prst="rect">
            <a:avLst/>
          </a:prstGeom>
          <a:solidFill>
            <a:srgbClr val="EBF4FC"/>
          </a:solidFill>
          <a:ln w="5080">
            <a:solidFill>
              <a:srgbClr val="D0DCE8"/>
            </a:solidFill>
            <a:prstDash val="solid"/>
          </a:ln>
        </p:spPr>
        <p:txBody>
          <a:bodyPr/>
          <a:lstStyle/>
          <a:p>
            <a:endParaRPr lang="fr-FR"/>
          </a:p>
        </p:txBody>
      </p:sp>
      <p:sp>
        <p:nvSpPr>
          <p:cNvPr id="17" name="Shape 15"/>
          <p:cNvSpPr/>
          <p:nvPr/>
        </p:nvSpPr>
        <p:spPr>
          <a:xfrm>
            <a:off x="274320" y="3785616"/>
            <a:ext cx="8595360" cy="274320"/>
          </a:xfrm>
          <a:prstGeom prst="rect">
            <a:avLst/>
          </a:prstGeom>
          <a:solidFill>
            <a:srgbClr val="2E7D32"/>
          </a:solidFill>
          <a:ln w="12700">
            <a:solidFill>
              <a:srgbClr val="2E7D32"/>
            </a:solidFill>
            <a:prstDash val="solid"/>
          </a:ln>
        </p:spPr>
        <p:txBody>
          <a:bodyPr/>
          <a:lstStyle/>
          <a:p>
            <a:endParaRPr lang="fr-FR"/>
          </a:p>
        </p:txBody>
      </p:sp>
      <p:sp>
        <p:nvSpPr>
          <p:cNvPr id="18" name="Text 16"/>
          <p:cNvSpPr/>
          <p:nvPr/>
        </p:nvSpPr>
        <p:spPr>
          <a:xfrm>
            <a:off x="347472" y="3785616"/>
            <a:ext cx="84856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Les espèces</a:t>
            </a:r>
            <a:endParaRPr lang="en-US" sz="1100" dirty="0"/>
          </a:p>
        </p:txBody>
      </p:sp>
      <p:sp>
        <p:nvSpPr>
          <p:cNvPr id="19" name="Text 17"/>
          <p:cNvSpPr/>
          <p:nvPr/>
        </p:nvSpPr>
        <p:spPr>
          <a:xfrm>
            <a:off x="365760" y="4096512"/>
            <a:ext cx="8430768" cy="932688"/>
          </a:xfrm>
          <a:prstGeom prst="rect">
            <a:avLst/>
          </a:prstGeom>
          <a:noFill/>
          <a:ln/>
        </p:spPr>
        <p:txBody>
          <a:bodyPr wrap="square" rtlCol="0" anchor="t"/>
          <a:lstStyle/>
          <a:p>
            <a:pPr marL="0" indent="0">
              <a:buNone/>
            </a:pPr>
            <a:r>
              <a:rPr lang="en-US" sz="920" dirty="0">
                <a:solidFill>
                  <a:srgbClr val="1E2D3D"/>
                </a:solidFill>
                <a:latin typeface="Calibri" pitchFamily="34" charset="0"/>
                <a:ea typeface="Calibri" pitchFamily="34" charset="-122"/>
                <a:cs typeface="Calibri" pitchFamily="34" charset="-120"/>
              </a:rPr>
              <a:t>Doivent être OBLIGATOIREMENT acceptées sauf :</a:t>
            </a:r>
            <a:endParaRPr lang="en-US" sz="920" dirty="0"/>
          </a:p>
          <a:p>
            <a:pPr marL="0" indent="0">
              <a:buNone/>
            </a:pPr>
            <a:r>
              <a:rPr lang="en-US" sz="920" dirty="0">
                <a:solidFill>
                  <a:srgbClr val="1E2D3D"/>
                </a:solidFill>
                <a:latin typeface="Calibri" pitchFamily="34" charset="0"/>
                <a:ea typeface="Calibri" pitchFamily="34" charset="-122"/>
                <a:cs typeface="Calibri" pitchFamily="34" charset="-120"/>
              </a:rPr>
              <a:t>• Devises étrangères • Billets endommagés • Plus de 50 pièces • Fausse monnaie • Sans appoint (si pas de monnaie)</a:t>
            </a:r>
            <a:endParaRPr lang="en-US" sz="920" dirty="0"/>
          </a:p>
          <a:p>
            <a:pPr marL="0" indent="0">
              <a:buNone/>
            </a:pPr>
            <a:endParaRPr lang="en-US" sz="920" dirty="0"/>
          </a:p>
          <a:p>
            <a:pPr marL="0" indent="0">
              <a:buNone/>
            </a:pPr>
            <a:r>
              <a:rPr lang="en-US" sz="920" dirty="0">
                <a:solidFill>
                  <a:srgbClr val="1E2D3D"/>
                </a:solidFill>
                <a:latin typeface="Calibri" pitchFamily="34" charset="0"/>
                <a:ea typeface="Calibri" pitchFamily="34" charset="-122"/>
                <a:cs typeface="Calibri" pitchFamily="34" charset="-120"/>
              </a:rPr>
              <a:t>Plafond : 1 000€ (sauf si seul moyen de paiement du client).</a:t>
            </a:r>
            <a:endParaRPr lang="en-US" sz="920" dirty="0"/>
          </a:p>
          <a:p>
            <a:pPr marL="0" indent="0">
              <a:buNone/>
            </a:pPr>
            <a:r>
              <a:rPr lang="en-US" sz="920" dirty="0">
                <a:solidFill>
                  <a:srgbClr val="1E2D3D"/>
                </a:solidFill>
                <a:latin typeface="Calibri" pitchFamily="34" charset="0"/>
                <a:ea typeface="Calibri" pitchFamily="34" charset="-122"/>
                <a:cs typeface="Calibri" pitchFamily="34" charset="-120"/>
              </a:rPr>
              <a:t>Refus illégal → amende de 150€.</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4F7FB"/>
          </a:solidFill>
          <a:ln w="12700">
            <a:solidFill>
              <a:srgbClr val="F4F7FB"/>
            </a:solidFill>
            <a:prstDash val="solid"/>
          </a:ln>
        </p:spPr>
        <p:txBody>
          <a:bodyPr/>
          <a:lstStyle/>
          <a:p>
            <a:endParaRPr lang="fr-FR"/>
          </a:p>
        </p:txBody>
      </p:sp>
      <p:sp>
        <p:nvSpPr>
          <p:cNvPr id="3" name="Shape 1"/>
          <p:cNvSpPr/>
          <p:nvPr/>
        </p:nvSpPr>
        <p:spPr>
          <a:xfrm>
            <a:off x="0" y="0"/>
            <a:ext cx="9144000" cy="969264"/>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365760" y="0"/>
            <a:ext cx="8412480" cy="603504"/>
          </a:xfrm>
          <a:prstGeom prst="rect">
            <a:avLst/>
          </a:prstGeom>
          <a:noFill/>
          <a:ln/>
        </p:spPr>
        <p:txBody>
          <a:bodyPr wrap="square"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Impôt libératoire et fiche de paie</a:t>
            </a:r>
            <a:endParaRPr lang="en-US" sz="1900" dirty="0"/>
          </a:p>
        </p:txBody>
      </p:sp>
      <p:sp>
        <p:nvSpPr>
          <p:cNvPr id="5" name="Text 3"/>
          <p:cNvSpPr/>
          <p:nvPr/>
        </p:nvSpPr>
        <p:spPr>
          <a:xfrm>
            <a:off x="365760" y="621792"/>
            <a:ext cx="8412480" cy="329184"/>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Obligations déclaratives et mentions obligatoires</a:t>
            </a:r>
            <a:endParaRPr lang="en-US" sz="1050" dirty="0"/>
          </a:p>
        </p:txBody>
      </p:sp>
      <p:sp>
        <p:nvSpPr>
          <p:cNvPr id="6" name="Text 4"/>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33</a:t>
            </a:r>
            <a:endParaRPr lang="en-US" sz="800" dirty="0"/>
          </a:p>
        </p:txBody>
      </p:sp>
      <p:sp>
        <p:nvSpPr>
          <p:cNvPr id="8" name="Shape 6"/>
          <p:cNvSpPr/>
          <p:nvPr/>
        </p:nvSpPr>
        <p:spPr>
          <a:xfrm>
            <a:off x="274320" y="1005840"/>
            <a:ext cx="8595360" cy="1389888"/>
          </a:xfrm>
          <a:prstGeom prst="rect">
            <a:avLst/>
          </a:prstGeom>
          <a:solidFill>
            <a:srgbClr val="EBF4FC"/>
          </a:solidFill>
          <a:ln w="6350">
            <a:solidFill>
              <a:srgbClr val="D0DCE8"/>
            </a:solidFill>
            <a:prstDash val="solid"/>
          </a:ln>
        </p:spPr>
        <p:txBody>
          <a:bodyPr/>
          <a:lstStyle/>
          <a:p>
            <a:endParaRPr lang="fr-FR"/>
          </a:p>
        </p:txBody>
      </p:sp>
      <p:sp>
        <p:nvSpPr>
          <p:cNvPr id="9" name="Shape 7"/>
          <p:cNvSpPr/>
          <p:nvPr/>
        </p:nvSpPr>
        <p:spPr>
          <a:xfrm>
            <a:off x="274320" y="1005840"/>
            <a:ext cx="8595360" cy="292608"/>
          </a:xfrm>
          <a:prstGeom prst="rect">
            <a:avLst/>
          </a:prstGeom>
          <a:solidFill>
            <a:srgbClr val="6B3FA0"/>
          </a:solidFill>
          <a:ln w="12700">
            <a:solidFill>
              <a:srgbClr val="6B3FA0"/>
            </a:solidFill>
            <a:prstDash val="solid"/>
          </a:ln>
        </p:spPr>
        <p:txBody>
          <a:bodyPr/>
          <a:lstStyle/>
          <a:p>
            <a:endParaRPr lang="fr-FR"/>
          </a:p>
        </p:txBody>
      </p:sp>
      <p:sp>
        <p:nvSpPr>
          <p:cNvPr id="10" name="Text 8"/>
          <p:cNvSpPr/>
          <p:nvPr/>
        </p:nvSpPr>
        <p:spPr>
          <a:xfrm>
            <a:off x="347472" y="1005840"/>
            <a:ext cx="8485632"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L'impôt libératoire (micro-entrepreneur)</a:t>
            </a:r>
            <a:endParaRPr lang="en-US" sz="1100" dirty="0"/>
          </a:p>
        </p:txBody>
      </p:sp>
      <p:sp>
        <p:nvSpPr>
          <p:cNvPr id="11" name="Text 9"/>
          <p:cNvSpPr/>
          <p:nvPr/>
        </p:nvSpPr>
        <p:spPr>
          <a:xfrm>
            <a:off x="365760" y="1335024"/>
            <a:ext cx="8430768" cy="1005840"/>
          </a:xfrm>
          <a:prstGeom prst="rect">
            <a:avLst/>
          </a:prstGeom>
          <a:noFill/>
          <a:ln/>
        </p:spPr>
        <p:txBody>
          <a:bodyPr wrap="square" rtlCol="0" anchor="t"/>
          <a:lstStyle/>
          <a:p>
            <a:pPr marL="0" indent="0">
              <a:buNone/>
            </a:pPr>
            <a:r>
              <a:rPr lang="en-US" sz="950" dirty="0">
                <a:solidFill>
                  <a:srgbClr val="1E2D3D"/>
                </a:solidFill>
                <a:latin typeface="Calibri" pitchFamily="34" charset="0"/>
                <a:ea typeface="Calibri" pitchFamily="34" charset="-122"/>
                <a:cs typeface="Calibri" pitchFamily="34" charset="-120"/>
              </a:rPr>
              <a:t>C'est le fait de s'acquitter de l'impôt sur le revenu en même temps que les cotisations sociales, selon la périodicité choisie (mensuelle ou trimestrielle). Permet de simplifier la gestion administrative. Applicable uniquement au régime micro-entreprise.</a:t>
            </a:r>
            <a:endParaRPr lang="en-US" sz="950" dirty="0"/>
          </a:p>
        </p:txBody>
      </p:sp>
      <p:sp>
        <p:nvSpPr>
          <p:cNvPr id="12" name="Shape 10"/>
          <p:cNvSpPr/>
          <p:nvPr/>
        </p:nvSpPr>
        <p:spPr>
          <a:xfrm>
            <a:off x="274320" y="2487168"/>
            <a:ext cx="8595360" cy="292608"/>
          </a:xfrm>
          <a:prstGeom prst="rect">
            <a:avLst/>
          </a:prstGeom>
          <a:solidFill>
            <a:srgbClr val="1A3A5C"/>
          </a:solidFill>
          <a:ln w="12700">
            <a:solidFill>
              <a:srgbClr val="1A3A5C"/>
            </a:solidFill>
            <a:prstDash val="solid"/>
          </a:ln>
        </p:spPr>
        <p:txBody>
          <a:bodyPr/>
          <a:lstStyle/>
          <a:p>
            <a:endParaRPr lang="fr-FR"/>
          </a:p>
        </p:txBody>
      </p:sp>
      <p:sp>
        <p:nvSpPr>
          <p:cNvPr id="13" name="Text 11"/>
          <p:cNvSpPr/>
          <p:nvPr/>
        </p:nvSpPr>
        <p:spPr>
          <a:xfrm>
            <a:off x="365760" y="2487168"/>
            <a:ext cx="841248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LA FICHE DE PAIE — Mentions obligatoires</a:t>
            </a:r>
            <a:endParaRPr lang="en-US" sz="1050" dirty="0"/>
          </a:p>
        </p:txBody>
      </p:sp>
      <p:sp>
        <p:nvSpPr>
          <p:cNvPr id="14" name="Shape 12"/>
          <p:cNvSpPr/>
          <p:nvPr/>
        </p:nvSpPr>
        <p:spPr>
          <a:xfrm>
            <a:off x="274320" y="2816352"/>
            <a:ext cx="8595360" cy="347472"/>
          </a:xfrm>
          <a:prstGeom prst="rect">
            <a:avLst/>
          </a:prstGeom>
          <a:solidFill>
            <a:srgbClr val="EBF4FC"/>
          </a:solidFill>
          <a:ln w="10160">
            <a:solidFill>
              <a:srgbClr val="4A90C4"/>
            </a:solidFill>
            <a:prstDash val="solid"/>
          </a:ln>
        </p:spPr>
        <p:txBody>
          <a:bodyPr/>
          <a:lstStyle/>
          <a:p>
            <a:endParaRPr lang="fr-FR"/>
          </a:p>
        </p:txBody>
      </p:sp>
      <p:sp>
        <p:nvSpPr>
          <p:cNvPr id="15" name="Text 13"/>
          <p:cNvSpPr/>
          <p:nvPr/>
        </p:nvSpPr>
        <p:spPr>
          <a:xfrm>
            <a:off x="402336" y="2834640"/>
            <a:ext cx="8321040" cy="310896"/>
          </a:xfrm>
          <a:prstGeom prst="rect">
            <a:avLst/>
          </a:prstGeom>
          <a:noFill/>
          <a:ln/>
        </p:spPr>
        <p:txBody>
          <a:bodyPr wrap="square" rtlCol="0" anchor="ctr"/>
          <a:lstStyle/>
          <a:p>
            <a:pPr marL="0" indent="0">
              <a:buNone/>
            </a:pPr>
            <a:r>
              <a:rPr lang="en-US" sz="900" b="1" dirty="0">
                <a:solidFill>
                  <a:srgbClr val="1A3A5C"/>
                </a:solidFill>
                <a:latin typeface="Calibri" pitchFamily="34" charset="0"/>
                <a:ea typeface="Calibri" pitchFamily="34" charset="-122"/>
                <a:cs typeface="Calibri" pitchFamily="34" charset="-120"/>
              </a:rPr>
              <a:t>La fiche de paie est obligatoire pour le salarié ET le gérant assimilé salarié (SASU, SAS, SA). Avant d'embaucher : DPAE (Déclaration Préalable à l'Embauche) auprès de l'URSSAF, 8 jours avant le début du contrat.</a:t>
            </a:r>
            <a:endParaRPr lang="en-US" sz="900" dirty="0"/>
          </a:p>
        </p:txBody>
      </p:sp>
      <p:sp>
        <p:nvSpPr>
          <p:cNvPr id="16" name="Shape 14"/>
          <p:cNvSpPr/>
          <p:nvPr/>
        </p:nvSpPr>
        <p:spPr>
          <a:xfrm>
            <a:off x="274320" y="3218688"/>
            <a:ext cx="8595360" cy="310896"/>
          </a:xfrm>
          <a:prstGeom prst="rect">
            <a:avLst/>
          </a:prstGeom>
          <a:solidFill>
            <a:srgbClr val="EBF4FC"/>
          </a:solidFill>
          <a:ln w="3810">
            <a:solidFill>
              <a:srgbClr val="D0DCE8"/>
            </a:solidFill>
            <a:prstDash val="solid"/>
          </a:ln>
        </p:spPr>
        <p:txBody>
          <a:bodyPr/>
          <a:lstStyle/>
          <a:p>
            <a:endParaRPr lang="fr-FR"/>
          </a:p>
        </p:txBody>
      </p:sp>
      <p:sp>
        <p:nvSpPr>
          <p:cNvPr id="17" name="Text 15"/>
          <p:cNvSpPr/>
          <p:nvPr/>
        </p:nvSpPr>
        <p:spPr>
          <a:xfrm>
            <a:off x="402336" y="3236976"/>
            <a:ext cx="8321040" cy="256032"/>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Nom et adresse de l'employeur, code APE/NAF, numéro SIRET</a:t>
            </a:r>
            <a:endParaRPr lang="en-US" sz="900" dirty="0"/>
          </a:p>
        </p:txBody>
      </p:sp>
      <p:sp>
        <p:nvSpPr>
          <p:cNvPr id="18" name="Shape 16"/>
          <p:cNvSpPr/>
          <p:nvPr/>
        </p:nvSpPr>
        <p:spPr>
          <a:xfrm>
            <a:off x="274320" y="3566160"/>
            <a:ext cx="8595360" cy="310896"/>
          </a:xfrm>
          <a:prstGeom prst="rect">
            <a:avLst/>
          </a:prstGeom>
          <a:solidFill>
            <a:srgbClr val="FFFFFF"/>
          </a:solidFill>
          <a:ln w="3810">
            <a:solidFill>
              <a:srgbClr val="D0DCE8"/>
            </a:solidFill>
            <a:prstDash val="solid"/>
          </a:ln>
        </p:spPr>
        <p:txBody>
          <a:bodyPr/>
          <a:lstStyle/>
          <a:p>
            <a:endParaRPr lang="fr-FR"/>
          </a:p>
        </p:txBody>
      </p:sp>
      <p:sp>
        <p:nvSpPr>
          <p:cNvPr id="19" name="Text 17"/>
          <p:cNvSpPr/>
          <p:nvPr/>
        </p:nvSpPr>
        <p:spPr>
          <a:xfrm>
            <a:off x="402336" y="3584448"/>
            <a:ext cx="8321040" cy="256032"/>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Convention collective de branche applicable</a:t>
            </a:r>
            <a:endParaRPr lang="en-US" sz="900" dirty="0"/>
          </a:p>
        </p:txBody>
      </p:sp>
      <p:sp>
        <p:nvSpPr>
          <p:cNvPr id="20" name="Shape 18"/>
          <p:cNvSpPr/>
          <p:nvPr/>
        </p:nvSpPr>
        <p:spPr>
          <a:xfrm>
            <a:off x="274320" y="3913632"/>
            <a:ext cx="8595360" cy="310896"/>
          </a:xfrm>
          <a:prstGeom prst="rect">
            <a:avLst/>
          </a:prstGeom>
          <a:solidFill>
            <a:srgbClr val="EBF4FC"/>
          </a:solidFill>
          <a:ln w="3810">
            <a:solidFill>
              <a:srgbClr val="D0DCE8"/>
            </a:solidFill>
            <a:prstDash val="solid"/>
          </a:ln>
        </p:spPr>
        <p:txBody>
          <a:bodyPr/>
          <a:lstStyle/>
          <a:p>
            <a:endParaRPr lang="fr-FR"/>
          </a:p>
        </p:txBody>
      </p:sp>
      <p:sp>
        <p:nvSpPr>
          <p:cNvPr id="21" name="Text 19"/>
          <p:cNvSpPr/>
          <p:nvPr/>
        </p:nvSpPr>
        <p:spPr>
          <a:xfrm>
            <a:off x="402336" y="3931920"/>
            <a:ext cx="8321040" cy="256032"/>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Nom, emploi, classification conventionnelle du salarié</a:t>
            </a:r>
            <a:endParaRPr lang="en-US" sz="900" dirty="0"/>
          </a:p>
        </p:txBody>
      </p:sp>
      <p:sp>
        <p:nvSpPr>
          <p:cNvPr id="22" name="Shape 20"/>
          <p:cNvSpPr/>
          <p:nvPr/>
        </p:nvSpPr>
        <p:spPr>
          <a:xfrm>
            <a:off x="274320" y="4261104"/>
            <a:ext cx="8595360" cy="310896"/>
          </a:xfrm>
          <a:prstGeom prst="rect">
            <a:avLst/>
          </a:prstGeom>
          <a:solidFill>
            <a:srgbClr val="FFFFFF"/>
          </a:solidFill>
          <a:ln w="3810">
            <a:solidFill>
              <a:srgbClr val="D0DCE8"/>
            </a:solidFill>
            <a:prstDash val="solid"/>
          </a:ln>
        </p:spPr>
        <p:txBody>
          <a:bodyPr/>
          <a:lstStyle/>
          <a:p>
            <a:endParaRPr lang="fr-FR"/>
          </a:p>
        </p:txBody>
      </p:sp>
      <p:sp>
        <p:nvSpPr>
          <p:cNvPr id="23" name="Text 21"/>
          <p:cNvSpPr/>
          <p:nvPr/>
        </p:nvSpPr>
        <p:spPr>
          <a:xfrm>
            <a:off x="402336" y="4279392"/>
            <a:ext cx="8321040" cy="256032"/>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Période et nombre d'heures de travail (taux normal + heures supplémentaires)</a:t>
            </a:r>
            <a:endParaRPr lang="en-US" sz="900" dirty="0"/>
          </a:p>
        </p:txBody>
      </p:sp>
      <p:sp>
        <p:nvSpPr>
          <p:cNvPr id="24" name="Shape 22"/>
          <p:cNvSpPr/>
          <p:nvPr/>
        </p:nvSpPr>
        <p:spPr>
          <a:xfrm>
            <a:off x="274320" y="4608576"/>
            <a:ext cx="8595360" cy="310896"/>
          </a:xfrm>
          <a:prstGeom prst="rect">
            <a:avLst/>
          </a:prstGeom>
          <a:solidFill>
            <a:srgbClr val="EBF4FC"/>
          </a:solidFill>
          <a:ln w="3810">
            <a:solidFill>
              <a:srgbClr val="D0DCE8"/>
            </a:solidFill>
            <a:prstDash val="solid"/>
          </a:ln>
        </p:spPr>
        <p:txBody>
          <a:bodyPr/>
          <a:lstStyle/>
          <a:p>
            <a:endParaRPr lang="fr-FR"/>
          </a:p>
        </p:txBody>
      </p:sp>
      <p:sp>
        <p:nvSpPr>
          <p:cNvPr id="25" name="Text 23"/>
          <p:cNvSpPr/>
          <p:nvPr/>
        </p:nvSpPr>
        <p:spPr>
          <a:xfrm>
            <a:off x="402336" y="4626864"/>
            <a:ext cx="8321040" cy="256032"/>
          </a:xfrm>
          <a:prstGeom prst="rect">
            <a:avLst/>
          </a:prstGeom>
          <a:noFill/>
          <a:ln/>
        </p:spPr>
        <p:txBody>
          <a:bodyPr wrap="square" rtlCol="0" anchor="ctr"/>
          <a:lstStyle/>
          <a:p>
            <a:pPr marL="0" indent="0">
              <a:buNone/>
            </a:pPr>
            <a:r>
              <a:rPr lang="en-US" sz="900" dirty="0">
                <a:solidFill>
                  <a:srgbClr val="1E2D3D"/>
                </a:solidFill>
                <a:latin typeface="Calibri" pitchFamily="34" charset="0"/>
                <a:ea typeface="Calibri" pitchFamily="34" charset="-122"/>
                <a:cs typeface="Calibri" pitchFamily="34" charset="-120"/>
              </a:rPr>
              <a:t>▸ Nature et volume du forfait (hebdomadaire, mensuel ou annuel)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1A3A5C"/>
          </a:solidFill>
          <a:ln/>
        </p:spPr>
        <p:txBody>
          <a:bodyPr/>
          <a:lstStyle/>
          <a:p>
            <a:endParaRPr lang="fr-FR"/>
          </a:p>
        </p:txBody>
      </p:sp>
      <p:sp>
        <p:nvSpPr>
          <p:cNvPr id="3" name="Text 1"/>
          <p:cNvSpPr/>
          <p:nvPr/>
        </p:nvSpPr>
        <p:spPr>
          <a:xfrm>
            <a:off x="365760" y="0"/>
            <a:ext cx="8412480" cy="603504"/>
          </a:xfrm>
          <a:prstGeom prst="rect">
            <a:avLst/>
          </a:prstGeom>
          <a:noFill/>
          <a:ln/>
        </p:spPr>
        <p:txBody>
          <a:bodyPr wrap="square" lIns="0" tIns="0" rIns="0" bIns="0"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Les Soldes Intermédiaires de Gestion (SIG)</a:t>
            </a:r>
            <a:endParaRPr lang="en-US" sz="1900" dirty="0"/>
          </a:p>
        </p:txBody>
      </p:sp>
      <p:sp>
        <p:nvSpPr>
          <p:cNvPr id="4" name="Text 2"/>
          <p:cNvSpPr/>
          <p:nvPr/>
        </p:nvSpPr>
        <p:spPr>
          <a:xfrm>
            <a:off x="365760" y="621792"/>
            <a:ext cx="8412480" cy="329184"/>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Décomposer la formation du bénéfice — étape par étape</a:t>
            </a:r>
            <a:endParaRPr lang="en-US" sz="1050" dirty="0"/>
          </a:p>
        </p:txBody>
      </p:sp>
      <p:sp>
        <p:nvSpPr>
          <p:cNvPr id="5" name="Text 3"/>
          <p:cNvSpPr/>
          <p:nvPr/>
        </p:nvSpPr>
        <p:spPr>
          <a:xfrm>
            <a:off x="274320" y="4892040"/>
            <a:ext cx="8046720" cy="201168"/>
          </a:xfrm>
          <a:prstGeom prst="rect">
            <a:avLst/>
          </a:prstGeom>
          <a:noFill/>
          <a:ln/>
        </p:spPr>
        <p:txBody>
          <a:bodyPr wrap="square" lIns="0" tIns="0" rIns="0" bIns="0" rtlCol="0" anchor="ctr"/>
          <a:lstStyle/>
          <a:p>
            <a:pPr marL="0" indent="0">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6" name="Text 4"/>
          <p:cNvSpPr/>
          <p:nvPr/>
        </p:nvSpPr>
        <p:spPr>
          <a:xfrm>
            <a:off x="8732520" y="4892040"/>
            <a:ext cx="347472" cy="201168"/>
          </a:xfrm>
          <a:prstGeom prst="rect">
            <a:avLst/>
          </a:prstGeom>
          <a:noFill/>
          <a:ln/>
        </p:spPr>
        <p:txBody>
          <a:bodyPr wrap="square" lIns="0" tIns="0" rIns="0" bIns="0"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34</a:t>
            </a:r>
            <a:endParaRPr lang="en-US" sz="800" dirty="0"/>
          </a:p>
        </p:txBody>
      </p:sp>
      <p:sp>
        <p:nvSpPr>
          <p:cNvPr id="7" name="Shape 5"/>
          <p:cNvSpPr/>
          <p:nvPr/>
        </p:nvSpPr>
        <p:spPr>
          <a:xfrm>
            <a:off x="274320" y="1005840"/>
            <a:ext cx="8595360" cy="329184"/>
          </a:xfrm>
          <a:prstGeom prst="rect">
            <a:avLst/>
          </a:prstGeom>
          <a:solidFill>
            <a:srgbClr val="F0F4F8"/>
          </a:solidFill>
          <a:ln/>
        </p:spPr>
        <p:txBody>
          <a:bodyPr/>
          <a:lstStyle/>
          <a:p>
            <a:endParaRPr lang="fr-FR"/>
          </a:p>
        </p:txBody>
      </p:sp>
      <p:sp>
        <p:nvSpPr>
          <p:cNvPr id="8" name="Text 6"/>
          <p:cNvSpPr/>
          <p:nvPr/>
        </p:nvSpPr>
        <p:spPr>
          <a:xfrm>
            <a:off x="402336" y="1014984"/>
            <a:ext cx="8339328" cy="310896"/>
          </a:xfrm>
          <a:prstGeom prst="rect">
            <a:avLst/>
          </a:prstGeom>
          <a:noFill/>
          <a:ln/>
        </p:spPr>
        <p:txBody>
          <a:bodyPr wrap="square" lIns="0" tIns="0" rIns="0" bIns="0" rtlCol="0" anchor="ctr"/>
          <a:lstStyle/>
          <a:p>
            <a:pPr marL="0" indent="0">
              <a:buNone/>
            </a:pPr>
            <a:r>
              <a:rPr lang="en-US" sz="900" b="1" dirty="0">
                <a:solidFill>
                  <a:srgbClr val="1A3A5C"/>
                </a:solidFill>
              </a:rPr>
              <a:t>Les SIG décomposent le résultat en étapes successives. </a:t>
            </a:r>
            <a:r>
              <a:rPr lang="en-US" sz="900" dirty="0">
                <a:solidFill>
                  <a:srgbClr val="1E2D3D"/>
                </a:solidFill>
              </a:rPr>
              <a:t>Chaque solde a une utilité précise : identifier OÙ l'entreprise gagne ou perd de l'argent.</a:t>
            </a:r>
            <a:endParaRPr lang="en-US" sz="900" dirty="0"/>
          </a:p>
        </p:txBody>
      </p:sp>
      <p:sp>
        <p:nvSpPr>
          <p:cNvPr id="9" name="Shape 7"/>
          <p:cNvSpPr/>
          <p:nvPr/>
        </p:nvSpPr>
        <p:spPr>
          <a:xfrm>
            <a:off x="274320" y="1408176"/>
            <a:ext cx="347472" cy="457200"/>
          </a:xfrm>
          <a:prstGeom prst="rect">
            <a:avLst/>
          </a:prstGeom>
          <a:solidFill>
            <a:srgbClr val="2A5580"/>
          </a:solidFill>
          <a:ln/>
        </p:spPr>
        <p:txBody>
          <a:bodyPr/>
          <a:lstStyle/>
          <a:p>
            <a:endParaRPr lang="fr-FR"/>
          </a:p>
        </p:txBody>
      </p:sp>
      <p:sp>
        <p:nvSpPr>
          <p:cNvPr id="10" name="Text 8"/>
          <p:cNvSpPr/>
          <p:nvPr/>
        </p:nvSpPr>
        <p:spPr>
          <a:xfrm>
            <a:off x="274320" y="1408176"/>
            <a:ext cx="3474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Shape 9"/>
          <p:cNvSpPr/>
          <p:nvPr/>
        </p:nvSpPr>
        <p:spPr>
          <a:xfrm>
            <a:off x="676656" y="1408176"/>
            <a:ext cx="8119872" cy="457200"/>
          </a:xfrm>
          <a:prstGeom prst="rect">
            <a:avLst/>
          </a:prstGeom>
          <a:solidFill>
            <a:srgbClr val="F0F4F8"/>
          </a:solidFill>
          <a:ln/>
        </p:spPr>
        <p:txBody>
          <a:bodyPr/>
          <a:lstStyle/>
          <a:p>
            <a:endParaRPr lang="fr-FR"/>
          </a:p>
        </p:txBody>
      </p:sp>
      <p:sp>
        <p:nvSpPr>
          <p:cNvPr id="12" name="Text 10"/>
          <p:cNvSpPr/>
          <p:nvPr/>
        </p:nvSpPr>
        <p:spPr>
          <a:xfrm>
            <a:off x="768096" y="1426464"/>
            <a:ext cx="3840480" cy="219456"/>
          </a:xfrm>
          <a:prstGeom prst="rect">
            <a:avLst/>
          </a:prstGeom>
          <a:noFill/>
          <a:ln/>
        </p:spPr>
        <p:txBody>
          <a:bodyPr wrap="square" lIns="0" tIns="0" rIns="0" bIns="0" rtlCol="0" anchor="ctr"/>
          <a:lstStyle/>
          <a:p>
            <a:pPr marL="0" indent="0">
              <a:buNone/>
            </a:pPr>
            <a:r>
              <a:rPr lang="en-US" sz="1000" b="1" dirty="0">
                <a:solidFill>
                  <a:srgbClr val="2A5580"/>
                </a:solidFill>
              </a:rPr>
              <a:t>Marge commerciale</a:t>
            </a:r>
            <a:r>
              <a:rPr lang="en-US" sz="850" dirty="0">
                <a:solidFill>
                  <a:srgbClr val="555F6D"/>
                </a:solidFill>
                <a:latin typeface="Consolas" pitchFamily="34" charset="0"/>
                <a:ea typeface="Consolas" pitchFamily="34" charset="-122"/>
                <a:cs typeface="Consolas" pitchFamily="34" charset="-120"/>
              </a:rPr>
              <a:t>   = Ventes − Coût d'achat</a:t>
            </a:r>
            <a:endParaRPr lang="en-US" sz="1000" dirty="0"/>
          </a:p>
        </p:txBody>
      </p:sp>
      <p:sp>
        <p:nvSpPr>
          <p:cNvPr id="13" name="Text 11"/>
          <p:cNvSpPr/>
          <p:nvPr/>
        </p:nvSpPr>
        <p:spPr>
          <a:xfrm>
            <a:off x="768096" y="1645920"/>
            <a:ext cx="7680960" cy="237744"/>
          </a:xfrm>
          <a:prstGeom prst="rect">
            <a:avLst/>
          </a:prstGeom>
          <a:noFill/>
          <a:ln/>
        </p:spPr>
        <p:txBody>
          <a:bodyPr wrap="square" lIns="0" tIns="0" rIns="0" bIns="0" rtlCol="0" anchor="t"/>
          <a:lstStyle/>
          <a:p>
            <a:pPr marL="0" indent="0">
              <a:buNone/>
            </a:pPr>
            <a:r>
              <a:rPr lang="en-US" sz="850" dirty="0">
                <a:solidFill>
                  <a:srgbClr val="1E2D3D"/>
                </a:solidFill>
                <a:latin typeface="Calibri" pitchFamily="34" charset="0"/>
                <a:ea typeface="Calibri" pitchFamily="34" charset="-122"/>
                <a:cs typeface="Calibri" pitchFamily="34" charset="-120"/>
              </a:rPr>
              <a:t>→ Mesure la rentabilité brute de l'activité. Permet de comparer avec les concurrents du même secteur.</a:t>
            </a:r>
            <a:endParaRPr lang="en-US" sz="850" dirty="0"/>
          </a:p>
        </p:txBody>
      </p:sp>
      <p:sp>
        <p:nvSpPr>
          <p:cNvPr id="14" name="Shape 12"/>
          <p:cNvSpPr/>
          <p:nvPr/>
        </p:nvSpPr>
        <p:spPr>
          <a:xfrm>
            <a:off x="274320" y="1901952"/>
            <a:ext cx="347472" cy="457200"/>
          </a:xfrm>
          <a:prstGeom prst="rect">
            <a:avLst/>
          </a:prstGeom>
          <a:solidFill>
            <a:srgbClr val="1E6B8A"/>
          </a:solidFill>
          <a:ln/>
        </p:spPr>
        <p:txBody>
          <a:bodyPr/>
          <a:lstStyle/>
          <a:p>
            <a:endParaRPr lang="fr-FR"/>
          </a:p>
        </p:txBody>
      </p:sp>
      <p:sp>
        <p:nvSpPr>
          <p:cNvPr id="15" name="Text 13"/>
          <p:cNvSpPr/>
          <p:nvPr/>
        </p:nvSpPr>
        <p:spPr>
          <a:xfrm>
            <a:off x="274320" y="1901952"/>
            <a:ext cx="3474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4"/>
          <p:cNvSpPr/>
          <p:nvPr/>
        </p:nvSpPr>
        <p:spPr>
          <a:xfrm>
            <a:off x="676656" y="1901952"/>
            <a:ext cx="8119872" cy="457200"/>
          </a:xfrm>
          <a:prstGeom prst="rect">
            <a:avLst/>
          </a:prstGeom>
          <a:solidFill>
            <a:srgbClr val="F0F4F8"/>
          </a:solidFill>
          <a:ln/>
        </p:spPr>
        <p:txBody>
          <a:bodyPr/>
          <a:lstStyle/>
          <a:p>
            <a:endParaRPr lang="fr-FR"/>
          </a:p>
        </p:txBody>
      </p:sp>
      <p:sp>
        <p:nvSpPr>
          <p:cNvPr id="17" name="Text 15"/>
          <p:cNvSpPr/>
          <p:nvPr/>
        </p:nvSpPr>
        <p:spPr>
          <a:xfrm>
            <a:off x="768096" y="1920240"/>
            <a:ext cx="3840480" cy="219456"/>
          </a:xfrm>
          <a:prstGeom prst="rect">
            <a:avLst/>
          </a:prstGeom>
          <a:noFill/>
          <a:ln/>
        </p:spPr>
        <p:txBody>
          <a:bodyPr wrap="square" lIns="0" tIns="0" rIns="0" bIns="0" rtlCol="0" anchor="ctr"/>
          <a:lstStyle/>
          <a:p>
            <a:pPr marL="0" indent="0">
              <a:buNone/>
            </a:pPr>
            <a:r>
              <a:rPr lang="en-US" sz="1000" b="1" dirty="0">
                <a:solidFill>
                  <a:srgbClr val="1E6B8A"/>
                </a:solidFill>
              </a:rPr>
              <a:t>Valeur Ajoutée (VA)</a:t>
            </a:r>
            <a:r>
              <a:rPr lang="en-US" sz="850" dirty="0">
                <a:solidFill>
                  <a:srgbClr val="555F6D"/>
                </a:solidFill>
                <a:latin typeface="Consolas" pitchFamily="34" charset="0"/>
                <a:ea typeface="Consolas" pitchFamily="34" charset="-122"/>
                <a:cs typeface="Consolas" pitchFamily="34" charset="-120"/>
              </a:rPr>
              <a:t>   = Marge + Production − Conso. interm.</a:t>
            </a:r>
            <a:endParaRPr lang="en-US" sz="1000" dirty="0"/>
          </a:p>
        </p:txBody>
      </p:sp>
      <p:sp>
        <p:nvSpPr>
          <p:cNvPr id="18" name="Text 16"/>
          <p:cNvSpPr/>
          <p:nvPr/>
        </p:nvSpPr>
        <p:spPr>
          <a:xfrm>
            <a:off x="768096" y="2139696"/>
            <a:ext cx="7680960" cy="237744"/>
          </a:xfrm>
          <a:prstGeom prst="rect">
            <a:avLst/>
          </a:prstGeom>
          <a:noFill/>
          <a:ln/>
        </p:spPr>
        <p:txBody>
          <a:bodyPr wrap="square" lIns="0" tIns="0" rIns="0" bIns="0" rtlCol="0" anchor="t"/>
          <a:lstStyle/>
          <a:p>
            <a:pPr marL="0" indent="0">
              <a:buNone/>
            </a:pPr>
            <a:r>
              <a:rPr lang="en-US" sz="850" dirty="0">
                <a:solidFill>
                  <a:srgbClr val="1E2D3D"/>
                </a:solidFill>
                <a:latin typeface="Calibri" pitchFamily="34" charset="0"/>
                <a:ea typeface="Calibri" pitchFamily="34" charset="-122"/>
                <a:cs typeface="Calibri" pitchFamily="34" charset="-120"/>
              </a:rPr>
              <a:t>→ Richesse CRÉÉE par l'entreprise. Sert à payer salariés, État, banques et investisseurs.</a:t>
            </a:r>
            <a:endParaRPr lang="en-US" sz="850" dirty="0"/>
          </a:p>
        </p:txBody>
      </p:sp>
      <p:sp>
        <p:nvSpPr>
          <p:cNvPr id="19" name="Shape 17"/>
          <p:cNvSpPr/>
          <p:nvPr/>
        </p:nvSpPr>
        <p:spPr>
          <a:xfrm>
            <a:off x="274320" y="2395728"/>
            <a:ext cx="347472" cy="457200"/>
          </a:xfrm>
          <a:prstGeom prst="rect">
            <a:avLst/>
          </a:prstGeom>
          <a:solidFill>
            <a:srgbClr val="276749"/>
          </a:solidFill>
          <a:ln/>
        </p:spPr>
        <p:txBody>
          <a:bodyPr/>
          <a:lstStyle/>
          <a:p>
            <a:endParaRPr lang="fr-FR"/>
          </a:p>
        </p:txBody>
      </p:sp>
      <p:sp>
        <p:nvSpPr>
          <p:cNvPr id="20" name="Text 18"/>
          <p:cNvSpPr/>
          <p:nvPr/>
        </p:nvSpPr>
        <p:spPr>
          <a:xfrm>
            <a:off x="274320" y="2395728"/>
            <a:ext cx="3474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Shape 19"/>
          <p:cNvSpPr/>
          <p:nvPr/>
        </p:nvSpPr>
        <p:spPr>
          <a:xfrm>
            <a:off x="676656" y="2395728"/>
            <a:ext cx="8119872" cy="457200"/>
          </a:xfrm>
          <a:prstGeom prst="rect">
            <a:avLst/>
          </a:prstGeom>
          <a:solidFill>
            <a:srgbClr val="F0F4F8"/>
          </a:solidFill>
          <a:ln/>
        </p:spPr>
        <p:txBody>
          <a:bodyPr/>
          <a:lstStyle/>
          <a:p>
            <a:endParaRPr lang="fr-FR"/>
          </a:p>
        </p:txBody>
      </p:sp>
      <p:sp>
        <p:nvSpPr>
          <p:cNvPr id="22" name="Text 20"/>
          <p:cNvSpPr/>
          <p:nvPr/>
        </p:nvSpPr>
        <p:spPr>
          <a:xfrm>
            <a:off x="768096" y="2414016"/>
            <a:ext cx="3840480" cy="219456"/>
          </a:xfrm>
          <a:prstGeom prst="rect">
            <a:avLst/>
          </a:prstGeom>
          <a:noFill/>
          <a:ln/>
        </p:spPr>
        <p:txBody>
          <a:bodyPr wrap="square" lIns="0" tIns="0" rIns="0" bIns="0" rtlCol="0" anchor="ctr"/>
          <a:lstStyle/>
          <a:p>
            <a:pPr marL="0" indent="0">
              <a:buNone/>
            </a:pPr>
            <a:r>
              <a:rPr lang="en-US" sz="1000" b="1" dirty="0">
                <a:solidFill>
                  <a:srgbClr val="276749"/>
                </a:solidFill>
              </a:rPr>
              <a:t>EBE</a:t>
            </a:r>
            <a:r>
              <a:rPr lang="en-US" sz="850" dirty="0">
                <a:solidFill>
                  <a:srgbClr val="555F6D"/>
                </a:solidFill>
                <a:latin typeface="Consolas" pitchFamily="34" charset="0"/>
                <a:ea typeface="Consolas" pitchFamily="34" charset="-122"/>
                <a:cs typeface="Consolas" pitchFamily="34" charset="-120"/>
              </a:rPr>
              <a:t>   = VA − Charges personnel − Impôts + Subv.</a:t>
            </a:r>
            <a:endParaRPr lang="en-US" sz="1000" dirty="0"/>
          </a:p>
        </p:txBody>
      </p:sp>
      <p:sp>
        <p:nvSpPr>
          <p:cNvPr id="23" name="Text 21"/>
          <p:cNvSpPr/>
          <p:nvPr/>
        </p:nvSpPr>
        <p:spPr>
          <a:xfrm>
            <a:off x="768096" y="2633472"/>
            <a:ext cx="7680960" cy="237744"/>
          </a:xfrm>
          <a:prstGeom prst="rect">
            <a:avLst/>
          </a:prstGeom>
          <a:noFill/>
          <a:ln/>
        </p:spPr>
        <p:txBody>
          <a:bodyPr wrap="square" lIns="0" tIns="0" rIns="0" bIns="0" rtlCol="0" anchor="t"/>
          <a:lstStyle/>
          <a:p>
            <a:pPr marL="0" indent="0">
              <a:buNone/>
            </a:pPr>
            <a:r>
              <a:rPr lang="en-US" sz="850" dirty="0">
                <a:solidFill>
                  <a:srgbClr val="1E2D3D"/>
                </a:solidFill>
                <a:latin typeface="Calibri" pitchFamily="34" charset="0"/>
                <a:ea typeface="Calibri" pitchFamily="34" charset="-122"/>
                <a:cs typeface="Calibri" pitchFamily="34" charset="-120"/>
              </a:rPr>
              <a:t>→ MEILLEUR indicateur de performance. Ce qui reste après salariés et État, AVANT amortissements et charges financières.</a:t>
            </a:r>
            <a:endParaRPr lang="en-US" sz="850" dirty="0"/>
          </a:p>
        </p:txBody>
      </p:sp>
      <p:sp>
        <p:nvSpPr>
          <p:cNvPr id="24" name="Shape 22"/>
          <p:cNvSpPr/>
          <p:nvPr/>
        </p:nvSpPr>
        <p:spPr>
          <a:xfrm>
            <a:off x="274320" y="2889504"/>
            <a:ext cx="347472" cy="457200"/>
          </a:xfrm>
          <a:prstGeom prst="rect">
            <a:avLst/>
          </a:prstGeom>
          <a:solidFill>
            <a:srgbClr val="2D7D46"/>
          </a:solidFill>
          <a:ln/>
        </p:spPr>
        <p:txBody>
          <a:bodyPr/>
          <a:lstStyle/>
          <a:p>
            <a:endParaRPr lang="fr-FR"/>
          </a:p>
        </p:txBody>
      </p:sp>
      <p:sp>
        <p:nvSpPr>
          <p:cNvPr id="25" name="Text 23"/>
          <p:cNvSpPr/>
          <p:nvPr/>
        </p:nvSpPr>
        <p:spPr>
          <a:xfrm>
            <a:off x="274320" y="2889504"/>
            <a:ext cx="3474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Shape 24"/>
          <p:cNvSpPr/>
          <p:nvPr/>
        </p:nvSpPr>
        <p:spPr>
          <a:xfrm>
            <a:off x="676656" y="2889504"/>
            <a:ext cx="8119872" cy="457200"/>
          </a:xfrm>
          <a:prstGeom prst="rect">
            <a:avLst/>
          </a:prstGeom>
          <a:solidFill>
            <a:srgbClr val="F0F4F8"/>
          </a:solidFill>
          <a:ln/>
        </p:spPr>
        <p:txBody>
          <a:bodyPr/>
          <a:lstStyle/>
          <a:p>
            <a:endParaRPr lang="fr-FR"/>
          </a:p>
        </p:txBody>
      </p:sp>
      <p:sp>
        <p:nvSpPr>
          <p:cNvPr id="27" name="Text 25"/>
          <p:cNvSpPr/>
          <p:nvPr/>
        </p:nvSpPr>
        <p:spPr>
          <a:xfrm>
            <a:off x="768096" y="2907792"/>
            <a:ext cx="3840480" cy="219456"/>
          </a:xfrm>
          <a:prstGeom prst="rect">
            <a:avLst/>
          </a:prstGeom>
          <a:noFill/>
          <a:ln/>
        </p:spPr>
        <p:txBody>
          <a:bodyPr wrap="square" lIns="0" tIns="0" rIns="0" bIns="0" rtlCol="0" anchor="ctr"/>
          <a:lstStyle/>
          <a:p>
            <a:pPr marL="0" indent="0">
              <a:buNone/>
            </a:pPr>
            <a:r>
              <a:rPr lang="en-US" sz="1000" b="1" dirty="0">
                <a:solidFill>
                  <a:srgbClr val="2D7D46"/>
                </a:solidFill>
              </a:rPr>
              <a:t>Résultat d'exploitation</a:t>
            </a:r>
            <a:r>
              <a:rPr lang="en-US" sz="850" dirty="0">
                <a:solidFill>
                  <a:srgbClr val="555F6D"/>
                </a:solidFill>
                <a:latin typeface="Consolas" pitchFamily="34" charset="0"/>
                <a:ea typeface="Consolas" pitchFamily="34" charset="-122"/>
                <a:cs typeface="Consolas" pitchFamily="34" charset="-120"/>
              </a:rPr>
              <a:t>   = EBE − Dotations amort. + Reprises</a:t>
            </a:r>
            <a:endParaRPr lang="en-US" sz="1000" dirty="0"/>
          </a:p>
        </p:txBody>
      </p:sp>
      <p:sp>
        <p:nvSpPr>
          <p:cNvPr id="28" name="Text 26"/>
          <p:cNvSpPr/>
          <p:nvPr/>
        </p:nvSpPr>
        <p:spPr>
          <a:xfrm>
            <a:off x="768096" y="3127248"/>
            <a:ext cx="7680960" cy="237744"/>
          </a:xfrm>
          <a:prstGeom prst="rect">
            <a:avLst/>
          </a:prstGeom>
          <a:noFill/>
          <a:ln/>
        </p:spPr>
        <p:txBody>
          <a:bodyPr wrap="square" lIns="0" tIns="0" rIns="0" bIns="0" rtlCol="0" anchor="t"/>
          <a:lstStyle/>
          <a:p>
            <a:pPr marL="0" indent="0">
              <a:buNone/>
            </a:pPr>
            <a:r>
              <a:rPr lang="en-US" sz="850" dirty="0">
                <a:solidFill>
                  <a:srgbClr val="1E2D3D"/>
                </a:solidFill>
                <a:latin typeface="Calibri" pitchFamily="34" charset="0"/>
                <a:ea typeface="Calibri" pitchFamily="34" charset="-122"/>
                <a:cs typeface="Calibri" pitchFamily="34" charset="-120"/>
              </a:rPr>
              <a:t>→ Rentabilité de l'activité principale, HORS financier et exceptionnel. Utilisé par les banquiers.</a:t>
            </a:r>
            <a:endParaRPr lang="en-US" sz="850" dirty="0"/>
          </a:p>
        </p:txBody>
      </p:sp>
      <p:sp>
        <p:nvSpPr>
          <p:cNvPr id="29" name="Shape 27"/>
          <p:cNvSpPr/>
          <p:nvPr/>
        </p:nvSpPr>
        <p:spPr>
          <a:xfrm>
            <a:off x="274320" y="3383280"/>
            <a:ext cx="347472" cy="457200"/>
          </a:xfrm>
          <a:prstGeom prst="rect">
            <a:avLst/>
          </a:prstGeom>
          <a:solidFill>
            <a:srgbClr val="0D8A8A"/>
          </a:solidFill>
          <a:ln/>
        </p:spPr>
        <p:txBody>
          <a:bodyPr/>
          <a:lstStyle/>
          <a:p>
            <a:endParaRPr lang="fr-FR"/>
          </a:p>
        </p:txBody>
      </p:sp>
      <p:sp>
        <p:nvSpPr>
          <p:cNvPr id="30" name="Text 28"/>
          <p:cNvSpPr/>
          <p:nvPr/>
        </p:nvSpPr>
        <p:spPr>
          <a:xfrm>
            <a:off x="274320" y="3383280"/>
            <a:ext cx="3474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Shape 29"/>
          <p:cNvSpPr/>
          <p:nvPr/>
        </p:nvSpPr>
        <p:spPr>
          <a:xfrm>
            <a:off x="676656" y="3383280"/>
            <a:ext cx="8119872" cy="457200"/>
          </a:xfrm>
          <a:prstGeom prst="rect">
            <a:avLst/>
          </a:prstGeom>
          <a:solidFill>
            <a:srgbClr val="F0F4F8"/>
          </a:solidFill>
          <a:ln/>
        </p:spPr>
        <p:txBody>
          <a:bodyPr/>
          <a:lstStyle/>
          <a:p>
            <a:endParaRPr lang="fr-FR"/>
          </a:p>
        </p:txBody>
      </p:sp>
      <p:sp>
        <p:nvSpPr>
          <p:cNvPr id="32" name="Text 30"/>
          <p:cNvSpPr/>
          <p:nvPr/>
        </p:nvSpPr>
        <p:spPr>
          <a:xfrm>
            <a:off x="768096" y="3401568"/>
            <a:ext cx="3840480" cy="219456"/>
          </a:xfrm>
          <a:prstGeom prst="rect">
            <a:avLst/>
          </a:prstGeom>
          <a:noFill/>
          <a:ln/>
        </p:spPr>
        <p:txBody>
          <a:bodyPr wrap="square" lIns="0" tIns="0" rIns="0" bIns="0" rtlCol="0" anchor="ctr"/>
          <a:lstStyle/>
          <a:p>
            <a:pPr marL="0" indent="0">
              <a:buNone/>
            </a:pPr>
            <a:r>
              <a:rPr lang="en-US" sz="1000" b="1" dirty="0">
                <a:solidFill>
                  <a:srgbClr val="0D8A8A"/>
                </a:solidFill>
              </a:rPr>
              <a:t>Résultat courant avant impôt</a:t>
            </a:r>
            <a:r>
              <a:rPr lang="en-US" sz="850" dirty="0">
                <a:solidFill>
                  <a:srgbClr val="555F6D"/>
                </a:solidFill>
                <a:latin typeface="Consolas" pitchFamily="34" charset="0"/>
                <a:ea typeface="Consolas" pitchFamily="34" charset="-122"/>
                <a:cs typeface="Consolas" pitchFamily="34" charset="-120"/>
              </a:rPr>
              <a:t>   = Rés. exploitation + Rés. financier</a:t>
            </a:r>
            <a:endParaRPr lang="en-US" sz="1000" dirty="0"/>
          </a:p>
        </p:txBody>
      </p:sp>
      <p:sp>
        <p:nvSpPr>
          <p:cNvPr id="33" name="Text 31"/>
          <p:cNvSpPr/>
          <p:nvPr/>
        </p:nvSpPr>
        <p:spPr>
          <a:xfrm>
            <a:off x="768096" y="3621024"/>
            <a:ext cx="7680960" cy="237744"/>
          </a:xfrm>
          <a:prstGeom prst="rect">
            <a:avLst/>
          </a:prstGeom>
          <a:noFill/>
          <a:ln/>
        </p:spPr>
        <p:txBody>
          <a:bodyPr wrap="square" lIns="0" tIns="0" rIns="0" bIns="0" rtlCol="0" anchor="t"/>
          <a:lstStyle/>
          <a:p>
            <a:pPr marL="0" indent="0">
              <a:buNone/>
            </a:pPr>
            <a:r>
              <a:rPr lang="en-US" sz="850" dirty="0">
                <a:solidFill>
                  <a:srgbClr val="1E2D3D"/>
                </a:solidFill>
                <a:latin typeface="Calibri" pitchFamily="34" charset="0"/>
                <a:ea typeface="Calibri" pitchFamily="34" charset="-122"/>
                <a:cs typeface="Calibri" pitchFamily="34" charset="-120"/>
              </a:rPr>
              <a:t>→ Intègre le coût des emprunts (intérêts). Montre la performance AVANT événements exceptionnels.</a:t>
            </a:r>
            <a:endParaRPr lang="en-US" sz="850" dirty="0"/>
          </a:p>
        </p:txBody>
      </p:sp>
      <p:sp>
        <p:nvSpPr>
          <p:cNvPr id="34" name="Shape 32"/>
          <p:cNvSpPr/>
          <p:nvPr/>
        </p:nvSpPr>
        <p:spPr>
          <a:xfrm>
            <a:off x="274320" y="3877056"/>
            <a:ext cx="347472" cy="457200"/>
          </a:xfrm>
          <a:prstGeom prst="rect">
            <a:avLst/>
          </a:prstGeom>
          <a:solidFill>
            <a:srgbClr val="3A6EA5"/>
          </a:solidFill>
          <a:ln/>
        </p:spPr>
        <p:txBody>
          <a:bodyPr/>
          <a:lstStyle/>
          <a:p>
            <a:endParaRPr lang="fr-FR"/>
          </a:p>
        </p:txBody>
      </p:sp>
      <p:sp>
        <p:nvSpPr>
          <p:cNvPr id="35" name="Text 33"/>
          <p:cNvSpPr/>
          <p:nvPr/>
        </p:nvSpPr>
        <p:spPr>
          <a:xfrm>
            <a:off x="274320" y="3877056"/>
            <a:ext cx="3474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6" name="Shape 34"/>
          <p:cNvSpPr/>
          <p:nvPr/>
        </p:nvSpPr>
        <p:spPr>
          <a:xfrm>
            <a:off x="676656" y="3877056"/>
            <a:ext cx="8119872" cy="457200"/>
          </a:xfrm>
          <a:prstGeom prst="rect">
            <a:avLst/>
          </a:prstGeom>
          <a:solidFill>
            <a:srgbClr val="F0F4F8"/>
          </a:solidFill>
          <a:ln/>
        </p:spPr>
        <p:txBody>
          <a:bodyPr/>
          <a:lstStyle/>
          <a:p>
            <a:endParaRPr lang="fr-FR"/>
          </a:p>
        </p:txBody>
      </p:sp>
      <p:sp>
        <p:nvSpPr>
          <p:cNvPr id="37" name="Text 35"/>
          <p:cNvSpPr/>
          <p:nvPr/>
        </p:nvSpPr>
        <p:spPr>
          <a:xfrm>
            <a:off x="768096" y="3895344"/>
            <a:ext cx="3840480" cy="219456"/>
          </a:xfrm>
          <a:prstGeom prst="rect">
            <a:avLst/>
          </a:prstGeom>
          <a:noFill/>
          <a:ln/>
        </p:spPr>
        <p:txBody>
          <a:bodyPr wrap="square" lIns="0" tIns="0" rIns="0" bIns="0" rtlCol="0" anchor="ctr"/>
          <a:lstStyle/>
          <a:p>
            <a:pPr marL="0" indent="0">
              <a:buNone/>
            </a:pPr>
            <a:r>
              <a:rPr lang="en-US" sz="1000" b="1" dirty="0">
                <a:solidFill>
                  <a:srgbClr val="3A6EA5"/>
                </a:solidFill>
              </a:rPr>
              <a:t>Résultat net</a:t>
            </a:r>
            <a:r>
              <a:rPr lang="en-US" sz="850" dirty="0">
                <a:solidFill>
                  <a:srgbClr val="555F6D"/>
                </a:solidFill>
                <a:latin typeface="Consolas" pitchFamily="34" charset="0"/>
                <a:ea typeface="Consolas" pitchFamily="34" charset="-122"/>
                <a:cs typeface="Consolas" pitchFamily="34" charset="-120"/>
              </a:rPr>
              <a:t>   = Rés. courant ± Exceptionnel − Impôt</a:t>
            </a:r>
            <a:endParaRPr lang="en-US" sz="1000" dirty="0"/>
          </a:p>
        </p:txBody>
      </p:sp>
      <p:sp>
        <p:nvSpPr>
          <p:cNvPr id="38" name="Text 36"/>
          <p:cNvSpPr/>
          <p:nvPr/>
        </p:nvSpPr>
        <p:spPr>
          <a:xfrm>
            <a:off x="768096" y="4114800"/>
            <a:ext cx="7680960" cy="237744"/>
          </a:xfrm>
          <a:prstGeom prst="rect">
            <a:avLst/>
          </a:prstGeom>
          <a:noFill/>
          <a:ln/>
        </p:spPr>
        <p:txBody>
          <a:bodyPr wrap="square" lIns="0" tIns="0" rIns="0" bIns="0" rtlCol="0" anchor="t"/>
          <a:lstStyle/>
          <a:p>
            <a:pPr marL="0" indent="0">
              <a:buNone/>
            </a:pPr>
            <a:r>
              <a:rPr lang="en-US" sz="850" dirty="0">
                <a:solidFill>
                  <a:srgbClr val="1E2D3D"/>
                </a:solidFill>
                <a:latin typeface="Calibri" pitchFamily="34" charset="0"/>
                <a:ea typeface="Calibri" pitchFamily="34" charset="-122"/>
                <a:cs typeface="Calibri" pitchFamily="34" charset="-120"/>
              </a:rPr>
              <a:t>→ LE chiffre final en bas du compte de résultat. Sert de base au calcul de l'impôt (IS ou IR).</a:t>
            </a:r>
            <a:endParaRPr lang="en-US" sz="850" dirty="0"/>
          </a:p>
        </p:txBody>
      </p:sp>
      <p:sp>
        <p:nvSpPr>
          <p:cNvPr id="39" name="Shape 37"/>
          <p:cNvSpPr/>
          <p:nvPr/>
        </p:nvSpPr>
        <p:spPr>
          <a:xfrm>
            <a:off x="274320" y="4370832"/>
            <a:ext cx="8595360" cy="256032"/>
          </a:xfrm>
          <a:prstGeom prst="rect">
            <a:avLst/>
          </a:prstGeom>
          <a:solidFill>
            <a:srgbClr val="1A3A5C"/>
          </a:solidFill>
          <a:ln/>
        </p:spPr>
        <p:txBody>
          <a:bodyPr/>
          <a:lstStyle/>
          <a:p>
            <a:endParaRPr lang="fr-FR"/>
          </a:p>
        </p:txBody>
      </p:sp>
      <p:sp>
        <p:nvSpPr>
          <p:cNvPr id="40" name="Text 38"/>
          <p:cNvSpPr/>
          <p:nvPr/>
        </p:nvSpPr>
        <p:spPr>
          <a:xfrm>
            <a:off x="402336" y="4370832"/>
            <a:ext cx="8339328" cy="25603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 EBE = indicateur clé. Si l'EBE est négatif, l'activité ne couvre même pas les salariés et les impôts → danger !</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4F7FB"/>
          </a:solidFill>
          <a:ln w="12700">
            <a:solidFill>
              <a:srgbClr val="F4F7FB"/>
            </a:solidFill>
            <a:prstDash val="solid"/>
          </a:ln>
        </p:spPr>
        <p:txBody>
          <a:bodyPr/>
          <a:lstStyle/>
          <a:p>
            <a:endParaRPr lang="fr-FR"/>
          </a:p>
        </p:txBody>
      </p:sp>
      <p:sp>
        <p:nvSpPr>
          <p:cNvPr id="3" name="Shape 1"/>
          <p:cNvSpPr/>
          <p:nvPr/>
        </p:nvSpPr>
        <p:spPr>
          <a:xfrm>
            <a:off x="0" y="0"/>
            <a:ext cx="9144000" cy="969264"/>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365760" y="0"/>
            <a:ext cx="8412480" cy="603504"/>
          </a:xfrm>
          <a:prstGeom prst="rect">
            <a:avLst/>
          </a:prstGeom>
          <a:noFill/>
          <a:ln/>
        </p:spPr>
        <p:txBody>
          <a:bodyPr wrap="square"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Fonds de Roulement (FR) et Besoin en Fonds de Roulement (BFR)</a:t>
            </a:r>
            <a:endParaRPr lang="en-US" sz="1900" dirty="0"/>
          </a:p>
        </p:txBody>
      </p:sp>
      <p:sp>
        <p:nvSpPr>
          <p:cNvPr id="5" name="Text 3"/>
          <p:cNvSpPr/>
          <p:nvPr/>
        </p:nvSpPr>
        <p:spPr>
          <a:xfrm>
            <a:off x="365760" y="621792"/>
            <a:ext cx="8412480" cy="329184"/>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Indicateurs de liquidité et de trésorerie</a:t>
            </a:r>
            <a:endParaRPr lang="en-US" sz="1050" dirty="0"/>
          </a:p>
        </p:txBody>
      </p:sp>
      <p:sp>
        <p:nvSpPr>
          <p:cNvPr id="6" name="Text 4"/>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35</a:t>
            </a:r>
            <a:endParaRPr lang="en-US" sz="800" dirty="0"/>
          </a:p>
        </p:txBody>
      </p:sp>
      <p:sp>
        <p:nvSpPr>
          <p:cNvPr id="8" name="Shape 6"/>
          <p:cNvSpPr/>
          <p:nvPr/>
        </p:nvSpPr>
        <p:spPr>
          <a:xfrm>
            <a:off x="274320" y="1005840"/>
            <a:ext cx="8595360" cy="274320"/>
          </a:xfrm>
          <a:prstGeom prst="rect">
            <a:avLst/>
          </a:prstGeom>
          <a:solidFill>
            <a:srgbClr val="1A3A5C"/>
          </a:solidFill>
          <a:ln w="12700">
            <a:solidFill>
              <a:srgbClr val="1A3A5C"/>
            </a:solidFill>
            <a:prstDash val="solid"/>
          </a:ln>
        </p:spPr>
        <p:txBody>
          <a:bodyPr/>
          <a:lstStyle/>
          <a:p>
            <a:endParaRPr lang="fr-FR"/>
          </a:p>
        </p:txBody>
      </p:sp>
      <p:sp>
        <p:nvSpPr>
          <p:cNvPr id="9" name="Text 7"/>
          <p:cNvSpPr/>
          <p:nvPr/>
        </p:nvSpPr>
        <p:spPr>
          <a:xfrm>
            <a:off x="365760" y="1005840"/>
            <a:ext cx="8412480" cy="2743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FONDS DE ROULEMENT (FR)</a:t>
            </a:r>
            <a:endParaRPr lang="en-US" sz="1050" dirty="0"/>
          </a:p>
        </p:txBody>
      </p:sp>
      <p:sp>
        <p:nvSpPr>
          <p:cNvPr id="10" name="Shape 8"/>
          <p:cNvSpPr/>
          <p:nvPr/>
        </p:nvSpPr>
        <p:spPr>
          <a:xfrm>
            <a:off x="274320" y="1316736"/>
            <a:ext cx="8595360" cy="585216"/>
          </a:xfrm>
          <a:prstGeom prst="rect">
            <a:avLst/>
          </a:prstGeom>
          <a:solidFill>
            <a:srgbClr val="EBF4FC"/>
          </a:solidFill>
          <a:ln w="12700">
            <a:solidFill>
              <a:srgbClr val="D0DCE8"/>
            </a:solidFill>
            <a:prstDash val="solid"/>
          </a:ln>
        </p:spPr>
        <p:txBody>
          <a:bodyPr/>
          <a:lstStyle/>
          <a:p>
            <a:endParaRPr lang="fr-FR"/>
          </a:p>
        </p:txBody>
      </p:sp>
      <p:sp>
        <p:nvSpPr>
          <p:cNvPr id="11" name="Text 9"/>
          <p:cNvSpPr/>
          <p:nvPr/>
        </p:nvSpPr>
        <p:spPr>
          <a:xfrm>
            <a:off x="402336" y="1353312"/>
            <a:ext cx="8321040" cy="512064"/>
          </a:xfrm>
          <a:prstGeom prst="rect">
            <a:avLst/>
          </a:prstGeom>
          <a:noFill/>
          <a:ln/>
        </p:spPr>
        <p:txBody>
          <a:bodyPr wrap="square" rtlCol="0" anchor="ctr"/>
          <a:lstStyle/>
          <a:p>
            <a:pPr marL="0" indent="0">
              <a:buNone/>
            </a:pPr>
            <a:r>
              <a:rPr lang="en-US" sz="950" dirty="0">
                <a:solidFill>
                  <a:srgbClr val="1E2D3D"/>
                </a:solidFill>
                <a:latin typeface="Calibri" pitchFamily="34" charset="0"/>
                <a:ea typeface="Calibri" pitchFamily="34" charset="-122"/>
                <a:cs typeface="Calibri" pitchFamily="34" charset="-120"/>
              </a:rPr>
              <a:t>Somme dont dispose l'entreprise pour payer ses charges AVANT de recevoir les paiements de ses clients. C'est l'argent disponible à court terme pour faire tourner l'activité.</a:t>
            </a:r>
            <a:endParaRPr lang="en-US" sz="950" dirty="0"/>
          </a:p>
        </p:txBody>
      </p:sp>
      <p:sp>
        <p:nvSpPr>
          <p:cNvPr id="12" name="Shape 10"/>
          <p:cNvSpPr/>
          <p:nvPr/>
        </p:nvSpPr>
        <p:spPr>
          <a:xfrm>
            <a:off x="274320" y="1993392"/>
            <a:ext cx="8595360" cy="274320"/>
          </a:xfrm>
          <a:prstGeom prst="rect">
            <a:avLst/>
          </a:prstGeom>
          <a:solidFill>
            <a:srgbClr val="028090"/>
          </a:solidFill>
          <a:ln w="12700">
            <a:solidFill>
              <a:srgbClr val="028090"/>
            </a:solidFill>
            <a:prstDash val="solid"/>
          </a:ln>
        </p:spPr>
        <p:txBody>
          <a:bodyPr/>
          <a:lstStyle/>
          <a:p>
            <a:endParaRPr lang="fr-FR"/>
          </a:p>
        </p:txBody>
      </p:sp>
      <p:sp>
        <p:nvSpPr>
          <p:cNvPr id="13" name="Text 11"/>
          <p:cNvSpPr/>
          <p:nvPr/>
        </p:nvSpPr>
        <p:spPr>
          <a:xfrm>
            <a:off x="365760" y="1993392"/>
            <a:ext cx="8412480" cy="2743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BESOIN EN FONDS DE ROULEMENT (BFR)</a:t>
            </a:r>
            <a:endParaRPr lang="en-US" sz="1050" dirty="0"/>
          </a:p>
        </p:txBody>
      </p:sp>
      <p:sp>
        <p:nvSpPr>
          <p:cNvPr id="14" name="Shape 12"/>
          <p:cNvSpPr/>
          <p:nvPr/>
        </p:nvSpPr>
        <p:spPr>
          <a:xfrm>
            <a:off x="274320" y="2304288"/>
            <a:ext cx="8595360" cy="493776"/>
          </a:xfrm>
          <a:prstGeom prst="rect">
            <a:avLst/>
          </a:prstGeom>
          <a:solidFill>
            <a:srgbClr val="EBF4FC"/>
          </a:solidFill>
          <a:ln w="12700">
            <a:solidFill>
              <a:srgbClr val="D0DCE8"/>
            </a:solidFill>
            <a:prstDash val="solid"/>
          </a:ln>
        </p:spPr>
        <p:txBody>
          <a:bodyPr/>
          <a:lstStyle/>
          <a:p>
            <a:endParaRPr lang="fr-FR"/>
          </a:p>
        </p:txBody>
      </p:sp>
      <p:sp>
        <p:nvSpPr>
          <p:cNvPr id="15" name="Text 13"/>
          <p:cNvSpPr/>
          <p:nvPr/>
        </p:nvSpPr>
        <p:spPr>
          <a:xfrm>
            <a:off x="402336" y="2340864"/>
            <a:ext cx="8321040" cy="420624"/>
          </a:xfrm>
          <a:prstGeom prst="rect">
            <a:avLst/>
          </a:prstGeom>
          <a:noFill/>
          <a:ln/>
        </p:spPr>
        <p:txBody>
          <a:bodyPr wrap="square" rtlCol="0" anchor="ctr"/>
          <a:lstStyle/>
          <a:p>
            <a:pPr marL="0" indent="0">
              <a:buNone/>
            </a:pPr>
            <a:r>
              <a:rPr lang="en-US" sz="950" dirty="0">
                <a:solidFill>
                  <a:srgbClr val="1E2D3D"/>
                </a:solidFill>
                <a:latin typeface="Calibri" pitchFamily="34" charset="0"/>
                <a:ea typeface="Calibri" pitchFamily="34" charset="-122"/>
                <a:cs typeface="Calibri" pitchFamily="34" charset="-120"/>
              </a:rPr>
              <a:t>Sommes nécessaires au financement de l'activité de production sur un cycle d'exploitation. Mesure la capacité de l'entreprise à financer par elle-même son cycle sans recourir à des financements externes.</a:t>
            </a:r>
            <a:endParaRPr lang="en-US" sz="950" dirty="0"/>
          </a:p>
        </p:txBody>
      </p:sp>
      <p:sp>
        <p:nvSpPr>
          <p:cNvPr id="16" name="Shape 14"/>
          <p:cNvSpPr/>
          <p:nvPr/>
        </p:nvSpPr>
        <p:spPr>
          <a:xfrm>
            <a:off x="274320" y="2889504"/>
            <a:ext cx="8595360" cy="621792"/>
          </a:xfrm>
          <a:prstGeom prst="rect">
            <a:avLst/>
          </a:prstGeom>
          <a:solidFill>
            <a:srgbClr val="EBF4FC"/>
          </a:solidFill>
          <a:ln w="5080">
            <a:solidFill>
              <a:srgbClr val="D0DCE8"/>
            </a:solidFill>
            <a:prstDash val="solid"/>
          </a:ln>
        </p:spPr>
        <p:txBody>
          <a:bodyPr/>
          <a:lstStyle/>
          <a:p>
            <a:endParaRPr lang="fr-FR"/>
          </a:p>
        </p:txBody>
      </p:sp>
      <p:sp>
        <p:nvSpPr>
          <p:cNvPr id="17" name="Shape 15"/>
          <p:cNvSpPr/>
          <p:nvPr/>
        </p:nvSpPr>
        <p:spPr>
          <a:xfrm>
            <a:off x="274320" y="2889504"/>
            <a:ext cx="237744" cy="621792"/>
          </a:xfrm>
          <a:prstGeom prst="rect">
            <a:avLst/>
          </a:prstGeom>
          <a:solidFill>
            <a:srgbClr val="2E7D32"/>
          </a:solidFill>
          <a:ln w="12700">
            <a:solidFill>
              <a:srgbClr val="2E7D32"/>
            </a:solidFill>
            <a:prstDash val="solid"/>
          </a:ln>
        </p:spPr>
        <p:txBody>
          <a:bodyPr/>
          <a:lstStyle/>
          <a:p>
            <a:endParaRPr lang="fr-FR"/>
          </a:p>
        </p:txBody>
      </p:sp>
      <p:sp>
        <p:nvSpPr>
          <p:cNvPr id="18" name="Text 16"/>
          <p:cNvSpPr/>
          <p:nvPr/>
        </p:nvSpPr>
        <p:spPr>
          <a:xfrm>
            <a:off x="603504" y="2944368"/>
            <a:ext cx="2194560" cy="256032"/>
          </a:xfrm>
          <a:prstGeom prst="rect">
            <a:avLst/>
          </a:prstGeom>
          <a:noFill/>
          <a:ln/>
        </p:spPr>
        <p:txBody>
          <a:bodyPr wrap="square" rtlCol="0" anchor="ctr"/>
          <a:lstStyle/>
          <a:p>
            <a:pPr marL="0" indent="0">
              <a:buNone/>
            </a:pPr>
            <a:r>
              <a:rPr lang="en-US" sz="950" b="1" dirty="0">
                <a:solidFill>
                  <a:srgbClr val="2E7D32"/>
                </a:solidFill>
                <a:latin typeface="Calibri" pitchFamily="34" charset="0"/>
                <a:ea typeface="Calibri" pitchFamily="34" charset="-122"/>
                <a:cs typeface="Calibri" pitchFamily="34" charset="-120"/>
              </a:rPr>
              <a:t>BFR &gt; 0 (positif)</a:t>
            </a:r>
            <a:endParaRPr lang="en-US" sz="950" dirty="0"/>
          </a:p>
        </p:txBody>
      </p:sp>
      <p:sp>
        <p:nvSpPr>
          <p:cNvPr id="19" name="Text 17"/>
          <p:cNvSpPr/>
          <p:nvPr/>
        </p:nvSpPr>
        <p:spPr>
          <a:xfrm>
            <a:off x="603504" y="3218688"/>
            <a:ext cx="8138160" cy="256032"/>
          </a:xfrm>
          <a:prstGeom prst="rect">
            <a:avLst/>
          </a:prstGeom>
          <a:noFill/>
          <a:ln/>
        </p:spPr>
        <p:txBody>
          <a:bodyPr wrap="square" rtlCol="0" anchor="ctr"/>
          <a:lstStyle/>
          <a:p>
            <a:pPr marL="0" indent="0">
              <a:buNone/>
            </a:pPr>
            <a:r>
              <a:rPr lang="en-US" sz="880" dirty="0">
                <a:solidFill>
                  <a:srgbClr val="1E2D3D"/>
                </a:solidFill>
                <a:latin typeface="Calibri" pitchFamily="34" charset="0"/>
                <a:ea typeface="Calibri" pitchFamily="34" charset="-122"/>
                <a:cs typeface="Calibri" pitchFamily="34" charset="-120"/>
              </a:rPr>
              <a:t>L'entreprise doit financer ses besoins à court terme par son fonds de roulement ou par des dettes financières à court terme (découverts bancaires). Plus le BFR est élevé, plus le risque de trésorerie est important.</a:t>
            </a:r>
            <a:endParaRPr lang="en-US" sz="880" dirty="0"/>
          </a:p>
        </p:txBody>
      </p:sp>
      <p:sp>
        <p:nvSpPr>
          <p:cNvPr id="20" name="Shape 18"/>
          <p:cNvSpPr/>
          <p:nvPr/>
        </p:nvSpPr>
        <p:spPr>
          <a:xfrm>
            <a:off x="274320" y="3566160"/>
            <a:ext cx="8595360" cy="621792"/>
          </a:xfrm>
          <a:prstGeom prst="rect">
            <a:avLst/>
          </a:prstGeom>
          <a:solidFill>
            <a:srgbClr val="FFFFFF"/>
          </a:solidFill>
          <a:ln w="5080">
            <a:solidFill>
              <a:srgbClr val="D0DCE8"/>
            </a:solidFill>
            <a:prstDash val="solid"/>
          </a:ln>
        </p:spPr>
        <p:txBody>
          <a:bodyPr/>
          <a:lstStyle/>
          <a:p>
            <a:endParaRPr lang="fr-FR"/>
          </a:p>
        </p:txBody>
      </p:sp>
      <p:sp>
        <p:nvSpPr>
          <p:cNvPr id="21" name="Shape 19"/>
          <p:cNvSpPr/>
          <p:nvPr/>
        </p:nvSpPr>
        <p:spPr>
          <a:xfrm>
            <a:off x="274320" y="3566160"/>
            <a:ext cx="237744" cy="621792"/>
          </a:xfrm>
          <a:prstGeom prst="rect">
            <a:avLst/>
          </a:prstGeom>
          <a:solidFill>
            <a:srgbClr val="555F6D"/>
          </a:solidFill>
          <a:ln w="12700">
            <a:solidFill>
              <a:srgbClr val="555F6D"/>
            </a:solidFill>
            <a:prstDash val="solid"/>
          </a:ln>
        </p:spPr>
        <p:txBody>
          <a:bodyPr/>
          <a:lstStyle/>
          <a:p>
            <a:endParaRPr lang="fr-FR"/>
          </a:p>
        </p:txBody>
      </p:sp>
      <p:sp>
        <p:nvSpPr>
          <p:cNvPr id="22" name="Text 20"/>
          <p:cNvSpPr/>
          <p:nvPr/>
        </p:nvSpPr>
        <p:spPr>
          <a:xfrm>
            <a:off x="603504" y="3621024"/>
            <a:ext cx="2194560" cy="256032"/>
          </a:xfrm>
          <a:prstGeom prst="rect">
            <a:avLst/>
          </a:prstGeom>
          <a:noFill/>
          <a:ln/>
        </p:spPr>
        <p:txBody>
          <a:bodyPr wrap="square" rtlCol="0" anchor="ctr"/>
          <a:lstStyle/>
          <a:p>
            <a:pPr marL="0" indent="0">
              <a:buNone/>
            </a:pPr>
            <a:r>
              <a:rPr lang="en-US" sz="950" b="1" dirty="0">
                <a:solidFill>
                  <a:srgbClr val="555F6D"/>
                </a:solidFill>
                <a:latin typeface="Calibri" pitchFamily="34" charset="0"/>
                <a:ea typeface="Calibri" pitchFamily="34" charset="-122"/>
                <a:cs typeface="Calibri" pitchFamily="34" charset="-120"/>
              </a:rPr>
              <a:t>BFR = 0 (nul)</a:t>
            </a:r>
            <a:endParaRPr lang="en-US" sz="950" dirty="0"/>
          </a:p>
        </p:txBody>
      </p:sp>
      <p:sp>
        <p:nvSpPr>
          <p:cNvPr id="23" name="Text 21"/>
          <p:cNvSpPr/>
          <p:nvPr/>
        </p:nvSpPr>
        <p:spPr>
          <a:xfrm>
            <a:off x="603504" y="3895344"/>
            <a:ext cx="8138160" cy="256032"/>
          </a:xfrm>
          <a:prstGeom prst="rect">
            <a:avLst/>
          </a:prstGeom>
          <a:noFill/>
          <a:ln/>
        </p:spPr>
        <p:txBody>
          <a:bodyPr wrap="square" rtlCol="0" anchor="ctr"/>
          <a:lstStyle/>
          <a:p>
            <a:pPr marL="0" indent="0">
              <a:buNone/>
            </a:pPr>
            <a:r>
              <a:rPr lang="en-US" sz="880" dirty="0">
                <a:solidFill>
                  <a:srgbClr val="1E2D3D"/>
                </a:solidFill>
                <a:latin typeface="Calibri" pitchFamily="34" charset="0"/>
                <a:ea typeface="Calibri" pitchFamily="34" charset="-122"/>
                <a:cs typeface="Calibri" pitchFamily="34" charset="-120"/>
              </a:rPr>
              <a:t>L'entreprise n'a aucun besoin à financer mais ne dispose d'aucun excédent financier. Situation d'équilibre.</a:t>
            </a:r>
            <a:endParaRPr lang="en-US" sz="880" dirty="0"/>
          </a:p>
        </p:txBody>
      </p:sp>
      <p:sp>
        <p:nvSpPr>
          <p:cNvPr id="24" name="Shape 22"/>
          <p:cNvSpPr/>
          <p:nvPr/>
        </p:nvSpPr>
        <p:spPr>
          <a:xfrm>
            <a:off x="274320" y="4242816"/>
            <a:ext cx="8595360" cy="621792"/>
          </a:xfrm>
          <a:prstGeom prst="rect">
            <a:avLst/>
          </a:prstGeom>
          <a:solidFill>
            <a:srgbClr val="EBF4FC"/>
          </a:solidFill>
          <a:ln w="5080">
            <a:solidFill>
              <a:srgbClr val="D0DCE8"/>
            </a:solidFill>
            <a:prstDash val="solid"/>
          </a:ln>
        </p:spPr>
        <p:txBody>
          <a:bodyPr/>
          <a:lstStyle/>
          <a:p>
            <a:endParaRPr lang="fr-FR"/>
          </a:p>
        </p:txBody>
      </p:sp>
      <p:sp>
        <p:nvSpPr>
          <p:cNvPr id="25" name="Shape 23"/>
          <p:cNvSpPr/>
          <p:nvPr/>
        </p:nvSpPr>
        <p:spPr>
          <a:xfrm>
            <a:off x="274320" y="4242816"/>
            <a:ext cx="237744" cy="621792"/>
          </a:xfrm>
          <a:prstGeom prst="rect">
            <a:avLst/>
          </a:prstGeom>
          <a:solidFill>
            <a:srgbClr val="E87722"/>
          </a:solidFill>
          <a:ln w="12700">
            <a:solidFill>
              <a:srgbClr val="E87722"/>
            </a:solidFill>
            <a:prstDash val="solid"/>
          </a:ln>
        </p:spPr>
        <p:txBody>
          <a:bodyPr/>
          <a:lstStyle/>
          <a:p>
            <a:endParaRPr lang="fr-FR"/>
          </a:p>
        </p:txBody>
      </p:sp>
      <p:sp>
        <p:nvSpPr>
          <p:cNvPr id="26" name="Text 24"/>
          <p:cNvSpPr/>
          <p:nvPr/>
        </p:nvSpPr>
        <p:spPr>
          <a:xfrm>
            <a:off x="603504" y="4297680"/>
            <a:ext cx="2194560" cy="256032"/>
          </a:xfrm>
          <a:prstGeom prst="rect">
            <a:avLst/>
          </a:prstGeom>
          <a:noFill/>
          <a:ln/>
        </p:spPr>
        <p:txBody>
          <a:bodyPr wrap="square" rtlCol="0" anchor="ctr"/>
          <a:lstStyle/>
          <a:p>
            <a:pPr marL="0" indent="0">
              <a:buNone/>
            </a:pPr>
            <a:r>
              <a:rPr lang="en-US" sz="950" b="1" dirty="0">
                <a:solidFill>
                  <a:srgbClr val="E87722"/>
                </a:solidFill>
                <a:latin typeface="Calibri" pitchFamily="34" charset="0"/>
                <a:ea typeface="Calibri" pitchFamily="34" charset="-122"/>
                <a:cs typeface="Calibri" pitchFamily="34" charset="-120"/>
              </a:rPr>
              <a:t>BFR &lt; 0 (négatif)</a:t>
            </a:r>
            <a:endParaRPr lang="en-US" sz="950" dirty="0"/>
          </a:p>
        </p:txBody>
      </p:sp>
      <p:sp>
        <p:nvSpPr>
          <p:cNvPr id="27" name="Text 25"/>
          <p:cNvSpPr/>
          <p:nvPr/>
        </p:nvSpPr>
        <p:spPr>
          <a:xfrm>
            <a:off x="603504" y="4572000"/>
            <a:ext cx="8138160" cy="256032"/>
          </a:xfrm>
          <a:prstGeom prst="rect">
            <a:avLst/>
          </a:prstGeom>
          <a:noFill/>
          <a:ln/>
        </p:spPr>
        <p:txBody>
          <a:bodyPr wrap="square" rtlCol="0" anchor="ctr"/>
          <a:lstStyle/>
          <a:p>
            <a:pPr marL="0" indent="0">
              <a:buNone/>
            </a:pPr>
            <a:r>
              <a:rPr lang="en-US" sz="880" dirty="0">
                <a:solidFill>
                  <a:srgbClr val="1E2D3D"/>
                </a:solidFill>
                <a:latin typeface="Calibri" pitchFamily="34" charset="0"/>
                <a:ea typeface="Calibri" pitchFamily="34" charset="-122"/>
                <a:cs typeface="Calibri" pitchFamily="34" charset="-120"/>
              </a:rPr>
              <a:t>Signe de bonne santé financière ! L'entreprise dispose de suffisamment de liquidités pour honorer ses dettes à court terme. Elle encaisse avant de payer (ex : grande distribution).</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A1A2E"/>
          </a:solidFill>
          <a:ln w="12700">
            <a:solidFill>
              <a:srgbClr val="0A1A2E"/>
            </a:solidFill>
            <a:prstDash val="solid"/>
          </a:ln>
        </p:spPr>
        <p:txBody>
          <a:bodyPr/>
          <a:lstStyle/>
          <a:p>
            <a:endParaRPr lang="fr-FR"/>
          </a:p>
        </p:txBody>
      </p:sp>
      <p:sp>
        <p:nvSpPr>
          <p:cNvPr id="3" name="Shape 1"/>
          <p:cNvSpPr/>
          <p:nvPr/>
        </p:nvSpPr>
        <p:spPr>
          <a:xfrm>
            <a:off x="0" y="0"/>
            <a:ext cx="9144000" cy="749808"/>
          </a:xfrm>
          <a:prstGeom prst="rect">
            <a:avLst/>
          </a:prstGeom>
          <a:solidFill>
            <a:srgbClr val="028090"/>
          </a:solidFill>
          <a:ln w="12700">
            <a:solidFill>
              <a:srgbClr val="028090"/>
            </a:solidFill>
            <a:prstDash val="solid"/>
          </a:ln>
        </p:spPr>
        <p:txBody>
          <a:bodyPr/>
          <a:lstStyle/>
          <a:p>
            <a:endParaRPr lang="fr-FR"/>
          </a:p>
        </p:txBody>
      </p:sp>
      <p:sp>
        <p:nvSpPr>
          <p:cNvPr id="4" name="Text 2"/>
          <p:cNvSpPr/>
          <p:nvPr/>
        </p:nvSpPr>
        <p:spPr>
          <a:xfrm>
            <a:off x="274320" y="0"/>
            <a:ext cx="859536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SYNTHÈSE — PARTIE 3</a:t>
            </a:r>
            <a:endParaRPr lang="en-US" sz="2200" dirty="0"/>
          </a:p>
        </p:txBody>
      </p:sp>
      <p:sp>
        <p:nvSpPr>
          <p:cNvPr id="5" name="Shape 3"/>
          <p:cNvSpPr/>
          <p:nvPr/>
        </p:nvSpPr>
        <p:spPr>
          <a:xfrm>
            <a:off x="228600" y="859536"/>
            <a:ext cx="4251960" cy="932688"/>
          </a:xfrm>
          <a:prstGeom prst="rect">
            <a:avLst/>
          </a:prstGeom>
          <a:solidFill>
            <a:srgbClr val="0D2240"/>
          </a:solidFill>
          <a:ln w="6350">
            <a:solidFill>
              <a:srgbClr val="1E3A5C"/>
            </a:solidFill>
            <a:prstDash val="solid"/>
          </a:ln>
        </p:spPr>
        <p:txBody>
          <a:bodyPr/>
          <a:lstStyle/>
          <a:p>
            <a:endParaRPr lang="fr-FR"/>
          </a:p>
        </p:txBody>
      </p:sp>
      <p:sp>
        <p:nvSpPr>
          <p:cNvPr id="6" name="Shape 4"/>
          <p:cNvSpPr/>
          <p:nvPr/>
        </p:nvSpPr>
        <p:spPr>
          <a:xfrm>
            <a:off x="228600" y="859536"/>
            <a:ext cx="237744" cy="932688"/>
          </a:xfrm>
          <a:prstGeom prst="rect">
            <a:avLst/>
          </a:prstGeom>
          <a:solidFill>
            <a:srgbClr val="028090"/>
          </a:solidFill>
          <a:ln w="12700">
            <a:solidFill>
              <a:srgbClr val="028090"/>
            </a:solidFill>
            <a:prstDash val="solid"/>
          </a:ln>
        </p:spPr>
        <p:txBody>
          <a:bodyPr/>
          <a:lstStyle/>
          <a:p>
            <a:endParaRPr lang="fr-FR"/>
          </a:p>
        </p:txBody>
      </p:sp>
      <p:sp>
        <p:nvSpPr>
          <p:cNvPr id="7" name="Text 5"/>
          <p:cNvSpPr/>
          <p:nvPr/>
        </p:nvSpPr>
        <p:spPr>
          <a:xfrm>
            <a:off x="539496" y="932688"/>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Dividendes</a:t>
            </a:r>
            <a:endParaRPr lang="en-US" sz="1000" dirty="0"/>
          </a:p>
        </p:txBody>
      </p:sp>
      <p:sp>
        <p:nvSpPr>
          <p:cNvPr id="8" name="Text 6"/>
          <p:cNvSpPr/>
          <p:nvPr/>
        </p:nvSpPr>
        <p:spPr>
          <a:xfrm>
            <a:off x="539496" y="1207008"/>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Revenus de capitaux mobiliers (pas de cotisations sociales). PFU 30% (12,8% IR + 17,2% PS). Abattement 40% possible.</a:t>
            </a:r>
            <a:endParaRPr lang="en-US" sz="850" dirty="0"/>
          </a:p>
        </p:txBody>
      </p:sp>
      <p:sp>
        <p:nvSpPr>
          <p:cNvPr id="9" name="Shape 7"/>
          <p:cNvSpPr/>
          <p:nvPr/>
        </p:nvSpPr>
        <p:spPr>
          <a:xfrm>
            <a:off x="4663440" y="859536"/>
            <a:ext cx="4251960" cy="932688"/>
          </a:xfrm>
          <a:prstGeom prst="rect">
            <a:avLst/>
          </a:prstGeom>
          <a:solidFill>
            <a:srgbClr val="0D2240"/>
          </a:solidFill>
          <a:ln w="6350">
            <a:solidFill>
              <a:srgbClr val="1E3A5C"/>
            </a:solidFill>
            <a:prstDash val="solid"/>
          </a:ln>
        </p:spPr>
        <p:txBody>
          <a:bodyPr/>
          <a:lstStyle/>
          <a:p>
            <a:endParaRPr lang="fr-FR"/>
          </a:p>
        </p:txBody>
      </p:sp>
      <p:sp>
        <p:nvSpPr>
          <p:cNvPr id="10" name="Shape 8"/>
          <p:cNvSpPr/>
          <p:nvPr/>
        </p:nvSpPr>
        <p:spPr>
          <a:xfrm>
            <a:off x="4663440" y="859536"/>
            <a:ext cx="237744" cy="932688"/>
          </a:xfrm>
          <a:prstGeom prst="rect">
            <a:avLst/>
          </a:prstGeom>
          <a:solidFill>
            <a:srgbClr val="1A3A5C"/>
          </a:solidFill>
          <a:ln w="12700">
            <a:solidFill>
              <a:srgbClr val="1A3A5C"/>
            </a:solidFill>
            <a:prstDash val="solid"/>
          </a:ln>
        </p:spPr>
        <p:txBody>
          <a:bodyPr/>
          <a:lstStyle/>
          <a:p>
            <a:endParaRPr lang="fr-FR"/>
          </a:p>
        </p:txBody>
      </p:sp>
      <p:sp>
        <p:nvSpPr>
          <p:cNvPr id="11" name="Text 9"/>
          <p:cNvSpPr/>
          <p:nvPr/>
        </p:nvSpPr>
        <p:spPr>
          <a:xfrm>
            <a:off x="4974336" y="932688"/>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Statuts du conjoint</a:t>
            </a:r>
            <a:endParaRPr lang="en-US" sz="1000" dirty="0"/>
          </a:p>
        </p:txBody>
      </p:sp>
      <p:sp>
        <p:nvSpPr>
          <p:cNvPr id="12" name="Text 10"/>
          <p:cNvSpPr/>
          <p:nvPr/>
        </p:nvSpPr>
        <p:spPr>
          <a:xfrm>
            <a:off x="4974336" y="1207008"/>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Collaborateur (5 ans max, non rémunéré) | Associé (dividendes) | Salarié (SMIC minimum, chômage).</a:t>
            </a:r>
            <a:endParaRPr lang="en-US" sz="850" dirty="0"/>
          </a:p>
        </p:txBody>
      </p:sp>
      <p:sp>
        <p:nvSpPr>
          <p:cNvPr id="13" name="Shape 11"/>
          <p:cNvSpPr/>
          <p:nvPr/>
        </p:nvSpPr>
        <p:spPr>
          <a:xfrm>
            <a:off x="228600" y="1883664"/>
            <a:ext cx="4251960" cy="932688"/>
          </a:xfrm>
          <a:prstGeom prst="rect">
            <a:avLst/>
          </a:prstGeom>
          <a:solidFill>
            <a:srgbClr val="0D2240"/>
          </a:solidFill>
          <a:ln w="6350">
            <a:solidFill>
              <a:srgbClr val="1E3A5C"/>
            </a:solidFill>
            <a:prstDash val="solid"/>
          </a:ln>
        </p:spPr>
        <p:txBody>
          <a:bodyPr/>
          <a:lstStyle/>
          <a:p>
            <a:endParaRPr lang="fr-FR"/>
          </a:p>
        </p:txBody>
      </p:sp>
      <p:sp>
        <p:nvSpPr>
          <p:cNvPr id="14" name="Shape 12"/>
          <p:cNvSpPr/>
          <p:nvPr/>
        </p:nvSpPr>
        <p:spPr>
          <a:xfrm>
            <a:off x="228600" y="1883664"/>
            <a:ext cx="237744" cy="932688"/>
          </a:xfrm>
          <a:prstGeom prst="rect">
            <a:avLst/>
          </a:prstGeom>
          <a:solidFill>
            <a:srgbClr val="E87722"/>
          </a:solidFill>
          <a:ln w="12700">
            <a:solidFill>
              <a:srgbClr val="E87722"/>
            </a:solidFill>
            <a:prstDash val="solid"/>
          </a:ln>
        </p:spPr>
        <p:txBody>
          <a:bodyPr/>
          <a:lstStyle/>
          <a:p>
            <a:endParaRPr lang="fr-FR"/>
          </a:p>
        </p:txBody>
      </p:sp>
      <p:sp>
        <p:nvSpPr>
          <p:cNvPr id="15" name="Text 13"/>
          <p:cNvSpPr/>
          <p:nvPr/>
        </p:nvSpPr>
        <p:spPr>
          <a:xfrm>
            <a:off x="539496" y="1956816"/>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CMA</a:t>
            </a:r>
            <a:endParaRPr lang="en-US" sz="1000" dirty="0"/>
          </a:p>
        </p:txBody>
      </p:sp>
      <p:sp>
        <p:nvSpPr>
          <p:cNvPr id="16" name="Text 14"/>
          <p:cNvSpPr/>
          <p:nvPr/>
        </p:nvSpPr>
        <p:spPr>
          <a:xfrm>
            <a:off x="539496" y="2231136"/>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Représente l'artisanat. Élabore les sujets TAXI/VTC. Artisans élus 5 ans. APCMA → CRMA → CMAD.</a:t>
            </a:r>
            <a:endParaRPr lang="en-US" sz="850" dirty="0"/>
          </a:p>
        </p:txBody>
      </p:sp>
      <p:sp>
        <p:nvSpPr>
          <p:cNvPr id="17" name="Shape 15"/>
          <p:cNvSpPr/>
          <p:nvPr/>
        </p:nvSpPr>
        <p:spPr>
          <a:xfrm>
            <a:off x="4663440" y="1883664"/>
            <a:ext cx="4251960" cy="932688"/>
          </a:xfrm>
          <a:prstGeom prst="rect">
            <a:avLst/>
          </a:prstGeom>
          <a:solidFill>
            <a:srgbClr val="0D2240"/>
          </a:solidFill>
          <a:ln w="6350">
            <a:solidFill>
              <a:srgbClr val="1E3A5C"/>
            </a:solidFill>
            <a:prstDash val="solid"/>
          </a:ln>
        </p:spPr>
        <p:txBody>
          <a:bodyPr/>
          <a:lstStyle/>
          <a:p>
            <a:endParaRPr lang="fr-FR"/>
          </a:p>
        </p:txBody>
      </p:sp>
      <p:sp>
        <p:nvSpPr>
          <p:cNvPr id="18" name="Shape 16"/>
          <p:cNvSpPr/>
          <p:nvPr/>
        </p:nvSpPr>
        <p:spPr>
          <a:xfrm>
            <a:off x="4663440" y="1883664"/>
            <a:ext cx="237744" cy="932688"/>
          </a:xfrm>
          <a:prstGeom prst="rect">
            <a:avLst/>
          </a:prstGeom>
          <a:solidFill>
            <a:srgbClr val="6B3FA0"/>
          </a:solidFill>
          <a:ln w="12700">
            <a:solidFill>
              <a:srgbClr val="6B3FA0"/>
            </a:solidFill>
            <a:prstDash val="solid"/>
          </a:ln>
        </p:spPr>
        <p:txBody>
          <a:bodyPr/>
          <a:lstStyle/>
          <a:p>
            <a:endParaRPr lang="fr-FR"/>
          </a:p>
        </p:txBody>
      </p:sp>
      <p:sp>
        <p:nvSpPr>
          <p:cNvPr id="19" name="Text 17"/>
          <p:cNvSpPr/>
          <p:nvPr/>
        </p:nvSpPr>
        <p:spPr>
          <a:xfrm>
            <a:off x="4974336" y="1956816"/>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CGA vs Expert</a:t>
            </a:r>
            <a:endParaRPr lang="en-US" sz="1000" dirty="0"/>
          </a:p>
        </p:txBody>
      </p:sp>
      <p:sp>
        <p:nvSpPr>
          <p:cNvPr id="20" name="Text 18"/>
          <p:cNvSpPr/>
          <p:nvPr/>
        </p:nvSpPr>
        <p:spPr>
          <a:xfrm>
            <a:off x="4974336" y="2231136"/>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CGA : vérifie et révise, adhésion payante, SANS pouvoir d'attestation fiscale.</a:t>
            </a:r>
            <a:endParaRPr lang="en-US" sz="850" dirty="0"/>
          </a:p>
          <a:p>
            <a:pPr marL="0" indent="0">
              <a:buNone/>
            </a:pPr>
            <a:r>
              <a:rPr lang="en-US" sz="850" dirty="0">
                <a:solidFill>
                  <a:srgbClr val="CADCFC"/>
                </a:solidFill>
                <a:latin typeface="Calibri" pitchFamily="34" charset="0"/>
                <a:ea typeface="Calibri" pitchFamily="34" charset="-122"/>
                <a:cs typeface="Calibri" pitchFamily="34" charset="-120"/>
              </a:rPr>
              <a:t>Expert : tient la compta, CERTIFIE, plein pouvoir fiscal.</a:t>
            </a:r>
            <a:endParaRPr lang="en-US" sz="850" dirty="0"/>
          </a:p>
        </p:txBody>
      </p:sp>
      <p:sp>
        <p:nvSpPr>
          <p:cNvPr id="21" name="Shape 19"/>
          <p:cNvSpPr/>
          <p:nvPr/>
        </p:nvSpPr>
        <p:spPr>
          <a:xfrm>
            <a:off x="228600" y="2907792"/>
            <a:ext cx="4251960" cy="932688"/>
          </a:xfrm>
          <a:prstGeom prst="rect">
            <a:avLst/>
          </a:prstGeom>
          <a:solidFill>
            <a:srgbClr val="0D2240"/>
          </a:solidFill>
          <a:ln w="6350">
            <a:solidFill>
              <a:srgbClr val="1E3A5C"/>
            </a:solidFill>
            <a:prstDash val="solid"/>
          </a:ln>
        </p:spPr>
        <p:txBody>
          <a:bodyPr/>
          <a:lstStyle/>
          <a:p>
            <a:endParaRPr lang="fr-FR"/>
          </a:p>
        </p:txBody>
      </p:sp>
      <p:sp>
        <p:nvSpPr>
          <p:cNvPr id="22" name="Shape 20"/>
          <p:cNvSpPr/>
          <p:nvPr/>
        </p:nvSpPr>
        <p:spPr>
          <a:xfrm>
            <a:off x="228600" y="2907792"/>
            <a:ext cx="237744" cy="932688"/>
          </a:xfrm>
          <a:prstGeom prst="rect">
            <a:avLst/>
          </a:prstGeom>
          <a:solidFill>
            <a:srgbClr val="2E7D32"/>
          </a:solidFill>
          <a:ln w="12700">
            <a:solidFill>
              <a:srgbClr val="2E7D32"/>
            </a:solidFill>
            <a:prstDash val="solid"/>
          </a:ln>
        </p:spPr>
        <p:txBody>
          <a:bodyPr/>
          <a:lstStyle/>
          <a:p>
            <a:endParaRPr lang="fr-FR"/>
          </a:p>
        </p:txBody>
      </p:sp>
      <p:sp>
        <p:nvSpPr>
          <p:cNvPr id="23" name="Text 21"/>
          <p:cNvSpPr/>
          <p:nvPr/>
        </p:nvSpPr>
        <p:spPr>
          <a:xfrm>
            <a:off x="539496" y="2980944"/>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Paiements</a:t>
            </a:r>
            <a:endParaRPr lang="en-US" sz="1000" dirty="0"/>
          </a:p>
        </p:txBody>
      </p:sp>
      <p:sp>
        <p:nvSpPr>
          <p:cNvPr id="24" name="Text 22"/>
          <p:cNvSpPr/>
          <p:nvPr/>
        </p:nvSpPr>
        <p:spPr>
          <a:xfrm>
            <a:off x="539496" y="3255264"/>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Espèces : obligatoire (amende 150€ si refus). Carte : TPE obligatoire pour taxis. Chèque : refus possible si affichage.</a:t>
            </a:r>
            <a:endParaRPr lang="en-US" sz="850" dirty="0"/>
          </a:p>
        </p:txBody>
      </p:sp>
      <p:sp>
        <p:nvSpPr>
          <p:cNvPr id="25" name="Shape 23"/>
          <p:cNvSpPr/>
          <p:nvPr/>
        </p:nvSpPr>
        <p:spPr>
          <a:xfrm>
            <a:off x="4663440" y="2907792"/>
            <a:ext cx="4251960" cy="932688"/>
          </a:xfrm>
          <a:prstGeom prst="rect">
            <a:avLst/>
          </a:prstGeom>
          <a:solidFill>
            <a:srgbClr val="0D2240"/>
          </a:solidFill>
          <a:ln w="6350">
            <a:solidFill>
              <a:srgbClr val="1E3A5C"/>
            </a:solidFill>
            <a:prstDash val="solid"/>
          </a:ln>
        </p:spPr>
        <p:txBody>
          <a:bodyPr/>
          <a:lstStyle/>
          <a:p>
            <a:endParaRPr lang="fr-FR"/>
          </a:p>
        </p:txBody>
      </p:sp>
      <p:sp>
        <p:nvSpPr>
          <p:cNvPr id="26" name="Shape 24"/>
          <p:cNvSpPr/>
          <p:nvPr/>
        </p:nvSpPr>
        <p:spPr>
          <a:xfrm>
            <a:off x="4663440" y="2907792"/>
            <a:ext cx="237744" cy="932688"/>
          </a:xfrm>
          <a:prstGeom prst="rect">
            <a:avLst/>
          </a:prstGeom>
          <a:solidFill>
            <a:srgbClr val="C0392B"/>
          </a:solidFill>
          <a:ln w="12700">
            <a:solidFill>
              <a:srgbClr val="C0392B"/>
            </a:solidFill>
            <a:prstDash val="solid"/>
          </a:ln>
        </p:spPr>
        <p:txBody>
          <a:bodyPr/>
          <a:lstStyle/>
          <a:p>
            <a:endParaRPr lang="fr-FR"/>
          </a:p>
        </p:txBody>
      </p:sp>
      <p:sp>
        <p:nvSpPr>
          <p:cNvPr id="27" name="Text 25"/>
          <p:cNvSpPr/>
          <p:nvPr/>
        </p:nvSpPr>
        <p:spPr>
          <a:xfrm>
            <a:off x="4974336" y="2980944"/>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Impôt libératoire</a:t>
            </a:r>
            <a:endParaRPr lang="en-US" sz="1000" dirty="0"/>
          </a:p>
        </p:txBody>
      </p:sp>
      <p:sp>
        <p:nvSpPr>
          <p:cNvPr id="28" name="Text 26"/>
          <p:cNvSpPr/>
          <p:nvPr/>
        </p:nvSpPr>
        <p:spPr>
          <a:xfrm>
            <a:off x="4974336" y="3255264"/>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Micro-entrepreneur : paye IR + cotisations sociales en même temps. Mensuel ou trimestriel.</a:t>
            </a:r>
            <a:endParaRPr lang="en-US" sz="850" dirty="0"/>
          </a:p>
        </p:txBody>
      </p:sp>
      <p:sp>
        <p:nvSpPr>
          <p:cNvPr id="29" name="Shape 27"/>
          <p:cNvSpPr/>
          <p:nvPr/>
        </p:nvSpPr>
        <p:spPr>
          <a:xfrm>
            <a:off x="228600" y="3931920"/>
            <a:ext cx="4251960" cy="932688"/>
          </a:xfrm>
          <a:prstGeom prst="rect">
            <a:avLst/>
          </a:prstGeom>
          <a:solidFill>
            <a:srgbClr val="0D2240"/>
          </a:solidFill>
          <a:ln w="6350">
            <a:solidFill>
              <a:srgbClr val="1E3A5C"/>
            </a:solidFill>
            <a:prstDash val="solid"/>
          </a:ln>
        </p:spPr>
        <p:txBody>
          <a:bodyPr/>
          <a:lstStyle/>
          <a:p>
            <a:endParaRPr lang="fr-FR"/>
          </a:p>
        </p:txBody>
      </p:sp>
      <p:sp>
        <p:nvSpPr>
          <p:cNvPr id="30" name="Shape 28"/>
          <p:cNvSpPr/>
          <p:nvPr/>
        </p:nvSpPr>
        <p:spPr>
          <a:xfrm>
            <a:off x="228600" y="3931920"/>
            <a:ext cx="237744" cy="932688"/>
          </a:xfrm>
          <a:prstGeom prst="rect">
            <a:avLst/>
          </a:prstGeom>
          <a:solidFill>
            <a:srgbClr val="028090"/>
          </a:solidFill>
          <a:ln w="12700">
            <a:solidFill>
              <a:srgbClr val="028090"/>
            </a:solidFill>
            <a:prstDash val="solid"/>
          </a:ln>
        </p:spPr>
        <p:txBody>
          <a:bodyPr/>
          <a:lstStyle/>
          <a:p>
            <a:endParaRPr lang="fr-FR"/>
          </a:p>
        </p:txBody>
      </p:sp>
      <p:sp>
        <p:nvSpPr>
          <p:cNvPr id="31" name="Text 29"/>
          <p:cNvSpPr/>
          <p:nvPr/>
        </p:nvSpPr>
        <p:spPr>
          <a:xfrm>
            <a:off x="539496" y="4005072"/>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SIG</a:t>
            </a:r>
            <a:endParaRPr lang="en-US" sz="1000" dirty="0"/>
          </a:p>
        </p:txBody>
      </p:sp>
      <p:sp>
        <p:nvSpPr>
          <p:cNvPr id="32" name="Text 30"/>
          <p:cNvSpPr/>
          <p:nvPr/>
        </p:nvSpPr>
        <p:spPr>
          <a:xfrm>
            <a:off x="539496" y="4279392"/>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EBE = meilleur indicateur de performance. Valeur Ajoutée → EBE → Résultat d'exploitation.</a:t>
            </a:r>
            <a:endParaRPr lang="en-US" sz="850" dirty="0"/>
          </a:p>
        </p:txBody>
      </p:sp>
      <p:sp>
        <p:nvSpPr>
          <p:cNvPr id="33" name="Shape 31"/>
          <p:cNvSpPr/>
          <p:nvPr/>
        </p:nvSpPr>
        <p:spPr>
          <a:xfrm>
            <a:off x="4663440" y="3931920"/>
            <a:ext cx="4251960" cy="932688"/>
          </a:xfrm>
          <a:prstGeom prst="rect">
            <a:avLst/>
          </a:prstGeom>
          <a:solidFill>
            <a:srgbClr val="0D2240"/>
          </a:solidFill>
          <a:ln w="6350">
            <a:solidFill>
              <a:srgbClr val="1E3A5C"/>
            </a:solidFill>
            <a:prstDash val="solid"/>
          </a:ln>
        </p:spPr>
        <p:txBody>
          <a:bodyPr/>
          <a:lstStyle/>
          <a:p>
            <a:endParaRPr lang="fr-FR"/>
          </a:p>
        </p:txBody>
      </p:sp>
      <p:sp>
        <p:nvSpPr>
          <p:cNvPr id="34" name="Shape 32"/>
          <p:cNvSpPr/>
          <p:nvPr/>
        </p:nvSpPr>
        <p:spPr>
          <a:xfrm>
            <a:off x="4663440" y="3931920"/>
            <a:ext cx="237744" cy="932688"/>
          </a:xfrm>
          <a:prstGeom prst="rect">
            <a:avLst/>
          </a:prstGeom>
          <a:solidFill>
            <a:srgbClr val="2D5F8A"/>
          </a:solidFill>
          <a:ln w="12700">
            <a:solidFill>
              <a:srgbClr val="2D5F8A"/>
            </a:solidFill>
            <a:prstDash val="solid"/>
          </a:ln>
        </p:spPr>
        <p:txBody>
          <a:bodyPr/>
          <a:lstStyle/>
          <a:p>
            <a:endParaRPr lang="fr-FR"/>
          </a:p>
        </p:txBody>
      </p:sp>
      <p:sp>
        <p:nvSpPr>
          <p:cNvPr id="35" name="Text 33"/>
          <p:cNvSpPr/>
          <p:nvPr/>
        </p:nvSpPr>
        <p:spPr>
          <a:xfrm>
            <a:off x="4974336" y="4005072"/>
            <a:ext cx="3867912"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FR &amp; BFR</a:t>
            </a:r>
            <a:endParaRPr lang="en-US" sz="1000" dirty="0"/>
          </a:p>
        </p:txBody>
      </p:sp>
      <p:sp>
        <p:nvSpPr>
          <p:cNvPr id="36" name="Text 34"/>
          <p:cNvSpPr/>
          <p:nvPr/>
        </p:nvSpPr>
        <p:spPr>
          <a:xfrm>
            <a:off x="4974336" y="4279392"/>
            <a:ext cx="3867912" cy="530352"/>
          </a:xfrm>
          <a:prstGeom prst="rect">
            <a:avLst/>
          </a:prstGeom>
          <a:noFill/>
          <a:ln/>
        </p:spPr>
        <p:txBody>
          <a:bodyPr wrap="square" rtlCol="0" anchor="t"/>
          <a:lstStyle/>
          <a:p>
            <a:pPr marL="0" indent="0">
              <a:buNone/>
            </a:pPr>
            <a:r>
              <a:rPr lang="en-US" sz="850" dirty="0">
                <a:solidFill>
                  <a:srgbClr val="CADCFC"/>
                </a:solidFill>
                <a:latin typeface="Calibri" pitchFamily="34" charset="0"/>
                <a:ea typeface="Calibri" pitchFamily="34" charset="-122"/>
                <a:cs typeface="Calibri" pitchFamily="34" charset="-120"/>
              </a:rPr>
              <a:t>FR = argent dispo pour payer avant encaissement. BFR &gt; 0 = risque tréso | BFR &lt; 0 = bonne santé financière.</a:t>
            </a:r>
            <a:endParaRPr lang="en-US" sz="850" dirty="0"/>
          </a:p>
        </p:txBody>
      </p:sp>
      <p:sp>
        <p:nvSpPr>
          <p:cNvPr id="37" name="Text 35"/>
          <p:cNvSpPr/>
          <p:nvPr/>
        </p:nvSpPr>
        <p:spPr>
          <a:xfrm>
            <a:off x="274320" y="4892040"/>
            <a:ext cx="8046720" cy="201168"/>
          </a:xfrm>
          <a:prstGeom prst="rect">
            <a:avLst/>
          </a:prstGeom>
          <a:noFill/>
          <a:ln/>
        </p:spPr>
        <p:txBody>
          <a:bodyPr wrap="square" rtlCol="0" anchor="ctr"/>
          <a:lstStyle/>
          <a:p>
            <a:pPr marL="0" indent="0" algn="ctr">
              <a:buNone/>
            </a:pPr>
            <a:r>
              <a:rPr lang="en-US" sz="750" dirty="0">
                <a:solidFill>
                  <a:srgbClr val="9AAABB"/>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38" name="Text 36"/>
          <p:cNvSpPr/>
          <p:nvPr/>
        </p:nvSpPr>
        <p:spPr>
          <a:xfrm>
            <a:off x="8732520" y="4892040"/>
            <a:ext cx="347472" cy="201168"/>
          </a:xfrm>
          <a:prstGeom prst="rect">
            <a:avLst/>
          </a:prstGeom>
          <a:noFill/>
          <a:ln/>
        </p:spPr>
        <p:txBody>
          <a:bodyPr wrap="square" rtlCol="0" anchor="ctr"/>
          <a:lstStyle/>
          <a:p>
            <a:pPr marL="0" indent="0" algn="ctr">
              <a:buNone/>
            </a:pPr>
            <a:r>
              <a:rPr lang="en-US" sz="800" b="1" dirty="0">
                <a:solidFill>
                  <a:srgbClr val="4A90C4"/>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A1A2E"/>
          </a:solidFill>
          <a:ln w="12700">
            <a:solidFill>
              <a:srgbClr val="0A1A2E"/>
            </a:solidFill>
            <a:prstDash val="solid"/>
          </a:ln>
        </p:spPr>
        <p:txBody>
          <a:bodyPr/>
          <a:lstStyle/>
          <a:p>
            <a:endParaRPr lang="fr-FR"/>
          </a:p>
        </p:txBody>
      </p:sp>
      <p:sp>
        <p:nvSpPr>
          <p:cNvPr id="3" name="Shape 1"/>
          <p:cNvSpPr/>
          <p:nvPr/>
        </p:nvSpPr>
        <p:spPr>
          <a:xfrm>
            <a:off x="0" y="1463040"/>
            <a:ext cx="9144000" cy="2011680"/>
          </a:xfrm>
          <a:prstGeom prst="rect">
            <a:avLst/>
          </a:prstGeom>
          <a:solidFill>
            <a:srgbClr val="1A3A5C"/>
          </a:solidFill>
          <a:ln w="12700">
            <a:solidFill>
              <a:srgbClr val="1A3A5C"/>
            </a:solidFill>
            <a:prstDash val="solid"/>
          </a:ln>
        </p:spPr>
        <p:txBody>
          <a:bodyPr/>
          <a:lstStyle/>
          <a:p>
            <a:endParaRPr lang="fr-FR"/>
          </a:p>
        </p:txBody>
      </p:sp>
      <p:sp>
        <p:nvSpPr>
          <p:cNvPr id="4" name="Text 2"/>
          <p:cNvSpPr/>
          <p:nvPr/>
        </p:nvSpPr>
        <p:spPr>
          <a:xfrm>
            <a:off x="365760" y="274320"/>
            <a:ext cx="8412480" cy="804672"/>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FORMATION GESTION</a:t>
            </a:r>
            <a:endParaRPr lang="en-US" sz="3600" dirty="0"/>
          </a:p>
        </p:txBody>
      </p:sp>
      <p:sp>
        <p:nvSpPr>
          <p:cNvPr id="5" name="Text 3"/>
          <p:cNvSpPr/>
          <p:nvPr/>
        </p:nvSpPr>
        <p:spPr>
          <a:xfrm>
            <a:off x="365760" y="1097280"/>
            <a:ext cx="8412480" cy="329184"/>
          </a:xfrm>
          <a:prstGeom prst="rect">
            <a:avLst/>
          </a:prstGeom>
          <a:noFill/>
          <a:ln/>
        </p:spPr>
        <p:txBody>
          <a:bodyPr wrap="square" rtlCol="0" anchor="ctr"/>
          <a:lstStyle/>
          <a:p>
            <a:pPr marL="0" indent="0" algn="ctr">
              <a:buNone/>
            </a:pPr>
            <a:r>
              <a:rPr lang="en-US" sz="1300" i="1" dirty="0">
                <a:solidFill>
                  <a:srgbClr val="CADCFC"/>
                </a:solidFill>
                <a:latin typeface="Calibri" pitchFamily="34" charset="0"/>
                <a:ea typeface="Calibri" pitchFamily="34" charset="-122"/>
                <a:cs typeface="Calibri" pitchFamily="34" charset="-120"/>
              </a:rPr>
              <a:t>3 parties — Certification professionnelle T3P</a:t>
            </a:r>
            <a:endParaRPr lang="en-US" sz="1300" dirty="0"/>
          </a:p>
        </p:txBody>
      </p:sp>
      <p:sp>
        <p:nvSpPr>
          <p:cNvPr id="6" name="Shape 4"/>
          <p:cNvSpPr/>
          <p:nvPr/>
        </p:nvSpPr>
        <p:spPr>
          <a:xfrm>
            <a:off x="274320" y="1536192"/>
            <a:ext cx="2798064" cy="1810512"/>
          </a:xfrm>
          <a:prstGeom prst="rect">
            <a:avLst/>
          </a:prstGeom>
          <a:solidFill>
            <a:srgbClr val="0D2240"/>
          </a:solidFill>
          <a:ln w="10160">
            <a:solidFill>
              <a:srgbClr val="E87722"/>
            </a:solidFill>
            <a:prstDash val="solid"/>
          </a:ln>
        </p:spPr>
        <p:txBody>
          <a:bodyPr/>
          <a:lstStyle/>
          <a:p>
            <a:endParaRPr lang="fr-FR"/>
          </a:p>
        </p:txBody>
      </p:sp>
      <p:sp>
        <p:nvSpPr>
          <p:cNvPr id="7" name="Shape 5"/>
          <p:cNvSpPr/>
          <p:nvPr/>
        </p:nvSpPr>
        <p:spPr>
          <a:xfrm>
            <a:off x="274320" y="1536192"/>
            <a:ext cx="2798064" cy="274320"/>
          </a:xfrm>
          <a:prstGeom prst="rect">
            <a:avLst/>
          </a:prstGeom>
          <a:solidFill>
            <a:srgbClr val="E87722"/>
          </a:solidFill>
          <a:ln w="12700">
            <a:solidFill>
              <a:srgbClr val="E87722"/>
            </a:solidFill>
            <a:prstDash val="solid"/>
          </a:ln>
        </p:spPr>
        <p:txBody>
          <a:bodyPr/>
          <a:lstStyle/>
          <a:p>
            <a:endParaRPr lang="fr-FR"/>
          </a:p>
        </p:txBody>
      </p:sp>
      <p:sp>
        <p:nvSpPr>
          <p:cNvPr id="8" name="Text 6"/>
          <p:cNvSpPr/>
          <p:nvPr/>
        </p:nvSpPr>
        <p:spPr>
          <a:xfrm>
            <a:off x="347472" y="1536192"/>
            <a:ext cx="265176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PARTIE 1</a:t>
            </a:r>
            <a:endParaRPr lang="en-US" sz="950" dirty="0"/>
          </a:p>
        </p:txBody>
      </p:sp>
      <p:sp>
        <p:nvSpPr>
          <p:cNvPr id="9" name="Text 7"/>
          <p:cNvSpPr/>
          <p:nvPr/>
        </p:nvSpPr>
        <p:spPr>
          <a:xfrm>
            <a:off x="365760" y="1865376"/>
            <a:ext cx="2615184" cy="1408176"/>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Entrepreneurs &amp; Formes juridiques</a:t>
            </a:r>
            <a:endParaRPr lang="en-US" sz="900" dirty="0"/>
          </a:p>
        </p:txBody>
      </p:sp>
      <p:sp>
        <p:nvSpPr>
          <p:cNvPr id="10" name="Shape 8"/>
          <p:cNvSpPr/>
          <p:nvPr/>
        </p:nvSpPr>
        <p:spPr>
          <a:xfrm>
            <a:off x="3172968" y="1536192"/>
            <a:ext cx="2798064" cy="1810512"/>
          </a:xfrm>
          <a:prstGeom prst="rect">
            <a:avLst/>
          </a:prstGeom>
          <a:solidFill>
            <a:srgbClr val="0D2240"/>
          </a:solidFill>
          <a:ln w="10160">
            <a:solidFill>
              <a:srgbClr val="2D5F8A"/>
            </a:solidFill>
            <a:prstDash val="solid"/>
          </a:ln>
        </p:spPr>
        <p:txBody>
          <a:bodyPr/>
          <a:lstStyle/>
          <a:p>
            <a:endParaRPr lang="fr-FR"/>
          </a:p>
        </p:txBody>
      </p:sp>
      <p:sp>
        <p:nvSpPr>
          <p:cNvPr id="11" name="Shape 9"/>
          <p:cNvSpPr/>
          <p:nvPr/>
        </p:nvSpPr>
        <p:spPr>
          <a:xfrm>
            <a:off x="3172968" y="1536192"/>
            <a:ext cx="2798064" cy="274320"/>
          </a:xfrm>
          <a:prstGeom prst="rect">
            <a:avLst/>
          </a:prstGeom>
          <a:solidFill>
            <a:srgbClr val="2D5F8A"/>
          </a:solidFill>
          <a:ln w="12700">
            <a:solidFill>
              <a:srgbClr val="2D5F8A"/>
            </a:solidFill>
            <a:prstDash val="solid"/>
          </a:ln>
        </p:spPr>
        <p:txBody>
          <a:bodyPr/>
          <a:lstStyle/>
          <a:p>
            <a:endParaRPr lang="fr-FR"/>
          </a:p>
        </p:txBody>
      </p:sp>
      <p:sp>
        <p:nvSpPr>
          <p:cNvPr id="12" name="Text 10"/>
          <p:cNvSpPr/>
          <p:nvPr/>
        </p:nvSpPr>
        <p:spPr>
          <a:xfrm>
            <a:off x="3246120" y="1536192"/>
            <a:ext cx="265176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PARTIE 2</a:t>
            </a:r>
            <a:endParaRPr lang="en-US" sz="950" dirty="0"/>
          </a:p>
        </p:txBody>
      </p:sp>
      <p:sp>
        <p:nvSpPr>
          <p:cNvPr id="13" name="Text 11"/>
          <p:cNvSpPr/>
          <p:nvPr/>
        </p:nvSpPr>
        <p:spPr>
          <a:xfrm>
            <a:off x="3264408" y="1865376"/>
            <a:ext cx="2615184" cy="1408176"/>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Amortissements · Coût de revient · TVA · Fiscalité · Régimes sociaux</a:t>
            </a:r>
            <a:endParaRPr lang="en-US" sz="900" dirty="0"/>
          </a:p>
        </p:txBody>
      </p:sp>
      <p:sp>
        <p:nvSpPr>
          <p:cNvPr id="14" name="Shape 12"/>
          <p:cNvSpPr/>
          <p:nvPr/>
        </p:nvSpPr>
        <p:spPr>
          <a:xfrm>
            <a:off x="6071616" y="1536192"/>
            <a:ext cx="2798064" cy="1810512"/>
          </a:xfrm>
          <a:prstGeom prst="rect">
            <a:avLst/>
          </a:prstGeom>
          <a:solidFill>
            <a:srgbClr val="0D2240"/>
          </a:solidFill>
          <a:ln w="10160">
            <a:solidFill>
              <a:srgbClr val="028090"/>
            </a:solidFill>
            <a:prstDash val="solid"/>
          </a:ln>
        </p:spPr>
        <p:txBody>
          <a:bodyPr/>
          <a:lstStyle/>
          <a:p>
            <a:endParaRPr lang="fr-FR"/>
          </a:p>
        </p:txBody>
      </p:sp>
      <p:sp>
        <p:nvSpPr>
          <p:cNvPr id="15" name="Shape 13"/>
          <p:cNvSpPr/>
          <p:nvPr/>
        </p:nvSpPr>
        <p:spPr>
          <a:xfrm>
            <a:off x="6071616" y="1536192"/>
            <a:ext cx="2798064" cy="274320"/>
          </a:xfrm>
          <a:prstGeom prst="rect">
            <a:avLst/>
          </a:prstGeom>
          <a:solidFill>
            <a:srgbClr val="028090"/>
          </a:solidFill>
          <a:ln w="12700">
            <a:solidFill>
              <a:srgbClr val="028090"/>
            </a:solidFill>
            <a:prstDash val="solid"/>
          </a:ln>
        </p:spPr>
        <p:txBody>
          <a:bodyPr/>
          <a:lstStyle/>
          <a:p>
            <a:endParaRPr lang="fr-FR"/>
          </a:p>
        </p:txBody>
      </p:sp>
      <p:sp>
        <p:nvSpPr>
          <p:cNvPr id="16" name="Text 14"/>
          <p:cNvSpPr/>
          <p:nvPr/>
        </p:nvSpPr>
        <p:spPr>
          <a:xfrm>
            <a:off x="6144768" y="1536192"/>
            <a:ext cx="265176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PARTIE 3</a:t>
            </a:r>
            <a:endParaRPr lang="en-US" sz="950" dirty="0"/>
          </a:p>
        </p:txBody>
      </p:sp>
      <p:sp>
        <p:nvSpPr>
          <p:cNvPr id="17" name="Text 15"/>
          <p:cNvSpPr/>
          <p:nvPr/>
        </p:nvSpPr>
        <p:spPr>
          <a:xfrm>
            <a:off x="6163056" y="1865376"/>
            <a:ext cx="2615184" cy="1408176"/>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Dividendes · CMA · CGA · Paiements · SIG · FR · BFR</a:t>
            </a:r>
            <a:endParaRPr lang="en-US" sz="900" dirty="0"/>
          </a:p>
        </p:txBody>
      </p:sp>
      <p:sp>
        <p:nvSpPr>
          <p:cNvPr id="18" name="Text 16"/>
          <p:cNvSpPr/>
          <p:nvPr/>
        </p:nvSpPr>
        <p:spPr>
          <a:xfrm>
            <a:off x="274320" y="4572000"/>
            <a:ext cx="8595360" cy="329184"/>
          </a:xfrm>
          <a:prstGeom prst="rect">
            <a:avLst/>
          </a:prstGeom>
          <a:noFill/>
          <a:ln/>
        </p:spPr>
        <p:txBody>
          <a:bodyPr wrap="square" rtlCol="0" anchor="ctr"/>
          <a:lstStyle/>
          <a:p>
            <a:pPr marL="0" indent="0" algn="ctr">
              <a:buNone/>
            </a:pPr>
            <a:r>
              <a:rPr lang="en-US" sz="850" dirty="0">
                <a:solidFill>
                  <a:srgbClr val="5A7A9A"/>
                </a:solidFill>
                <a:latin typeface="Calibri" pitchFamily="34" charset="0"/>
                <a:ea typeface="Calibri" pitchFamily="34" charset="-122"/>
                <a:cs typeface="Calibri" pitchFamily="34" charset="-120"/>
              </a:rPr>
              <a:t>FTRANSPORT - SERVICES PRO  •  Organisme certifié Qualiopi  •  Éligible CPF  •  Déclaration n° 84 69 15114 69  •  Lyon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2369</Words>
  <Application>Microsoft Office PowerPoint</Application>
  <PresentationFormat>Affichage à l'écran (16:9)</PresentationFormat>
  <Paragraphs>284</Paragraphs>
  <Slides>13</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naoufal guenichi</cp:lastModifiedBy>
  <cp:revision>2</cp:revision>
  <dcterms:created xsi:type="dcterms:W3CDTF">2026-02-23T20:28:12Z</dcterms:created>
  <dcterms:modified xsi:type="dcterms:W3CDTF">2026-02-27T05:30:03Z</dcterms:modified>
</cp:coreProperties>
</file>