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306" r:id="rId2"/>
    <p:sldId id="307" r:id="rId3"/>
    <p:sldId id="308" r:id="rId4"/>
    <p:sldId id="309" r:id="rId5"/>
    <p:sldId id="310" r:id="rId6"/>
    <p:sldId id="311" r:id="rId7"/>
    <p:sldId id="312" r:id="rId8"/>
    <p:sldId id="313" r:id="rId9"/>
    <p:sldId id="314" r:id="rId10"/>
    <p:sldId id="315" r:id="rId11"/>
    <p:sldId id="316" r:id="rId12"/>
    <p:sldId id="317" r:id="rId13"/>
    <p:sldId id="318" r:id="rId14"/>
    <p:sldId id="319" r:id="rId15"/>
    <p:sldId id="320" r:id="rId16"/>
    <p:sldId id="321" r:id="rId17"/>
    <p:sldId id="322" r:id="rId18"/>
    <p:sldId id="323" r:id="rId19"/>
    <p:sldId id="324" r:id="rId20"/>
    <p:sldId id="325" r:id="rId21"/>
    <p:sldId id="326" r:id="rId22"/>
    <p:sldId id="327" r:id="rId23"/>
    <p:sldId id="328" r:id="rId24"/>
    <p:sldId id="329" r:id="rId25"/>
    <p:sldId id="330" r:id="rId26"/>
    <p:sldId id="331" r:id="rId27"/>
    <p:sldId id="332" r:id="rId28"/>
    <p:sldId id="333" r:id="rId29"/>
    <p:sldId id="334" r:id="rId30"/>
    <p:sldId id="335" r:id="rId31"/>
    <p:sldId id="336" r:id="rId32"/>
    <p:sldId id="337" r:id="rId33"/>
    <p:sldId id="338" r:id="rId34"/>
    <p:sldId id="339" r:id="rId35"/>
    <p:sldId id="340" r:id="rId36"/>
    <p:sldId id="341" r:id="rId37"/>
    <p:sldId id="342" r:id="rId38"/>
    <p:sldId id="343" r:id="rId39"/>
    <p:sldId id="344" r:id="rId4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oufal guenichi" userId="858fd4b3-0f44-4d07-ab42-9c2b2bf873b3" providerId="ADAL" clId="{5ADB1776-59AF-4A69-8422-CB66C8AF09C6}"/>
    <pc:docChg chg="delSld modSld sldOrd">
      <pc:chgData name="naoufal guenichi" userId="858fd4b3-0f44-4d07-ab42-9c2b2bf873b3" providerId="ADAL" clId="{5ADB1776-59AF-4A69-8422-CB66C8AF09C6}" dt="2026-02-23T21:46:03.227" v="51" actId="47"/>
      <pc:docMkLst>
        <pc:docMk/>
      </pc:docMkLst>
      <pc:sldChg chg="del ord">
        <pc:chgData name="naoufal guenichi" userId="858fd4b3-0f44-4d07-ab42-9c2b2bf873b3" providerId="ADAL" clId="{5ADB1776-59AF-4A69-8422-CB66C8AF09C6}" dt="2026-02-23T21:46:03.227" v="51" actId="47"/>
        <pc:sldMkLst>
          <pc:docMk/>
          <pc:sldMk cId="0" sldId="256"/>
        </pc:sldMkLst>
      </pc:sldChg>
      <pc:sldChg chg="del">
        <pc:chgData name="naoufal guenichi" userId="858fd4b3-0f44-4d07-ab42-9c2b2bf873b3" providerId="ADAL" clId="{5ADB1776-59AF-4A69-8422-CB66C8AF09C6}" dt="2026-02-23T21:45:31.947" v="2" actId="47"/>
        <pc:sldMkLst>
          <pc:docMk/>
          <pc:sldMk cId="0" sldId="257"/>
        </pc:sldMkLst>
      </pc:sldChg>
      <pc:sldChg chg="del">
        <pc:chgData name="naoufal guenichi" userId="858fd4b3-0f44-4d07-ab42-9c2b2bf873b3" providerId="ADAL" clId="{5ADB1776-59AF-4A69-8422-CB66C8AF09C6}" dt="2026-02-23T21:45:32.596" v="3" actId="47"/>
        <pc:sldMkLst>
          <pc:docMk/>
          <pc:sldMk cId="0" sldId="258"/>
        </pc:sldMkLst>
      </pc:sldChg>
      <pc:sldChg chg="del">
        <pc:chgData name="naoufal guenichi" userId="858fd4b3-0f44-4d07-ab42-9c2b2bf873b3" providerId="ADAL" clId="{5ADB1776-59AF-4A69-8422-CB66C8AF09C6}" dt="2026-02-23T21:45:32.948" v="4" actId="47"/>
        <pc:sldMkLst>
          <pc:docMk/>
          <pc:sldMk cId="0" sldId="259"/>
        </pc:sldMkLst>
      </pc:sldChg>
      <pc:sldChg chg="del">
        <pc:chgData name="naoufal guenichi" userId="858fd4b3-0f44-4d07-ab42-9c2b2bf873b3" providerId="ADAL" clId="{5ADB1776-59AF-4A69-8422-CB66C8AF09C6}" dt="2026-02-23T21:45:33.267" v="5" actId="47"/>
        <pc:sldMkLst>
          <pc:docMk/>
          <pc:sldMk cId="0" sldId="260"/>
        </pc:sldMkLst>
      </pc:sldChg>
      <pc:sldChg chg="del">
        <pc:chgData name="naoufal guenichi" userId="858fd4b3-0f44-4d07-ab42-9c2b2bf873b3" providerId="ADAL" clId="{5ADB1776-59AF-4A69-8422-CB66C8AF09C6}" dt="2026-02-23T21:45:34.305" v="6" actId="47"/>
        <pc:sldMkLst>
          <pc:docMk/>
          <pc:sldMk cId="0" sldId="261"/>
        </pc:sldMkLst>
      </pc:sldChg>
      <pc:sldChg chg="del">
        <pc:chgData name="naoufal guenichi" userId="858fd4b3-0f44-4d07-ab42-9c2b2bf873b3" providerId="ADAL" clId="{5ADB1776-59AF-4A69-8422-CB66C8AF09C6}" dt="2026-02-23T21:45:34.663" v="7" actId="47"/>
        <pc:sldMkLst>
          <pc:docMk/>
          <pc:sldMk cId="0" sldId="262"/>
        </pc:sldMkLst>
      </pc:sldChg>
      <pc:sldChg chg="del">
        <pc:chgData name="naoufal guenichi" userId="858fd4b3-0f44-4d07-ab42-9c2b2bf873b3" providerId="ADAL" clId="{5ADB1776-59AF-4A69-8422-CB66C8AF09C6}" dt="2026-02-23T21:45:34.986" v="8" actId="47"/>
        <pc:sldMkLst>
          <pc:docMk/>
          <pc:sldMk cId="0" sldId="263"/>
        </pc:sldMkLst>
      </pc:sldChg>
      <pc:sldChg chg="del">
        <pc:chgData name="naoufal guenichi" userId="858fd4b3-0f44-4d07-ab42-9c2b2bf873b3" providerId="ADAL" clId="{5ADB1776-59AF-4A69-8422-CB66C8AF09C6}" dt="2026-02-23T21:45:35.596" v="9" actId="47"/>
        <pc:sldMkLst>
          <pc:docMk/>
          <pc:sldMk cId="0" sldId="264"/>
        </pc:sldMkLst>
      </pc:sldChg>
      <pc:sldChg chg="del">
        <pc:chgData name="naoufal guenichi" userId="858fd4b3-0f44-4d07-ab42-9c2b2bf873b3" providerId="ADAL" clId="{5ADB1776-59AF-4A69-8422-CB66C8AF09C6}" dt="2026-02-23T21:45:35.855" v="10" actId="47"/>
        <pc:sldMkLst>
          <pc:docMk/>
          <pc:sldMk cId="0" sldId="265"/>
        </pc:sldMkLst>
      </pc:sldChg>
      <pc:sldChg chg="del">
        <pc:chgData name="naoufal guenichi" userId="858fd4b3-0f44-4d07-ab42-9c2b2bf873b3" providerId="ADAL" clId="{5ADB1776-59AF-4A69-8422-CB66C8AF09C6}" dt="2026-02-23T21:45:36.080" v="11" actId="47"/>
        <pc:sldMkLst>
          <pc:docMk/>
          <pc:sldMk cId="0" sldId="266"/>
        </pc:sldMkLst>
      </pc:sldChg>
      <pc:sldChg chg="del">
        <pc:chgData name="naoufal guenichi" userId="858fd4b3-0f44-4d07-ab42-9c2b2bf873b3" providerId="ADAL" clId="{5ADB1776-59AF-4A69-8422-CB66C8AF09C6}" dt="2026-02-23T21:45:36.332" v="12" actId="47"/>
        <pc:sldMkLst>
          <pc:docMk/>
          <pc:sldMk cId="0" sldId="267"/>
        </pc:sldMkLst>
      </pc:sldChg>
      <pc:sldChg chg="del">
        <pc:chgData name="naoufal guenichi" userId="858fd4b3-0f44-4d07-ab42-9c2b2bf873b3" providerId="ADAL" clId="{5ADB1776-59AF-4A69-8422-CB66C8AF09C6}" dt="2026-02-23T21:45:36.662" v="13" actId="47"/>
        <pc:sldMkLst>
          <pc:docMk/>
          <pc:sldMk cId="0" sldId="268"/>
        </pc:sldMkLst>
      </pc:sldChg>
      <pc:sldChg chg="del">
        <pc:chgData name="naoufal guenichi" userId="858fd4b3-0f44-4d07-ab42-9c2b2bf873b3" providerId="ADAL" clId="{5ADB1776-59AF-4A69-8422-CB66C8AF09C6}" dt="2026-02-23T21:45:37.072" v="14" actId="47"/>
        <pc:sldMkLst>
          <pc:docMk/>
          <pc:sldMk cId="0" sldId="269"/>
        </pc:sldMkLst>
      </pc:sldChg>
      <pc:sldChg chg="del">
        <pc:chgData name="naoufal guenichi" userId="858fd4b3-0f44-4d07-ab42-9c2b2bf873b3" providerId="ADAL" clId="{5ADB1776-59AF-4A69-8422-CB66C8AF09C6}" dt="2026-02-23T21:45:37.706" v="15" actId="47"/>
        <pc:sldMkLst>
          <pc:docMk/>
          <pc:sldMk cId="0" sldId="270"/>
        </pc:sldMkLst>
      </pc:sldChg>
      <pc:sldChg chg="del">
        <pc:chgData name="naoufal guenichi" userId="858fd4b3-0f44-4d07-ab42-9c2b2bf873b3" providerId="ADAL" clId="{5ADB1776-59AF-4A69-8422-CB66C8AF09C6}" dt="2026-02-23T21:45:38.302" v="16" actId="47"/>
        <pc:sldMkLst>
          <pc:docMk/>
          <pc:sldMk cId="0" sldId="271"/>
        </pc:sldMkLst>
      </pc:sldChg>
      <pc:sldChg chg="del">
        <pc:chgData name="naoufal guenichi" userId="858fd4b3-0f44-4d07-ab42-9c2b2bf873b3" providerId="ADAL" clId="{5ADB1776-59AF-4A69-8422-CB66C8AF09C6}" dt="2026-02-23T21:45:38.904" v="17" actId="47"/>
        <pc:sldMkLst>
          <pc:docMk/>
          <pc:sldMk cId="0" sldId="272"/>
        </pc:sldMkLst>
      </pc:sldChg>
      <pc:sldChg chg="del">
        <pc:chgData name="naoufal guenichi" userId="858fd4b3-0f44-4d07-ab42-9c2b2bf873b3" providerId="ADAL" clId="{5ADB1776-59AF-4A69-8422-CB66C8AF09C6}" dt="2026-02-23T21:45:39.206" v="18" actId="47"/>
        <pc:sldMkLst>
          <pc:docMk/>
          <pc:sldMk cId="0" sldId="273"/>
        </pc:sldMkLst>
      </pc:sldChg>
      <pc:sldChg chg="del">
        <pc:chgData name="naoufal guenichi" userId="858fd4b3-0f44-4d07-ab42-9c2b2bf873b3" providerId="ADAL" clId="{5ADB1776-59AF-4A69-8422-CB66C8AF09C6}" dt="2026-02-23T21:45:39.443" v="19" actId="47"/>
        <pc:sldMkLst>
          <pc:docMk/>
          <pc:sldMk cId="0" sldId="274"/>
        </pc:sldMkLst>
      </pc:sldChg>
      <pc:sldChg chg="del">
        <pc:chgData name="naoufal guenichi" userId="858fd4b3-0f44-4d07-ab42-9c2b2bf873b3" providerId="ADAL" clId="{5ADB1776-59AF-4A69-8422-CB66C8AF09C6}" dt="2026-02-23T21:45:39.685" v="20" actId="47"/>
        <pc:sldMkLst>
          <pc:docMk/>
          <pc:sldMk cId="0" sldId="275"/>
        </pc:sldMkLst>
      </pc:sldChg>
      <pc:sldChg chg="del">
        <pc:chgData name="naoufal guenichi" userId="858fd4b3-0f44-4d07-ab42-9c2b2bf873b3" providerId="ADAL" clId="{5ADB1776-59AF-4A69-8422-CB66C8AF09C6}" dt="2026-02-23T21:45:39.926" v="21" actId="47"/>
        <pc:sldMkLst>
          <pc:docMk/>
          <pc:sldMk cId="0" sldId="276"/>
        </pc:sldMkLst>
      </pc:sldChg>
      <pc:sldChg chg="del">
        <pc:chgData name="naoufal guenichi" userId="858fd4b3-0f44-4d07-ab42-9c2b2bf873b3" providerId="ADAL" clId="{5ADB1776-59AF-4A69-8422-CB66C8AF09C6}" dt="2026-02-23T21:45:40.244" v="22" actId="47"/>
        <pc:sldMkLst>
          <pc:docMk/>
          <pc:sldMk cId="0" sldId="277"/>
        </pc:sldMkLst>
      </pc:sldChg>
      <pc:sldChg chg="del">
        <pc:chgData name="naoufal guenichi" userId="858fd4b3-0f44-4d07-ab42-9c2b2bf873b3" providerId="ADAL" clId="{5ADB1776-59AF-4A69-8422-CB66C8AF09C6}" dt="2026-02-23T21:45:40.612" v="23" actId="47"/>
        <pc:sldMkLst>
          <pc:docMk/>
          <pc:sldMk cId="0" sldId="278"/>
        </pc:sldMkLst>
      </pc:sldChg>
      <pc:sldChg chg="del">
        <pc:chgData name="naoufal guenichi" userId="858fd4b3-0f44-4d07-ab42-9c2b2bf873b3" providerId="ADAL" clId="{5ADB1776-59AF-4A69-8422-CB66C8AF09C6}" dt="2026-02-23T21:45:40.935" v="24" actId="47"/>
        <pc:sldMkLst>
          <pc:docMk/>
          <pc:sldMk cId="0" sldId="279"/>
        </pc:sldMkLst>
      </pc:sldChg>
      <pc:sldChg chg="del">
        <pc:chgData name="naoufal guenichi" userId="858fd4b3-0f44-4d07-ab42-9c2b2bf873b3" providerId="ADAL" clId="{5ADB1776-59AF-4A69-8422-CB66C8AF09C6}" dt="2026-02-23T21:45:41.635" v="25" actId="47"/>
        <pc:sldMkLst>
          <pc:docMk/>
          <pc:sldMk cId="0" sldId="280"/>
        </pc:sldMkLst>
      </pc:sldChg>
      <pc:sldChg chg="del">
        <pc:chgData name="naoufal guenichi" userId="858fd4b3-0f44-4d07-ab42-9c2b2bf873b3" providerId="ADAL" clId="{5ADB1776-59AF-4A69-8422-CB66C8AF09C6}" dt="2026-02-23T21:45:41.892" v="26" actId="47"/>
        <pc:sldMkLst>
          <pc:docMk/>
          <pc:sldMk cId="0" sldId="281"/>
        </pc:sldMkLst>
      </pc:sldChg>
      <pc:sldChg chg="del">
        <pc:chgData name="naoufal guenichi" userId="858fd4b3-0f44-4d07-ab42-9c2b2bf873b3" providerId="ADAL" clId="{5ADB1776-59AF-4A69-8422-CB66C8AF09C6}" dt="2026-02-23T21:45:42.098" v="27" actId="47"/>
        <pc:sldMkLst>
          <pc:docMk/>
          <pc:sldMk cId="0" sldId="282"/>
        </pc:sldMkLst>
      </pc:sldChg>
      <pc:sldChg chg="del">
        <pc:chgData name="naoufal guenichi" userId="858fd4b3-0f44-4d07-ab42-9c2b2bf873b3" providerId="ADAL" clId="{5ADB1776-59AF-4A69-8422-CB66C8AF09C6}" dt="2026-02-23T21:45:42.304" v="28" actId="47"/>
        <pc:sldMkLst>
          <pc:docMk/>
          <pc:sldMk cId="0" sldId="283"/>
        </pc:sldMkLst>
      </pc:sldChg>
      <pc:sldChg chg="del">
        <pc:chgData name="naoufal guenichi" userId="858fd4b3-0f44-4d07-ab42-9c2b2bf873b3" providerId="ADAL" clId="{5ADB1776-59AF-4A69-8422-CB66C8AF09C6}" dt="2026-02-23T21:45:42.527" v="29" actId="47"/>
        <pc:sldMkLst>
          <pc:docMk/>
          <pc:sldMk cId="0" sldId="284"/>
        </pc:sldMkLst>
      </pc:sldChg>
      <pc:sldChg chg="del">
        <pc:chgData name="naoufal guenichi" userId="858fd4b3-0f44-4d07-ab42-9c2b2bf873b3" providerId="ADAL" clId="{5ADB1776-59AF-4A69-8422-CB66C8AF09C6}" dt="2026-02-23T21:45:42.968" v="30" actId="47"/>
        <pc:sldMkLst>
          <pc:docMk/>
          <pc:sldMk cId="0" sldId="285"/>
        </pc:sldMkLst>
      </pc:sldChg>
      <pc:sldChg chg="del">
        <pc:chgData name="naoufal guenichi" userId="858fd4b3-0f44-4d07-ab42-9c2b2bf873b3" providerId="ADAL" clId="{5ADB1776-59AF-4A69-8422-CB66C8AF09C6}" dt="2026-02-23T21:45:43.183" v="31" actId="47"/>
        <pc:sldMkLst>
          <pc:docMk/>
          <pc:sldMk cId="0" sldId="286"/>
        </pc:sldMkLst>
      </pc:sldChg>
      <pc:sldChg chg="del">
        <pc:chgData name="naoufal guenichi" userId="858fd4b3-0f44-4d07-ab42-9c2b2bf873b3" providerId="ADAL" clId="{5ADB1776-59AF-4A69-8422-CB66C8AF09C6}" dt="2026-02-23T21:45:43.467" v="32" actId="47"/>
        <pc:sldMkLst>
          <pc:docMk/>
          <pc:sldMk cId="0" sldId="287"/>
        </pc:sldMkLst>
      </pc:sldChg>
      <pc:sldChg chg="del">
        <pc:chgData name="naoufal guenichi" userId="858fd4b3-0f44-4d07-ab42-9c2b2bf873b3" providerId="ADAL" clId="{5ADB1776-59AF-4A69-8422-CB66C8AF09C6}" dt="2026-02-23T21:45:43.792" v="33" actId="47"/>
        <pc:sldMkLst>
          <pc:docMk/>
          <pc:sldMk cId="0" sldId="288"/>
        </pc:sldMkLst>
      </pc:sldChg>
      <pc:sldChg chg="del">
        <pc:chgData name="naoufal guenichi" userId="858fd4b3-0f44-4d07-ab42-9c2b2bf873b3" providerId="ADAL" clId="{5ADB1776-59AF-4A69-8422-CB66C8AF09C6}" dt="2026-02-23T21:45:44.139" v="34" actId="47"/>
        <pc:sldMkLst>
          <pc:docMk/>
          <pc:sldMk cId="0" sldId="289"/>
        </pc:sldMkLst>
      </pc:sldChg>
      <pc:sldChg chg="del">
        <pc:chgData name="naoufal guenichi" userId="858fd4b3-0f44-4d07-ab42-9c2b2bf873b3" providerId="ADAL" clId="{5ADB1776-59AF-4A69-8422-CB66C8AF09C6}" dt="2026-02-23T21:45:44.713" v="35" actId="47"/>
        <pc:sldMkLst>
          <pc:docMk/>
          <pc:sldMk cId="0" sldId="290"/>
        </pc:sldMkLst>
      </pc:sldChg>
      <pc:sldChg chg="del">
        <pc:chgData name="naoufal guenichi" userId="858fd4b3-0f44-4d07-ab42-9c2b2bf873b3" providerId="ADAL" clId="{5ADB1776-59AF-4A69-8422-CB66C8AF09C6}" dt="2026-02-23T21:45:45.349" v="36" actId="47"/>
        <pc:sldMkLst>
          <pc:docMk/>
          <pc:sldMk cId="0" sldId="291"/>
        </pc:sldMkLst>
      </pc:sldChg>
      <pc:sldChg chg="del">
        <pc:chgData name="naoufal guenichi" userId="858fd4b3-0f44-4d07-ab42-9c2b2bf873b3" providerId="ADAL" clId="{5ADB1776-59AF-4A69-8422-CB66C8AF09C6}" dt="2026-02-23T21:45:45.813" v="37" actId="47"/>
        <pc:sldMkLst>
          <pc:docMk/>
          <pc:sldMk cId="0" sldId="292"/>
        </pc:sldMkLst>
      </pc:sldChg>
      <pc:sldChg chg="del">
        <pc:chgData name="naoufal guenichi" userId="858fd4b3-0f44-4d07-ab42-9c2b2bf873b3" providerId="ADAL" clId="{5ADB1776-59AF-4A69-8422-CB66C8AF09C6}" dt="2026-02-23T21:45:46.503" v="38" actId="47"/>
        <pc:sldMkLst>
          <pc:docMk/>
          <pc:sldMk cId="0" sldId="293"/>
        </pc:sldMkLst>
      </pc:sldChg>
      <pc:sldChg chg="del">
        <pc:chgData name="naoufal guenichi" userId="858fd4b3-0f44-4d07-ab42-9c2b2bf873b3" providerId="ADAL" clId="{5ADB1776-59AF-4A69-8422-CB66C8AF09C6}" dt="2026-02-23T21:45:46.707" v="39" actId="47"/>
        <pc:sldMkLst>
          <pc:docMk/>
          <pc:sldMk cId="0" sldId="294"/>
        </pc:sldMkLst>
      </pc:sldChg>
      <pc:sldChg chg="del">
        <pc:chgData name="naoufal guenichi" userId="858fd4b3-0f44-4d07-ab42-9c2b2bf873b3" providerId="ADAL" clId="{5ADB1776-59AF-4A69-8422-CB66C8AF09C6}" dt="2026-02-23T21:45:47.030" v="40" actId="47"/>
        <pc:sldMkLst>
          <pc:docMk/>
          <pc:sldMk cId="0" sldId="295"/>
        </pc:sldMkLst>
      </pc:sldChg>
      <pc:sldChg chg="del">
        <pc:chgData name="naoufal guenichi" userId="858fd4b3-0f44-4d07-ab42-9c2b2bf873b3" providerId="ADAL" clId="{5ADB1776-59AF-4A69-8422-CB66C8AF09C6}" dt="2026-02-23T21:45:47.234" v="41" actId="47"/>
        <pc:sldMkLst>
          <pc:docMk/>
          <pc:sldMk cId="0" sldId="296"/>
        </pc:sldMkLst>
      </pc:sldChg>
      <pc:sldChg chg="del">
        <pc:chgData name="naoufal guenichi" userId="858fd4b3-0f44-4d07-ab42-9c2b2bf873b3" providerId="ADAL" clId="{5ADB1776-59AF-4A69-8422-CB66C8AF09C6}" dt="2026-02-23T21:45:47.757" v="42" actId="47"/>
        <pc:sldMkLst>
          <pc:docMk/>
          <pc:sldMk cId="0" sldId="297"/>
        </pc:sldMkLst>
      </pc:sldChg>
      <pc:sldChg chg="del">
        <pc:chgData name="naoufal guenichi" userId="858fd4b3-0f44-4d07-ab42-9c2b2bf873b3" providerId="ADAL" clId="{5ADB1776-59AF-4A69-8422-CB66C8AF09C6}" dt="2026-02-23T21:45:47.964" v="43" actId="47"/>
        <pc:sldMkLst>
          <pc:docMk/>
          <pc:sldMk cId="0" sldId="298"/>
        </pc:sldMkLst>
      </pc:sldChg>
      <pc:sldChg chg="del">
        <pc:chgData name="naoufal guenichi" userId="858fd4b3-0f44-4d07-ab42-9c2b2bf873b3" providerId="ADAL" clId="{5ADB1776-59AF-4A69-8422-CB66C8AF09C6}" dt="2026-02-23T21:45:48.389" v="44" actId="47"/>
        <pc:sldMkLst>
          <pc:docMk/>
          <pc:sldMk cId="0" sldId="299"/>
        </pc:sldMkLst>
      </pc:sldChg>
      <pc:sldChg chg="del">
        <pc:chgData name="naoufal guenichi" userId="858fd4b3-0f44-4d07-ab42-9c2b2bf873b3" providerId="ADAL" clId="{5ADB1776-59AF-4A69-8422-CB66C8AF09C6}" dt="2026-02-23T21:45:48.790" v="45" actId="47"/>
        <pc:sldMkLst>
          <pc:docMk/>
          <pc:sldMk cId="0" sldId="300"/>
        </pc:sldMkLst>
      </pc:sldChg>
      <pc:sldChg chg="del">
        <pc:chgData name="naoufal guenichi" userId="858fd4b3-0f44-4d07-ab42-9c2b2bf873b3" providerId="ADAL" clId="{5ADB1776-59AF-4A69-8422-CB66C8AF09C6}" dt="2026-02-23T21:45:50.106" v="46" actId="47"/>
        <pc:sldMkLst>
          <pc:docMk/>
          <pc:sldMk cId="0" sldId="301"/>
        </pc:sldMkLst>
      </pc:sldChg>
      <pc:sldChg chg="del">
        <pc:chgData name="naoufal guenichi" userId="858fd4b3-0f44-4d07-ab42-9c2b2bf873b3" providerId="ADAL" clId="{5ADB1776-59AF-4A69-8422-CB66C8AF09C6}" dt="2026-02-23T21:45:50.453" v="47" actId="47"/>
        <pc:sldMkLst>
          <pc:docMk/>
          <pc:sldMk cId="0" sldId="302"/>
        </pc:sldMkLst>
      </pc:sldChg>
      <pc:sldChg chg="del">
        <pc:chgData name="naoufal guenichi" userId="858fd4b3-0f44-4d07-ab42-9c2b2bf873b3" providerId="ADAL" clId="{5ADB1776-59AF-4A69-8422-CB66C8AF09C6}" dt="2026-02-23T21:45:50.676" v="48" actId="47"/>
        <pc:sldMkLst>
          <pc:docMk/>
          <pc:sldMk cId="0" sldId="303"/>
        </pc:sldMkLst>
      </pc:sldChg>
      <pc:sldChg chg="del">
        <pc:chgData name="naoufal guenichi" userId="858fd4b3-0f44-4d07-ab42-9c2b2bf873b3" providerId="ADAL" clId="{5ADB1776-59AF-4A69-8422-CB66C8AF09C6}" dt="2026-02-23T21:45:51.090" v="49" actId="47"/>
        <pc:sldMkLst>
          <pc:docMk/>
          <pc:sldMk cId="0" sldId="304"/>
        </pc:sldMkLst>
      </pc:sldChg>
      <pc:sldChg chg="del">
        <pc:chgData name="naoufal guenichi" userId="858fd4b3-0f44-4d07-ab42-9c2b2bf873b3" providerId="ADAL" clId="{5ADB1776-59AF-4A69-8422-CB66C8AF09C6}" dt="2026-02-23T21:45:51.536" v="50" actId="47"/>
        <pc:sldMkLst>
          <pc:docMk/>
          <pc:sldMk cId="0" sldId="30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773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A1A2E"/>
          </a:solidFill>
          <a:ln w="12700">
            <a:solidFill>
              <a:srgbClr val="0A1A2E"/>
            </a:solidFill>
            <a:prstDash val="solid"/>
          </a:ln>
        </p:spPr>
        <p:txBody>
          <a:bodyPr/>
          <a:lstStyle/>
          <a:p>
            <a:endParaRPr lang="fr-FR"/>
          </a:p>
        </p:txBody>
      </p:sp>
      <p:sp>
        <p:nvSpPr>
          <p:cNvPr id="3" name="Shape 1"/>
          <p:cNvSpPr/>
          <p:nvPr/>
        </p:nvSpPr>
        <p:spPr>
          <a:xfrm>
            <a:off x="0" y="1920240"/>
            <a:ext cx="9144000" cy="1298448"/>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0" y="1325880"/>
            <a:ext cx="9144000" cy="658368"/>
          </a:xfrm>
          <a:prstGeom prst="rect">
            <a:avLst/>
          </a:prstGeom>
          <a:noFill/>
          <a:ln/>
        </p:spPr>
        <p:txBody>
          <a:bodyPr wrap="square" rtlCol="0" anchor="ctr"/>
          <a:lstStyle/>
          <a:p>
            <a:pPr marL="0" indent="0" algn="ctr">
              <a:buNone/>
            </a:pPr>
            <a:r>
              <a:rPr lang="en-US" sz="4800" b="1" dirty="0">
                <a:solidFill>
                  <a:srgbClr val="FFFFFF"/>
                </a:solidFill>
                <a:latin typeface="Calibri" pitchFamily="34" charset="0"/>
                <a:ea typeface="Calibri" pitchFamily="34" charset="-122"/>
                <a:cs typeface="Calibri" pitchFamily="34" charset="-120"/>
              </a:rPr>
              <a:t>PARTIE 2</a:t>
            </a:r>
            <a:endParaRPr lang="en-US" sz="4800" dirty="0"/>
          </a:p>
        </p:txBody>
      </p:sp>
      <p:sp>
        <p:nvSpPr>
          <p:cNvPr id="5" name="Text 3"/>
          <p:cNvSpPr/>
          <p:nvPr/>
        </p:nvSpPr>
        <p:spPr>
          <a:xfrm>
            <a:off x="457200" y="1965960"/>
            <a:ext cx="8229600" cy="65836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Réglementation du Transport Public Particulier de Personnes</a:t>
            </a:r>
            <a:endParaRPr lang="en-US" sz="2200" dirty="0"/>
          </a:p>
        </p:txBody>
      </p:sp>
      <p:sp>
        <p:nvSpPr>
          <p:cNvPr id="6" name="Text 4"/>
          <p:cNvSpPr/>
          <p:nvPr/>
        </p:nvSpPr>
        <p:spPr>
          <a:xfrm>
            <a:off x="457200" y="2697480"/>
            <a:ext cx="8229600" cy="384048"/>
          </a:xfrm>
          <a:prstGeom prst="rect">
            <a:avLst/>
          </a:prstGeom>
          <a:noFill/>
          <a:ln/>
        </p:spPr>
        <p:txBody>
          <a:bodyPr wrap="square" rtlCol="0" anchor="ctr"/>
          <a:lstStyle/>
          <a:p>
            <a:pPr marL="0" indent="0" algn="ctr">
              <a:buNone/>
            </a:pPr>
            <a:r>
              <a:rPr lang="en-US" sz="1300" i="1" dirty="0">
                <a:solidFill>
                  <a:srgbClr val="CADCFC"/>
                </a:solidFill>
                <a:latin typeface="Calibri" pitchFamily="34" charset="0"/>
                <a:ea typeface="Calibri" pitchFamily="34" charset="-122"/>
                <a:cs typeface="Calibri" pitchFamily="34" charset="-120"/>
              </a:rPr>
              <a:t>Juridictions · Sanctions · TPMR · Covoiturage · Intermédiaires · VSS &amp; Discriminations</a:t>
            </a:r>
            <a:endParaRPr lang="en-US" sz="1300" dirty="0"/>
          </a:p>
        </p:txBody>
      </p:sp>
      <p:sp>
        <p:nvSpPr>
          <p:cNvPr id="7" name="Shape 5"/>
          <p:cNvSpPr/>
          <p:nvPr/>
        </p:nvSpPr>
        <p:spPr>
          <a:xfrm>
            <a:off x="3200400" y="3218688"/>
            <a:ext cx="2743200" cy="36576"/>
          </a:xfrm>
          <a:prstGeom prst="rect">
            <a:avLst/>
          </a:prstGeom>
          <a:solidFill>
            <a:srgbClr val="F4A227"/>
          </a:solidFill>
          <a:ln w="12700">
            <a:solidFill>
              <a:srgbClr val="F4A227"/>
            </a:solidFill>
            <a:prstDash val="solid"/>
          </a:ln>
        </p:spPr>
        <p:txBody>
          <a:bodyPr/>
          <a:lstStyle/>
          <a:p>
            <a:endParaRPr lang="fr-FR"/>
          </a:p>
        </p:txBody>
      </p:sp>
      <p:sp>
        <p:nvSpPr>
          <p:cNvPr id="8" name="Text 6"/>
          <p:cNvSpPr/>
          <p:nvPr/>
        </p:nvSpPr>
        <p:spPr>
          <a:xfrm>
            <a:off x="274320" y="4526280"/>
            <a:ext cx="8595360" cy="274320"/>
          </a:xfrm>
          <a:prstGeom prst="rect">
            <a:avLst/>
          </a:prstGeom>
          <a:noFill/>
          <a:ln/>
        </p:spPr>
        <p:txBody>
          <a:bodyPr wrap="square" rtlCol="0" anchor="ctr"/>
          <a:lstStyle/>
          <a:p>
            <a:pPr marL="0" indent="0" algn="ctr">
              <a:buNone/>
            </a:pPr>
            <a:r>
              <a:rPr lang="en-US" sz="900" dirty="0">
                <a:solidFill>
                  <a:srgbClr val="6A7A8A"/>
                </a:solidFill>
                <a:latin typeface="Calibri" pitchFamily="34" charset="0"/>
                <a:ea typeface="Calibri" pitchFamily="34" charset="-122"/>
                <a:cs typeface="Calibri" pitchFamily="34" charset="-120"/>
              </a:rPr>
              <a:t>FTRANSPORT - SERVICES PRO  •  Formation certifiée Qualiopi  •  Éligible CPF  •  Lyon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5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Text 1"/>
          <p:cNvSpPr/>
          <p:nvPr/>
        </p:nvSpPr>
        <p:spPr>
          <a:xfrm>
            <a:off x="274320" y="0"/>
            <a:ext cx="8595360" cy="8229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SOMMAIRE — PARTIE 2</a:t>
            </a:r>
            <a:endParaRPr lang="en-US" sz="2000" dirty="0"/>
          </a:p>
        </p:txBody>
      </p:sp>
      <p:sp>
        <p:nvSpPr>
          <p:cNvPr id="4" name="Shape 2"/>
          <p:cNvSpPr/>
          <p:nvPr/>
        </p:nvSpPr>
        <p:spPr>
          <a:xfrm>
            <a:off x="0" y="822960"/>
            <a:ext cx="9144000" cy="36576"/>
          </a:xfrm>
          <a:prstGeom prst="rect">
            <a:avLst/>
          </a:prstGeom>
          <a:solidFill>
            <a:srgbClr val="F4A227"/>
          </a:solidFill>
          <a:ln w="12700">
            <a:solidFill>
              <a:srgbClr val="F4A227"/>
            </a:solidFill>
            <a:prstDash val="solid"/>
          </a:ln>
        </p:spPr>
        <p:txBody>
          <a:bodyPr/>
          <a:lstStyle/>
          <a:p>
            <a:endParaRPr lang="fr-FR"/>
          </a:p>
        </p:txBody>
      </p:sp>
      <p:sp>
        <p:nvSpPr>
          <p:cNvPr id="5" name="Shape 3"/>
          <p:cNvSpPr/>
          <p:nvPr/>
        </p:nvSpPr>
        <p:spPr>
          <a:xfrm>
            <a:off x="274320" y="969264"/>
            <a:ext cx="548640" cy="566928"/>
          </a:xfrm>
          <a:prstGeom prst="rect">
            <a:avLst/>
          </a:prstGeom>
          <a:solidFill>
            <a:srgbClr val="2860A8"/>
          </a:solidFill>
          <a:ln w="12700">
            <a:solidFill>
              <a:srgbClr val="2860A8"/>
            </a:solidFill>
            <a:prstDash val="solid"/>
          </a:ln>
        </p:spPr>
        <p:txBody>
          <a:bodyPr/>
          <a:lstStyle/>
          <a:p>
            <a:endParaRPr lang="fr-FR"/>
          </a:p>
        </p:txBody>
      </p:sp>
      <p:sp>
        <p:nvSpPr>
          <p:cNvPr id="6" name="Text 4"/>
          <p:cNvSpPr/>
          <p:nvPr/>
        </p:nvSpPr>
        <p:spPr>
          <a:xfrm>
            <a:off x="274320" y="969264"/>
            <a:ext cx="548640" cy="56692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8b</a:t>
            </a:r>
            <a:endParaRPr lang="en-US" sz="1800" dirty="0"/>
          </a:p>
        </p:txBody>
      </p:sp>
      <p:sp>
        <p:nvSpPr>
          <p:cNvPr id="7" name="Shape 5"/>
          <p:cNvSpPr/>
          <p:nvPr/>
        </p:nvSpPr>
        <p:spPr>
          <a:xfrm>
            <a:off x="859536" y="969264"/>
            <a:ext cx="8010144" cy="566928"/>
          </a:xfrm>
          <a:prstGeom prst="rect">
            <a:avLst/>
          </a:prstGeom>
          <a:solidFill>
            <a:srgbClr val="E8F1FA"/>
          </a:solidFill>
          <a:ln w="6350">
            <a:solidFill>
              <a:srgbClr val="D0DCE8"/>
            </a:solidFill>
            <a:prstDash val="solid"/>
          </a:ln>
        </p:spPr>
        <p:txBody>
          <a:bodyPr/>
          <a:lstStyle/>
          <a:p>
            <a:endParaRPr lang="fr-FR"/>
          </a:p>
        </p:txBody>
      </p:sp>
      <p:sp>
        <p:nvSpPr>
          <p:cNvPr id="8" name="Shape 6"/>
          <p:cNvSpPr/>
          <p:nvPr/>
        </p:nvSpPr>
        <p:spPr>
          <a:xfrm>
            <a:off x="859536" y="969264"/>
            <a:ext cx="45720" cy="566928"/>
          </a:xfrm>
          <a:prstGeom prst="rect">
            <a:avLst/>
          </a:prstGeom>
          <a:solidFill>
            <a:srgbClr val="2860A8"/>
          </a:solidFill>
          <a:ln w="12700">
            <a:solidFill>
              <a:srgbClr val="2860A8"/>
            </a:solidFill>
            <a:prstDash val="solid"/>
          </a:ln>
        </p:spPr>
        <p:txBody>
          <a:bodyPr/>
          <a:lstStyle/>
          <a:p>
            <a:endParaRPr lang="fr-FR"/>
          </a:p>
        </p:txBody>
      </p:sp>
      <p:sp>
        <p:nvSpPr>
          <p:cNvPr id="9" name="Text 7"/>
          <p:cNvSpPr/>
          <p:nvPr/>
        </p:nvSpPr>
        <p:spPr>
          <a:xfrm>
            <a:off x="969264" y="1005840"/>
            <a:ext cx="5029200" cy="27432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Agents de contrôle et documents T3P</a:t>
            </a:r>
            <a:endParaRPr lang="en-US" sz="1100" dirty="0"/>
          </a:p>
        </p:txBody>
      </p:sp>
      <p:sp>
        <p:nvSpPr>
          <p:cNvPr id="10" name="Text 8"/>
          <p:cNvSpPr/>
          <p:nvPr/>
        </p:nvSpPr>
        <p:spPr>
          <a:xfrm>
            <a:off x="969264" y="1261872"/>
            <a:ext cx="7772400" cy="237744"/>
          </a:xfrm>
          <a:prstGeom prst="rect">
            <a:avLst/>
          </a:prstGeom>
          <a:noFill/>
          <a:ln/>
        </p:spPr>
        <p:txBody>
          <a:bodyPr wrap="square" rtlCol="0" anchor="ctr"/>
          <a:lstStyle/>
          <a:p>
            <a:pPr marL="0" indent="0">
              <a:buNone/>
            </a:pPr>
            <a:r>
              <a:rPr lang="en-US" sz="900" i="1" dirty="0">
                <a:solidFill>
                  <a:srgbClr val="6B7A8D"/>
                </a:solidFill>
                <a:latin typeface="Calibri" pitchFamily="34" charset="0"/>
                <a:ea typeface="Calibri" pitchFamily="34" charset="-122"/>
                <a:cs typeface="Calibri" pitchFamily="34" charset="-120"/>
              </a:rPr>
              <a:t>Agents habilités — Prérogatives — Documents conducteur et véhicule</a:t>
            </a:r>
            <a:endParaRPr lang="en-US" sz="900" dirty="0"/>
          </a:p>
        </p:txBody>
      </p:sp>
      <p:sp>
        <p:nvSpPr>
          <p:cNvPr id="11" name="Text 9"/>
          <p:cNvSpPr/>
          <p:nvPr/>
        </p:nvSpPr>
        <p:spPr>
          <a:xfrm>
            <a:off x="8595360" y="1133856"/>
            <a:ext cx="237744" cy="237744"/>
          </a:xfrm>
          <a:prstGeom prst="rect">
            <a:avLst/>
          </a:prstGeom>
          <a:noFill/>
          <a:ln/>
        </p:spPr>
        <p:txBody>
          <a:bodyPr wrap="square" rtlCol="0" anchor="ctr"/>
          <a:lstStyle/>
          <a:p>
            <a:pPr marL="0" indent="0" algn="ctr">
              <a:buNone/>
            </a:pPr>
            <a:r>
              <a:rPr lang="en-US" sz="1200" b="1" dirty="0">
                <a:solidFill>
                  <a:srgbClr val="2860A8"/>
                </a:solidFill>
                <a:latin typeface="Calibri" pitchFamily="34" charset="0"/>
                <a:ea typeface="Calibri" pitchFamily="34" charset="-122"/>
                <a:cs typeface="Calibri" pitchFamily="34" charset="-120"/>
              </a:rPr>
              <a:t>→</a:t>
            </a:r>
            <a:endParaRPr lang="en-US" sz="1200" dirty="0"/>
          </a:p>
        </p:txBody>
      </p:sp>
      <p:sp>
        <p:nvSpPr>
          <p:cNvPr id="12" name="Shape 10"/>
          <p:cNvSpPr/>
          <p:nvPr/>
        </p:nvSpPr>
        <p:spPr>
          <a:xfrm>
            <a:off x="274320" y="1636776"/>
            <a:ext cx="548640" cy="566928"/>
          </a:xfrm>
          <a:prstGeom prst="rect">
            <a:avLst/>
          </a:prstGeom>
          <a:solidFill>
            <a:srgbClr val="1A3A5C"/>
          </a:solidFill>
          <a:ln w="12700">
            <a:solidFill>
              <a:srgbClr val="1A3A5C"/>
            </a:solidFill>
            <a:prstDash val="solid"/>
          </a:ln>
        </p:spPr>
        <p:txBody>
          <a:bodyPr/>
          <a:lstStyle/>
          <a:p>
            <a:endParaRPr lang="fr-FR"/>
          </a:p>
        </p:txBody>
      </p:sp>
      <p:sp>
        <p:nvSpPr>
          <p:cNvPr id="13" name="Text 11"/>
          <p:cNvSpPr/>
          <p:nvPr/>
        </p:nvSpPr>
        <p:spPr>
          <a:xfrm>
            <a:off x="274320" y="1636776"/>
            <a:ext cx="548640" cy="56692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10</a:t>
            </a:r>
            <a:endParaRPr lang="en-US" sz="1800" dirty="0"/>
          </a:p>
        </p:txBody>
      </p:sp>
      <p:sp>
        <p:nvSpPr>
          <p:cNvPr id="14" name="Shape 12"/>
          <p:cNvSpPr/>
          <p:nvPr/>
        </p:nvSpPr>
        <p:spPr>
          <a:xfrm>
            <a:off x="859536" y="1636776"/>
            <a:ext cx="8010144" cy="566928"/>
          </a:xfrm>
          <a:prstGeom prst="rect">
            <a:avLst/>
          </a:prstGeom>
          <a:solidFill>
            <a:srgbClr val="EEF3F8"/>
          </a:solidFill>
          <a:ln w="6350">
            <a:solidFill>
              <a:srgbClr val="D0DCE8"/>
            </a:solidFill>
            <a:prstDash val="solid"/>
          </a:ln>
        </p:spPr>
        <p:txBody>
          <a:bodyPr/>
          <a:lstStyle/>
          <a:p>
            <a:endParaRPr lang="fr-FR"/>
          </a:p>
        </p:txBody>
      </p:sp>
      <p:sp>
        <p:nvSpPr>
          <p:cNvPr id="15" name="Shape 13"/>
          <p:cNvSpPr/>
          <p:nvPr/>
        </p:nvSpPr>
        <p:spPr>
          <a:xfrm>
            <a:off x="859536" y="1636776"/>
            <a:ext cx="45720" cy="566928"/>
          </a:xfrm>
          <a:prstGeom prst="rect">
            <a:avLst/>
          </a:prstGeom>
          <a:solidFill>
            <a:srgbClr val="1A3A5C"/>
          </a:solidFill>
          <a:ln w="12700">
            <a:solidFill>
              <a:srgbClr val="1A3A5C"/>
            </a:solidFill>
            <a:prstDash val="solid"/>
          </a:ln>
        </p:spPr>
        <p:txBody>
          <a:bodyPr/>
          <a:lstStyle/>
          <a:p>
            <a:endParaRPr lang="fr-FR"/>
          </a:p>
        </p:txBody>
      </p:sp>
      <p:sp>
        <p:nvSpPr>
          <p:cNvPr id="16" name="Text 14"/>
          <p:cNvSpPr/>
          <p:nvPr/>
        </p:nvSpPr>
        <p:spPr>
          <a:xfrm>
            <a:off x="969264" y="1673352"/>
            <a:ext cx="5029200" cy="27432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Les juridictions compétentes</a:t>
            </a:r>
            <a:endParaRPr lang="en-US" sz="1100" dirty="0"/>
          </a:p>
        </p:txBody>
      </p:sp>
      <p:sp>
        <p:nvSpPr>
          <p:cNvPr id="17" name="Text 15"/>
          <p:cNvSpPr/>
          <p:nvPr/>
        </p:nvSpPr>
        <p:spPr>
          <a:xfrm>
            <a:off x="969264" y="1929384"/>
            <a:ext cx="7772400" cy="237744"/>
          </a:xfrm>
          <a:prstGeom prst="rect">
            <a:avLst/>
          </a:prstGeom>
          <a:noFill/>
          <a:ln/>
        </p:spPr>
        <p:txBody>
          <a:bodyPr wrap="square" rtlCol="0" anchor="ctr"/>
          <a:lstStyle/>
          <a:p>
            <a:pPr marL="0" indent="0">
              <a:buNone/>
            </a:pPr>
            <a:r>
              <a:rPr lang="en-US" sz="900" i="1" dirty="0">
                <a:solidFill>
                  <a:srgbClr val="6B7A8D"/>
                </a:solidFill>
                <a:latin typeface="Calibri" pitchFamily="34" charset="0"/>
                <a:ea typeface="Calibri" pitchFamily="34" charset="-122"/>
                <a:cs typeface="Calibri" pitchFamily="34" charset="-120"/>
              </a:rPr>
              <a:t>Organisation juridictionnelle nationale française — Ordre judiciaire et administratif</a:t>
            </a:r>
            <a:endParaRPr lang="en-US" sz="900" dirty="0"/>
          </a:p>
        </p:txBody>
      </p:sp>
      <p:sp>
        <p:nvSpPr>
          <p:cNvPr id="18" name="Text 16"/>
          <p:cNvSpPr/>
          <p:nvPr/>
        </p:nvSpPr>
        <p:spPr>
          <a:xfrm>
            <a:off x="8595360" y="1801368"/>
            <a:ext cx="237744" cy="237744"/>
          </a:xfrm>
          <a:prstGeom prst="rect">
            <a:avLst/>
          </a:prstGeom>
          <a:noFill/>
          <a:ln/>
        </p:spPr>
        <p:txBody>
          <a:bodyPr wrap="square" rtlCol="0" anchor="ctr"/>
          <a:lstStyle/>
          <a:p>
            <a:pPr marL="0" indent="0" algn="ctr">
              <a:buNone/>
            </a:pPr>
            <a:r>
              <a:rPr lang="en-US" sz="1200" b="1" dirty="0">
                <a:solidFill>
                  <a:srgbClr val="1A3A5C"/>
                </a:solidFill>
                <a:latin typeface="Calibri" pitchFamily="34" charset="0"/>
                <a:ea typeface="Calibri" pitchFamily="34" charset="-122"/>
                <a:cs typeface="Calibri" pitchFamily="34" charset="-120"/>
              </a:rPr>
              <a:t>→</a:t>
            </a:r>
            <a:endParaRPr lang="en-US" sz="1200" dirty="0"/>
          </a:p>
        </p:txBody>
      </p:sp>
      <p:sp>
        <p:nvSpPr>
          <p:cNvPr id="19" name="Shape 17"/>
          <p:cNvSpPr/>
          <p:nvPr/>
        </p:nvSpPr>
        <p:spPr>
          <a:xfrm>
            <a:off x="274320" y="2304288"/>
            <a:ext cx="548640" cy="566928"/>
          </a:xfrm>
          <a:prstGeom prst="rect">
            <a:avLst/>
          </a:prstGeom>
          <a:solidFill>
            <a:srgbClr val="C0392B"/>
          </a:solidFill>
          <a:ln w="12700">
            <a:solidFill>
              <a:srgbClr val="C0392B"/>
            </a:solidFill>
            <a:prstDash val="solid"/>
          </a:ln>
        </p:spPr>
        <p:txBody>
          <a:bodyPr/>
          <a:lstStyle/>
          <a:p>
            <a:endParaRPr lang="fr-FR"/>
          </a:p>
        </p:txBody>
      </p:sp>
      <p:sp>
        <p:nvSpPr>
          <p:cNvPr id="20" name="Text 18"/>
          <p:cNvSpPr/>
          <p:nvPr/>
        </p:nvSpPr>
        <p:spPr>
          <a:xfrm>
            <a:off x="274320" y="2304288"/>
            <a:ext cx="548640" cy="56692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11</a:t>
            </a:r>
            <a:endParaRPr lang="en-US" sz="1800" dirty="0"/>
          </a:p>
        </p:txBody>
      </p:sp>
      <p:sp>
        <p:nvSpPr>
          <p:cNvPr id="21" name="Shape 19"/>
          <p:cNvSpPr/>
          <p:nvPr/>
        </p:nvSpPr>
        <p:spPr>
          <a:xfrm>
            <a:off x="859536" y="2304288"/>
            <a:ext cx="8010144" cy="566928"/>
          </a:xfrm>
          <a:prstGeom prst="rect">
            <a:avLst/>
          </a:prstGeom>
          <a:solidFill>
            <a:srgbClr val="E8F1FA"/>
          </a:solidFill>
          <a:ln w="6350">
            <a:solidFill>
              <a:srgbClr val="D0DCE8"/>
            </a:solidFill>
            <a:prstDash val="solid"/>
          </a:ln>
        </p:spPr>
        <p:txBody>
          <a:bodyPr/>
          <a:lstStyle/>
          <a:p>
            <a:endParaRPr lang="fr-FR"/>
          </a:p>
        </p:txBody>
      </p:sp>
      <p:sp>
        <p:nvSpPr>
          <p:cNvPr id="22" name="Shape 20"/>
          <p:cNvSpPr/>
          <p:nvPr/>
        </p:nvSpPr>
        <p:spPr>
          <a:xfrm>
            <a:off x="859536" y="2304288"/>
            <a:ext cx="45720" cy="566928"/>
          </a:xfrm>
          <a:prstGeom prst="rect">
            <a:avLst/>
          </a:prstGeom>
          <a:solidFill>
            <a:srgbClr val="C0392B"/>
          </a:solidFill>
          <a:ln w="12700">
            <a:solidFill>
              <a:srgbClr val="C0392B"/>
            </a:solidFill>
            <a:prstDash val="solid"/>
          </a:ln>
        </p:spPr>
        <p:txBody>
          <a:bodyPr/>
          <a:lstStyle/>
          <a:p>
            <a:endParaRPr lang="fr-FR"/>
          </a:p>
        </p:txBody>
      </p:sp>
      <p:sp>
        <p:nvSpPr>
          <p:cNvPr id="23" name="Text 21"/>
          <p:cNvSpPr/>
          <p:nvPr/>
        </p:nvSpPr>
        <p:spPr>
          <a:xfrm>
            <a:off x="969264" y="2340864"/>
            <a:ext cx="5029200" cy="27432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Sanctions et voies de recours</a:t>
            </a:r>
            <a:endParaRPr lang="en-US" sz="1100" dirty="0"/>
          </a:p>
        </p:txBody>
      </p:sp>
      <p:sp>
        <p:nvSpPr>
          <p:cNvPr id="24" name="Text 22"/>
          <p:cNvSpPr/>
          <p:nvPr/>
        </p:nvSpPr>
        <p:spPr>
          <a:xfrm>
            <a:off x="969264" y="2596896"/>
            <a:ext cx="7772400" cy="237744"/>
          </a:xfrm>
          <a:prstGeom prst="rect">
            <a:avLst/>
          </a:prstGeom>
          <a:noFill/>
          <a:ln/>
        </p:spPr>
        <p:txBody>
          <a:bodyPr wrap="square" rtlCol="0" anchor="ctr"/>
          <a:lstStyle/>
          <a:p>
            <a:pPr marL="0" indent="0">
              <a:buNone/>
            </a:pPr>
            <a:r>
              <a:rPr lang="en-US" sz="900" i="1" dirty="0">
                <a:solidFill>
                  <a:srgbClr val="6B7A8D"/>
                </a:solidFill>
                <a:latin typeface="Calibri" pitchFamily="34" charset="0"/>
                <a:ea typeface="Calibri" pitchFamily="34" charset="-122"/>
                <a:cs typeface="Calibri" pitchFamily="34" charset="-120"/>
              </a:rPr>
              <a:t>Classes d'amendes 1 à 5 — Infractions T3P — Délits — Voies de recours</a:t>
            </a:r>
            <a:endParaRPr lang="en-US" sz="900" dirty="0"/>
          </a:p>
        </p:txBody>
      </p:sp>
      <p:sp>
        <p:nvSpPr>
          <p:cNvPr id="25" name="Text 23"/>
          <p:cNvSpPr/>
          <p:nvPr/>
        </p:nvSpPr>
        <p:spPr>
          <a:xfrm>
            <a:off x="8595360" y="2468880"/>
            <a:ext cx="237744" cy="237744"/>
          </a:xfrm>
          <a:prstGeom prst="rect">
            <a:avLst/>
          </a:prstGeom>
          <a:noFill/>
          <a:ln/>
        </p:spPr>
        <p:txBody>
          <a:bodyPr wrap="square" rtlCol="0" anchor="ctr"/>
          <a:lstStyle/>
          <a:p>
            <a:pPr marL="0" indent="0" algn="ctr">
              <a:buNone/>
            </a:pPr>
            <a:r>
              <a:rPr lang="en-US" sz="1200" b="1" dirty="0">
                <a:solidFill>
                  <a:srgbClr val="C0392B"/>
                </a:solidFill>
                <a:latin typeface="Calibri" pitchFamily="34" charset="0"/>
                <a:ea typeface="Calibri" pitchFamily="34" charset="-122"/>
                <a:cs typeface="Calibri" pitchFamily="34" charset="-120"/>
              </a:rPr>
              <a:t>→</a:t>
            </a:r>
            <a:endParaRPr lang="en-US" sz="1200" dirty="0"/>
          </a:p>
        </p:txBody>
      </p:sp>
      <p:sp>
        <p:nvSpPr>
          <p:cNvPr id="26" name="Shape 24"/>
          <p:cNvSpPr/>
          <p:nvPr/>
        </p:nvSpPr>
        <p:spPr>
          <a:xfrm>
            <a:off x="274320" y="2971800"/>
            <a:ext cx="548640" cy="566928"/>
          </a:xfrm>
          <a:prstGeom prst="rect">
            <a:avLst/>
          </a:prstGeom>
          <a:solidFill>
            <a:srgbClr val="6B7A8D"/>
          </a:solidFill>
          <a:ln w="12700">
            <a:solidFill>
              <a:srgbClr val="6B7A8D"/>
            </a:solidFill>
            <a:prstDash val="solid"/>
          </a:ln>
        </p:spPr>
        <p:txBody>
          <a:bodyPr/>
          <a:lstStyle/>
          <a:p>
            <a:endParaRPr lang="fr-FR"/>
          </a:p>
        </p:txBody>
      </p:sp>
      <p:sp>
        <p:nvSpPr>
          <p:cNvPr id="27" name="Text 25"/>
          <p:cNvSpPr/>
          <p:nvPr/>
        </p:nvSpPr>
        <p:spPr>
          <a:xfrm>
            <a:off x="274320" y="2971800"/>
            <a:ext cx="548640" cy="56692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12</a:t>
            </a:r>
            <a:endParaRPr lang="en-US" sz="1800" dirty="0"/>
          </a:p>
        </p:txBody>
      </p:sp>
      <p:sp>
        <p:nvSpPr>
          <p:cNvPr id="28" name="Shape 26"/>
          <p:cNvSpPr/>
          <p:nvPr/>
        </p:nvSpPr>
        <p:spPr>
          <a:xfrm>
            <a:off x="859536" y="2971800"/>
            <a:ext cx="8010144" cy="566928"/>
          </a:xfrm>
          <a:prstGeom prst="rect">
            <a:avLst/>
          </a:prstGeom>
          <a:solidFill>
            <a:srgbClr val="EEF3F8"/>
          </a:solidFill>
          <a:ln w="6350">
            <a:solidFill>
              <a:srgbClr val="D0DCE8"/>
            </a:solidFill>
            <a:prstDash val="solid"/>
          </a:ln>
        </p:spPr>
        <p:txBody>
          <a:bodyPr/>
          <a:lstStyle/>
          <a:p>
            <a:endParaRPr lang="fr-FR"/>
          </a:p>
        </p:txBody>
      </p:sp>
      <p:sp>
        <p:nvSpPr>
          <p:cNvPr id="29" name="Shape 27"/>
          <p:cNvSpPr/>
          <p:nvPr/>
        </p:nvSpPr>
        <p:spPr>
          <a:xfrm>
            <a:off x="859536" y="2971800"/>
            <a:ext cx="45720" cy="566928"/>
          </a:xfrm>
          <a:prstGeom prst="rect">
            <a:avLst/>
          </a:prstGeom>
          <a:solidFill>
            <a:srgbClr val="6B7A8D"/>
          </a:solidFill>
          <a:ln w="12700">
            <a:solidFill>
              <a:srgbClr val="6B7A8D"/>
            </a:solidFill>
            <a:prstDash val="solid"/>
          </a:ln>
        </p:spPr>
        <p:txBody>
          <a:bodyPr/>
          <a:lstStyle/>
          <a:p>
            <a:endParaRPr lang="fr-FR"/>
          </a:p>
        </p:txBody>
      </p:sp>
      <p:sp>
        <p:nvSpPr>
          <p:cNvPr id="30" name="Text 28"/>
          <p:cNvSpPr/>
          <p:nvPr/>
        </p:nvSpPr>
        <p:spPr>
          <a:xfrm>
            <a:off x="969264" y="3008376"/>
            <a:ext cx="5029200" cy="27432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Transport de Personnes à Mobilité Réduite</a:t>
            </a:r>
            <a:endParaRPr lang="en-US" sz="1100" dirty="0"/>
          </a:p>
        </p:txBody>
      </p:sp>
      <p:sp>
        <p:nvSpPr>
          <p:cNvPr id="31" name="Text 29"/>
          <p:cNvSpPr/>
          <p:nvPr/>
        </p:nvSpPr>
        <p:spPr>
          <a:xfrm>
            <a:off x="969264" y="3264408"/>
            <a:ext cx="7772400" cy="237744"/>
          </a:xfrm>
          <a:prstGeom prst="rect">
            <a:avLst/>
          </a:prstGeom>
          <a:noFill/>
          <a:ln/>
        </p:spPr>
        <p:txBody>
          <a:bodyPr wrap="square" rtlCol="0" anchor="ctr"/>
          <a:lstStyle/>
          <a:p>
            <a:pPr marL="0" indent="0">
              <a:buNone/>
            </a:pPr>
            <a:r>
              <a:rPr lang="en-US" sz="900" i="1" dirty="0">
                <a:solidFill>
                  <a:srgbClr val="6B7A8D"/>
                </a:solidFill>
                <a:latin typeface="Calibri" pitchFamily="34" charset="0"/>
                <a:ea typeface="Calibri" pitchFamily="34" charset="-122"/>
                <a:cs typeface="Calibri" pitchFamily="34" charset="-120"/>
              </a:rPr>
              <a:t>Formation TPMR obligatoire — Véhicules adaptés — 5 critères</a:t>
            </a:r>
            <a:endParaRPr lang="en-US" sz="900" dirty="0"/>
          </a:p>
        </p:txBody>
      </p:sp>
      <p:sp>
        <p:nvSpPr>
          <p:cNvPr id="32" name="Text 30"/>
          <p:cNvSpPr/>
          <p:nvPr/>
        </p:nvSpPr>
        <p:spPr>
          <a:xfrm>
            <a:off x="8595360" y="3136392"/>
            <a:ext cx="237744" cy="237744"/>
          </a:xfrm>
          <a:prstGeom prst="rect">
            <a:avLst/>
          </a:prstGeom>
          <a:noFill/>
          <a:ln/>
        </p:spPr>
        <p:txBody>
          <a:bodyPr wrap="square" rtlCol="0" anchor="ctr"/>
          <a:lstStyle/>
          <a:p>
            <a:pPr marL="0" indent="0" algn="ctr">
              <a:buNone/>
            </a:pPr>
            <a:r>
              <a:rPr lang="en-US" sz="1200" b="1" dirty="0">
                <a:solidFill>
                  <a:srgbClr val="6B7A8D"/>
                </a:solidFill>
                <a:latin typeface="Calibri" pitchFamily="34" charset="0"/>
                <a:ea typeface="Calibri" pitchFamily="34" charset="-122"/>
                <a:cs typeface="Calibri" pitchFamily="34" charset="-120"/>
              </a:rPr>
              <a:t>→</a:t>
            </a:r>
            <a:endParaRPr lang="en-US" sz="1200" dirty="0"/>
          </a:p>
        </p:txBody>
      </p:sp>
      <p:sp>
        <p:nvSpPr>
          <p:cNvPr id="33" name="Shape 31"/>
          <p:cNvSpPr/>
          <p:nvPr/>
        </p:nvSpPr>
        <p:spPr>
          <a:xfrm>
            <a:off x="274320" y="3639312"/>
            <a:ext cx="548640" cy="566928"/>
          </a:xfrm>
          <a:prstGeom prst="rect">
            <a:avLst/>
          </a:prstGeom>
          <a:solidFill>
            <a:srgbClr val="F4A227"/>
          </a:solidFill>
          <a:ln w="12700">
            <a:solidFill>
              <a:srgbClr val="F4A227"/>
            </a:solidFill>
            <a:prstDash val="solid"/>
          </a:ln>
        </p:spPr>
        <p:txBody>
          <a:bodyPr/>
          <a:lstStyle/>
          <a:p>
            <a:endParaRPr lang="fr-FR"/>
          </a:p>
        </p:txBody>
      </p:sp>
      <p:sp>
        <p:nvSpPr>
          <p:cNvPr id="34" name="Text 32"/>
          <p:cNvSpPr/>
          <p:nvPr/>
        </p:nvSpPr>
        <p:spPr>
          <a:xfrm>
            <a:off x="274320" y="3639312"/>
            <a:ext cx="548640" cy="56692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13</a:t>
            </a:r>
            <a:endParaRPr lang="en-US" sz="1800" dirty="0"/>
          </a:p>
        </p:txBody>
      </p:sp>
      <p:sp>
        <p:nvSpPr>
          <p:cNvPr id="35" name="Shape 33"/>
          <p:cNvSpPr/>
          <p:nvPr/>
        </p:nvSpPr>
        <p:spPr>
          <a:xfrm>
            <a:off x="859536" y="3639312"/>
            <a:ext cx="8010144" cy="566928"/>
          </a:xfrm>
          <a:prstGeom prst="rect">
            <a:avLst/>
          </a:prstGeom>
          <a:solidFill>
            <a:srgbClr val="E8F1FA"/>
          </a:solidFill>
          <a:ln w="6350">
            <a:solidFill>
              <a:srgbClr val="D0DCE8"/>
            </a:solidFill>
            <a:prstDash val="solid"/>
          </a:ln>
        </p:spPr>
        <p:txBody>
          <a:bodyPr/>
          <a:lstStyle/>
          <a:p>
            <a:endParaRPr lang="fr-FR"/>
          </a:p>
        </p:txBody>
      </p:sp>
      <p:sp>
        <p:nvSpPr>
          <p:cNvPr id="36" name="Shape 34"/>
          <p:cNvSpPr/>
          <p:nvPr/>
        </p:nvSpPr>
        <p:spPr>
          <a:xfrm>
            <a:off x="859536" y="3639312"/>
            <a:ext cx="45720" cy="566928"/>
          </a:xfrm>
          <a:prstGeom prst="rect">
            <a:avLst/>
          </a:prstGeom>
          <a:solidFill>
            <a:srgbClr val="F4A227"/>
          </a:solidFill>
          <a:ln w="12700">
            <a:solidFill>
              <a:srgbClr val="F4A227"/>
            </a:solidFill>
            <a:prstDash val="solid"/>
          </a:ln>
        </p:spPr>
        <p:txBody>
          <a:bodyPr/>
          <a:lstStyle/>
          <a:p>
            <a:endParaRPr lang="fr-FR"/>
          </a:p>
        </p:txBody>
      </p:sp>
      <p:sp>
        <p:nvSpPr>
          <p:cNvPr id="37" name="Text 35"/>
          <p:cNvSpPr/>
          <p:nvPr/>
        </p:nvSpPr>
        <p:spPr>
          <a:xfrm>
            <a:off x="969264" y="3675888"/>
            <a:ext cx="5029200" cy="27432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Covoiturage et transport privé</a:t>
            </a:r>
            <a:endParaRPr lang="en-US" sz="1100" dirty="0"/>
          </a:p>
        </p:txBody>
      </p:sp>
      <p:sp>
        <p:nvSpPr>
          <p:cNvPr id="38" name="Text 36"/>
          <p:cNvSpPr/>
          <p:nvPr/>
        </p:nvSpPr>
        <p:spPr>
          <a:xfrm>
            <a:off x="969264" y="3931920"/>
            <a:ext cx="7772400" cy="237744"/>
          </a:xfrm>
          <a:prstGeom prst="rect">
            <a:avLst/>
          </a:prstGeom>
          <a:noFill/>
          <a:ln/>
        </p:spPr>
        <p:txBody>
          <a:bodyPr wrap="square" rtlCol="0" anchor="ctr"/>
          <a:lstStyle/>
          <a:p>
            <a:pPr marL="0" indent="0">
              <a:buNone/>
            </a:pPr>
            <a:r>
              <a:rPr lang="en-US" sz="900" i="1" dirty="0">
                <a:solidFill>
                  <a:srgbClr val="6B7A8D"/>
                </a:solidFill>
                <a:latin typeface="Calibri" pitchFamily="34" charset="0"/>
                <a:ea typeface="Calibri" pitchFamily="34" charset="-122"/>
                <a:cs typeface="Calibri" pitchFamily="34" charset="-120"/>
              </a:rPr>
              <a:t>Définition légale du covoiturage — Différences avec le T3P</a:t>
            </a:r>
            <a:endParaRPr lang="en-US" sz="900" dirty="0"/>
          </a:p>
        </p:txBody>
      </p:sp>
      <p:sp>
        <p:nvSpPr>
          <p:cNvPr id="39" name="Text 37"/>
          <p:cNvSpPr/>
          <p:nvPr/>
        </p:nvSpPr>
        <p:spPr>
          <a:xfrm>
            <a:off x="8595360" y="3803904"/>
            <a:ext cx="237744" cy="237744"/>
          </a:xfrm>
          <a:prstGeom prst="rect">
            <a:avLst/>
          </a:prstGeom>
          <a:noFill/>
          <a:ln/>
        </p:spPr>
        <p:txBody>
          <a:bodyPr wrap="square" rtlCol="0" anchor="ctr"/>
          <a:lstStyle/>
          <a:p>
            <a:pPr marL="0" indent="0" algn="ctr">
              <a:buNone/>
            </a:pPr>
            <a:r>
              <a:rPr lang="en-US" sz="1200" b="1" dirty="0">
                <a:solidFill>
                  <a:srgbClr val="F4A227"/>
                </a:solidFill>
                <a:latin typeface="Calibri" pitchFamily="34" charset="0"/>
                <a:ea typeface="Calibri" pitchFamily="34" charset="-122"/>
                <a:cs typeface="Calibri" pitchFamily="34" charset="-120"/>
              </a:rPr>
              <a:t>→</a:t>
            </a:r>
            <a:endParaRPr lang="en-US" sz="1200" dirty="0"/>
          </a:p>
        </p:txBody>
      </p:sp>
      <p:sp>
        <p:nvSpPr>
          <p:cNvPr id="40" name="Shape 38"/>
          <p:cNvSpPr/>
          <p:nvPr/>
        </p:nvSpPr>
        <p:spPr>
          <a:xfrm>
            <a:off x="274320" y="4306824"/>
            <a:ext cx="548640" cy="566928"/>
          </a:xfrm>
          <a:prstGeom prst="rect">
            <a:avLst/>
          </a:prstGeom>
          <a:solidFill>
            <a:srgbClr val="1A3A5C"/>
          </a:solidFill>
          <a:ln w="12700">
            <a:solidFill>
              <a:srgbClr val="1A3A5C"/>
            </a:solidFill>
            <a:prstDash val="solid"/>
          </a:ln>
        </p:spPr>
        <p:txBody>
          <a:bodyPr/>
          <a:lstStyle/>
          <a:p>
            <a:endParaRPr lang="fr-FR"/>
          </a:p>
        </p:txBody>
      </p:sp>
      <p:sp>
        <p:nvSpPr>
          <p:cNvPr id="41" name="Text 39"/>
          <p:cNvSpPr/>
          <p:nvPr/>
        </p:nvSpPr>
        <p:spPr>
          <a:xfrm>
            <a:off x="274320" y="4306824"/>
            <a:ext cx="548640" cy="56692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14</a:t>
            </a:r>
            <a:endParaRPr lang="en-US" sz="1800" dirty="0"/>
          </a:p>
        </p:txBody>
      </p:sp>
      <p:sp>
        <p:nvSpPr>
          <p:cNvPr id="42" name="Shape 40"/>
          <p:cNvSpPr/>
          <p:nvPr/>
        </p:nvSpPr>
        <p:spPr>
          <a:xfrm>
            <a:off x="859536" y="4306824"/>
            <a:ext cx="8010144" cy="566928"/>
          </a:xfrm>
          <a:prstGeom prst="rect">
            <a:avLst/>
          </a:prstGeom>
          <a:solidFill>
            <a:srgbClr val="EEF3F8"/>
          </a:solidFill>
          <a:ln w="6350">
            <a:solidFill>
              <a:srgbClr val="D0DCE8"/>
            </a:solidFill>
            <a:prstDash val="solid"/>
          </a:ln>
        </p:spPr>
        <p:txBody>
          <a:bodyPr/>
          <a:lstStyle/>
          <a:p>
            <a:endParaRPr lang="fr-FR"/>
          </a:p>
        </p:txBody>
      </p:sp>
      <p:sp>
        <p:nvSpPr>
          <p:cNvPr id="43" name="Shape 41"/>
          <p:cNvSpPr/>
          <p:nvPr/>
        </p:nvSpPr>
        <p:spPr>
          <a:xfrm>
            <a:off x="859536" y="4306824"/>
            <a:ext cx="45720" cy="566928"/>
          </a:xfrm>
          <a:prstGeom prst="rect">
            <a:avLst/>
          </a:prstGeom>
          <a:solidFill>
            <a:srgbClr val="1A3A5C"/>
          </a:solidFill>
          <a:ln w="12700">
            <a:solidFill>
              <a:srgbClr val="1A3A5C"/>
            </a:solidFill>
            <a:prstDash val="solid"/>
          </a:ln>
        </p:spPr>
        <p:txBody>
          <a:bodyPr/>
          <a:lstStyle/>
          <a:p>
            <a:endParaRPr lang="fr-FR"/>
          </a:p>
        </p:txBody>
      </p:sp>
      <p:sp>
        <p:nvSpPr>
          <p:cNvPr id="44" name="Text 42"/>
          <p:cNvSpPr/>
          <p:nvPr/>
        </p:nvSpPr>
        <p:spPr>
          <a:xfrm>
            <a:off x="969264" y="4343400"/>
            <a:ext cx="5029200" cy="27432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Les intermédiaires de la mise en relation</a:t>
            </a:r>
            <a:endParaRPr lang="en-US" sz="1100" dirty="0"/>
          </a:p>
        </p:txBody>
      </p:sp>
      <p:sp>
        <p:nvSpPr>
          <p:cNvPr id="45" name="Text 43"/>
          <p:cNvSpPr/>
          <p:nvPr/>
        </p:nvSpPr>
        <p:spPr>
          <a:xfrm>
            <a:off x="969264" y="4599432"/>
            <a:ext cx="7772400" cy="237744"/>
          </a:xfrm>
          <a:prstGeom prst="rect">
            <a:avLst/>
          </a:prstGeom>
          <a:noFill/>
          <a:ln/>
        </p:spPr>
        <p:txBody>
          <a:bodyPr wrap="square" rtlCol="0" anchor="ctr"/>
          <a:lstStyle/>
          <a:p>
            <a:pPr marL="0" indent="0">
              <a:buNone/>
            </a:pPr>
            <a:r>
              <a:rPr lang="en-US" sz="900" i="1" dirty="0">
                <a:solidFill>
                  <a:srgbClr val="6B7A8D"/>
                </a:solidFill>
                <a:latin typeface="Calibri" pitchFamily="34" charset="0"/>
                <a:ea typeface="Calibri" pitchFamily="34" charset="-122"/>
                <a:cs typeface="Calibri" pitchFamily="34" charset="-120"/>
              </a:rPr>
              <a:t>Obligations des plateformes — Droits du conducteur T3P</a:t>
            </a:r>
            <a:endParaRPr lang="en-US" sz="900" dirty="0"/>
          </a:p>
        </p:txBody>
      </p:sp>
      <p:sp>
        <p:nvSpPr>
          <p:cNvPr id="46" name="Text 44"/>
          <p:cNvSpPr/>
          <p:nvPr/>
        </p:nvSpPr>
        <p:spPr>
          <a:xfrm>
            <a:off x="8595360" y="4471416"/>
            <a:ext cx="237744" cy="237744"/>
          </a:xfrm>
          <a:prstGeom prst="rect">
            <a:avLst/>
          </a:prstGeom>
          <a:noFill/>
          <a:ln/>
        </p:spPr>
        <p:txBody>
          <a:bodyPr wrap="square" rtlCol="0" anchor="ctr"/>
          <a:lstStyle/>
          <a:p>
            <a:pPr marL="0" indent="0" algn="ctr">
              <a:buNone/>
            </a:pPr>
            <a:r>
              <a:rPr lang="en-US" sz="1200" b="1" dirty="0">
                <a:solidFill>
                  <a:srgbClr val="1A3A5C"/>
                </a:solidFill>
                <a:latin typeface="Calibri" pitchFamily="34" charset="0"/>
                <a:ea typeface="Calibri" pitchFamily="34" charset="-122"/>
                <a:cs typeface="Calibri" pitchFamily="34" charset="-120"/>
              </a:rPr>
              <a:t>→</a:t>
            </a:r>
            <a:endParaRPr lang="en-US" sz="1200" dirty="0"/>
          </a:p>
        </p:txBody>
      </p:sp>
      <p:sp>
        <p:nvSpPr>
          <p:cNvPr id="47" name="Shape 45"/>
          <p:cNvSpPr/>
          <p:nvPr/>
        </p:nvSpPr>
        <p:spPr>
          <a:xfrm>
            <a:off x="274320" y="4974336"/>
            <a:ext cx="548640" cy="566928"/>
          </a:xfrm>
          <a:prstGeom prst="rect">
            <a:avLst/>
          </a:prstGeom>
          <a:solidFill>
            <a:srgbClr val="A0305A"/>
          </a:solidFill>
          <a:ln w="12700">
            <a:solidFill>
              <a:srgbClr val="A0305A"/>
            </a:solidFill>
            <a:prstDash val="solid"/>
          </a:ln>
        </p:spPr>
        <p:txBody>
          <a:bodyPr/>
          <a:lstStyle/>
          <a:p>
            <a:endParaRPr lang="fr-FR"/>
          </a:p>
        </p:txBody>
      </p:sp>
      <p:sp>
        <p:nvSpPr>
          <p:cNvPr id="48" name="Text 46"/>
          <p:cNvSpPr/>
          <p:nvPr/>
        </p:nvSpPr>
        <p:spPr>
          <a:xfrm>
            <a:off x="274320" y="4974336"/>
            <a:ext cx="548640" cy="56692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15</a:t>
            </a:r>
            <a:endParaRPr lang="en-US" sz="1800" dirty="0"/>
          </a:p>
        </p:txBody>
      </p:sp>
      <p:sp>
        <p:nvSpPr>
          <p:cNvPr id="49" name="Shape 47"/>
          <p:cNvSpPr/>
          <p:nvPr/>
        </p:nvSpPr>
        <p:spPr>
          <a:xfrm>
            <a:off x="859536" y="4974336"/>
            <a:ext cx="8010144" cy="566928"/>
          </a:xfrm>
          <a:prstGeom prst="rect">
            <a:avLst/>
          </a:prstGeom>
          <a:solidFill>
            <a:srgbClr val="E8F1FA"/>
          </a:solidFill>
          <a:ln w="6350">
            <a:solidFill>
              <a:srgbClr val="D0DCE8"/>
            </a:solidFill>
            <a:prstDash val="solid"/>
          </a:ln>
        </p:spPr>
        <p:txBody>
          <a:bodyPr/>
          <a:lstStyle/>
          <a:p>
            <a:endParaRPr lang="fr-FR"/>
          </a:p>
        </p:txBody>
      </p:sp>
      <p:sp>
        <p:nvSpPr>
          <p:cNvPr id="50" name="Shape 48"/>
          <p:cNvSpPr/>
          <p:nvPr/>
        </p:nvSpPr>
        <p:spPr>
          <a:xfrm>
            <a:off x="859536" y="4974336"/>
            <a:ext cx="45720" cy="566928"/>
          </a:xfrm>
          <a:prstGeom prst="rect">
            <a:avLst/>
          </a:prstGeom>
          <a:solidFill>
            <a:srgbClr val="A0305A"/>
          </a:solidFill>
          <a:ln w="12700">
            <a:solidFill>
              <a:srgbClr val="A0305A"/>
            </a:solidFill>
            <a:prstDash val="solid"/>
          </a:ln>
        </p:spPr>
        <p:txBody>
          <a:bodyPr/>
          <a:lstStyle/>
          <a:p>
            <a:endParaRPr lang="fr-FR"/>
          </a:p>
        </p:txBody>
      </p:sp>
      <p:sp>
        <p:nvSpPr>
          <p:cNvPr id="51" name="Text 49"/>
          <p:cNvSpPr/>
          <p:nvPr/>
        </p:nvSpPr>
        <p:spPr>
          <a:xfrm>
            <a:off x="969264" y="5010912"/>
            <a:ext cx="5029200" cy="27432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Violences sexuelles, sexistes et discriminations</a:t>
            </a:r>
            <a:endParaRPr lang="en-US" sz="1100" dirty="0"/>
          </a:p>
        </p:txBody>
      </p:sp>
      <p:sp>
        <p:nvSpPr>
          <p:cNvPr id="52" name="Text 50"/>
          <p:cNvSpPr/>
          <p:nvPr/>
        </p:nvSpPr>
        <p:spPr>
          <a:xfrm>
            <a:off x="969264" y="5266944"/>
            <a:ext cx="7772400" cy="237744"/>
          </a:xfrm>
          <a:prstGeom prst="rect">
            <a:avLst/>
          </a:prstGeom>
          <a:noFill/>
          <a:ln/>
        </p:spPr>
        <p:txBody>
          <a:bodyPr wrap="square" rtlCol="0" anchor="ctr"/>
          <a:lstStyle/>
          <a:p>
            <a:pPr marL="0" indent="0">
              <a:buNone/>
            </a:pPr>
            <a:r>
              <a:rPr lang="en-US" sz="900" i="1" dirty="0">
                <a:solidFill>
                  <a:srgbClr val="6B7A8D"/>
                </a:solidFill>
                <a:latin typeface="Calibri" pitchFamily="34" charset="0"/>
                <a:ea typeface="Calibri" pitchFamily="34" charset="-122"/>
                <a:cs typeface="Calibri" pitchFamily="34" charset="-120"/>
              </a:rPr>
              <a:t>4 infractions — Peines encourues — Acteurs de prévention — Art. 225-1</a:t>
            </a:r>
            <a:endParaRPr lang="en-US" sz="900" dirty="0"/>
          </a:p>
        </p:txBody>
      </p:sp>
      <p:sp>
        <p:nvSpPr>
          <p:cNvPr id="53" name="Text 51"/>
          <p:cNvSpPr/>
          <p:nvPr/>
        </p:nvSpPr>
        <p:spPr>
          <a:xfrm>
            <a:off x="8595360" y="5138928"/>
            <a:ext cx="237744" cy="237744"/>
          </a:xfrm>
          <a:prstGeom prst="rect">
            <a:avLst/>
          </a:prstGeom>
          <a:noFill/>
          <a:ln/>
        </p:spPr>
        <p:txBody>
          <a:bodyPr wrap="square" rtlCol="0" anchor="ctr"/>
          <a:lstStyle/>
          <a:p>
            <a:pPr marL="0" indent="0" algn="ctr">
              <a:buNone/>
            </a:pPr>
            <a:r>
              <a:rPr lang="en-US" sz="1200" b="1" dirty="0">
                <a:solidFill>
                  <a:srgbClr val="A0305A"/>
                </a:solidFill>
                <a:latin typeface="Calibri" pitchFamily="34" charset="0"/>
                <a:ea typeface="Calibri" pitchFamily="34" charset="-122"/>
                <a:cs typeface="Calibri" pitchFamily="34" charset="-120"/>
              </a:rPr>
              <a:t>→</a:t>
            </a:r>
            <a:endParaRPr lang="en-US" sz="1200" dirty="0"/>
          </a:p>
        </p:txBody>
      </p:sp>
      <p:sp>
        <p:nvSpPr>
          <p:cNvPr id="54" name="Shape 52"/>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55" name="Text 53"/>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56" name="Text 54"/>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0/88</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Agents de contrôle et documents T3P</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Qui peut contrôler un conducteur T3P ? — Documents à présenter</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34/88</a:t>
            </a:r>
            <a:endParaRPr lang="en-US" sz="800" dirty="0"/>
          </a:p>
        </p:txBody>
      </p:sp>
      <p:sp>
        <p:nvSpPr>
          <p:cNvPr id="9" name="Text 7"/>
          <p:cNvSpPr/>
          <p:nvPr/>
        </p:nvSpPr>
        <p:spPr>
          <a:xfrm>
            <a:off x="274320" y="1078992"/>
            <a:ext cx="8595360" cy="411480"/>
          </a:xfrm>
          <a:prstGeom prst="rect">
            <a:avLst/>
          </a:prstGeom>
          <a:noFill/>
          <a:ln/>
        </p:spPr>
        <p:txBody>
          <a:bodyPr wrap="square" rtlCol="0" anchor="t"/>
          <a:lstStyle/>
          <a:p>
            <a:pPr marL="0" indent="0">
              <a:buNone/>
            </a:pPr>
            <a:r>
              <a:rPr lang="en-US" sz="1200" dirty="0">
                <a:solidFill>
                  <a:srgbClr val="3A3A3A"/>
                </a:solidFill>
                <a:latin typeface="Calibri" pitchFamily="34" charset="0"/>
                <a:ea typeface="Calibri" pitchFamily="34" charset="-122"/>
                <a:cs typeface="Calibri" pitchFamily="34" charset="-120"/>
              </a:rPr>
              <a:t>Un conducteur T3P peut être contrôlé par plusieurs types d'agents, chacun ayant des compétences différentes. Voici les agents habilités et les documents à avoir en permanence.</a:t>
            </a:r>
            <a:endParaRPr lang="en-US" sz="1200" dirty="0"/>
          </a:p>
        </p:txBody>
      </p:sp>
      <p:sp>
        <p:nvSpPr>
          <p:cNvPr id="10" name="Shape 8"/>
          <p:cNvSpPr/>
          <p:nvPr/>
        </p:nvSpPr>
        <p:spPr>
          <a:xfrm>
            <a:off x="274320" y="1554480"/>
            <a:ext cx="8595360" cy="1828800"/>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1" name="Shape 9"/>
          <p:cNvSpPr/>
          <p:nvPr/>
        </p:nvSpPr>
        <p:spPr>
          <a:xfrm>
            <a:off x="274320" y="1554480"/>
            <a:ext cx="8595360" cy="301752"/>
          </a:xfrm>
          <a:prstGeom prst="rect">
            <a:avLst/>
          </a:prstGeom>
          <a:solidFill>
            <a:srgbClr val="1A3A5C"/>
          </a:solidFill>
          <a:ln w="12700">
            <a:solidFill>
              <a:srgbClr val="1A3A5C"/>
            </a:solidFill>
            <a:prstDash val="solid"/>
          </a:ln>
        </p:spPr>
        <p:txBody>
          <a:bodyPr/>
          <a:lstStyle/>
          <a:p>
            <a:endParaRPr lang="fr-FR"/>
          </a:p>
        </p:txBody>
      </p:sp>
      <p:sp>
        <p:nvSpPr>
          <p:cNvPr id="12" name="Text 10"/>
          <p:cNvSpPr/>
          <p:nvPr/>
        </p:nvSpPr>
        <p:spPr>
          <a:xfrm>
            <a:off x="365760" y="1554480"/>
            <a:ext cx="845820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LES AGENTS HABILITÉS À CONTRÔLER</a:t>
            </a:r>
            <a:endParaRPr lang="en-US" sz="1050" dirty="0"/>
          </a:p>
        </p:txBody>
      </p:sp>
      <p:sp>
        <p:nvSpPr>
          <p:cNvPr id="13" name="Text 11"/>
          <p:cNvSpPr/>
          <p:nvPr/>
        </p:nvSpPr>
        <p:spPr>
          <a:xfrm>
            <a:off x="384048" y="1901952"/>
            <a:ext cx="8412480" cy="1435608"/>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Police nationale et Gendarmerie : infractions pénales, verbalisation, garde à vue.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Agents DRIEAT/DREAL : registre VTC, documents professionnels, conditions d'exercice.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URSSAF : cotisations sociales — SANS PRÉAVIS en cas de travail dissimulé.</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DGFIP : contrôle fiscal — avis préalable d'environ 15 jours.</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DGCCRF : pratiques commerciales, tarifs, concurrence.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Douanes : contrôle des personnes et marchandises (frontières et sur route).</a:t>
            </a:r>
            <a:endParaRPr lang="en-US" sz="1000" dirty="0"/>
          </a:p>
        </p:txBody>
      </p:sp>
      <p:sp>
        <p:nvSpPr>
          <p:cNvPr id="14" name="Shape 12"/>
          <p:cNvSpPr/>
          <p:nvPr/>
        </p:nvSpPr>
        <p:spPr>
          <a:xfrm>
            <a:off x="274320" y="3456432"/>
            <a:ext cx="8595360" cy="1261872"/>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5" name="Shape 13"/>
          <p:cNvSpPr/>
          <p:nvPr/>
        </p:nvSpPr>
        <p:spPr>
          <a:xfrm>
            <a:off x="274320" y="3456432"/>
            <a:ext cx="8595360" cy="301752"/>
          </a:xfrm>
          <a:prstGeom prst="rect">
            <a:avLst/>
          </a:prstGeom>
          <a:solidFill>
            <a:srgbClr val="1A3A5C"/>
          </a:solidFill>
          <a:ln w="12700">
            <a:solidFill>
              <a:srgbClr val="1A3A5C"/>
            </a:solidFill>
            <a:prstDash val="solid"/>
          </a:ln>
        </p:spPr>
        <p:txBody>
          <a:bodyPr/>
          <a:lstStyle/>
          <a:p>
            <a:endParaRPr lang="fr-FR"/>
          </a:p>
        </p:txBody>
      </p:sp>
      <p:sp>
        <p:nvSpPr>
          <p:cNvPr id="16" name="Text 14"/>
          <p:cNvSpPr/>
          <p:nvPr/>
        </p:nvSpPr>
        <p:spPr>
          <a:xfrm>
            <a:off x="365760" y="3456432"/>
            <a:ext cx="845820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DOCUMENTS À PRÉSENTER LORS D'UN CONTRÔLE</a:t>
            </a:r>
            <a:endParaRPr lang="en-US" sz="1050" dirty="0"/>
          </a:p>
        </p:txBody>
      </p:sp>
      <p:sp>
        <p:nvSpPr>
          <p:cNvPr id="17" name="Text 15"/>
          <p:cNvSpPr/>
          <p:nvPr/>
        </p:nvSpPr>
        <p:spPr>
          <a:xfrm>
            <a:off x="384048" y="3803904"/>
            <a:ext cx="8412480" cy="868680"/>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Documents VÉHICULE : carte grise, attestation assurance RC Circulation + RC Pro, contrôle technique, permis de conduire.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Documents PROFESSION : carte professionnelle T3P (apposée sur le pare-brise), attestation médicale valide, billet individuel ou collectif (sauf taxi).</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Pour les taxis : carnet métrologique du taximètre à jour. Pour les salariés : contrat de travail + DPAE.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4">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10. Les juridictions compétentes</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Organisation juridictionnelle nationale française — T3P</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43/88</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L'organisation juridictionnelle nationale française</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Schéma officiel — Ordre judiciaire et ordre administratif</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44/88</a:t>
            </a:r>
            <a:endParaRPr lang="en-US" sz="800" dirty="0"/>
          </a:p>
        </p:txBody>
      </p:sp>
      <p:sp>
        <p:nvSpPr>
          <p:cNvPr id="9" name="Shape 7"/>
          <p:cNvSpPr/>
          <p:nvPr/>
        </p:nvSpPr>
        <p:spPr>
          <a:xfrm>
            <a:off x="228600" y="932688"/>
            <a:ext cx="6583680" cy="256032"/>
          </a:xfrm>
          <a:prstGeom prst="rect">
            <a:avLst/>
          </a:prstGeom>
          <a:solidFill>
            <a:srgbClr val="FFFFFF"/>
          </a:solidFill>
          <a:ln w="10160">
            <a:solidFill>
              <a:srgbClr val="3A3A3A"/>
            </a:solidFill>
            <a:prstDash val="solid"/>
          </a:ln>
        </p:spPr>
        <p:txBody>
          <a:bodyPr/>
          <a:lstStyle/>
          <a:p>
            <a:endParaRPr lang="fr-FR"/>
          </a:p>
        </p:txBody>
      </p:sp>
      <p:sp>
        <p:nvSpPr>
          <p:cNvPr id="10" name="Text 8"/>
          <p:cNvSpPr/>
          <p:nvPr/>
        </p:nvSpPr>
        <p:spPr>
          <a:xfrm>
            <a:off x="228600" y="932688"/>
            <a:ext cx="6583680" cy="256032"/>
          </a:xfrm>
          <a:prstGeom prst="rect">
            <a:avLst/>
          </a:prstGeom>
          <a:noFill/>
          <a:ln/>
        </p:spPr>
        <p:txBody>
          <a:bodyPr wrap="square" rtlCol="0" anchor="ctr"/>
          <a:lstStyle/>
          <a:p>
            <a:pPr marL="0" indent="0" algn="ctr">
              <a:buNone/>
            </a:pPr>
            <a:r>
              <a:rPr lang="en-US" sz="900" b="1" dirty="0">
                <a:solidFill>
                  <a:srgbClr val="3A3A3A"/>
                </a:solidFill>
                <a:latin typeface="Calibri" pitchFamily="34" charset="0"/>
                <a:ea typeface="Calibri" pitchFamily="34" charset="-122"/>
                <a:cs typeface="Calibri" pitchFamily="34" charset="-120"/>
              </a:rPr>
              <a:t>ORGANISATION JURIDICTIONNELLE NATIONALE FRANÇAISE</a:t>
            </a:r>
            <a:endParaRPr lang="en-US" sz="900" dirty="0"/>
          </a:p>
        </p:txBody>
      </p:sp>
      <p:sp>
        <p:nvSpPr>
          <p:cNvPr id="11" name="Shape 9"/>
          <p:cNvSpPr/>
          <p:nvPr/>
        </p:nvSpPr>
        <p:spPr>
          <a:xfrm>
            <a:off x="6858000" y="932688"/>
            <a:ext cx="2011680" cy="256032"/>
          </a:xfrm>
          <a:prstGeom prst="rect">
            <a:avLst/>
          </a:prstGeom>
          <a:solidFill>
            <a:srgbClr val="FFFFFF"/>
          </a:solidFill>
          <a:ln w="10160">
            <a:solidFill>
              <a:srgbClr val="3A3A3A"/>
            </a:solidFill>
            <a:prstDash val="solid"/>
          </a:ln>
        </p:spPr>
        <p:txBody>
          <a:bodyPr/>
          <a:lstStyle/>
          <a:p>
            <a:endParaRPr lang="fr-FR"/>
          </a:p>
        </p:txBody>
      </p:sp>
      <p:sp>
        <p:nvSpPr>
          <p:cNvPr id="12" name="Text 10"/>
          <p:cNvSpPr/>
          <p:nvPr/>
        </p:nvSpPr>
        <p:spPr>
          <a:xfrm>
            <a:off x="6858000" y="932688"/>
            <a:ext cx="2011680" cy="256032"/>
          </a:xfrm>
          <a:prstGeom prst="rect">
            <a:avLst/>
          </a:prstGeom>
          <a:noFill/>
          <a:ln/>
        </p:spPr>
        <p:txBody>
          <a:bodyPr wrap="square" rtlCol="0" anchor="ctr"/>
          <a:lstStyle/>
          <a:p>
            <a:pPr marL="0" indent="0" algn="ctr">
              <a:buNone/>
            </a:pPr>
            <a:r>
              <a:rPr lang="en-US" sz="850" b="1" dirty="0">
                <a:solidFill>
                  <a:srgbClr val="3A3A3A"/>
                </a:solidFill>
                <a:latin typeface="Calibri" pitchFamily="34" charset="0"/>
                <a:ea typeface="Calibri" pitchFamily="34" charset="-122"/>
                <a:cs typeface="Calibri" pitchFamily="34" charset="-120"/>
              </a:rPr>
              <a:t>ORDRE ADMINISTRATIF</a:t>
            </a:r>
            <a:endParaRPr lang="en-US" sz="850" dirty="0"/>
          </a:p>
        </p:txBody>
      </p:sp>
      <p:sp>
        <p:nvSpPr>
          <p:cNvPr id="13" name="Shape 11"/>
          <p:cNvSpPr/>
          <p:nvPr/>
        </p:nvSpPr>
        <p:spPr>
          <a:xfrm>
            <a:off x="228600" y="1207008"/>
            <a:ext cx="3246120" cy="219456"/>
          </a:xfrm>
          <a:prstGeom prst="rect">
            <a:avLst/>
          </a:prstGeom>
          <a:solidFill>
            <a:srgbClr val="FFFFFF"/>
          </a:solidFill>
          <a:ln w="10160">
            <a:solidFill>
              <a:srgbClr val="3A3A3A"/>
            </a:solidFill>
            <a:prstDash val="solid"/>
          </a:ln>
        </p:spPr>
        <p:txBody>
          <a:bodyPr/>
          <a:lstStyle/>
          <a:p>
            <a:endParaRPr lang="fr-FR"/>
          </a:p>
        </p:txBody>
      </p:sp>
      <p:sp>
        <p:nvSpPr>
          <p:cNvPr id="14" name="Text 12"/>
          <p:cNvSpPr/>
          <p:nvPr/>
        </p:nvSpPr>
        <p:spPr>
          <a:xfrm>
            <a:off x="228600" y="1207008"/>
            <a:ext cx="3246120" cy="219456"/>
          </a:xfrm>
          <a:prstGeom prst="rect">
            <a:avLst/>
          </a:prstGeom>
          <a:noFill/>
          <a:ln/>
        </p:spPr>
        <p:txBody>
          <a:bodyPr wrap="square" rtlCol="0" anchor="ctr"/>
          <a:lstStyle/>
          <a:p>
            <a:pPr marL="0" indent="0" algn="ctr">
              <a:buNone/>
            </a:pPr>
            <a:r>
              <a:rPr lang="en-US" sz="850" b="1" dirty="0">
                <a:solidFill>
                  <a:srgbClr val="3A3A3A"/>
                </a:solidFill>
                <a:latin typeface="Calibri" pitchFamily="34" charset="0"/>
                <a:ea typeface="Calibri" pitchFamily="34" charset="-122"/>
                <a:cs typeface="Calibri" pitchFamily="34" charset="-120"/>
              </a:rPr>
              <a:t>MATIÈRE CIVILE</a:t>
            </a:r>
            <a:endParaRPr lang="en-US" sz="850" dirty="0"/>
          </a:p>
        </p:txBody>
      </p:sp>
      <p:sp>
        <p:nvSpPr>
          <p:cNvPr id="15" name="Shape 13"/>
          <p:cNvSpPr/>
          <p:nvPr/>
        </p:nvSpPr>
        <p:spPr>
          <a:xfrm>
            <a:off x="3493008" y="1207008"/>
            <a:ext cx="3310128" cy="219456"/>
          </a:xfrm>
          <a:prstGeom prst="rect">
            <a:avLst/>
          </a:prstGeom>
          <a:solidFill>
            <a:srgbClr val="FFFFFF"/>
          </a:solidFill>
          <a:ln w="10160">
            <a:solidFill>
              <a:srgbClr val="3A3A3A"/>
            </a:solidFill>
            <a:prstDash val="solid"/>
          </a:ln>
        </p:spPr>
        <p:txBody>
          <a:bodyPr/>
          <a:lstStyle/>
          <a:p>
            <a:endParaRPr lang="fr-FR"/>
          </a:p>
        </p:txBody>
      </p:sp>
      <p:sp>
        <p:nvSpPr>
          <p:cNvPr id="16" name="Text 14"/>
          <p:cNvSpPr/>
          <p:nvPr/>
        </p:nvSpPr>
        <p:spPr>
          <a:xfrm>
            <a:off x="3493008" y="1207008"/>
            <a:ext cx="3310128" cy="219456"/>
          </a:xfrm>
          <a:prstGeom prst="rect">
            <a:avLst/>
          </a:prstGeom>
          <a:noFill/>
          <a:ln/>
        </p:spPr>
        <p:txBody>
          <a:bodyPr wrap="square" rtlCol="0" anchor="ctr"/>
          <a:lstStyle/>
          <a:p>
            <a:pPr marL="0" indent="0" algn="ctr">
              <a:buNone/>
            </a:pPr>
            <a:r>
              <a:rPr lang="en-US" sz="850" b="1" dirty="0">
                <a:solidFill>
                  <a:srgbClr val="3A3A3A"/>
                </a:solidFill>
                <a:latin typeface="Calibri" pitchFamily="34" charset="0"/>
                <a:ea typeface="Calibri" pitchFamily="34" charset="-122"/>
                <a:cs typeface="Calibri" pitchFamily="34" charset="-120"/>
              </a:rPr>
              <a:t>MATIÈRE PÉNALE</a:t>
            </a:r>
            <a:endParaRPr lang="en-US" sz="850" dirty="0"/>
          </a:p>
        </p:txBody>
      </p:sp>
      <p:sp>
        <p:nvSpPr>
          <p:cNvPr id="17" name="Shape 15"/>
          <p:cNvSpPr/>
          <p:nvPr/>
        </p:nvSpPr>
        <p:spPr>
          <a:xfrm>
            <a:off x="0" y="1499616"/>
            <a:ext cx="749808" cy="749808"/>
          </a:xfrm>
          <a:prstGeom prst="rect">
            <a:avLst/>
          </a:prstGeom>
          <a:solidFill>
            <a:srgbClr val="FFFFFF"/>
          </a:solidFill>
          <a:ln w="10160">
            <a:solidFill>
              <a:srgbClr val="3A3A3A"/>
            </a:solidFill>
            <a:prstDash val="solid"/>
          </a:ln>
        </p:spPr>
        <p:txBody>
          <a:bodyPr/>
          <a:lstStyle/>
          <a:p>
            <a:endParaRPr lang="fr-FR"/>
          </a:p>
        </p:txBody>
      </p:sp>
      <p:sp>
        <p:nvSpPr>
          <p:cNvPr id="18" name="Text 16"/>
          <p:cNvSpPr/>
          <p:nvPr/>
        </p:nvSpPr>
        <p:spPr>
          <a:xfrm>
            <a:off x="0" y="1499616"/>
            <a:ext cx="749808" cy="749808"/>
          </a:xfrm>
          <a:prstGeom prst="rect">
            <a:avLst/>
          </a:prstGeom>
          <a:noFill/>
          <a:ln/>
        </p:spPr>
        <p:txBody>
          <a:bodyPr wrap="square" rtlCol="0" anchor="ctr"/>
          <a:lstStyle/>
          <a:p>
            <a:pPr marL="0" indent="0" algn="ctr">
              <a:buNone/>
            </a:pPr>
            <a:r>
              <a:rPr lang="en-US" sz="750" b="1" dirty="0">
                <a:solidFill>
                  <a:srgbClr val="3A3A3A"/>
                </a:solidFill>
                <a:latin typeface="Calibri" pitchFamily="34" charset="0"/>
                <a:ea typeface="Calibri" pitchFamily="34" charset="-122"/>
                <a:cs typeface="Calibri" pitchFamily="34" charset="-120"/>
              </a:rPr>
              <a:t>HAUTES</a:t>
            </a:r>
            <a:endParaRPr lang="en-US" sz="750" dirty="0"/>
          </a:p>
          <a:p>
            <a:pPr marL="0" indent="0" algn="ctr">
              <a:buNone/>
            </a:pPr>
            <a:r>
              <a:rPr lang="en-US" sz="750" b="1" dirty="0">
                <a:solidFill>
                  <a:srgbClr val="3A3A3A"/>
                </a:solidFill>
                <a:latin typeface="Calibri" pitchFamily="34" charset="0"/>
                <a:ea typeface="Calibri" pitchFamily="34" charset="-122"/>
                <a:cs typeface="Calibri" pitchFamily="34" charset="-120"/>
              </a:rPr>
              <a:t>JURIDICTIONS</a:t>
            </a:r>
            <a:endParaRPr lang="en-US" sz="750" dirty="0"/>
          </a:p>
        </p:txBody>
      </p:sp>
      <p:sp>
        <p:nvSpPr>
          <p:cNvPr id="19" name="Shape 17"/>
          <p:cNvSpPr/>
          <p:nvPr/>
        </p:nvSpPr>
        <p:spPr>
          <a:xfrm>
            <a:off x="0" y="2322576"/>
            <a:ext cx="749808" cy="749808"/>
          </a:xfrm>
          <a:prstGeom prst="rect">
            <a:avLst/>
          </a:prstGeom>
          <a:solidFill>
            <a:srgbClr val="FFFFFF"/>
          </a:solidFill>
          <a:ln w="10160">
            <a:solidFill>
              <a:srgbClr val="3A3A3A"/>
            </a:solidFill>
            <a:prstDash val="solid"/>
          </a:ln>
        </p:spPr>
        <p:txBody>
          <a:bodyPr/>
          <a:lstStyle/>
          <a:p>
            <a:endParaRPr lang="fr-FR"/>
          </a:p>
        </p:txBody>
      </p:sp>
      <p:sp>
        <p:nvSpPr>
          <p:cNvPr id="20" name="Text 18"/>
          <p:cNvSpPr/>
          <p:nvPr/>
        </p:nvSpPr>
        <p:spPr>
          <a:xfrm>
            <a:off x="0" y="2322576"/>
            <a:ext cx="749808" cy="749808"/>
          </a:xfrm>
          <a:prstGeom prst="rect">
            <a:avLst/>
          </a:prstGeom>
          <a:noFill/>
          <a:ln/>
        </p:spPr>
        <p:txBody>
          <a:bodyPr wrap="square" rtlCol="0" anchor="ctr"/>
          <a:lstStyle/>
          <a:p>
            <a:pPr marL="0" indent="0" algn="ctr">
              <a:buNone/>
            </a:pPr>
            <a:r>
              <a:rPr lang="en-US" sz="750" b="1" dirty="0">
                <a:solidFill>
                  <a:srgbClr val="3A3A3A"/>
                </a:solidFill>
                <a:latin typeface="Calibri" pitchFamily="34" charset="0"/>
                <a:ea typeface="Calibri" pitchFamily="34" charset="-122"/>
                <a:cs typeface="Calibri" pitchFamily="34" charset="-120"/>
              </a:rPr>
              <a:t>2ÈME</a:t>
            </a:r>
            <a:endParaRPr lang="en-US" sz="750" dirty="0"/>
          </a:p>
          <a:p>
            <a:pPr marL="0" indent="0" algn="ctr">
              <a:buNone/>
            </a:pPr>
            <a:r>
              <a:rPr lang="en-US" sz="750" b="1" dirty="0">
                <a:solidFill>
                  <a:srgbClr val="3A3A3A"/>
                </a:solidFill>
                <a:latin typeface="Calibri" pitchFamily="34" charset="0"/>
                <a:ea typeface="Calibri" pitchFamily="34" charset="-122"/>
                <a:cs typeface="Calibri" pitchFamily="34" charset="-120"/>
              </a:rPr>
              <a:t>DEGRÉ</a:t>
            </a:r>
            <a:endParaRPr lang="en-US" sz="750" dirty="0"/>
          </a:p>
        </p:txBody>
      </p:sp>
      <p:sp>
        <p:nvSpPr>
          <p:cNvPr id="21" name="Shape 19"/>
          <p:cNvSpPr/>
          <p:nvPr/>
        </p:nvSpPr>
        <p:spPr>
          <a:xfrm>
            <a:off x="0" y="3145536"/>
            <a:ext cx="749808" cy="749808"/>
          </a:xfrm>
          <a:prstGeom prst="rect">
            <a:avLst/>
          </a:prstGeom>
          <a:solidFill>
            <a:srgbClr val="FFFFFF"/>
          </a:solidFill>
          <a:ln w="10160">
            <a:solidFill>
              <a:srgbClr val="3A3A3A"/>
            </a:solidFill>
            <a:prstDash val="solid"/>
          </a:ln>
        </p:spPr>
        <p:txBody>
          <a:bodyPr/>
          <a:lstStyle/>
          <a:p>
            <a:endParaRPr lang="fr-FR"/>
          </a:p>
        </p:txBody>
      </p:sp>
      <p:sp>
        <p:nvSpPr>
          <p:cNvPr id="22" name="Text 20"/>
          <p:cNvSpPr/>
          <p:nvPr/>
        </p:nvSpPr>
        <p:spPr>
          <a:xfrm>
            <a:off x="0" y="3145536"/>
            <a:ext cx="749808" cy="749808"/>
          </a:xfrm>
          <a:prstGeom prst="rect">
            <a:avLst/>
          </a:prstGeom>
          <a:noFill/>
          <a:ln/>
        </p:spPr>
        <p:txBody>
          <a:bodyPr wrap="square" rtlCol="0" anchor="ctr"/>
          <a:lstStyle/>
          <a:p>
            <a:pPr marL="0" indent="0" algn="ctr">
              <a:buNone/>
            </a:pPr>
            <a:r>
              <a:rPr lang="en-US" sz="750" b="1" dirty="0">
                <a:solidFill>
                  <a:srgbClr val="3A3A3A"/>
                </a:solidFill>
                <a:latin typeface="Calibri" pitchFamily="34" charset="0"/>
                <a:ea typeface="Calibri" pitchFamily="34" charset="-122"/>
                <a:cs typeface="Calibri" pitchFamily="34" charset="-120"/>
              </a:rPr>
              <a:t>1ER</a:t>
            </a:r>
            <a:endParaRPr lang="en-US" sz="750" dirty="0"/>
          </a:p>
          <a:p>
            <a:pPr marL="0" indent="0" algn="ctr">
              <a:buNone/>
            </a:pPr>
            <a:r>
              <a:rPr lang="en-US" sz="750" b="1" dirty="0">
                <a:solidFill>
                  <a:srgbClr val="3A3A3A"/>
                </a:solidFill>
                <a:latin typeface="Calibri" pitchFamily="34" charset="0"/>
                <a:ea typeface="Calibri" pitchFamily="34" charset="-122"/>
                <a:cs typeface="Calibri" pitchFamily="34" charset="-120"/>
              </a:rPr>
              <a:t>DEGRÉ</a:t>
            </a:r>
            <a:endParaRPr lang="en-US" sz="750" dirty="0"/>
          </a:p>
        </p:txBody>
      </p:sp>
      <p:sp>
        <p:nvSpPr>
          <p:cNvPr id="23" name="Shape 21"/>
          <p:cNvSpPr/>
          <p:nvPr/>
        </p:nvSpPr>
        <p:spPr>
          <a:xfrm>
            <a:off x="804672" y="1499616"/>
            <a:ext cx="5989320" cy="274320"/>
          </a:xfrm>
          <a:prstGeom prst="rect">
            <a:avLst/>
          </a:prstGeom>
          <a:solidFill>
            <a:srgbClr val="CC0000"/>
          </a:solidFill>
          <a:ln w="12700">
            <a:solidFill>
              <a:srgbClr val="CC0000"/>
            </a:solidFill>
            <a:prstDash val="solid"/>
          </a:ln>
        </p:spPr>
        <p:txBody>
          <a:bodyPr/>
          <a:lstStyle/>
          <a:p>
            <a:endParaRPr lang="fr-FR"/>
          </a:p>
        </p:txBody>
      </p:sp>
      <p:sp>
        <p:nvSpPr>
          <p:cNvPr id="24" name="Text 22"/>
          <p:cNvSpPr/>
          <p:nvPr/>
        </p:nvSpPr>
        <p:spPr>
          <a:xfrm>
            <a:off x="804672" y="1499616"/>
            <a:ext cx="5989320" cy="27432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Cour de cassation : chambres</a:t>
            </a:r>
            <a:endParaRPr lang="en-US" sz="950" dirty="0"/>
          </a:p>
        </p:txBody>
      </p:sp>
      <p:sp>
        <p:nvSpPr>
          <p:cNvPr id="25" name="Shape 23"/>
          <p:cNvSpPr/>
          <p:nvPr/>
        </p:nvSpPr>
        <p:spPr>
          <a:xfrm>
            <a:off x="822960" y="1792224"/>
            <a:ext cx="1380744" cy="365760"/>
          </a:xfrm>
          <a:prstGeom prst="rect">
            <a:avLst/>
          </a:prstGeom>
          <a:solidFill>
            <a:srgbClr val="FFFFFF"/>
          </a:solidFill>
          <a:ln w="6350">
            <a:solidFill>
              <a:srgbClr val="3A3A3A"/>
            </a:solidFill>
            <a:prstDash val="solid"/>
          </a:ln>
        </p:spPr>
        <p:txBody>
          <a:bodyPr/>
          <a:lstStyle/>
          <a:p>
            <a:endParaRPr lang="fr-FR"/>
          </a:p>
        </p:txBody>
      </p:sp>
      <p:sp>
        <p:nvSpPr>
          <p:cNvPr id="26" name="Text 24"/>
          <p:cNvSpPr/>
          <p:nvPr/>
        </p:nvSpPr>
        <p:spPr>
          <a:xfrm>
            <a:off x="822960" y="1792224"/>
            <a:ext cx="1380744" cy="365760"/>
          </a:xfrm>
          <a:prstGeom prst="rect">
            <a:avLst/>
          </a:prstGeom>
          <a:noFill/>
          <a:ln/>
        </p:spPr>
        <p:txBody>
          <a:bodyPr wrap="square" rtlCol="0" anchor="ctr"/>
          <a:lstStyle/>
          <a:p>
            <a:pPr marL="0" indent="0" algn="ctr">
              <a:buNone/>
            </a:pPr>
            <a:r>
              <a:rPr lang="en-US" sz="800" dirty="0">
                <a:solidFill>
                  <a:srgbClr val="3A3A3A"/>
                </a:solidFill>
                <a:latin typeface="Calibri" pitchFamily="34" charset="0"/>
                <a:ea typeface="Calibri" pitchFamily="34" charset="-122"/>
                <a:cs typeface="Calibri" pitchFamily="34" charset="-120"/>
              </a:rPr>
              <a:t>Sociale</a:t>
            </a:r>
            <a:endParaRPr lang="en-US" sz="800" dirty="0"/>
          </a:p>
        </p:txBody>
      </p:sp>
      <p:sp>
        <p:nvSpPr>
          <p:cNvPr id="27" name="Shape 25"/>
          <p:cNvSpPr/>
          <p:nvPr/>
        </p:nvSpPr>
        <p:spPr>
          <a:xfrm>
            <a:off x="2240280" y="1792224"/>
            <a:ext cx="1380744" cy="365760"/>
          </a:xfrm>
          <a:prstGeom prst="rect">
            <a:avLst/>
          </a:prstGeom>
          <a:solidFill>
            <a:srgbClr val="FFFFFF"/>
          </a:solidFill>
          <a:ln w="6350">
            <a:solidFill>
              <a:srgbClr val="3A3A3A"/>
            </a:solidFill>
            <a:prstDash val="solid"/>
          </a:ln>
        </p:spPr>
        <p:txBody>
          <a:bodyPr/>
          <a:lstStyle/>
          <a:p>
            <a:endParaRPr lang="fr-FR"/>
          </a:p>
        </p:txBody>
      </p:sp>
      <p:sp>
        <p:nvSpPr>
          <p:cNvPr id="28" name="Text 26"/>
          <p:cNvSpPr/>
          <p:nvPr/>
        </p:nvSpPr>
        <p:spPr>
          <a:xfrm>
            <a:off x="2240280" y="1792224"/>
            <a:ext cx="1380744" cy="365760"/>
          </a:xfrm>
          <a:prstGeom prst="rect">
            <a:avLst/>
          </a:prstGeom>
          <a:noFill/>
          <a:ln/>
        </p:spPr>
        <p:txBody>
          <a:bodyPr wrap="square" rtlCol="0" anchor="ctr"/>
          <a:lstStyle/>
          <a:p>
            <a:pPr marL="0" indent="0" algn="ctr">
              <a:buNone/>
            </a:pPr>
            <a:r>
              <a:rPr lang="en-US" sz="800" dirty="0">
                <a:solidFill>
                  <a:srgbClr val="3A3A3A"/>
                </a:solidFill>
                <a:latin typeface="Calibri" pitchFamily="34" charset="0"/>
                <a:ea typeface="Calibri" pitchFamily="34" charset="-122"/>
                <a:cs typeface="Calibri" pitchFamily="34" charset="-120"/>
              </a:rPr>
              <a:t>Commerciale</a:t>
            </a:r>
            <a:endParaRPr lang="en-US" sz="800" dirty="0"/>
          </a:p>
        </p:txBody>
      </p:sp>
      <p:sp>
        <p:nvSpPr>
          <p:cNvPr id="29" name="Shape 27"/>
          <p:cNvSpPr/>
          <p:nvPr/>
        </p:nvSpPr>
        <p:spPr>
          <a:xfrm>
            <a:off x="3657600" y="1792224"/>
            <a:ext cx="1563624" cy="365760"/>
          </a:xfrm>
          <a:prstGeom prst="rect">
            <a:avLst/>
          </a:prstGeom>
          <a:solidFill>
            <a:srgbClr val="FFFFFF"/>
          </a:solidFill>
          <a:ln w="6350">
            <a:solidFill>
              <a:srgbClr val="3A3A3A"/>
            </a:solidFill>
            <a:prstDash val="solid"/>
          </a:ln>
        </p:spPr>
        <p:txBody>
          <a:bodyPr/>
          <a:lstStyle/>
          <a:p>
            <a:endParaRPr lang="fr-FR"/>
          </a:p>
        </p:txBody>
      </p:sp>
      <p:sp>
        <p:nvSpPr>
          <p:cNvPr id="30" name="Text 28"/>
          <p:cNvSpPr/>
          <p:nvPr/>
        </p:nvSpPr>
        <p:spPr>
          <a:xfrm>
            <a:off x="3657600" y="1792224"/>
            <a:ext cx="1563624" cy="365760"/>
          </a:xfrm>
          <a:prstGeom prst="rect">
            <a:avLst/>
          </a:prstGeom>
          <a:noFill/>
          <a:ln/>
        </p:spPr>
        <p:txBody>
          <a:bodyPr wrap="square" rtlCol="0" anchor="ctr"/>
          <a:lstStyle/>
          <a:p>
            <a:pPr marL="0" indent="0" algn="ctr">
              <a:buNone/>
            </a:pPr>
            <a:r>
              <a:rPr lang="en-US" sz="800" dirty="0">
                <a:solidFill>
                  <a:srgbClr val="3A3A3A"/>
                </a:solidFill>
                <a:latin typeface="Calibri" pitchFamily="34" charset="0"/>
                <a:ea typeface="Calibri" pitchFamily="34" charset="-122"/>
                <a:cs typeface="Calibri" pitchFamily="34" charset="-120"/>
              </a:rPr>
              <a:t>3 chambres</a:t>
            </a:r>
            <a:endParaRPr lang="en-US" sz="800" dirty="0"/>
          </a:p>
          <a:p>
            <a:pPr marL="0" indent="0" algn="ctr">
              <a:buNone/>
            </a:pPr>
            <a:r>
              <a:rPr lang="en-US" sz="800" dirty="0">
                <a:solidFill>
                  <a:srgbClr val="3A3A3A"/>
                </a:solidFill>
                <a:latin typeface="Calibri" pitchFamily="34" charset="0"/>
                <a:ea typeface="Calibri" pitchFamily="34" charset="-122"/>
                <a:cs typeface="Calibri" pitchFamily="34" charset="-120"/>
              </a:rPr>
              <a:t>civiles</a:t>
            </a:r>
            <a:endParaRPr lang="en-US" sz="800" dirty="0"/>
          </a:p>
        </p:txBody>
      </p:sp>
      <p:sp>
        <p:nvSpPr>
          <p:cNvPr id="31" name="Shape 29"/>
          <p:cNvSpPr/>
          <p:nvPr/>
        </p:nvSpPr>
        <p:spPr>
          <a:xfrm>
            <a:off x="5257800" y="1792224"/>
            <a:ext cx="1472184" cy="365760"/>
          </a:xfrm>
          <a:prstGeom prst="rect">
            <a:avLst/>
          </a:prstGeom>
          <a:solidFill>
            <a:srgbClr val="FFFFFF"/>
          </a:solidFill>
          <a:ln w="6350">
            <a:solidFill>
              <a:srgbClr val="3A3A3A"/>
            </a:solidFill>
            <a:prstDash val="solid"/>
          </a:ln>
        </p:spPr>
        <p:txBody>
          <a:bodyPr/>
          <a:lstStyle/>
          <a:p>
            <a:endParaRPr lang="fr-FR"/>
          </a:p>
        </p:txBody>
      </p:sp>
      <p:sp>
        <p:nvSpPr>
          <p:cNvPr id="32" name="Text 30"/>
          <p:cNvSpPr/>
          <p:nvPr/>
        </p:nvSpPr>
        <p:spPr>
          <a:xfrm>
            <a:off x="5257800" y="1792224"/>
            <a:ext cx="1472184" cy="365760"/>
          </a:xfrm>
          <a:prstGeom prst="rect">
            <a:avLst/>
          </a:prstGeom>
          <a:noFill/>
          <a:ln/>
        </p:spPr>
        <p:txBody>
          <a:bodyPr wrap="square" rtlCol="0" anchor="ctr"/>
          <a:lstStyle/>
          <a:p>
            <a:pPr marL="0" indent="0" algn="ctr">
              <a:buNone/>
            </a:pPr>
            <a:r>
              <a:rPr lang="en-US" sz="800" dirty="0">
                <a:solidFill>
                  <a:srgbClr val="3A3A3A"/>
                </a:solidFill>
                <a:latin typeface="Calibri" pitchFamily="34" charset="0"/>
                <a:ea typeface="Calibri" pitchFamily="34" charset="-122"/>
                <a:cs typeface="Calibri" pitchFamily="34" charset="-120"/>
              </a:rPr>
              <a:t>Criminelle</a:t>
            </a:r>
            <a:endParaRPr lang="en-US" sz="800" dirty="0"/>
          </a:p>
        </p:txBody>
      </p:sp>
      <p:sp>
        <p:nvSpPr>
          <p:cNvPr id="33" name="Shape 31"/>
          <p:cNvSpPr/>
          <p:nvPr/>
        </p:nvSpPr>
        <p:spPr>
          <a:xfrm>
            <a:off x="1005840" y="1773936"/>
            <a:ext cx="0" cy="18288"/>
          </a:xfrm>
          <a:prstGeom prst="line">
            <a:avLst/>
          </a:prstGeom>
          <a:noFill/>
          <a:ln w="12700">
            <a:solidFill>
              <a:srgbClr val="3A3A3A"/>
            </a:solidFill>
            <a:prstDash val="solid"/>
          </a:ln>
        </p:spPr>
        <p:txBody>
          <a:bodyPr/>
          <a:lstStyle/>
          <a:p>
            <a:endParaRPr lang="fr-FR"/>
          </a:p>
        </p:txBody>
      </p:sp>
      <p:sp>
        <p:nvSpPr>
          <p:cNvPr id="34" name="Text 32"/>
          <p:cNvSpPr/>
          <p:nvPr/>
        </p:nvSpPr>
        <p:spPr>
          <a:xfrm>
            <a:off x="932688" y="1737360"/>
            <a:ext cx="201168" cy="164592"/>
          </a:xfrm>
          <a:prstGeom prst="rect">
            <a:avLst/>
          </a:prstGeom>
          <a:noFill/>
          <a:ln/>
        </p:spPr>
        <p:txBody>
          <a:bodyPr wrap="square" rtlCol="0" anchor="ctr"/>
          <a:lstStyle/>
          <a:p>
            <a:pPr marL="0" indent="0" algn="ctr">
              <a:buNone/>
            </a:pPr>
            <a:r>
              <a:rPr lang="en-US" sz="700" dirty="0">
                <a:solidFill>
                  <a:srgbClr val="3A3A3A"/>
                </a:solidFill>
                <a:latin typeface="Calibri" pitchFamily="34" charset="0"/>
                <a:ea typeface="Calibri" pitchFamily="34" charset="-122"/>
                <a:cs typeface="Calibri" pitchFamily="34" charset="-120"/>
              </a:rPr>
              <a:t>▲</a:t>
            </a:r>
            <a:endParaRPr lang="en-US" sz="700" dirty="0"/>
          </a:p>
        </p:txBody>
      </p:sp>
      <p:sp>
        <p:nvSpPr>
          <p:cNvPr id="35" name="Shape 33"/>
          <p:cNvSpPr/>
          <p:nvPr/>
        </p:nvSpPr>
        <p:spPr>
          <a:xfrm>
            <a:off x="1005840" y="1792224"/>
            <a:ext cx="914" cy="0"/>
          </a:xfrm>
          <a:prstGeom prst="line">
            <a:avLst/>
          </a:prstGeom>
          <a:noFill/>
          <a:ln w="10160">
            <a:solidFill>
              <a:srgbClr val="3A3A3A"/>
            </a:solidFill>
            <a:prstDash val="solid"/>
          </a:ln>
        </p:spPr>
        <p:txBody>
          <a:bodyPr/>
          <a:lstStyle/>
          <a:p>
            <a:endParaRPr lang="fr-FR"/>
          </a:p>
        </p:txBody>
      </p:sp>
      <p:sp>
        <p:nvSpPr>
          <p:cNvPr id="36" name="Shape 34"/>
          <p:cNvSpPr/>
          <p:nvPr/>
        </p:nvSpPr>
        <p:spPr>
          <a:xfrm>
            <a:off x="1737360" y="1773936"/>
            <a:ext cx="0" cy="18288"/>
          </a:xfrm>
          <a:prstGeom prst="line">
            <a:avLst/>
          </a:prstGeom>
          <a:noFill/>
          <a:ln w="12700">
            <a:solidFill>
              <a:srgbClr val="3A3A3A"/>
            </a:solidFill>
            <a:prstDash val="solid"/>
          </a:ln>
        </p:spPr>
        <p:txBody>
          <a:bodyPr/>
          <a:lstStyle/>
          <a:p>
            <a:endParaRPr lang="fr-FR"/>
          </a:p>
        </p:txBody>
      </p:sp>
      <p:sp>
        <p:nvSpPr>
          <p:cNvPr id="37" name="Text 35"/>
          <p:cNvSpPr/>
          <p:nvPr/>
        </p:nvSpPr>
        <p:spPr>
          <a:xfrm>
            <a:off x="1664208" y="1737360"/>
            <a:ext cx="201168" cy="164592"/>
          </a:xfrm>
          <a:prstGeom prst="rect">
            <a:avLst/>
          </a:prstGeom>
          <a:noFill/>
          <a:ln/>
        </p:spPr>
        <p:txBody>
          <a:bodyPr wrap="square" rtlCol="0" anchor="ctr"/>
          <a:lstStyle/>
          <a:p>
            <a:pPr marL="0" indent="0" algn="ctr">
              <a:buNone/>
            </a:pPr>
            <a:r>
              <a:rPr lang="en-US" sz="700" dirty="0">
                <a:solidFill>
                  <a:srgbClr val="3A3A3A"/>
                </a:solidFill>
                <a:latin typeface="Calibri" pitchFamily="34" charset="0"/>
                <a:ea typeface="Calibri" pitchFamily="34" charset="-122"/>
                <a:cs typeface="Calibri" pitchFamily="34" charset="-120"/>
              </a:rPr>
              <a:t>▲</a:t>
            </a:r>
            <a:endParaRPr lang="en-US" sz="700" dirty="0"/>
          </a:p>
        </p:txBody>
      </p:sp>
      <p:sp>
        <p:nvSpPr>
          <p:cNvPr id="38" name="Shape 36"/>
          <p:cNvSpPr/>
          <p:nvPr/>
        </p:nvSpPr>
        <p:spPr>
          <a:xfrm>
            <a:off x="1737360" y="1792224"/>
            <a:ext cx="914" cy="0"/>
          </a:xfrm>
          <a:prstGeom prst="line">
            <a:avLst/>
          </a:prstGeom>
          <a:noFill/>
          <a:ln w="10160">
            <a:solidFill>
              <a:srgbClr val="3A3A3A"/>
            </a:solidFill>
            <a:prstDash val="solid"/>
          </a:ln>
        </p:spPr>
        <p:txBody>
          <a:bodyPr/>
          <a:lstStyle/>
          <a:p>
            <a:endParaRPr lang="fr-FR"/>
          </a:p>
        </p:txBody>
      </p:sp>
      <p:sp>
        <p:nvSpPr>
          <p:cNvPr id="39" name="Shape 37"/>
          <p:cNvSpPr/>
          <p:nvPr/>
        </p:nvSpPr>
        <p:spPr>
          <a:xfrm>
            <a:off x="2514600" y="1773936"/>
            <a:ext cx="0" cy="18288"/>
          </a:xfrm>
          <a:prstGeom prst="line">
            <a:avLst/>
          </a:prstGeom>
          <a:noFill/>
          <a:ln w="12700">
            <a:solidFill>
              <a:srgbClr val="3A3A3A"/>
            </a:solidFill>
            <a:prstDash val="solid"/>
          </a:ln>
        </p:spPr>
        <p:txBody>
          <a:bodyPr/>
          <a:lstStyle/>
          <a:p>
            <a:endParaRPr lang="fr-FR"/>
          </a:p>
        </p:txBody>
      </p:sp>
      <p:sp>
        <p:nvSpPr>
          <p:cNvPr id="40" name="Text 38"/>
          <p:cNvSpPr/>
          <p:nvPr/>
        </p:nvSpPr>
        <p:spPr>
          <a:xfrm>
            <a:off x="2441448" y="1737360"/>
            <a:ext cx="201168" cy="164592"/>
          </a:xfrm>
          <a:prstGeom prst="rect">
            <a:avLst/>
          </a:prstGeom>
          <a:noFill/>
          <a:ln/>
        </p:spPr>
        <p:txBody>
          <a:bodyPr wrap="square" rtlCol="0" anchor="ctr"/>
          <a:lstStyle/>
          <a:p>
            <a:pPr marL="0" indent="0" algn="ctr">
              <a:buNone/>
            </a:pPr>
            <a:r>
              <a:rPr lang="en-US" sz="700" dirty="0">
                <a:solidFill>
                  <a:srgbClr val="3A3A3A"/>
                </a:solidFill>
                <a:latin typeface="Calibri" pitchFamily="34" charset="0"/>
                <a:ea typeface="Calibri" pitchFamily="34" charset="-122"/>
                <a:cs typeface="Calibri" pitchFamily="34" charset="-120"/>
              </a:rPr>
              <a:t>▲</a:t>
            </a:r>
            <a:endParaRPr lang="en-US" sz="700" dirty="0"/>
          </a:p>
        </p:txBody>
      </p:sp>
      <p:sp>
        <p:nvSpPr>
          <p:cNvPr id="41" name="Shape 39"/>
          <p:cNvSpPr/>
          <p:nvPr/>
        </p:nvSpPr>
        <p:spPr>
          <a:xfrm>
            <a:off x="2514600" y="1792224"/>
            <a:ext cx="914" cy="0"/>
          </a:xfrm>
          <a:prstGeom prst="line">
            <a:avLst/>
          </a:prstGeom>
          <a:noFill/>
          <a:ln w="10160">
            <a:solidFill>
              <a:srgbClr val="3A3A3A"/>
            </a:solidFill>
            <a:prstDash val="solid"/>
          </a:ln>
        </p:spPr>
        <p:txBody>
          <a:bodyPr/>
          <a:lstStyle/>
          <a:p>
            <a:endParaRPr lang="fr-FR"/>
          </a:p>
        </p:txBody>
      </p:sp>
      <p:sp>
        <p:nvSpPr>
          <p:cNvPr id="42" name="Shape 40"/>
          <p:cNvSpPr/>
          <p:nvPr/>
        </p:nvSpPr>
        <p:spPr>
          <a:xfrm>
            <a:off x="3474720" y="1773936"/>
            <a:ext cx="0" cy="18288"/>
          </a:xfrm>
          <a:prstGeom prst="line">
            <a:avLst/>
          </a:prstGeom>
          <a:noFill/>
          <a:ln w="12700">
            <a:solidFill>
              <a:srgbClr val="3A3A3A"/>
            </a:solidFill>
            <a:prstDash val="solid"/>
          </a:ln>
        </p:spPr>
        <p:txBody>
          <a:bodyPr/>
          <a:lstStyle/>
          <a:p>
            <a:endParaRPr lang="fr-FR"/>
          </a:p>
        </p:txBody>
      </p:sp>
      <p:sp>
        <p:nvSpPr>
          <p:cNvPr id="43" name="Text 41"/>
          <p:cNvSpPr/>
          <p:nvPr/>
        </p:nvSpPr>
        <p:spPr>
          <a:xfrm>
            <a:off x="3401568" y="1737360"/>
            <a:ext cx="201168" cy="164592"/>
          </a:xfrm>
          <a:prstGeom prst="rect">
            <a:avLst/>
          </a:prstGeom>
          <a:noFill/>
          <a:ln/>
        </p:spPr>
        <p:txBody>
          <a:bodyPr wrap="square" rtlCol="0" anchor="ctr"/>
          <a:lstStyle/>
          <a:p>
            <a:pPr marL="0" indent="0" algn="ctr">
              <a:buNone/>
            </a:pPr>
            <a:r>
              <a:rPr lang="en-US" sz="700" dirty="0">
                <a:solidFill>
                  <a:srgbClr val="3A3A3A"/>
                </a:solidFill>
                <a:latin typeface="Calibri" pitchFamily="34" charset="0"/>
                <a:ea typeface="Calibri" pitchFamily="34" charset="-122"/>
                <a:cs typeface="Calibri" pitchFamily="34" charset="-120"/>
              </a:rPr>
              <a:t>▲</a:t>
            </a:r>
            <a:endParaRPr lang="en-US" sz="700" dirty="0"/>
          </a:p>
        </p:txBody>
      </p:sp>
      <p:sp>
        <p:nvSpPr>
          <p:cNvPr id="44" name="Shape 42"/>
          <p:cNvSpPr/>
          <p:nvPr/>
        </p:nvSpPr>
        <p:spPr>
          <a:xfrm>
            <a:off x="3474720" y="1792224"/>
            <a:ext cx="914" cy="0"/>
          </a:xfrm>
          <a:prstGeom prst="line">
            <a:avLst/>
          </a:prstGeom>
          <a:noFill/>
          <a:ln w="10160">
            <a:solidFill>
              <a:srgbClr val="3A3A3A"/>
            </a:solidFill>
            <a:prstDash val="solid"/>
          </a:ln>
        </p:spPr>
        <p:txBody>
          <a:bodyPr/>
          <a:lstStyle/>
          <a:p>
            <a:endParaRPr lang="fr-FR"/>
          </a:p>
        </p:txBody>
      </p:sp>
      <p:sp>
        <p:nvSpPr>
          <p:cNvPr id="45" name="Shape 43"/>
          <p:cNvSpPr/>
          <p:nvPr/>
        </p:nvSpPr>
        <p:spPr>
          <a:xfrm>
            <a:off x="804672" y="2322576"/>
            <a:ext cx="5577840" cy="256032"/>
          </a:xfrm>
          <a:prstGeom prst="rect">
            <a:avLst/>
          </a:prstGeom>
          <a:solidFill>
            <a:srgbClr val="E07020"/>
          </a:solidFill>
          <a:ln w="12700">
            <a:solidFill>
              <a:srgbClr val="E07020"/>
            </a:solidFill>
            <a:prstDash val="solid"/>
          </a:ln>
        </p:spPr>
        <p:txBody>
          <a:bodyPr/>
          <a:lstStyle/>
          <a:p>
            <a:endParaRPr lang="fr-FR"/>
          </a:p>
        </p:txBody>
      </p:sp>
      <p:sp>
        <p:nvSpPr>
          <p:cNvPr id="46" name="Text 44"/>
          <p:cNvSpPr/>
          <p:nvPr/>
        </p:nvSpPr>
        <p:spPr>
          <a:xfrm>
            <a:off x="804672" y="2322576"/>
            <a:ext cx="5577840" cy="25603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Cour d'appel : chambres</a:t>
            </a:r>
            <a:endParaRPr lang="en-US" sz="950" dirty="0"/>
          </a:p>
        </p:txBody>
      </p:sp>
      <p:sp>
        <p:nvSpPr>
          <p:cNvPr id="47" name="Shape 45"/>
          <p:cNvSpPr/>
          <p:nvPr/>
        </p:nvSpPr>
        <p:spPr>
          <a:xfrm>
            <a:off x="822960" y="2596896"/>
            <a:ext cx="1289304" cy="347472"/>
          </a:xfrm>
          <a:prstGeom prst="rect">
            <a:avLst/>
          </a:prstGeom>
          <a:solidFill>
            <a:srgbClr val="FFFFFF"/>
          </a:solidFill>
          <a:ln w="6350">
            <a:solidFill>
              <a:srgbClr val="3A3A3A"/>
            </a:solidFill>
            <a:prstDash val="solid"/>
          </a:ln>
        </p:spPr>
        <p:txBody>
          <a:bodyPr/>
          <a:lstStyle/>
          <a:p>
            <a:endParaRPr lang="fr-FR"/>
          </a:p>
        </p:txBody>
      </p:sp>
      <p:sp>
        <p:nvSpPr>
          <p:cNvPr id="48" name="Text 46"/>
          <p:cNvSpPr/>
          <p:nvPr/>
        </p:nvSpPr>
        <p:spPr>
          <a:xfrm>
            <a:off x="822960" y="2596896"/>
            <a:ext cx="1289304" cy="347472"/>
          </a:xfrm>
          <a:prstGeom prst="rect">
            <a:avLst/>
          </a:prstGeom>
          <a:noFill/>
          <a:ln/>
        </p:spPr>
        <p:txBody>
          <a:bodyPr wrap="square" rtlCol="0" anchor="ctr"/>
          <a:lstStyle/>
          <a:p>
            <a:pPr marL="0" indent="0" algn="ctr">
              <a:buNone/>
            </a:pPr>
            <a:r>
              <a:rPr lang="en-US" sz="800" dirty="0">
                <a:solidFill>
                  <a:srgbClr val="3A3A3A"/>
                </a:solidFill>
                <a:latin typeface="Calibri" pitchFamily="34" charset="0"/>
                <a:ea typeface="Calibri" pitchFamily="34" charset="-122"/>
                <a:cs typeface="Calibri" pitchFamily="34" charset="-120"/>
              </a:rPr>
              <a:t>Sociale</a:t>
            </a:r>
            <a:endParaRPr lang="en-US" sz="800" dirty="0"/>
          </a:p>
        </p:txBody>
      </p:sp>
      <p:sp>
        <p:nvSpPr>
          <p:cNvPr id="49" name="Shape 47"/>
          <p:cNvSpPr/>
          <p:nvPr/>
        </p:nvSpPr>
        <p:spPr>
          <a:xfrm>
            <a:off x="2148840" y="2596896"/>
            <a:ext cx="1380744" cy="347472"/>
          </a:xfrm>
          <a:prstGeom prst="rect">
            <a:avLst/>
          </a:prstGeom>
          <a:solidFill>
            <a:srgbClr val="FFFFFF"/>
          </a:solidFill>
          <a:ln w="6350">
            <a:solidFill>
              <a:srgbClr val="3A3A3A"/>
            </a:solidFill>
            <a:prstDash val="solid"/>
          </a:ln>
        </p:spPr>
        <p:txBody>
          <a:bodyPr/>
          <a:lstStyle/>
          <a:p>
            <a:endParaRPr lang="fr-FR"/>
          </a:p>
        </p:txBody>
      </p:sp>
      <p:sp>
        <p:nvSpPr>
          <p:cNvPr id="50" name="Text 48"/>
          <p:cNvSpPr/>
          <p:nvPr/>
        </p:nvSpPr>
        <p:spPr>
          <a:xfrm>
            <a:off x="2148840" y="2596896"/>
            <a:ext cx="1380744" cy="347472"/>
          </a:xfrm>
          <a:prstGeom prst="rect">
            <a:avLst/>
          </a:prstGeom>
          <a:noFill/>
          <a:ln/>
        </p:spPr>
        <p:txBody>
          <a:bodyPr wrap="square" rtlCol="0" anchor="ctr"/>
          <a:lstStyle/>
          <a:p>
            <a:pPr marL="0" indent="0" algn="ctr">
              <a:buNone/>
            </a:pPr>
            <a:r>
              <a:rPr lang="en-US" sz="800" dirty="0">
                <a:solidFill>
                  <a:srgbClr val="3A3A3A"/>
                </a:solidFill>
                <a:latin typeface="Calibri" pitchFamily="34" charset="0"/>
                <a:ea typeface="Calibri" pitchFamily="34" charset="-122"/>
                <a:cs typeface="Calibri" pitchFamily="34" charset="-120"/>
              </a:rPr>
              <a:t>Commerciale</a:t>
            </a:r>
            <a:endParaRPr lang="en-US" sz="800" dirty="0"/>
          </a:p>
        </p:txBody>
      </p:sp>
      <p:sp>
        <p:nvSpPr>
          <p:cNvPr id="51" name="Shape 49"/>
          <p:cNvSpPr/>
          <p:nvPr/>
        </p:nvSpPr>
        <p:spPr>
          <a:xfrm>
            <a:off x="3566160" y="2596896"/>
            <a:ext cx="1380744" cy="347472"/>
          </a:xfrm>
          <a:prstGeom prst="rect">
            <a:avLst/>
          </a:prstGeom>
          <a:solidFill>
            <a:srgbClr val="FFFFFF"/>
          </a:solidFill>
          <a:ln w="6350">
            <a:solidFill>
              <a:srgbClr val="3A3A3A"/>
            </a:solidFill>
            <a:prstDash val="solid"/>
          </a:ln>
        </p:spPr>
        <p:txBody>
          <a:bodyPr/>
          <a:lstStyle/>
          <a:p>
            <a:endParaRPr lang="fr-FR"/>
          </a:p>
        </p:txBody>
      </p:sp>
      <p:sp>
        <p:nvSpPr>
          <p:cNvPr id="52" name="Text 50"/>
          <p:cNvSpPr/>
          <p:nvPr/>
        </p:nvSpPr>
        <p:spPr>
          <a:xfrm>
            <a:off x="3566160" y="2596896"/>
            <a:ext cx="1380744" cy="347472"/>
          </a:xfrm>
          <a:prstGeom prst="rect">
            <a:avLst/>
          </a:prstGeom>
          <a:noFill/>
          <a:ln/>
        </p:spPr>
        <p:txBody>
          <a:bodyPr wrap="square" rtlCol="0" anchor="ctr"/>
          <a:lstStyle/>
          <a:p>
            <a:pPr marL="0" indent="0" algn="ctr">
              <a:buNone/>
            </a:pPr>
            <a:r>
              <a:rPr lang="en-US" sz="800" dirty="0">
                <a:solidFill>
                  <a:srgbClr val="3A3A3A"/>
                </a:solidFill>
                <a:latin typeface="Calibri" pitchFamily="34" charset="0"/>
                <a:ea typeface="Calibri" pitchFamily="34" charset="-122"/>
                <a:cs typeface="Calibri" pitchFamily="34" charset="-120"/>
              </a:rPr>
              <a:t>Civile</a:t>
            </a:r>
            <a:endParaRPr lang="en-US" sz="800" dirty="0"/>
          </a:p>
        </p:txBody>
      </p:sp>
      <p:sp>
        <p:nvSpPr>
          <p:cNvPr id="53" name="Shape 51"/>
          <p:cNvSpPr/>
          <p:nvPr/>
        </p:nvSpPr>
        <p:spPr>
          <a:xfrm>
            <a:off x="4983480" y="2596896"/>
            <a:ext cx="1335024" cy="347472"/>
          </a:xfrm>
          <a:prstGeom prst="rect">
            <a:avLst/>
          </a:prstGeom>
          <a:solidFill>
            <a:srgbClr val="FFFFFF"/>
          </a:solidFill>
          <a:ln w="6350">
            <a:solidFill>
              <a:srgbClr val="3A3A3A"/>
            </a:solidFill>
            <a:prstDash val="solid"/>
          </a:ln>
        </p:spPr>
        <p:txBody>
          <a:bodyPr/>
          <a:lstStyle/>
          <a:p>
            <a:endParaRPr lang="fr-FR"/>
          </a:p>
        </p:txBody>
      </p:sp>
      <p:sp>
        <p:nvSpPr>
          <p:cNvPr id="54" name="Text 52"/>
          <p:cNvSpPr/>
          <p:nvPr/>
        </p:nvSpPr>
        <p:spPr>
          <a:xfrm>
            <a:off x="4983480" y="2596896"/>
            <a:ext cx="1335024" cy="347472"/>
          </a:xfrm>
          <a:prstGeom prst="rect">
            <a:avLst/>
          </a:prstGeom>
          <a:noFill/>
          <a:ln/>
        </p:spPr>
        <p:txBody>
          <a:bodyPr wrap="square" rtlCol="0" anchor="ctr"/>
          <a:lstStyle/>
          <a:p>
            <a:pPr marL="0" indent="0" algn="ctr">
              <a:buNone/>
            </a:pPr>
            <a:r>
              <a:rPr lang="en-US" sz="800" dirty="0">
                <a:solidFill>
                  <a:srgbClr val="3A3A3A"/>
                </a:solidFill>
                <a:latin typeface="Calibri" pitchFamily="34" charset="0"/>
                <a:ea typeface="Calibri" pitchFamily="34" charset="-122"/>
                <a:cs typeface="Calibri" pitchFamily="34" charset="-120"/>
              </a:rPr>
              <a:t>Correctionnelle</a:t>
            </a:r>
            <a:endParaRPr lang="en-US" sz="800" dirty="0"/>
          </a:p>
        </p:txBody>
      </p:sp>
      <p:sp>
        <p:nvSpPr>
          <p:cNvPr id="55" name="Shape 53"/>
          <p:cNvSpPr/>
          <p:nvPr/>
        </p:nvSpPr>
        <p:spPr>
          <a:xfrm>
            <a:off x="6428232" y="2322576"/>
            <a:ext cx="868680" cy="621792"/>
          </a:xfrm>
          <a:prstGeom prst="rect">
            <a:avLst/>
          </a:prstGeom>
          <a:solidFill>
            <a:srgbClr val="FFB300"/>
          </a:solidFill>
          <a:ln w="12700">
            <a:solidFill>
              <a:srgbClr val="FFB300"/>
            </a:solidFill>
            <a:prstDash val="solid"/>
          </a:ln>
        </p:spPr>
        <p:txBody>
          <a:bodyPr/>
          <a:lstStyle/>
          <a:p>
            <a:endParaRPr lang="fr-FR"/>
          </a:p>
        </p:txBody>
      </p:sp>
      <p:sp>
        <p:nvSpPr>
          <p:cNvPr id="56" name="Text 54"/>
          <p:cNvSpPr/>
          <p:nvPr/>
        </p:nvSpPr>
        <p:spPr>
          <a:xfrm>
            <a:off x="6428232" y="2322576"/>
            <a:ext cx="868680" cy="621792"/>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Cour</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d'assises</a:t>
            </a:r>
            <a:endParaRPr lang="en-US" sz="850" dirty="0"/>
          </a:p>
        </p:txBody>
      </p:sp>
      <p:sp>
        <p:nvSpPr>
          <p:cNvPr id="57" name="Text 55"/>
          <p:cNvSpPr/>
          <p:nvPr/>
        </p:nvSpPr>
        <p:spPr>
          <a:xfrm>
            <a:off x="932688" y="2286000"/>
            <a:ext cx="201168" cy="146304"/>
          </a:xfrm>
          <a:prstGeom prst="rect">
            <a:avLst/>
          </a:prstGeom>
          <a:noFill/>
          <a:ln/>
        </p:spPr>
        <p:txBody>
          <a:bodyPr wrap="square" rtlCol="0" anchor="ctr"/>
          <a:lstStyle/>
          <a:p>
            <a:pPr marL="0" indent="0" algn="ctr">
              <a:buNone/>
            </a:pPr>
            <a:r>
              <a:rPr lang="en-US" sz="650" dirty="0">
                <a:solidFill>
                  <a:srgbClr val="3A3A3A"/>
                </a:solidFill>
                <a:latin typeface="Calibri" pitchFamily="34" charset="0"/>
                <a:ea typeface="Calibri" pitchFamily="34" charset="-122"/>
                <a:cs typeface="Calibri" pitchFamily="34" charset="-120"/>
              </a:rPr>
              <a:t>▲</a:t>
            </a:r>
            <a:endParaRPr lang="en-US" sz="650" dirty="0"/>
          </a:p>
        </p:txBody>
      </p:sp>
      <p:sp>
        <p:nvSpPr>
          <p:cNvPr id="58" name="Text 56"/>
          <p:cNvSpPr/>
          <p:nvPr/>
        </p:nvSpPr>
        <p:spPr>
          <a:xfrm>
            <a:off x="1755648" y="2286000"/>
            <a:ext cx="201168" cy="146304"/>
          </a:xfrm>
          <a:prstGeom prst="rect">
            <a:avLst/>
          </a:prstGeom>
          <a:noFill/>
          <a:ln/>
        </p:spPr>
        <p:txBody>
          <a:bodyPr wrap="square" rtlCol="0" anchor="ctr"/>
          <a:lstStyle/>
          <a:p>
            <a:pPr marL="0" indent="0" algn="ctr">
              <a:buNone/>
            </a:pPr>
            <a:r>
              <a:rPr lang="en-US" sz="650" dirty="0">
                <a:solidFill>
                  <a:srgbClr val="3A3A3A"/>
                </a:solidFill>
                <a:latin typeface="Calibri" pitchFamily="34" charset="0"/>
                <a:ea typeface="Calibri" pitchFamily="34" charset="-122"/>
                <a:cs typeface="Calibri" pitchFamily="34" charset="-120"/>
              </a:rPr>
              <a:t>▲</a:t>
            </a:r>
            <a:endParaRPr lang="en-US" sz="650" dirty="0"/>
          </a:p>
        </p:txBody>
      </p:sp>
      <p:sp>
        <p:nvSpPr>
          <p:cNvPr id="59" name="Text 57"/>
          <p:cNvSpPr/>
          <p:nvPr/>
        </p:nvSpPr>
        <p:spPr>
          <a:xfrm>
            <a:off x="2487168" y="2286000"/>
            <a:ext cx="201168" cy="146304"/>
          </a:xfrm>
          <a:prstGeom prst="rect">
            <a:avLst/>
          </a:prstGeom>
          <a:noFill/>
          <a:ln/>
        </p:spPr>
        <p:txBody>
          <a:bodyPr wrap="square" rtlCol="0" anchor="ctr"/>
          <a:lstStyle/>
          <a:p>
            <a:pPr marL="0" indent="0" algn="ctr">
              <a:buNone/>
            </a:pPr>
            <a:r>
              <a:rPr lang="en-US" sz="650" dirty="0">
                <a:solidFill>
                  <a:srgbClr val="3A3A3A"/>
                </a:solidFill>
                <a:latin typeface="Calibri" pitchFamily="34" charset="0"/>
                <a:ea typeface="Calibri" pitchFamily="34" charset="-122"/>
                <a:cs typeface="Calibri" pitchFamily="34" charset="-120"/>
              </a:rPr>
              <a:t>▲</a:t>
            </a:r>
            <a:endParaRPr lang="en-US" sz="650" dirty="0"/>
          </a:p>
        </p:txBody>
      </p:sp>
      <p:sp>
        <p:nvSpPr>
          <p:cNvPr id="60" name="Text 58"/>
          <p:cNvSpPr/>
          <p:nvPr/>
        </p:nvSpPr>
        <p:spPr>
          <a:xfrm>
            <a:off x="3584448" y="2286000"/>
            <a:ext cx="201168" cy="146304"/>
          </a:xfrm>
          <a:prstGeom prst="rect">
            <a:avLst/>
          </a:prstGeom>
          <a:noFill/>
          <a:ln/>
        </p:spPr>
        <p:txBody>
          <a:bodyPr wrap="square" rtlCol="0" anchor="ctr"/>
          <a:lstStyle/>
          <a:p>
            <a:pPr marL="0" indent="0" algn="ctr">
              <a:buNone/>
            </a:pPr>
            <a:r>
              <a:rPr lang="en-US" sz="650" dirty="0">
                <a:solidFill>
                  <a:srgbClr val="3A3A3A"/>
                </a:solidFill>
                <a:latin typeface="Calibri" pitchFamily="34" charset="0"/>
                <a:ea typeface="Calibri" pitchFamily="34" charset="-122"/>
                <a:cs typeface="Calibri" pitchFamily="34" charset="-120"/>
              </a:rPr>
              <a:t>▲</a:t>
            </a:r>
            <a:endParaRPr lang="en-US" sz="650" dirty="0"/>
          </a:p>
        </p:txBody>
      </p:sp>
      <p:sp>
        <p:nvSpPr>
          <p:cNvPr id="61" name="Shape 59"/>
          <p:cNvSpPr/>
          <p:nvPr/>
        </p:nvSpPr>
        <p:spPr>
          <a:xfrm>
            <a:off x="804672" y="3218688"/>
            <a:ext cx="1353312" cy="658368"/>
          </a:xfrm>
          <a:prstGeom prst="rect">
            <a:avLst/>
          </a:prstGeom>
          <a:solidFill>
            <a:srgbClr val="FFB300"/>
          </a:solidFill>
          <a:ln w="12700">
            <a:solidFill>
              <a:srgbClr val="E09000"/>
            </a:solidFill>
            <a:prstDash val="solid"/>
          </a:ln>
        </p:spPr>
        <p:txBody>
          <a:bodyPr/>
          <a:lstStyle/>
          <a:p>
            <a:endParaRPr lang="fr-FR"/>
          </a:p>
        </p:txBody>
      </p:sp>
      <p:sp>
        <p:nvSpPr>
          <p:cNvPr id="62" name="Text 60"/>
          <p:cNvSpPr/>
          <p:nvPr/>
        </p:nvSpPr>
        <p:spPr>
          <a:xfrm>
            <a:off x="804672" y="3218688"/>
            <a:ext cx="1353312" cy="65836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Conseil de</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Prud'hommes</a:t>
            </a:r>
            <a:endParaRPr lang="en-US" sz="850" dirty="0"/>
          </a:p>
        </p:txBody>
      </p:sp>
      <p:sp>
        <p:nvSpPr>
          <p:cNvPr id="63" name="Shape 61"/>
          <p:cNvSpPr/>
          <p:nvPr/>
        </p:nvSpPr>
        <p:spPr>
          <a:xfrm>
            <a:off x="2194560" y="3218688"/>
            <a:ext cx="1170432" cy="658368"/>
          </a:xfrm>
          <a:prstGeom prst="rect">
            <a:avLst/>
          </a:prstGeom>
          <a:solidFill>
            <a:srgbClr val="FFB300"/>
          </a:solidFill>
          <a:ln w="12700">
            <a:solidFill>
              <a:srgbClr val="E09000"/>
            </a:solidFill>
            <a:prstDash val="solid"/>
          </a:ln>
        </p:spPr>
        <p:txBody>
          <a:bodyPr/>
          <a:lstStyle/>
          <a:p>
            <a:endParaRPr lang="fr-FR"/>
          </a:p>
        </p:txBody>
      </p:sp>
      <p:sp>
        <p:nvSpPr>
          <p:cNvPr id="64" name="Text 62"/>
          <p:cNvSpPr/>
          <p:nvPr/>
        </p:nvSpPr>
        <p:spPr>
          <a:xfrm>
            <a:off x="2194560" y="3218688"/>
            <a:ext cx="1170432" cy="65836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Tribunal de</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commerce</a:t>
            </a:r>
            <a:endParaRPr lang="en-US" sz="850" dirty="0"/>
          </a:p>
        </p:txBody>
      </p:sp>
      <p:sp>
        <p:nvSpPr>
          <p:cNvPr id="65" name="Shape 63"/>
          <p:cNvSpPr/>
          <p:nvPr/>
        </p:nvSpPr>
        <p:spPr>
          <a:xfrm>
            <a:off x="3401568" y="3090672"/>
            <a:ext cx="1170432" cy="786384"/>
          </a:xfrm>
          <a:prstGeom prst="rect">
            <a:avLst/>
          </a:prstGeom>
          <a:solidFill>
            <a:srgbClr val="FFFFFF"/>
          </a:solidFill>
          <a:ln w="10160">
            <a:solidFill>
              <a:srgbClr val="3A3A3A"/>
            </a:solidFill>
            <a:prstDash val="solid"/>
          </a:ln>
        </p:spPr>
        <p:txBody>
          <a:bodyPr/>
          <a:lstStyle/>
          <a:p>
            <a:endParaRPr lang="fr-FR"/>
          </a:p>
        </p:txBody>
      </p:sp>
      <p:sp>
        <p:nvSpPr>
          <p:cNvPr id="66" name="Text 64"/>
          <p:cNvSpPr/>
          <p:nvPr/>
        </p:nvSpPr>
        <p:spPr>
          <a:xfrm>
            <a:off x="3401568" y="3090672"/>
            <a:ext cx="1170432" cy="786384"/>
          </a:xfrm>
          <a:prstGeom prst="rect">
            <a:avLst/>
          </a:prstGeom>
          <a:noFill/>
          <a:ln/>
        </p:spPr>
        <p:txBody>
          <a:bodyPr wrap="square" rtlCol="0" anchor="ctr"/>
          <a:lstStyle/>
          <a:p>
            <a:pPr marL="0" indent="0" algn="ctr">
              <a:buNone/>
            </a:pPr>
            <a:r>
              <a:rPr lang="en-US" sz="850" b="1" dirty="0">
                <a:solidFill>
                  <a:srgbClr val="3A3A3A"/>
                </a:solidFill>
                <a:latin typeface="Calibri" pitchFamily="34" charset="0"/>
                <a:ea typeface="Calibri" pitchFamily="34" charset="-122"/>
                <a:cs typeface="Calibri" pitchFamily="34" charset="-120"/>
              </a:rPr>
              <a:t>Tribunal</a:t>
            </a:r>
            <a:endParaRPr lang="en-US" sz="850" dirty="0"/>
          </a:p>
          <a:p>
            <a:pPr marL="0" indent="0" algn="ctr">
              <a:buNone/>
            </a:pPr>
            <a:r>
              <a:rPr lang="en-US" sz="850" b="1" dirty="0">
                <a:solidFill>
                  <a:srgbClr val="3A3A3A"/>
                </a:solidFill>
                <a:latin typeface="Calibri" pitchFamily="34" charset="0"/>
                <a:ea typeface="Calibri" pitchFamily="34" charset="-122"/>
                <a:cs typeface="Calibri" pitchFamily="34" charset="-120"/>
              </a:rPr>
              <a:t>judiciaire</a:t>
            </a:r>
            <a:endParaRPr lang="en-US" sz="850" dirty="0"/>
          </a:p>
        </p:txBody>
      </p:sp>
      <p:sp>
        <p:nvSpPr>
          <p:cNvPr id="67" name="Shape 65"/>
          <p:cNvSpPr/>
          <p:nvPr/>
        </p:nvSpPr>
        <p:spPr>
          <a:xfrm>
            <a:off x="4608576" y="3090672"/>
            <a:ext cx="1170432" cy="384048"/>
          </a:xfrm>
          <a:prstGeom prst="rect">
            <a:avLst/>
          </a:prstGeom>
          <a:solidFill>
            <a:srgbClr val="FFB300"/>
          </a:solidFill>
          <a:ln w="12700">
            <a:solidFill>
              <a:srgbClr val="E09000"/>
            </a:solidFill>
            <a:prstDash val="solid"/>
          </a:ln>
        </p:spPr>
        <p:txBody>
          <a:bodyPr/>
          <a:lstStyle/>
          <a:p>
            <a:endParaRPr lang="fr-FR"/>
          </a:p>
        </p:txBody>
      </p:sp>
      <p:sp>
        <p:nvSpPr>
          <p:cNvPr id="68" name="Text 66"/>
          <p:cNvSpPr/>
          <p:nvPr/>
        </p:nvSpPr>
        <p:spPr>
          <a:xfrm>
            <a:off x="4608576" y="3090672"/>
            <a:ext cx="1170432" cy="38404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Tribunal correctionnel</a:t>
            </a:r>
            <a:endParaRPr lang="en-US" sz="800" dirty="0"/>
          </a:p>
        </p:txBody>
      </p:sp>
      <p:sp>
        <p:nvSpPr>
          <p:cNvPr id="69" name="Shape 67"/>
          <p:cNvSpPr/>
          <p:nvPr/>
        </p:nvSpPr>
        <p:spPr>
          <a:xfrm>
            <a:off x="4608576" y="3511296"/>
            <a:ext cx="1170432" cy="365760"/>
          </a:xfrm>
          <a:prstGeom prst="rect">
            <a:avLst/>
          </a:prstGeom>
          <a:solidFill>
            <a:srgbClr val="FFB300"/>
          </a:solidFill>
          <a:ln w="12700">
            <a:solidFill>
              <a:srgbClr val="E09000"/>
            </a:solidFill>
            <a:prstDash val="solid"/>
          </a:ln>
        </p:spPr>
        <p:txBody>
          <a:bodyPr/>
          <a:lstStyle/>
          <a:p>
            <a:endParaRPr lang="fr-FR"/>
          </a:p>
        </p:txBody>
      </p:sp>
      <p:sp>
        <p:nvSpPr>
          <p:cNvPr id="70" name="Text 68"/>
          <p:cNvSpPr/>
          <p:nvPr/>
        </p:nvSpPr>
        <p:spPr>
          <a:xfrm>
            <a:off x="4608576" y="3511296"/>
            <a:ext cx="1170432" cy="36576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Tribunal de Police</a:t>
            </a:r>
            <a:endParaRPr lang="en-US" sz="800" dirty="0"/>
          </a:p>
        </p:txBody>
      </p:sp>
      <p:sp>
        <p:nvSpPr>
          <p:cNvPr id="71" name="Shape 69"/>
          <p:cNvSpPr/>
          <p:nvPr/>
        </p:nvSpPr>
        <p:spPr>
          <a:xfrm>
            <a:off x="5806440" y="3090672"/>
            <a:ext cx="576072" cy="786384"/>
          </a:xfrm>
          <a:prstGeom prst="rect">
            <a:avLst/>
          </a:prstGeom>
          <a:solidFill>
            <a:srgbClr val="FFB300"/>
          </a:solidFill>
          <a:ln w="12700">
            <a:solidFill>
              <a:srgbClr val="E09000"/>
            </a:solidFill>
            <a:prstDash val="solid"/>
          </a:ln>
        </p:spPr>
        <p:txBody>
          <a:bodyPr/>
          <a:lstStyle/>
          <a:p>
            <a:endParaRPr lang="fr-FR"/>
          </a:p>
        </p:txBody>
      </p:sp>
      <p:sp>
        <p:nvSpPr>
          <p:cNvPr id="72" name="Text 70"/>
          <p:cNvSpPr/>
          <p:nvPr/>
        </p:nvSpPr>
        <p:spPr>
          <a:xfrm>
            <a:off x="5806440" y="3090672"/>
            <a:ext cx="576072" cy="786384"/>
          </a:xfrm>
          <a:prstGeom prst="rect">
            <a:avLst/>
          </a:prstGeom>
          <a:noFill/>
          <a:ln/>
        </p:spPr>
        <p:txBody>
          <a:bodyPr wrap="square"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Cour</a:t>
            </a:r>
            <a:endParaRPr lang="en-US" sz="750" dirty="0"/>
          </a:p>
          <a:p>
            <a:pPr marL="0" indent="0" algn="ctr">
              <a:buNone/>
            </a:pPr>
            <a:r>
              <a:rPr lang="en-US" sz="750" b="1" dirty="0">
                <a:solidFill>
                  <a:srgbClr val="FFFFFF"/>
                </a:solidFill>
                <a:latin typeface="Calibri" pitchFamily="34" charset="0"/>
                <a:ea typeface="Calibri" pitchFamily="34" charset="-122"/>
                <a:cs typeface="Calibri" pitchFamily="34" charset="-120"/>
              </a:rPr>
              <a:t>d'assises</a:t>
            </a:r>
            <a:endParaRPr lang="en-US" sz="750" dirty="0"/>
          </a:p>
        </p:txBody>
      </p:sp>
      <p:sp>
        <p:nvSpPr>
          <p:cNvPr id="73" name="Text 71"/>
          <p:cNvSpPr/>
          <p:nvPr/>
        </p:nvSpPr>
        <p:spPr>
          <a:xfrm>
            <a:off x="950976" y="2926080"/>
            <a:ext cx="201168" cy="146304"/>
          </a:xfrm>
          <a:prstGeom prst="rect">
            <a:avLst/>
          </a:prstGeom>
          <a:noFill/>
          <a:ln/>
        </p:spPr>
        <p:txBody>
          <a:bodyPr wrap="square" rtlCol="0" anchor="ctr"/>
          <a:lstStyle/>
          <a:p>
            <a:pPr marL="0" indent="0" algn="ctr">
              <a:buNone/>
            </a:pPr>
            <a:r>
              <a:rPr lang="en-US" sz="650" dirty="0">
                <a:solidFill>
                  <a:srgbClr val="3A3A3A"/>
                </a:solidFill>
                <a:latin typeface="Calibri" pitchFamily="34" charset="0"/>
                <a:ea typeface="Calibri" pitchFamily="34" charset="-122"/>
                <a:cs typeface="Calibri" pitchFamily="34" charset="-120"/>
              </a:rPr>
              <a:t>▲</a:t>
            </a:r>
            <a:endParaRPr lang="en-US" sz="650" dirty="0"/>
          </a:p>
        </p:txBody>
      </p:sp>
      <p:sp>
        <p:nvSpPr>
          <p:cNvPr id="74" name="Text 72"/>
          <p:cNvSpPr/>
          <p:nvPr/>
        </p:nvSpPr>
        <p:spPr>
          <a:xfrm>
            <a:off x="2258568" y="2926080"/>
            <a:ext cx="201168" cy="146304"/>
          </a:xfrm>
          <a:prstGeom prst="rect">
            <a:avLst/>
          </a:prstGeom>
          <a:noFill/>
          <a:ln/>
        </p:spPr>
        <p:txBody>
          <a:bodyPr wrap="square" rtlCol="0" anchor="ctr"/>
          <a:lstStyle/>
          <a:p>
            <a:pPr marL="0" indent="0" algn="ctr">
              <a:buNone/>
            </a:pPr>
            <a:r>
              <a:rPr lang="en-US" sz="650" dirty="0">
                <a:solidFill>
                  <a:srgbClr val="3A3A3A"/>
                </a:solidFill>
                <a:latin typeface="Calibri" pitchFamily="34" charset="0"/>
                <a:ea typeface="Calibri" pitchFamily="34" charset="-122"/>
                <a:cs typeface="Calibri" pitchFamily="34" charset="-120"/>
              </a:rPr>
              <a:t>▲</a:t>
            </a:r>
            <a:endParaRPr lang="en-US" sz="650" dirty="0"/>
          </a:p>
        </p:txBody>
      </p:sp>
      <p:sp>
        <p:nvSpPr>
          <p:cNvPr id="75" name="Text 73"/>
          <p:cNvSpPr/>
          <p:nvPr/>
        </p:nvSpPr>
        <p:spPr>
          <a:xfrm>
            <a:off x="3328416" y="2926080"/>
            <a:ext cx="201168" cy="146304"/>
          </a:xfrm>
          <a:prstGeom prst="rect">
            <a:avLst/>
          </a:prstGeom>
          <a:noFill/>
          <a:ln/>
        </p:spPr>
        <p:txBody>
          <a:bodyPr wrap="square" rtlCol="0" anchor="ctr"/>
          <a:lstStyle/>
          <a:p>
            <a:pPr marL="0" indent="0" algn="ctr">
              <a:buNone/>
            </a:pPr>
            <a:r>
              <a:rPr lang="en-US" sz="650" dirty="0">
                <a:solidFill>
                  <a:srgbClr val="3A3A3A"/>
                </a:solidFill>
                <a:latin typeface="Calibri" pitchFamily="34" charset="0"/>
                <a:ea typeface="Calibri" pitchFamily="34" charset="-122"/>
                <a:cs typeface="Calibri" pitchFamily="34" charset="-120"/>
              </a:rPr>
              <a:t>▲</a:t>
            </a:r>
            <a:endParaRPr lang="en-US" sz="650" dirty="0"/>
          </a:p>
        </p:txBody>
      </p:sp>
      <p:sp>
        <p:nvSpPr>
          <p:cNvPr id="76" name="Text 74"/>
          <p:cNvSpPr/>
          <p:nvPr/>
        </p:nvSpPr>
        <p:spPr>
          <a:xfrm>
            <a:off x="5074920" y="2926080"/>
            <a:ext cx="201168" cy="146304"/>
          </a:xfrm>
          <a:prstGeom prst="rect">
            <a:avLst/>
          </a:prstGeom>
          <a:noFill/>
          <a:ln/>
        </p:spPr>
        <p:txBody>
          <a:bodyPr wrap="square" rtlCol="0" anchor="ctr"/>
          <a:lstStyle/>
          <a:p>
            <a:pPr marL="0" indent="0" algn="ctr">
              <a:buNone/>
            </a:pPr>
            <a:r>
              <a:rPr lang="en-US" sz="650" dirty="0">
                <a:solidFill>
                  <a:srgbClr val="3A3A3A"/>
                </a:solidFill>
                <a:latin typeface="Calibri" pitchFamily="34" charset="0"/>
                <a:ea typeface="Calibri" pitchFamily="34" charset="-122"/>
                <a:cs typeface="Calibri" pitchFamily="34" charset="-120"/>
              </a:rPr>
              <a:t>▲</a:t>
            </a:r>
            <a:endParaRPr lang="en-US" sz="650" dirty="0"/>
          </a:p>
        </p:txBody>
      </p:sp>
      <p:sp>
        <p:nvSpPr>
          <p:cNvPr id="77" name="Shape 75"/>
          <p:cNvSpPr/>
          <p:nvPr/>
        </p:nvSpPr>
        <p:spPr>
          <a:xfrm>
            <a:off x="6858000" y="1499616"/>
            <a:ext cx="2011680" cy="320040"/>
          </a:xfrm>
          <a:prstGeom prst="rect">
            <a:avLst/>
          </a:prstGeom>
          <a:solidFill>
            <a:srgbClr val="1F3D6B"/>
          </a:solidFill>
          <a:ln w="12700">
            <a:solidFill>
              <a:srgbClr val="1F3D6B"/>
            </a:solidFill>
            <a:prstDash val="solid"/>
          </a:ln>
        </p:spPr>
        <p:txBody>
          <a:bodyPr/>
          <a:lstStyle/>
          <a:p>
            <a:endParaRPr lang="fr-FR"/>
          </a:p>
        </p:txBody>
      </p:sp>
      <p:sp>
        <p:nvSpPr>
          <p:cNvPr id="78" name="Text 76"/>
          <p:cNvSpPr/>
          <p:nvPr/>
        </p:nvSpPr>
        <p:spPr>
          <a:xfrm>
            <a:off x="6858000" y="1499616"/>
            <a:ext cx="2011680" cy="32004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Conseil d'État</a:t>
            </a:r>
            <a:endParaRPr lang="en-US" sz="950" dirty="0"/>
          </a:p>
        </p:txBody>
      </p:sp>
      <p:sp>
        <p:nvSpPr>
          <p:cNvPr id="79" name="Shape 77"/>
          <p:cNvSpPr/>
          <p:nvPr/>
        </p:nvSpPr>
        <p:spPr>
          <a:xfrm>
            <a:off x="6858000" y="1837944"/>
            <a:ext cx="2011680" cy="292608"/>
          </a:xfrm>
          <a:prstGeom prst="rect">
            <a:avLst/>
          </a:prstGeom>
          <a:solidFill>
            <a:srgbClr val="DCCBA8"/>
          </a:solidFill>
          <a:ln w="6350">
            <a:solidFill>
              <a:srgbClr val="3A3A3A"/>
            </a:solidFill>
            <a:prstDash val="solid"/>
          </a:ln>
        </p:spPr>
        <p:txBody>
          <a:bodyPr/>
          <a:lstStyle/>
          <a:p>
            <a:endParaRPr lang="fr-FR"/>
          </a:p>
        </p:txBody>
      </p:sp>
      <p:sp>
        <p:nvSpPr>
          <p:cNvPr id="80" name="Text 78"/>
          <p:cNvSpPr/>
          <p:nvPr/>
        </p:nvSpPr>
        <p:spPr>
          <a:xfrm>
            <a:off x="6858000" y="1837944"/>
            <a:ext cx="2011680" cy="292608"/>
          </a:xfrm>
          <a:prstGeom prst="rect">
            <a:avLst/>
          </a:prstGeom>
          <a:noFill/>
          <a:ln/>
        </p:spPr>
        <p:txBody>
          <a:bodyPr wrap="square" rtlCol="0" anchor="ctr"/>
          <a:lstStyle/>
          <a:p>
            <a:pPr marL="0" indent="0" algn="ctr">
              <a:buNone/>
            </a:pPr>
            <a:r>
              <a:rPr lang="en-US" sz="850" dirty="0">
                <a:solidFill>
                  <a:srgbClr val="3A3A3A"/>
                </a:solidFill>
                <a:latin typeface="Calibri" pitchFamily="34" charset="0"/>
                <a:ea typeface="Calibri" pitchFamily="34" charset="-122"/>
                <a:cs typeface="Calibri" pitchFamily="34" charset="-120"/>
              </a:rPr>
              <a:t>Section de contentieux</a:t>
            </a:r>
            <a:endParaRPr lang="en-US" sz="850" dirty="0"/>
          </a:p>
        </p:txBody>
      </p:sp>
      <p:sp>
        <p:nvSpPr>
          <p:cNvPr id="81" name="Text 79"/>
          <p:cNvSpPr/>
          <p:nvPr/>
        </p:nvSpPr>
        <p:spPr>
          <a:xfrm>
            <a:off x="7772400" y="2194560"/>
            <a:ext cx="201168" cy="146304"/>
          </a:xfrm>
          <a:prstGeom prst="rect">
            <a:avLst/>
          </a:prstGeom>
          <a:noFill/>
          <a:ln/>
        </p:spPr>
        <p:txBody>
          <a:bodyPr wrap="square" rtlCol="0" anchor="ctr"/>
          <a:lstStyle/>
          <a:p>
            <a:pPr marL="0" indent="0" algn="ctr">
              <a:buNone/>
            </a:pPr>
            <a:r>
              <a:rPr lang="en-US" sz="650" dirty="0">
                <a:solidFill>
                  <a:srgbClr val="3A3A3A"/>
                </a:solidFill>
                <a:latin typeface="Calibri" pitchFamily="34" charset="0"/>
                <a:ea typeface="Calibri" pitchFamily="34" charset="-122"/>
                <a:cs typeface="Calibri" pitchFamily="34" charset="-120"/>
              </a:rPr>
              <a:t>▲</a:t>
            </a:r>
            <a:endParaRPr lang="en-US" sz="650" dirty="0"/>
          </a:p>
        </p:txBody>
      </p:sp>
      <p:sp>
        <p:nvSpPr>
          <p:cNvPr id="82" name="Shape 80"/>
          <p:cNvSpPr/>
          <p:nvPr/>
        </p:nvSpPr>
        <p:spPr>
          <a:xfrm>
            <a:off x="6858000" y="2359152"/>
            <a:ext cx="2011680" cy="594360"/>
          </a:xfrm>
          <a:prstGeom prst="rect">
            <a:avLst/>
          </a:prstGeom>
          <a:solidFill>
            <a:srgbClr val="5B8DB8"/>
          </a:solidFill>
          <a:ln w="12700">
            <a:solidFill>
              <a:srgbClr val="5B8DB8"/>
            </a:solidFill>
            <a:prstDash val="solid"/>
          </a:ln>
        </p:spPr>
        <p:txBody>
          <a:bodyPr/>
          <a:lstStyle/>
          <a:p>
            <a:endParaRPr lang="fr-FR"/>
          </a:p>
        </p:txBody>
      </p:sp>
      <p:sp>
        <p:nvSpPr>
          <p:cNvPr id="83" name="Text 81"/>
          <p:cNvSpPr/>
          <p:nvPr/>
        </p:nvSpPr>
        <p:spPr>
          <a:xfrm>
            <a:off x="6858000" y="2359152"/>
            <a:ext cx="2011680" cy="59436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Cour administrative</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d'appel</a:t>
            </a:r>
            <a:endParaRPr lang="en-US" sz="900" dirty="0"/>
          </a:p>
        </p:txBody>
      </p:sp>
      <p:sp>
        <p:nvSpPr>
          <p:cNvPr id="84" name="Text 82"/>
          <p:cNvSpPr/>
          <p:nvPr/>
        </p:nvSpPr>
        <p:spPr>
          <a:xfrm>
            <a:off x="7772400" y="3017520"/>
            <a:ext cx="201168" cy="146304"/>
          </a:xfrm>
          <a:prstGeom prst="rect">
            <a:avLst/>
          </a:prstGeom>
          <a:noFill/>
          <a:ln/>
        </p:spPr>
        <p:txBody>
          <a:bodyPr wrap="square" rtlCol="0" anchor="ctr"/>
          <a:lstStyle/>
          <a:p>
            <a:pPr marL="0" indent="0" algn="ctr">
              <a:buNone/>
            </a:pPr>
            <a:r>
              <a:rPr lang="en-US" sz="650" dirty="0">
                <a:solidFill>
                  <a:srgbClr val="3A3A3A"/>
                </a:solidFill>
                <a:latin typeface="Calibri" pitchFamily="34" charset="0"/>
                <a:ea typeface="Calibri" pitchFamily="34" charset="-122"/>
                <a:cs typeface="Calibri" pitchFamily="34" charset="-120"/>
              </a:rPr>
              <a:t>▲</a:t>
            </a:r>
            <a:endParaRPr lang="en-US" sz="650" dirty="0"/>
          </a:p>
        </p:txBody>
      </p:sp>
      <p:sp>
        <p:nvSpPr>
          <p:cNvPr id="85" name="Shape 83"/>
          <p:cNvSpPr/>
          <p:nvPr/>
        </p:nvSpPr>
        <p:spPr>
          <a:xfrm>
            <a:off x="6858000" y="3182112"/>
            <a:ext cx="2011680" cy="594360"/>
          </a:xfrm>
          <a:prstGeom prst="rect">
            <a:avLst/>
          </a:prstGeom>
          <a:solidFill>
            <a:srgbClr val="90B8D8"/>
          </a:solidFill>
          <a:ln w="12700">
            <a:solidFill>
              <a:srgbClr val="90B8D8"/>
            </a:solidFill>
            <a:prstDash val="solid"/>
          </a:ln>
        </p:spPr>
        <p:txBody>
          <a:bodyPr/>
          <a:lstStyle/>
          <a:p>
            <a:endParaRPr lang="fr-FR"/>
          </a:p>
        </p:txBody>
      </p:sp>
      <p:sp>
        <p:nvSpPr>
          <p:cNvPr id="86" name="Text 84"/>
          <p:cNvSpPr/>
          <p:nvPr/>
        </p:nvSpPr>
        <p:spPr>
          <a:xfrm>
            <a:off x="6858000" y="3182112"/>
            <a:ext cx="2011680" cy="59436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Tribunal administratif</a:t>
            </a:r>
            <a:endParaRPr lang="en-US" sz="900" dirty="0"/>
          </a:p>
        </p:txBody>
      </p:sp>
      <p:sp>
        <p:nvSpPr>
          <p:cNvPr id="87" name="Shape 85"/>
          <p:cNvSpPr/>
          <p:nvPr/>
        </p:nvSpPr>
        <p:spPr>
          <a:xfrm>
            <a:off x="0" y="4005072"/>
            <a:ext cx="8869680" cy="411480"/>
          </a:xfrm>
          <a:prstGeom prst="rect">
            <a:avLst/>
          </a:prstGeom>
          <a:solidFill>
            <a:srgbClr val="FFFBEB"/>
          </a:solidFill>
          <a:ln w="19050">
            <a:solidFill>
              <a:srgbClr val="F4A227"/>
            </a:solidFill>
            <a:prstDash val="solid"/>
          </a:ln>
        </p:spPr>
        <p:txBody>
          <a:bodyPr/>
          <a:lstStyle/>
          <a:p>
            <a:endParaRPr lang="fr-FR"/>
          </a:p>
        </p:txBody>
      </p:sp>
      <p:sp>
        <p:nvSpPr>
          <p:cNvPr id="88" name="Shape 86"/>
          <p:cNvSpPr/>
          <p:nvPr/>
        </p:nvSpPr>
        <p:spPr>
          <a:xfrm>
            <a:off x="0" y="4005072"/>
            <a:ext cx="54864" cy="411480"/>
          </a:xfrm>
          <a:prstGeom prst="rect">
            <a:avLst/>
          </a:prstGeom>
          <a:solidFill>
            <a:srgbClr val="F4A227"/>
          </a:solidFill>
          <a:ln w="12700">
            <a:solidFill>
              <a:srgbClr val="F4A227"/>
            </a:solidFill>
            <a:prstDash val="solid"/>
          </a:ln>
        </p:spPr>
        <p:txBody>
          <a:bodyPr/>
          <a:lstStyle/>
          <a:p>
            <a:endParaRPr lang="fr-FR"/>
          </a:p>
        </p:txBody>
      </p:sp>
      <p:sp>
        <p:nvSpPr>
          <p:cNvPr id="89" name="Text 87"/>
          <p:cNvSpPr/>
          <p:nvPr/>
        </p:nvSpPr>
        <p:spPr>
          <a:xfrm>
            <a:off x="109728" y="4005072"/>
            <a:ext cx="8741664" cy="411480"/>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ℹ  En T3P → Contestation retrait carte pro : Tribunal administratif (ordre administratif). Infraction pénale (maraude illégale) : Tribunal correctionnel. Litige salarié/employeur : Conseil de Prud'hommes.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Les juridictions civiles et pénales</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Compétences et rôles — Pertinence pour les conducteurs T3P</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45/88</a:t>
            </a:r>
            <a:endParaRPr lang="en-US" sz="800" dirty="0"/>
          </a:p>
        </p:txBody>
      </p:sp>
      <p:sp>
        <p:nvSpPr>
          <p:cNvPr id="9" name="Shape 7"/>
          <p:cNvSpPr/>
          <p:nvPr/>
        </p:nvSpPr>
        <p:spPr>
          <a:xfrm>
            <a:off x="274320" y="960120"/>
            <a:ext cx="4160520" cy="347472"/>
          </a:xfrm>
          <a:prstGeom prst="rect">
            <a:avLst/>
          </a:prstGeom>
          <a:solidFill>
            <a:srgbClr val="2860A8"/>
          </a:solidFill>
          <a:ln w="12700">
            <a:solidFill>
              <a:srgbClr val="2860A8"/>
            </a:solidFill>
            <a:prstDash val="solid"/>
          </a:ln>
        </p:spPr>
        <p:txBody>
          <a:bodyPr/>
          <a:lstStyle/>
          <a:p>
            <a:endParaRPr lang="fr-FR"/>
          </a:p>
        </p:txBody>
      </p:sp>
      <p:sp>
        <p:nvSpPr>
          <p:cNvPr id="10" name="Text 8"/>
          <p:cNvSpPr/>
          <p:nvPr/>
        </p:nvSpPr>
        <p:spPr>
          <a:xfrm>
            <a:off x="274320" y="960120"/>
            <a:ext cx="4160520"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JURIDICTIONS CIVILES</a:t>
            </a:r>
            <a:endParaRPr lang="en-US" sz="1100" dirty="0"/>
          </a:p>
        </p:txBody>
      </p:sp>
      <p:sp>
        <p:nvSpPr>
          <p:cNvPr id="11" name="Shape 9"/>
          <p:cNvSpPr/>
          <p:nvPr/>
        </p:nvSpPr>
        <p:spPr>
          <a:xfrm>
            <a:off x="274320" y="1389888"/>
            <a:ext cx="4160520" cy="822960"/>
          </a:xfrm>
          <a:prstGeom prst="rect">
            <a:avLst/>
          </a:prstGeom>
          <a:solidFill>
            <a:srgbClr val="E8F1FA"/>
          </a:solidFill>
          <a:ln w="6350">
            <a:solidFill>
              <a:srgbClr val="D0DCE8"/>
            </a:solidFill>
            <a:prstDash val="solid"/>
          </a:ln>
        </p:spPr>
        <p:txBody>
          <a:bodyPr/>
          <a:lstStyle/>
          <a:p>
            <a:endParaRPr lang="fr-FR"/>
          </a:p>
        </p:txBody>
      </p:sp>
      <p:sp>
        <p:nvSpPr>
          <p:cNvPr id="12" name="Shape 10"/>
          <p:cNvSpPr/>
          <p:nvPr/>
        </p:nvSpPr>
        <p:spPr>
          <a:xfrm>
            <a:off x="274320" y="1389888"/>
            <a:ext cx="4160520" cy="256032"/>
          </a:xfrm>
          <a:prstGeom prst="rect">
            <a:avLst/>
          </a:prstGeom>
          <a:solidFill>
            <a:srgbClr val="2860A8"/>
          </a:solidFill>
          <a:ln w="12700">
            <a:solidFill>
              <a:srgbClr val="2860A8"/>
            </a:solidFill>
            <a:prstDash val="solid"/>
          </a:ln>
        </p:spPr>
        <p:txBody>
          <a:bodyPr/>
          <a:lstStyle/>
          <a:p>
            <a:endParaRPr lang="fr-FR"/>
          </a:p>
        </p:txBody>
      </p:sp>
      <p:sp>
        <p:nvSpPr>
          <p:cNvPr id="13" name="Text 11"/>
          <p:cNvSpPr/>
          <p:nvPr/>
        </p:nvSpPr>
        <p:spPr>
          <a:xfrm>
            <a:off x="347472" y="1389888"/>
            <a:ext cx="4005072"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TRIBUNAL JUDICIAIRE</a:t>
            </a:r>
            <a:endParaRPr lang="en-US" sz="950" dirty="0"/>
          </a:p>
        </p:txBody>
      </p:sp>
      <p:sp>
        <p:nvSpPr>
          <p:cNvPr id="14" name="Text 12"/>
          <p:cNvSpPr/>
          <p:nvPr/>
        </p:nvSpPr>
        <p:spPr>
          <a:xfrm>
            <a:off x="365760" y="1664208"/>
            <a:ext cx="3913632" cy="54864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Issu de la fusion TI + TGI. Compétent pour tous litiges non confiés à un autre tribunal (loyer, divorce, consommation...). N'inflige pas de peines pénales.</a:t>
            </a:r>
            <a:endParaRPr lang="en-US" sz="880" dirty="0"/>
          </a:p>
        </p:txBody>
      </p:sp>
      <p:sp>
        <p:nvSpPr>
          <p:cNvPr id="15" name="Shape 13"/>
          <p:cNvSpPr/>
          <p:nvPr/>
        </p:nvSpPr>
        <p:spPr>
          <a:xfrm>
            <a:off x="274320" y="2286000"/>
            <a:ext cx="4160520" cy="822960"/>
          </a:xfrm>
          <a:prstGeom prst="rect">
            <a:avLst/>
          </a:prstGeom>
          <a:solidFill>
            <a:srgbClr val="E8F1FA"/>
          </a:solidFill>
          <a:ln w="6350">
            <a:solidFill>
              <a:srgbClr val="D0DCE8"/>
            </a:solidFill>
            <a:prstDash val="solid"/>
          </a:ln>
        </p:spPr>
        <p:txBody>
          <a:bodyPr/>
          <a:lstStyle/>
          <a:p>
            <a:endParaRPr lang="fr-FR"/>
          </a:p>
        </p:txBody>
      </p:sp>
      <p:sp>
        <p:nvSpPr>
          <p:cNvPr id="16" name="Shape 14"/>
          <p:cNvSpPr/>
          <p:nvPr/>
        </p:nvSpPr>
        <p:spPr>
          <a:xfrm>
            <a:off x="274320" y="2286000"/>
            <a:ext cx="4160520" cy="256032"/>
          </a:xfrm>
          <a:prstGeom prst="rect">
            <a:avLst/>
          </a:prstGeom>
          <a:solidFill>
            <a:srgbClr val="1A3A5C"/>
          </a:solidFill>
          <a:ln w="12700">
            <a:solidFill>
              <a:srgbClr val="1A3A5C"/>
            </a:solidFill>
            <a:prstDash val="solid"/>
          </a:ln>
        </p:spPr>
        <p:txBody>
          <a:bodyPr/>
          <a:lstStyle/>
          <a:p>
            <a:endParaRPr lang="fr-FR"/>
          </a:p>
        </p:txBody>
      </p:sp>
      <p:sp>
        <p:nvSpPr>
          <p:cNvPr id="17" name="Text 15"/>
          <p:cNvSpPr/>
          <p:nvPr/>
        </p:nvSpPr>
        <p:spPr>
          <a:xfrm>
            <a:off x="347472" y="2286000"/>
            <a:ext cx="4005072"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TRIBUNAL DE COMMERCE</a:t>
            </a:r>
            <a:endParaRPr lang="en-US" sz="950" dirty="0"/>
          </a:p>
        </p:txBody>
      </p:sp>
      <p:sp>
        <p:nvSpPr>
          <p:cNvPr id="18" name="Text 16"/>
          <p:cNvSpPr/>
          <p:nvPr/>
        </p:nvSpPr>
        <p:spPr>
          <a:xfrm>
            <a:off x="365760" y="2560320"/>
            <a:ext cx="3913632" cy="54864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Litiges entre particuliers et commerçants, ou entre commerçants. Accompagne aussi les entreprises en difficulté.</a:t>
            </a:r>
            <a:endParaRPr lang="en-US" sz="880" dirty="0"/>
          </a:p>
        </p:txBody>
      </p:sp>
      <p:sp>
        <p:nvSpPr>
          <p:cNvPr id="19" name="Shape 17"/>
          <p:cNvSpPr/>
          <p:nvPr/>
        </p:nvSpPr>
        <p:spPr>
          <a:xfrm>
            <a:off x="274320" y="3182112"/>
            <a:ext cx="4160520" cy="822960"/>
          </a:xfrm>
          <a:prstGeom prst="rect">
            <a:avLst/>
          </a:prstGeom>
          <a:solidFill>
            <a:srgbClr val="E8F1FA"/>
          </a:solidFill>
          <a:ln w="6350">
            <a:solidFill>
              <a:srgbClr val="D0DCE8"/>
            </a:solidFill>
            <a:prstDash val="solid"/>
          </a:ln>
        </p:spPr>
        <p:txBody>
          <a:bodyPr/>
          <a:lstStyle/>
          <a:p>
            <a:endParaRPr lang="fr-FR"/>
          </a:p>
        </p:txBody>
      </p:sp>
      <p:sp>
        <p:nvSpPr>
          <p:cNvPr id="20" name="Shape 18"/>
          <p:cNvSpPr/>
          <p:nvPr/>
        </p:nvSpPr>
        <p:spPr>
          <a:xfrm>
            <a:off x="274320" y="3182112"/>
            <a:ext cx="4160520" cy="256032"/>
          </a:xfrm>
          <a:prstGeom prst="rect">
            <a:avLst/>
          </a:prstGeom>
          <a:solidFill>
            <a:srgbClr val="5A6E8A"/>
          </a:solidFill>
          <a:ln w="12700">
            <a:solidFill>
              <a:srgbClr val="5A6E8A"/>
            </a:solidFill>
            <a:prstDash val="solid"/>
          </a:ln>
        </p:spPr>
        <p:txBody>
          <a:bodyPr/>
          <a:lstStyle/>
          <a:p>
            <a:endParaRPr lang="fr-FR"/>
          </a:p>
        </p:txBody>
      </p:sp>
      <p:sp>
        <p:nvSpPr>
          <p:cNvPr id="21" name="Text 19"/>
          <p:cNvSpPr/>
          <p:nvPr/>
        </p:nvSpPr>
        <p:spPr>
          <a:xfrm>
            <a:off x="347472" y="3182112"/>
            <a:ext cx="4005072"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CONSEIL DES PRUD'HOMMES</a:t>
            </a:r>
            <a:endParaRPr lang="en-US" sz="950" dirty="0"/>
          </a:p>
        </p:txBody>
      </p:sp>
      <p:sp>
        <p:nvSpPr>
          <p:cNvPr id="22" name="Text 20"/>
          <p:cNvSpPr/>
          <p:nvPr/>
        </p:nvSpPr>
        <p:spPr>
          <a:xfrm>
            <a:off x="365760" y="3456432"/>
            <a:ext cx="3913632" cy="54864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Litiges entre salariés (ou apprentis) et employeurs portant sur le contrat de travail ou d'apprentissage.</a:t>
            </a:r>
            <a:endParaRPr lang="en-US" sz="880" dirty="0"/>
          </a:p>
        </p:txBody>
      </p:sp>
      <p:sp>
        <p:nvSpPr>
          <p:cNvPr id="23" name="Shape 21"/>
          <p:cNvSpPr/>
          <p:nvPr/>
        </p:nvSpPr>
        <p:spPr>
          <a:xfrm>
            <a:off x="274320" y="4078224"/>
            <a:ext cx="4160520" cy="822960"/>
          </a:xfrm>
          <a:prstGeom prst="rect">
            <a:avLst/>
          </a:prstGeom>
          <a:solidFill>
            <a:srgbClr val="E8F1FA"/>
          </a:solidFill>
          <a:ln w="6350">
            <a:solidFill>
              <a:srgbClr val="D0DCE8"/>
            </a:solidFill>
            <a:prstDash val="solid"/>
          </a:ln>
        </p:spPr>
        <p:txBody>
          <a:bodyPr/>
          <a:lstStyle/>
          <a:p>
            <a:endParaRPr lang="fr-FR"/>
          </a:p>
        </p:txBody>
      </p:sp>
      <p:sp>
        <p:nvSpPr>
          <p:cNvPr id="24" name="Shape 22"/>
          <p:cNvSpPr/>
          <p:nvPr/>
        </p:nvSpPr>
        <p:spPr>
          <a:xfrm>
            <a:off x="274320" y="4078224"/>
            <a:ext cx="4160520" cy="256032"/>
          </a:xfrm>
          <a:prstGeom prst="rect">
            <a:avLst/>
          </a:prstGeom>
          <a:solidFill>
            <a:srgbClr val="F4A227"/>
          </a:solidFill>
          <a:ln w="12700">
            <a:solidFill>
              <a:srgbClr val="F4A227"/>
            </a:solidFill>
            <a:prstDash val="solid"/>
          </a:ln>
        </p:spPr>
        <p:txBody>
          <a:bodyPr/>
          <a:lstStyle/>
          <a:p>
            <a:endParaRPr lang="fr-FR"/>
          </a:p>
        </p:txBody>
      </p:sp>
      <p:sp>
        <p:nvSpPr>
          <p:cNvPr id="25" name="Text 23"/>
          <p:cNvSpPr/>
          <p:nvPr/>
        </p:nvSpPr>
        <p:spPr>
          <a:xfrm>
            <a:off x="347472" y="4078224"/>
            <a:ext cx="4005072"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COUR D'APPEL</a:t>
            </a:r>
            <a:endParaRPr lang="en-US" sz="950" dirty="0"/>
          </a:p>
        </p:txBody>
      </p:sp>
      <p:sp>
        <p:nvSpPr>
          <p:cNvPr id="26" name="Text 24"/>
          <p:cNvSpPr/>
          <p:nvPr/>
        </p:nvSpPr>
        <p:spPr>
          <a:xfrm>
            <a:off x="365760" y="4352544"/>
            <a:ext cx="3913632" cy="54864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Réexamine l'affaire si une partie est insatisfaite du 1er jugement. Délai : 1 mois en civil.</a:t>
            </a:r>
            <a:endParaRPr lang="en-US" sz="880" dirty="0"/>
          </a:p>
        </p:txBody>
      </p:sp>
      <p:sp>
        <p:nvSpPr>
          <p:cNvPr id="27" name="Shape 25"/>
          <p:cNvSpPr/>
          <p:nvPr/>
        </p:nvSpPr>
        <p:spPr>
          <a:xfrm>
            <a:off x="4709160" y="960120"/>
            <a:ext cx="4160520" cy="347472"/>
          </a:xfrm>
          <a:prstGeom prst="rect">
            <a:avLst/>
          </a:prstGeom>
          <a:solidFill>
            <a:srgbClr val="C0392B"/>
          </a:solidFill>
          <a:ln w="12700">
            <a:solidFill>
              <a:srgbClr val="C0392B"/>
            </a:solidFill>
            <a:prstDash val="solid"/>
          </a:ln>
        </p:spPr>
        <p:txBody>
          <a:bodyPr/>
          <a:lstStyle/>
          <a:p>
            <a:endParaRPr lang="fr-FR"/>
          </a:p>
        </p:txBody>
      </p:sp>
      <p:sp>
        <p:nvSpPr>
          <p:cNvPr id="28" name="Text 26"/>
          <p:cNvSpPr/>
          <p:nvPr/>
        </p:nvSpPr>
        <p:spPr>
          <a:xfrm>
            <a:off x="4709160" y="960120"/>
            <a:ext cx="4160520"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JURIDICTIONS PÉNALES</a:t>
            </a:r>
            <a:endParaRPr lang="en-US" sz="1100" dirty="0"/>
          </a:p>
        </p:txBody>
      </p:sp>
      <p:sp>
        <p:nvSpPr>
          <p:cNvPr id="29" name="Shape 27"/>
          <p:cNvSpPr/>
          <p:nvPr/>
        </p:nvSpPr>
        <p:spPr>
          <a:xfrm>
            <a:off x="4709160" y="1389888"/>
            <a:ext cx="4160520" cy="822960"/>
          </a:xfrm>
          <a:prstGeom prst="rect">
            <a:avLst/>
          </a:prstGeom>
          <a:solidFill>
            <a:srgbClr val="E8F1FA"/>
          </a:solidFill>
          <a:ln w="6350">
            <a:solidFill>
              <a:srgbClr val="D0DCE8"/>
            </a:solidFill>
            <a:prstDash val="solid"/>
          </a:ln>
        </p:spPr>
        <p:txBody>
          <a:bodyPr/>
          <a:lstStyle/>
          <a:p>
            <a:endParaRPr lang="fr-FR"/>
          </a:p>
        </p:txBody>
      </p:sp>
      <p:sp>
        <p:nvSpPr>
          <p:cNvPr id="30" name="Shape 28"/>
          <p:cNvSpPr/>
          <p:nvPr/>
        </p:nvSpPr>
        <p:spPr>
          <a:xfrm>
            <a:off x="4709160" y="1389888"/>
            <a:ext cx="4160520" cy="256032"/>
          </a:xfrm>
          <a:prstGeom prst="rect">
            <a:avLst/>
          </a:prstGeom>
          <a:solidFill>
            <a:srgbClr val="D4530A"/>
          </a:solidFill>
          <a:ln w="12700">
            <a:solidFill>
              <a:srgbClr val="D4530A"/>
            </a:solidFill>
            <a:prstDash val="solid"/>
          </a:ln>
        </p:spPr>
        <p:txBody>
          <a:bodyPr/>
          <a:lstStyle/>
          <a:p>
            <a:endParaRPr lang="fr-FR"/>
          </a:p>
        </p:txBody>
      </p:sp>
      <p:sp>
        <p:nvSpPr>
          <p:cNvPr id="31" name="Text 29"/>
          <p:cNvSpPr/>
          <p:nvPr/>
        </p:nvSpPr>
        <p:spPr>
          <a:xfrm>
            <a:off x="4782312" y="1389888"/>
            <a:ext cx="4005072"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TRIBUNAL DE POLICE</a:t>
            </a:r>
            <a:endParaRPr lang="en-US" sz="950" dirty="0"/>
          </a:p>
        </p:txBody>
      </p:sp>
      <p:sp>
        <p:nvSpPr>
          <p:cNvPr id="32" name="Text 30"/>
          <p:cNvSpPr/>
          <p:nvPr/>
        </p:nvSpPr>
        <p:spPr>
          <a:xfrm>
            <a:off x="4800600" y="1664208"/>
            <a:ext cx="3913632" cy="54864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Contraventions de 5ème classe passibles d'amende. Siège au tribunal d'instance. 1 juge unique.</a:t>
            </a:r>
            <a:endParaRPr lang="en-US" sz="880" dirty="0"/>
          </a:p>
        </p:txBody>
      </p:sp>
      <p:sp>
        <p:nvSpPr>
          <p:cNvPr id="33" name="Shape 31"/>
          <p:cNvSpPr/>
          <p:nvPr/>
        </p:nvSpPr>
        <p:spPr>
          <a:xfrm>
            <a:off x="4709160" y="2286000"/>
            <a:ext cx="4160520" cy="822960"/>
          </a:xfrm>
          <a:prstGeom prst="rect">
            <a:avLst/>
          </a:prstGeom>
          <a:solidFill>
            <a:srgbClr val="E8F1FA"/>
          </a:solidFill>
          <a:ln w="6350">
            <a:solidFill>
              <a:srgbClr val="D0DCE8"/>
            </a:solidFill>
            <a:prstDash val="solid"/>
          </a:ln>
        </p:spPr>
        <p:txBody>
          <a:bodyPr/>
          <a:lstStyle/>
          <a:p>
            <a:endParaRPr lang="fr-FR"/>
          </a:p>
        </p:txBody>
      </p:sp>
      <p:sp>
        <p:nvSpPr>
          <p:cNvPr id="34" name="Shape 32"/>
          <p:cNvSpPr/>
          <p:nvPr/>
        </p:nvSpPr>
        <p:spPr>
          <a:xfrm>
            <a:off x="4709160" y="2286000"/>
            <a:ext cx="4160520" cy="256032"/>
          </a:xfrm>
          <a:prstGeom prst="rect">
            <a:avLst/>
          </a:prstGeom>
          <a:solidFill>
            <a:srgbClr val="C0392B"/>
          </a:solidFill>
          <a:ln w="12700">
            <a:solidFill>
              <a:srgbClr val="C0392B"/>
            </a:solidFill>
            <a:prstDash val="solid"/>
          </a:ln>
        </p:spPr>
        <p:txBody>
          <a:bodyPr/>
          <a:lstStyle/>
          <a:p>
            <a:endParaRPr lang="fr-FR"/>
          </a:p>
        </p:txBody>
      </p:sp>
      <p:sp>
        <p:nvSpPr>
          <p:cNvPr id="35" name="Text 33"/>
          <p:cNvSpPr/>
          <p:nvPr/>
        </p:nvSpPr>
        <p:spPr>
          <a:xfrm>
            <a:off x="4782312" y="2286000"/>
            <a:ext cx="4005072"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TRIBUNAL CORRECTIONNEL</a:t>
            </a:r>
            <a:endParaRPr lang="en-US" sz="950" dirty="0"/>
          </a:p>
        </p:txBody>
      </p:sp>
      <p:sp>
        <p:nvSpPr>
          <p:cNvPr id="36" name="Text 34"/>
          <p:cNvSpPr/>
          <p:nvPr/>
        </p:nvSpPr>
        <p:spPr>
          <a:xfrm>
            <a:off x="4800600" y="2560320"/>
            <a:ext cx="3913632" cy="54864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Délits passibles d'emprisonnement jusqu'à 10 ans + amendes + peines complémentaires. Compétent pour les délits T3P.</a:t>
            </a:r>
            <a:endParaRPr lang="en-US" sz="880" dirty="0"/>
          </a:p>
        </p:txBody>
      </p:sp>
      <p:sp>
        <p:nvSpPr>
          <p:cNvPr id="37" name="Shape 35"/>
          <p:cNvSpPr/>
          <p:nvPr/>
        </p:nvSpPr>
        <p:spPr>
          <a:xfrm>
            <a:off x="4709160" y="3182112"/>
            <a:ext cx="4160520" cy="822960"/>
          </a:xfrm>
          <a:prstGeom prst="rect">
            <a:avLst/>
          </a:prstGeom>
          <a:solidFill>
            <a:srgbClr val="E8F1FA"/>
          </a:solidFill>
          <a:ln w="6350">
            <a:solidFill>
              <a:srgbClr val="D0DCE8"/>
            </a:solidFill>
            <a:prstDash val="solid"/>
          </a:ln>
        </p:spPr>
        <p:txBody>
          <a:bodyPr/>
          <a:lstStyle/>
          <a:p>
            <a:endParaRPr lang="fr-FR"/>
          </a:p>
        </p:txBody>
      </p:sp>
      <p:sp>
        <p:nvSpPr>
          <p:cNvPr id="38" name="Shape 36"/>
          <p:cNvSpPr/>
          <p:nvPr/>
        </p:nvSpPr>
        <p:spPr>
          <a:xfrm>
            <a:off x="4709160" y="3182112"/>
            <a:ext cx="4160520" cy="256032"/>
          </a:xfrm>
          <a:prstGeom prst="rect">
            <a:avLst/>
          </a:prstGeom>
          <a:solidFill>
            <a:srgbClr val="8B0000"/>
          </a:solidFill>
          <a:ln w="12700">
            <a:solidFill>
              <a:srgbClr val="8B0000"/>
            </a:solidFill>
            <a:prstDash val="solid"/>
          </a:ln>
        </p:spPr>
        <p:txBody>
          <a:bodyPr/>
          <a:lstStyle/>
          <a:p>
            <a:endParaRPr lang="fr-FR"/>
          </a:p>
        </p:txBody>
      </p:sp>
      <p:sp>
        <p:nvSpPr>
          <p:cNvPr id="39" name="Text 37"/>
          <p:cNvSpPr/>
          <p:nvPr/>
        </p:nvSpPr>
        <p:spPr>
          <a:xfrm>
            <a:off x="4782312" y="3182112"/>
            <a:ext cx="4005072"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COUR D'ASSISES</a:t>
            </a:r>
            <a:endParaRPr lang="en-US" sz="950" dirty="0"/>
          </a:p>
        </p:txBody>
      </p:sp>
      <p:sp>
        <p:nvSpPr>
          <p:cNvPr id="40" name="Text 38"/>
          <p:cNvSpPr/>
          <p:nvPr/>
        </p:nvSpPr>
        <p:spPr>
          <a:xfrm>
            <a:off x="4800600" y="3456432"/>
            <a:ext cx="3913632" cy="54864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Crimes (infractions les plus graves) : réclusion jusqu'à la perpétuité (meurtre, viol, vol à main armée...).</a:t>
            </a:r>
            <a:endParaRPr lang="en-US" sz="880" dirty="0"/>
          </a:p>
        </p:txBody>
      </p:sp>
      <p:sp>
        <p:nvSpPr>
          <p:cNvPr id="41" name="Shape 39"/>
          <p:cNvSpPr/>
          <p:nvPr/>
        </p:nvSpPr>
        <p:spPr>
          <a:xfrm>
            <a:off x="4709160" y="4078224"/>
            <a:ext cx="4160520" cy="822960"/>
          </a:xfrm>
          <a:prstGeom prst="rect">
            <a:avLst/>
          </a:prstGeom>
          <a:solidFill>
            <a:srgbClr val="E8F1FA"/>
          </a:solidFill>
          <a:ln w="6350">
            <a:solidFill>
              <a:srgbClr val="D0DCE8"/>
            </a:solidFill>
            <a:prstDash val="solid"/>
          </a:ln>
        </p:spPr>
        <p:txBody>
          <a:bodyPr/>
          <a:lstStyle/>
          <a:p>
            <a:endParaRPr lang="fr-FR"/>
          </a:p>
        </p:txBody>
      </p:sp>
      <p:sp>
        <p:nvSpPr>
          <p:cNvPr id="42" name="Shape 40"/>
          <p:cNvSpPr/>
          <p:nvPr/>
        </p:nvSpPr>
        <p:spPr>
          <a:xfrm>
            <a:off x="4709160" y="4078224"/>
            <a:ext cx="4160520" cy="256032"/>
          </a:xfrm>
          <a:prstGeom prst="rect">
            <a:avLst/>
          </a:prstGeom>
          <a:solidFill>
            <a:srgbClr val="6B7A8D"/>
          </a:solidFill>
          <a:ln w="12700">
            <a:solidFill>
              <a:srgbClr val="6B7A8D"/>
            </a:solidFill>
            <a:prstDash val="solid"/>
          </a:ln>
        </p:spPr>
        <p:txBody>
          <a:bodyPr/>
          <a:lstStyle/>
          <a:p>
            <a:endParaRPr lang="fr-FR"/>
          </a:p>
        </p:txBody>
      </p:sp>
      <p:sp>
        <p:nvSpPr>
          <p:cNvPr id="43" name="Text 41"/>
          <p:cNvSpPr/>
          <p:nvPr/>
        </p:nvSpPr>
        <p:spPr>
          <a:xfrm>
            <a:off x="4782312" y="4078224"/>
            <a:ext cx="4005072"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COUR DE CASSATION</a:t>
            </a:r>
            <a:endParaRPr lang="en-US" sz="950" dirty="0"/>
          </a:p>
        </p:txBody>
      </p:sp>
      <p:sp>
        <p:nvSpPr>
          <p:cNvPr id="44" name="Text 42"/>
          <p:cNvSpPr/>
          <p:nvPr/>
        </p:nvSpPr>
        <p:spPr>
          <a:xfrm>
            <a:off x="4800600" y="4352544"/>
            <a:ext cx="3913632" cy="54864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Ne rejuge PAS l'affaire. Vérifie que la loi a été correctement appliquée. Délai : 10 jours à 2 mois.</a:t>
            </a:r>
            <a:endParaRPr lang="en-US" sz="8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7">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11. Sanctions et voies de recours</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Amendes par classe, délits T3P, délais pour contester</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46/88</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Les classes d'amendes — Barème complet</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Infractions T3P : contraventions de classe 1 à 5</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47/88</a:t>
            </a:r>
            <a:endParaRPr lang="en-US" sz="800" dirty="0"/>
          </a:p>
        </p:txBody>
      </p:sp>
      <p:sp>
        <p:nvSpPr>
          <p:cNvPr id="9" name="Shape 7"/>
          <p:cNvSpPr/>
          <p:nvPr/>
        </p:nvSpPr>
        <p:spPr>
          <a:xfrm>
            <a:off x="274320" y="960120"/>
            <a:ext cx="8595360" cy="347472"/>
          </a:xfrm>
          <a:prstGeom prst="rect">
            <a:avLst/>
          </a:prstGeom>
          <a:solidFill>
            <a:srgbClr val="1A3A5C"/>
          </a:solidFill>
          <a:ln w="12700">
            <a:solidFill>
              <a:srgbClr val="1A3A5C"/>
            </a:solidFill>
            <a:prstDash val="solid"/>
          </a:ln>
        </p:spPr>
        <p:txBody>
          <a:bodyPr/>
          <a:lstStyle/>
          <a:p>
            <a:endParaRPr lang="fr-FR"/>
          </a:p>
        </p:txBody>
      </p:sp>
      <p:sp>
        <p:nvSpPr>
          <p:cNvPr id="10" name="Text 8"/>
          <p:cNvSpPr/>
          <p:nvPr/>
        </p:nvSpPr>
        <p:spPr>
          <a:xfrm>
            <a:off x="274320" y="960120"/>
            <a:ext cx="859536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BARÈME DES AMENDES CONTRAVENTIONNELLES</a:t>
            </a:r>
            <a:endParaRPr lang="en-US" sz="12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274320" y="1389888"/>
          <a:ext cx="8595360" cy="2176272"/>
        </p:xfrm>
        <a:graphic>
          <a:graphicData uri="http://schemas.openxmlformats.org/drawingml/2006/table">
            <a:tbl>
              <a:tblPr/>
              <a:tblGrid>
                <a:gridCol w="13716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362712">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Classe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Amende minorée</a:t>
                      </a:r>
                      <a:endParaRPr lang="en-US" sz="950" dirty="0">
                        <a:latin typeface="Calibri" charset="0"/>
                        <a:ea typeface="Calibri" charset="0"/>
                        <a:cs typeface="Calibri" charset="0"/>
                      </a:endParaRPr>
                    </a:p>
                    <a:p>
                      <a:pPr marL="0" indent="0">
                        <a:buNone/>
                      </a:pPr>
                      <a:r>
                        <a:rPr lang="en-US" sz="950" b="1" dirty="0">
                          <a:solidFill>
                            <a:srgbClr val="FFFFFF"/>
                          </a:solidFill>
                          <a:latin typeface="Calibri" pitchFamily="34" charset="0"/>
                          <a:ea typeface="Calibri" pitchFamily="34" charset="-122"/>
                          <a:cs typeface="Calibri" pitchFamily="34" charset="-120"/>
                        </a:rPr>
                        <a:t>(sous 15 jours)</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Amende forfaitaire</a:t>
                      </a:r>
                      <a:endParaRPr lang="en-US" sz="950" dirty="0">
                        <a:latin typeface="Calibri" charset="0"/>
                        <a:ea typeface="Calibri" charset="0"/>
                        <a:cs typeface="Calibri" charset="0"/>
                      </a:endParaRPr>
                    </a:p>
                    <a:p>
                      <a:pPr marL="0" indent="0">
                        <a:buNone/>
                      </a:pPr>
                      <a:r>
                        <a:rPr lang="en-US" sz="950" b="1" dirty="0">
                          <a:solidFill>
                            <a:srgbClr val="FFFFFF"/>
                          </a:solidFill>
                          <a:latin typeface="Calibri" pitchFamily="34" charset="0"/>
                          <a:ea typeface="Calibri" pitchFamily="34" charset="-122"/>
                          <a:cs typeface="Calibri" pitchFamily="34" charset="-120"/>
                        </a:rPr>
                        <a:t>(sous 45 jours)</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Amende forfaitaire majorée</a:t>
                      </a:r>
                      <a:endParaRPr lang="en-US" sz="950" dirty="0">
                        <a:latin typeface="Calibri" charset="0"/>
                        <a:ea typeface="Calibri" charset="0"/>
                        <a:cs typeface="Calibri" charset="0"/>
                      </a:endParaRPr>
                    </a:p>
                    <a:p>
                      <a:pPr marL="0" indent="0">
                        <a:buNone/>
                      </a:pPr>
                      <a:r>
                        <a:rPr lang="en-US" sz="950" b="1" dirty="0">
                          <a:solidFill>
                            <a:srgbClr val="FFFFFF"/>
                          </a:solidFill>
                          <a:latin typeface="Calibri" pitchFamily="34" charset="0"/>
                          <a:ea typeface="Calibri" pitchFamily="34" charset="-122"/>
                          <a:cs typeface="Calibri" pitchFamily="34" charset="-120"/>
                        </a:rPr>
                        <a:t>(après 45 jours)</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Montant max</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362712">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Classe 1</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Indisponible</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11 €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33 €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38 €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2712">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Classe 2</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22 €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35 €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75 €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150 €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2"/>
                  </a:ext>
                </a:extLst>
              </a:tr>
              <a:tr h="362712">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Classe 3</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45 €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68 €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180 €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450 €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2712">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Classe 4</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90 €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135 €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375 €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750 €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4"/>
                  </a:ext>
                </a:extLst>
              </a:tr>
              <a:tr h="362712">
                <a:tc>
                  <a:txBody>
                    <a:bodyPr/>
                    <a:lstStyle/>
                    <a:p>
                      <a:pPr marL="0" indent="0">
                        <a:buNone/>
                      </a:pPr>
                      <a:r>
                        <a:rPr lang="en-US" sz="1000" b="1" dirty="0">
                          <a:solidFill>
                            <a:srgbClr val="C0392B"/>
                          </a:solidFill>
                          <a:latin typeface="Calibri" pitchFamily="34" charset="0"/>
                          <a:ea typeface="Calibri" pitchFamily="34" charset="-122"/>
                          <a:cs typeface="Calibri" pitchFamily="34" charset="-120"/>
                        </a:rPr>
                        <a:t>Classe 5</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E8E8"/>
                    </a:solidFill>
                  </a:tcPr>
                </a:tc>
                <a:tc>
                  <a:txBody>
                    <a:bodyPr/>
                    <a:lstStyle/>
                    <a:p>
                      <a:pPr marL="0" indent="0">
                        <a:buNone/>
                      </a:pPr>
                      <a:r>
                        <a:rPr lang="en-US" sz="1000" b="1" dirty="0">
                          <a:solidFill>
                            <a:srgbClr val="C0392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E8E8"/>
                    </a:solidFill>
                  </a:tcPr>
                </a:tc>
                <a:tc>
                  <a:txBody>
                    <a:bodyPr/>
                    <a:lstStyle/>
                    <a:p>
                      <a:pPr marL="0" indent="0">
                        <a:buNone/>
                      </a:pPr>
                      <a:r>
                        <a:rPr lang="en-US" sz="1000" b="1" dirty="0">
                          <a:solidFill>
                            <a:srgbClr val="C0392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E8E8"/>
                    </a:solidFill>
                  </a:tcPr>
                </a:tc>
                <a:tc>
                  <a:txBody>
                    <a:bodyPr/>
                    <a:lstStyle/>
                    <a:p>
                      <a:pPr marL="0" indent="0">
                        <a:buNone/>
                      </a:pPr>
                      <a:r>
                        <a:rPr lang="en-US" sz="1000" b="1" dirty="0">
                          <a:solidFill>
                            <a:srgbClr val="C0392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E8E8"/>
                    </a:solidFill>
                  </a:tcPr>
                </a:tc>
                <a:tc>
                  <a:txBody>
                    <a:bodyPr/>
                    <a:lstStyle/>
                    <a:p>
                      <a:pPr marL="0" indent="0">
                        <a:buNone/>
                      </a:pPr>
                      <a:r>
                        <a:rPr lang="en-US" sz="1000" b="1" dirty="0">
                          <a:solidFill>
                            <a:srgbClr val="C0392B"/>
                          </a:solidFill>
                          <a:latin typeface="Calibri" pitchFamily="34" charset="0"/>
                          <a:ea typeface="Calibri" pitchFamily="34" charset="-122"/>
                          <a:cs typeface="Calibri" pitchFamily="34" charset="-120"/>
                        </a:rPr>
                        <a:t>1 500 € (3 000 € récidive)</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E8E8"/>
                    </a:solidFill>
                  </a:tcPr>
                </a:tc>
                <a:extLst>
                  <a:ext uri="{0D108BD9-81ED-4DB2-BD59-A6C34878D82A}">
                    <a16:rowId xmlns:a16="http://schemas.microsoft.com/office/drawing/2014/main" val="10005"/>
                  </a:ext>
                </a:extLst>
              </a:tr>
            </a:tbl>
          </a:graphicData>
        </a:graphic>
      </p:graphicFrame>
      <p:sp>
        <p:nvSpPr>
          <p:cNvPr id="12" name="Shape 9"/>
          <p:cNvSpPr/>
          <p:nvPr/>
        </p:nvSpPr>
        <p:spPr>
          <a:xfrm>
            <a:off x="274320" y="3639312"/>
            <a:ext cx="8595360" cy="292608"/>
          </a:xfrm>
          <a:prstGeom prst="rect">
            <a:avLst/>
          </a:prstGeom>
          <a:solidFill>
            <a:srgbClr val="1A3A5C"/>
          </a:solidFill>
          <a:ln w="12700">
            <a:solidFill>
              <a:srgbClr val="1A3A5C"/>
            </a:solidFill>
            <a:prstDash val="solid"/>
          </a:ln>
        </p:spPr>
        <p:txBody>
          <a:bodyPr/>
          <a:lstStyle/>
          <a:p>
            <a:endParaRPr lang="fr-FR"/>
          </a:p>
        </p:txBody>
      </p:sp>
      <p:sp>
        <p:nvSpPr>
          <p:cNvPr id="13" name="Text 10"/>
          <p:cNvSpPr/>
          <p:nvPr/>
        </p:nvSpPr>
        <p:spPr>
          <a:xfrm>
            <a:off x="274320" y="3639312"/>
            <a:ext cx="8595360"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DÉLAIS DE PAIEMENT — PV envoyé par courrier ou mail</a:t>
            </a:r>
            <a:endParaRPr lang="en-US" sz="1000" dirty="0"/>
          </a:p>
        </p:txBody>
      </p:sp>
      <p:sp>
        <p:nvSpPr>
          <p:cNvPr id="14" name="Shape 11"/>
          <p:cNvSpPr/>
          <p:nvPr/>
        </p:nvSpPr>
        <p:spPr>
          <a:xfrm>
            <a:off x="274320" y="4005072"/>
            <a:ext cx="2743200" cy="1005840"/>
          </a:xfrm>
          <a:prstGeom prst="rect">
            <a:avLst/>
          </a:prstGeom>
          <a:solidFill>
            <a:srgbClr val="E8F1FA"/>
          </a:solidFill>
          <a:ln w="6350">
            <a:solidFill>
              <a:srgbClr val="D0DCE8"/>
            </a:solidFill>
            <a:prstDash val="solid"/>
          </a:ln>
        </p:spPr>
        <p:txBody>
          <a:bodyPr/>
          <a:lstStyle/>
          <a:p>
            <a:endParaRPr lang="fr-FR"/>
          </a:p>
        </p:txBody>
      </p:sp>
      <p:sp>
        <p:nvSpPr>
          <p:cNvPr id="15" name="Shape 12"/>
          <p:cNvSpPr/>
          <p:nvPr/>
        </p:nvSpPr>
        <p:spPr>
          <a:xfrm>
            <a:off x="274320" y="4005072"/>
            <a:ext cx="2743200" cy="292608"/>
          </a:xfrm>
          <a:prstGeom prst="rect">
            <a:avLst/>
          </a:prstGeom>
          <a:solidFill>
            <a:srgbClr val="2860A8"/>
          </a:solidFill>
          <a:ln w="12700">
            <a:solidFill>
              <a:srgbClr val="2860A8"/>
            </a:solidFill>
            <a:prstDash val="solid"/>
          </a:ln>
        </p:spPr>
        <p:txBody>
          <a:bodyPr/>
          <a:lstStyle/>
          <a:p>
            <a:endParaRPr lang="fr-FR"/>
          </a:p>
        </p:txBody>
      </p:sp>
      <p:sp>
        <p:nvSpPr>
          <p:cNvPr id="16" name="Text 13"/>
          <p:cNvSpPr/>
          <p:nvPr/>
        </p:nvSpPr>
        <p:spPr>
          <a:xfrm>
            <a:off x="347472" y="4005072"/>
            <a:ext cx="263347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SOUS 15 JOURS</a:t>
            </a:r>
            <a:endParaRPr lang="en-US" sz="1000" dirty="0"/>
          </a:p>
        </p:txBody>
      </p:sp>
      <p:sp>
        <p:nvSpPr>
          <p:cNvPr id="17" name="Text 14"/>
          <p:cNvSpPr/>
          <p:nvPr/>
        </p:nvSpPr>
        <p:spPr>
          <a:xfrm>
            <a:off x="365760" y="4315968"/>
            <a:ext cx="2606040" cy="384048"/>
          </a:xfrm>
          <a:prstGeom prst="rect">
            <a:avLst/>
          </a:prstGeom>
          <a:noFill/>
          <a:ln/>
        </p:spPr>
        <p:txBody>
          <a:bodyPr wrap="square" rtlCol="0" anchor="ctr"/>
          <a:lstStyle/>
          <a:p>
            <a:pPr marL="0" indent="0" algn="ctr">
              <a:buNone/>
            </a:pPr>
            <a:r>
              <a:rPr lang="en-US" sz="1200" b="1" dirty="0">
                <a:solidFill>
                  <a:srgbClr val="2860A8"/>
                </a:solidFill>
                <a:latin typeface="Calibri" pitchFamily="34" charset="0"/>
                <a:ea typeface="Calibri" pitchFamily="34" charset="-122"/>
                <a:cs typeface="Calibri" pitchFamily="34" charset="-120"/>
              </a:rPr>
              <a:t>Amende minorée</a:t>
            </a:r>
            <a:endParaRPr lang="en-US" sz="1200" dirty="0"/>
          </a:p>
          <a:p>
            <a:pPr marL="0" indent="0" algn="ctr">
              <a:buNone/>
            </a:pPr>
            <a:r>
              <a:rPr lang="en-US" sz="1200" b="1" dirty="0">
                <a:solidFill>
                  <a:srgbClr val="2860A8"/>
                </a:solidFill>
                <a:latin typeface="Calibri" pitchFamily="34" charset="0"/>
                <a:ea typeface="Calibri" pitchFamily="34" charset="-122"/>
                <a:cs typeface="Calibri" pitchFamily="34" charset="-120"/>
              </a:rPr>
              <a:t>(réduction)</a:t>
            </a:r>
            <a:endParaRPr lang="en-US" sz="1200" dirty="0"/>
          </a:p>
        </p:txBody>
      </p:sp>
      <p:sp>
        <p:nvSpPr>
          <p:cNvPr id="18" name="Text 15"/>
          <p:cNvSpPr/>
          <p:nvPr/>
        </p:nvSpPr>
        <p:spPr>
          <a:xfrm>
            <a:off x="365760" y="4700016"/>
            <a:ext cx="2606040" cy="256032"/>
          </a:xfrm>
          <a:prstGeom prst="rect">
            <a:avLst/>
          </a:prstGeom>
          <a:noFill/>
          <a:ln/>
        </p:spPr>
        <p:txBody>
          <a:bodyPr wrap="square" rtlCol="0" anchor="ctr"/>
          <a:lstStyle/>
          <a:p>
            <a:pPr marL="0" indent="0" algn="ctr">
              <a:buNone/>
            </a:pPr>
            <a:r>
              <a:rPr lang="en-US" sz="900" dirty="0">
                <a:solidFill>
                  <a:srgbClr val="3A3A3A"/>
                </a:solidFill>
                <a:latin typeface="Calibri" pitchFamily="34" charset="0"/>
                <a:ea typeface="Calibri" pitchFamily="34" charset="-122"/>
                <a:cs typeface="Calibri" pitchFamily="34" charset="-120"/>
              </a:rPr>
              <a:t>Payer rapidement = réduction maximale</a:t>
            </a:r>
            <a:endParaRPr lang="en-US" sz="900" dirty="0"/>
          </a:p>
        </p:txBody>
      </p:sp>
      <p:sp>
        <p:nvSpPr>
          <p:cNvPr id="19" name="Shape 16"/>
          <p:cNvSpPr/>
          <p:nvPr/>
        </p:nvSpPr>
        <p:spPr>
          <a:xfrm>
            <a:off x="3154680" y="4005072"/>
            <a:ext cx="2743200" cy="1005840"/>
          </a:xfrm>
          <a:prstGeom prst="rect">
            <a:avLst/>
          </a:prstGeom>
          <a:solidFill>
            <a:srgbClr val="E8F1FA"/>
          </a:solidFill>
          <a:ln w="6350">
            <a:solidFill>
              <a:srgbClr val="D0DCE8"/>
            </a:solidFill>
            <a:prstDash val="solid"/>
          </a:ln>
        </p:spPr>
        <p:txBody>
          <a:bodyPr/>
          <a:lstStyle/>
          <a:p>
            <a:endParaRPr lang="fr-FR"/>
          </a:p>
        </p:txBody>
      </p:sp>
      <p:sp>
        <p:nvSpPr>
          <p:cNvPr id="20" name="Shape 17"/>
          <p:cNvSpPr/>
          <p:nvPr/>
        </p:nvSpPr>
        <p:spPr>
          <a:xfrm>
            <a:off x="3154680" y="4005072"/>
            <a:ext cx="2743200" cy="292608"/>
          </a:xfrm>
          <a:prstGeom prst="rect">
            <a:avLst/>
          </a:prstGeom>
          <a:solidFill>
            <a:srgbClr val="1A3A5C"/>
          </a:solidFill>
          <a:ln w="12700">
            <a:solidFill>
              <a:srgbClr val="1A3A5C"/>
            </a:solidFill>
            <a:prstDash val="solid"/>
          </a:ln>
        </p:spPr>
        <p:txBody>
          <a:bodyPr/>
          <a:lstStyle/>
          <a:p>
            <a:endParaRPr lang="fr-FR"/>
          </a:p>
        </p:txBody>
      </p:sp>
      <p:sp>
        <p:nvSpPr>
          <p:cNvPr id="21" name="Text 18"/>
          <p:cNvSpPr/>
          <p:nvPr/>
        </p:nvSpPr>
        <p:spPr>
          <a:xfrm>
            <a:off x="3227832" y="4005072"/>
            <a:ext cx="263347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SOUS 45 JOURS</a:t>
            </a:r>
            <a:endParaRPr lang="en-US" sz="1000" dirty="0"/>
          </a:p>
        </p:txBody>
      </p:sp>
      <p:sp>
        <p:nvSpPr>
          <p:cNvPr id="22" name="Text 19"/>
          <p:cNvSpPr/>
          <p:nvPr/>
        </p:nvSpPr>
        <p:spPr>
          <a:xfrm>
            <a:off x="3246120" y="4315968"/>
            <a:ext cx="2606040" cy="384048"/>
          </a:xfrm>
          <a:prstGeom prst="rect">
            <a:avLst/>
          </a:prstGeom>
          <a:noFill/>
          <a:ln/>
        </p:spPr>
        <p:txBody>
          <a:bodyPr wrap="square" rtlCol="0" anchor="ctr"/>
          <a:lstStyle/>
          <a:p>
            <a:pPr marL="0" indent="0" algn="ctr">
              <a:buNone/>
            </a:pPr>
            <a:r>
              <a:rPr lang="en-US" sz="1200" b="1" dirty="0">
                <a:solidFill>
                  <a:srgbClr val="1A3A5C"/>
                </a:solidFill>
                <a:latin typeface="Calibri" pitchFamily="34" charset="0"/>
                <a:ea typeface="Calibri" pitchFamily="34" charset="-122"/>
                <a:cs typeface="Calibri" pitchFamily="34" charset="-120"/>
              </a:rPr>
              <a:t>Amende forfaitaire</a:t>
            </a:r>
            <a:endParaRPr lang="en-US" sz="1200" dirty="0"/>
          </a:p>
          <a:p>
            <a:pPr marL="0" indent="0" algn="ctr">
              <a:buNone/>
            </a:pPr>
            <a:r>
              <a:rPr lang="en-US" sz="1200" b="1" dirty="0">
                <a:solidFill>
                  <a:srgbClr val="1A3A5C"/>
                </a:solidFill>
                <a:latin typeface="Calibri" pitchFamily="34" charset="0"/>
                <a:ea typeface="Calibri" pitchFamily="34" charset="-122"/>
                <a:cs typeface="Calibri" pitchFamily="34" charset="-120"/>
              </a:rPr>
              <a:t>(tarif normal)</a:t>
            </a:r>
            <a:endParaRPr lang="en-US" sz="1200" dirty="0"/>
          </a:p>
        </p:txBody>
      </p:sp>
      <p:sp>
        <p:nvSpPr>
          <p:cNvPr id="23" name="Text 20"/>
          <p:cNvSpPr/>
          <p:nvPr/>
        </p:nvSpPr>
        <p:spPr>
          <a:xfrm>
            <a:off x="3246120" y="4700016"/>
            <a:ext cx="2606040" cy="256032"/>
          </a:xfrm>
          <a:prstGeom prst="rect">
            <a:avLst/>
          </a:prstGeom>
          <a:noFill/>
          <a:ln/>
        </p:spPr>
        <p:txBody>
          <a:bodyPr wrap="square" rtlCol="0" anchor="ctr"/>
          <a:lstStyle/>
          <a:p>
            <a:pPr marL="0" indent="0" algn="ctr">
              <a:buNone/>
            </a:pPr>
            <a:r>
              <a:rPr lang="en-US" sz="900" dirty="0">
                <a:solidFill>
                  <a:srgbClr val="3A3A3A"/>
                </a:solidFill>
                <a:latin typeface="Calibri" pitchFamily="34" charset="0"/>
                <a:ea typeface="Calibri" pitchFamily="34" charset="-122"/>
                <a:cs typeface="Calibri" pitchFamily="34" charset="-120"/>
              </a:rPr>
              <a:t>Par chèque ou guichet</a:t>
            </a:r>
            <a:endParaRPr lang="en-US" sz="900" dirty="0"/>
          </a:p>
        </p:txBody>
      </p:sp>
      <p:sp>
        <p:nvSpPr>
          <p:cNvPr id="24" name="Shape 21"/>
          <p:cNvSpPr/>
          <p:nvPr/>
        </p:nvSpPr>
        <p:spPr>
          <a:xfrm>
            <a:off x="6035040" y="4005072"/>
            <a:ext cx="2743200" cy="1005840"/>
          </a:xfrm>
          <a:prstGeom prst="rect">
            <a:avLst/>
          </a:prstGeom>
          <a:solidFill>
            <a:srgbClr val="E8F1FA"/>
          </a:solidFill>
          <a:ln w="6350">
            <a:solidFill>
              <a:srgbClr val="D0DCE8"/>
            </a:solidFill>
            <a:prstDash val="solid"/>
          </a:ln>
        </p:spPr>
        <p:txBody>
          <a:bodyPr/>
          <a:lstStyle/>
          <a:p>
            <a:endParaRPr lang="fr-FR"/>
          </a:p>
        </p:txBody>
      </p:sp>
      <p:sp>
        <p:nvSpPr>
          <p:cNvPr id="25" name="Shape 22"/>
          <p:cNvSpPr/>
          <p:nvPr/>
        </p:nvSpPr>
        <p:spPr>
          <a:xfrm>
            <a:off x="6035040" y="4005072"/>
            <a:ext cx="2743200" cy="292608"/>
          </a:xfrm>
          <a:prstGeom prst="rect">
            <a:avLst/>
          </a:prstGeom>
          <a:solidFill>
            <a:srgbClr val="C0392B"/>
          </a:solidFill>
          <a:ln w="12700">
            <a:solidFill>
              <a:srgbClr val="C0392B"/>
            </a:solidFill>
            <a:prstDash val="solid"/>
          </a:ln>
        </p:spPr>
        <p:txBody>
          <a:bodyPr/>
          <a:lstStyle/>
          <a:p>
            <a:endParaRPr lang="fr-FR"/>
          </a:p>
        </p:txBody>
      </p:sp>
      <p:sp>
        <p:nvSpPr>
          <p:cNvPr id="26" name="Text 23"/>
          <p:cNvSpPr/>
          <p:nvPr/>
        </p:nvSpPr>
        <p:spPr>
          <a:xfrm>
            <a:off x="6108192" y="4005072"/>
            <a:ext cx="263347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APRÈS 45 JOURS</a:t>
            </a:r>
            <a:endParaRPr lang="en-US" sz="1000" dirty="0"/>
          </a:p>
        </p:txBody>
      </p:sp>
      <p:sp>
        <p:nvSpPr>
          <p:cNvPr id="27" name="Text 24"/>
          <p:cNvSpPr/>
          <p:nvPr/>
        </p:nvSpPr>
        <p:spPr>
          <a:xfrm>
            <a:off x="6126480" y="4315968"/>
            <a:ext cx="2606040" cy="384048"/>
          </a:xfrm>
          <a:prstGeom prst="rect">
            <a:avLst/>
          </a:prstGeom>
          <a:noFill/>
          <a:ln/>
        </p:spPr>
        <p:txBody>
          <a:bodyPr wrap="square" rtlCol="0" anchor="ctr"/>
          <a:lstStyle/>
          <a:p>
            <a:pPr marL="0" indent="0" algn="ctr">
              <a:buNone/>
            </a:pPr>
            <a:r>
              <a:rPr lang="en-US" sz="1200" b="1" dirty="0">
                <a:solidFill>
                  <a:srgbClr val="C0392B"/>
                </a:solidFill>
                <a:latin typeface="Calibri" pitchFamily="34" charset="0"/>
                <a:ea typeface="Calibri" pitchFamily="34" charset="-122"/>
                <a:cs typeface="Calibri" pitchFamily="34" charset="-120"/>
              </a:rPr>
              <a:t>Amende majorée</a:t>
            </a:r>
            <a:endParaRPr lang="en-US" sz="1200" dirty="0"/>
          </a:p>
          <a:p>
            <a:pPr marL="0" indent="0" algn="ctr">
              <a:buNone/>
            </a:pPr>
            <a:r>
              <a:rPr lang="en-US" sz="1200" b="1" dirty="0">
                <a:solidFill>
                  <a:srgbClr val="C0392B"/>
                </a:solidFill>
                <a:latin typeface="Calibri" pitchFamily="34" charset="0"/>
                <a:ea typeface="Calibri" pitchFamily="34" charset="-122"/>
                <a:cs typeface="Calibri" pitchFamily="34" charset="-120"/>
              </a:rPr>
              <a:t>(surcoût)</a:t>
            </a:r>
            <a:endParaRPr lang="en-US" sz="1200" dirty="0"/>
          </a:p>
        </p:txBody>
      </p:sp>
      <p:sp>
        <p:nvSpPr>
          <p:cNvPr id="28" name="Text 25"/>
          <p:cNvSpPr/>
          <p:nvPr/>
        </p:nvSpPr>
        <p:spPr>
          <a:xfrm>
            <a:off x="6126480" y="4700016"/>
            <a:ext cx="2606040" cy="256032"/>
          </a:xfrm>
          <a:prstGeom prst="rect">
            <a:avLst/>
          </a:prstGeom>
          <a:noFill/>
          <a:ln/>
        </p:spPr>
        <p:txBody>
          <a:bodyPr wrap="square" rtlCol="0" anchor="ctr"/>
          <a:lstStyle/>
          <a:p>
            <a:pPr marL="0" indent="0" algn="ctr">
              <a:buNone/>
            </a:pPr>
            <a:r>
              <a:rPr lang="en-US" sz="900" dirty="0">
                <a:solidFill>
                  <a:srgbClr val="3A3A3A"/>
                </a:solidFill>
                <a:latin typeface="Calibri" pitchFamily="34" charset="0"/>
                <a:ea typeface="Calibri" pitchFamily="34" charset="-122"/>
                <a:cs typeface="Calibri" pitchFamily="34" charset="-120"/>
              </a:rPr>
              <a:t>Majoration automatique sans délai</a:t>
            </a:r>
            <a:endParaRPr lang="en-US" sz="900" dirty="0"/>
          </a:p>
        </p:txBody>
      </p:sp>
      <p:sp>
        <p:nvSpPr>
          <p:cNvPr id="29" name="Shape 26"/>
          <p:cNvSpPr/>
          <p:nvPr/>
        </p:nvSpPr>
        <p:spPr>
          <a:xfrm>
            <a:off x="274320" y="5010912"/>
            <a:ext cx="8595360" cy="347472"/>
          </a:xfrm>
          <a:prstGeom prst="rect">
            <a:avLst/>
          </a:prstGeom>
          <a:solidFill>
            <a:srgbClr val="FEF0EE"/>
          </a:solidFill>
          <a:ln w="19050">
            <a:solidFill>
              <a:srgbClr val="C0392B"/>
            </a:solidFill>
            <a:prstDash val="solid"/>
          </a:ln>
        </p:spPr>
        <p:txBody>
          <a:bodyPr/>
          <a:lstStyle/>
          <a:p>
            <a:endParaRPr lang="fr-FR"/>
          </a:p>
        </p:txBody>
      </p:sp>
      <p:sp>
        <p:nvSpPr>
          <p:cNvPr id="30" name="Shape 27"/>
          <p:cNvSpPr/>
          <p:nvPr/>
        </p:nvSpPr>
        <p:spPr>
          <a:xfrm>
            <a:off x="274320" y="5010912"/>
            <a:ext cx="54864" cy="347472"/>
          </a:xfrm>
          <a:prstGeom prst="rect">
            <a:avLst/>
          </a:prstGeom>
          <a:solidFill>
            <a:srgbClr val="C0392B"/>
          </a:solidFill>
          <a:ln w="12700">
            <a:solidFill>
              <a:srgbClr val="C0392B"/>
            </a:solidFill>
            <a:prstDash val="solid"/>
          </a:ln>
        </p:spPr>
        <p:txBody>
          <a:bodyPr/>
          <a:lstStyle/>
          <a:p>
            <a:endParaRPr lang="fr-FR"/>
          </a:p>
        </p:txBody>
      </p:sp>
      <p:sp>
        <p:nvSpPr>
          <p:cNvPr id="31" name="Text 28"/>
          <p:cNvSpPr/>
          <p:nvPr/>
        </p:nvSpPr>
        <p:spPr>
          <a:xfrm>
            <a:off x="384048" y="5010912"/>
            <a:ext cx="8467344" cy="347472"/>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  Classe 5 : amende PÉNALE (pas contraventionnelle) — c'est le juge qui fixe le montant, jusqu'à 1 500 € (3 000 € en récidive).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Infractions spécifiques au T3P</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Contraventions et délits — Sanctions applicables</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48/88</a:t>
            </a:r>
            <a:endParaRPr lang="en-US" sz="800" dirty="0"/>
          </a:p>
        </p:txBody>
      </p:sp>
      <p:sp>
        <p:nvSpPr>
          <p:cNvPr id="9" name="Shape 7"/>
          <p:cNvSpPr/>
          <p:nvPr/>
        </p:nvSpPr>
        <p:spPr>
          <a:xfrm>
            <a:off x="274320" y="960120"/>
            <a:ext cx="8595360" cy="292608"/>
          </a:xfrm>
          <a:prstGeom prst="rect">
            <a:avLst/>
          </a:prstGeom>
          <a:solidFill>
            <a:srgbClr val="1A3A5C"/>
          </a:solidFill>
          <a:ln w="12700">
            <a:solidFill>
              <a:srgbClr val="1A3A5C"/>
            </a:solidFill>
            <a:prstDash val="solid"/>
          </a:ln>
        </p:spPr>
        <p:txBody>
          <a:bodyPr/>
          <a:lstStyle/>
          <a:p>
            <a:endParaRPr lang="fr-FR"/>
          </a:p>
        </p:txBody>
      </p:sp>
      <p:sp>
        <p:nvSpPr>
          <p:cNvPr id="10" name="Text 8"/>
          <p:cNvSpPr/>
          <p:nvPr/>
        </p:nvSpPr>
        <p:spPr>
          <a:xfrm>
            <a:off x="274320" y="960120"/>
            <a:ext cx="8595360" cy="29260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INFRACTIONS CONTRAVENTIONNELLES — Classes 1 à 5</a:t>
            </a:r>
            <a:endParaRPr lang="en-US" sz="105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274320" y="1325880"/>
          <a:ext cx="8595360" cy="2487168"/>
        </p:xfrm>
        <a:graphic>
          <a:graphicData uri="http://schemas.openxmlformats.org/drawingml/2006/table">
            <a:tbl>
              <a:tblPr/>
              <a:tblGrid>
                <a:gridCol w="47548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248717">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Infraction</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Classe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Concerne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248717">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Non apposition de la carte pro sur le véhicule</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Classe 1</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Taxi, VTC, VMDTR</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8717">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Non présentation de la carte professionnelle</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Classe 2</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Taxi, VTC, VMDTR</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2"/>
                  </a:ext>
                </a:extLst>
              </a:tr>
              <a:tr h="248717">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Non justification de la carte pro dans les 5 jours</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Classe 4</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Taxi, VTC, VMDTR</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8717">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Conduite sans attestation préfectorale de visite médicale</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Classe 4</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Taxi, VTC, VMDTR, LOTI</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4"/>
                  </a:ext>
                </a:extLst>
              </a:tr>
              <a:tr h="248717">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Non justification de l'assurance professionnelle</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Classe 5</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Taxi, VTC, VMDTR</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48717">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Exercice sans carte professionnelle valide</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Classe 5</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Taxi, VTC, VMDTR</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6"/>
                  </a:ext>
                </a:extLst>
              </a:tr>
              <a:tr h="248717">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Emploi d'un conducteur sans carte pro valide</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Classe 5 (employeur)</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Taxi, VTC, VMDTR</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48717">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Circulation en quête de clients sur voie publique</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Classe 5</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Taxi (hors zone), VTC, VMDTR</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8"/>
                  </a:ext>
                </a:extLst>
              </a:tr>
              <a:tr h="248717">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Stationnement en gare/aéroport &gt; 1h avant prise en charge</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Classe 5</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3A3A3A"/>
                          </a:solidFill>
                          <a:latin typeface="Calibri" pitchFamily="34" charset="0"/>
                          <a:ea typeface="Calibri" pitchFamily="34" charset="-122"/>
                          <a:cs typeface="Calibri" pitchFamily="34" charset="-120"/>
                        </a:rPr>
                        <a:t>Taxi (hors zone), VTC, VMDTR</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12" name="Shape 9"/>
          <p:cNvSpPr/>
          <p:nvPr/>
        </p:nvSpPr>
        <p:spPr>
          <a:xfrm>
            <a:off x="274320" y="3886200"/>
            <a:ext cx="8595360" cy="292608"/>
          </a:xfrm>
          <a:prstGeom prst="rect">
            <a:avLst/>
          </a:prstGeom>
          <a:solidFill>
            <a:srgbClr val="C0392B"/>
          </a:solidFill>
          <a:ln w="12700">
            <a:solidFill>
              <a:srgbClr val="C0392B"/>
            </a:solidFill>
            <a:prstDash val="solid"/>
          </a:ln>
        </p:spPr>
        <p:txBody>
          <a:bodyPr/>
          <a:lstStyle/>
          <a:p>
            <a:endParaRPr lang="fr-FR"/>
          </a:p>
        </p:txBody>
      </p:sp>
      <p:sp>
        <p:nvSpPr>
          <p:cNvPr id="13" name="Text 10"/>
          <p:cNvSpPr/>
          <p:nvPr/>
        </p:nvSpPr>
        <p:spPr>
          <a:xfrm>
            <a:off x="274320" y="3886200"/>
            <a:ext cx="8595360" cy="29260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DÉLITS — 1 AN DE PRISON ET 15 000 €</a:t>
            </a:r>
            <a:endParaRPr lang="en-US" sz="1050" dirty="0"/>
          </a:p>
        </p:txBody>
      </p:sp>
      <p:graphicFrame>
        <p:nvGraphicFramePr>
          <p:cNvPr id="119" name="Table 1"/>
          <p:cNvGraphicFramePr>
            <a:graphicFrameLocks noGrp="1"/>
          </p:cNvGraphicFramePr>
          <p:nvPr>
            <p:extLst>
              <p:ext uri="{D42A27DB-BD31-4B8C-83A1-F6EECF244321}">
                <p14:modId xmlns:p14="http://schemas.microsoft.com/office/powerpoint/2010/main" val="1579011935"/>
              </p:ext>
            </p:extLst>
          </p:nvPr>
        </p:nvGraphicFramePr>
        <p:xfrm>
          <a:off x="274320" y="4251960"/>
          <a:ext cx="8595360" cy="1115568"/>
        </p:xfrm>
        <a:graphic>
          <a:graphicData uri="http://schemas.openxmlformats.org/drawingml/2006/table">
            <a:tbl>
              <a:tblPr/>
              <a:tblGrid>
                <a:gridCol w="47548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185928">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Délit</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Sanction</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Concerne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extLst>
                  <a:ext uri="{0D108BD9-81ED-4DB2-BD59-A6C34878D82A}">
                    <a16:rowId xmlns:a16="http://schemas.microsoft.com/office/drawing/2014/main" val="10000"/>
                  </a:ext>
                </a:extLst>
              </a:tr>
              <a:tr h="185928">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Prise en charge sans réservation préalable (maraude illégale)</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1 an + 15 000 €</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Taxi hors zone, VTC, VMDTR, LOTI</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85928">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Exercice illégal : absence d'autorisation de stationnement</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E8E8"/>
                    </a:solidFill>
                  </a:tcPr>
                </a:tc>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1 an + 15 000 €</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E8E8"/>
                    </a:solidFill>
                  </a:tcPr>
                </a:tc>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Taxi</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E8E8"/>
                    </a:solidFill>
                  </a:tcPr>
                </a:tc>
                <a:extLst>
                  <a:ext uri="{0D108BD9-81ED-4DB2-BD59-A6C34878D82A}">
                    <a16:rowId xmlns:a16="http://schemas.microsoft.com/office/drawing/2014/main" val="10002"/>
                  </a:ext>
                </a:extLst>
              </a:tr>
              <a:tr h="185928">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Exercice illégal : absence d'inscription au registre national</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1 an + 15 000 €</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VTC, LOTI</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85928">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Location à la place (sous-location)</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E8E8"/>
                    </a:solidFill>
                  </a:tcPr>
                </a:tc>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1 an + 15 000 €</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E8E8"/>
                    </a:solidFill>
                  </a:tcPr>
                </a:tc>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Taxi, VTC, VMDTR</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E8E8"/>
                    </a:solidFill>
                  </a:tcPr>
                </a:tc>
                <a:extLst>
                  <a:ext uri="{0D108BD9-81ED-4DB2-BD59-A6C34878D82A}">
                    <a16:rowId xmlns:a16="http://schemas.microsoft.com/office/drawing/2014/main" val="10004"/>
                  </a:ext>
                </a:extLst>
              </a:tr>
              <a:tr h="185928">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Circulation sans assurance RC Circulation</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3 750 €</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00" dirty="0">
                          <a:solidFill>
                            <a:srgbClr val="C0392B"/>
                          </a:solidFill>
                          <a:latin typeface="Calibri" pitchFamily="34" charset="0"/>
                          <a:ea typeface="Calibri" pitchFamily="34" charset="-122"/>
                          <a:cs typeface="Calibri" pitchFamily="34" charset="-120"/>
                        </a:rPr>
                        <a:t>Taxi, VTC, VMDTR, LOTI</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Sanctions complémentaires et voies de recours</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Que faire après une sanction ? Délais à respecter</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49/88</a:t>
            </a:r>
            <a:endParaRPr lang="en-US" sz="800" dirty="0"/>
          </a:p>
        </p:txBody>
      </p:sp>
      <p:sp>
        <p:nvSpPr>
          <p:cNvPr id="9" name="Shape 7"/>
          <p:cNvSpPr/>
          <p:nvPr/>
        </p:nvSpPr>
        <p:spPr>
          <a:xfrm>
            <a:off x="274320" y="960120"/>
            <a:ext cx="4160520" cy="347472"/>
          </a:xfrm>
          <a:prstGeom prst="rect">
            <a:avLst/>
          </a:prstGeom>
          <a:solidFill>
            <a:srgbClr val="C0392B"/>
          </a:solidFill>
          <a:ln w="12700">
            <a:solidFill>
              <a:srgbClr val="C0392B"/>
            </a:solidFill>
            <a:prstDash val="solid"/>
          </a:ln>
        </p:spPr>
        <p:txBody>
          <a:bodyPr/>
          <a:lstStyle/>
          <a:p>
            <a:endParaRPr lang="fr-FR"/>
          </a:p>
        </p:txBody>
      </p:sp>
      <p:sp>
        <p:nvSpPr>
          <p:cNvPr id="10" name="Text 8"/>
          <p:cNvSpPr/>
          <p:nvPr/>
        </p:nvSpPr>
        <p:spPr>
          <a:xfrm>
            <a:off x="274320" y="960120"/>
            <a:ext cx="4160520" cy="34747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SANCTIONS COMPLÉMENTAIRES (délits 1 an + 15k€)</a:t>
            </a:r>
            <a:endParaRPr lang="en-US" sz="950" dirty="0"/>
          </a:p>
        </p:txBody>
      </p:sp>
      <p:sp>
        <p:nvSpPr>
          <p:cNvPr id="11" name="Shape 9"/>
          <p:cNvSpPr/>
          <p:nvPr/>
        </p:nvSpPr>
        <p:spPr>
          <a:xfrm>
            <a:off x="274320" y="1389888"/>
            <a:ext cx="4160520" cy="868680"/>
          </a:xfrm>
          <a:prstGeom prst="rect">
            <a:avLst/>
          </a:prstGeom>
          <a:solidFill>
            <a:srgbClr val="E8F1FA"/>
          </a:solidFill>
          <a:ln w="6350">
            <a:solidFill>
              <a:srgbClr val="D0DCE8"/>
            </a:solidFill>
            <a:prstDash val="solid"/>
          </a:ln>
        </p:spPr>
        <p:txBody>
          <a:bodyPr/>
          <a:lstStyle/>
          <a:p>
            <a:endParaRPr lang="fr-FR"/>
          </a:p>
        </p:txBody>
      </p:sp>
      <p:sp>
        <p:nvSpPr>
          <p:cNvPr id="12" name="Shape 10"/>
          <p:cNvSpPr/>
          <p:nvPr/>
        </p:nvSpPr>
        <p:spPr>
          <a:xfrm>
            <a:off x="274320" y="1389888"/>
            <a:ext cx="475488" cy="868680"/>
          </a:xfrm>
          <a:prstGeom prst="rect">
            <a:avLst/>
          </a:prstGeom>
          <a:solidFill>
            <a:srgbClr val="C0392B"/>
          </a:solidFill>
          <a:ln w="12700">
            <a:solidFill>
              <a:srgbClr val="C0392B"/>
            </a:solidFill>
            <a:prstDash val="solid"/>
          </a:ln>
        </p:spPr>
        <p:txBody>
          <a:bodyPr/>
          <a:lstStyle/>
          <a:p>
            <a:endParaRPr lang="fr-FR"/>
          </a:p>
        </p:txBody>
      </p:sp>
      <p:sp>
        <p:nvSpPr>
          <p:cNvPr id="13" name="Text 11"/>
          <p:cNvSpPr/>
          <p:nvPr/>
        </p:nvSpPr>
        <p:spPr>
          <a:xfrm>
            <a:off x="274320" y="1389888"/>
            <a:ext cx="475488" cy="8686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4" name="Text 12"/>
          <p:cNvSpPr/>
          <p:nvPr/>
        </p:nvSpPr>
        <p:spPr>
          <a:xfrm>
            <a:off x="822960" y="1417320"/>
            <a:ext cx="3493008" cy="32004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Suspension du permis</a:t>
            </a:r>
            <a:endParaRPr lang="en-US" sz="1100" dirty="0"/>
          </a:p>
        </p:txBody>
      </p:sp>
      <p:sp>
        <p:nvSpPr>
          <p:cNvPr id="15" name="Text 13"/>
          <p:cNvSpPr/>
          <p:nvPr/>
        </p:nvSpPr>
        <p:spPr>
          <a:xfrm>
            <a:off x="822960" y="1764792"/>
            <a:ext cx="3493008" cy="457200"/>
          </a:xfrm>
          <a:prstGeom prst="rect">
            <a:avLst/>
          </a:prstGeom>
          <a:noFill/>
          <a:ln/>
        </p:spPr>
        <p:txBody>
          <a:bodyPr wrap="square" rtlCol="0" anchor="t"/>
          <a:lstStyle/>
          <a:p>
            <a:pPr marL="0" indent="0">
              <a:buNone/>
            </a:pPr>
            <a:r>
              <a:rPr lang="en-US" sz="950" dirty="0">
                <a:solidFill>
                  <a:srgbClr val="3A3A3A"/>
                </a:solidFill>
                <a:latin typeface="Calibri" pitchFamily="34" charset="0"/>
                <a:ea typeface="Calibri" pitchFamily="34" charset="-122"/>
                <a:cs typeface="Calibri" pitchFamily="34" charset="-120"/>
              </a:rPr>
              <a:t>pour une durée de 5 ans au plus</a:t>
            </a:r>
            <a:endParaRPr lang="en-US" sz="950" dirty="0"/>
          </a:p>
        </p:txBody>
      </p:sp>
      <p:sp>
        <p:nvSpPr>
          <p:cNvPr id="16" name="Shape 14"/>
          <p:cNvSpPr/>
          <p:nvPr/>
        </p:nvSpPr>
        <p:spPr>
          <a:xfrm>
            <a:off x="274320" y="2350008"/>
            <a:ext cx="4160520" cy="868680"/>
          </a:xfrm>
          <a:prstGeom prst="rect">
            <a:avLst/>
          </a:prstGeom>
          <a:solidFill>
            <a:srgbClr val="E8F1FA"/>
          </a:solidFill>
          <a:ln w="6350">
            <a:solidFill>
              <a:srgbClr val="D0DCE8"/>
            </a:solidFill>
            <a:prstDash val="solid"/>
          </a:ln>
        </p:spPr>
        <p:txBody>
          <a:bodyPr/>
          <a:lstStyle/>
          <a:p>
            <a:endParaRPr lang="fr-FR"/>
          </a:p>
        </p:txBody>
      </p:sp>
      <p:sp>
        <p:nvSpPr>
          <p:cNvPr id="17" name="Shape 15"/>
          <p:cNvSpPr/>
          <p:nvPr/>
        </p:nvSpPr>
        <p:spPr>
          <a:xfrm>
            <a:off x="274320" y="2350008"/>
            <a:ext cx="475488" cy="868680"/>
          </a:xfrm>
          <a:prstGeom prst="rect">
            <a:avLst/>
          </a:prstGeom>
          <a:solidFill>
            <a:srgbClr val="C0392B"/>
          </a:solidFill>
          <a:ln w="12700">
            <a:solidFill>
              <a:srgbClr val="C0392B"/>
            </a:solidFill>
            <a:prstDash val="solid"/>
          </a:ln>
        </p:spPr>
        <p:txBody>
          <a:bodyPr/>
          <a:lstStyle/>
          <a:p>
            <a:endParaRPr lang="fr-FR"/>
          </a:p>
        </p:txBody>
      </p:sp>
      <p:sp>
        <p:nvSpPr>
          <p:cNvPr id="18" name="Text 16"/>
          <p:cNvSpPr/>
          <p:nvPr/>
        </p:nvSpPr>
        <p:spPr>
          <a:xfrm>
            <a:off x="274320" y="2350008"/>
            <a:ext cx="475488" cy="8686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9" name="Text 17"/>
          <p:cNvSpPr/>
          <p:nvPr/>
        </p:nvSpPr>
        <p:spPr>
          <a:xfrm>
            <a:off x="822960" y="2377440"/>
            <a:ext cx="3493008" cy="32004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Immobilisation du véhicule</a:t>
            </a:r>
            <a:endParaRPr lang="en-US" sz="1100" dirty="0"/>
          </a:p>
        </p:txBody>
      </p:sp>
      <p:sp>
        <p:nvSpPr>
          <p:cNvPr id="20" name="Text 18"/>
          <p:cNvSpPr/>
          <p:nvPr/>
        </p:nvSpPr>
        <p:spPr>
          <a:xfrm>
            <a:off x="822960" y="2724912"/>
            <a:ext cx="3493008" cy="457200"/>
          </a:xfrm>
          <a:prstGeom prst="rect">
            <a:avLst/>
          </a:prstGeom>
          <a:noFill/>
          <a:ln/>
        </p:spPr>
        <p:txBody>
          <a:bodyPr wrap="square" rtlCol="0" anchor="t"/>
          <a:lstStyle/>
          <a:p>
            <a:pPr marL="0" indent="0">
              <a:buNone/>
            </a:pPr>
            <a:r>
              <a:rPr lang="en-US" sz="950" dirty="0">
                <a:solidFill>
                  <a:srgbClr val="3A3A3A"/>
                </a:solidFill>
                <a:latin typeface="Calibri" pitchFamily="34" charset="0"/>
                <a:ea typeface="Calibri" pitchFamily="34" charset="-122"/>
                <a:cs typeface="Calibri" pitchFamily="34" charset="-120"/>
              </a:rPr>
              <a:t>pour une durée d'1 an maximum</a:t>
            </a:r>
            <a:endParaRPr lang="en-US" sz="950" dirty="0"/>
          </a:p>
        </p:txBody>
      </p:sp>
      <p:sp>
        <p:nvSpPr>
          <p:cNvPr id="21" name="Shape 19"/>
          <p:cNvSpPr/>
          <p:nvPr/>
        </p:nvSpPr>
        <p:spPr>
          <a:xfrm>
            <a:off x="274320" y="3310128"/>
            <a:ext cx="4160520" cy="868680"/>
          </a:xfrm>
          <a:prstGeom prst="rect">
            <a:avLst/>
          </a:prstGeom>
          <a:solidFill>
            <a:srgbClr val="E8F1FA"/>
          </a:solidFill>
          <a:ln w="6350">
            <a:solidFill>
              <a:srgbClr val="D0DCE8"/>
            </a:solidFill>
            <a:prstDash val="solid"/>
          </a:ln>
        </p:spPr>
        <p:txBody>
          <a:bodyPr/>
          <a:lstStyle/>
          <a:p>
            <a:endParaRPr lang="fr-FR"/>
          </a:p>
        </p:txBody>
      </p:sp>
      <p:sp>
        <p:nvSpPr>
          <p:cNvPr id="22" name="Shape 20"/>
          <p:cNvSpPr/>
          <p:nvPr/>
        </p:nvSpPr>
        <p:spPr>
          <a:xfrm>
            <a:off x="274320" y="3310128"/>
            <a:ext cx="475488" cy="868680"/>
          </a:xfrm>
          <a:prstGeom prst="rect">
            <a:avLst/>
          </a:prstGeom>
          <a:solidFill>
            <a:srgbClr val="C0392B"/>
          </a:solidFill>
          <a:ln w="12700">
            <a:solidFill>
              <a:srgbClr val="C0392B"/>
            </a:solidFill>
            <a:prstDash val="solid"/>
          </a:ln>
        </p:spPr>
        <p:txBody>
          <a:bodyPr/>
          <a:lstStyle/>
          <a:p>
            <a:endParaRPr lang="fr-FR"/>
          </a:p>
        </p:txBody>
      </p:sp>
      <p:sp>
        <p:nvSpPr>
          <p:cNvPr id="23" name="Text 21"/>
          <p:cNvSpPr/>
          <p:nvPr/>
        </p:nvSpPr>
        <p:spPr>
          <a:xfrm>
            <a:off x="274320" y="3310128"/>
            <a:ext cx="475488" cy="8686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4" name="Text 22"/>
          <p:cNvSpPr/>
          <p:nvPr/>
        </p:nvSpPr>
        <p:spPr>
          <a:xfrm>
            <a:off x="822960" y="3337560"/>
            <a:ext cx="3493008" cy="32004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Confiscation du véhicule</a:t>
            </a:r>
            <a:endParaRPr lang="en-US" sz="1100" dirty="0"/>
          </a:p>
        </p:txBody>
      </p:sp>
      <p:sp>
        <p:nvSpPr>
          <p:cNvPr id="25" name="Text 23"/>
          <p:cNvSpPr/>
          <p:nvPr/>
        </p:nvSpPr>
        <p:spPr>
          <a:xfrm>
            <a:off x="822960" y="3685032"/>
            <a:ext cx="3493008" cy="457200"/>
          </a:xfrm>
          <a:prstGeom prst="rect">
            <a:avLst/>
          </a:prstGeom>
          <a:noFill/>
          <a:ln/>
        </p:spPr>
        <p:txBody>
          <a:bodyPr wrap="square" rtlCol="0" anchor="t"/>
          <a:lstStyle/>
          <a:p>
            <a:pPr marL="0" indent="0">
              <a:buNone/>
            </a:pPr>
            <a:r>
              <a:rPr lang="en-US" sz="950" dirty="0">
                <a:solidFill>
                  <a:srgbClr val="3A3A3A"/>
                </a:solidFill>
                <a:latin typeface="Calibri" pitchFamily="34" charset="0"/>
                <a:ea typeface="Calibri" pitchFamily="34" charset="-122"/>
                <a:cs typeface="Calibri" pitchFamily="34" charset="-120"/>
              </a:rPr>
              <a:t>décision du juge — véhicule perdu définitivement</a:t>
            </a:r>
            <a:endParaRPr lang="en-US" sz="950" dirty="0"/>
          </a:p>
        </p:txBody>
      </p:sp>
      <p:sp>
        <p:nvSpPr>
          <p:cNvPr id="26" name="Shape 24"/>
          <p:cNvSpPr/>
          <p:nvPr/>
        </p:nvSpPr>
        <p:spPr>
          <a:xfrm>
            <a:off x="4709160" y="960120"/>
            <a:ext cx="4160520" cy="347472"/>
          </a:xfrm>
          <a:prstGeom prst="rect">
            <a:avLst/>
          </a:prstGeom>
          <a:solidFill>
            <a:srgbClr val="1A3A5C"/>
          </a:solidFill>
          <a:ln w="12700">
            <a:solidFill>
              <a:srgbClr val="1A3A5C"/>
            </a:solidFill>
            <a:prstDash val="solid"/>
          </a:ln>
        </p:spPr>
        <p:txBody>
          <a:bodyPr/>
          <a:lstStyle/>
          <a:p>
            <a:endParaRPr lang="fr-FR"/>
          </a:p>
        </p:txBody>
      </p:sp>
      <p:sp>
        <p:nvSpPr>
          <p:cNvPr id="27" name="Text 25"/>
          <p:cNvSpPr/>
          <p:nvPr/>
        </p:nvSpPr>
        <p:spPr>
          <a:xfrm>
            <a:off x="4709160" y="960120"/>
            <a:ext cx="4160520" cy="34747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VOIES DE RECOURS — Comment contester ?</a:t>
            </a:r>
            <a:endParaRPr lang="en-US" sz="950" dirty="0"/>
          </a:p>
        </p:txBody>
      </p:sp>
      <p:sp>
        <p:nvSpPr>
          <p:cNvPr id="28" name="Shape 26"/>
          <p:cNvSpPr/>
          <p:nvPr/>
        </p:nvSpPr>
        <p:spPr>
          <a:xfrm>
            <a:off x="4709160" y="1389888"/>
            <a:ext cx="4160520" cy="256032"/>
          </a:xfrm>
          <a:prstGeom prst="rect">
            <a:avLst/>
          </a:prstGeom>
          <a:solidFill>
            <a:srgbClr val="D4530A"/>
          </a:solidFill>
          <a:ln w="12700">
            <a:solidFill>
              <a:srgbClr val="D4530A"/>
            </a:solidFill>
            <a:prstDash val="solid"/>
          </a:ln>
        </p:spPr>
        <p:txBody>
          <a:bodyPr/>
          <a:lstStyle/>
          <a:p>
            <a:endParaRPr lang="fr-FR"/>
          </a:p>
        </p:txBody>
      </p:sp>
      <p:sp>
        <p:nvSpPr>
          <p:cNvPr id="29" name="Text 27"/>
          <p:cNvSpPr/>
          <p:nvPr/>
        </p:nvSpPr>
        <p:spPr>
          <a:xfrm>
            <a:off x="4782312" y="1389888"/>
            <a:ext cx="4005072"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CONTRAVENTION — Contestation PV</a:t>
            </a:r>
            <a:endParaRPr lang="en-US" sz="900" dirty="0"/>
          </a:p>
        </p:txBody>
      </p:sp>
      <p:sp>
        <p:nvSpPr>
          <p:cNvPr id="30" name="Shape 28"/>
          <p:cNvSpPr/>
          <p:nvPr/>
        </p:nvSpPr>
        <p:spPr>
          <a:xfrm>
            <a:off x="4709160" y="1691640"/>
            <a:ext cx="4160520" cy="1051560"/>
          </a:xfrm>
          <a:prstGeom prst="rect">
            <a:avLst/>
          </a:prstGeom>
          <a:solidFill>
            <a:srgbClr val="E8F1FA"/>
          </a:solidFill>
          <a:ln w="6350">
            <a:solidFill>
              <a:srgbClr val="D0DCE8"/>
            </a:solidFill>
            <a:prstDash val="solid"/>
          </a:ln>
        </p:spPr>
        <p:txBody>
          <a:bodyPr/>
          <a:lstStyle/>
          <a:p>
            <a:endParaRPr lang="fr-FR"/>
          </a:p>
        </p:txBody>
      </p:sp>
      <p:sp>
        <p:nvSpPr>
          <p:cNvPr id="31" name="Text 29"/>
          <p:cNvSpPr/>
          <p:nvPr/>
        </p:nvSpPr>
        <p:spPr>
          <a:xfrm>
            <a:off x="4800600" y="1709928"/>
            <a:ext cx="3977640" cy="1005840"/>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1. Écrire une lettre de contestation avec le numéro de PV</a:t>
            </a: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2. Cocher/remplir le motif de contestation sur l'avis</a:t>
            </a: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3. Envoyer à l'adresse indiquée avec l'original de l'avis de contravention</a:t>
            </a: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4. Dater et signer</a:t>
            </a:r>
            <a:endParaRPr lang="en-US" sz="900" dirty="0"/>
          </a:p>
          <a:p>
            <a:pPr marL="0" indent="0">
              <a:buNone/>
            </a:pP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 Délai : avant le paiement</a:t>
            </a:r>
            <a:endParaRPr lang="en-US" sz="900" dirty="0"/>
          </a:p>
        </p:txBody>
      </p:sp>
      <p:sp>
        <p:nvSpPr>
          <p:cNvPr id="32" name="Shape 30"/>
          <p:cNvSpPr/>
          <p:nvPr/>
        </p:nvSpPr>
        <p:spPr>
          <a:xfrm>
            <a:off x="4709160" y="2834640"/>
            <a:ext cx="4160520" cy="256032"/>
          </a:xfrm>
          <a:prstGeom prst="rect">
            <a:avLst/>
          </a:prstGeom>
          <a:solidFill>
            <a:srgbClr val="C0392B"/>
          </a:solidFill>
          <a:ln w="12700">
            <a:solidFill>
              <a:srgbClr val="C0392B"/>
            </a:solidFill>
            <a:prstDash val="solid"/>
          </a:ln>
        </p:spPr>
        <p:txBody>
          <a:bodyPr/>
          <a:lstStyle/>
          <a:p>
            <a:endParaRPr lang="fr-FR"/>
          </a:p>
        </p:txBody>
      </p:sp>
      <p:sp>
        <p:nvSpPr>
          <p:cNvPr id="33" name="Text 31"/>
          <p:cNvSpPr/>
          <p:nvPr/>
        </p:nvSpPr>
        <p:spPr>
          <a:xfrm>
            <a:off x="4782312" y="2834640"/>
            <a:ext cx="4005072"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DÉLIT — Faire appel du jugement</a:t>
            </a:r>
            <a:endParaRPr lang="en-US" sz="900" dirty="0"/>
          </a:p>
        </p:txBody>
      </p:sp>
      <p:sp>
        <p:nvSpPr>
          <p:cNvPr id="34" name="Shape 32"/>
          <p:cNvSpPr/>
          <p:nvPr/>
        </p:nvSpPr>
        <p:spPr>
          <a:xfrm>
            <a:off x="4709160" y="3127248"/>
            <a:ext cx="4160520" cy="960120"/>
          </a:xfrm>
          <a:prstGeom prst="rect">
            <a:avLst/>
          </a:prstGeom>
          <a:solidFill>
            <a:srgbClr val="E8F1FA"/>
          </a:solidFill>
          <a:ln w="6350">
            <a:solidFill>
              <a:srgbClr val="D0DCE8"/>
            </a:solidFill>
            <a:prstDash val="solid"/>
          </a:ln>
        </p:spPr>
        <p:txBody>
          <a:bodyPr/>
          <a:lstStyle/>
          <a:p>
            <a:endParaRPr lang="fr-FR"/>
          </a:p>
        </p:txBody>
      </p:sp>
      <p:sp>
        <p:nvSpPr>
          <p:cNvPr id="35" name="Text 33"/>
          <p:cNvSpPr/>
          <p:nvPr/>
        </p:nvSpPr>
        <p:spPr>
          <a:xfrm>
            <a:off x="4800600" y="3145536"/>
            <a:ext cx="3977640" cy="914400"/>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 Faire appel = saisir la Cour d'appel</a:t>
            </a: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Déclaration au greffe du tribunal dont le jugement est contesté :</a:t>
            </a: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 Greffe du Tribunal de police (contraventions 5ème classe)</a:t>
            </a: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 Greffe du Tribunal correctionnel (délits)</a:t>
            </a:r>
            <a:endParaRPr lang="en-US" sz="900" dirty="0"/>
          </a:p>
          <a:p>
            <a:pPr marL="0" indent="0">
              <a:buNone/>
            </a:pP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 Délai PÉNAL : 10 jours après notification du jugement</a:t>
            </a:r>
            <a:endParaRPr lang="en-US" sz="900" dirty="0"/>
          </a:p>
        </p:txBody>
      </p:sp>
      <p:sp>
        <p:nvSpPr>
          <p:cNvPr id="36" name="Shape 34"/>
          <p:cNvSpPr/>
          <p:nvPr/>
        </p:nvSpPr>
        <p:spPr>
          <a:xfrm>
            <a:off x="4709160" y="4160520"/>
            <a:ext cx="4160520" cy="256032"/>
          </a:xfrm>
          <a:prstGeom prst="rect">
            <a:avLst/>
          </a:prstGeom>
          <a:solidFill>
            <a:srgbClr val="6B7A8D"/>
          </a:solidFill>
          <a:ln w="12700">
            <a:solidFill>
              <a:srgbClr val="6B7A8D"/>
            </a:solidFill>
            <a:prstDash val="solid"/>
          </a:ln>
        </p:spPr>
        <p:txBody>
          <a:bodyPr/>
          <a:lstStyle/>
          <a:p>
            <a:endParaRPr lang="fr-FR"/>
          </a:p>
        </p:txBody>
      </p:sp>
      <p:sp>
        <p:nvSpPr>
          <p:cNvPr id="37" name="Text 35"/>
          <p:cNvSpPr/>
          <p:nvPr/>
        </p:nvSpPr>
        <p:spPr>
          <a:xfrm>
            <a:off x="4782312" y="4160520"/>
            <a:ext cx="4005072"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COUR DE CASSATION — Dernier recours</a:t>
            </a:r>
            <a:endParaRPr lang="en-US" sz="900" dirty="0"/>
          </a:p>
        </p:txBody>
      </p:sp>
      <p:sp>
        <p:nvSpPr>
          <p:cNvPr id="38" name="Shape 36"/>
          <p:cNvSpPr/>
          <p:nvPr/>
        </p:nvSpPr>
        <p:spPr>
          <a:xfrm>
            <a:off x="4709160" y="4453128"/>
            <a:ext cx="4160520" cy="658368"/>
          </a:xfrm>
          <a:prstGeom prst="rect">
            <a:avLst/>
          </a:prstGeom>
          <a:solidFill>
            <a:srgbClr val="E8F1FA"/>
          </a:solidFill>
          <a:ln w="6350">
            <a:solidFill>
              <a:srgbClr val="D0DCE8"/>
            </a:solidFill>
            <a:prstDash val="solid"/>
          </a:ln>
        </p:spPr>
        <p:txBody>
          <a:bodyPr/>
          <a:lstStyle/>
          <a:p>
            <a:endParaRPr lang="fr-FR"/>
          </a:p>
        </p:txBody>
      </p:sp>
      <p:sp>
        <p:nvSpPr>
          <p:cNvPr id="39" name="Text 37"/>
          <p:cNvSpPr/>
          <p:nvPr/>
        </p:nvSpPr>
        <p:spPr>
          <a:xfrm>
            <a:off x="4800600" y="4471416"/>
            <a:ext cx="3977640" cy="621792"/>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Déclaration au greffe de la Cour d'appel</a:t>
            </a: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Ne rejuge pas l'affaire — vérifie seulement la bonne application de la loi</a:t>
            </a:r>
            <a:endParaRPr lang="en-US" sz="900" dirty="0"/>
          </a:p>
          <a:p>
            <a:pPr marL="0" indent="0">
              <a:buNone/>
            </a:pP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 Délai : 10 jours à 2 mois après le prononcé du jugement pénal</a:t>
            </a:r>
            <a:endParaRPr lang="en-US" sz="900" dirty="0"/>
          </a:p>
        </p:txBody>
      </p:sp>
      <p:sp>
        <p:nvSpPr>
          <p:cNvPr id="40" name="Shape 38"/>
          <p:cNvSpPr/>
          <p:nvPr/>
        </p:nvSpPr>
        <p:spPr>
          <a:xfrm>
            <a:off x="4709160" y="5166360"/>
            <a:ext cx="4160520" cy="256032"/>
          </a:xfrm>
          <a:prstGeom prst="rect">
            <a:avLst/>
          </a:prstGeom>
          <a:solidFill>
            <a:srgbClr val="1A3A5C"/>
          </a:solidFill>
          <a:ln w="12700">
            <a:solidFill>
              <a:srgbClr val="1A3A5C"/>
            </a:solidFill>
            <a:prstDash val="solid"/>
          </a:ln>
        </p:spPr>
        <p:txBody>
          <a:bodyPr/>
          <a:lstStyle/>
          <a:p>
            <a:endParaRPr lang="fr-FR"/>
          </a:p>
        </p:txBody>
      </p:sp>
      <p:sp>
        <p:nvSpPr>
          <p:cNvPr id="41" name="Text 39"/>
          <p:cNvSpPr/>
          <p:nvPr/>
        </p:nvSpPr>
        <p:spPr>
          <a:xfrm>
            <a:off x="4782312" y="5166360"/>
            <a:ext cx="4005072"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CONSEIL D'ÉTAT — Recours administratif</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1">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12. Transport de Personnes à Mobilité Réduite</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Formation TPMR — Obligations et véhicules adaptés</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50/88</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La formation TPMR</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Transport de Personnes à Mobilité Réduite — Obligations légales</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51/88</a:t>
            </a:r>
            <a:endParaRPr lang="en-US" sz="800" dirty="0"/>
          </a:p>
        </p:txBody>
      </p:sp>
      <p:sp>
        <p:nvSpPr>
          <p:cNvPr id="9" name="Shape 7"/>
          <p:cNvSpPr/>
          <p:nvPr/>
        </p:nvSpPr>
        <p:spPr>
          <a:xfrm>
            <a:off x="274320" y="960120"/>
            <a:ext cx="8595360" cy="384048"/>
          </a:xfrm>
          <a:prstGeom prst="rect">
            <a:avLst/>
          </a:prstGeom>
          <a:solidFill>
            <a:srgbClr val="1A3A5C"/>
          </a:solidFill>
          <a:ln w="12700">
            <a:solidFill>
              <a:srgbClr val="1A3A5C"/>
            </a:solidFill>
            <a:prstDash val="solid"/>
          </a:ln>
        </p:spPr>
        <p:txBody>
          <a:bodyPr/>
          <a:lstStyle/>
          <a:p>
            <a:endParaRPr lang="fr-FR"/>
          </a:p>
        </p:txBody>
      </p:sp>
      <p:sp>
        <p:nvSpPr>
          <p:cNvPr id="10" name="Text 8"/>
          <p:cNvSpPr/>
          <p:nvPr/>
        </p:nvSpPr>
        <p:spPr>
          <a:xfrm>
            <a:off x="274320" y="960120"/>
            <a:ext cx="859536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TPMR = TRANSPORT DE PERSONNES À MOBILITÉ RÉDUITE</a:t>
            </a:r>
            <a:endParaRPr lang="en-US" sz="1300" dirty="0"/>
          </a:p>
        </p:txBody>
      </p:sp>
      <p:sp>
        <p:nvSpPr>
          <p:cNvPr id="11" name="Shape 9"/>
          <p:cNvSpPr/>
          <p:nvPr/>
        </p:nvSpPr>
        <p:spPr>
          <a:xfrm>
            <a:off x="274320" y="1417320"/>
            <a:ext cx="5303520" cy="1078992"/>
          </a:xfrm>
          <a:prstGeom prst="rect">
            <a:avLst/>
          </a:prstGeom>
          <a:solidFill>
            <a:srgbClr val="E8F1FA"/>
          </a:solidFill>
          <a:ln w="19050">
            <a:solidFill>
              <a:srgbClr val="2860A8"/>
            </a:solidFill>
            <a:prstDash val="solid"/>
          </a:ln>
        </p:spPr>
        <p:txBody>
          <a:bodyPr/>
          <a:lstStyle/>
          <a:p>
            <a:endParaRPr lang="fr-FR"/>
          </a:p>
        </p:txBody>
      </p:sp>
      <p:sp>
        <p:nvSpPr>
          <p:cNvPr id="12" name="Shape 10"/>
          <p:cNvSpPr/>
          <p:nvPr/>
        </p:nvSpPr>
        <p:spPr>
          <a:xfrm>
            <a:off x="274320" y="1417320"/>
            <a:ext cx="54864" cy="1078992"/>
          </a:xfrm>
          <a:prstGeom prst="rect">
            <a:avLst/>
          </a:prstGeom>
          <a:solidFill>
            <a:srgbClr val="2860A8"/>
          </a:solidFill>
          <a:ln w="12700">
            <a:solidFill>
              <a:srgbClr val="2860A8"/>
            </a:solidFill>
            <a:prstDash val="solid"/>
          </a:ln>
        </p:spPr>
        <p:txBody>
          <a:bodyPr/>
          <a:lstStyle/>
          <a:p>
            <a:endParaRPr lang="fr-FR"/>
          </a:p>
        </p:txBody>
      </p:sp>
      <p:sp>
        <p:nvSpPr>
          <p:cNvPr id="13" name="Text 11"/>
          <p:cNvSpPr/>
          <p:nvPr/>
        </p:nvSpPr>
        <p:spPr>
          <a:xfrm>
            <a:off x="457200" y="1417320"/>
            <a:ext cx="5074920" cy="274320"/>
          </a:xfrm>
          <a:prstGeom prst="rect">
            <a:avLst/>
          </a:prstGeom>
          <a:noFill/>
          <a:ln/>
        </p:spPr>
        <p:txBody>
          <a:bodyPr wrap="square" rtlCol="0" anchor="ctr"/>
          <a:lstStyle/>
          <a:p>
            <a:pPr marL="0" indent="0">
              <a:buNone/>
            </a:pPr>
            <a:r>
              <a:rPr lang="en-US" sz="1000" b="1" dirty="0">
                <a:solidFill>
                  <a:srgbClr val="1A3A5C"/>
                </a:solidFill>
                <a:latin typeface="Calibri" pitchFamily="34" charset="0"/>
                <a:ea typeface="Calibri" pitchFamily="34" charset="-122"/>
                <a:cs typeface="Calibri" pitchFamily="34" charset="-120"/>
              </a:rPr>
              <a:t>DÉFINITION — Qui est concerné ?</a:t>
            </a:r>
            <a:endParaRPr lang="en-US" sz="1000" dirty="0"/>
          </a:p>
        </p:txBody>
      </p:sp>
      <p:sp>
        <p:nvSpPr>
          <p:cNvPr id="14" name="Text 12"/>
          <p:cNvSpPr/>
          <p:nvPr/>
        </p:nvSpPr>
        <p:spPr>
          <a:xfrm>
            <a:off x="457200" y="1691640"/>
            <a:ext cx="5074920" cy="777240"/>
          </a:xfrm>
          <a:prstGeom prst="rect">
            <a:avLst/>
          </a:prstGeom>
          <a:noFill/>
          <a:ln/>
        </p:spPr>
        <p:txBody>
          <a:bodyPr wrap="square" rtlCol="0" anchor="t"/>
          <a:lstStyle/>
          <a:p>
            <a:pPr marL="0" indent="0">
              <a:buNone/>
            </a:pPr>
            <a:r>
              <a:rPr lang="en-US" sz="950" dirty="0">
                <a:solidFill>
                  <a:srgbClr val="3A3A3A"/>
                </a:solidFill>
                <a:latin typeface="Calibri" pitchFamily="34" charset="0"/>
                <a:ea typeface="Calibri" pitchFamily="34" charset="-122"/>
                <a:cs typeface="Calibri" pitchFamily="34" charset="-120"/>
              </a:rPr>
              <a:t>La formation TPMR est obligatoire pour toute personne souhaitant intervenir, à titre permanent ou occasionnel, dans le secteur du transport des personnes à mobilité réduite : personnes handicapées, personnes âgées dépendantes, personnes nécessitant une assistance particulière lors du transport.</a:t>
            </a:r>
            <a:endParaRPr lang="en-US" sz="950" dirty="0"/>
          </a:p>
        </p:txBody>
      </p:sp>
      <p:sp>
        <p:nvSpPr>
          <p:cNvPr id="15" name="Shape 13"/>
          <p:cNvSpPr/>
          <p:nvPr/>
        </p:nvSpPr>
        <p:spPr>
          <a:xfrm>
            <a:off x="5760720" y="1417320"/>
            <a:ext cx="3108960" cy="1078992"/>
          </a:xfrm>
          <a:prstGeom prst="rect">
            <a:avLst/>
          </a:prstGeom>
          <a:solidFill>
            <a:srgbClr val="E8F1FA"/>
          </a:solidFill>
          <a:ln w="19050">
            <a:solidFill>
              <a:srgbClr val="2860A8"/>
            </a:solidFill>
            <a:prstDash val="solid"/>
          </a:ln>
        </p:spPr>
        <p:txBody>
          <a:bodyPr/>
          <a:lstStyle/>
          <a:p>
            <a:endParaRPr lang="fr-FR"/>
          </a:p>
        </p:txBody>
      </p:sp>
      <p:sp>
        <p:nvSpPr>
          <p:cNvPr id="16" name="Shape 14"/>
          <p:cNvSpPr/>
          <p:nvPr/>
        </p:nvSpPr>
        <p:spPr>
          <a:xfrm>
            <a:off x="5760720" y="1417320"/>
            <a:ext cx="3108960" cy="292608"/>
          </a:xfrm>
          <a:prstGeom prst="rect">
            <a:avLst/>
          </a:prstGeom>
          <a:solidFill>
            <a:srgbClr val="1A3A5C"/>
          </a:solidFill>
          <a:ln w="12700">
            <a:solidFill>
              <a:srgbClr val="1A3A5C"/>
            </a:solidFill>
            <a:prstDash val="solid"/>
          </a:ln>
        </p:spPr>
        <p:txBody>
          <a:bodyPr/>
          <a:lstStyle/>
          <a:p>
            <a:endParaRPr lang="fr-FR"/>
          </a:p>
        </p:txBody>
      </p:sp>
      <p:sp>
        <p:nvSpPr>
          <p:cNvPr id="17" name="Text 15"/>
          <p:cNvSpPr/>
          <p:nvPr/>
        </p:nvSpPr>
        <p:spPr>
          <a:xfrm>
            <a:off x="5833872" y="1417320"/>
            <a:ext cx="2962656"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DURÉE FORMATION</a:t>
            </a:r>
            <a:endParaRPr lang="en-US" sz="1000" dirty="0"/>
          </a:p>
        </p:txBody>
      </p:sp>
      <p:sp>
        <p:nvSpPr>
          <p:cNvPr id="18" name="Shape 16"/>
          <p:cNvSpPr/>
          <p:nvPr/>
        </p:nvSpPr>
        <p:spPr>
          <a:xfrm>
            <a:off x="5989320" y="1801368"/>
            <a:ext cx="1417320" cy="594360"/>
          </a:xfrm>
          <a:prstGeom prst="rect">
            <a:avLst/>
          </a:prstGeom>
          <a:solidFill>
            <a:srgbClr val="2860A8"/>
          </a:solidFill>
          <a:ln w="12700">
            <a:solidFill>
              <a:srgbClr val="2860A8"/>
            </a:solidFill>
            <a:prstDash val="solid"/>
          </a:ln>
        </p:spPr>
        <p:txBody>
          <a:bodyPr/>
          <a:lstStyle/>
          <a:p>
            <a:endParaRPr lang="fr-FR"/>
          </a:p>
        </p:txBody>
      </p:sp>
      <p:sp>
        <p:nvSpPr>
          <p:cNvPr id="19" name="Text 17"/>
          <p:cNvSpPr/>
          <p:nvPr/>
        </p:nvSpPr>
        <p:spPr>
          <a:xfrm>
            <a:off x="5989320" y="1801368"/>
            <a:ext cx="1417320" cy="59436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21h</a:t>
            </a:r>
            <a:endParaRPr lang="en-US" sz="2600" dirty="0"/>
          </a:p>
        </p:txBody>
      </p:sp>
      <p:sp>
        <p:nvSpPr>
          <p:cNvPr id="20" name="Text 18"/>
          <p:cNvSpPr/>
          <p:nvPr/>
        </p:nvSpPr>
        <p:spPr>
          <a:xfrm>
            <a:off x="7424928" y="1801368"/>
            <a:ext cx="1353312" cy="594360"/>
          </a:xfrm>
          <a:prstGeom prst="rect">
            <a:avLst/>
          </a:prstGeom>
          <a:noFill/>
          <a:ln/>
        </p:spPr>
        <p:txBody>
          <a:bodyPr wrap="square" rtlCol="0" anchor="ctr"/>
          <a:lstStyle/>
          <a:p>
            <a:pPr marL="0" indent="0" algn="ctr">
              <a:buNone/>
            </a:pPr>
            <a:r>
              <a:rPr lang="en-US" sz="1100" b="1" dirty="0">
                <a:solidFill>
                  <a:srgbClr val="1A3A5C"/>
                </a:solidFill>
                <a:latin typeface="Calibri" pitchFamily="34" charset="0"/>
                <a:ea typeface="Calibri" pitchFamily="34" charset="-122"/>
                <a:cs typeface="Calibri" pitchFamily="34" charset="-120"/>
              </a:rPr>
              <a:t>à 400h</a:t>
            </a:r>
            <a:endParaRPr lang="en-US" sz="1100" dirty="0"/>
          </a:p>
          <a:p>
            <a:pPr marL="0" indent="0" algn="ctr">
              <a:buNone/>
            </a:pPr>
            <a:r>
              <a:rPr lang="en-US" sz="1100" b="1" dirty="0">
                <a:solidFill>
                  <a:srgbClr val="1A3A5C"/>
                </a:solidFill>
                <a:latin typeface="Calibri" pitchFamily="34" charset="0"/>
                <a:ea typeface="Calibri" pitchFamily="34" charset="-122"/>
                <a:cs typeface="Calibri" pitchFamily="34" charset="-120"/>
              </a:rPr>
              <a:t>(alternance)</a:t>
            </a:r>
            <a:endParaRPr lang="en-US" sz="1100" dirty="0"/>
          </a:p>
        </p:txBody>
      </p:sp>
      <p:sp>
        <p:nvSpPr>
          <p:cNvPr id="21" name="Shape 19"/>
          <p:cNvSpPr/>
          <p:nvPr/>
        </p:nvSpPr>
        <p:spPr>
          <a:xfrm>
            <a:off x="274320" y="2578608"/>
            <a:ext cx="8595360" cy="292608"/>
          </a:xfrm>
          <a:prstGeom prst="rect">
            <a:avLst/>
          </a:prstGeom>
          <a:solidFill>
            <a:srgbClr val="2860A8"/>
          </a:solidFill>
          <a:ln w="12700">
            <a:solidFill>
              <a:srgbClr val="2860A8"/>
            </a:solidFill>
            <a:prstDash val="solid"/>
          </a:ln>
        </p:spPr>
        <p:txBody>
          <a:bodyPr/>
          <a:lstStyle/>
          <a:p>
            <a:endParaRPr lang="fr-FR"/>
          </a:p>
        </p:txBody>
      </p:sp>
      <p:sp>
        <p:nvSpPr>
          <p:cNvPr id="22" name="Text 20"/>
          <p:cNvSpPr/>
          <p:nvPr/>
        </p:nvSpPr>
        <p:spPr>
          <a:xfrm>
            <a:off x="274320" y="2578608"/>
            <a:ext cx="8595360" cy="29260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CRITÈRES OBLIGATOIRES POUR LES VÉHICULES TPMR</a:t>
            </a:r>
            <a:endParaRPr lang="en-US" sz="1050" dirty="0"/>
          </a:p>
        </p:txBody>
      </p:sp>
      <p:sp>
        <p:nvSpPr>
          <p:cNvPr id="23" name="Shape 21"/>
          <p:cNvSpPr/>
          <p:nvPr/>
        </p:nvSpPr>
        <p:spPr>
          <a:xfrm>
            <a:off x="274320" y="2944368"/>
            <a:ext cx="2633472" cy="1024128"/>
          </a:xfrm>
          <a:prstGeom prst="rect">
            <a:avLst/>
          </a:prstGeom>
          <a:solidFill>
            <a:srgbClr val="E8F1FA"/>
          </a:solidFill>
          <a:ln w="6350">
            <a:solidFill>
              <a:srgbClr val="D0DCE8"/>
            </a:solidFill>
            <a:prstDash val="solid"/>
          </a:ln>
        </p:spPr>
        <p:txBody>
          <a:bodyPr/>
          <a:lstStyle/>
          <a:p>
            <a:endParaRPr lang="fr-FR"/>
          </a:p>
        </p:txBody>
      </p:sp>
      <p:sp>
        <p:nvSpPr>
          <p:cNvPr id="24" name="Shape 22"/>
          <p:cNvSpPr/>
          <p:nvPr/>
        </p:nvSpPr>
        <p:spPr>
          <a:xfrm>
            <a:off x="274320" y="2944368"/>
            <a:ext cx="2633472" cy="292608"/>
          </a:xfrm>
          <a:prstGeom prst="rect">
            <a:avLst/>
          </a:prstGeom>
          <a:solidFill>
            <a:srgbClr val="2860A8"/>
          </a:solidFill>
          <a:ln w="12700">
            <a:solidFill>
              <a:srgbClr val="2860A8"/>
            </a:solidFill>
            <a:prstDash val="solid"/>
          </a:ln>
        </p:spPr>
        <p:txBody>
          <a:bodyPr/>
          <a:lstStyle/>
          <a:p>
            <a:endParaRPr lang="fr-FR"/>
          </a:p>
        </p:txBody>
      </p:sp>
      <p:sp>
        <p:nvSpPr>
          <p:cNvPr id="25" name="Text 23"/>
          <p:cNvSpPr/>
          <p:nvPr/>
        </p:nvSpPr>
        <p:spPr>
          <a:xfrm>
            <a:off x="347472" y="2944368"/>
            <a:ext cx="254203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Homologation spécifique</a:t>
            </a:r>
            <a:endParaRPr lang="en-US" sz="950" dirty="0"/>
          </a:p>
        </p:txBody>
      </p:sp>
      <p:sp>
        <p:nvSpPr>
          <p:cNvPr id="26" name="Text 24"/>
          <p:cNvSpPr/>
          <p:nvPr/>
        </p:nvSpPr>
        <p:spPr>
          <a:xfrm>
            <a:off x="365760" y="3264408"/>
            <a:ext cx="2496312" cy="68580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Pour véhicules à usage professionnel assurant un transport TPMR à titre onéreux</a:t>
            </a:r>
            <a:endParaRPr lang="en-US" sz="880" dirty="0"/>
          </a:p>
        </p:txBody>
      </p:sp>
      <p:sp>
        <p:nvSpPr>
          <p:cNvPr id="27" name="Shape 25"/>
          <p:cNvSpPr/>
          <p:nvPr/>
        </p:nvSpPr>
        <p:spPr>
          <a:xfrm>
            <a:off x="3154680" y="2944368"/>
            <a:ext cx="2633472" cy="1024128"/>
          </a:xfrm>
          <a:prstGeom prst="rect">
            <a:avLst/>
          </a:prstGeom>
          <a:solidFill>
            <a:srgbClr val="E8F1FA"/>
          </a:solidFill>
          <a:ln w="6350">
            <a:solidFill>
              <a:srgbClr val="D0DCE8"/>
            </a:solidFill>
            <a:prstDash val="solid"/>
          </a:ln>
        </p:spPr>
        <p:txBody>
          <a:bodyPr/>
          <a:lstStyle/>
          <a:p>
            <a:endParaRPr lang="fr-FR"/>
          </a:p>
        </p:txBody>
      </p:sp>
      <p:sp>
        <p:nvSpPr>
          <p:cNvPr id="28" name="Shape 26"/>
          <p:cNvSpPr/>
          <p:nvPr/>
        </p:nvSpPr>
        <p:spPr>
          <a:xfrm>
            <a:off x="3154680" y="2944368"/>
            <a:ext cx="2633472" cy="292608"/>
          </a:xfrm>
          <a:prstGeom prst="rect">
            <a:avLst/>
          </a:prstGeom>
          <a:solidFill>
            <a:srgbClr val="2860A8"/>
          </a:solidFill>
          <a:ln w="12700">
            <a:solidFill>
              <a:srgbClr val="2860A8"/>
            </a:solidFill>
            <a:prstDash val="solid"/>
          </a:ln>
        </p:spPr>
        <p:txBody>
          <a:bodyPr/>
          <a:lstStyle/>
          <a:p>
            <a:endParaRPr lang="fr-FR"/>
          </a:p>
        </p:txBody>
      </p:sp>
      <p:sp>
        <p:nvSpPr>
          <p:cNvPr id="29" name="Text 27"/>
          <p:cNvSpPr/>
          <p:nvPr/>
        </p:nvSpPr>
        <p:spPr>
          <a:xfrm>
            <a:off x="3227832" y="2944368"/>
            <a:ext cx="254203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Place réservée</a:t>
            </a:r>
            <a:endParaRPr lang="en-US" sz="950" dirty="0"/>
          </a:p>
        </p:txBody>
      </p:sp>
      <p:sp>
        <p:nvSpPr>
          <p:cNvPr id="30" name="Text 28"/>
          <p:cNvSpPr/>
          <p:nvPr/>
        </p:nvSpPr>
        <p:spPr>
          <a:xfrm>
            <a:off x="3246120" y="3264408"/>
            <a:ext cx="2496312" cy="68580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Une place réservée pour une personne à mobilité réduite non en fauteuil roulant</a:t>
            </a:r>
            <a:endParaRPr lang="en-US" sz="880" dirty="0"/>
          </a:p>
        </p:txBody>
      </p:sp>
      <p:sp>
        <p:nvSpPr>
          <p:cNvPr id="31" name="Shape 29"/>
          <p:cNvSpPr/>
          <p:nvPr/>
        </p:nvSpPr>
        <p:spPr>
          <a:xfrm>
            <a:off x="6035040" y="2944368"/>
            <a:ext cx="2633472" cy="1024128"/>
          </a:xfrm>
          <a:prstGeom prst="rect">
            <a:avLst/>
          </a:prstGeom>
          <a:solidFill>
            <a:srgbClr val="E8F1FA"/>
          </a:solidFill>
          <a:ln w="6350">
            <a:solidFill>
              <a:srgbClr val="D0DCE8"/>
            </a:solidFill>
            <a:prstDash val="solid"/>
          </a:ln>
        </p:spPr>
        <p:txBody>
          <a:bodyPr/>
          <a:lstStyle/>
          <a:p>
            <a:endParaRPr lang="fr-FR"/>
          </a:p>
        </p:txBody>
      </p:sp>
      <p:sp>
        <p:nvSpPr>
          <p:cNvPr id="32" name="Shape 30"/>
          <p:cNvSpPr/>
          <p:nvPr/>
        </p:nvSpPr>
        <p:spPr>
          <a:xfrm>
            <a:off x="6035040" y="2944368"/>
            <a:ext cx="2633472" cy="292608"/>
          </a:xfrm>
          <a:prstGeom prst="rect">
            <a:avLst/>
          </a:prstGeom>
          <a:solidFill>
            <a:srgbClr val="2860A8"/>
          </a:solidFill>
          <a:ln w="12700">
            <a:solidFill>
              <a:srgbClr val="2860A8"/>
            </a:solidFill>
            <a:prstDash val="solid"/>
          </a:ln>
        </p:spPr>
        <p:txBody>
          <a:bodyPr/>
          <a:lstStyle/>
          <a:p>
            <a:endParaRPr lang="fr-FR"/>
          </a:p>
        </p:txBody>
      </p:sp>
      <p:sp>
        <p:nvSpPr>
          <p:cNvPr id="33" name="Text 31"/>
          <p:cNvSpPr/>
          <p:nvPr/>
        </p:nvSpPr>
        <p:spPr>
          <a:xfrm>
            <a:off x="6108192" y="2944368"/>
            <a:ext cx="254203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Dimensions intérieures</a:t>
            </a:r>
            <a:endParaRPr lang="en-US" sz="950" dirty="0"/>
          </a:p>
        </p:txBody>
      </p:sp>
      <p:sp>
        <p:nvSpPr>
          <p:cNvPr id="34" name="Text 32"/>
          <p:cNvSpPr/>
          <p:nvPr/>
        </p:nvSpPr>
        <p:spPr>
          <a:xfrm>
            <a:off x="6126480" y="3264408"/>
            <a:ext cx="2496312" cy="68580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Dimensions intérieures utiles minimums imposés par la réglementation</a:t>
            </a:r>
            <a:endParaRPr lang="en-US" sz="880" dirty="0"/>
          </a:p>
        </p:txBody>
      </p:sp>
      <p:sp>
        <p:nvSpPr>
          <p:cNvPr id="35" name="Shape 33"/>
          <p:cNvSpPr/>
          <p:nvPr/>
        </p:nvSpPr>
        <p:spPr>
          <a:xfrm>
            <a:off x="274320" y="4059936"/>
            <a:ext cx="2633472" cy="1024128"/>
          </a:xfrm>
          <a:prstGeom prst="rect">
            <a:avLst/>
          </a:prstGeom>
          <a:solidFill>
            <a:srgbClr val="E8F1FA"/>
          </a:solidFill>
          <a:ln w="6350">
            <a:solidFill>
              <a:srgbClr val="D0DCE8"/>
            </a:solidFill>
            <a:prstDash val="solid"/>
          </a:ln>
        </p:spPr>
        <p:txBody>
          <a:bodyPr/>
          <a:lstStyle/>
          <a:p>
            <a:endParaRPr lang="fr-FR"/>
          </a:p>
        </p:txBody>
      </p:sp>
      <p:sp>
        <p:nvSpPr>
          <p:cNvPr id="36" name="Shape 34"/>
          <p:cNvSpPr/>
          <p:nvPr/>
        </p:nvSpPr>
        <p:spPr>
          <a:xfrm>
            <a:off x="274320" y="4059936"/>
            <a:ext cx="2633472" cy="292608"/>
          </a:xfrm>
          <a:prstGeom prst="rect">
            <a:avLst/>
          </a:prstGeom>
          <a:solidFill>
            <a:srgbClr val="2860A8"/>
          </a:solidFill>
          <a:ln w="12700">
            <a:solidFill>
              <a:srgbClr val="2860A8"/>
            </a:solidFill>
            <a:prstDash val="solid"/>
          </a:ln>
        </p:spPr>
        <p:txBody>
          <a:bodyPr/>
          <a:lstStyle/>
          <a:p>
            <a:endParaRPr lang="fr-FR"/>
          </a:p>
        </p:txBody>
      </p:sp>
      <p:sp>
        <p:nvSpPr>
          <p:cNvPr id="37" name="Text 35"/>
          <p:cNvSpPr/>
          <p:nvPr/>
        </p:nvSpPr>
        <p:spPr>
          <a:xfrm>
            <a:off x="347472" y="4059936"/>
            <a:ext cx="254203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Sécurité renforcée</a:t>
            </a:r>
            <a:endParaRPr lang="en-US" sz="950" dirty="0"/>
          </a:p>
        </p:txBody>
      </p:sp>
      <p:sp>
        <p:nvSpPr>
          <p:cNvPr id="38" name="Text 36"/>
          <p:cNvSpPr/>
          <p:nvPr/>
        </p:nvSpPr>
        <p:spPr>
          <a:xfrm>
            <a:off x="365760" y="4379976"/>
            <a:ext cx="2496312" cy="68580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Ceintures de sécurité à 3 points d'ancrage pour tous les passagers</a:t>
            </a:r>
            <a:endParaRPr lang="en-US" sz="880" dirty="0"/>
          </a:p>
        </p:txBody>
      </p:sp>
      <p:sp>
        <p:nvSpPr>
          <p:cNvPr id="39" name="Shape 37"/>
          <p:cNvSpPr/>
          <p:nvPr/>
        </p:nvSpPr>
        <p:spPr>
          <a:xfrm>
            <a:off x="3154680" y="4059936"/>
            <a:ext cx="2633472" cy="1024128"/>
          </a:xfrm>
          <a:prstGeom prst="rect">
            <a:avLst/>
          </a:prstGeom>
          <a:solidFill>
            <a:srgbClr val="E8F1FA"/>
          </a:solidFill>
          <a:ln w="6350">
            <a:solidFill>
              <a:srgbClr val="D0DCE8"/>
            </a:solidFill>
            <a:prstDash val="solid"/>
          </a:ln>
        </p:spPr>
        <p:txBody>
          <a:bodyPr/>
          <a:lstStyle/>
          <a:p>
            <a:endParaRPr lang="fr-FR"/>
          </a:p>
        </p:txBody>
      </p:sp>
      <p:sp>
        <p:nvSpPr>
          <p:cNvPr id="40" name="Shape 38"/>
          <p:cNvSpPr/>
          <p:nvPr/>
        </p:nvSpPr>
        <p:spPr>
          <a:xfrm>
            <a:off x="3154680" y="4059936"/>
            <a:ext cx="2633472" cy="292608"/>
          </a:xfrm>
          <a:prstGeom prst="rect">
            <a:avLst/>
          </a:prstGeom>
          <a:solidFill>
            <a:srgbClr val="2860A8"/>
          </a:solidFill>
          <a:ln w="12700">
            <a:solidFill>
              <a:srgbClr val="2860A8"/>
            </a:solidFill>
            <a:prstDash val="solid"/>
          </a:ln>
        </p:spPr>
        <p:txBody>
          <a:bodyPr/>
          <a:lstStyle/>
          <a:p>
            <a:endParaRPr lang="fr-FR"/>
          </a:p>
        </p:txBody>
      </p:sp>
      <p:sp>
        <p:nvSpPr>
          <p:cNvPr id="41" name="Text 39"/>
          <p:cNvSpPr/>
          <p:nvPr/>
        </p:nvSpPr>
        <p:spPr>
          <a:xfrm>
            <a:off x="3227832" y="4059936"/>
            <a:ext cx="254203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Signalétique</a:t>
            </a:r>
            <a:endParaRPr lang="en-US" sz="950" dirty="0"/>
          </a:p>
        </p:txBody>
      </p:sp>
      <p:sp>
        <p:nvSpPr>
          <p:cNvPr id="42" name="Text 40"/>
          <p:cNvSpPr/>
          <p:nvPr/>
        </p:nvSpPr>
        <p:spPr>
          <a:xfrm>
            <a:off x="3246120" y="4379976"/>
            <a:ext cx="2496312" cy="68580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Signalétique spécifique et notices d'utilisation obligatoires à bord</a:t>
            </a:r>
            <a:endParaRPr lang="en-US" sz="880" dirty="0"/>
          </a:p>
        </p:txBody>
      </p:sp>
      <p:sp>
        <p:nvSpPr>
          <p:cNvPr id="43" name="Shape 41"/>
          <p:cNvSpPr/>
          <p:nvPr/>
        </p:nvSpPr>
        <p:spPr>
          <a:xfrm>
            <a:off x="274320" y="5029200"/>
            <a:ext cx="8595360" cy="347472"/>
          </a:xfrm>
          <a:prstGeom prst="rect">
            <a:avLst/>
          </a:prstGeom>
          <a:solidFill>
            <a:srgbClr val="FFFBEB"/>
          </a:solidFill>
          <a:ln w="19050">
            <a:solidFill>
              <a:srgbClr val="F4A227"/>
            </a:solidFill>
            <a:prstDash val="solid"/>
          </a:ln>
        </p:spPr>
        <p:txBody>
          <a:bodyPr/>
          <a:lstStyle/>
          <a:p>
            <a:endParaRPr lang="fr-FR"/>
          </a:p>
        </p:txBody>
      </p:sp>
      <p:sp>
        <p:nvSpPr>
          <p:cNvPr id="44" name="Shape 42"/>
          <p:cNvSpPr/>
          <p:nvPr/>
        </p:nvSpPr>
        <p:spPr>
          <a:xfrm>
            <a:off x="274320" y="5029200"/>
            <a:ext cx="54864" cy="347472"/>
          </a:xfrm>
          <a:prstGeom prst="rect">
            <a:avLst/>
          </a:prstGeom>
          <a:solidFill>
            <a:srgbClr val="F4A227"/>
          </a:solidFill>
          <a:ln w="12700">
            <a:solidFill>
              <a:srgbClr val="F4A227"/>
            </a:solidFill>
            <a:prstDash val="solid"/>
          </a:ln>
        </p:spPr>
        <p:txBody>
          <a:bodyPr/>
          <a:lstStyle/>
          <a:p>
            <a:endParaRPr lang="fr-FR"/>
          </a:p>
        </p:txBody>
      </p:sp>
      <p:sp>
        <p:nvSpPr>
          <p:cNvPr id="45" name="Text 43"/>
          <p:cNvSpPr/>
          <p:nvPr/>
        </p:nvSpPr>
        <p:spPr>
          <a:xfrm>
            <a:off x="384048" y="5029200"/>
            <a:ext cx="8467344" cy="347472"/>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ℹ  Le TPMR dépasse l'utilisation simple des équipements du véhicule (élévateur, palette...) — il inclut la connaissance des publics, la communication et les gestes techniques adaptés.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3">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13. Covoiturage et transport privé</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Pratiques hors T3P — Différences légales essentielles</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52/88</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Le covoiturage entre particuliers</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Définition légale et différences avec le T3P</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53/88</a:t>
            </a:r>
            <a:endParaRPr lang="en-US" sz="800" dirty="0"/>
          </a:p>
        </p:txBody>
      </p:sp>
      <p:sp>
        <p:nvSpPr>
          <p:cNvPr id="9" name="Shape 7"/>
          <p:cNvSpPr/>
          <p:nvPr/>
        </p:nvSpPr>
        <p:spPr>
          <a:xfrm>
            <a:off x="274320" y="960120"/>
            <a:ext cx="8595360" cy="347472"/>
          </a:xfrm>
          <a:prstGeom prst="rect">
            <a:avLst/>
          </a:prstGeom>
          <a:solidFill>
            <a:srgbClr val="1A3A5C"/>
          </a:solidFill>
          <a:ln w="12700">
            <a:solidFill>
              <a:srgbClr val="1A3A5C"/>
            </a:solidFill>
            <a:prstDash val="solid"/>
          </a:ln>
        </p:spPr>
        <p:txBody>
          <a:bodyPr/>
          <a:lstStyle/>
          <a:p>
            <a:endParaRPr lang="fr-FR"/>
          </a:p>
        </p:txBody>
      </p:sp>
      <p:sp>
        <p:nvSpPr>
          <p:cNvPr id="10" name="Text 8"/>
          <p:cNvSpPr/>
          <p:nvPr/>
        </p:nvSpPr>
        <p:spPr>
          <a:xfrm>
            <a:off x="274320" y="960120"/>
            <a:ext cx="859536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DÉFINITION LÉGALE DU COVOITURAGE</a:t>
            </a:r>
            <a:endParaRPr lang="en-US" sz="1200" dirty="0"/>
          </a:p>
        </p:txBody>
      </p:sp>
      <p:sp>
        <p:nvSpPr>
          <p:cNvPr id="11" name="Shape 9"/>
          <p:cNvSpPr/>
          <p:nvPr/>
        </p:nvSpPr>
        <p:spPr>
          <a:xfrm>
            <a:off x="274320" y="1389888"/>
            <a:ext cx="8595360" cy="841248"/>
          </a:xfrm>
          <a:prstGeom prst="rect">
            <a:avLst/>
          </a:prstGeom>
          <a:solidFill>
            <a:srgbClr val="EBF3FC"/>
          </a:solidFill>
          <a:ln w="19050">
            <a:solidFill>
              <a:srgbClr val="2860A8"/>
            </a:solidFill>
            <a:prstDash val="solid"/>
          </a:ln>
        </p:spPr>
        <p:txBody>
          <a:bodyPr/>
          <a:lstStyle/>
          <a:p>
            <a:endParaRPr lang="fr-FR"/>
          </a:p>
        </p:txBody>
      </p:sp>
      <p:sp>
        <p:nvSpPr>
          <p:cNvPr id="12" name="Shape 10"/>
          <p:cNvSpPr/>
          <p:nvPr/>
        </p:nvSpPr>
        <p:spPr>
          <a:xfrm>
            <a:off x="274320" y="1389888"/>
            <a:ext cx="54864" cy="841248"/>
          </a:xfrm>
          <a:prstGeom prst="rect">
            <a:avLst/>
          </a:prstGeom>
          <a:solidFill>
            <a:srgbClr val="2860A8"/>
          </a:solidFill>
          <a:ln w="12700">
            <a:solidFill>
              <a:srgbClr val="2860A8"/>
            </a:solidFill>
            <a:prstDash val="solid"/>
          </a:ln>
        </p:spPr>
        <p:txBody>
          <a:bodyPr/>
          <a:lstStyle/>
          <a:p>
            <a:endParaRPr lang="fr-FR"/>
          </a:p>
        </p:txBody>
      </p:sp>
      <p:sp>
        <p:nvSpPr>
          <p:cNvPr id="13" name="Text 11"/>
          <p:cNvSpPr/>
          <p:nvPr/>
        </p:nvSpPr>
        <p:spPr>
          <a:xfrm>
            <a:off x="457200" y="1389888"/>
            <a:ext cx="8229600" cy="841248"/>
          </a:xfrm>
          <a:prstGeom prst="rect">
            <a:avLst/>
          </a:prstGeom>
          <a:noFill/>
          <a:ln/>
        </p:spPr>
        <p:txBody>
          <a:bodyPr wrap="square" rtlCol="0" anchor="ctr"/>
          <a:lstStyle/>
          <a:p>
            <a:pPr marL="0" indent="0">
              <a:buNone/>
            </a:pPr>
            <a:r>
              <a:rPr lang="en-US" sz="1000" i="1" dirty="0">
                <a:solidFill>
                  <a:srgbClr val="3A3A3A"/>
                </a:solidFill>
                <a:latin typeface="Calibri" pitchFamily="34" charset="0"/>
                <a:ea typeface="Calibri" pitchFamily="34" charset="-122"/>
                <a:cs typeface="Calibri" pitchFamily="34" charset="-120"/>
              </a:rPr>
              <a:t>Le covoiturage se définit comme l'utilisation en commun d'un véhicule terrestre à moteur par un conducteur et un ou plusieurs passagers, effectuée à titre NON ONÉREUX. Le prix du covoiturage ne correspond pas à une rémunération, mais à un partage des frais sans recherche de bénéfices. C'est donc une activité non commerciale à but non lucratif, exercée par un conducteur qui n'est PAS un chauffeur professionnel. La notion a été officiellement employée dans un arrêté du ministre des Transports du 18 juillet 1989.</a:t>
            </a:r>
            <a:endParaRPr lang="en-US" sz="1000" dirty="0"/>
          </a:p>
        </p:txBody>
      </p:sp>
      <p:sp>
        <p:nvSpPr>
          <p:cNvPr id="14" name="Shape 12"/>
          <p:cNvSpPr/>
          <p:nvPr/>
        </p:nvSpPr>
        <p:spPr>
          <a:xfrm>
            <a:off x="274320" y="2304288"/>
            <a:ext cx="8595360" cy="292608"/>
          </a:xfrm>
          <a:prstGeom prst="rect">
            <a:avLst/>
          </a:prstGeom>
          <a:solidFill>
            <a:srgbClr val="1A3A5C"/>
          </a:solidFill>
          <a:ln w="12700">
            <a:solidFill>
              <a:srgbClr val="1A3A5C"/>
            </a:solidFill>
            <a:prstDash val="solid"/>
          </a:ln>
        </p:spPr>
        <p:txBody>
          <a:bodyPr/>
          <a:lstStyle/>
          <a:p>
            <a:endParaRPr lang="fr-FR"/>
          </a:p>
        </p:txBody>
      </p:sp>
      <p:sp>
        <p:nvSpPr>
          <p:cNvPr id="15" name="Text 13"/>
          <p:cNvSpPr/>
          <p:nvPr/>
        </p:nvSpPr>
        <p:spPr>
          <a:xfrm>
            <a:off x="274320" y="2304288"/>
            <a:ext cx="8595360" cy="29260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COVOITURAGE vs T3P — Tableau comparatif</a:t>
            </a:r>
            <a:endParaRPr lang="en-US" sz="105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274320" y="2651760"/>
          <a:ext cx="8595360" cy="2331720"/>
        </p:xfrm>
        <a:graphic>
          <a:graphicData uri="http://schemas.openxmlformats.org/drawingml/2006/table">
            <a:tbl>
              <a:tblPr/>
              <a:tblGrid>
                <a:gridCol w="23774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291465">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Critère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2D4A6B"/>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COVOITURAGE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2E7D32"/>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T3P (Taxi/VTC/VMDTR)</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291465">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Nature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Activité privée, économie collaborative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Activité professionnelle réglementée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1465">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Rémunération</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Non — partage de frais uniquement</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Oui — titre onéreux obligatoire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2"/>
                  </a:ext>
                </a:extLst>
              </a:tr>
              <a:tr h="291465">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Carte professionnelle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Non requise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Obligatoire (T3P)</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1465">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Assurance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Assurance personnelle suffit</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RC Circulation + RC Pro T3P</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4"/>
                  </a:ext>
                </a:extLst>
              </a:tr>
              <a:tr h="291465">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Régime fiscal</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Exonération si partage de frais</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Déclaration revenus professionnels</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1465">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Réservation</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Libre (plateformes BlaBlaCar...)</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Préalable obligatoire (VTC, VMDTR)</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6"/>
                  </a:ext>
                </a:extLst>
              </a:tr>
              <a:tr h="291465">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Droit de maraudage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Pas concerné</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Taxi seul (dans zone)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7" name="Shape 14"/>
          <p:cNvSpPr/>
          <p:nvPr/>
        </p:nvSpPr>
        <p:spPr>
          <a:xfrm>
            <a:off x="274320" y="5029200"/>
            <a:ext cx="8595360" cy="347472"/>
          </a:xfrm>
          <a:prstGeom prst="rect">
            <a:avLst/>
          </a:prstGeom>
          <a:solidFill>
            <a:srgbClr val="FFFBEB"/>
          </a:solidFill>
          <a:ln w="19050">
            <a:solidFill>
              <a:srgbClr val="F4A227"/>
            </a:solidFill>
            <a:prstDash val="solid"/>
          </a:ln>
        </p:spPr>
        <p:txBody>
          <a:bodyPr/>
          <a:lstStyle/>
          <a:p>
            <a:endParaRPr lang="fr-FR"/>
          </a:p>
        </p:txBody>
      </p:sp>
      <p:sp>
        <p:nvSpPr>
          <p:cNvPr id="18" name="Shape 15"/>
          <p:cNvSpPr/>
          <p:nvPr/>
        </p:nvSpPr>
        <p:spPr>
          <a:xfrm>
            <a:off x="274320" y="5029200"/>
            <a:ext cx="54864" cy="347472"/>
          </a:xfrm>
          <a:prstGeom prst="rect">
            <a:avLst/>
          </a:prstGeom>
          <a:solidFill>
            <a:srgbClr val="F4A227"/>
          </a:solidFill>
          <a:ln w="12700">
            <a:solidFill>
              <a:srgbClr val="F4A227"/>
            </a:solidFill>
            <a:prstDash val="solid"/>
          </a:ln>
        </p:spPr>
        <p:txBody>
          <a:bodyPr/>
          <a:lstStyle/>
          <a:p>
            <a:endParaRPr lang="fr-FR"/>
          </a:p>
        </p:txBody>
      </p:sp>
      <p:sp>
        <p:nvSpPr>
          <p:cNvPr id="19" name="Text 16"/>
          <p:cNvSpPr/>
          <p:nvPr/>
        </p:nvSpPr>
        <p:spPr>
          <a:xfrm>
            <a:off x="384048" y="5029200"/>
            <a:ext cx="8467344" cy="347472"/>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ℹ  Un conducteur T3P qui fait du covoiturage pour ses propres trajets reste dans la légalité — à condition de ne pas exercer son activité professionnelle simultanément.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65">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14. Les intermédiaires de la mise en relation</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Plateformes numériques et obligations légales envers les conducteurs</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55/88</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6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Les intermédiaires — Plateformes et applications</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Obligations légales des plateformes envers les conducteurs T3P</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56/88</a:t>
            </a:r>
            <a:endParaRPr lang="en-US" sz="800" dirty="0"/>
          </a:p>
        </p:txBody>
      </p:sp>
      <p:sp>
        <p:nvSpPr>
          <p:cNvPr id="9" name="Shape 7"/>
          <p:cNvSpPr/>
          <p:nvPr/>
        </p:nvSpPr>
        <p:spPr>
          <a:xfrm>
            <a:off x="274320" y="960120"/>
            <a:ext cx="8595360" cy="347472"/>
          </a:xfrm>
          <a:prstGeom prst="rect">
            <a:avLst/>
          </a:prstGeom>
          <a:solidFill>
            <a:srgbClr val="1A3A5C"/>
          </a:solidFill>
          <a:ln w="12700">
            <a:solidFill>
              <a:srgbClr val="1A3A5C"/>
            </a:solidFill>
            <a:prstDash val="solid"/>
          </a:ln>
        </p:spPr>
        <p:txBody>
          <a:bodyPr/>
          <a:lstStyle/>
          <a:p>
            <a:endParaRPr lang="fr-FR"/>
          </a:p>
        </p:txBody>
      </p:sp>
      <p:sp>
        <p:nvSpPr>
          <p:cNvPr id="10" name="Text 8"/>
          <p:cNvSpPr/>
          <p:nvPr/>
        </p:nvSpPr>
        <p:spPr>
          <a:xfrm>
            <a:off x="274320" y="960120"/>
            <a:ext cx="859536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DÉFINITION — Qu'est-ce qu'un intermédiaire T3P ?</a:t>
            </a:r>
            <a:endParaRPr lang="en-US" sz="1200" dirty="0"/>
          </a:p>
        </p:txBody>
      </p:sp>
      <p:sp>
        <p:nvSpPr>
          <p:cNvPr id="11" name="Shape 9"/>
          <p:cNvSpPr/>
          <p:nvPr/>
        </p:nvSpPr>
        <p:spPr>
          <a:xfrm>
            <a:off x="274320" y="1389888"/>
            <a:ext cx="8595360" cy="658368"/>
          </a:xfrm>
          <a:prstGeom prst="rect">
            <a:avLst/>
          </a:prstGeom>
          <a:solidFill>
            <a:srgbClr val="EBF3FC"/>
          </a:solidFill>
          <a:ln w="19050">
            <a:solidFill>
              <a:srgbClr val="2860A8"/>
            </a:solidFill>
            <a:prstDash val="solid"/>
          </a:ln>
        </p:spPr>
        <p:txBody>
          <a:bodyPr/>
          <a:lstStyle/>
          <a:p>
            <a:endParaRPr lang="fr-FR"/>
          </a:p>
        </p:txBody>
      </p:sp>
      <p:sp>
        <p:nvSpPr>
          <p:cNvPr id="12" name="Shape 10"/>
          <p:cNvSpPr/>
          <p:nvPr/>
        </p:nvSpPr>
        <p:spPr>
          <a:xfrm>
            <a:off x="274320" y="1389888"/>
            <a:ext cx="54864" cy="658368"/>
          </a:xfrm>
          <a:prstGeom prst="rect">
            <a:avLst/>
          </a:prstGeom>
          <a:solidFill>
            <a:srgbClr val="2860A8"/>
          </a:solidFill>
          <a:ln w="12700">
            <a:solidFill>
              <a:srgbClr val="2860A8"/>
            </a:solidFill>
            <a:prstDash val="solid"/>
          </a:ln>
        </p:spPr>
        <p:txBody>
          <a:bodyPr/>
          <a:lstStyle/>
          <a:p>
            <a:endParaRPr lang="fr-FR"/>
          </a:p>
        </p:txBody>
      </p:sp>
      <p:sp>
        <p:nvSpPr>
          <p:cNvPr id="13" name="Text 11"/>
          <p:cNvSpPr/>
          <p:nvPr/>
        </p:nvSpPr>
        <p:spPr>
          <a:xfrm>
            <a:off x="457200" y="1389888"/>
            <a:ext cx="8229600" cy="65836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Un intermédiaire est toute personne physique ou morale qui met en relation des clients avec des conducteurs T3P, à titre habituel et contre rémunération, au moyen d'une plateforme ou application numérique. Exemples : Uber, Bolt, Heetch, Snapcar, G7, Chauffeur Privé...</a:t>
            </a:r>
            <a:endParaRPr lang="en-US" sz="1000" dirty="0"/>
          </a:p>
        </p:txBody>
      </p:sp>
      <p:sp>
        <p:nvSpPr>
          <p:cNvPr id="14" name="Shape 12"/>
          <p:cNvSpPr/>
          <p:nvPr/>
        </p:nvSpPr>
        <p:spPr>
          <a:xfrm>
            <a:off x="274320" y="2121408"/>
            <a:ext cx="4160520" cy="320040"/>
          </a:xfrm>
          <a:prstGeom prst="rect">
            <a:avLst/>
          </a:prstGeom>
          <a:solidFill>
            <a:srgbClr val="2860A8"/>
          </a:solidFill>
          <a:ln w="12700">
            <a:solidFill>
              <a:srgbClr val="2860A8"/>
            </a:solidFill>
            <a:prstDash val="solid"/>
          </a:ln>
        </p:spPr>
        <p:txBody>
          <a:bodyPr/>
          <a:lstStyle/>
          <a:p>
            <a:endParaRPr lang="fr-FR"/>
          </a:p>
        </p:txBody>
      </p:sp>
      <p:sp>
        <p:nvSpPr>
          <p:cNvPr id="15" name="Text 13"/>
          <p:cNvSpPr/>
          <p:nvPr/>
        </p:nvSpPr>
        <p:spPr>
          <a:xfrm>
            <a:off x="274320" y="2121408"/>
            <a:ext cx="416052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OBLIGATIONS DE L'INTERMÉDIAIRE</a:t>
            </a:r>
            <a:endParaRPr lang="en-US" sz="1000" dirty="0"/>
          </a:p>
        </p:txBody>
      </p:sp>
      <p:sp>
        <p:nvSpPr>
          <p:cNvPr id="16" name="Shape 14"/>
          <p:cNvSpPr/>
          <p:nvPr/>
        </p:nvSpPr>
        <p:spPr>
          <a:xfrm>
            <a:off x="274320" y="2487168"/>
            <a:ext cx="4160520" cy="347472"/>
          </a:xfrm>
          <a:prstGeom prst="rect">
            <a:avLst/>
          </a:prstGeom>
          <a:solidFill>
            <a:srgbClr val="E8F1FA"/>
          </a:solidFill>
          <a:ln w="6350">
            <a:solidFill>
              <a:srgbClr val="D0DCE8"/>
            </a:solidFill>
            <a:prstDash val="solid"/>
          </a:ln>
        </p:spPr>
        <p:txBody>
          <a:bodyPr/>
          <a:lstStyle/>
          <a:p>
            <a:endParaRPr lang="fr-FR"/>
          </a:p>
        </p:txBody>
      </p:sp>
      <p:sp>
        <p:nvSpPr>
          <p:cNvPr id="17" name="Shape 15"/>
          <p:cNvSpPr/>
          <p:nvPr/>
        </p:nvSpPr>
        <p:spPr>
          <a:xfrm>
            <a:off x="274320" y="2487168"/>
            <a:ext cx="256032" cy="347472"/>
          </a:xfrm>
          <a:prstGeom prst="rect">
            <a:avLst/>
          </a:prstGeom>
          <a:solidFill>
            <a:srgbClr val="2860A8"/>
          </a:solidFill>
          <a:ln w="12700">
            <a:solidFill>
              <a:srgbClr val="2860A8"/>
            </a:solidFill>
            <a:prstDash val="solid"/>
          </a:ln>
        </p:spPr>
        <p:txBody>
          <a:bodyPr/>
          <a:lstStyle/>
          <a:p>
            <a:endParaRPr lang="fr-FR"/>
          </a:p>
        </p:txBody>
      </p:sp>
      <p:sp>
        <p:nvSpPr>
          <p:cNvPr id="18" name="Text 16"/>
          <p:cNvSpPr/>
          <p:nvPr/>
        </p:nvSpPr>
        <p:spPr>
          <a:xfrm>
            <a:off x="274320" y="2487168"/>
            <a:ext cx="256032" cy="347472"/>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19" name="Text 17"/>
          <p:cNvSpPr/>
          <p:nvPr/>
        </p:nvSpPr>
        <p:spPr>
          <a:xfrm>
            <a:off x="594360" y="2505456"/>
            <a:ext cx="3767328" cy="292608"/>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Vérifier que le conducteur possède une carte pro T3P valide avant toute mise en relation</a:t>
            </a:r>
            <a:endParaRPr lang="en-US" sz="900" dirty="0"/>
          </a:p>
        </p:txBody>
      </p:sp>
      <p:sp>
        <p:nvSpPr>
          <p:cNvPr id="20" name="Shape 18"/>
          <p:cNvSpPr/>
          <p:nvPr/>
        </p:nvSpPr>
        <p:spPr>
          <a:xfrm>
            <a:off x="274320" y="2871216"/>
            <a:ext cx="4160520" cy="347472"/>
          </a:xfrm>
          <a:prstGeom prst="rect">
            <a:avLst/>
          </a:prstGeom>
          <a:solidFill>
            <a:srgbClr val="FFFFFF"/>
          </a:solidFill>
          <a:ln w="6350">
            <a:solidFill>
              <a:srgbClr val="D0DCE8"/>
            </a:solidFill>
            <a:prstDash val="solid"/>
          </a:ln>
        </p:spPr>
        <p:txBody>
          <a:bodyPr/>
          <a:lstStyle/>
          <a:p>
            <a:endParaRPr lang="fr-FR"/>
          </a:p>
        </p:txBody>
      </p:sp>
      <p:sp>
        <p:nvSpPr>
          <p:cNvPr id="21" name="Shape 19"/>
          <p:cNvSpPr/>
          <p:nvPr/>
        </p:nvSpPr>
        <p:spPr>
          <a:xfrm>
            <a:off x="274320" y="2871216"/>
            <a:ext cx="256032" cy="347472"/>
          </a:xfrm>
          <a:prstGeom prst="rect">
            <a:avLst/>
          </a:prstGeom>
          <a:solidFill>
            <a:srgbClr val="2860A8"/>
          </a:solidFill>
          <a:ln w="12700">
            <a:solidFill>
              <a:srgbClr val="2860A8"/>
            </a:solidFill>
            <a:prstDash val="solid"/>
          </a:ln>
        </p:spPr>
        <p:txBody>
          <a:bodyPr/>
          <a:lstStyle/>
          <a:p>
            <a:endParaRPr lang="fr-FR"/>
          </a:p>
        </p:txBody>
      </p:sp>
      <p:sp>
        <p:nvSpPr>
          <p:cNvPr id="22" name="Text 20"/>
          <p:cNvSpPr/>
          <p:nvPr/>
        </p:nvSpPr>
        <p:spPr>
          <a:xfrm>
            <a:off x="274320" y="2871216"/>
            <a:ext cx="256032" cy="347472"/>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23" name="Text 21"/>
          <p:cNvSpPr/>
          <p:nvPr/>
        </p:nvSpPr>
        <p:spPr>
          <a:xfrm>
            <a:off x="594360" y="2889504"/>
            <a:ext cx="3767328" cy="292608"/>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Vérifier l'inscription du VTC au registre national des VTC</a:t>
            </a:r>
            <a:endParaRPr lang="en-US" sz="900" dirty="0"/>
          </a:p>
        </p:txBody>
      </p:sp>
      <p:sp>
        <p:nvSpPr>
          <p:cNvPr id="24" name="Shape 22"/>
          <p:cNvSpPr/>
          <p:nvPr/>
        </p:nvSpPr>
        <p:spPr>
          <a:xfrm>
            <a:off x="274320" y="3255264"/>
            <a:ext cx="4160520" cy="347472"/>
          </a:xfrm>
          <a:prstGeom prst="rect">
            <a:avLst/>
          </a:prstGeom>
          <a:solidFill>
            <a:srgbClr val="E8F1FA"/>
          </a:solidFill>
          <a:ln w="6350">
            <a:solidFill>
              <a:srgbClr val="D0DCE8"/>
            </a:solidFill>
            <a:prstDash val="solid"/>
          </a:ln>
        </p:spPr>
        <p:txBody>
          <a:bodyPr/>
          <a:lstStyle/>
          <a:p>
            <a:endParaRPr lang="fr-FR"/>
          </a:p>
        </p:txBody>
      </p:sp>
      <p:sp>
        <p:nvSpPr>
          <p:cNvPr id="25" name="Shape 23"/>
          <p:cNvSpPr/>
          <p:nvPr/>
        </p:nvSpPr>
        <p:spPr>
          <a:xfrm>
            <a:off x="274320" y="3255264"/>
            <a:ext cx="256032" cy="347472"/>
          </a:xfrm>
          <a:prstGeom prst="rect">
            <a:avLst/>
          </a:prstGeom>
          <a:solidFill>
            <a:srgbClr val="2860A8"/>
          </a:solidFill>
          <a:ln w="12700">
            <a:solidFill>
              <a:srgbClr val="2860A8"/>
            </a:solidFill>
            <a:prstDash val="solid"/>
          </a:ln>
        </p:spPr>
        <p:txBody>
          <a:bodyPr/>
          <a:lstStyle/>
          <a:p>
            <a:endParaRPr lang="fr-FR"/>
          </a:p>
        </p:txBody>
      </p:sp>
      <p:sp>
        <p:nvSpPr>
          <p:cNvPr id="26" name="Text 24"/>
          <p:cNvSpPr/>
          <p:nvPr/>
        </p:nvSpPr>
        <p:spPr>
          <a:xfrm>
            <a:off x="274320" y="3255264"/>
            <a:ext cx="256032" cy="347472"/>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27" name="Text 25"/>
          <p:cNvSpPr/>
          <p:nvPr/>
        </p:nvSpPr>
        <p:spPr>
          <a:xfrm>
            <a:off x="594360" y="3273552"/>
            <a:ext cx="3767328" cy="292608"/>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S'assurer que le conducteur est bien assuré (RC Circulation + RC Pro T3P)</a:t>
            </a:r>
            <a:endParaRPr lang="en-US" sz="900" dirty="0"/>
          </a:p>
        </p:txBody>
      </p:sp>
      <p:sp>
        <p:nvSpPr>
          <p:cNvPr id="28" name="Shape 26"/>
          <p:cNvSpPr/>
          <p:nvPr/>
        </p:nvSpPr>
        <p:spPr>
          <a:xfrm>
            <a:off x="274320" y="3639312"/>
            <a:ext cx="4160520" cy="347472"/>
          </a:xfrm>
          <a:prstGeom prst="rect">
            <a:avLst/>
          </a:prstGeom>
          <a:solidFill>
            <a:srgbClr val="FFFFFF"/>
          </a:solidFill>
          <a:ln w="6350">
            <a:solidFill>
              <a:srgbClr val="D0DCE8"/>
            </a:solidFill>
            <a:prstDash val="solid"/>
          </a:ln>
        </p:spPr>
        <p:txBody>
          <a:bodyPr/>
          <a:lstStyle/>
          <a:p>
            <a:endParaRPr lang="fr-FR"/>
          </a:p>
        </p:txBody>
      </p:sp>
      <p:sp>
        <p:nvSpPr>
          <p:cNvPr id="29" name="Shape 27"/>
          <p:cNvSpPr/>
          <p:nvPr/>
        </p:nvSpPr>
        <p:spPr>
          <a:xfrm>
            <a:off x="274320" y="3639312"/>
            <a:ext cx="256032" cy="347472"/>
          </a:xfrm>
          <a:prstGeom prst="rect">
            <a:avLst/>
          </a:prstGeom>
          <a:solidFill>
            <a:srgbClr val="2860A8"/>
          </a:solidFill>
          <a:ln w="12700">
            <a:solidFill>
              <a:srgbClr val="2860A8"/>
            </a:solidFill>
            <a:prstDash val="solid"/>
          </a:ln>
        </p:spPr>
        <p:txBody>
          <a:bodyPr/>
          <a:lstStyle/>
          <a:p>
            <a:endParaRPr lang="fr-FR"/>
          </a:p>
        </p:txBody>
      </p:sp>
      <p:sp>
        <p:nvSpPr>
          <p:cNvPr id="30" name="Text 28"/>
          <p:cNvSpPr/>
          <p:nvPr/>
        </p:nvSpPr>
        <p:spPr>
          <a:xfrm>
            <a:off x="274320" y="3639312"/>
            <a:ext cx="256032" cy="347472"/>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31" name="Text 29"/>
          <p:cNvSpPr/>
          <p:nvPr/>
        </p:nvSpPr>
        <p:spPr>
          <a:xfrm>
            <a:off x="594360" y="3657600"/>
            <a:ext cx="3767328" cy="292608"/>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Transmettre les informations sur la course : tarif estimé, véhicule, conducteur</a:t>
            </a:r>
            <a:endParaRPr lang="en-US" sz="900" dirty="0"/>
          </a:p>
        </p:txBody>
      </p:sp>
      <p:sp>
        <p:nvSpPr>
          <p:cNvPr id="32" name="Shape 30"/>
          <p:cNvSpPr/>
          <p:nvPr/>
        </p:nvSpPr>
        <p:spPr>
          <a:xfrm>
            <a:off x="274320" y="4023360"/>
            <a:ext cx="4160520" cy="347472"/>
          </a:xfrm>
          <a:prstGeom prst="rect">
            <a:avLst/>
          </a:prstGeom>
          <a:solidFill>
            <a:srgbClr val="E8F1FA"/>
          </a:solidFill>
          <a:ln w="6350">
            <a:solidFill>
              <a:srgbClr val="D0DCE8"/>
            </a:solidFill>
            <a:prstDash val="solid"/>
          </a:ln>
        </p:spPr>
        <p:txBody>
          <a:bodyPr/>
          <a:lstStyle/>
          <a:p>
            <a:endParaRPr lang="fr-FR"/>
          </a:p>
        </p:txBody>
      </p:sp>
      <p:sp>
        <p:nvSpPr>
          <p:cNvPr id="33" name="Shape 31"/>
          <p:cNvSpPr/>
          <p:nvPr/>
        </p:nvSpPr>
        <p:spPr>
          <a:xfrm>
            <a:off x="274320" y="4023360"/>
            <a:ext cx="256032" cy="347472"/>
          </a:xfrm>
          <a:prstGeom prst="rect">
            <a:avLst/>
          </a:prstGeom>
          <a:solidFill>
            <a:srgbClr val="2860A8"/>
          </a:solidFill>
          <a:ln w="12700">
            <a:solidFill>
              <a:srgbClr val="2860A8"/>
            </a:solidFill>
            <a:prstDash val="solid"/>
          </a:ln>
        </p:spPr>
        <p:txBody>
          <a:bodyPr/>
          <a:lstStyle/>
          <a:p>
            <a:endParaRPr lang="fr-FR"/>
          </a:p>
        </p:txBody>
      </p:sp>
      <p:sp>
        <p:nvSpPr>
          <p:cNvPr id="34" name="Text 32"/>
          <p:cNvSpPr/>
          <p:nvPr/>
        </p:nvSpPr>
        <p:spPr>
          <a:xfrm>
            <a:off x="274320" y="4023360"/>
            <a:ext cx="256032" cy="347472"/>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35" name="Text 33"/>
          <p:cNvSpPr/>
          <p:nvPr/>
        </p:nvSpPr>
        <p:spPr>
          <a:xfrm>
            <a:off x="594360" y="4041648"/>
            <a:ext cx="3767328" cy="292608"/>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Ne pas informer de façon irrégulière sur la localisation et disponibilité des véhicules</a:t>
            </a:r>
            <a:endParaRPr lang="en-US" sz="900" dirty="0"/>
          </a:p>
        </p:txBody>
      </p:sp>
      <p:sp>
        <p:nvSpPr>
          <p:cNvPr id="36" name="Shape 34"/>
          <p:cNvSpPr/>
          <p:nvPr/>
        </p:nvSpPr>
        <p:spPr>
          <a:xfrm>
            <a:off x="274320" y="4407408"/>
            <a:ext cx="4160520" cy="347472"/>
          </a:xfrm>
          <a:prstGeom prst="rect">
            <a:avLst/>
          </a:prstGeom>
          <a:solidFill>
            <a:srgbClr val="FFFFFF"/>
          </a:solidFill>
          <a:ln w="6350">
            <a:solidFill>
              <a:srgbClr val="D0DCE8"/>
            </a:solidFill>
            <a:prstDash val="solid"/>
          </a:ln>
        </p:spPr>
        <p:txBody>
          <a:bodyPr/>
          <a:lstStyle/>
          <a:p>
            <a:endParaRPr lang="fr-FR"/>
          </a:p>
        </p:txBody>
      </p:sp>
      <p:sp>
        <p:nvSpPr>
          <p:cNvPr id="37" name="Shape 35"/>
          <p:cNvSpPr/>
          <p:nvPr/>
        </p:nvSpPr>
        <p:spPr>
          <a:xfrm>
            <a:off x="274320" y="4407408"/>
            <a:ext cx="256032" cy="347472"/>
          </a:xfrm>
          <a:prstGeom prst="rect">
            <a:avLst/>
          </a:prstGeom>
          <a:solidFill>
            <a:srgbClr val="2860A8"/>
          </a:solidFill>
          <a:ln w="12700">
            <a:solidFill>
              <a:srgbClr val="2860A8"/>
            </a:solidFill>
            <a:prstDash val="solid"/>
          </a:ln>
        </p:spPr>
        <p:txBody>
          <a:bodyPr/>
          <a:lstStyle/>
          <a:p>
            <a:endParaRPr lang="fr-FR"/>
          </a:p>
        </p:txBody>
      </p:sp>
      <p:sp>
        <p:nvSpPr>
          <p:cNvPr id="38" name="Text 36"/>
          <p:cNvSpPr/>
          <p:nvPr/>
        </p:nvSpPr>
        <p:spPr>
          <a:xfrm>
            <a:off x="274320" y="4407408"/>
            <a:ext cx="256032" cy="347472"/>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39" name="Text 37"/>
          <p:cNvSpPr/>
          <p:nvPr/>
        </p:nvSpPr>
        <p:spPr>
          <a:xfrm>
            <a:off x="594360" y="4425696"/>
            <a:ext cx="3767328" cy="292608"/>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Toute information irrégulière sur disponibilité → Infraction Classe 5</a:t>
            </a:r>
            <a:endParaRPr lang="en-US" sz="900" dirty="0"/>
          </a:p>
        </p:txBody>
      </p:sp>
      <p:sp>
        <p:nvSpPr>
          <p:cNvPr id="40" name="Shape 38"/>
          <p:cNvSpPr/>
          <p:nvPr/>
        </p:nvSpPr>
        <p:spPr>
          <a:xfrm>
            <a:off x="4709160" y="2121408"/>
            <a:ext cx="4160520" cy="320040"/>
          </a:xfrm>
          <a:prstGeom prst="rect">
            <a:avLst/>
          </a:prstGeom>
          <a:solidFill>
            <a:srgbClr val="1A3A5C"/>
          </a:solidFill>
          <a:ln w="12700">
            <a:solidFill>
              <a:srgbClr val="1A3A5C"/>
            </a:solidFill>
            <a:prstDash val="solid"/>
          </a:ln>
        </p:spPr>
        <p:txBody>
          <a:bodyPr/>
          <a:lstStyle/>
          <a:p>
            <a:endParaRPr lang="fr-FR"/>
          </a:p>
        </p:txBody>
      </p:sp>
      <p:sp>
        <p:nvSpPr>
          <p:cNvPr id="41" name="Text 39"/>
          <p:cNvSpPr/>
          <p:nvPr/>
        </p:nvSpPr>
        <p:spPr>
          <a:xfrm>
            <a:off x="4709160" y="2121408"/>
            <a:ext cx="416052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DROITS DU CONDUCTEUR T3P</a:t>
            </a:r>
            <a:endParaRPr lang="en-US" sz="1000" dirty="0"/>
          </a:p>
        </p:txBody>
      </p:sp>
      <p:sp>
        <p:nvSpPr>
          <p:cNvPr id="42" name="Shape 40"/>
          <p:cNvSpPr/>
          <p:nvPr/>
        </p:nvSpPr>
        <p:spPr>
          <a:xfrm>
            <a:off x="4709160" y="2487168"/>
            <a:ext cx="4160520" cy="393192"/>
          </a:xfrm>
          <a:prstGeom prst="rect">
            <a:avLst/>
          </a:prstGeom>
          <a:solidFill>
            <a:srgbClr val="E8F1FA"/>
          </a:solidFill>
          <a:ln w="6350">
            <a:solidFill>
              <a:srgbClr val="D0DCE8"/>
            </a:solidFill>
            <a:prstDash val="solid"/>
          </a:ln>
        </p:spPr>
        <p:txBody>
          <a:bodyPr/>
          <a:lstStyle/>
          <a:p>
            <a:endParaRPr lang="fr-FR"/>
          </a:p>
        </p:txBody>
      </p:sp>
      <p:sp>
        <p:nvSpPr>
          <p:cNvPr id="43" name="Shape 41"/>
          <p:cNvSpPr/>
          <p:nvPr/>
        </p:nvSpPr>
        <p:spPr>
          <a:xfrm>
            <a:off x="4709160" y="2487168"/>
            <a:ext cx="320040" cy="393192"/>
          </a:xfrm>
          <a:prstGeom prst="rect">
            <a:avLst/>
          </a:prstGeom>
          <a:solidFill>
            <a:srgbClr val="2860A8"/>
          </a:solidFill>
          <a:ln w="12700">
            <a:solidFill>
              <a:srgbClr val="2860A8"/>
            </a:solidFill>
            <a:prstDash val="solid"/>
          </a:ln>
        </p:spPr>
        <p:txBody>
          <a:bodyPr/>
          <a:lstStyle/>
          <a:p>
            <a:endParaRPr lang="fr-FR"/>
          </a:p>
        </p:txBody>
      </p:sp>
      <p:sp>
        <p:nvSpPr>
          <p:cNvPr id="44" name="Text 42"/>
          <p:cNvSpPr/>
          <p:nvPr/>
        </p:nvSpPr>
        <p:spPr>
          <a:xfrm>
            <a:off x="4709160" y="2487168"/>
            <a:ext cx="320040" cy="39319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t>
            </a:r>
            <a:endParaRPr lang="en-US" sz="1000" dirty="0"/>
          </a:p>
        </p:txBody>
      </p:sp>
      <p:sp>
        <p:nvSpPr>
          <p:cNvPr id="45" name="Text 43"/>
          <p:cNvSpPr/>
          <p:nvPr/>
        </p:nvSpPr>
        <p:spPr>
          <a:xfrm>
            <a:off x="5102352" y="2505456"/>
            <a:ext cx="3657600" cy="329184"/>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Transparence tarifaire : Connaître à l'avance les tarifs et commissions de la plateforme</a:t>
            </a:r>
            <a:endParaRPr lang="en-US" sz="900" dirty="0"/>
          </a:p>
        </p:txBody>
      </p:sp>
      <p:sp>
        <p:nvSpPr>
          <p:cNvPr id="46" name="Shape 44"/>
          <p:cNvSpPr/>
          <p:nvPr/>
        </p:nvSpPr>
        <p:spPr>
          <a:xfrm>
            <a:off x="4709160" y="2926080"/>
            <a:ext cx="4160520" cy="393192"/>
          </a:xfrm>
          <a:prstGeom prst="rect">
            <a:avLst/>
          </a:prstGeom>
          <a:solidFill>
            <a:srgbClr val="FFFFFF"/>
          </a:solidFill>
          <a:ln w="6350">
            <a:solidFill>
              <a:srgbClr val="D0DCE8"/>
            </a:solidFill>
            <a:prstDash val="solid"/>
          </a:ln>
        </p:spPr>
        <p:txBody>
          <a:bodyPr/>
          <a:lstStyle/>
          <a:p>
            <a:endParaRPr lang="fr-FR"/>
          </a:p>
        </p:txBody>
      </p:sp>
      <p:sp>
        <p:nvSpPr>
          <p:cNvPr id="47" name="Shape 45"/>
          <p:cNvSpPr/>
          <p:nvPr/>
        </p:nvSpPr>
        <p:spPr>
          <a:xfrm>
            <a:off x="4709160" y="2926080"/>
            <a:ext cx="320040" cy="393192"/>
          </a:xfrm>
          <a:prstGeom prst="rect">
            <a:avLst/>
          </a:prstGeom>
          <a:solidFill>
            <a:srgbClr val="1A3A5C"/>
          </a:solidFill>
          <a:ln w="12700">
            <a:solidFill>
              <a:srgbClr val="1A3A5C"/>
            </a:solidFill>
            <a:prstDash val="solid"/>
          </a:ln>
        </p:spPr>
        <p:txBody>
          <a:bodyPr/>
          <a:lstStyle/>
          <a:p>
            <a:endParaRPr lang="fr-FR"/>
          </a:p>
        </p:txBody>
      </p:sp>
      <p:sp>
        <p:nvSpPr>
          <p:cNvPr id="48" name="Text 46"/>
          <p:cNvSpPr/>
          <p:nvPr/>
        </p:nvSpPr>
        <p:spPr>
          <a:xfrm>
            <a:off x="4709160" y="2926080"/>
            <a:ext cx="320040" cy="39319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t>
            </a:r>
            <a:endParaRPr lang="en-US" sz="1000" dirty="0"/>
          </a:p>
        </p:txBody>
      </p:sp>
      <p:sp>
        <p:nvSpPr>
          <p:cNvPr id="49" name="Text 47"/>
          <p:cNvSpPr/>
          <p:nvPr/>
        </p:nvSpPr>
        <p:spPr>
          <a:xfrm>
            <a:off x="5102352" y="2944368"/>
            <a:ext cx="3657600" cy="329184"/>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Conditions générales : Accès aux CGU en français, claires et compréhensibles</a:t>
            </a:r>
            <a:endParaRPr lang="en-US" sz="900" dirty="0"/>
          </a:p>
        </p:txBody>
      </p:sp>
      <p:sp>
        <p:nvSpPr>
          <p:cNvPr id="50" name="Shape 48"/>
          <p:cNvSpPr/>
          <p:nvPr/>
        </p:nvSpPr>
        <p:spPr>
          <a:xfrm>
            <a:off x="4709160" y="3364992"/>
            <a:ext cx="4160520" cy="393192"/>
          </a:xfrm>
          <a:prstGeom prst="rect">
            <a:avLst/>
          </a:prstGeom>
          <a:solidFill>
            <a:srgbClr val="E8F1FA"/>
          </a:solidFill>
          <a:ln w="6350">
            <a:solidFill>
              <a:srgbClr val="D0DCE8"/>
            </a:solidFill>
            <a:prstDash val="solid"/>
          </a:ln>
        </p:spPr>
        <p:txBody>
          <a:bodyPr/>
          <a:lstStyle/>
          <a:p>
            <a:endParaRPr lang="fr-FR"/>
          </a:p>
        </p:txBody>
      </p:sp>
      <p:sp>
        <p:nvSpPr>
          <p:cNvPr id="51" name="Shape 49"/>
          <p:cNvSpPr/>
          <p:nvPr/>
        </p:nvSpPr>
        <p:spPr>
          <a:xfrm>
            <a:off x="4709160" y="3364992"/>
            <a:ext cx="320040" cy="393192"/>
          </a:xfrm>
          <a:prstGeom prst="rect">
            <a:avLst/>
          </a:prstGeom>
          <a:solidFill>
            <a:srgbClr val="6B7A8D"/>
          </a:solidFill>
          <a:ln w="12700">
            <a:solidFill>
              <a:srgbClr val="6B7A8D"/>
            </a:solidFill>
            <a:prstDash val="solid"/>
          </a:ln>
        </p:spPr>
        <p:txBody>
          <a:bodyPr/>
          <a:lstStyle/>
          <a:p>
            <a:endParaRPr lang="fr-FR"/>
          </a:p>
        </p:txBody>
      </p:sp>
      <p:sp>
        <p:nvSpPr>
          <p:cNvPr id="52" name="Text 50"/>
          <p:cNvSpPr/>
          <p:nvPr/>
        </p:nvSpPr>
        <p:spPr>
          <a:xfrm>
            <a:off x="4709160" y="3364992"/>
            <a:ext cx="320040" cy="39319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t>
            </a:r>
            <a:endParaRPr lang="en-US" sz="1000" dirty="0"/>
          </a:p>
        </p:txBody>
      </p:sp>
      <p:sp>
        <p:nvSpPr>
          <p:cNvPr id="53" name="Text 51"/>
          <p:cNvSpPr/>
          <p:nvPr/>
        </p:nvSpPr>
        <p:spPr>
          <a:xfrm>
            <a:off x="5102352" y="3383280"/>
            <a:ext cx="3657600" cy="329184"/>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Résiliation : Préavis raisonnable avant toute modification des conditions ou résiliation</a:t>
            </a:r>
            <a:endParaRPr lang="en-US" sz="900" dirty="0"/>
          </a:p>
        </p:txBody>
      </p:sp>
      <p:sp>
        <p:nvSpPr>
          <p:cNvPr id="54" name="Shape 52"/>
          <p:cNvSpPr/>
          <p:nvPr/>
        </p:nvSpPr>
        <p:spPr>
          <a:xfrm>
            <a:off x="4709160" y="3803904"/>
            <a:ext cx="4160520" cy="393192"/>
          </a:xfrm>
          <a:prstGeom prst="rect">
            <a:avLst/>
          </a:prstGeom>
          <a:solidFill>
            <a:srgbClr val="FFFFFF"/>
          </a:solidFill>
          <a:ln w="6350">
            <a:solidFill>
              <a:srgbClr val="D0DCE8"/>
            </a:solidFill>
            <a:prstDash val="solid"/>
          </a:ln>
        </p:spPr>
        <p:txBody>
          <a:bodyPr/>
          <a:lstStyle/>
          <a:p>
            <a:endParaRPr lang="fr-FR"/>
          </a:p>
        </p:txBody>
      </p:sp>
      <p:sp>
        <p:nvSpPr>
          <p:cNvPr id="55" name="Shape 53"/>
          <p:cNvSpPr/>
          <p:nvPr/>
        </p:nvSpPr>
        <p:spPr>
          <a:xfrm>
            <a:off x="4709160" y="3803904"/>
            <a:ext cx="320040" cy="393192"/>
          </a:xfrm>
          <a:prstGeom prst="rect">
            <a:avLst/>
          </a:prstGeom>
          <a:solidFill>
            <a:srgbClr val="F4A227"/>
          </a:solidFill>
          <a:ln w="12700">
            <a:solidFill>
              <a:srgbClr val="F4A227"/>
            </a:solidFill>
            <a:prstDash val="solid"/>
          </a:ln>
        </p:spPr>
        <p:txBody>
          <a:bodyPr/>
          <a:lstStyle/>
          <a:p>
            <a:endParaRPr lang="fr-FR"/>
          </a:p>
        </p:txBody>
      </p:sp>
      <p:sp>
        <p:nvSpPr>
          <p:cNvPr id="56" name="Text 54"/>
          <p:cNvSpPr/>
          <p:nvPr/>
        </p:nvSpPr>
        <p:spPr>
          <a:xfrm>
            <a:off x="4709160" y="3803904"/>
            <a:ext cx="320040" cy="39319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t>
            </a:r>
            <a:endParaRPr lang="en-US" sz="1000" dirty="0"/>
          </a:p>
        </p:txBody>
      </p:sp>
      <p:sp>
        <p:nvSpPr>
          <p:cNvPr id="57" name="Text 55"/>
          <p:cNvSpPr/>
          <p:nvPr/>
        </p:nvSpPr>
        <p:spPr>
          <a:xfrm>
            <a:off x="5102352" y="3822192"/>
            <a:ext cx="3657600" cy="329184"/>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Non-discrimination : La plateforme ne peut pas discriminer sur des critères non professionnels</a:t>
            </a:r>
            <a:endParaRPr lang="en-US" sz="900" dirty="0"/>
          </a:p>
        </p:txBody>
      </p:sp>
      <p:sp>
        <p:nvSpPr>
          <p:cNvPr id="58" name="Shape 56"/>
          <p:cNvSpPr/>
          <p:nvPr/>
        </p:nvSpPr>
        <p:spPr>
          <a:xfrm>
            <a:off x="4709160" y="4242816"/>
            <a:ext cx="4160520" cy="393192"/>
          </a:xfrm>
          <a:prstGeom prst="rect">
            <a:avLst/>
          </a:prstGeom>
          <a:solidFill>
            <a:srgbClr val="E8F1FA"/>
          </a:solidFill>
          <a:ln w="6350">
            <a:solidFill>
              <a:srgbClr val="D0DCE8"/>
            </a:solidFill>
            <a:prstDash val="solid"/>
          </a:ln>
        </p:spPr>
        <p:txBody>
          <a:bodyPr/>
          <a:lstStyle/>
          <a:p>
            <a:endParaRPr lang="fr-FR"/>
          </a:p>
        </p:txBody>
      </p:sp>
      <p:sp>
        <p:nvSpPr>
          <p:cNvPr id="59" name="Shape 57"/>
          <p:cNvSpPr/>
          <p:nvPr/>
        </p:nvSpPr>
        <p:spPr>
          <a:xfrm>
            <a:off x="4709160" y="4242816"/>
            <a:ext cx="320040" cy="393192"/>
          </a:xfrm>
          <a:prstGeom prst="rect">
            <a:avLst/>
          </a:prstGeom>
          <a:solidFill>
            <a:srgbClr val="2860A8"/>
          </a:solidFill>
          <a:ln w="12700">
            <a:solidFill>
              <a:srgbClr val="2860A8"/>
            </a:solidFill>
            <a:prstDash val="solid"/>
          </a:ln>
        </p:spPr>
        <p:txBody>
          <a:bodyPr/>
          <a:lstStyle/>
          <a:p>
            <a:endParaRPr lang="fr-FR"/>
          </a:p>
        </p:txBody>
      </p:sp>
      <p:sp>
        <p:nvSpPr>
          <p:cNvPr id="60" name="Text 58"/>
          <p:cNvSpPr/>
          <p:nvPr/>
        </p:nvSpPr>
        <p:spPr>
          <a:xfrm>
            <a:off x="4709160" y="4242816"/>
            <a:ext cx="320040" cy="39319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t>
            </a:r>
            <a:endParaRPr lang="en-US" sz="1000" dirty="0"/>
          </a:p>
        </p:txBody>
      </p:sp>
      <p:sp>
        <p:nvSpPr>
          <p:cNvPr id="61" name="Text 59"/>
          <p:cNvSpPr/>
          <p:nvPr/>
        </p:nvSpPr>
        <p:spPr>
          <a:xfrm>
            <a:off x="5102352" y="4261104"/>
            <a:ext cx="3657600" cy="329184"/>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Activité indépendante : Le conducteur VTC indépendant reste libre de refuser des courses</a:t>
            </a:r>
            <a:endParaRPr lang="en-US" sz="900" dirty="0"/>
          </a:p>
        </p:txBody>
      </p:sp>
      <p:sp>
        <p:nvSpPr>
          <p:cNvPr id="62" name="Shape 60"/>
          <p:cNvSpPr/>
          <p:nvPr/>
        </p:nvSpPr>
        <p:spPr>
          <a:xfrm>
            <a:off x="4709160" y="4681728"/>
            <a:ext cx="4160520" cy="393192"/>
          </a:xfrm>
          <a:prstGeom prst="rect">
            <a:avLst/>
          </a:prstGeom>
          <a:solidFill>
            <a:srgbClr val="FFFFFF"/>
          </a:solidFill>
          <a:ln w="6350">
            <a:solidFill>
              <a:srgbClr val="D0DCE8"/>
            </a:solidFill>
            <a:prstDash val="solid"/>
          </a:ln>
        </p:spPr>
        <p:txBody>
          <a:bodyPr/>
          <a:lstStyle/>
          <a:p>
            <a:endParaRPr lang="fr-FR"/>
          </a:p>
        </p:txBody>
      </p:sp>
      <p:sp>
        <p:nvSpPr>
          <p:cNvPr id="63" name="Shape 61"/>
          <p:cNvSpPr/>
          <p:nvPr/>
        </p:nvSpPr>
        <p:spPr>
          <a:xfrm>
            <a:off x="4709160" y="4681728"/>
            <a:ext cx="320040" cy="393192"/>
          </a:xfrm>
          <a:prstGeom prst="rect">
            <a:avLst/>
          </a:prstGeom>
          <a:solidFill>
            <a:srgbClr val="1A3A5C"/>
          </a:solidFill>
          <a:ln w="12700">
            <a:solidFill>
              <a:srgbClr val="1A3A5C"/>
            </a:solidFill>
            <a:prstDash val="solid"/>
          </a:ln>
        </p:spPr>
        <p:txBody>
          <a:bodyPr/>
          <a:lstStyle/>
          <a:p>
            <a:endParaRPr lang="fr-FR"/>
          </a:p>
        </p:txBody>
      </p:sp>
      <p:sp>
        <p:nvSpPr>
          <p:cNvPr id="64" name="Text 62"/>
          <p:cNvSpPr/>
          <p:nvPr/>
        </p:nvSpPr>
        <p:spPr>
          <a:xfrm>
            <a:off x="4709160" y="4681728"/>
            <a:ext cx="320040" cy="39319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t>
            </a:r>
            <a:endParaRPr lang="en-US" sz="1000" dirty="0"/>
          </a:p>
        </p:txBody>
      </p:sp>
      <p:sp>
        <p:nvSpPr>
          <p:cNvPr id="65" name="Text 63"/>
          <p:cNvSpPr/>
          <p:nvPr/>
        </p:nvSpPr>
        <p:spPr>
          <a:xfrm>
            <a:off x="5102352" y="4700016"/>
            <a:ext cx="3657600" cy="329184"/>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Protection sociale : Si statut salarié via plateforme : couverture sociale et congés payés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67">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15. Violences sexuelles, sexistes et discriminations</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Infractions, peines encourues et acteurs de prévention</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57/88</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6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Les comportements à caractère sexuel et/ou sexiste</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Définitions légales — 4 infractions à connaître (p.121 livre)</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58/88</a:t>
            </a:r>
            <a:endParaRPr lang="en-US" sz="800" dirty="0"/>
          </a:p>
        </p:txBody>
      </p:sp>
      <p:sp>
        <p:nvSpPr>
          <p:cNvPr id="9" name="Shape 7"/>
          <p:cNvSpPr/>
          <p:nvPr/>
        </p:nvSpPr>
        <p:spPr>
          <a:xfrm>
            <a:off x="274320" y="960120"/>
            <a:ext cx="8595360" cy="347472"/>
          </a:xfrm>
          <a:prstGeom prst="rect">
            <a:avLst/>
          </a:prstGeom>
          <a:solidFill>
            <a:srgbClr val="8B0000"/>
          </a:solidFill>
          <a:ln w="12700">
            <a:solidFill>
              <a:srgbClr val="8B0000"/>
            </a:solidFill>
            <a:prstDash val="solid"/>
          </a:ln>
        </p:spPr>
        <p:txBody>
          <a:bodyPr/>
          <a:lstStyle/>
          <a:p>
            <a:endParaRPr lang="fr-FR"/>
          </a:p>
        </p:txBody>
      </p:sp>
      <p:sp>
        <p:nvSpPr>
          <p:cNvPr id="10" name="Text 8"/>
          <p:cNvSpPr/>
          <p:nvPr/>
        </p:nvSpPr>
        <p:spPr>
          <a:xfrm>
            <a:off x="274320" y="960120"/>
            <a:ext cx="859536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 INFRACTIONS À CARACTÈRE SEXUEL OU SEXISTE</a:t>
            </a:r>
            <a:endParaRPr lang="en-US" sz="1200" dirty="0"/>
          </a:p>
        </p:txBody>
      </p:sp>
      <p:sp>
        <p:nvSpPr>
          <p:cNvPr id="11" name="Shape 9"/>
          <p:cNvSpPr/>
          <p:nvPr/>
        </p:nvSpPr>
        <p:spPr>
          <a:xfrm>
            <a:off x="274320" y="1389888"/>
            <a:ext cx="4160520" cy="1691640"/>
          </a:xfrm>
          <a:prstGeom prst="rect">
            <a:avLst/>
          </a:prstGeom>
          <a:solidFill>
            <a:srgbClr val="E8F1FA"/>
          </a:solidFill>
          <a:ln w="6350">
            <a:solidFill>
              <a:srgbClr val="D0DCE8"/>
            </a:solidFill>
            <a:prstDash val="solid"/>
          </a:ln>
        </p:spPr>
        <p:txBody>
          <a:bodyPr/>
          <a:lstStyle/>
          <a:p>
            <a:endParaRPr lang="fr-FR"/>
          </a:p>
        </p:txBody>
      </p:sp>
      <p:sp>
        <p:nvSpPr>
          <p:cNvPr id="12" name="Shape 10"/>
          <p:cNvSpPr/>
          <p:nvPr/>
        </p:nvSpPr>
        <p:spPr>
          <a:xfrm>
            <a:off x="274320" y="1389888"/>
            <a:ext cx="4160520" cy="292608"/>
          </a:xfrm>
          <a:prstGeom prst="rect">
            <a:avLst/>
          </a:prstGeom>
          <a:solidFill>
            <a:srgbClr val="D4530A"/>
          </a:solidFill>
          <a:ln w="12700">
            <a:solidFill>
              <a:srgbClr val="D4530A"/>
            </a:solidFill>
            <a:prstDash val="solid"/>
          </a:ln>
        </p:spPr>
        <p:txBody>
          <a:bodyPr/>
          <a:lstStyle/>
          <a:p>
            <a:endParaRPr lang="fr-FR"/>
          </a:p>
        </p:txBody>
      </p:sp>
      <p:sp>
        <p:nvSpPr>
          <p:cNvPr id="13" name="Text 11"/>
          <p:cNvSpPr/>
          <p:nvPr/>
        </p:nvSpPr>
        <p:spPr>
          <a:xfrm>
            <a:off x="347472" y="1389888"/>
            <a:ext cx="400507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OUTRAGE SEXISTE OU SEXUEL</a:t>
            </a:r>
            <a:endParaRPr lang="en-US" sz="950" dirty="0"/>
          </a:p>
        </p:txBody>
      </p:sp>
      <p:sp>
        <p:nvSpPr>
          <p:cNvPr id="14" name="Text 12"/>
          <p:cNvSpPr/>
          <p:nvPr/>
        </p:nvSpPr>
        <p:spPr>
          <a:xfrm>
            <a:off x="365760" y="1709928"/>
            <a:ext cx="3977640" cy="621792"/>
          </a:xfrm>
          <a:prstGeom prst="rect">
            <a:avLst/>
          </a:prstGeom>
          <a:noFill/>
          <a:ln/>
        </p:spPr>
        <p:txBody>
          <a:bodyPr wrap="square" rtlCol="0" anchor="t"/>
          <a:lstStyle/>
          <a:p>
            <a:pPr marL="0" indent="0">
              <a:buNone/>
            </a:pPr>
            <a:r>
              <a:rPr lang="en-US" sz="880" i="1" dirty="0">
                <a:solidFill>
                  <a:srgbClr val="3A3A3A"/>
                </a:solidFill>
                <a:latin typeface="Calibri" pitchFamily="34" charset="0"/>
                <a:ea typeface="Calibri" pitchFamily="34" charset="-122"/>
                <a:cs typeface="Calibri" pitchFamily="34" charset="-120"/>
              </a:rPr>
              <a:t>Tout propos ou comportement à connotation sexuelle ou sexiste à l'encontre d'une personne sans son consentement.</a:t>
            </a:r>
            <a:endParaRPr lang="en-US" sz="880" dirty="0"/>
          </a:p>
        </p:txBody>
      </p:sp>
      <p:sp>
        <p:nvSpPr>
          <p:cNvPr id="15" name="Shape 13"/>
          <p:cNvSpPr/>
          <p:nvPr/>
        </p:nvSpPr>
        <p:spPr>
          <a:xfrm>
            <a:off x="274320" y="2359152"/>
            <a:ext cx="4160520" cy="18288"/>
          </a:xfrm>
          <a:prstGeom prst="rect">
            <a:avLst/>
          </a:prstGeom>
          <a:solidFill>
            <a:srgbClr val="D0DCE8"/>
          </a:solidFill>
          <a:ln w="12700">
            <a:solidFill>
              <a:srgbClr val="D0DCE8"/>
            </a:solidFill>
            <a:prstDash val="solid"/>
          </a:ln>
        </p:spPr>
        <p:txBody>
          <a:bodyPr/>
          <a:lstStyle/>
          <a:p>
            <a:endParaRPr lang="fr-FR"/>
          </a:p>
        </p:txBody>
      </p:sp>
      <p:sp>
        <p:nvSpPr>
          <p:cNvPr id="16" name="Text 14"/>
          <p:cNvSpPr/>
          <p:nvPr/>
        </p:nvSpPr>
        <p:spPr>
          <a:xfrm>
            <a:off x="365760" y="2414016"/>
            <a:ext cx="3977640" cy="438912"/>
          </a:xfrm>
          <a:prstGeom prst="rect">
            <a:avLst/>
          </a:prstGeom>
          <a:noFill/>
          <a:ln/>
        </p:spPr>
        <p:txBody>
          <a:bodyPr wrap="square" rtlCol="0" anchor="t"/>
          <a:lstStyle/>
          <a:p>
            <a:pPr marL="0" indent="0">
              <a:buNone/>
            </a:pPr>
            <a:r>
              <a:rPr lang="en-US" sz="820" dirty="0">
                <a:solidFill>
                  <a:srgbClr val="5A5A5A"/>
                </a:solidFill>
                <a:latin typeface="Calibri" pitchFamily="34" charset="0"/>
                <a:ea typeface="Calibri" pitchFamily="34" charset="-122"/>
                <a:cs typeface="Calibri" pitchFamily="34" charset="-120"/>
              </a:rPr>
              <a:t>💡 Exemples : propos désobligeants sur le genre dans la rue ou dans les transports, propositions sexuelles à un(e) inconnu(e) (outrage sexuel aggravé)</a:t>
            </a:r>
            <a:endParaRPr lang="en-US" sz="820" dirty="0"/>
          </a:p>
        </p:txBody>
      </p:sp>
      <p:sp>
        <p:nvSpPr>
          <p:cNvPr id="17" name="Shape 15"/>
          <p:cNvSpPr/>
          <p:nvPr/>
        </p:nvSpPr>
        <p:spPr>
          <a:xfrm>
            <a:off x="274320" y="2852928"/>
            <a:ext cx="4160520" cy="228600"/>
          </a:xfrm>
          <a:prstGeom prst="rect">
            <a:avLst/>
          </a:prstGeom>
          <a:solidFill>
            <a:srgbClr val="D4530A"/>
          </a:solidFill>
          <a:ln w="12700">
            <a:solidFill>
              <a:srgbClr val="D4530A"/>
            </a:solidFill>
            <a:prstDash val="solid"/>
          </a:ln>
        </p:spPr>
        <p:txBody>
          <a:bodyPr/>
          <a:lstStyle/>
          <a:p>
            <a:endParaRPr lang="fr-FR"/>
          </a:p>
        </p:txBody>
      </p:sp>
      <p:sp>
        <p:nvSpPr>
          <p:cNvPr id="18" name="Text 16"/>
          <p:cNvSpPr/>
          <p:nvPr/>
        </p:nvSpPr>
        <p:spPr>
          <a:xfrm>
            <a:off x="347472" y="2852928"/>
            <a:ext cx="4005072" cy="22860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 Peine : amende 3 750 €, voire plus. Si aggravé = DÉLIT.</a:t>
            </a:r>
            <a:endParaRPr lang="en-US" sz="850" dirty="0"/>
          </a:p>
        </p:txBody>
      </p:sp>
      <p:sp>
        <p:nvSpPr>
          <p:cNvPr id="19" name="Shape 17"/>
          <p:cNvSpPr/>
          <p:nvPr/>
        </p:nvSpPr>
        <p:spPr>
          <a:xfrm>
            <a:off x="4709160" y="1389888"/>
            <a:ext cx="4160520" cy="1691640"/>
          </a:xfrm>
          <a:prstGeom prst="rect">
            <a:avLst/>
          </a:prstGeom>
          <a:solidFill>
            <a:srgbClr val="E8F1FA"/>
          </a:solidFill>
          <a:ln w="6350">
            <a:solidFill>
              <a:srgbClr val="D0DCE8"/>
            </a:solidFill>
            <a:prstDash val="solid"/>
          </a:ln>
        </p:spPr>
        <p:txBody>
          <a:bodyPr/>
          <a:lstStyle/>
          <a:p>
            <a:endParaRPr lang="fr-FR"/>
          </a:p>
        </p:txBody>
      </p:sp>
      <p:sp>
        <p:nvSpPr>
          <p:cNvPr id="20" name="Shape 18"/>
          <p:cNvSpPr/>
          <p:nvPr/>
        </p:nvSpPr>
        <p:spPr>
          <a:xfrm>
            <a:off x="4709160" y="1389888"/>
            <a:ext cx="4160520" cy="292608"/>
          </a:xfrm>
          <a:prstGeom prst="rect">
            <a:avLst/>
          </a:prstGeom>
          <a:solidFill>
            <a:srgbClr val="C0392B"/>
          </a:solidFill>
          <a:ln w="12700">
            <a:solidFill>
              <a:srgbClr val="C0392B"/>
            </a:solidFill>
            <a:prstDash val="solid"/>
          </a:ln>
        </p:spPr>
        <p:txBody>
          <a:bodyPr/>
          <a:lstStyle/>
          <a:p>
            <a:endParaRPr lang="fr-FR"/>
          </a:p>
        </p:txBody>
      </p:sp>
      <p:sp>
        <p:nvSpPr>
          <p:cNvPr id="21" name="Text 19"/>
          <p:cNvSpPr/>
          <p:nvPr/>
        </p:nvSpPr>
        <p:spPr>
          <a:xfrm>
            <a:off x="4782312" y="1389888"/>
            <a:ext cx="400507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AGRESSION SEXUELLE</a:t>
            </a:r>
            <a:endParaRPr lang="en-US" sz="950" dirty="0"/>
          </a:p>
        </p:txBody>
      </p:sp>
      <p:sp>
        <p:nvSpPr>
          <p:cNvPr id="22" name="Text 20"/>
          <p:cNvSpPr/>
          <p:nvPr/>
        </p:nvSpPr>
        <p:spPr>
          <a:xfrm>
            <a:off x="4800600" y="1709928"/>
            <a:ext cx="3977640" cy="621792"/>
          </a:xfrm>
          <a:prstGeom prst="rect">
            <a:avLst/>
          </a:prstGeom>
          <a:noFill/>
          <a:ln/>
        </p:spPr>
        <p:txBody>
          <a:bodyPr wrap="square" rtlCol="0" anchor="t"/>
          <a:lstStyle/>
          <a:p>
            <a:pPr marL="0" indent="0">
              <a:buNone/>
            </a:pPr>
            <a:r>
              <a:rPr lang="en-US" sz="880" i="1" dirty="0">
                <a:solidFill>
                  <a:srgbClr val="3A3A3A"/>
                </a:solidFill>
                <a:latin typeface="Calibri" pitchFamily="34" charset="0"/>
                <a:ea typeface="Calibri" pitchFamily="34" charset="-122"/>
                <a:cs typeface="Calibri" pitchFamily="34" charset="-120"/>
              </a:rPr>
              <a:t>Atteinte sexuelle commise sur une personne avec violence, contrainte, menace ou surprise, SANS son consentement.</a:t>
            </a:r>
            <a:endParaRPr lang="en-US" sz="880" dirty="0"/>
          </a:p>
        </p:txBody>
      </p:sp>
      <p:sp>
        <p:nvSpPr>
          <p:cNvPr id="23" name="Shape 21"/>
          <p:cNvSpPr/>
          <p:nvPr/>
        </p:nvSpPr>
        <p:spPr>
          <a:xfrm>
            <a:off x="4709160" y="2359152"/>
            <a:ext cx="4160520" cy="18288"/>
          </a:xfrm>
          <a:prstGeom prst="rect">
            <a:avLst/>
          </a:prstGeom>
          <a:solidFill>
            <a:srgbClr val="D0DCE8"/>
          </a:solidFill>
          <a:ln w="12700">
            <a:solidFill>
              <a:srgbClr val="D0DCE8"/>
            </a:solidFill>
            <a:prstDash val="solid"/>
          </a:ln>
        </p:spPr>
        <p:txBody>
          <a:bodyPr/>
          <a:lstStyle/>
          <a:p>
            <a:endParaRPr lang="fr-FR"/>
          </a:p>
        </p:txBody>
      </p:sp>
      <p:sp>
        <p:nvSpPr>
          <p:cNvPr id="24" name="Text 22"/>
          <p:cNvSpPr/>
          <p:nvPr/>
        </p:nvSpPr>
        <p:spPr>
          <a:xfrm>
            <a:off x="4800600" y="2414016"/>
            <a:ext cx="3977640" cy="438912"/>
          </a:xfrm>
          <a:prstGeom prst="rect">
            <a:avLst/>
          </a:prstGeom>
          <a:noFill/>
          <a:ln/>
        </p:spPr>
        <p:txBody>
          <a:bodyPr wrap="square" rtlCol="0" anchor="t"/>
          <a:lstStyle/>
          <a:p>
            <a:pPr marL="0" indent="0">
              <a:buNone/>
            </a:pPr>
            <a:r>
              <a:rPr lang="en-US" sz="820" dirty="0">
                <a:solidFill>
                  <a:srgbClr val="5A5A5A"/>
                </a:solidFill>
                <a:latin typeface="Calibri" pitchFamily="34" charset="0"/>
                <a:ea typeface="Calibri" pitchFamily="34" charset="-122"/>
                <a:cs typeface="Calibri" pitchFamily="34" charset="-120"/>
              </a:rPr>
              <a:t>💡 Exemples : attouchements commis avec violence, attouchements imposés dans un lieu fermé sans être frappée, attouchements imposés par un supérieur à la suite d'un harcèlement</a:t>
            </a:r>
            <a:endParaRPr lang="en-US" sz="820" dirty="0"/>
          </a:p>
        </p:txBody>
      </p:sp>
      <p:sp>
        <p:nvSpPr>
          <p:cNvPr id="25" name="Shape 23"/>
          <p:cNvSpPr/>
          <p:nvPr/>
        </p:nvSpPr>
        <p:spPr>
          <a:xfrm>
            <a:off x="4709160" y="2852928"/>
            <a:ext cx="4160520" cy="228600"/>
          </a:xfrm>
          <a:prstGeom prst="rect">
            <a:avLst/>
          </a:prstGeom>
          <a:solidFill>
            <a:srgbClr val="C0392B"/>
          </a:solidFill>
          <a:ln w="12700">
            <a:solidFill>
              <a:srgbClr val="C0392B"/>
            </a:solidFill>
            <a:prstDash val="solid"/>
          </a:ln>
        </p:spPr>
        <p:txBody>
          <a:bodyPr/>
          <a:lstStyle/>
          <a:p>
            <a:endParaRPr lang="fr-FR"/>
          </a:p>
        </p:txBody>
      </p:sp>
      <p:sp>
        <p:nvSpPr>
          <p:cNvPr id="26" name="Text 24"/>
          <p:cNvSpPr/>
          <p:nvPr/>
        </p:nvSpPr>
        <p:spPr>
          <a:xfrm>
            <a:off x="4782312" y="2852928"/>
            <a:ext cx="4005072" cy="22860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 Peine : jusqu'à 5 ans d'emprisonnement et 75 000 €, voire plus.</a:t>
            </a:r>
            <a:endParaRPr lang="en-US" sz="850" dirty="0"/>
          </a:p>
        </p:txBody>
      </p:sp>
      <p:sp>
        <p:nvSpPr>
          <p:cNvPr id="27" name="Shape 25"/>
          <p:cNvSpPr/>
          <p:nvPr/>
        </p:nvSpPr>
        <p:spPr>
          <a:xfrm>
            <a:off x="274320" y="3172968"/>
            <a:ext cx="4160520" cy="1691640"/>
          </a:xfrm>
          <a:prstGeom prst="rect">
            <a:avLst/>
          </a:prstGeom>
          <a:solidFill>
            <a:srgbClr val="E8F1FA"/>
          </a:solidFill>
          <a:ln w="6350">
            <a:solidFill>
              <a:srgbClr val="D0DCE8"/>
            </a:solidFill>
            <a:prstDash val="solid"/>
          </a:ln>
        </p:spPr>
        <p:txBody>
          <a:bodyPr/>
          <a:lstStyle/>
          <a:p>
            <a:endParaRPr lang="fr-FR"/>
          </a:p>
        </p:txBody>
      </p:sp>
      <p:sp>
        <p:nvSpPr>
          <p:cNvPr id="28" name="Shape 26"/>
          <p:cNvSpPr/>
          <p:nvPr/>
        </p:nvSpPr>
        <p:spPr>
          <a:xfrm>
            <a:off x="274320" y="3172968"/>
            <a:ext cx="4160520" cy="292608"/>
          </a:xfrm>
          <a:prstGeom prst="rect">
            <a:avLst/>
          </a:prstGeom>
          <a:solidFill>
            <a:srgbClr val="8B0000"/>
          </a:solidFill>
          <a:ln w="12700">
            <a:solidFill>
              <a:srgbClr val="8B0000"/>
            </a:solidFill>
            <a:prstDash val="solid"/>
          </a:ln>
        </p:spPr>
        <p:txBody>
          <a:bodyPr/>
          <a:lstStyle/>
          <a:p>
            <a:endParaRPr lang="fr-FR"/>
          </a:p>
        </p:txBody>
      </p:sp>
      <p:sp>
        <p:nvSpPr>
          <p:cNvPr id="29" name="Text 27"/>
          <p:cNvSpPr/>
          <p:nvPr/>
        </p:nvSpPr>
        <p:spPr>
          <a:xfrm>
            <a:off x="347472" y="3172968"/>
            <a:ext cx="400507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HARCÈLEMENT SEXUEL</a:t>
            </a:r>
            <a:endParaRPr lang="en-US" sz="950" dirty="0"/>
          </a:p>
        </p:txBody>
      </p:sp>
      <p:sp>
        <p:nvSpPr>
          <p:cNvPr id="30" name="Text 28"/>
          <p:cNvSpPr/>
          <p:nvPr/>
        </p:nvSpPr>
        <p:spPr>
          <a:xfrm>
            <a:off x="365760" y="3493008"/>
            <a:ext cx="3977640" cy="621792"/>
          </a:xfrm>
          <a:prstGeom prst="rect">
            <a:avLst/>
          </a:prstGeom>
          <a:noFill/>
          <a:ln/>
        </p:spPr>
        <p:txBody>
          <a:bodyPr wrap="square" rtlCol="0" anchor="t"/>
          <a:lstStyle/>
          <a:p>
            <a:pPr marL="0" indent="0">
              <a:buNone/>
            </a:pPr>
            <a:r>
              <a:rPr lang="en-US" sz="880" i="1" dirty="0">
                <a:solidFill>
                  <a:srgbClr val="3A3A3A"/>
                </a:solidFill>
                <a:latin typeface="Calibri" pitchFamily="34" charset="0"/>
                <a:ea typeface="Calibri" pitchFamily="34" charset="-122"/>
                <a:cs typeface="Calibri" pitchFamily="34" charset="-120"/>
              </a:rPr>
              <a:t>Le fait d'imposer à une personne, de façon RÉPÉTÉE, des propos ou comportements à connotation sexuelle ou sexiste sans son consentement.</a:t>
            </a:r>
            <a:endParaRPr lang="en-US" sz="880" dirty="0"/>
          </a:p>
        </p:txBody>
      </p:sp>
      <p:sp>
        <p:nvSpPr>
          <p:cNvPr id="31" name="Shape 29"/>
          <p:cNvSpPr/>
          <p:nvPr/>
        </p:nvSpPr>
        <p:spPr>
          <a:xfrm>
            <a:off x="274320" y="4142232"/>
            <a:ext cx="4160520" cy="18288"/>
          </a:xfrm>
          <a:prstGeom prst="rect">
            <a:avLst/>
          </a:prstGeom>
          <a:solidFill>
            <a:srgbClr val="D0DCE8"/>
          </a:solidFill>
          <a:ln w="12700">
            <a:solidFill>
              <a:srgbClr val="D0DCE8"/>
            </a:solidFill>
            <a:prstDash val="solid"/>
          </a:ln>
        </p:spPr>
        <p:txBody>
          <a:bodyPr/>
          <a:lstStyle/>
          <a:p>
            <a:endParaRPr lang="fr-FR"/>
          </a:p>
        </p:txBody>
      </p:sp>
      <p:sp>
        <p:nvSpPr>
          <p:cNvPr id="32" name="Text 30"/>
          <p:cNvSpPr/>
          <p:nvPr/>
        </p:nvSpPr>
        <p:spPr>
          <a:xfrm>
            <a:off x="365760" y="4197096"/>
            <a:ext cx="3977640" cy="438912"/>
          </a:xfrm>
          <a:prstGeom prst="rect">
            <a:avLst/>
          </a:prstGeom>
          <a:noFill/>
          <a:ln/>
        </p:spPr>
        <p:txBody>
          <a:bodyPr wrap="square" rtlCol="0" anchor="t"/>
          <a:lstStyle/>
          <a:p>
            <a:pPr marL="0" indent="0">
              <a:buNone/>
            </a:pPr>
            <a:r>
              <a:rPr lang="en-US" sz="820" dirty="0">
                <a:solidFill>
                  <a:srgbClr val="5A5A5A"/>
                </a:solidFill>
                <a:latin typeface="Calibri" pitchFamily="34" charset="0"/>
                <a:ea typeface="Calibri" pitchFamily="34" charset="-122"/>
                <a:cs typeface="Calibri" pitchFamily="34" charset="-120"/>
              </a:rPr>
              <a:t>💡 Exemples : réflexions répétées sur votre corps, sifflements, remarques dégradantes sur l'orientation sexuelle, blagues obscènes et vulgaires répétées</a:t>
            </a:r>
            <a:endParaRPr lang="en-US" sz="820" dirty="0"/>
          </a:p>
        </p:txBody>
      </p:sp>
      <p:sp>
        <p:nvSpPr>
          <p:cNvPr id="33" name="Shape 31"/>
          <p:cNvSpPr/>
          <p:nvPr/>
        </p:nvSpPr>
        <p:spPr>
          <a:xfrm>
            <a:off x="274320" y="4636008"/>
            <a:ext cx="4160520" cy="228600"/>
          </a:xfrm>
          <a:prstGeom prst="rect">
            <a:avLst/>
          </a:prstGeom>
          <a:solidFill>
            <a:srgbClr val="8B0000"/>
          </a:solidFill>
          <a:ln w="12700">
            <a:solidFill>
              <a:srgbClr val="8B0000"/>
            </a:solidFill>
            <a:prstDash val="solid"/>
          </a:ln>
        </p:spPr>
        <p:txBody>
          <a:bodyPr/>
          <a:lstStyle/>
          <a:p>
            <a:endParaRPr lang="fr-FR"/>
          </a:p>
        </p:txBody>
      </p:sp>
      <p:sp>
        <p:nvSpPr>
          <p:cNvPr id="34" name="Text 32"/>
          <p:cNvSpPr/>
          <p:nvPr/>
        </p:nvSpPr>
        <p:spPr>
          <a:xfrm>
            <a:off x="347472" y="4636008"/>
            <a:ext cx="4005072" cy="22860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 Peine : délit — 2 ans d'emprisonnement et 30 000 €, voire plus.</a:t>
            </a:r>
            <a:endParaRPr lang="en-US" sz="850" dirty="0"/>
          </a:p>
        </p:txBody>
      </p:sp>
      <p:sp>
        <p:nvSpPr>
          <p:cNvPr id="35" name="Shape 33"/>
          <p:cNvSpPr/>
          <p:nvPr/>
        </p:nvSpPr>
        <p:spPr>
          <a:xfrm>
            <a:off x="4709160" y="3172968"/>
            <a:ext cx="4160520" cy="1691640"/>
          </a:xfrm>
          <a:prstGeom prst="rect">
            <a:avLst/>
          </a:prstGeom>
          <a:solidFill>
            <a:srgbClr val="E8F1FA"/>
          </a:solidFill>
          <a:ln w="6350">
            <a:solidFill>
              <a:srgbClr val="D0DCE8"/>
            </a:solidFill>
            <a:prstDash val="solid"/>
          </a:ln>
        </p:spPr>
        <p:txBody>
          <a:bodyPr/>
          <a:lstStyle/>
          <a:p>
            <a:endParaRPr lang="fr-FR"/>
          </a:p>
        </p:txBody>
      </p:sp>
      <p:sp>
        <p:nvSpPr>
          <p:cNvPr id="36" name="Shape 34"/>
          <p:cNvSpPr/>
          <p:nvPr/>
        </p:nvSpPr>
        <p:spPr>
          <a:xfrm>
            <a:off x="4709160" y="3172968"/>
            <a:ext cx="4160520" cy="292608"/>
          </a:xfrm>
          <a:prstGeom prst="rect">
            <a:avLst/>
          </a:prstGeom>
          <a:solidFill>
            <a:srgbClr val="1A3A5C"/>
          </a:solidFill>
          <a:ln w="12700">
            <a:solidFill>
              <a:srgbClr val="1A3A5C"/>
            </a:solidFill>
            <a:prstDash val="solid"/>
          </a:ln>
        </p:spPr>
        <p:txBody>
          <a:bodyPr/>
          <a:lstStyle/>
          <a:p>
            <a:endParaRPr lang="fr-FR"/>
          </a:p>
        </p:txBody>
      </p:sp>
      <p:sp>
        <p:nvSpPr>
          <p:cNvPr id="37" name="Text 35"/>
          <p:cNvSpPr/>
          <p:nvPr/>
        </p:nvSpPr>
        <p:spPr>
          <a:xfrm>
            <a:off x="4782312" y="3172968"/>
            <a:ext cx="400507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VIOL</a:t>
            </a:r>
            <a:endParaRPr lang="en-US" sz="950" dirty="0"/>
          </a:p>
        </p:txBody>
      </p:sp>
      <p:sp>
        <p:nvSpPr>
          <p:cNvPr id="38" name="Text 36"/>
          <p:cNvSpPr/>
          <p:nvPr/>
        </p:nvSpPr>
        <p:spPr>
          <a:xfrm>
            <a:off x="4800600" y="3493008"/>
            <a:ext cx="3977640" cy="621792"/>
          </a:xfrm>
          <a:prstGeom prst="rect">
            <a:avLst/>
          </a:prstGeom>
          <a:noFill/>
          <a:ln/>
        </p:spPr>
        <p:txBody>
          <a:bodyPr wrap="square" rtlCol="0" anchor="t"/>
          <a:lstStyle/>
          <a:p>
            <a:pPr marL="0" indent="0">
              <a:buNone/>
            </a:pPr>
            <a:r>
              <a:rPr lang="en-US" sz="880" i="1" dirty="0">
                <a:solidFill>
                  <a:srgbClr val="3A3A3A"/>
                </a:solidFill>
                <a:latin typeface="Calibri" pitchFamily="34" charset="0"/>
                <a:ea typeface="Calibri" pitchFamily="34" charset="-122"/>
                <a:cs typeface="Calibri" pitchFamily="34" charset="-120"/>
              </a:rPr>
              <a:t>Acte de pénétration sexuelle ou acte bucco-génital commis sur une personne avec violence, contrainte, menace ou surprise, SANS son consentement.</a:t>
            </a:r>
            <a:endParaRPr lang="en-US" sz="880" dirty="0"/>
          </a:p>
        </p:txBody>
      </p:sp>
      <p:sp>
        <p:nvSpPr>
          <p:cNvPr id="39" name="Shape 37"/>
          <p:cNvSpPr/>
          <p:nvPr/>
        </p:nvSpPr>
        <p:spPr>
          <a:xfrm>
            <a:off x="4709160" y="4142232"/>
            <a:ext cx="4160520" cy="18288"/>
          </a:xfrm>
          <a:prstGeom prst="rect">
            <a:avLst/>
          </a:prstGeom>
          <a:solidFill>
            <a:srgbClr val="D0DCE8"/>
          </a:solidFill>
          <a:ln w="12700">
            <a:solidFill>
              <a:srgbClr val="D0DCE8"/>
            </a:solidFill>
            <a:prstDash val="solid"/>
          </a:ln>
        </p:spPr>
        <p:txBody>
          <a:bodyPr/>
          <a:lstStyle/>
          <a:p>
            <a:endParaRPr lang="fr-FR"/>
          </a:p>
        </p:txBody>
      </p:sp>
      <p:sp>
        <p:nvSpPr>
          <p:cNvPr id="40" name="Text 38"/>
          <p:cNvSpPr/>
          <p:nvPr/>
        </p:nvSpPr>
        <p:spPr>
          <a:xfrm>
            <a:off x="4800600" y="4197096"/>
            <a:ext cx="3977640" cy="438912"/>
          </a:xfrm>
          <a:prstGeom prst="rect">
            <a:avLst/>
          </a:prstGeom>
          <a:noFill/>
          <a:ln/>
        </p:spPr>
        <p:txBody>
          <a:bodyPr wrap="square" rtlCol="0" anchor="t"/>
          <a:lstStyle/>
          <a:p>
            <a:pPr marL="0" indent="0">
              <a:buNone/>
            </a:pPr>
            <a:r>
              <a:rPr lang="en-US" sz="820" dirty="0">
                <a:solidFill>
                  <a:srgbClr val="5A5A5A"/>
                </a:solidFill>
                <a:latin typeface="Calibri" pitchFamily="34" charset="0"/>
                <a:ea typeface="Calibri" pitchFamily="34" charset="-122"/>
                <a:cs typeface="Calibri" pitchFamily="34" charset="-120"/>
              </a:rPr>
              <a:t>💡 Exemples : acte de pénétration imposé avec violence, avec contrainte physique (retenu de force), avec menace (agresseur armé)</a:t>
            </a:r>
            <a:endParaRPr lang="en-US" sz="820" dirty="0"/>
          </a:p>
        </p:txBody>
      </p:sp>
      <p:sp>
        <p:nvSpPr>
          <p:cNvPr id="41" name="Shape 39"/>
          <p:cNvSpPr/>
          <p:nvPr/>
        </p:nvSpPr>
        <p:spPr>
          <a:xfrm>
            <a:off x="4709160" y="4636008"/>
            <a:ext cx="4160520" cy="228600"/>
          </a:xfrm>
          <a:prstGeom prst="rect">
            <a:avLst/>
          </a:prstGeom>
          <a:solidFill>
            <a:srgbClr val="1A3A5C"/>
          </a:solidFill>
          <a:ln w="12700">
            <a:solidFill>
              <a:srgbClr val="1A3A5C"/>
            </a:solidFill>
            <a:prstDash val="solid"/>
          </a:ln>
        </p:spPr>
        <p:txBody>
          <a:bodyPr/>
          <a:lstStyle/>
          <a:p>
            <a:endParaRPr lang="fr-FR"/>
          </a:p>
        </p:txBody>
      </p:sp>
      <p:sp>
        <p:nvSpPr>
          <p:cNvPr id="42" name="Text 40"/>
          <p:cNvSpPr/>
          <p:nvPr/>
        </p:nvSpPr>
        <p:spPr>
          <a:xfrm>
            <a:off x="4782312" y="4636008"/>
            <a:ext cx="4005072" cy="22860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 Peine : CRIME — jusqu'à 15 ans de réclusion criminelle, voire plus.</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6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Les discriminations — Article 225-1 du Code pénal</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Critères protégés, peines encourues et acteurs de prévention</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59/88</a:t>
            </a:r>
            <a:endParaRPr lang="en-US" sz="800" dirty="0"/>
          </a:p>
        </p:txBody>
      </p:sp>
      <p:sp>
        <p:nvSpPr>
          <p:cNvPr id="9" name="Shape 7"/>
          <p:cNvSpPr/>
          <p:nvPr/>
        </p:nvSpPr>
        <p:spPr>
          <a:xfrm>
            <a:off x="274320" y="960120"/>
            <a:ext cx="8595360" cy="347472"/>
          </a:xfrm>
          <a:prstGeom prst="rect">
            <a:avLst/>
          </a:prstGeom>
          <a:solidFill>
            <a:srgbClr val="1A3A5C"/>
          </a:solidFill>
          <a:ln w="12700">
            <a:solidFill>
              <a:srgbClr val="1A3A5C"/>
            </a:solidFill>
            <a:prstDash val="solid"/>
          </a:ln>
        </p:spPr>
        <p:txBody>
          <a:bodyPr/>
          <a:lstStyle/>
          <a:p>
            <a:endParaRPr lang="fr-FR"/>
          </a:p>
        </p:txBody>
      </p:sp>
      <p:sp>
        <p:nvSpPr>
          <p:cNvPr id="10" name="Text 8"/>
          <p:cNvSpPr/>
          <p:nvPr/>
        </p:nvSpPr>
        <p:spPr>
          <a:xfrm>
            <a:off x="274320" y="960120"/>
            <a:ext cx="859536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LES DISCRIMINATIONS — Article 225-1 du Code pénal</a:t>
            </a:r>
            <a:endParaRPr lang="en-US" sz="1200" dirty="0"/>
          </a:p>
        </p:txBody>
      </p:sp>
      <p:sp>
        <p:nvSpPr>
          <p:cNvPr id="11" name="Shape 9"/>
          <p:cNvSpPr/>
          <p:nvPr/>
        </p:nvSpPr>
        <p:spPr>
          <a:xfrm>
            <a:off x="274320" y="1389888"/>
            <a:ext cx="8595360" cy="566928"/>
          </a:xfrm>
          <a:prstGeom prst="rect">
            <a:avLst/>
          </a:prstGeom>
          <a:solidFill>
            <a:srgbClr val="EBF3FC"/>
          </a:solidFill>
          <a:ln w="19050">
            <a:solidFill>
              <a:srgbClr val="2860A8"/>
            </a:solidFill>
            <a:prstDash val="solid"/>
          </a:ln>
        </p:spPr>
        <p:txBody>
          <a:bodyPr/>
          <a:lstStyle/>
          <a:p>
            <a:endParaRPr lang="fr-FR"/>
          </a:p>
        </p:txBody>
      </p:sp>
      <p:sp>
        <p:nvSpPr>
          <p:cNvPr id="12" name="Shape 10"/>
          <p:cNvSpPr/>
          <p:nvPr/>
        </p:nvSpPr>
        <p:spPr>
          <a:xfrm>
            <a:off x="274320" y="1389888"/>
            <a:ext cx="54864" cy="566928"/>
          </a:xfrm>
          <a:prstGeom prst="rect">
            <a:avLst/>
          </a:prstGeom>
          <a:solidFill>
            <a:srgbClr val="2860A8"/>
          </a:solidFill>
          <a:ln w="12700">
            <a:solidFill>
              <a:srgbClr val="2860A8"/>
            </a:solidFill>
            <a:prstDash val="solid"/>
          </a:ln>
        </p:spPr>
        <p:txBody>
          <a:bodyPr/>
          <a:lstStyle/>
          <a:p>
            <a:endParaRPr lang="fr-FR"/>
          </a:p>
        </p:txBody>
      </p:sp>
      <p:sp>
        <p:nvSpPr>
          <p:cNvPr id="13" name="Text 11"/>
          <p:cNvSpPr/>
          <p:nvPr/>
        </p:nvSpPr>
        <p:spPr>
          <a:xfrm>
            <a:off x="457200" y="1389888"/>
            <a:ext cx="8229600" cy="566928"/>
          </a:xfrm>
          <a:prstGeom prst="rect">
            <a:avLst/>
          </a:prstGeom>
          <a:noFill/>
          <a:ln/>
        </p:spPr>
        <p:txBody>
          <a:bodyPr wrap="square" rtlCol="0" anchor="ctr"/>
          <a:lstStyle/>
          <a:p>
            <a:pPr marL="0" indent="0">
              <a:buNone/>
            </a:pPr>
            <a:r>
              <a:rPr lang="en-US" sz="950" dirty="0">
                <a:solidFill>
                  <a:srgbClr val="3A3A3A"/>
                </a:solidFill>
                <a:latin typeface="Calibri" pitchFamily="34" charset="0"/>
                <a:ea typeface="Calibri" pitchFamily="34" charset="-122"/>
                <a:cs typeface="Calibri" pitchFamily="34" charset="-120"/>
              </a:rPr>
              <a:t>La discrimination est le fait de traiter une personne moins favorablement qu'une autre en raison de son appartenance ou non-appartenance à une catégorie protégée. En T3P, le refus de prise en charge d'un client pour l'un de ces motifs est une discrimination punissable.</a:t>
            </a:r>
            <a:endParaRPr lang="en-US" sz="950" dirty="0"/>
          </a:p>
        </p:txBody>
      </p:sp>
      <p:sp>
        <p:nvSpPr>
          <p:cNvPr id="14" name="Shape 12"/>
          <p:cNvSpPr/>
          <p:nvPr/>
        </p:nvSpPr>
        <p:spPr>
          <a:xfrm>
            <a:off x="274320" y="2029968"/>
            <a:ext cx="8595360" cy="292608"/>
          </a:xfrm>
          <a:prstGeom prst="rect">
            <a:avLst/>
          </a:prstGeom>
          <a:solidFill>
            <a:srgbClr val="1A3A5C"/>
          </a:solidFill>
          <a:ln w="12700">
            <a:solidFill>
              <a:srgbClr val="1A3A5C"/>
            </a:solidFill>
            <a:prstDash val="solid"/>
          </a:ln>
        </p:spPr>
        <p:txBody>
          <a:bodyPr/>
          <a:lstStyle/>
          <a:p>
            <a:endParaRPr lang="fr-FR"/>
          </a:p>
        </p:txBody>
      </p:sp>
      <p:sp>
        <p:nvSpPr>
          <p:cNvPr id="15" name="Text 13"/>
          <p:cNvSpPr/>
          <p:nvPr/>
        </p:nvSpPr>
        <p:spPr>
          <a:xfrm>
            <a:off x="274320" y="2029968"/>
            <a:ext cx="8595360"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CRITÈRES DISCRIMINATOIRES LISTÉS — Art. 225-1 Code pénal</a:t>
            </a:r>
            <a:endParaRPr lang="en-US" sz="1000" dirty="0"/>
          </a:p>
        </p:txBody>
      </p:sp>
      <p:sp>
        <p:nvSpPr>
          <p:cNvPr id="16" name="Shape 14"/>
          <p:cNvSpPr/>
          <p:nvPr/>
        </p:nvSpPr>
        <p:spPr>
          <a:xfrm>
            <a:off x="274320" y="2395728"/>
            <a:ext cx="2743200" cy="347472"/>
          </a:xfrm>
          <a:prstGeom prst="rect">
            <a:avLst/>
          </a:prstGeom>
          <a:solidFill>
            <a:srgbClr val="E8F1FA"/>
          </a:solidFill>
          <a:ln w="6350">
            <a:solidFill>
              <a:srgbClr val="D0DCE8"/>
            </a:solidFill>
            <a:prstDash val="solid"/>
          </a:ln>
        </p:spPr>
        <p:txBody>
          <a:bodyPr/>
          <a:lstStyle/>
          <a:p>
            <a:endParaRPr lang="fr-FR"/>
          </a:p>
        </p:txBody>
      </p:sp>
      <p:sp>
        <p:nvSpPr>
          <p:cNvPr id="17" name="Shape 15"/>
          <p:cNvSpPr/>
          <p:nvPr/>
        </p:nvSpPr>
        <p:spPr>
          <a:xfrm>
            <a:off x="274320" y="2395728"/>
            <a:ext cx="228600" cy="347472"/>
          </a:xfrm>
          <a:prstGeom prst="rect">
            <a:avLst/>
          </a:prstGeom>
          <a:solidFill>
            <a:srgbClr val="2860A8"/>
          </a:solidFill>
          <a:ln w="12700">
            <a:solidFill>
              <a:srgbClr val="2860A8"/>
            </a:solidFill>
            <a:prstDash val="solid"/>
          </a:ln>
        </p:spPr>
        <p:txBody>
          <a:bodyPr/>
          <a:lstStyle/>
          <a:p>
            <a:endParaRPr lang="fr-FR"/>
          </a:p>
        </p:txBody>
      </p:sp>
      <p:sp>
        <p:nvSpPr>
          <p:cNvPr id="18" name="Text 16"/>
          <p:cNvSpPr/>
          <p:nvPr/>
        </p:nvSpPr>
        <p:spPr>
          <a:xfrm>
            <a:off x="274320" y="2395728"/>
            <a:ext cx="228600" cy="34747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9" name="Text 17"/>
          <p:cNvSpPr/>
          <p:nvPr/>
        </p:nvSpPr>
        <p:spPr>
          <a:xfrm>
            <a:off x="548640" y="2432304"/>
            <a:ext cx="2423160" cy="256032"/>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Origine</a:t>
            </a:r>
            <a:endParaRPr lang="en-US" sz="850" dirty="0"/>
          </a:p>
        </p:txBody>
      </p:sp>
      <p:sp>
        <p:nvSpPr>
          <p:cNvPr id="20" name="Shape 18"/>
          <p:cNvSpPr/>
          <p:nvPr/>
        </p:nvSpPr>
        <p:spPr>
          <a:xfrm>
            <a:off x="3154680" y="2395728"/>
            <a:ext cx="2743200" cy="347472"/>
          </a:xfrm>
          <a:prstGeom prst="rect">
            <a:avLst/>
          </a:prstGeom>
          <a:solidFill>
            <a:srgbClr val="FFFFFF"/>
          </a:solidFill>
          <a:ln w="6350">
            <a:solidFill>
              <a:srgbClr val="D0DCE8"/>
            </a:solidFill>
            <a:prstDash val="solid"/>
          </a:ln>
        </p:spPr>
        <p:txBody>
          <a:bodyPr/>
          <a:lstStyle/>
          <a:p>
            <a:endParaRPr lang="fr-FR"/>
          </a:p>
        </p:txBody>
      </p:sp>
      <p:sp>
        <p:nvSpPr>
          <p:cNvPr id="21" name="Shape 19"/>
          <p:cNvSpPr/>
          <p:nvPr/>
        </p:nvSpPr>
        <p:spPr>
          <a:xfrm>
            <a:off x="3154680" y="2395728"/>
            <a:ext cx="228600" cy="347472"/>
          </a:xfrm>
          <a:prstGeom prst="rect">
            <a:avLst/>
          </a:prstGeom>
          <a:solidFill>
            <a:srgbClr val="2860A8"/>
          </a:solidFill>
          <a:ln w="12700">
            <a:solidFill>
              <a:srgbClr val="2860A8"/>
            </a:solidFill>
            <a:prstDash val="solid"/>
          </a:ln>
        </p:spPr>
        <p:txBody>
          <a:bodyPr/>
          <a:lstStyle/>
          <a:p>
            <a:endParaRPr lang="fr-FR"/>
          </a:p>
        </p:txBody>
      </p:sp>
      <p:sp>
        <p:nvSpPr>
          <p:cNvPr id="22" name="Text 20"/>
          <p:cNvSpPr/>
          <p:nvPr/>
        </p:nvSpPr>
        <p:spPr>
          <a:xfrm>
            <a:off x="3154680" y="2395728"/>
            <a:ext cx="228600" cy="34747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23" name="Text 21"/>
          <p:cNvSpPr/>
          <p:nvPr/>
        </p:nvSpPr>
        <p:spPr>
          <a:xfrm>
            <a:off x="3429000" y="2432304"/>
            <a:ext cx="2423160" cy="256032"/>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Sexe</a:t>
            </a:r>
            <a:endParaRPr lang="en-US" sz="850" dirty="0"/>
          </a:p>
        </p:txBody>
      </p:sp>
      <p:sp>
        <p:nvSpPr>
          <p:cNvPr id="24" name="Shape 22"/>
          <p:cNvSpPr/>
          <p:nvPr/>
        </p:nvSpPr>
        <p:spPr>
          <a:xfrm>
            <a:off x="6035040" y="2395728"/>
            <a:ext cx="2743200" cy="347472"/>
          </a:xfrm>
          <a:prstGeom prst="rect">
            <a:avLst/>
          </a:prstGeom>
          <a:solidFill>
            <a:srgbClr val="E8F1FA"/>
          </a:solidFill>
          <a:ln w="6350">
            <a:solidFill>
              <a:srgbClr val="D0DCE8"/>
            </a:solidFill>
            <a:prstDash val="solid"/>
          </a:ln>
        </p:spPr>
        <p:txBody>
          <a:bodyPr/>
          <a:lstStyle/>
          <a:p>
            <a:endParaRPr lang="fr-FR"/>
          </a:p>
        </p:txBody>
      </p:sp>
      <p:sp>
        <p:nvSpPr>
          <p:cNvPr id="25" name="Shape 23"/>
          <p:cNvSpPr/>
          <p:nvPr/>
        </p:nvSpPr>
        <p:spPr>
          <a:xfrm>
            <a:off x="6035040" y="2395728"/>
            <a:ext cx="228600" cy="347472"/>
          </a:xfrm>
          <a:prstGeom prst="rect">
            <a:avLst/>
          </a:prstGeom>
          <a:solidFill>
            <a:srgbClr val="2860A8"/>
          </a:solidFill>
          <a:ln w="12700">
            <a:solidFill>
              <a:srgbClr val="2860A8"/>
            </a:solidFill>
            <a:prstDash val="solid"/>
          </a:ln>
        </p:spPr>
        <p:txBody>
          <a:bodyPr/>
          <a:lstStyle/>
          <a:p>
            <a:endParaRPr lang="fr-FR"/>
          </a:p>
        </p:txBody>
      </p:sp>
      <p:sp>
        <p:nvSpPr>
          <p:cNvPr id="26" name="Text 24"/>
          <p:cNvSpPr/>
          <p:nvPr/>
        </p:nvSpPr>
        <p:spPr>
          <a:xfrm>
            <a:off x="6035040" y="2395728"/>
            <a:ext cx="228600" cy="34747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27" name="Text 25"/>
          <p:cNvSpPr/>
          <p:nvPr/>
        </p:nvSpPr>
        <p:spPr>
          <a:xfrm>
            <a:off x="6309360" y="2432304"/>
            <a:ext cx="2423160" cy="256032"/>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Situation de famille</a:t>
            </a:r>
            <a:endParaRPr lang="en-US" sz="850" dirty="0"/>
          </a:p>
        </p:txBody>
      </p:sp>
      <p:sp>
        <p:nvSpPr>
          <p:cNvPr id="28" name="Shape 26"/>
          <p:cNvSpPr/>
          <p:nvPr/>
        </p:nvSpPr>
        <p:spPr>
          <a:xfrm>
            <a:off x="274320" y="2779776"/>
            <a:ext cx="2743200" cy="347472"/>
          </a:xfrm>
          <a:prstGeom prst="rect">
            <a:avLst/>
          </a:prstGeom>
          <a:solidFill>
            <a:srgbClr val="FFFFFF"/>
          </a:solidFill>
          <a:ln w="6350">
            <a:solidFill>
              <a:srgbClr val="D0DCE8"/>
            </a:solidFill>
            <a:prstDash val="solid"/>
          </a:ln>
        </p:spPr>
        <p:txBody>
          <a:bodyPr/>
          <a:lstStyle/>
          <a:p>
            <a:endParaRPr lang="fr-FR"/>
          </a:p>
        </p:txBody>
      </p:sp>
      <p:sp>
        <p:nvSpPr>
          <p:cNvPr id="29" name="Shape 27"/>
          <p:cNvSpPr/>
          <p:nvPr/>
        </p:nvSpPr>
        <p:spPr>
          <a:xfrm>
            <a:off x="274320" y="2779776"/>
            <a:ext cx="228600" cy="347472"/>
          </a:xfrm>
          <a:prstGeom prst="rect">
            <a:avLst/>
          </a:prstGeom>
          <a:solidFill>
            <a:srgbClr val="2860A8"/>
          </a:solidFill>
          <a:ln w="12700">
            <a:solidFill>
              <a:srgbClr val="2860A8"/>
            </a:solidFill>
            <a:prstDash val="solid"/>
          </a:ln>
        </p:spPr>
        <p:txBody>
          <a:bodyPr/>
          <a:lstStyle/>
          <a:p>
            <a:endParaRPr lang="fr-FR"/>
          </a:p>
        </p:txBody>
      </p:sp>
      <p:sp>
        <p:nvSpPr>
          <p:cNvPr id="30" name="Text 28"/>
          <p:cNvSpPr/>
          <p:nvPr/>
        </p:nvSpPr>
        <p:spPr>
          <a:xfrm>
            <a:off x="274320" y="2779776"/>
            <a:ext cx="228600" cy="34747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31" name="Text 29"/>
          <p:cNvSpPr/>
          <p:nvPr/>
        </p:nvSpPr>
        <p:spPr>
          <a:xfrm>
            <a:off x="548640" y="2816352"/>
            <a:ext cx="2423160" cy="256032"/>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Grossesse</a:t>
            </a:r>
            <a:endParaRPr lang="en-US" sz="850" dirty="0"/>
          </a:p>
        </p:txBody>
      </p:sp>
      <p:sp>
        <p:nvSpPr>
          <p:cNvPr id="32" name="Shape 30"/>
          <p:cNvSpPr/>
          <p:nvPr/>
        </p:nvSpPr>
        <p:spPr>
          <a:xfrm>
            <a:off x="3154680" y="2779776"/>
            <a:ext cx="2743200" cy="347472"/>
          </a:xfrm>
          <a:prstGeom prst="rect">
            <a:avLst/>
          </a:prstGeom>
          <a:solidFill>
            <a:srgbClr val="E8F1FA"/>
          </a:solidFill>
          <a:ln w="6350">
            <a:solidFill>
              <a:srgbClr val="D0DCE8"/>
            </a:solidFill>
            <a:prstDash val="solid"/>
          </a:ln>
        </p:spPr>
        <p:txBody>
          <a:bodyPr/>
          <a:lstStyle/>
          <a:p>
            <a:endParaRPr lang="fr-FR"/>
          </a:p>
        </p:txBody>
      </p:sp>
      <p:sp>
        <p:nvSpPr>
          <p:cNvPr id="33" name="Shape 31"/>
          <p:cNvSpPr/>
          <p:nvPr/>
        </p:nvSpPr>
        <p:spPr>
          <a:xfrm>
            <a:off x="3154680" y="2779776"/>
            <a:ext cx="228600" cy="347472"/>
          </a:xfrm>
          <a:prstGeom prst="rect">
            <a:avLst/>
          </a:prstGeom>
          <a:solidFill>
            <a:srgbClr val="2860A8"/>
          </a:solidFill>
          <a:ln w="12700">
            <a:solidFill>
              <a:srgbClr val="2860A8"/>
            </a:solidFill>
            <a:prstDash val="solid"/>
          </a:ln>
        </p:spPr>
        <p:txBody>
          <a:bodyPr/>
          <a:lstStyle/>
          <a:p>
            <a:endParaRPr lang="fr-FR"/>
          </a:p>
        </p:txBody>
      </p:sp>
      <p:sp>
        <p:nvSpPr>
          <p:cNvPr id="34" name="Text 32"/>
          <p:cNvSpPr/>
          <p:nvPr/>
        </p:nvSpPr>
        <p:spPr>
          <a:xfrm>
            <a:off x="3154680" y="2779776"/>
            <a:ext cx="228600" cy="34747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35" name="Text 33"/>
          <p:cNvSpPr/>
          <p:nvPr/>
        </p:nvSpPr>
        <p:spPr>
          <a:xfrm>
            <a:off x="3429000" y="2816352"/>
            <a:ext cx="2423160" cy="256032"/>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Apparence physique</a:t>
            </a:r>
            <a:endParaRPr lang="en-US" sz="850" dirty="0"/>
          </a:p>
        </p:txBody>
      </p:sp>
      <p:sp>
        <p:nvSpPr>
          <p:cNvPr id="36" name="Shape 34"/>
          <p:cNvSpPr/>
          <p:nvPr/>
        </p:nvSpPr>
        <p:spPr>
          <a:xfrm>
            <a:off x="6035040" y="2779776"/>
            <a:ext cx="2743200" cy="347472"/>
          </a:xfrm>
          <a:prstGeom prst="rect">
            <a:avLst/>
          </a:prstGeom>
          <a:solidFill>
            <a:srgbClr val="FFFFFF"/>
          </a:solidFill>
          <a:ln w="6350">
            <a:solidFill>
              <a:srgbClr val="D0DCE8"/>
            </a:solidFill>
            <a:prstDash val="solid"/>
          </a:ln>
        </p:spPr>
        <p:txBody>
          <a:bodyPr/>
          <a:lstStyle/>
          <a:p>
            <a:endParaRPr lang="fr-FR"/>
          </a:p>
        </p:txBody>
      </p:sp>
      <p:sp>
        <p:nvSpPr>
          <p:cNvPr id="37" name="Shape 35"/>
          <p:cNvSpPr/>
          <p:nvPr/>
        </p:nvSpPr>
        <p:spPr>
          <a:xfrm>
            <a:off x="6035040" y="2779776"/>
            <a:ext cx="228600" cy="347472"/>
          </a:xfrm>
          <a:prstGeom prst="rect">
            <a:avLst/>
          </a:prstGeom>
          <a:solidFill>
            <a:srgbClr val="2860A8"/>
          </a:solidFill>
          <a:ln w="12700">
            <a:solidFill>
              <a:srgbClr val="2860A8"/>
            </a:solidFill>
            <a:prstDash val="solid"/>
          </a:ln>
        </p:spPr>
        <p:txBody>
          <a:bodyPr/>
          <a:lstStyle/>
          <a:p>
            <a:endParaRPr lang="fr-FR"/>
          </a:p>
        </p:txBody>
      </p:sp>
      <p:sp>
        <p:nvSpPr>
          <p:cNvPr id="38" name="Text 36"/>
          <p:cNvSpPr/>
          <p:nvPr/>
        </p:nvSpPr>
        <p:spPr>
          <a:xfrm>
            <a:off x="6035040" y="2779776"/>
            <a:ext cx="228600" cy="34747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39" name="Text 37"/>
          <p:cNvSpPr/>
          <p:nvPr/>
        </p:nvSpPr>
        <p:spPr>
          <a:xfrm>
            <a:off x="6309360" y="2816352"/>
            <a:ext cx="2423160" cy="256032"/>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Particulière vulnérabilité résultant de la situation économique</a:t>
            </a:r>
            <a:endParaRPr lang="en-US" sz="850" dirty="0"/>
          </a:p>
        </p:txBody>
      </p:sp>
      <p:sp>
        <p:nvSpPr>
          <p:cNvPr id="40" name="Shape 38"/>
          <p:cNvSpPr/>
          <p:nvPr/>
        </p:nvSpPr>
        <p:spPr>
          <a:xfrm>
            <a:off x="274320" y="3163824"/>
            <a:ext cx="2743200" cy="347472"/>
          </a:xfrm>
          <a:prstGeom prst="rect">
            <a:avLst/>
          </a:prstGeom>
          <a:solidFill>
            <a:srgbClr val="E8F1FA"/>
          </a:solidFill>
          <a:ln w="6350">
            <a:solidFill>
              <a:srgbClr val="D0DCE8"/>
            </a:solidFill>
            <a:prstDash val="solid"/>
          </a:ln>
        </p:spPr>
        <p:txBody>
          <a:bodyPr/>
          <a:lstStyle/>
          <a:p>
            <a:endParaRPr lang="fr-FR"/>
          </a:p>
        </p:txBody>
      </p:sp>
      <p:sp>
        <p:nvSpPr>
          <p:cNvPr id="41" name="Shape 39"/>
          <p:cNvSpPr/>
          <p:nvPr/>
        </p:nvSpPr>
        <p:spPr>
          <a:xfrm>
            <a:off x="274320" y="3163824"/>
            <a:ext cx="228600" cy="347472"/>
          </a:xfrm>
          <a:prstGeom prst="rect">
            <a:avLst/>
          </a:prstGeom>
          <a:solidFill>
            <a:srgbClr val="2860A8"/>
          </a:solidFill>
          <a:ln w="12700">
            <a:solidFill>
              <a:srgbClr val="2860A8"/>
            </a:solidFill>
            <a:prstDash val="solid"/>
          </a:ln>
        </p:spPr>
        <p:txBody>
          <a:bodyPr/>
          <a:lstStyle/>
          <a:p>
            <a:endParaRPr lang="fr-FR"/>
          </a:p>
        </p:txBody>
      </p:sp>
      <p:sp>
        <p:nvSpPr>
          <p:cNvPr id="42" name="Text 40"/>
          <p:cNvSpPr/>
          <p:nvPr/>
        </p:nvSpPr>
        <p:spPr>
          <a:xfrm>
            <a:off x="274320" y="3163824"/>
            <a:ext cx="228600" cy="34747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43" name="Text 41"/>
          <p:cNvSpPr/>
          <p:nvPr/>
        </p:nvSpPr>
        <p:spPr>
          <a:xfrm>
            <a:off x="548640" y="3200400"/>
            <a:ext cx="2423160" cy="256032"/>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Patronyme (nom de famille)</a:t>
            </a:r>
            <a:endParaRPr lang="en-US" sz="850" dirty="0"/>
          </a:p>
        </p:txBody>
      </p:sp>
      <p:sp>
        <p:nvSpPr>
          <p:cNvPr id="44" name="Shape 42"/>
          <p:cNvSpPr/>
          <p:nvPr/>
        </p:nvSpPr>
        <p:spPr>
          <a:xfrm>
            <a:off x="3154680" y="3163824"/>
            <a:ext cx="2743200" cy="347472"/>
          </a:xfrm>
          <a:prstGeom prst="rect">
            <a:avLst/>
          </a:prstGeom>
          <a:solidFill>
            <a:srgbClr val="FFFFFF"/>
          </a:solidFill>
          <a:ln w="6350">
            <a:solidFill>
              <a:srgbClr val="D0DCE8"/>
            </a:solidFill>
            <a:prstDash val="solid"/>
          </a:ln>
        </p:spPr>
        <p:txBody>
          <a:bodyPr/>
          <a:lstStyle/>
          <a:p>
            <a:endParaRPr lang="fr-FR"/>
          </a:p>
        </p:txBody>
      </p:sp>
      <p:sp>
        <p:nvSpPr>
          <p:cNvPr id="45" name="Shape 43"/>
          <p:cNvSpPr/>
          <p:nvPr/>
        </p:nvSpPr>
        <p:spPr>
          <a:xfrm>
            <a:off x="3154680" y="3163824"/>
            <a:ext cx="228600" cy="347472"/>
          </a:xfrm>
          <a:prstGeom prst="rect">
            <a:avLst/>
          </a:prstGeom>
          <a:solidFill>
            <a:srgbClr val="2860A8"/>
          </a:solidFill>
          <a:ln w="12700">
            <a:solidFill>
              <a:srgbClr val="2860A8"/>
            </a:solidFill>
            <a:prstDash val="solid"/>
          </a:ln>
        </p:spPr>
        <p:txBody>
          <a:bodyPr/>
          <a:lstStyle/>
          <a:p>
            <a:endParaRPr lang="fr-FR"/>
          </a:p>
        </p:txBody>
      </p:sp>
      <p:sp>
        <p:nvSpPr>
          <p:cNvPr id="46" name="Text 44"/>
          <p:cNvSpPr/>
          <p:nvPr/>
        </p:nvSpPr>
        <p:spPr>
          <a:xfrm>
            <a:off x="3154680" y="3163824"/>
            <a:ext cx="228600" cy="34747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47" name="Text 45"/>
          <p:cNvSpPr/>
          <p:nvPr/>
        </p:nvSpPr>
        <p:spPr>
          <a:xfrm>
            <a:off x="3429000" y="3200400"/>
            <a:ext cx="2423160" cy="256032"/>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Lieu de résidence</a:t>
            </a:r>
            <a:endParaRPr lang="en-US" sz="850" dirty="0"/>
          </a:p>
        </p:txBody>
      </p:sp>
      <p:sp>
        <p:nvSpPr>
          <p:cNvPr id="48" name="Shape 46"/>
          <p:cNvSpPr/>
          <p:nvPr/>
        </p:nvSpPr>
        <p:spPr>
          <a:xfrm>
            <a:off x="6035040" y="3163824"/>
            <a:ext cx="2743200" cy="347472"/>
          </a:xfrm>
          <a:prstGeom prst="rect">
            <a:avLst/>
          </a:prstGeom>
          <a:solidFill>
            <a:srgbClr val="E8F1FA"/>
          </a:solidFill>
          <a:ln w="6350">
            <a:solidFill>
              <a:srgbClr val="D0DCE8"/>
            </a:solidFill>
            <a:prstDash val="solid"/>
          </a:ln>
        </p:spPr>
        <p:txBody>
          <a:bodyPr/>
          <a:lstStyle/>
          <a:p>
            <a:endParaRPr lang="fr-FR"/>
          </a:p>
        </p:txBody>
      </p:sp>
      <p:sp>
        <p:nvSpPr>
          <p:cNvPr id="49" name="Shape 47"/>
          <p:cNvSpPr/>
          <p:nvPr/>
        </p:nvSpPr>
        <p:spPr>
          <a:xfrm>
            <a:off x="6035040" y="3163824"/>
            <a:ext cx="228600" cy="347472"/>
          </a:xfrm>
          <a:prstGeom prst="rect">
            <a:avLst/>
          </a:prstGeom>
          <a:solidFill>
            <a:srgbClr val="2860A8"/>
          </a:solidFill>
          <a:ln w="12700">
            <a:solidFill>
              <a:srgbClr val="2860A8"/>
            </a:solidFill>
            <a:prstDash val="solid"/>
          </a:ln>
        </p:spPr>
        <p:txBody>
          <a:bodyPr/>
          <a:lstStyle/>
          <a:p>
            <a:endParaRPr lang="fr-FR"/>
          </a:p>
        </p:txBody>
      </p:sp>
      <p:sp>
        <p:nvSpPr>
          <p:cNvPr id="50" name="Text 48"/>
          <p:cNvSpPr/>
          <p:nvPr/>
        </p:nvSpPr>
        <p:spPr>
          <a:xfrm>
            <a:off x="6035040" y="3163824"/>
            <a:ext cx="228600" cy="34747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1" name="Text 49"/>
          <p:cNvSpPr/>
          <p:nvPr/>
        </p:nvSpPr>
        <p:spPr>
          <a:xfrm>
            <a:off x="6309360" y="3200400"/>
            <a:ext cx="2423160" cy="256032"/>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État de santé</a:t>
            </a:r>
            <a:endParaRPr lang="en-US" sz="850" dirty="0"/>
          </a:p>
        </p:txBody>
      </p:sp>
      <p:sp>
        <p:nvSpPr>
          <p:cNvPr id="52" name="Shape 50"/>
          <p:cNvSpPr/>
          <p:nvPr/>
        </p:nvSpPr>
        <p:spPr>
          <a:xfrm>
            <a:off x="274320" y="3547872"/>
            <a:ext cx="2743200" cy="347472"/>
          </a:xfrm>
          <a:prstGeom prst="rect">
            <a:avLst/>
          </a:prstGeom>
          <a:solidFill>
            <a:srgbClr val="FFFFFF"/>
          </a:solidFill>
          <a:ln w="6350">
            <a:solidFill>
              <a:srgbClr val="D0DCE8"/>
            </a:solidFill>
            <a:prstDash val="solid"/>
          </a:ln>
        </p:spPr>
        <p:txBody>
          <a:bodyPr/>
          <a:lstStyle/>
          <a:p>
            <a:endParaRPr lang="fr-FR"/>
          </a:p>
        </p:txBody>
      </p:sp>
      <p:sp>
        <p:nvSpPr>
          <p:cNvPr id="53" name="Shape 51"/>
          <p:cNvSpPr/>
          <p:nvPr/>
        </p:nvSpPr>
        <p:spPr>
          <a:xfrm>
            <a:off x="274320" y="3547872"/>
            <a:ext cx="228600" cy="347472"/>
          </a:xfrm>
          <a:prstGeom prst="rect">
            <a:avLst/>
          </a:prstGeom>
          <a:solidFill>
            <a:srgbClr val="2860A8"/>
          </a:solidFill>
          <a:ln w="12700">
            <a:solidFill>
              <a:srgbClr val="2860A8"/>
            </a:solidFill>
            <a:prstDash val="solid"/>
          </a:ln>
        </p:spPr>
        <p:txBody>
          <a:bodyPr/>
          <a:lstStyle/>
          <a:p>
            <a:endParaRPr lang="fr-FR"/>
          </a:p>
        </p:txBody>
      </p:sp>
      <p:sp>
        <p:nvSpPr>
          <p:cNvPr id="54" name="Text 52"/>
          <p:cNvSpPr/>
          <p:nvPr/>
        </p:nvSpPr>
        <p:spPr>
          <a:xfrm>
            <a:off x="274320" y="3547872"/>
            <a:ext cx="228600" cy="34747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5" name="Text 53"/>
          <p:cNvSpPr/>
          <p:nvPr/>
        </p:nvSpPr>
        <p:spPr>
          <a:xfrm>
            <a:off x="548640" y="3584448"/>
            <a:ext cx="2423160" cy="256032"/>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Perte d'autonomie</a:t>
            </a:r>
            <a:endParaRPr lang="en-US" sz="850" dirty="0"/>
          </a:p>
        </p:txBody>
      </p:sp>
      <p:sp>
        <p:nvSpPr>
          <p:cNvPr id="56" name="Shape 54"/>
          <p:cNvSpPr/>
          <p:nvPr/>
        </p:nvSpPr>
        <p:spPr>
          <a:xfrm>
            <a:off x="3154680" y="3547872"/>
            <a:ext cx="2743200" cy="347472"/>
          </a:xfrm>
          <a:prstGeom prst="rect">
            <a:avLst/>
          </a:prstGeom>
          <a:solidFill>
            <a:srgbClr val="E8F1FA"/>
          </a:solidFill>
          <a:ln w="6350">
            <a:solidFill>
              <a:srgbClr val="D0DCE8"/>
            </a:solidFill>
            <a:prstDash val="solid"/>
          </a:ln>
        </p:spPr>
        <p:txBody>
          <a:bodyPr/>
          <a:lstStyle/>
          <a:p>
            <a:endParaRPr lang="fr-FR"/>
          </a:p>
        </p:txBody>
      </p:sp>
      <p:sp>
        <p:nvSpPr>
          <p:cNvPr id="57" name="Shape 55"/>
          <p:cNvSpPr/>
          <p:nvPr/>
        </p:nvSpPr>
        <p:spPr>
          <a:xfrm>
            <a:off x="3154680" y="3547872"/>
            <a:ext cx="228600" cy="347472"/>
          </a:xfrm>
          <a:prstGeom prst="rect">
            <a:avLst/>
          </a:prstGeom>
          <a:solidFill>
            <a:srgbClr val="2860A8"/>
          </a:solidFill>
          <a:ln w="12700">
            <a:solidFill>
              <a:srgbClr val="2860A8"/>
            </a:solidFill>
            <a:prstDash val="solid"/>
          </a:ln>
        </p:spPr>
        <p:txBody>
          <a:bodyPr/>
          <a:lstStyle/>
          <a:p>
            <a:endParaRPr lang="fr-FR"/>
          </a:p>
        </p:txBody>
      </p:sp>
      <p:sp>
        <p:nvSpPr>
          <p:cNvPr id="58" name="Text 56"/>
          <p:cNvSpPr/>
          <p:nvPr/>
        </p:nvSpPr>
        <p:spPr>
          <a:xfrm>
            <a:off x="3154680" y="3547872"/>
            <a:ext cx="228600" cy="34747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9" name="Text 57"/>
          <p:cNvSpPr/>
          <p:nvPr/>
        </p:nvSpPr>
        <p:spPr>
          <a:xfrm>
            <a:off x="3429000" y="3584448"/>
            <a:ext cx="2423160" cy="256032"/>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Handicap</a:t>
            </a:r>
            <a:endParaRPr lang="en-US" sz="850" dirty="0"/>
          </a:p>
        </p:txBody>
      </p:sp>
      <p:sp>
        <p:nvSpPr>
          <p:cNvPr id="60" name="Shape 58"/>
          <p:cNvSpPr/>
          <p:nvPr/>
        </p:nvSpPr>
        <p:spPr>
          <a:xfrm>
            <a:off x="6035040" y="3547872"/>
            <a:ext cx="2743200" cy="347472"/>
          </a:xfrm>
          <a:prstGeom prst="rect">
            <a:avLst/>
          </a:prstGeom>
          <a:solidFill>
            <a:srgbClr val="FFFFFF"/>
          </a:solidFill>
          <a:ln w="6350">
            <a:solidFill>
              <a:srgbClr val="D0DCE8"/>
            </a:solidFill>
            <a:prstDash val="solid"/>
          </a:ln>
        </p:spPr>
        <p:txBody>
          <a:bodyPr/>
          <a:lstStyle/>
          <a:p>
            <a:endParaRPr lang="fr-FR"/>
          </a:p>
        </p:txBody>
      </p:sp>
      <p:sp>
        <p:nvSpPr>
          <p:cNvPr id="61" name="Shape 59"/>
          <p:cNvSpPr/>
          <p:nvPr/>
        </p:nvSpPr>
        <p:spPr>
          <a:xfrm>
            <a:off x="6035040" y="3547872"/>
            <a:ext cx="228600" cy="347472"/>
          </a:xfrm>
          <a:prstGeom prst="rect">
            <a:avLst/>
          </a:prstGeom>
          <a:solidFill>
            <a:srgbClr val="2860A8"/>
          </a:solidFill>
          <a:ln w="12700">
            <a:solidFill>
              <a:srgbClr val="2860A8"/>
            </a:solidFill>
            <a:prstDash val="solid"/>
          </a:ln>
        </p:spPr>
        <p:txBody>
          <a:bodyPr/>
          <a:lstStyle/>
          <a:p>
            <a:endParaRPr lang="fr-FR"/>
          </a:p>
        </p:txBody>
      </p:sp>
      <p:sp>
        <p:nvSpPr>
          <p:cNvPr id="62" name="Text 60"/>
          <p:cNvSpPr/>
          <p:nvPr/>
        </p:nvSpPr>
        <p:spPr>
          <a:xfrm>
            <a:off x="6035040" y="3547872"/>
            <a:ext cx="228600" cy="34747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63" name="Text 61"/>
          <p:cNvSpPr/>
          <p:nvPr/>
        </p:nvSpPr>
        <p:spPr>
          <a:xfrm>
            <a:off x="6309360" y="3584448"/>
            <a:ext cx="2423160" cy="256032"/>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Caractéristiques génétiques</a:t>
            </a:r>
            <a:endParaRPr lang="en-US" sz="850" dirty="0"/>
          </a:p>
        </p:txBody>
      </p:sp>
      <p:sp>
        <p:nvSpPr>
          <p:cNvPr id="64" name="Shape 62"/>
          <p:cNvSpPr/>
          <p:nvPr/>
        </p:nvSpPr>
        <p:spPr>
          <a:xfrm>
            <a:off x="274320" y="3931920"/>
            <a:ext cx="8595360" cy="320040"/>
          </a:xfrm>
          <a:prstGeom prst="rect">
            <a:avLst/>
          </a:prstGeom>
          <a:solidFill>
            <a:srgbClr val="E8F1FA"/>
          </a:solidFill>
          <a:ln w="6350">
            <a:solidFill>
              <a:srgbClr val="D0DCE8"/>
            </a:solidFill>
            <a:prstDash val="solid"/>
          </a:ln>
        </p:spPr>
        <p:txBody>
          <a:bodyPr/>
          <a:lstStyle/>
          <a:p>
            <a:endParaRPr lang="fr-FR"/>
          </a:p>
        </p:txBody>
      </p:sp>
      <p:sp>
        <p:nvSpPr>
          <p:cNvPr id="65" name="Shape 63"/>
          <p:cNvSpPr/>
          <p:nvPr/>
        </p:nvSpPr>
        <p:spPr>
          <a:xfrm>
            <a:off x="274320" y="3931920"/>
            <a:ext cx="228600" cy="320040"/>
          </a:xfrm>
          <a:prstGeom prst="rect">
            <a:avLst/>
          </a:prstGeom>
          <a:solidFill>
            <a:srgbClr val="2860A8"/>
          </a:solidFill>
          <a:ln w="12700">
            <a:solidFill>
              <a:srgbClr val="2860A8"/>
            </a:solidFill>
            <a:prstDash val="solid"/>
          </a:ln>
        </p:spPr>
        <p:txBody>
          <a:bodyPr/>
          <a:lstStyle/>
          <a:p>
            <a:endParaRPr lang="fr-FR"/>
          </a:p>
        </p:txBody>
      </p:sp>
      <p:sp>
        <p:nvSpPr>
          <p:cNvPr id="66" name="Text 64"/>
          <p:cNvSpPr/>
          <p:nvPr/>
        </p:nvSpPr>
        <p:spPr>
          <a:xfrm>
            <a:off x="274320" y="3931920"/>
            <a:ext cx="228600" cy="32004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67" name="Text 65"/>
          <p:cNvSpPr/>
          <p:nvPr/>
        </p:nvSpPr>
        <p:spPr>
          <a:xfrm>
            <a:off x="566928" y="3950208"/>
            <a:ext cx="8211312" cy="256032"/>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Appartenance ou non-appartenance, vraie ou supposée, à une ethnie, une nation, une prétendue race ou une religion déterminée</a:t>
            </a:r>
            <a:endParaRPr lang="en-US" sz="850" dirty="0"/>
          </a:p>
        </p:txBody>
      </p:sp>
      <p:sp>
        <p:nvSpPr>
          <p:cNvPr id="68" name="Shape 66"/>
          <p:cNvSpPr/>
          <p:nvPr/>
        </p:nvSpPr>
        <p:spPr>
          <a:xfrm>
            <a:off x="274320" y="4315968"/>
            <a:ext cx="4160520" cy="292608"/>
          </a:xfrm>
          <a:prstGeom prst="rect">
            <a:avLst/>
          </a:prstGeom>
          <a:solidFill>
            <a:srgbClr val="C0392B"/>
          </a:solidFill>
          <a:ln w="12700">
            <a:solidFill>
              <a:srgbClr val="C0392B"/>
            </a:solidFill>
            <a:prstDash val="solid"/>
          </a:ln>
        </p:spPr>
        <p:txBody>
          <a:bodyPr/>
          <a:lstStyle/>
          <a:p>
            <a:endParaRPr lang="fr-FR"/>
          </a:p>
        </p:txBody>
      </p:sp>
      <p:sp>
        <p:nvSpPr>
          <p:cNvPr id="69" name="Text 67"/>
          <p:cNvSpPr/>
          <p:nvPr/>
        </p:nvSpPr>
        <p:spPr>
          <a:xfrm>
            <a:off x="274320" y="4315968"/>
            <a:ext cx="4160520"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PEINES ENCOURUES</a:t>
            </a:r>
            <a:endParaRPr lang="en-US" sz="1000" dirty="0"/>
          </a:p>
        </p:txBody>
      </p:sp>
      <p:sp>
        <p:nvSpPr>
          <p:cNvPr id="70" name="Shape 68"/>
          <p:cNvSpPr/>
          <p:nvPr/>
        </p:nvSpPr>
        <p:spPr>
          <a:xfrm>
            <a:off x="274320" y="4645152"/>
            <a:ext cx="4160520" cy="438912"/>
          </a:xfrm>
          <a:prstGeom prst="rect">
            <a:avLst/>
          </a:prstGeom>
          <a:solidFill>
            <a:srgbClr val="E8F1FA"/>
          </a:solidFill>
          <a:ln w="6350">
            <a:solidFill>
              <a:srgbClr val="D0DCE8"/>
            </a:solidFill>
            <a:prstDash val="solid"/>
          </a:ln>
        </p:spPr>
        <p:txBody>
          <a:bodyPr/>
          <a:lstStyle/>
          <a:p>
            <a:endParaRPr lang="fr-FR"/>
          </a:p>
        </p:txBody>
      </p:sp>
      <p:sp>
        <p:nvSpPr>
          <p:cNvPr id="71" name="Text 69"/>
          <p:cNvSpPr/>
          <p:nvPr/>
        </p:nvSpPr>
        <p:spPr>
          <a:xfrm>
            <a:off x="365760" y="4663440"/>
            <a:ext cx="3977640" cy="402336"/>
          </a:xfrm>
          <a:prstGeom prst="rect">
            <a:avLst/>
          </a:prstGeom>
          <a:noFill/>
          <a:ln/>
        </p:spPr>
        <p:txBody>
          <a:bodyPr wrap="square" rtlCol="0" anchor="t"/>
          <a:lstStyle/>
          <a:p>
            <a:pPr marL="0" indent="0">
              <a:buNone/>
            </a:pPr>
            <a:r>
              <a:rPr lang="en-US" sz="950" dirty="0">
                <a:solidFill>
                  <a:srgbClr val="3A3A3A"/>
                </a:solidFill>
                <a:latin typeface="Calibri" pitchFamily="34" charset="0"/>
                <a:ea typeface="Calibri" pitchFamily="34" charset="-122"/>
                <a:cs typeface="Calibri" pitchFamily="34" charset="-120"/>
              </a:rPr>
              <a:t>3 ans d'emprisonnement et 45 000 € d'amende</a:t>
            </a:r>
            <a:endParaRPr lang="en-US" sz="950" dirty="0"/>
          </a:p>
          <a:p>
            <a:pPr marL="0" indent="0">
              <a:buNone/>
            </a:pPr>
            <a:r>
              <a:rPr lang="en-US" sz="950" dirty="0">
                <a:solidFill>
                  <a:srgbClr val="3A3A3A"/>
                </a:solidFill>
                <a:latin typeface="Calibri" pitchFamily="34" charset="0"/>
                <a:ea typeface="Calibri" pitchFamily="34" charset="-122"/>
                <a:cs typeface="Calibri" pitchFamily="34" charset="-120"/>
              </a:rPr>
              <a:t>Aggravé si commis en bande organisée ou en lieu public</a:t>
            </a:r>
            <a:endParaRPr lang="en-US" sz="950" dirty="0"/>
          </a:p>
        </p:txBody>
      </p:sp>
      <p:sp>
        <p:nvSpPr>
          <p:cNvPr id="72" name="Shape 70"/>
          <p:cNvSpPr/>
          <p:nvPr/>
        </p:nvSpPr>
        <p:spPr>
          <a:xfrm>
            <a:off x="4709160" y="4315968"/>
            <a:ext cx="4160520" cy="292608"/>
          </a:xfrm>
          <a:prstGeom prst="rect">
            <a:avLst/>
          </a:prstGeom>
          <a:solidFill>
            <a:srgbClr val="2860A8"/>
          </a:solidFill>
          <a:ln w="12700">
            <a:solidFill>
              <a:srgbClr val="2860A8"/>
            </a:solidFill>
            <a:prstDash val="solid"/>
          </a:ln>
        </p:spPr>
        <p:txBody>
          <a:bodyPr/>
          <a:lstStyle/>
          <a:p>
            <a:endParaRPr lang="fr-FR"/>
          </a:p>
        </p:txBody>
      </p:sp>
      <p:sp>
        <p:nvSpPr>
          <p:cNvPr id="73" name="Text 71"/>
          <p:cNvSpPr/>
          <p:nvPr/>
        </p:nvSpPr>
        <p:spPr>
          <a:xfrm>
            <a:off x="4709160" y="4315968"/>
            <a:ext cx="4160520"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ACTEURS DE PRÉVENTION</a:t>
            </a:r>
            <a:endParaRPr lang="en-US" sz="1000" dirty="0"/>
          </a:p>
        </p:txBody>
      </p:sp>
      <p:sp>
        <p:nvSpPr>
          <p:cNvPr id="74" name="Shape 72"/>
          <p:cNvSpPr/>
          <p:nvPr/>
        </p:nvSpPr>
        <p:spPr>
          <a:xfrm>
            <a:off x="4709160" y="4645152"/>
            <a:ext cx="4160520" cy="182880"/>
          </a:xfrm>
          <a:prstGeom prst="rect">
            <a:avLst/>
          </a:prstGeom>
          <a:solidFill>
            <a:srgbClr val="E8F1FA"/>
          </a:solidFill>
          <a:ln w="6350">
            <a:solidFill>
              <a:srgbClr val="D0DCE8"/>
            </a:solidFill>
            <a:prstDash val="solid"/>
          </a:ln>
        </p:spPr>
        <p:txBody>
          <a:bodyPr/>
          <a:lstStyle/>
          <a:p>
            <a:endParaRPr lang="fr-FR"/>
          </a:p>
        </p:txBody>
      </p:sp>
      <p:sp>
        <p:nvSpPr>
          <p:cNvPr id="75" name="Text 73"/>
          <p:cNvSpPr/>
          <p:nvPr/>
        </p:nvSpPr>
        <p:spPr>
          <a:xfrm>
            <a:off x="4800600" y="4663440"/>
            <a:ext cx="3977640" cy="146304"/>
          </a:xfrm>
          <a:prstGeom prst="rect">
            <a:avLst/>
          </a:prstGeom>
          <a:noFill/>
          <a:ln/>
        </p:spPr>
        <p:txBody>
          <a:bodyPr wrap="square" rtlCol="0" anchor="ctr"/>
          <a:lstStyle/>
          <a:p>
            <a:pPr marL="0" indent="0">
              <a:buNone/>
            </a:pPr>
            <a:r>
              <a:rPr lang="en-US" sz="800" dirty="0">
                <a:solidFill>
                  <a:srgbClr val="3A3A3A"/>
                </a:solidFill>
                <a:latin typeface="Calibri" pitchFamily="34" charset="0"/>
                <a:ea typeface="Calibri" pitchFamily="34" charset="-122"/>
                <a:cs typeface="Calibri" pitchFamily="34" charset="-120"/>
              </a:rPr>
              <a:t>▶ Défenseur des droits : Traite les réclamations de discriminations — saisine gratuite</a:t>
            </a:r>
            <a:endParaRPr lang="en-US" sz="800" dirty="0"/>
          </a:p>
        </p:txBody>
      </p:sp>
      <p:sp>
        <p:nvSpPr>
          <p:cNvPr id="76" name="Shape 74"/>
          <p:cNvSpPr/>
          <p:nvPr/>
        </p:nvSpPr>
        <p:spPr>
          <a:xfrm>
            <a:off x="4709160" y="4864608"/>
            <a:ext cx="4160520" cy="182880"/>
          </a:xfrm>
          <a:prstGeom prst="rect">
            <a:avLst/>
          </a:prstGeom>
          <a:solidFill>
            <a:srgbClr val="FFFFFF"/>
          </a:solidFill>
          <a:ln w="6350">
            <a:solidFill>
              <a:srgbClr val="D0DCE8"/>
            </a:solidFill>
            <a:prstDash val="solid"/>
          </a:ln>
        </p:spPr>
        <p:txBody>
          <a:bodyPr/>
          <a:lstStyle/>
          <a:p>
            <a:endParaRPr lang="fr-FR"/>
          </a:p>
        </p:txBody>
      </p:sp>
      <p:sp>
        <p:nvSpPr>
          <p:cNvPr id="77" name="Text 75"/>
          <p:cNvSpPr/>
          <p:nvPr/>
        </p:nvSpPr>
        <p:spPr>
          <a:xfrm>
            <a:off x="4800600" y="4882896"/>
            <a:ext cx="3977640" cy="146304"/>
          </a:xfrm>
          <a:prstGeom prst="rect">
            <a:avLst/>
          </a:prstGeom>
          <a:noFill/>
          <a:ln/>
        </p:spPr>
        <p:txBody>
          <a:bodyPr wrap="square" rtlCol="0" anchor="ctr"/>
          <a:lstStyle/>
          <a:p>
            <a:pPr marL="0" indent="0">
              <a:buNone/>
            </a:pPr>
            <a:r>
              <a:rPr lang="en-US" sz="800" dirty="0">
                <a:solidFill>
                  <a:srgbClr val="3A3A3A"/>
                </a:solidFill>
                <a:latin typeface="Calibri" pitchFamily="34" charset="0"/>
                <a:ea typeface="Calibri" pitchFamily="34" charset="-122"/>
                <a:cs typeface="Calibri" pitchFamily="34" charset="-120"/>
              </a:rPr>
              <a:t>▶ SOS Racisme / LICRA : Associations de lutte contre les discriminations racistes</a:t>
            </a:r>
            <a:endParaRPr lang="en-US" sz="800" dirty="0"/>
          </a:p>
        </p:txBody>
      </p:sp>
      <p:sp>
        <p:nvSpPr>
          <p:cNvPr id="78" name="Shape 76"/>
          <p:cNvSpPr/>
          <p:nvPr/>
        </p:nvSpPr>
        <p:spPr>
          <a:xfrm>
            <a:off x="4709160" y="5084064"/>
            <a:ext cx="4160520" cy="182880"/>
          </a:xfrm>
          <a:prstGeom prst="rect">
            <a:avLst/>
          </a:prstGeom>
          <a:solidFill>
            <a:srgbClr val="E8F1FA"/>
          </a:solidFill>
          <a:ln w="6350">
            <a:solidFill>
              <a:srgbClr val="D0DCE8"/>
            </a:solidFill>
            <a:prstDash val="solid"/>
          </a:ln>
        </p:spPr>
        <p:txBody>
          <a:bodyPr/>
          <a:lstStyle/>
          <a:p>
            <a:endParaRPr lang="fr-FR"/>
          </a:p>
        </p:txBody>
      </p:sp>
      <p:sp>
        <p:nvSpPr>
          <p:cNvPr id="79" name="Text 77"/>
          <p:cNvSpPr/>
          <p:nvPr/>
        </p:nvSpPr>
        <p:spPr>
          <a:xfrm>
            <a:off x="4800600" y="5102352"/>
            <a:ext cx="3977640" cy="146304"/>
          </a:xfrm>
          <a:prstGeom prst="rect">
            <a:avLst/>
          </a:prstGeom>
          <a:noFill/>
          <a:ln/>
        </p:spPr>
        <p:txBody>
          <a:bodyPr wrap="square" rtlCol="0" anchor="ctr"/>
          <a:lstStyle/>
          <a:p>
            <a:pPr marL="0" indent="0">
              <a:buNone/>
            </a:pPr>
            <a:r>
              <a:rPr lang="en-US" sz="800" dirty="0">
                <a:solidFill>
                  <a:srgbClr val="3A3A3A"/>
                </a:solidFill>
                <a:latin typeface="Calibri" pitchFamily="34" charset="0"/>
                <a:ea typeface="Calibri" pitchFamily="34" charset="-122"/>
                <a:cs typeface="Calibri" pitchFamily="34" charset="-120"/>
              </a:rPr>
              <a:t>▶ Planning Familial : Lutte contre les discriminations sexuelles et sexistes</a:t>
            </a:r>
            <a:endParaRPr lang="en-US" sz="800" dirty="0"/>
          </a:p>
        </p:txBody>
      </p:sp>
      <p:sp>
        <p:nvSpPr>
          <p:cNvPr id="80" name="Shape 78"/>
          <p:cNvSpPr/>
          <p:nvPr/>
        </p:nvSpPr>
        <p:spPr>
          <a:xfrm>
            <a:off x="4709160" y="5303520"/>
            <a:ext cx="4160520" cy="182880"/>
          </a:xfrm>
          <a:prstGeom prst="rect">
            <a:avLst/>
          </a:prstGeom>
          <a:solidFill>
            <a:srgbClr val="FFFFFF"/>
          </a:solidFill>
          <a:ln w="6350">
            <a:solidFill>
              <a:srgbClr val="D0DCE8"/>
            </a:solidFill>
            <a:prstDash val="solid"/>
          </a:ln>
        </p:spPr>
        <p:txBody>
          <a:bodyPr/>
          <a:lstStyle/>
          <a:p>
            <a:endParaRPr lang="fr-FR"/>
          </a:p>
        </p:txBody>
      </p:sp>
      <p:sp>
        <p:nvSpPr>
          <p:cNvPr id="81" name="Text 79"/>
          <p:cNvSpPr/>
          <p:nvPr/>
        </p:nvSpPr>
        <p:spPr>
          <a:xfrm>
            <a:off x="4800600" y="5321808"/>
            <a:ext cx="3977640" cy="146304"/>
          </a:xfrm>
          <a:prstGeom prst="rect">
            <a:avLst/>
          </a:prstGeom>
          <a:noFill/>
          <a:ln/>
        </p:spPr>
        <p:txBody>
          <a:bodyPr wrap="square" rtlCol="0" anchor="ctr"/>
          <a:lstStyle/>
          <a:p>
            <a:pPr marL="0" indent="0">
              <a:buNone/>
            </a:pPr>
            <a:r>
              <a:rPr lang="en-US" sz="800" dirty="0">
                <a:solidFill>
                  <a:srgbClr val="3A3A3A"/>
                </a:solidFill>
                <a:latin typeface="Calibri" pitchFamily="34" charset="0"/>
                <a:ea typeface="Calibri" pitchFamily="34" charset="-122"/>
                <a:cs typeface="Calibri" pitchFamily="34" charset="-120"/>
              </a:rPr>
              <a:t>▶ Police / Gendarmerie : Plainte en cas de discrimination pénale — OPJ compétents</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7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Acteurs de prévention VSS — Qui contacter ?</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Interlocuteurs mobilisables en cas de violences sexuelles et sexistes</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60/88</a:t>
            </a:r>
            <a:endParaRPr lang="en-US" sz="800" dirty="0"/>
          </a:p>
        </p:txBody>
      </p:sp>
      <p:sp>
        <p:nvSpPr>
          <p:cNvPr id="9" name="Shape 7"/>
          <p:cNvSpPr/>
          <p:nvPr/>
        </p:nvSpPr>
        <p:spPr>
          <a:xfrm>
            <a:off x="274320" y="960120"/>
            <a:ext cx="8595360" cy="347472"/>
          </a:xfrm>
          <a:prstGeom prst="rect">
            <a:avLst/>
          </a:prstGeom>
          <a:solidFill>
            <a:srgbClr val="8B0000"/>
          </a:solidFill>
          <a:ln w="12700">
            <a:solidFill>
              <a:srgbClr val="8B0000"/>
            </a:solidFill>
            <a:prstDash val="solid"/>
          </a:ln>
        </p:spPr>
        <p:txBody>
          <a:bodyPr/>
          <a:lstStyle/>
          <a:p>
            <a:endParaRPr lang="fr-FR"/>
          </a:p>
        </p:txBody>
      </p:sp>
      <p:sp>
        <p:nvSpPr>
          <p:cNvPr id="10" name="Text 8"/>
          <p:cNvSpPr/>
          <p:nvPr/>
        </p:nvSpPr>
        <p:spPr>
          <a:xfrm>
            <a:off x="274320" y="960120"/>
            <a:ext cx="859536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ACTEURS DE PRÉVENTION ET DE LUTTE CONTRE LES VSS</a:t>
            </a:r>
            <a:endParaRPr lang="en-US" sz="1200" dirty="0"/>
          </a:p>
        </p:txBody>
      </p:sp>
      <p:sp>
        <p:nvSpPr>
          <p:cNvPr id="11" name="Shape 9"/>
          <p:cNvSpPr/>
          <p:nvPr/>
        </p:nvSpPr>
        <p:spPr>
          <a:xfrm>
            <a:off x="274320" y="1389888"/>
            <a:ext cx="4160520" cy="1143000"/>
          </a:xfrm>
          <a:prstGeom prst="rect">
            <a:avLst/>
          </a:prstGeom>
          <a:solidFill>
            <a:srgbClr val="E8F1FA"/>
          </a:solidFill>
          <a:ln w="6350">
            <a:solidFill>
              <a:srgbClr val="D0DCE8"/>
            </a:solidFill>
            <a:prstDash val="solid"/>
          </a:ln>
        </p:spPr>
        <p:txBody>
          <a:bodyPr/>
          <a:lstStyle/>
          <a:p>
            <a:endParaRPr lang="fr-FR"/>
          </a:p>
        </p:txBody>
      </p:sp>
      <p:sp>
        <p:nvSpPr>
          <p:cNvPr id="12" name="Shape 10"/>
          <p:cNvSpPr/>
          <p:nvPr/>
        </p:nvSpPr>
        <p:spPr>
          <a:xfrm>
            <a:off x="274320" y="1389888"/>
            <a:ext cx="4160520" cy="292608"/>
          </a:xfrm>
          <a:prstGeom prst="rect">
            <a:avLst/>
          </a:prstGeom>
          <a:solidFill>
            <a:srgbClr val="D4530A"/>
          </a:solidFill>
          <a:ln w="12700">
            <a:solidFill>
              <a:srgbClr val="D4530A"/>
            </a:solidFill>
            <a:prstDash val="solid"/>
          </a:ln>
        </p:spPr>
        <p:txBody>
          <a:bodyPr/>
          <a:lstStyle/>
          <a:p>
            <a:endParaRPr lang="fr-FR"/>
          </a:p>
        </p:txBody>
      </p:sp>
      <p:sp>
        <p:nvSpPr>
          <p:cNvPr id="13" name="Text 11"/>
          <p:cNvSpPr/>
          <p:nvPr/>
        </p:nvSpPr>
        <p:spPr>
          <a:xfrm>
            <a:off x="347472" y="1389888"/>
            <a:ext cx="400507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3919 — Violences Femmes Info</a:t>
            </a:r>
            <a:endParaRPr lang="en-US" sz="950" dirty="0"/>
          </a:p>
        </p:txBody>
      </p:sp>
      <p:sp>
        <p:nvSpPr>
          <p:cNvPr id="14" name="Text 12"/>
          <p:cNvSpPr/>
          <p:nvPr/>
        </p:nvSpPr>
        <p:spPr>
          <a:xfrm>
            <a:off x="365760" y="1709928"/>
            <a:ext cx="3977640" cy="566928"/>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Numéro national d'écoute. Gratuit, anonyme, 24h/24. Pour les victimes, témoins ou proches. Mis en place par le gouvernement.</a:t>
            </a:r>
            <a:endParaRPr lang="en-US" sz="880" dirty="0"/>
          </a:p>
        </p:txBody>
      </p:sp>
      <p:sp>
        <p:nvSpPr>
          <p:cNvPr id="15" name="Shape 13"/>
          <p:cNvSpPr/>
          <p:nvPr/>
        </p:nvSpPr>
        <p:spPr>
          <a:xfrm>
            <a:off x="274320" y="2286000"/>
            <a:ext cx="4160520" cy="246888"/>
          </a:xfrm>
          <a:prstGeom prst="rect">
            <a:avLst/>
          </a:prstGeom>
          <a:solidFill>
            <a:srgbClr val="D4530A"/>
          </a:solidFill>
          <a:ln w="12700">
            <a:solidFill>
              <a:srgbClr val="D4530A"/>
            </a:solidFill>
            <a:prstDash val="solid"/>
          </a:ln>
        </p:spPr>
        <p:txBody>
          <a:bodyPr/>
          <a:lstStyle/>
          <a:p>
            <a:endParaRPr lang="fr-FR"/>
          </a:p>
        </p:txBody>
      </p:sp>
      <p:sp>
        <p:nvSpPr>
          <p:cNvPr id="16" name="Text 14"/>
          <p:cNvSpPr/>
          <p:nvPr/>
        </p:nvSpPr>
        <p:spPr>
          <a:xfrm>
            <a:off x="347472" y="2286000"/>
            <a:ext cx="4005072" cy="246888"/>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 Appeler le 3919</a:t>
            </a:r>
            <a:endParaRPr lang="en-US" sz="850" dirty="0"/>
          </a:p>
        </p:txBody>
      </p:sp>
      <p:sp>
        <p:nvSpPr>
          <p:cNvPr id="17" name="Shape 15"/>
          <p:cNvSpPr/>
          <p:nvPr/>
        </p:nvSpPr>
        <p:spPr>
          <a:xfrm>
            <a:off x="4709160" y="1389888"/>
            <a:ext cx="4160520" cy="1143000"/>
          </a:xfrm>
          <a:prstGeom prst="rect">
            <a:avLst/>
          </a:prstGeom>
          <a:solidFill>
            <a:srgbClr val="E8F1FA"/>
          </a:solidFill>
          <a:ln w="6350">
            <a:solidFill>
              <a:srgbClr val="D0DCE8"/>
            </a:solidFill>
            <a:prstDash val="solid"/>
          </a:ln>
        </p:spPr>
        <p:txBody>
          <a:bodyPr/>
          <a:lstStyle/>
          <a:p>
            <a:endParaRPr lang="fr-FR"/>
          </a:p>
        </p:txBody>
      </p:sp>
      <p:sp>
        <p:nvSpPr>
          <p:cNvPr id="18" name="Shape 16"/>
          <p:cNvSpPr/>
          <p:nvPr/>
        </p:nvSpPr>
        <p:spPr>
          <a:xfrm>
            <a:off x="4709160" y="1389888"/>
            <a:ext cx="4160520" cy="292608"/>
          </a:xfrm>
          <a:prstGeom prst="rect">
            <a:avLst/>
          </a:prstGeom>
          <a:solidFill>
            <a:srgbClr val="C0392B"/>
          </a:solidFill>
          <a:ln w="12700">
            <a:solidFill>
              <a:srgbClr val="C0392B"/>
            </a:solidFill>
            <a:prstDash val="solid"/>
          </a:ln>
        </p:spPr>
        <p:txBody>
          <a:bodyPr/>
          <a:lstStyle/>
          <a:p>
            <a:endParaRPr lang="fr-FR"/>
          </a:p>
        </p:txBody>
      </p:sp>
      <p:sp>
        <p:nvSpPr>
          <p:cNvPr id="19" name="Text 17"/>
          <p:cNvSpPr/>
          <p:nvPr/>
        </p:nvSpPr>
        <p:spPr>
          <a:xfrm>
            <a:off x="4782312" y="1389888"/>
            <a:ext cx="400507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Police / Gendarmerie</a:t>
            </a:r>
            <a:endParaRPr lang="en-US" sz="950" dirty="0"/>
          </a:p>
        </p:txBody>
      </p:sp>
      <p:sp>
        <p:nvSpPr>
          <p:cNvPr id="20" name="Text 18"/>
          <p:cNvSpPr/>
          <p:nvPr/>
        </p:nvSpPr>
        <p:spPr>
          <a:xfrm>
            <a:off x="4800600" y="1709928"/>
            <a:ext cx="3977640" cy="566928"/>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Dépôt de plainte en cas de crime ou délit. OPJ habilités à recevoir les plaintes VSS. Délai de prescription : 10 ans (agression sexuelle), 20 ans (viol).</a:t>
            </a:r>
            <a:endParaRPr lang="en-US" sz="880" dirty="0"/>
          </a:p>
        </p:txBody>
      </p:sp>
      <p:sp>
        <p:nvSpPr>
          <p:cNvPr id="21" name="Shape 19"/>
          <p:cNvSpPr/>
          <p:nvPr/>
        </p:nvSpPr>
        <p:spPr>
          <a:xfrm>
            <a:off x="4709160" y="2286000"/>
            <a:ext cx="4160520" cy="246888"/>
          </a:xfrm>
          <a:prstGeom prst="rect">
            <a:avLst/>
          </a:prstGeom>
          <a:solidFill>
            <a:srgbClr val="C0392B"/>
          </a:solidFill>
          <a:ln w="12700">
            <a:solidFill>
              <a:srgbClr val="C0392B"/>
            </a:solidFill>
            <a:prstDash val="solid"/>
          </a:ln>
        </p:spPr>
        <p:txBody>
          <a:bodyPr/>
          <a:lstStyle/>
          <a:p>
            <a:endParaRPr lang="fr-FR"/>
          </a:p>
        </p:txBody>
      </p:sp>
      <p:sp>
        <p:nvSpPr>
          <p:cNvPr id="22" name="Text 20"/>
          <p:cNvSpPr/>
          <p:nvPr/>
        </p:nvSpPr>
        <p:spPr>
          <a:xfrm>
            <a:off x="4782312" y="2286000"/>
            <a:ext cx="4005072" cy="246888"/>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 17 ou se rendre au commissariat</a:t>
            </a:r>
            <a:endParaRPr lang="en-US" sz="850" dirty="0"/>
          </a:p>
        </p:txBody>
      </p:sp>
      <p:sp>
        <p:nvSpPr>
          <p:cNvPr id="23" name="Shape 21"/>
          <p:cNvSpPr/>
          <p:nvPr/>
        </p:nvSpPr>
        <p:spPr>
          <a:xfrm>
            <a:off x="274320" y="2624328"/>
            <a:ext cx="4160520" cy="1143000"/>
          </a:xfrm>
          <a:prstGeom prst="rect">
            <a:avLst/>
          </a:prstGeom>
          <a:solidFill>
            <a:srgbClr val="E8F1FA"/>
          </a:solidFill>
          <a:ln w="6350">
            <a:solidFill>
              <a:srgbClr val="D0DCE8"/>
            </a:solidFill>
            <a:prstDash val="solid"/>
          </a:ln>
        </p:spPr>
        <p:txBody>
          <a:bodyPr/>
          <a:lstStyle/>
          <a:p>
            <a:endParaRPr lang="fr-FR"/>
          </a:p>
        </p:txBody>
      </p:sp>
      <p:sp>
        <p:nvSpPr>
          <p:cNvPr id="24" name="Shape 22"/>
          <p:cNvSpPr/>
          <p:nvPr/>
        </p:nvSpPr>
        <p:spPr>
          <a:xfrm>
            <a:off x="274320" y="2624328"/>
            <a:ext cx="4160520" cy="292608"/>
          </a:xfrm>
          <a:prstGeom prst="rect">
            <a:avLst/>
          </a:prstGeom>
          <a:solidFill>
            <a:srgbClr val="1A3A5C"/>
          </a:solidFill>
          <a:ln w="12700">
            <a:solidFill>
              <a:srgbClr val="1A3A5C"/>
            </a:solidFill>
            <a:prstDash val="solid"/>
          </a:ln>
        </p:spPr>
        <p:txBody>
          <a:bodyPr/>
          <a:lstStyle/>
          <a:p>
            <a:endParaRPr lang="fr-FR"/>
          </a:p>
        </p:txBody>
      </p:sp>
      <p:sp>
        <p:nvSpPr>
          <p:cNvPr id="25" name="Text 23"/>
          <p:cNvSpPr/>
          <p:nvPr/>
        </p:nvSpPr>
        <p:spPr>
          <a:xfrm>
            <a:off x="347472" y="2624328"/>
            <a:ext cx="400507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Médecin / Urgences</a:t>
            </a:r>
            <a:endParaRPr lang="en-US" sz="950" dirty="0"/>
          </a:p>
        </p:txBody>
      </p:sp>
      <p:sp>
        <p:nvSpPr>
          <p:cNvPr id="26" name="Text 24"/>
          <p:cNvSpPr/>
          <p:nvPr/>
        </p:nvSpPr>
        <p:spPr>
          <a:xfrm>
            <a:off x="365760" y="2944368"/>
            <a:ext cx="3977640" cy="566928"/>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Constatation médicale des violences. Délivrance de certificat médical. Réquisition judiciaire possible pour examens.</a:t>
            </a:r>
            <a:endParaRPr lang="en-US" sz="880" dirty="0"/>
          </a:p>
        </p:txBody>
      </p:sp>
      <p:sp>
        <p:nvSpPr>
          <p:cNvPr id="27" name="Shape 25"/>
          <p:cNvSpPr/>
          <p:nvPr/>
        </p:nvSpPr>
        <p:spPr>
          <a:xfrm>
            <a:off x="274320" y="3520440"/>
            <a:ext cx="4160520" cy="246888"/>
          </a:xfrm>
          <a:prstGeom prst="rect">
            <a:avLst/>
          </a:prstGeom>
          <a:solidFill>
            <a:srgbClr val="1A3A5C"/>
          </a:solidFill>
          <a:ln w="12700">
            <a:solidFill>
              <a:srgbClr val="1A3A5C"/>
            </a:solidFill>
            <a:prstDash val="solid"/>
          </a:ln>
        </p:spPr>
        <p:txBody>
          <a:bodyPr/>
          <a:lstStyle/>
          <a:p>
            <a:endParaRPr lang="fr-FR"/>
          </a:p>
        </p:txBody>
      </p:sp>
      <p:sp>
        <p:nvSpPr>
          <p:cNvPr id="28" name="Text 26"/>
          <p:cNvSpPr/>
          <p:nvPr/>
        </p:nvSpPr>
        <p:spPr>
          <a:xfrm>
            <a:off x="347472" y="3520440"/>
            <a:ext cx="4005072" cy="246888"/>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 15 (SAMU) ou urgences hôpital</a:t>
            </a:r>
            <a:endParaRPr lang="en-US" sz="850" dirty="0"/>
          </a:p>
        </p:txBody>
      </p:sp>
      <p:sp>
        <p:nvSpPr>
          <p:cNvPr id="29" name="Shape 27"/>
          <p:cNvSpPr/>
          <p:nvPr/>
        </p:nvSpPr>
        <p:spPr>
          <a:xfrm>
            <a:off x="4709160" y="2624328"/>
            <a:ext cx="4160520" cy="1143000"/>
          </a:xfrm>
          <a:prstGeom prst="rect">
            <a:avLst/>
          </a:prstGeom>
          <a:solidFill>
            <a:srgbClr val="E8F1FA"/>
          </a:solidFill>
          <a:ln w="6350">
            <a:solidFill>
              <a:srgbClr val="D0DCE8"/>
            </a:solidFill>
            <a:prstDash val="solid"/>
          </a:ln>
        </p:spPr>
        <p:txBody>
          <a:bodyPr/>
          <a:lstStyle/>
          <a:p>
            <a:endParaRPr lang="fr-FR"/>
          </a:p>
        </p:txBody>
      </p:sp>
      <p:sp>
        <p:nvSpPr>
          <p:cNvPr id="30" name="Shape 28"/>
          <p:cNvSpPr/>
          <p:nvPr/>
        </p:nvSpPr>
        <p:spPr>
          <a:xfrm>
            <a:off x="4709160" y="2624328"/>
            <a:ext cx="4160520" cy="292608"/>
          </a:xfrm>
          <a:prstGeom prst="rect">
            <a:avLst/>
          </a:prstGeom>
          <a:solidFill>
            <a:srgbClr val="6B7A8D"/>
          </a:solidFill>
          <a:ln w="12700">
            <a:solidFill>
              <a:srgbClr val="6B7A8D"/>
            </a:solidFill>
            <a:prstDash val="solid"/>
          </a:ln>
        </p:spPr>
        <p:txBody>
          <a:bodyPr/>
          <a:lstStyle/>
          <a:p>
            <a:endParaRPr lang="fr-FR"/>
          </a:p>
        </p:txBody>
      </p:sp>
      <p:sp>
        <p:nvSpPr>
          <p:cNvPr id="31" name="Text 29"/>
          <p:cNvSpPr/>
          <p:nvPr/>
        </p:nvSpPr>
        <p:spPr>
          <a:xfrm>
            <a:off x="4782312" y="2624328"/>
            <a:ext cx="400507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Centre d'hébergement</a:t>
            </a:r>
            <a:endParaRPr lang="en-US" sz="950" dirty="0"/>
          </a:p>
        </p:txBody>
      </p:sp>
      <p:sp>
        <p:nvSpPr>
          <p:cNvPr id="32" name="Text 30"/>
          <p:cNvSpPr/>
          <p:nvPr/>
        </p:nvSpPr>
        <p:spPr>
          <a:xfrm>
            <a:off x="4800600" y="2944368"/>
            <a:ext cx="3977640" cy="566928"/>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CHRS (Centre d'Hébergement et de Réinsertion Sociale) pour mettre la victime en sécurité immédiate.</a:t>
            </a:r>
            <a:endParaRPr lang="en-US" sz="880" dirty="0"/>
          </a:p>
        </p:txBody>
      </p:sp>
      <p:sp>
        <p:nvSpPr>
          <p:cNvPr id="33" name="Shape 31"/>
          <p:cNvSpPr/>
          <p:nvPr/>
        </p:nvSpPr>
        <p:spPr>
          <a:xfrm>
            <a:off x="4709160" y="3520440"/>
            <a:ext cx="4160520" cy="246888"/>
          </a:xfrm>
          <a:prstGeom prst="rect">
            <a:avLst/>
          </a:prstGeom>
          <a:solidFill>
            <a:srgbClr val="6B7A8D"/>
          </a:solidFill>
          <a:ln w="12700">
            <a:solidFill>
              <a:srgbClr val="6B7A8D"/>
            </a:solidFill>
            <a:prstDash val="solid"/>
          </a:ln>
        </p:spPr>
        <p:txBody>
          <a:bodyPr/>
          <a:lstStyle/>
          <a:p>
            <a:endParaRPr lang="fr-FR"/>
          </a:p>
        </p:txBody>
      </p:sp>
      <p:sp>
        <p:nvSpPr>
          <p:cNvPr id="34" name="Text 32"/>
          <p:cNvSpPr/>
          <p:nvPr/>
        </p:nvSpPr>
        <p:spPr>
          <a:xfrm>
            <a:off x="4782312" y="3520440"/>
            <a:ext cx="4005072" cy="246888"/>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 115 — Numéro national d'urgence sociale</a:t>
            </a:r>
            <a:endParaRPr lang="en-US" sz="850" dirty="0"/>
          </a:p>
        </p:txBody>
      </p:sp>
      <p:sp>
        <p:nvSpPr>
          <p:cNvPr id="35" name="Shape 33"/>
          <p:cNvSpPr/>
          <p:nvPr/>
        </p:nvSpPr>
        <p:spPr>
          <a:xfrm>
            <a:off x="274320" y="3858768"/>
            <a:ext cx="4160520" cy="1143000"/>
          </a:xfrm>
          <a:prstGeom prst="rect">
            <a:avLst/>
          </a:prstGeom>
          <a:solidFill>
            <a:srgbClr val="E8F1FA"/>
          </a:solidFill>
          <a:ln w="6350">
            <a:solidFill>
              <a:srgbClr val="D0DCE8"/>
            </a:solidFill>
            <a:prstDash val="solid"/>
          </a:ln>
        </p:spPr>
        <p:txBody>
          <a:bodyPr/>
          <a:lstStyle/>
          <a:p>
            <a:endParaRPr lang="fr-FR"/>
          </a:p>
        </p:txBody>
      </p:sp>
      <p:sp>
        <p:nvSpPr>
          <p:cNvPr id="36" name="Shape 34"/>
          <p:cNvSpPr/>
          <p:nvPr/>
        </p:nvSpPr>
        <p:spPr>
          <a:xfrm>
            <a:off x="274320" y="3858768"/>
            <a:ext cx="4160520" cy="292608"/>
          </a:xfrm>
          <a:prstGeom prst="rect">
            <a:avLst/>
          </a:prstGeom>
          <a:solidFill>
            <a:srgbClr val="2860A8"/>
          </a:solidFill>
          <a:ln w="12700">
            <a:solidFill>
              <a:srgbClr val="2860A8"/>
            </a:solidFill>
            <a:prstDash val="solid"/>
          </a:ln>
        </p:spPr>
        <p:txBody>
          <a:bodyPr/>
          <a:lstStyle/>
          <a:p>
            <a:endParaRPr lang="fr-FR"/>
          </a:p>
        </p:txBody>
      </p:sp>
      <p:sp>
        <p:nvSpPr>
          <p:cNvPr id="37" name="Text 35"/>
          <p:cNvSpPr/>
          <p:nvPr/>
        </p:nvSpPr>
        <p:spPr>
          <a:xfrm>
            <a:off x="347472" y="3858768"/>
            <a:ext cx="400507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Associations</a:t>
            </a:r>
            <a:endParaRPr lang="en-US" sz="950" dirty="0"/>
          </a:p>
        </p:txBody>
      </p:sp>
      <p:sp>
        <p:nvSpPr>
          <p:cNvPr id="38" name="Text 36"/>
          <p:cNvSpPr/>
          <p:nvPr/>
        </p:nvSpPr>
        <p:spPr>
          <a:xfrm>
            <a:off x="365760" y="4178808"/>
            <a:ext cx="3977640" cy="566928"/>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France Victimes : aide aux victimes (114). CIDFF (Centre d'Information sur les Droits des Femmes). INAVEM : réseau d'aide aux victimes.</a:t>
            </a:r>
            <a:endParaRPr lang="en-US" sz="880" dirty="0"/>
          </a:p>
        </p:txBody>
      </p:sp>
      <p:sp>
        <p:nvSpPr>
          <p:cNvPr id="39" name="Shape 37"/>
          <p:cNvSpPr/>
          <p:nvPr/>
        </p:nvSpPr>
        <p:spPr>
          <a:xfrm>
            <a:off x="274320" y="4754880"/>
            <a:ext cx="4160520" cy="246888"/>
          </a:xfrm>
          <a:prstGeom prst="rect">
            <a:avLst/>
          </a:prstGeom>
          <a:solidFill>
            <a:srgbClr val="2860A8"/>
          </a:solidFill>
          <a:ln w="12700">
            <a:solidFill>
              <a:srgbClr val="2860A8"/>
            </a:solidFill>
            <a:prstDash val="solid"/>
          </a:ln>
        </p:spPr>
        <p:txBody>
          <a:bodyPr/>
          <a:lstStyle/>
          <a:p>
            <a:endParaRPr lang="fr-FR"/>
          </a:p>
        </p:txBody>
      </p:sp>
      <p:sp>
        <p:nvSpPr>
          <p:cNvPr id="40" name="Text 38"/>
          <p:cNvSpPr/>
          <p:nvPr/>
        </p:nvSpPr>
        <p:spPr>
          <a:xfrm>
            <a:off x="347472" y="4754880"/>
            <a:ext cx="4005072" cy="246888"/>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 France Victimes : 116 006</a:t>
            </a:r>
            <a:endParaRPr lang="en-US" sz="850" dirty="0"/>
          </a:p>
        </p:txBody>
      </p:sp>
      <p:sp>
        <p:nvSpPr>
          <p:cNvPr id="41" name="Shape 39"/>
          <p:cNvSpPr/>
          <p:nvPr/>
        </p:nvSpPr>
        <p:spPr>
          <a:xfrm>
            <a:off x="4709160" y="3858768"/>
            <a:ext cx="4160520" cy="1143000"/>
          </a:xfrm>
          <a:prstGeom prst="rect">
            <a:avLst/>
          </a:prstGeom>
          <a:solidFill>
            <a:srgbClr val="E8F1FA"/>
          </a:solidFill>
          <a:ln w="6350">
            <a:solidFill>
              <a:srgbClr val="D0DCE8"/>
            </a:solidFill>
            <a:prstDash val="solid"/>
          </a:ln>
        </p:spPr>
        <p:txBody>
          <a:bodyPr/>
          <a:lstStyle/>
          <a:p>
            <a:endParaRPr lang="fr-FR"/>
          </a:p>
        </p:txBody>
      </p:sp>
      <p:sp>
        <p:nvSpPr>
          <p:cNvPr id="42" name="Shape 40"/>
          <p:cNvSpPr/>
          <p:nvPr/>
        </p:nvSpPr>
        <p:spPr>
          <a:xfrm>
            <a:off x="4709160" y="3858768"/>
            <a:ext cx="4160520" cy="292608"/>
          </a:xfrm>
          <a:prstGeom prst="rect">
            <a:avLst/>
          </a:prstGeom>
          <a:solidFill>
            <a:srgbClr val="F4A227"/>
          </a:solidFill>
          <a:ln w="12700">
            <a:solidFill>
              <a:srgbClr val="F4A227"/>
            </a:solidFill>
            <a:prstDash val="solid"/>
          </a:ln>
        </p:spPr>
        <p:txBody>
          <a:bodyPr/>
          <a:lstStyle/>
          <a:p>
            <a:endParaRPr lang="fr-FR"/>
          </a:p>
        </p:txBody>
      </p:sp>
      <p:sp>
        <p:nvSpPr>
          <p:cNvPr id="43" name="Text 41"/>
          <p:cNvSpPr/>
          <p:nvPr/>
        </p:nvSpPr>
        <p:spPr>
          <a:xfrm>
            <a:off x="4782312" y="3858768"/>
            <a:ext cx="4005072"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Bons réflexes T3P</a:t>
            </a:r>
            <a:endParaRPr lang="en-US" sz="950" dirty="0"/>
          </a:p>
        </p:txBody>
      </p:sp>
      <p:sp>
        <p:nvSpPr>
          <p:cNvPr id="44" name="Text 42"/>
          <p:cNvSpPr/>
          <p:nvPr/>
        </p:nvSpPr>
        <p:spPr>
          <a:xfrm>
            <a:off x="4800600" y="4178808"/>
            <a:ext cx="3977640" cy="566928"/>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En tant que conducteur : arrêter la course si comportement VSS, proposer d'appeler le 17, noter heure/lieu/description, ne pas minimiser la situation de la victime.</a:t>
            </a:r>
            <a:endParaRPr lang="en-US" sz="880" dirty="0"/>
          </a:p>
        </p:txBody>
      </p:sp>
      <p:sp>
        <p:nvSpPr>
          <p:cNvPr id="45" name="Shape 43"/>
          <p:cNvSpPr/>
          <p:nvPr/>
        </p:nvSpPr>
        <p:spPr>
          <a:xfrm>
            <a:off x="4709160" y="4754880"/>
            <a:ext cx="4160520" cy="246888"/>
          </a:xfrm>
          <a:prstGeom prst="rect">
            <a:avLst/>
          </a:prstGeom>
          <a:solidFill>
            <a:srgbClr val="F4A227"/>
          </a:solidFill>
          <a:ln w="12700">
            <a:solidFill>
              <a:srgbClr val="F4A227"/>
            </a:solidFill>
            <a:prstDash val="solid"/>
          </a:ln>
        </p:spPr>
        <p:txBody>
          <a:bodyPr/>
          <a:lstStyle/>
          <a:p>
            <a:endParaRPr lang="fr-FR"/>
          </a:p>
        </p:txBody>
      </p:sp>
      <p:sp>
        <p:nvSpPr>
          <p:cNvPr id="46" name="Text 44"/>
          <p:cNvSpPr/>
          <p:nvPr/>
        </p:nvSpPr>
        <p:spPr>
          <a:xfrm>
            <a:off x="4782312" y="4754880"/>
            <a:ext cx="4005072" cy="246888"/>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 Sécurité passagère AVANT tout</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7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L'Observatoire national des T3P</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Rôle, missions et rapport annuel — Pages 117-118</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0/88</a:t>
            </a:r>
            <a:endParaRPr lang="en-US" sz="800" dirty="0"/>
          </a:p>
        </p:txBody>
      </p:sp>
      <p:sp>
        <p:nvSpPr>
          <p:cNvPr id="9" name="Shape 7"/>
          <p:cNvSpPr/>
          <p:nvPr/>
        </p:nvSpPr>
        <p:spPr>
          <a:xfrm>
            <a:off x="274320" y="932688"/>
            <a:ext cx="8595360" cy="310896"/>
          </a:xfrm>
          <a:prstGeom prst="rect">
            <a:avLst/>
          </a:prstGeom>
          <a:solidFill>
            <a:srgbClr val="1A3A5C"/>
          </a:solidFill>
          <a:ln w="12700">
            <a:solidFill>
              <a:srgbClr val="1A3A5C"/>
            </a:solidFill>
            <a:prstDash val="solid"/>
          </a:ln>
        </p:spPr>
        <p:txBody>
          <a:bodyPr/>
          <a:lstStyle/>
          <a:p>
            <a:endParaRPr lang="fr-FR"/>
          </a:p>
        </p:txBody>
      </p:sp>
      <p:sp>
        <p:nvSpPr>
          <p:cNvPr id="10" name="Text 8"/>
          <p:cNvSpPr/>
          <p:nvPr/>
        </p:nvSpPr>
        <p:spPr>
          <a:xfrm>
            <a:off x="274320" y="932688"/>
            <a:ext cx="8595360" cy="31089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L'OBSERVATOIRE NATIONAL DES TRANSPORTS PUBLICS PARTICULIERS DE PERSONNES</a:t>
            </a:r>
            <a:endParaRPr lang="en-US" sz="1000" dirty="0"/>
          </a:p>
        </p:txBody>
      </p:sp>
      <p:sp>
        <p:nvSpPr>
          <p:cNvPr id="11" name="Shape 9"/>
          <p:cNvSpPr/>
          <p:nvPr/>
        </p:nvSpPr>
        <p:spPr>
          <a:xfrm>
            <a:off x="274320" y="1325880"/>
            <a:ext cx="2724912" cy="1298448"/>
          </a:xfrm>
          <a:prstGeom prst="rect">
            <a:avLst/>
          </a:prstGeom>
          <a:solidFill>
            <a:srgbClr val="E8F1FA"/>
          </a:solidFill>
          <a:ln w="6350">
            <a:solidFill>
              <a:srgbClr val="D0DCE8"/>
            </a:solidFill>
            <a:prstDash val="solid"/>
          </a:ln>
        </p:spPr>
        <p:txBody>
          <a:bodyPr/>
          <a:lstStyle/>
          <a:p>
            <a:endParaRPr lang="fr-FR"/>
          </a:p>
        </p:txBody>
      </p:sp>
      <p:sp>
        <p:nvSpPr>
          <p:cNvPr id="12" name="Shape 10"/>
          <p:cNvSpPr/>
          <p:nvPr/>
        </p:nvSpPr>
        <p:spPr>
          <a:xfrm>
            <a:off x="274320" y="1325880"/>
            <a:ext cx="2724912" cy="256032"/>
          </a:xfrm>
          <a:prstGeom prst="rect">
            <a:avLst/>
          </a:prstGeom>
          <a:solidFill>
            <a:srgbClr val="1A3A5C"/>
          </a:solidFill>
          <a:ln w="12700">
            <a:solidFill>
              <a:srgbClr val="1A3A5C"/>
            </a:solidFill>
            <a:prstDash val="solid"/>
          </a:ln>
        </p:spPr>
        <p:txBody>
          <a:bodyPr/>
          <a:lstStyle/>
          <a:p>
            <a:endParaRPr lang="fr-FR"/>
          </a:p>
        </p:txBody>
      </p:sp>
      <p:sp>
        <p:nvSpPr>
          <p:cNvPr id="13" name="Text 11"/>
          <p:cNvSpPr/>
          <p:nvPr/>
        </p:nvSpPr>
        <p:spPr>
          <a:xfrm>
            <a:off x="347472" y="1325880"/>
            <a:ext cx="2615184"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RAPPORT ANNUEL</a:t>
            </a:r>
            <a:endParaRPr lang="en-US" sz="900" dirty="0"/>
          </a:p>
        </p:txBody>
      </p:sp>
      <p:sp>
        <p:nvSpPr>
          <p:cNvPr id="14" name="Text 12"/>
          <p:cNvSpPr/>
          <p:nvPr/>
        </p:nvSpPr>
        <p:spPr>
          <a:xfrm>
            <a:off x="365760" y="1618488"/>
            <a:ext cx="2560320" cy="987552"/>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Établit chaque année un rapport sur l'évolution des T3P, y compris l'accès des différentes professions de conducteur.</a:t>
            </a:r>
            <a:endParaRPr lang="en-US" sz="900" dirty="0"/>
          </a:p>
        </p:txBody>
      </p:sp>
      <p:sp>
        <p:nvSpPr>
          <p:cNvPr id="15" name="Shape 13"/>
          <p:cNvSpPr/>
          <p:nvPr/>
        </p:nvSpPr>
        <p:spPr>
          <a:xfrm>
            <a:off x="3154680" y="1325880"/>
            <a:ext cx="2724912" cy="1298448"/>
          </a:xfrm>
          <a:prstGeom prst="rect">
            <a:avLst/>
          </a:prstGeom>
          <a:solidFill>
            <a:srgbClr val="E8F1FA"/>
          </a:solidFill>
          <a:ln w="6350">
            <a:solidFill>
              <a:srgbClr val="D0DCE8"/>
            </a:solidFill>
            <a:prstDash val="solid"/>
          </a:ln>
        </p:spPr>
        <p:txBody>
          <a:bodyPr/>
          <a:lstStyle/>
          <a:p>
            <a:endParaRPr lang="fr-FR"/>
          </a:p>
        </p:txBody>
      </p:sp>
      <p:sp>
        <p:nvSpPr>
          <p:cNvPr id="16" name="Shape 14"/>
          <p:cNvSpPr/>
          <p:nvPr/>
        </p:nvSpPr>
        <p:spPr>
          <a:xfrm>
            <a:off x="3154680" y="1325880"/>
            <a:ext cx="2724912" cy="256032"/>
          </a:xfrm>
          <a:prstGeom prst="rect">
            <a:avLst/>
          </a:prstGeom>
          <a:solidFill>
            <a:srgbClr val="2860A8"/>
          </a:solidFill>
          <a:ln w="12700">
            <a:solidFill>
              <a:srgbClr val="2860A8"/>
            </a:solidFill>
            <a:prstDash val="solid"/>
          </a:ln>
        </p:spPr>
        <p:txBody>
          <a:bodyPr/>
          <a:lstStyle/>
          <a:p>
            <a:endParaRPr lang="fr-FR"/>
          </a:p>
        </p:txBody>
      </p:sp>
      <p:sp>
        <p:nvSpPr>
          <p:cNvPr id="17" name="Text 15"/>
          <p:cNvSpPr/>
          <p:nvPr/>
        </p:nvSpPr>
        <p:spPr>
          <a:xfrm>
            <a:off x="3227832" y="1325880"/>
            <a:ext cx="2615184"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ÉTUDES</a:t>
            </a:r>
            <a:endParaRPr lang="en-US" sz="900" dirty="0"/>
          </a:p>
        </p:txBody>
      </p:sp>
      <p:sp>
        <p:nvSpPr>
          <p:cNvPr id="18" name="Text 16"/>
          <p:cNvSpPr/>
          <p:nvPr/>
        </p:nvSpPr>
        <p:spPr>
          <a:xfrm>
            <a:off x="3246120" y="1618488"/>
            <a:ext cx="2560320" cy="987552"/>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Mène toute étude pour améliorer la connaissance des transports publics particuliers de personnes.</a:t>
            </a:r>
            <a:endParaRPr lang="en-US" sz="900" dirty="0"/>
          </a:p>
        </p:txBody>
      </p:sp>
      <p:sp>
        <p:nvSpPr>
          <p:cNvPr id="19" name="Shape 17"/>
          <p:cNvSpPr/>
          <p:nvPr/>
        </p:nvSpPr>
        <p:spPr>
          <a:xfrm>
            <a:off x="6035040" y="1325880"/>
            <a:ext cx="2724912" cy="1298448"/>
          </a:xfrm>
          <a:prstGeom prst="rect">
            <a:avLst/>
          </a:prstGeom>
          <a:solidFill>
            <a:srgbClr val="E8F1FA"/>
          </a:solidFill>
          <a:ln w="6350">
            <a:solidFill>
              <a:srgbClr val="D0DCE8"/>
            </a:solidFill>
            <a:prstDash val="solid"/>
          </a:ln>
        </p:spPr>
        <p:txBody>
          <a:bodyPr/>
          <a:lstStyle/>
          <a:p>
            <a:endParaRPr lang="fr-FR"/>
          </a:p>
        </p:txBody>
      </p:sp>
      <p:sp>
        <p:nvSpPr>
          <p:cNvPr id="20" name="Shape 18"/>
          <p:cNvSpPr/>
          <p:nvPr/>
        </p:nvSpPr>
        <p:spPr>
          <a:xfrm>
            <a:off x="6035040" y="1325880"/>
            <a:ext cx="2724912" cy="256032"/>
          </a:xfrm>
          <a:prstGeom prst="rect">
            <a:avLst/>
          </a:prstGeom>
          <a:solidFill>
            <a:srgbClr val="F4A227"/>
          </a:solidFill>
          <a:ln w="12700">
            <a:solidFill>
              <a:srgbClr val="F4A227"/>
            </a:solidFill>
            <a:prstDash val="solid"/>
          </a:ln>
        </p:spPr>
        <p:txBody>
          <a:bodyPr/>
          <a:lstStyle/>
          <a:p>
            <a:endParaRPr lang="fr-FR"/>
          </a:p>
        </p:txBody>
      </p:sp>
      <p:sp>
        <p:nvSpPr>
          <p:cNvPr id="21" name="Text 19"/>
          <p:cNvSpPr/>
          <p:nvPr/>
        </p:nvSpPr>
        <p:spPr>
          <a:xfrm>
            <a:off x="6108192" y="1325880"/>
            <a:ext cx="2615184"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STATISTIQUES</a:t>
            </a:r>
            <a:endParaRPr lang="en-US" sz="900" dirty="0"/>
          </a:p>
        </p:txBody>
      </p:sp>
      <p:sp>
        <p:nvSpPr>
          <p:cNvPr id="22" name="Text 20"/>
          <p:cNvSpPr/>
          <p:nvPr/>
        </p:nvSpPr>
        <p:spPr>
          <a:xfrm>
            <a:off x="6126480" y="1618488"/>
            <a:ext cx="2560320" cy="987552"/>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Est assuré par le service de l'observation et des statistiques du commissariat général au développement durable.</a:t>
            </a:r>
            <a:endParaRPr lang="en-US" sz="900" dirty="0"/>
          </a:p>
        </p:txBody>
      </p:sp>
      <p:sp>
        <p:nvSpPr>
          <p:cNvPr id="23" name="Shape 21"/>
          <p:cNvSpPr/>
          <p:nvPr/>
        </p:nvSpPr>
        <p:spPr>
          <a:xfrm>
            <a:off x="274320" y="2743200"/>
            <a:ext cx="2724912" cy="1298448"/>
          </a:xfrm>
          <a:prstGeom prst="rect">
            <a:avLst/>
          </a:prstGeom>
          <a:solidFill>
            <a:srgbClr val="E8F1FA"/>
          </a:solidFill>
          <a:ln w="6350">
            <a:solidFill>
              <a:srgbClr val="D0DCE8"/>
            </a:solidFill>
            <a:prstDash val="solid"/>
          </a:ln>
        </p:spPr>
        <p:txBody>
          <a:bodyPr/>
          <a:lstStyle/>
          <a:p>
            <a:endParaRPr lang="fr-FR"/>
          </a:p>
        </p:txBody>
      </p:sp>
      <p:sp>
        <p:nvSpPr>
          <p:cNvPr id="24" name="Shape 22"/>
          <p:cNvSpPr/>
          <p:nvPr/>
        </p:nvSpPr>
        <p:spPr>
          <a:xfrm>
            <a:off x="274320" y="2743200"/>
            <a:ext cx="2724912" cy="256032"/>
          </a:xfrm>
          <a:prstGeom prst="rect">
            <a:avLst/>
          </a:prstGeom>
          <a:solidFill>
            <a:srgbClr val="6B7A8D"/>
          </a:solidFill>
          <a:ln w="12700">
            <a:solidFill>
              <a:srgbClr val="6B7A8D"/>
            </a:solidFill>
            <a:prstDash val="solid"/>
          </a:ln>
        </p:spPr>
        <p:txBody>
          <a:bodyPr/>
          <a:lstStyle/>
          <a:p>
            <a:endParaRPr lang="fr-FR"/>
          </a:p>
        </p:txBody>
      </p:sp>
      <p:sp>
        <p:nvSpPr>
          <p:cNvPr id="25" name="Text 23"/>
          <p:cNvSpPr/>
          <p:nvPr/>
        </p:nvSpPr>
        <p:spPr>
          <a:xfrm>
            <a:off x="347472" y="2743200"/>
            <a:ext cx="2615184"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DIFFUSION</a:t>
            </a:r>
            <a:endParaRPr lang="en-US" sz="900" dirty="0"/>
          </a:p>
        </p:txBody>
      </p:sp>
      <p:sp>
        <p:nvSpPr>
          <p:cNvPr id="26" name="Text 24"/>
          <p:cNvSpPr/>
          <p:nvPr/>
        </p:nvSpPr>
        <p:spPr>
          <a:xfrm>
            <a:off x="365760" y="3035808"/>
            <a:ext cx="2560320" cy="987552"/>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Diffuse régulièrement ses travaux, notamment auprès des professionnels et de leurs représentants.</a:t>
            </a:r>
            <a:endParaRPr lang="en-US" sz="900" dirty="0"/>
          </a:p>
        </p:txBody>
      </p:sp>
      <p:sp>
        <p:nvSpPr>
          <p:cNvPr id="27" name="Shape 25"/>
          <p:cNvSpPr/>
          <p:nvPr/>
        </p:nvSpPr>
        <p:spPr>
          <a:xfrm>
            <a:off x="274320" y="2743200"/>
            <a:ext cx="8595360" cy="1298448"/>
          </a:xfrm>
          <a:prstGeom prst="rect">
            <a:avLst/>
          </a:prstGeom>
          <a:solidFill>
            <a:srgbClr val="E8F1FA"/>
          </a:solidFill>
          <a:ln w="6350">
            <a:solidFill>
              <a:srgbClr val="D0DCE8"/>
            </a:solidFill>
            <a:prstDash val="solid"/>
          </a:ln>
        </p:spPr>
        <p:txBody>
          <a:bodyPr/>
          <a:lstStyle/>
          <a:p>
            <a:endParaRPr lang="fr-FR"/>
          </a:p>
        </p:txBody>
      </p:sp>
      <p:sp>
        <p:nvSpPr>
          <p:cNvPr id="28" name="Shape 26"/>
          <p:cNvSpPr/>
          <p:nvPr/>
        </p:nvSpPr>
        <p:spPr>
          <a:xfrm>
            <a:off x="274320" y="2743200"/>
            <a:ext cx="8595360" cy="256032"/>
          </a:xfrm>
          <a:prstGeom prst="rect">
            <a:avLst/>
          </a:prstGeom>
          <a:solidFill>
            <a:srgbClr val="6B2D6B"/>
          </a:solidFill>
          <a:ln w="12700">
            <a:solidFill>
              <a:srgbClr val="6B2D6B"/>
            </a:solidFill>
            <a:prstDash val="solid"/>
          </a:ln>
        </p:spPr>
        <p:txBody>
          <a:bodyPr/>
          <a:lstStyle/>
          <a:p>
            <a:endParaRPr lang="fr-FR"/>
          </a:p>
        </p:txBody>
      </p:sp>
      <p:sp>
        <p:nvSpPr>
          <p:cNvPr id="29" name="Text 27"/>
          <p:cNvSpPr/>
          <p:nvPr/>
        </p:nvSpPr>
        <p:spPr>
          <a:xfrm>
            <a:off x="347472" y="2743200"/>
            <a:ext cx="8485632"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DESTINATAIRE</a:t>
            </a:r>
            <a:endParaRPr lang="en-US" sz="900" dirty="0"/>
          </a:p>
        </p:txBody>
      </p:sp>
      <p:sp>
        <p:nvSpPr>
          <p:cNvPr id="30" name="Text 28"/>
          <p:cNvSpPr/>
          <p:nvPr/>
        </p:nvSpPr>
        <p:spPr>
          <a:xfrm>
            <a:off x="365760" y="3035808"/>
            <a:ext cx="8430768" cy="987552"/>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Ce rapport est adressé au Comité national des transports publics particuliers de personnes.</a:t>
            </a:r>
            <a:endParaRPr lang="en-US" sz="900" dirty="0"/>
          </a:p>
        </p:txBody>
      </p:sp>
      <p:sp>
        <p:nvSpPr>
          <p:cNvPr id="31" name="Shape 29"/>
          <p:cNvSpPr/>
          <p:nvPr/>
        </p:nvSpPr>
        <p:spPr>
          <a:xfrm>
            <a:off x="274320" y="4462272"/>
            <a:ext cx="8595360" cy="347472"/>
          </a:xfrm>
          <a:prstGeom prst="rect">
            <a:avLst/>
          </a:prstGeom>
          <a:solidFill>
            <a:srgbClr val="FFFBEB"/>
          </a:solidFill>
          <a:ln w="19050">
            <a:solidFill>
              <a:srgbClr val="F4A227"/>
            </a:solidFill>
            <a:prstDash val="solid"/>
          </a:ln>
        </p:spPr>
        <p:txBody>
          <a:bodyPr/>
          <a:lstStyle/>
          <a:p>
            <a:endParaRPr lang="fr-FR"/>
          </a:p>
        </p:txBody>
      </p:sp>
      <p:sp>
        <p:nvSpPr>
          <p:cNvPr id="32" name="Shape 30"/>
          <p:cNvSpPr/>
          <p:nvPr/>
        </p:nvSpPr>
        <p:spPr>
          <a:xfrm>
            <a:off x="274320" y="4462272"/>
            <a:ext cx="54864" cy="347472"/>
          </a:xfrm>
          <a:prstGeom prst="rect">
            <a:avLst/>
          </a:prstGeom>
          <a:solidFill>
            <a:srgbClr val="F4A227"/>
          </a:solidFill>
          <a:ln w="12700">
            <a:solidFill>
              <a:srgbClr val="F4A227"/>
            </a:solidFill>
            <a:prstDash val="solid"/>
          </a:ln>
        </p:spPr>
        <p:txBody>
          <a:bodyPr/>
          <a:lstStyle/>
          <a:p>
            <a:endParaRPr lang="fr-FR"/>
          </a:p>
        </p:txBody>
      </p:sp>
      <p:sp>
        <p:nvSpPr>
          <p:cNvPr id="33" name="Text 31"/>
          <p:cNvSpPr/>
          <p:nvPr/>
        </p:nvSpPr>
        <p:spPr>
          <a:xfrm>
            <a:off x="384048" y="4462272"/>
            <a:ext cx="8467344" cy="347472"/>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ℹ  À RETENIR : L'Observatoire publie le rapport annuel → le remet au Comité national → le Comité national informe les Commissions locales.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7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Le Comité national des T3P</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Composition, rôle et fonctionnement — Page 118-119</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0/88</a:t>
            </a:r>
            <a:endParaRPr lang="en-US" sz="800" dirty="0"/>
          </a:p>
        </p:txBody>
      </p:sp>
      <p:sp>
        <p:nvSpPr>
          <p:cNvPr id="9" name="Shape 7"/>
          <p:cNvSpPr/>
          <p:nvPr/>
        </p:nvSpPr>
        <p:spPr>
          <a:xfrm>
            <a:off x="274320" y="932688"/>
            <a:ext cx="8595360" cy="310896"/>
          </a:xfrm>
          <a:prstGeom prst="rect">
            <a:avLst/>
          </a:prstGeom>
          <a:solidFill>
            <a:srgbClr val="2860A8"/>
          </a:solidFill>
          <a:ln w="12700">
            <a:solidFill>
              <a:srgbClr val="2860A8"/>
            </a:solidFill>
            <a:prstDash val="solid"/>
          </a:ln>
        </p:spPr>
        <p:txBody>
          <a:bodyPr/>
          <a:lstStyle/>
          <a:p>
            <a:endParaRPr lang="fr-FR"/>
          </a:p>
        </p:txBody>
      </p:sp>
      <p:sp>
        <p:nvSpPr>
          <p:cNvPr id="10" name="Text 8"/>
          <p:cNvSpPr/>
          <p:nvPr/>
        </p:nvSpPr>
        <p:spPr>
          <a:xfrm>
            <a:off x="274320" y="932688"/>
            <a:ext cx="8595360" cy="31089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COMITÉ NATIONAL DES TRANSPORTS PUBLICS PARTICULIERS DE PERSONNES</a:t>
            </a:r>
            <a:endParaRPr lang="en-US" sz="1000" dirty="0"/>
          </a:p>
        </p:txBody>
      </p:sp>
      <p:sp>
        <p:nvSpPr>
          <p:cNvPr id="11" name="Shape 9"/>
          <p:cNvSpPr/>
          <p:nvPr/>
        </p:nvSpPr>
        <p:spPr>
          <a:xfrm>
            <a:off x="274320" y="1325880"/>
            <a:ext cx="8595360" cy="868680"/>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2" name="Shape 10"/>
          <p:cNvSpPr/>
          <p:nvPr/>
        </p:nvSpPr>
        <p:spPr>
          <a:xfrm>
            <a:off x="274320" y="1325880"/>
            <a:ext cx="8595360" cy="301752"/>
          </a:xfrm>
          <a:prstGeom prst="rect">
            <a:avLst/>
          </a:prstGeom>
          <a:solidFill>
            <a:srgbClr val="2860A8"/>
          </a:solidFill>
          <a:ln w="12700">
            <a:solidFill>
              <a:srgbClr val="2860A8"/>
            </a:solidFill>
            <a:prstDash val="solid"/>
          </a:ln>
        </p:spPr>
        <p:txBody>
          <a:bodyPr/>
          <a:lstStyle/>
          <a:p>
            <a:endParaRPr lang="fr-FR"/>
          </a:p>
        </p:txBody>
      </p:sp>
      <p:sp>
        <p:nvSpPr>
          <p:cNvPr id="13" name="Text 11"/>
          <p:cNvSpPr/>
          <p:nvPr/>
        </p:nvSpPr>
        <p:spPr>
          <a:xfrm>
            <a:off x="365760" y="1325880"/>
            <a:ext cx="845820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RÔLE</a:t>
            </a:r>
            <a:endParaRPr lang="en-US" sz="1050" dirty="0"/>
          </a:p>
        </p:txBody>
      </p:sp>
      <p:sp>
        <p:nvSpPr>
          <p:cNvPr id="14" name="Text 12"/>
          <p:cNvSpPr/>
          <p:nvPr/>
        </p:nvSpPr>
        <p:spPr>
          <a:xfrm>
            <a:off x="384048" y="1673352"/>
            <a:ext cx="8412480" cy="475488"/>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Débat des grands enjeux des T3P et donne un avis sur le rapport annuel de l'Observatoire national.</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Peut être saisi pour avis par le ministre chargé des transports sur tout projet, programme ou étude intéressant le secteur.</a:t>
            </a:r>
            <a:endParaRPr lang="en-US" sz="1000" dirty="0"/>
          </a:p>
        </p:txBody>
      </p:sp>
      <p:sp>
        <p:nvSpPr>
          <p:cNvPr id="15" name="Shape 13"/>
          <p:cNvSpPr/>
          <p:nvPr/>
        </p:nvSpPr>
        <p:spPr>
          <a:xfrm>
            <a:off x="274320" y="2286000"/>
            <a:ext cx="1600200" cy="749808"/>
          </a:xfrm>
          <a:prstGeom prst="rect">
            <a:avLst/>
          </a:prstGeom>
          <a:solidFill>
            <a:srgbClr val="1A3A5C"/>
          </a:solidFill>
          <a:ln w="12700">
            <a:solidFill>
              <a:srgbClr val="1A3A5C"/>
            </a:solidFill>
            <a:prstDash val="solid"/>
          </a:ln>
        </p:spPr>
        <p:txBody>
          <a:bodyPr/>
          <a:lstStyle/>
          <a:p>
            <a:endParaRPr lang="fr-FR"/>
          </a:p>
        </p:txBody>
      </p:sp>
      <p:sp>
        <p:nvSpPr>
          <p:cNvPr id="16" name="Text 14"/>
          <p:cNvSpPr/>
          <p:nvPr/>
        </p:nvSpPr>
        <p:spPr>
          <a:xfrm>
            <a:off x="274320" y="2304288"/>
            <a:ext cx="1600200" cy="38404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50</a:t>
            </a:r>
            <a:endParaRPr lang="en-US" sz="2200" dirty="0"/>
          </a:p>
        </p:txBody>
      </p:sp>
      <p:sp>
        <p:nvSpPr>
          <p:cNvPr id="17" name="Text 15"/>
          <p:cNvSpPr/>
          <p:nvPr/>
        </p:nvSpPr>
        <p:spPr>
          <a:xfrm>
            <a:off x="274320" y="2670048"/>
            <a:ext cx="1600200" cy="347472"/>
          </a:xfrm>
          <a:prstGeom prst="rect">
            <a:avLst/>
          </a:prstGeom>
          <a:noFill/>
          <a:ln/>
        </p:spPr>
        <p:txBody>
          <a:bodyPr wrap="square" rtlCol="0" anchor="ctr"/>
          <a:lstStyle/>
          <a:p>
            <a:pPr marL="0" indent="0" algn="ctr">
              <a:buNone/>
            </a:pPr>
            <a:r>
              <a:rPr lang="en-US" sz="800" i="1" dirty="0">
                <a:solidFill>
                  <a:srgbClr val="FFFFFF"/>
                </a:solidFill>
                <a:latin typeface="Calibri" pitchFamily="34" charset="0"/>
                <a:ea typeface="Calibri" pitchFamily="34" charset="-122"/>
                <a:cs typeface="Calibri" pitchFamily="34" charset="-120"/>
              </a:rPr>
              <a:t>Membres au plus</a:t>
            </a:r>
            <a:endParaRPr lang="en-US" sz="800" dirty="0"/>
          </a:p>
        </p:txBody>
      </p:sp>
      <p:sp>
        <p:nvSpPr>
          <p:cNvPr id="18" name="Shape 16"/>
          <p:cNvSpPr/>
          <p:nvPr/>
        </p:nvSpPr>
        <p:spPr>
          <a:xfrm>
            <a:off x="1993392" y="2286000"/>
            <a:ext cx="1600200" cy="749808"/>
          </a:xfrm>
          <a:prstGeom prst="rect">
            <a:avLst/>
          </a:prstGeom>
          <a:solidFill>
            <a:srgbClr val="2860A8"/>
          </a:solidFill>
          <a:ln w="12700">
            <a:solidFill>
              <a:srgbClr val="2860A8"/>
            </a:solidFill>
            <a:prstDash val="solid"/>
          </a:ln>
        </p:spPr>
        <p:txBody>
          <a:bodyPr/>
          <a:lstStyle/>
          <a:p>
            <a:endParaRPr lang="fr-FR"/>
          </a:p>
        </p:txBody>
      </p:sp>
      <p:sp>
        <p:nvSpPr>
          <p:cNvPr id="19" name="Text 17"/>
          <p:cNvSpPr/>
          <p:nvPr/>
        </p:nvSpPr>
        <p:spPr>
          <a:xfrm>
            <a:off x="1993392" y="2304288"/>
            <a:ext cx="1600200" cy="38404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20" name="Text 18"/>
          <p:cNvSpPr/>
          <p:nvPr/>
        </p:nvSpPr>
        <p:spPr>
          <a:xfrm>
            <a:off x="1993392" y="2670048"/>
            <a:ext cx="1600200" cy="347472"/>
          </a:xfrm>
          <a:prstGeom prst="rect">
            <a:avLst/>
          </a:prstGeom>
          <a:noFill/>
          <a:ln/>
        </p:spPr>
        <p:txBody>
          <a:bodyPr wrap="square" rtlCol="0" anchor="ctr"/>
          <a:lstStyle/>
          <a:p>
            <a:pPr marL="0" indent="0" algn="ctr">
              <a:buNone/>
            </a:pPr>
            <a:r>
              <a:rPr lang="en-US" sz="800" i="1" dirty="0">
                <a:solidFill>
                  <a:srgbClr val="FFFFFF"/>
                </a:solidFill>
                <a:latin typeface="Calibri" pitchFamily="34" charset="0"/>
                <a:ea typeface="Calibri" pitchFamily="34" charset="-122"/>
                <a:cs typeface="Calibri" pitchFamily="34" charset="-120"/>
              </a:rPr>
              <a:t>Président (représentant l'État)</a:t>
            </a:r>
            <a:endParaRPr lang="en-US" sz="800" dirty="0"/>
          </a:p>
        </p:txBody>
      </p:sp>
      <p:sp>
        <p:nvSpPr>
          <p:cNvPr id="21" name="Shape 19"/>
          <p:cNvSpPr/>
          <p:nvPr/>
        </p:nvSpPr>
        <p:spPr>
          <a:xfrm>
            <a:off x="3712464" y="2286000"/>
            <a:ext cx="1600200" cy="749808"/>
          </a:xfrm>
          <a:prstGeom prst="rect">
            <a:avLst/>
          </a:prstGeom>
          <a:solidFill>
            <a:srgbClr val="F4A227"/>
          </a:solidFill>
          <a:ln w="12700">
            <a:solidFill>
              <a:srgbClr val="F4A227"/>
            </a:solidFill>
            <a:prstDash val="solid"/>
          </a:ln>
        </p:spPr>
        <p:txBody>
          <a:bodyPr/>
          <a:lstStyle/>
          <a:p>
            <a:endParaRPr lang="fr-FR"/>
          </a:p>
        </p:txBody>
      </p:sp>
      <p:sp>
        <p:nvSpPr>
          <p:cNvPr id="22" name="Text 20"/>
          <p:cNvSpPr/>
          <p:nvPr/>
        </p:nvSpPr>
        <p:spPr>
          <a:xfrm>
            <a:off x="3712464" y="2304288"/>
            <a:ext cx="1600200" cy="38404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23" name="Text 21"/>
          <p:cNvSpPr/>
          <p:nvPr/>
        </p:nvSpPr>
        <p:spPr>
          <a:xfrm>
            <a:off x="3712464" y="2670048"/>
            <a:ext cx="1600200" cy="347472"/>
          </a:xfrm>
          <a:prstGeom prst="rect">
            <a:avLst/>
          </a:prstGeom>
          <a:noFill/>
          <a:ln/>
        </p:spPr>
        <p:txBody>
          <a:bodyPr wrap="square" rtlCol="0" anchor="ctr"/>
          <a:lstStyle/>
          <a:p>
            <a:pPr marL="0" indent="0" algn="ctr">
              <a:buNone/>
            </a:pPr>
            <a:r>
              <a:rPr lang="en-US" sz="800" i="1" dirty="0">
                <a:solidFill>
                  <a:srgbClr val="FFFFFF"/>
                </a:solidFill>
                <a:latin typeface="Calibri" pitchFamily="34" charset="0"/>
                <a:ea typeface="Calibri" pitchFamily="34" charset="-122"/>
                <a:cs typeface="Calibri" pitchFamily="34" charset="-120"/>
              </a:rPr>
              <a:t>Vice-président (autres membres)</a:t>
            </a:r>
            <a:endParaRPr lang="en-US" sz="800" dirty="0"/>
          </a:p>
        </p:txBody>
      </p:sp>
      <p:sp>
        <p:nvSpPr>
          <p:cNvPr id="24" name="Shape 22"/>
          <p:cNvSpPr/>
          <p:nvPr/>
        </p:nvSpPr>
        <p:spPr>
          <a:xfrm>
            <a:off x="5431536" y="2286000"/>
            <a:ext cx="1600200" cy="749808"/>
          </a:xfrm>
          <a:prstGeom prst="rect">
            <a:avLst/>
          </a:prstGeom>
          <a:solidFill>
            <a:srgbClr val="6B7A8D"/>
          </a:solidFill>
          <a:ln w="12700">
            <a:solidFill>
              <a:srgbClr val="6B7A8D"/>
            </a:solidFill>
            <a:prstDash val="solid"/>
          </a:ln>
        </p:spPr>
        <p:txBody>
          <a:bodyPr/>
          <a:lstStyle/>
          <a:p>
            <a:endParaRPr lang="fr-FR"/>
          </a:p>
        </p:txBody>
      </p:sp>
      <p:sp>
        <p:nvSpPr>
          <p:cNvPr id="25" name="Text 23"/>
          <p:cNvSpPr/>
          <p:nvPr/>
        </p:nvSpPr>
        <p:spPr>
          <a:xfrm>
            <a:off x="5431536" y="2304288"/>
            <a:ext cx="1600200" cy="38404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 ans</a:t>
            </a:r>
            <a:endParaRPr lang="en-US" sz="2200" dirty="0"/>
          </a:p>
        </p:txBody>
      </p:sp>
      <p:sp>
        <p:nvSpPr>
          <p:cNvPr id="26" name="Text 24"/>
          <p:cNvSpPr/>
          <p:nvPr/>
        </p:nvSpPr>
        <p:spPr>
          <a:xfrm>
            <a:off x="5431536" y="2670048"/>
            <a:ext cx="1600200" cy="347472"/>
          </a:xfrm>
          <a:prstGeom prst="rect">
            <a:avLst/>
          </a:prstGeom>
          <a:noFill/>
          <a:ln/>
        </p:spPr>
        <p:txBody>
          <a:bodyPr wrap="square" rtlCol="0" anchor="ctr"/>
          <a:lstStyle/>
          <a:p>
            <a:pPr marL="0" indent="0" algn="ctr">
              <a:buNone/>
            </a:pPr>
            <a:r>
              <a:rPr lang="en-US" sz="800" i="1" dirty="0">
                <a:solidFill>
                  <a:srgbClr val="FFFFFF"/>
                </a:solidFill>
                <a:latin typeface="Calibri" pitchFamily="34" charset="0"/>
                <a:ea typeface="Calibri" pitchFamily="34" charset="-122"/>
                <a:cs typeface="Calibri" pitchFamily="34" charset="-120"/>
              </a:rPr>
              <a:t>Durée du mandat</a:t>
            </a:r>
            <a:endParaRPr lang="en-US" sz="800" dirty="0"/>
          </a:p>
        </p:txBody>
      </p:sp>
      <p:sp>
        <p:nvSpPr>
          <p:cNvPr id="27" name="Shape 25"/>
          <p:cNvSpPr/>
          <p:nvPr/>
        </p:nvSpPr>
        <p:spPr>
          <a:xfrm>
            <a:off x="7150608" y="2286000"/>
            <a:ext cx="1600200" cy="749808"/>
          </a:xfrm>
          <a:prstGeom prst="rect">
            <a:avLst/>
          </a:prstGeom>
          <a:solidFill>
            <a:srgbClr val="C0392B"/>
          </a:solidFill>
          <a:ln w="12700">
            <a:solidFill>
              <a:srgbClr val="C0392B"/>
            </a:solidFill>
            <a:prstDash val="solid"/>
          </a:ln>
        </p:spPr>
        <p:txBody>
          <a:bodyPr/>
          <a:lstStyle/>
          <a:p>
            <a:endParaRPr lang="fr-FR"/>
          </a:p>
        </p:txBody>
      </p:sp>
      <p:sp>
        <p:nvSpPr>
          <p:cNvPr id="28" name="Text 26"/>
          <p:cNvSpPr/>
          <p:nvPr/>
        </p:nvSpPr>
        <p:spPr>
          <a:xfrm>
            <a:off x="7150608" y="2304288"/>
            <a:ext cx="1600200" cy="38404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gratuit</a:t>
            </a:r>
            <a:endParaRPr lang="en-US" sz="2200" dirty="0"/>
          </a:p>
        </p:txBody>
      </p:sp>
      <p:sp>
        <p:nvSpPr>
          <p:cNvPr id="29" name="Text 27"/>
          <p:cNvSpPr/>
          <p:nvPr/>
        </p:nvSpPr>
        <p:spPr>
          <a:xfrm>
            <a:off x="7150608" y="2670048"/>
            <a:ext cx="1600200" cy="347472"/>
          </a:xfrm>
          <a:prstGeom prst="rect">
            <a:avLst/>
          </a:prstGeom>
          <a:noFill/>
          <a:ln/>
        </p:spPr>
        <p:txBody>
          <a:bodyPr wrap="square" rtlCol="0" anchor="ctr"/>
          <a:lstStyle/>
          <a:p>
            <a:pPr marL="0" indent="0" algn="ctr">
              <a:buNone/>
            </a:pPr>
            <a:r>
              <a:rPr lang="en-US" sz="800" i="1" dirty="0">
                <a:solidFill>
                  <a:srgbClr val="FFFFFF"/>
                </a:solidFill>
                <a:latin typeface="Calibri" pitchFamily="34" charset="0"/>
                <a:ea typeface="Calibri" pitchFamily="34" charset="-122"/>
                <a:cs typeface="Calibri" pitchFamily="34" charset="-120"/>
              </a:rPr>
              <a:t>Fonctions exercées à titre</a:t>
            </a:r>
            <a:endParaRPr lang="en-US" sz="800" dirty="0"/>
          </a:p>
        </p:txBody>
      </p:sp>
      <p:sp>
        <p:nvSpPr>
          <p:cNvPr id="30" name="Shape 28"/>
          <p:cNvSpPr/>
          <p:nvPr/>
        </p:nvSpPr>
        <p:spPr>
          <a:xfrm>
            <a:off x="274320" y="3182112"/>
            <a:ext cx="8595360" cy="256032"/>
          </a:xfrm>
          <a:prstGeom prst="rect">
            <a:avLst/>
          </a:prstGeom>
          <a:solidFill>
            <a:srgbClr val="1A3A5C"/>
          </a:solidFill>
          <a:ln w="12700">
            <a:solidFill>
              <a:srgbClr val="1A3A5C"/>
            </a:solidFill>
            <a:prstDash val="solid"/>
          </a:ln>
        </p:spPr>
        <p:txBody>
          <a:bodyPr/>
          <a:lstStyle/>
          <a:p>
            <a:endParaRPr lang="fr-FR"/>
          </a:p>
        </p:txBody>
      </p:sp>
      <p:sp>
        <p:nvSpPr>
          <p:cNvPr id="31" name="Text 29"/>
          <p:cNvSpPr/>
          <p:nvPr/>
        </p:nvSpPr>
        <p:spPr>
          <a:xfrm>
            <a:off x="274320" y="3182112"/>
            <a:ext cx="8595360" cy="25603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COMPOSITION À PARTS ÉGALES — 4 COLLÈGES</a:t>
            </a:r>
            <a:endParaRPr lang="en-US" sz="950" dirty="0"/>
          </a:p>
        </p:txBody>
      </p:sp>
      <p:sp>
        <p:nvSpPr>
          <p:cNvPr id="32" name="Shape 30"/>
          <p:cNvSpPr/>
          <p:nvPr/>
        </p:nvSpPr>
        <p:spPr>
          <a:xfrm>
            <a:off x="274320" y="3520440"/>
            <a:ext cx="4206240" cy="685800"/>
          </a:xfrm>
          <a:prstGeom prst="rect">
            <a:avLst/>
          </a:prstGeom>
          <a:solidFill>
            <a:srgbClr val="E8F1FA"/>
          </a:solidFill>
          <a:ln w="6350">
            <a:solidFill>
              <a:srgbClr val="D0DCE8"/>
            </a:solidFill>
            <a:prstDash val="solid"/>
          </a:ln>
        </p:spPr>
        <p:txBody>
          <a:bodyPr/>
          <a:lstStyle/>
          <a:p>
            <a:endParaRPr lang="fr-FR"/>
          </a:p>
        </p:txBody>
      </p:sp>
      <p:sp>
        <p:nvSpPr>
          <p:cNvPr id="33" name="Shape 31"/>
          <p:cNvSpPr/>
          <p:nvPr/>
        </p:nvSpPr>
        <p:spPr>
          <a:xfrm>
            <a:off x="274320" y="3520440"/>
            <a:ext cx="4206240" cy="237744"/>
          </a:xfrm>
          <a:prstGeom prst="rect">
            <a:avLst/>
          </a:prstGeom>
          <a:solidFill>
            <a:srgbClr val="2860A8"/>
          </a:solidFill>
          <a:ln w="12700">
            <a:solidFill>
              <a:srgbClr val="2860A8"/>
            </a:solidFill>
            <a:prstDash val="solid"/>
          </a:ln>
        </p:spPr>
        <p:txBody>
          <a:bodyPr/>
          <a:lstStyle/>
          <a:p>
            <a:endParaRPr lang="fr-FR"/>
          </a:p>
        </p:txBody>
      </p:sp>
      <p:sp>
        <p:nvSpPr>
          <p:cNvPr id="34" name="Text 32"/>
          <p:cNvSpPr/>
          <p:nvPr/>
        </p:nvSpPr>
        <p:spPr>
          <a:xfrm>
            <a:off x="347472" y="3520440"/>
            <a:ext cx="4069080" cy="23774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Représentants des ministres</a:t>
            </a:r>
            <a:endParaRPr lang="en-US" sz="900" dirty="0"/>
          </a:p>
        </p:txBody>
      </p:sp>
      <p:sp>
        <p:nvSpPr>
          <p:cNvPr id="35" name="Text 33"/>
          <p:cNvSpPr/>
          <p:nvPr/>
        </p:nvSpPr>
        <p:spPr>
          <a:xfrm>
            <a:off x="365760" y="3776472"/>
            <a:ext cx="4041648" cy="41148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Transports, Économie, Santé, Intérieur</a:t>
            </a:r>
            <a:endParaRPr lang="en-US" sz="880" dirty="0"/>
          </a:p>
        </p:txBody>
      </p:sp>
      <p:sp>
        <p:nvSpPr>
          <p:cNvPr id="36" name="Shape 34"/>
          <p:cNvSpPr/>
          <p:nvPr/>
        </p:nvSpPr>
        <p:spPr>
          <a:xfrm>
            <a:off x="4645152" y="3520440"/>
            <a:ext cx="4206240" cy="685800"/>
          </a:xfrm>
          <a:prstGeom prst="rect">
            <a:avLst/>
          </a:prstGeom>
          <a:solidFill>
            <a:srgbClr val="E8F1FA"/>
          </a:solidFill>
          <a:ln w="6350">
            <a:solidFill>
              <a:srgbClr val="D0DCE8"/>
            </a:solidFill>
            <a:prstDash val="solid"/>
          </a:ln>
        </p:spPr>
        <p:txBody>
          <a:bodyPr/>
          <a:lstStyle/>
          <a:p>
            <a:endParaRPr lang="fr-FR"/>
          </a:p>
        </p:txBody>
      </p:sp>
      <p:sp>
        <p:nvSpPr>
          <p:cNvPr id="37" name="Shape 35"/>
          <p:cNvSpPr/>
          <p:nvPr/>
        </p:nvSpPr>
        <p:spPr>
          <a:xfrm>
            <a:off x="4645152" y="3520440"/>
            <a:ext cx="4206240" cy="237744"/>
          </a:xfrm>
          <a:prstGeom prst="rect">
            <a:avLst/>
          </a:prstGeom>
          <a:solidFill>
            <a:srgbClr val="F4A227"/>
          </a:solidFill>
          <a:ln w="12700">
            <a:solidFill>
              <a:srgbClr val="F4A227"/>
            </a:solidFill>
            <a:prstDash val="solid"/>
          </a:ln>
        </p:spPr>
        <p:txBody>
          <a:bodyPr/>
          <a:lstStyle/>
          <a:p>
            <a:endParaRPr lang="fr-FR"/>
          </a:p>
        </p:txBody>
      </p:sp>
      <p:sp>
        <p:nvSpPr>
          <p:cNvPr id="38" name="Text 36"/>
          <p:cNvSpPr/>
          <p:nvPr/>
        </p:nvSpPr>
        <p:spPr>
          <a:xfrm>
            <a:off x="4718304" y="3520440"/>
            <a:ext cx="4069080" cy="23774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Représentants des professionnels</a:t>
            </a:r>
            <a:endParaRPr lang="en-US" sz="900" dirty="0"/>
          </a:p>
        </p:txBody>
      </p:sp>
      <p:sp>
        <p:nvSpPr>
          <p:cNvPr id="39" name="Text 37"/>
          <p:cNvSpPr/>
          <p:nvPr/>
        </p:nvSpPr>
        <p:spPr>
          <a:xfrm>
            <a:off x="4736592" y="3776472"/>
            <a:ext cx="4041648" cy="41148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Intervenant dans le secteur du T3P</a:t>
            </a:r>
            <a:endParaRPr lang="en-US" sz="880" dirty="0"/>
          </a:p>
        </p:txBody>
      </p:sp>
      <p:sp>
        <p:nvSpPr>
          <p:cNvPr id="40" name="Shape 38"/>
          <p:cNvSpPr/>
          <p:nvPr/>
        </p:nvSpPr>
        <p:spPr>
          <a:xfrm>
            <a:off x="274320" y="4270248"/>
            <a:ext cx="4206240" cy="685800"/>
          </a:xfrm>
          <a:prstGeom prst="rect">
            <a:avLst/>
          </a:prstGeom>
          <a:solidFill>
            <a:srgbClr val="E8F1FA"/>
          </a:solidFill>
          <a:ln w="6350">
            <a:solidFill>
              <a:srgbClr val="D0DCE8"/>
            </a:solidFill>
            <a:prstDash val="solid"/>
          </a:ln>
        </p:spPr>
        <p:txBody>
          <a:bodyPr/>
          <a:lstStyle/>
          <a:p>
            <a:endParaRPr lang="fr-FR"/>
          </a:p>
        </p:txBody>
      </p:sp>
      <p:sp>
        <p:nvSpPr>
          <p:cNvPr id="41" name="Shape 39"/>
          <p:cNvSpPr/>
          <p:nvPr/>
        </p:nvSpPr>
        <p:spPr>
          <a:xfrm>
            <a:off x="274320" y="4270248"/>
            <a:ext cx="4206240" cy="237744"/>
          </a:xfrm>
          <a:prstGeom prst="rect">
            <a:avLst/>
          </a:prstGeom>
          <a:solidFill>
            <a:srgbClr val="6B7A8D"/>
          </a:solidFill>
          <a:ln w="12700">
            <a:solidFill>
              <a:srgbClr val="6B7A8D"/>
            </a:solidFill>
            <a:prstDash val="solid"/>
          </a:ln>
        </p:spPr>
        <p:txBody>
          <a:bodyPr/>
          <a:lstStyle/>
          <a:p>
            <a:endParaRPr lang="fr-FR"/>
          </a:p>
        </p:txBody>
      </p:sp>
      <p:sp>
        <p:nvSpPr>
          <p:cNvPr id="42" name="Text 40"/>
          <p:cNvSpPr/>
          <p:nvPr/>
        </p:nvSpPr>
        <p:spPr>
          <a:xfrm>
            <a:off x="347472" y="4270248"/>
            <a:ext cx="4069080" cy="23774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Représentants des collectivités territoriales</a:t>
            </a:r>
            <a:endParaRPr lang="en-US" sz="900" dirty="0"/>
          </a:p>
        </p:txBody>
      </p:sp>
      <p:sp>
        <p:nvSpPr>
          <p:cNvPr id="43" name="Text 41"/>
          <p:cNvSpPr/>
          <p:nvPr/>
        </p:nvSpPr>
        <p:spPr>
          <a:xfrm>
            <a:off x="365760" y="4526280"/>
            <a:ext cx="4041648" cy="41148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Ou associations qui les représentent</a:t>
            </a:r>
            <a:endParaRPr lang="en-US" sz="880" dirty="0"/>
          </a:p>
        </p:txBody>
      </p:sp>
      <p:sp>
        <p:nvSpPr>
          <p:cNvPr id="44" name="Shape 42"/>
          <p:cNvSpPr/>
          <p:nvPr/>
        </p:nvSpPr>
        <p:spPr>
          <a:xfrm>
            <a:off x="4645152" y="4270248"/>
            <a:ext cx="4206240" cy="685800"/>
          </a:xfrm>
          <a:prstGeom prst="rect">
            <a:avLst/>
          </a:prstGeom>
          <a:solidFill>
            <a:srgbClr val="E8F1FA"/>
          </a:solidFill>
          <a:ln w="6350">
            <a:solidFill>
              <a:srgbClr val="D0DCE8"/>
            </a:solidFill>
            <a:prstDash val="solid"/>
          </a:ln>
        </p:spPr>
        <p:txBody>
          <a:bodyPr/>
          <a:lstStyle/>
          <a:p>
            <a:endParaRPr lang="fr-FR"/>
          </a:p>
        </p:txBody>
      </p:sp>
      <p:sp>
        <p:nvSpPr>
          <p:cNvPr id="45" name="Shape 43"/>
          <p:cNvSpPr/>
          <p:nvPr/>
        </p:nvSpPr>
        <p:spPr>
          <a:xfrm>
            <a:off x="4645152" y="4270248"/>
            <a:ext cx="4206240" cy="237744"/>
          </a:xfrm>
          <a:prstGeom prst="rect">
            <a:avLst/>
          </a:prstGeom>
          <a:solidFill>
            <a:srgbClr val="6B2D6B"/>
          </a:solidFill>
          <a:ln w="12700">
            <a:solidFill>
              <a:srgbClr val="6B2D6B"/>
            </a:solidFill>
            <a:prstDash val="solid"/>
          </a:ln>
        </p:spPr>
        <p:txBody>
          <a:bodyPr/>
          <a:lstStyle/>
          <a:p>
            <a:endParaRPr lang="fr-FR"/>
          </a:p>
        </p:txBody>
      </p:sp>
      <p:sp>
        <p:nvSpPr>
          <p:cNvPr id="46" name="Text 44"/>
          <p:cNvSpPr/>
          <p:nvPr/>
        </p:nvSpPr>
        <p:spPr>
          <a:xfrm>
            <a:off x="4718304" y="4270248"/>
            <a:ext cx="4069080" cy="23774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Associations de défense</a:t>
            </a:r>
            <a:endParaRPr lang="en-US" sz="900" dirty="0"/>
          </a:p>
        </p:txBody>
      </p:sp>
      <p:sp>
        <p:nvSpPr>
          <p:cNvPr id="47" name="Text 45"/>
          <p:cNvSpPr/>
          <p:nvPr/>
        </p:nvSpPr>
        <p:spPr>
          <a:xfrm>
            <a:off x="4736592" y="4526280"/>
            <a:ext cx="4041648" cy="41148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Consommateurs, PMR, usagers des transports, sécurité routière ou environnement</a:t>
            </a:r>
            <a:endParaRPr lang="en-US" sz="880" dirty="0"/>
          </a:p>
        </p:txBody>
      </p:sp>
      <p:sp>
        <p:nvSpPr>
          <p:cNvPr id="48" name="Shape 46"/>
          <p:cNvSpPr/>
          <p:nvPr/>
        </p:nvSpPr>
        <p:spPr>
          <a:xfrm>
            <a:off x="274320" y="5065776"/>
            <a:ext cx="8595360" cy="292608"/>
          </a:xfrm>
          <a:prstGeom prst="rect">
            <a:avLst/>
          </a:prstGeom>
          <a:solidFill>
            <a:srgbClr val="EDF7EE"/>
          </a:solidFill>
          <a:ln w="19050">
            <a:solidFill>
              <a:srgbClr val="2E7D32"/>
            </a:solidFill>
            <a:prstDash val="solid"/>
          </a:ln>
        </p:spPr>
        <p:txBody>
          <a:bodyPr/>
          <a:lstStyle/>
          <a:p>
            <a:endParaRPr lang="fr-FR"/>
          </a:p>
        </p:txBody>
      </p:sp>
      <p:sp>
        <p:nvSpPr>
          <p:cNvPr id="49" name="Shape 47"/>
          <p:cNvSpPr/>
          <p:nvPr/>
        </p:nvSpPr>
        <p:spPr>
          <a:xfrm>
            <a:off x="274320" y="5065776"/>
            <a:ext cx="54864" cy="292608"/>
          </a:xfrm>
          <a:prstGeom prst="rect">
            <a:avLst/>
          </a:prstGeom>
          <a:solidFill>
            <a:srgbClr val="2E7D32"/>
          </a:solidFill>
          <a:ln w="12700">
            <a:solidFill>
              <a:srgbClr val="2E7D32"/>
            </a:solidFill>
            <a:prstDash val="solid"/>
          </a:ln>
        </p:spPr>
        <p:txBody>
          <a:bodyPr/>
          <a:lstStyle/>
          <a:p>
            <a:endParaRPr lang="fr-FR"/>
          </a:p>
        </p:txBody>
      </p:sp>
      <p:sp>
        <p:nvSpPr>
          <p:cNvPr id="50" name="Text 48"/>
          <p:cNvSpPr/>
          <p:nvPr/>
        </p:nvSpPr>
        <p:spPr>
          <a:xfrm>
            <a:off x="384048" y="5065776"/>
            <a:ext cx="8467344" cy="29260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  Membres nommés par arrêté. Le Comité national est établi pour 5 ans. Les fonctions sont exercées à titre gratuit.</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7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Les commissions locales des T3P</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Rapport annuel, composition et fonctionnement — Page 119-120</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0/88</a:t>
            </a:r>
            <a:endParaRPr lang="en-US" sz="800" dirty="0"/>
          </a:p>
        </p:txBody>
      </p:sp>
      <p:sp>
        <p:nvSpPr>
          <p:cNvPr id="9" name="Shape 7"/>
          <p:cNvSpPr/>
          <p:nvPr/>
        </p:nvSpPr>
        <p:spPr>
          <a:xfrm>
            <a:off x="274320" y="932688"/>
            <a:ext cx="8595360" cy="310896"/>
          </a:xfrm>
          <a:prstGeom prst="rect">
            <a:avLst/>
          </a:prstGeom>
          <a:solidFill>
            <a:srgbClr val="F4A227"/>
          </a:solidFill>
          <a:ln w="12700">
            <a:solidFill>
              <a:srgbClr val="F4A227"/>
            </a:solidFill>
            <a:prstDash val="solid"/>
          </a:ln>
        </p:spPr>
        <p:txBody>
          <a:bodyPr/>
          <a:lstStyle/>
          <a:p>
            <a:endParaRPr lang="fr-FR"/>
          </a:p>
        </p:txBody>
      </p:sp>
      <p:sp>
        <p:nvSpPr>
          <p:cNvPr id="10" name="Text 8"/>
          <p:cNvSpPr/>
          <p:nvPr/>
        </p:nvSpPr>
        <p:spPr>
          <a:xfrm>
            <a:off x="274320" y="932688"/>
            <a:ext cx="8595360" cy="31089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COMMISSIONS LOCALES DES TRANSPORTS PUBLICS PARTICULIERS DE PERSONNES</a:t>
            </a:r>
            <a:endParaRPr lang="en-US" sz="1000" dirty="0"/>
          </a:p>
        </p:txBody>
      </p:sp>
      <p:sp>
        <p:nvSpPr>
          <p:cNvPr id="11" name="Shape 9"/>
          <p:cNvSpPr/>
          <p:nvPr/>
        </p:nvSpPr>
        <p:spPr>
          <a:xfrm>
            <a:off x="274320" y="1316736"/>
            <a:ext cx="8595360" cy="256032"/>
          </a:xfrm>
          <a:prstGeom prst="rect">
            <a:avLst/>
          </a:prstGeom>
          <a:solidFill>
            <a:srgbClr val="1A3A5C"/>
          </a:solidFill>
          <a:ln w="12700">
            <a:solidFill>
              <a:srgbClr val="1A3A5C"/>
            </a:solidFill>
            <a:prstDash val="solid"/>
          </a:ln>
        </p:spPr>
        <p:txBody>
          <a:bodyPr/>
          <a:lstStyle/>
          <a:p>
            <a:endParaRPr lang="fr-FR"/>
          </a:p>
        </p:txBody>
      </p:sp>
      <p:sp>
        <p:nvSpPr>
          <p:cNvPr id="12" name="Text 10"/>
          <p:cNvSpPr/>
          <p:nvPr/>
        </p:nvSpPr>
        <p:spPr>
          <a:xfrm>
            <a:off x="274320" y="1316736"/>
            <a:ext cx="8595360" cy="25603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RAPPORT ANNUEL — 5 POINTS ABORDÉS</a:t>
            </a:r>
            <a:endParaRPr lang="en-US" sz="950" dirty="0"/>
          </a:p>
        </p:txBody>
      </p:sp>
      <p:sp>
        <p:nvSpPr>
          <p:cNvPr id="13" name="Shape 11"/>
          <p:cNvSpPr/>
          <p:nvPr/>
        </p:nvSpPr>
        <p:spPr>
          <a:xfrm>
            <a:off x="274320" y="1645920"/>
            <a:ext cx="2724912" cy="768096"/>
          </a:xfrm>
          <a:prstGeom prst="rect">
            <a:avLst/>
          </a:prstGeom>
          <a:solidFill>
            <a:srgbClr val="E8F1FA"/>
          </a:solidFill>
          <a:ln w="6350">
            <a:solidFill>
              <a:srgbClr val="D0DCE8"/>
            </a:solidFill>
            <a:prstDash val="solid"/>
          </a:ln>
        </p:spPr>
        <p:txBody>
          <a:bodyPr/>
          <a:lstStyle/>
          <a:p>
            <a:endParaRPr lang="fr-FR"/>
          </a:p>
        </p:txBody>
      </p:sp>
      <p:sp>
        <p:nvSpPr>
          <p:cNvPr id="14" name="Shape 12"/>
          <p:cNvSpPr/>
          <p:nvPr/>
        </p:nvSpPr>
        <p:spPr>
          <a:xfrm>
            <a:off x="274320" y="1645920"/>
            <a:ext cx="2724912" cy="228600"/>
          </a:xfrm>
          <a:prstGeom prst="rect">
            <a:avLst/>
          </a:prstGeom>
          <a:solidFill>
            <a:srgbClr val="2860A8"/>
          </a:solidFill>
          <a:ln w="12700">
            <a:solidFill>
              <a:srgbClr val="2860A8"/>
            </a:solidFill>
            <a:prstDash val="solid"/>
          </a:ln>
        </p:spPr>
        <p:txBody>
          <a:bodyPr/>
          <a:lstStyle/>
          <a:p>
            <a:endParaRPr lang="fr-FR"/>
          </a:p>
        </p:txBody>
      </p:sp>
      <p:sp>
        <p:nvSpPr>
          <p:cNvPr id="15" name="Text 13"/>
          <p:cNvSpPr/>
          <p:nvPr/>
        </p:nvSpPr>
        <p:spPr>
          <a:xfrm>
            <a:off x="347472" y="1645920"/>
            <a:ext cx="2615184" cy="22860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Satisfaction quantitative et qualitative</a:t>
            </a:r>
            <a:endParaRPr lang="en-US" sz="850" dirty="0"/>
          </a:p>
        </p:txBody>
      </p:sp>
      <p:sp>
        <p:nvSpPr>
          <p:cNvPr id="16" name="Text 14"/>
          <p:cNvSpPr/>
          <p:nvPr/>
        </p:nvSpPr>
        <p:spPr>
          <a:xfrm>
            <a:off x="365760" y="1892808"/>
            <a:ext cx="2560320" cy="502920"/>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de la demande des T3P</a:t>
            </a:r>
            <a:endParaRPr lang="en-US" sz="850" dirty="0"/>
          </a:p>
        </p:txBody>
      </p:sp>
      <p:sp>
        <p:nvSpPr>
          <p:cNvPr id="17" name="Shape 15"/>
          <p:cNvSpPr/>
          <p:nvPr/>
        </p:nvSpPr>
        <p:spPr>
          <a:xfrm>
            <a:off x="3154680" y="1645920"/>
            <a:ext cx="2724912" cy="768096"/>
          </a:xfrm>
          <a:prstGeom prst="rect">
            <a:avLst/>
          </a:prstGeom>
          <a:solidFill>
            <a:srgbClr val="E8F1FA"/>
          </a:solidFill>
          <a:ln w="6350">
            <a:solidFill>
              <a:srgbClr val="D0DCE8"/>
            </a:solidFill>
            <a:prstDash val="solid"/>
          </a:ln>
        </p:spPr>
        <p:txBody>
          <a:bodyPr/>
          <a:lstStyle/>
          <a:p>
            <a:endParaRPr lang="fr-FR"/>
          </a:p>
        </p:txBody>
      </p:sp>
      <p:sp>
        <p:nvSpPr>
          <p:cNvPr id="18" name="Shape 16"/>
          <p:cNvSpPr/>
          <p:nvPr/>
        </p:nvSpPr>
        <p:spPr>
          <a:xfrm>
            <a:off x="3154680" y="1645920"/>
            <a:ext cx="2724912" cy="228600"/>
          </a:xfrm>
          <a:prstGeom prst="rect">
            <a:avLst/>
          </a:prstGeom>
          <a:solidFill>
            <a:srgbClr val="F4A227"/>
          </a:solidFill>
          <a:ln w="12700">
            <a:solidFill>
              <a:srgbClr val="F4A227"/>
            </a:solidFill>
            <a:prstDash val="solid"/>
          </a:ln>
        </p:spPr>
        <p:txBody>
          <a:bodyPr/>
          <a:lstStyle/>
          <a:p>
            <a:endParaRPr lang="fr-FR"/>
          </a:p>
        </p:txBody>
      </p:sp>
      <p:sp>
        <p:nvSpPr>
          <p:cNvPr id="19" name="Text 17"/>
          <p:cNvSpPr/>
          <p:nvPr/>
        </p:nvSpPr>
        <p:spPr>
          <a:xfrm>
            <a:off x="3227832" y="1645920"/>
            <a:ext cx="2615184" cy="22860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État de l'offre du secteur</a:t>
            </a:r>
            <a:endParaRPr lang="en-US" sz="850" dirty="0"/>
          </a:p>
        </p:txBody>
      </p:sp>
      <p:sp>
        <p:nvSpPr>
          <p:cNvPr id="20" name="Text 18"/>
          <p:cNvSpPr/>
          <p:nvPr/>
        </p:nvSpPr>
        <p:spPr>
          <a:xfrm>
            <a:off x="3246120" y="1892808"/>
            <a:ext cx="2560320" cy="502920"/>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Niveau d'activité et évolution</a:t>
            </a:r>
            <a:endParaRPr lang="en-US" sz="850" dirty="0"/>
          </a:p>
        </p:txBody>
      </p:sp>
      <p:sp>
        <p:nvSpPr>
          <p:cNvPr id="21" name="Shape 19"/>
          <p:cNvSpPr/>
          <p:nvPr/>
        </p:nvSpPr>
        <p:spPr>
          <a:xfrm>
            <a:off x="6035040" y="1645920"/>
            <a:ext cx="2724912" cy="768096"/>
          </a:xfrm>
          <a:prstGeom prst="rect">
            <a:avLst/>
          </a:prstGeom>
          <a:solidFill>
            <a:srgbClr val="E8F1FA"/>
          </a:solidFill>
          <a:ln w="6350">
            <a:solidFill>
              <a:srgbClr val="D0DCE8"/>
            </a:solidFill>
            <a:prstDash val="solid"/>
          </a:ln>
        </p:spPr>
        <p:txBody>
          <a:bodyPr/>
          <a:lstStyle/>
          <a:p>
            <a:endParaRPr lang="fr-FR"/>
          </a:p>
        </p:txBody>
      </p:sp>
      <p:sp>
        <p:nvSpPr>
          <p:cNvPr id="22" name="Shape 20"/>
          <p:cNvSpPr/>
          <p:nvPr/>
        </p:nvSpPr>
        <p:spPr>
          <a:xfrm>
            <a:off x="6035040" y="1645920"/>
            <a:ext cx="2724912" cy="228600"/>
          </a:xfrm>
          <a:prstGeom prst="rect">
            <a:avLst/>
          </a:prstGeom>
          <a:solidFill>
            <a:srgbClr val="6B7A8D"/>
          </a:solidFill>
          <a:ln w="12700">
            <a:solidFill>
              <a:srgbClr val="6B7A8D"/>
            </a:solidFill>
            <a:prstDash val="solid"/>
          </a:ln>
        </p:spPr>
        <p:txBody>
          <a:bodyPr/>
          <a:lstStyle/>
          <a:p>
            <a:endParaRPr lang="fr-FR"/>
          </a:p>
        </p:txBody>
      </p:sp>
      <p:sp>
        <p:nvSpPr>
          <p:cNvPr id="23" name="Text 21"/>
          <p:cNvSpPr/>
          <p:nvPr/>
        </p:nvSpPr>
        <p:spPr>
          <a:xfrm>
            <a:off x="6108192" y="1645920"/>
            <a:ext cx="2615184" cy="22860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Offres de formations</a:t>
            </a:r>
            <a:endParaRPr lang="en-US" sz="850" dirty="0"/>
          </a:p>
        </p:txBody>
      </p:sp>
      <p:sp>
        <p:nvSpPr>
          <p:cNvPr id="24" name="Text 22"/>
          <p:cNvSpPr/>
          <p:nvPr/>
        </p:nvSpPr>
        <p:spPr>
          <a:xfrm>
            <a:off x="6126480" y="1892808"/>
            <a:ext cx="2560320" cy="502920"/>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des conducteurs et statistiques d'accès aux professions</a:t>
            </a:r>
            <a:endParaRPr lang="en-US" sz="850" dirty="0"/>
          </a:p>
        </p:txBody>
      </p:sp>
      <p:sp>
        <p:nvSpPr>
          <p:cNvPr id="25" name="Shape 23"/>
          <p:cNvSpPr/>
          <p:nvPr/>
        </p:nvSpPr>
        <p:spPr>
          <a:xfrm>
            <a:off x="274320" y="2487168"/>
            <a:ext cx="4206240" cy="768096"/>
          </a:xfrm>
          <a:prstGeom prst="rect">
            <a:avLst/>
          </a:prstGeom>
          <a:solidFill>
            <a:srgbClr val="E8F1FA"/>
          </a:solidFill>
          <a:ln w="6350">
            <a:solidFill>
              <a:srgbClr val="D0DCE8"/>
            </a:solidFill>
            <a:prstDash val="solid"/>
          </a:ln>
        </p:spPr>
        <p:txBody>
          <a:bodyPr/>
          <a:lstStyle/>
          <a:p>
            <a:endParaRPr lang="fr-FR"/>
          </a:p>
        </p:txBody>
      </p:sp>
      <p:sp>
        <p:nvSpPr>
          <p:cNvPr id="26" name="Shape 24"/>
          <p:cNvSpPr/>
          <p:nvPr/>
        </p:nvSpPr>
        <p:spPr>
          <a:xfrm>
            <a:off x="274320" y="2487168"/>
            <a:ext cx="4206240" cy="228600"/>
          </a:xfrm>
          <a:prstGeom prst="rect">
            <a:avLst/>
          </a:prstGeom>
          <a:solidFill>
            <a:srgbClr val="7B3F6E"/>
          </a:solidFill>
          <a:ln w="12700">
            <a:solidFill>
              <a:srgbClr val="7B3F6E"/>
            </a:solidFill>
            <a:prstDash val="solid"/>
          </a:ln>
        </p:spPr>
        <p:txBody>
          <a:bodyPr/>
          <a:lstStyle/>
          <a:p>
            <a:endParaRPr lang="fr-FR"/>
          </a:p>
        </p:txBody>
      </p:sp>
      <p:sp>
        <p:nvSpPr>
          <p:cNvPr id="27" name="Text 25"/>
          <p:cNvSpPr/>
          <p:nvPr/>
        </p:nvSpPr>
        <p:spPr>
          <a:xfrm>
            <a:off x="347472" y="2487168"/>
            <a:ext cx="4096512" cy="22860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Respect de la réglementation</a:t>
            </a:r>
            <a:endParaRPr lang="en-US" sz="850" dirty="0"/>
          </a:p>
        </p:txBody>
      </p:sp>
      <p:sp>
        <p:nvSpPr>
          <p:cNvPr id="28" name="Text 26"/>
          <p:cNvSpPr/>
          <p:nvPr/>
        </p:nvSpPr>
        <p:spPr>
          <a:xfrm>
            <a:off x="365760" y="2734056"/>
            <a:ext cx="4041648" cy="502920"/>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du secteur T3P</a:t>
            </a:r>
            <a:endParaRPr lang="en-US" sz="850" dirty="0"/>
          </a:p>
        </p:txBody>
      </p:sp>
      <p:sp>
        <p:nvSpPr>
          <p:cNvPr id="29" name="Shape 27"/>
          <p:cNvSpPr/>
          <p:nvPr/>
        </p:nvSpPr>
        <p:spPr>
          <a:xfrm>
            <a:off x="4572000" y="2487168"/>
            <a:ext cx="4206240" cy="768096"/>
          </a:xfrm>
          <a:prstGeom prst="rect">
            <a:avLst/>
          </a:prstGeom>
          <a:solidFill>
            <a:srgbClr val="E8F1FA"/>
          </a:solidFill>
          <a:ln w="6350">
            <a:solidFill>
              <a:srgbClr val="D0DCE8"/>
            </a:solidFill>
            <a:prstDash val="solid"/>
          </a:ln>
        </p:spPr>
        <p:txBody>
          <a:bodyPr/>
          <a:lstStyle/>
          <a:p>
            <a:endParaRPr lang="fr-FR"/>
          </a:p>
        </p:txBody>
      </p:sp>
      <p:sp>
        <p:nvSpPr>
          <p:cNvPr id="30" name="Shape 28"/>
          <p:cNvSpPr/>
          <p:nvPr/>
        </p:nvSpPr>
        <p:spPr>
          <a:xfrm>
            <a:off x="4572000" y="2487168"/>
            <a:ext cx="4206240" cy="228600"/>
          </a:xfrm>
          <a:prstGeom prst="rect">
            <a:avLst/>
          </a:prstGeom>
          <a:solidFill>
            <a:srgbClr val="1A3A5C"/>
          </a:solidFill>
          <a:ln w="12700">
            <a:solidFill>
              <a:srgbClr val="1A3A5C"/>
            </a:solidFill>
            <a:prstDash val="solid"/>
          </a:ln>
        </p:spPr>
        <p:txBody>
          <a:bodyPr/>
          <a:lstStyle/>
          <a:p>
            <a:endParaRPr lang="fr-FR"/>
          </a:p>
        </p:txBody>
      </p:sp>
      <p:sp>
        <p:nvSpPr>
          <p:cNvPr id="31" name="Text 29"/>
          <p:cNvSpPr/>
          <p:nvPr/>
        </p:nvSpPr>
        <p:spPr>
          <a:xfrm>
            <a:off x="4645152" y="2487168"/>
            <a:ext cx="4096512" cy="22860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Représentativité</a:t>
            </a:r>
            <a:endParaRPr lang="en-US" sz="850" dirty="0"/>
          </a:p>
        </p:txBody>
      </p:sp>
      <p:sp>
        <p:nvSpPr>
          <p:cNvPr id="32" name="Text 30"/>
          <p:cNvSpPr/>
          <p:nvPr/>
        </p:nvSpPr>
        <p:spPr>
          <a:xfrm>
            <a:off x="4663440" y="2734056"/>
            <a:ext cx="4041648" cy="502920"/>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des différents organismes représentant la profession (syndicats)</a:t>
            </a:r>
            <a:endParaRPr lang="en-US" sz="850" dirty="0"/>
          </a:p>
        </p:txBody>
      </p:sp>
      <p:sp>
        <p:nvSpPr>
          <p:cNvPr id="33" name="Shape 31"/>
          <p:cNvSpPr/>
          <p:nvPr/>
        </p:nvSpPr>
        <p:spPr>
          <a:xfrm>
            <a:off x="274320" y="3401568"/>
            <a:ext cx="8595360" cy="256032"/>
          </a:xfrm>
          <a:prstGeom prst="rect">
            <a:avLst/>
          </a:prstGeom>
          <a:solidFill>
            <a:srgbClr val="2860A8"/>
          </a:solidFill>
          <a:ln w="12700">
            <a:solidFill>
              <a:srgbClr val="2860A8"/>
            </a:solidFill>
            <a:prstDash val="solid"/>
          </a:ln>
        </p:spPr>
        <p:txBody>
          <a:bodyPr/>
          <a:lstStyle/>
          <a:p>
            <a:endParaRPr lang="fr-FR"/>
          </a:p>
        </p:txBody>
      </p:sp>
      <p:sp>
        <p:nvSpPr>
          <p:cNvPr id="34" name="Text 32"/>
          <p:cNvSpPr/>
          <p:nvPr/>
        </p:nvSpPr>
        <p:spPr>
          <a:xfrm>
            <a:off x="274320" y="3401568"/>
            <a:ext cx="8595360" cy="25603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FONCTIONNEMENT ET COMPOSITION</a:t>
            </a:r>
            <a:endParaRPr lang="en-US" sz="950" dirty="0"/>
          </a:p>
        </p:txBody>
      </p:sp>
      <p:sp>
        <p:nvSpPr>
          <p:cNvPr id="35" name="Shape 33"/>
          <p:cNvSpPr/>
          <p:nvPr/>
        </p:nvSpPr>
        <p:spPr>
          <a:xfrm>
            <a:off x="274320" y="3730752"/>
            <a:ext cx="4206240" cy="347472"/>
          </a:xfrm>
          <a:prstGeom prst="rect">
            <a:avLst/>
          </a:prstGeom>
          <a:solidFill>
            <a:srgbClr val="E8F1FA"/>
          </a:solidFill>
          <a:ln w="6350">
            <a:solidFill>
              <a:srgbClr val="D0DCE8"/>
            </a:solidFill>
            <a:prstDash val="solid"/>
          </a:ln>
        </p:spPr>
        <p:txBody>
          <a:bodyPr/>
          <a:lstStyle/>
          <a:p>
            <a:endParaRPr lang="fr-FR"/>
          </a:p>
        </p:txBody>
      </p:sp>
      <p:sp>
        <p:nvSpPr>
          <p:cNvPr id="36" name="Shape 34"/>
          <p:cNvSpPr/>
          <p:nvPr/>
        </p:nvSpPr>
        <p:spPr>
          <a:xfrm>
            <a:off x="274320" y="3730752"/>
            <a:ext cx="1371600" cy="347472"/>
          </a:xfrm>
          <a:prstGeom prst="rect">
            <a:avLst/>
          </a:prstGeom>
          <a:solidFill>
            <a:srgbClr val="2860A8"/>
          </a:solidFill>
          <a:ln w="12700">
            <a:solidFill>
              <a:srgbClr val="2860A8"/>
            </a:solidFill>
            <a:prstDash val="solid"/>
          </a:ln>
        </p:spPr>
        <p:txBody>
          <a:bodyPr/>
          <a:lstStyle/>
          <a:p>
            <a:endParaRPr lang="fr-FR"/>
          </a:p>
        </p:txBody>
      </p:sp>
      <p:sp>
        <p:nvSpPr>
          <p:cNvPr id="37" name="Text 35"/>
          <p:cNvSpPr/>
          <p:nvPr/>
        </p:nvSpPr>
        <p:spPr>
          <a:xfrm>
            <a:off x="329184" y="3730752"/>
            <a:ext cx="1261872" cy="347472"/>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Présidence</a:t>
            </a:r>
            <a:endParaRPr lang="en-US" sz="900" dirty="0"/>
          </a:p>
        </p:txBody>
      </p:sp>
      <p:sp>
        <p:nvSpPr>
          <p:cNvPr id="38" name="Text 36"/>
          <p:cNvSpPr/>
          <p:nvPr/>
        </p:nvSpPr>
        <p:spPr>
          <a:xfrm>
            <a:off x="1737360" y="3785616"/>
            <a:ext cx="2651760"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Préfet de département ou son représentant</a:t>
            </a:r>
            <a:endParaRPr lang="en-US" sz="900" dirty="0"/>
          </a:p>
        </p:txBody>
      </p:sp>
      <p:sp>
        <p:nvSpPr>
          <p:cNvPr id="39" name="Shape 37"/>
          <p:cNvSpPr/>
          <p:nvPr/>
        </p:nvSpPr>
        <p:spPr>
          <a:xfrm>
            <a:off x="4645152" y="3730752"/>
            <a:ext cx="4206240" cy="347472"/>
          </a:xfrm>
          <a:prstGeom prst="rect">
            <a:avLst/>
          </a:prstGeom>
          <a:solidFill>
            <a:srgbClr val="FFFFFF"/>
          </a:solidFill>
          <a:ln w="6350">
            <a:solidFill>
              <a:srgbClr val="D0DCE8"/>
            </a:solidFill>
            <a:prstDash val="solid"/>
          </a:ln>
        </p:spPr>
        <p:txBody>
          <a:bodyPr/>
          <a:lstStyle/>
          <a:p>
            <a:endParaRPr lang="fr-FR"/>
          </a:p>
        </p:txBody>
      </p:sp>
      <p:sp>
        <p:nvSpPr>
          <p:cNvPr id="40" name="Shape 38"/>
          <p:cNvSpPr/>
          <p:nvPr/>
        </p:nvSpPr>
        <p:spPr>
          <a:xfrm>
            <a:off x="4645152" y="3730752"/>
            <a:ext cx="1371600" cy="347472"/>
          </a:xfrm>
          <a:prstGeom prst="rect">
            <a:avLst/>
          </a:prstGeom>
          <a:solidFill>
            <a:srgbClr val="2860A8"/>
          </a:solidFill>
          <a:ln w="12700">
            <a:solidFill>
              <a:srgbClr val="2860A8"/>
            </a:solidFill>
            <a:prstDash val="solid"/>
          </a:ln>
        </p:spPr>
        <p:txBody>
          <a:bodyPr/>
          <a:lstStyle/>
          <a:p>
            <a:endParaRPr lang="fr-FR"/>
          </a:p>
        </p:txBody>
      </p:sp>
      <p:sp>
        <p:nvSpPr>
          <p:cNvPr id="41" name="Text 39"/>
          <p:cNvSpPr/>
          <p:nvPr/>
        </p:nvSpPr>
        <p:spPr>
          <a:xfrm>
            <a:off x="4700016" y="3730752"/>
            <a:ext cx="1261872" cy="347472"/>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Fréquence</a:t>
            </a:r>
            <a:endParaRPr lang="en-US" sz="900" dirty="0"/>
          </a:p>
        </p:txBody>
      </p:sp>
      <p:sp>
        <p:nvSpPr>
          <p:cNvPr id="42" name="Text 40"/>
          <p:cNvSpPr/>
          <p:nvPr/>
        </p:nvSpPr>
        <p:spPr>
          <a:xfrm>
            <a:off x="6108192" y="3785616"/>
            <a:ext cx="2651760"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Se réunit une fois par an</a:t>
            </a:r>
            <a:endParaRPr lang="en-US" sz="900" dirty="0"/>
          </a:p>
        </p:txBody>
      </p:sp>
      <p:sp>
        <p:nvSpPr>
          <p:cNvPr id="43" name="Shape 41"/>
          <p:cNvSpPr/>
          <p:nvPr/>
        </p:nvSpPr>
        <p:spPr>
          <a:xfrm>
            <a:off x="274320" y="4114800"/>
            <a:ext cx="4206240" cy="347472"/>
          </a:xfrm>
          <a:prstGeom prst="rect">
            <a:avLst/>
          </a:prstGeom>
          <a:solidFill>
            <a:srgbClr val="E8F1FA"/>
          </a:solidFill>
          <a:ln w="6350">
            <a:solidFill>
              <a:srgbClr val="D0DCE8"/>
            </a:solidFill>
            <a:prstDash val="solid"/>
          </a:ln>
        </p:spPr>
        <p:txBody>
          <a:bodyPr/>
          <a:lstStyle/>
          <a:p>
            <a:endParaRPr lang="fr-FR"/>
          </a:p>
        </p:txBody>
      </p:sp>
      <p:sp>
        <p:nvSpPr>
          <p:cNvPr id="44" name="Shape 42"/>
          <p:cNvSpPr/>
          <p:nvPr/>
        </p:nvSpPr>
        <p:spPr>
          <a:xfrm>
            <a:off x="274320" y="4114800"/>
            <a:ext cx="1371600" cy="347472"/>
          </a:xfrm>
          <a:prstGeom prst="rect">
            <a:avLst/>
          </a:prstGeom>
          <a:solidFill>
            <a:srgbClr val="2860A8"/>
          </a:solidFill>
          <a:ln w="12700">
            <a:solidFill>
              <a:srgbClr val="2860A8"/>
            </a:solidFill>
            <a:prstDash val="solid"/>
          </a:ln>
        </p:spPr>
        <p:txBody>
          <a:bodyPr/>
          <a:lstStyle/>
          <a:p>
            <a:endParaRPr lang="fr-FR"/>
          </a:p>
        </p:txBody>
      </p:sp>
      <p:sp>
        <p:nvSpPr>
          <p:cNvPr id="45" name="Text 43"/>
          <p:cNvSpPr/>
          <p:nvPr/>
        </p:nvSpPr>
        <p:spPr>
          <a:xfrm>
            <a:off x="329184" y="4114800"/>
            <a:ext cx="1261872" cy="347472"/>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Mandat</a:t>
            </a:r>
            <a:endParaRPr lang="en-US" sz="900" dirty="0"/>
          </a:p>
        </p:txBody>
      </p:sp>
      <p:sp>
        <p:nvSpPr>
          <p:cNvPr id="46" name="Text 44"/>
          <p:cNvSpPr/>
          <p:nvPr/>
        </p:nvSpPr>
        <p:spPr>
          <a:xfrm>
            <a:off x="1737360" y="4169664"/>
            <a:ext cx="2651760"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3 ans pour les membres</a:t>
            </a:r>
            <a:endParaRPr lang="en-US" sz="900" dirty="0"/>
          </a:p>
        </p:txBody>
      </p:sp>
      <p:sp>
        <p:nvSpPr>
          <p:cNvPr id="47" name="Shape 45"/>
          <p:cNvSpPr/>
          <p:nvPr/>
        </p:nvSpPr>
        <p:spPr>
          <a:xfrm>
            <a:off x="4645152" y="4114800"/>
            <a:ext cx="4206240" cy="347472"/>
          </a:xfrm>
          <a:prstGeom prst="rect">
            <a:avLst/>
          </a:prstGeom>
          <a:solidFill>
            <a:srgbClr val="FFFFFF"/>
          </a:solidFill>
          <a:ln w="6350">
            <a:solidFill>
              <a:srgbClr val="D0DCE8"/>
            </a:solidFill>
            <a:prstDash val="solid"/>
          </a:ln>
        </p:spPr>
        <p:txBody>
          <a:bodyPr/>
          <a:lstStyle/>
          <a:p>
            <a:endParaRPr lang="fr-FR"/>
          </a:p>
        </p:txBody>
      </p:sp>
      <p:sp>
        <p:nvSpPr>
          <p:cNvPr id="48" name="Shape 46"/>
          <p:cNvSpPr/>
          <p:nvPr/>
        </p:nvSpPr>
        <p:spPr>
          <a:xfrm>
            <a:off x="4645152" y="4114800"/>
            <a:ext cx="1371600" cy="347472"/>
          </a:xfrm>
          <a:prstGeom prst="rect">
            <a:avLst/>
          </a:prstGeom>
          <a:solidFill>
            <a:srgbClr val="2860A8"/>
          </a:solidFill>
          <a:ln w="12700">
            <a:solidFill>
              <a:srgbClr val="2860A8"/>
            </a:solidFill>
            <a:prstDash val="solid"/>
          </a:ln>
        </p:spPr>
        <p:txBody>
          <a:bodyPr/>
          <a:lstStyle/>
          <a:p>
            <a:endParaRPr lang="fr-FR"/>
          </a:p>
        </p:txBody>
      </p:sp>
      <p:sp>
        <p:nvSpPr>
          <p:cNvPr id="49" name="Text 47"/>
          <p:cNvSpPr/>
          <p:nvPr/>
        </p:nvSpPr>
        <p:spPr>
          <a:xfrm>
            <a:off x="4700016" y="4114800"/>
            <a:ext cx="1261872" cy="347472"/>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Rapport remis à</a:t>
            </a:r>
            <a:endParaRPr lang="en-US" sz="900" dirty="0"/>
          </a:p>
        </p:txBody>
      </p:sp>
      <p:sp>
        <p:nvSpPr>
          <p:cNvPr id="50" name="Text 48"/>
          <p:cNvSpPr/>
          <p:nvPr/>
        </p:nvSpPr>
        <p:spPr>
          <a:xfrm>
            <a:off x="6108192" y="4169664"/>
            <a:ext cx="2651760"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L'Observatoire national des T3P</a:t>
            </a:r>
            <a:endParaRPr lang="en-US" sz="900" dirty="0"/>
          </a:p>
        </p:txBody>
      </p:sp>
      <p:sp>
        <p:nvSpPr>
          <p:cNvPr id="51" name="Shape 49"/>
          <p:cNvSpPr/>
          <p:nvPr/>
        </p:nvSpPr>
        <p:spPr>
          <a:xfrm>
            <a:off x="274320" y="4919472"/>
            <a:ext cx="8595360" cy="347472"/>
          </a:xfrm>
          <a:prstGeom prst="rect">
            <a:avLst/>
          </a:prstGeom>
          <a:solidFill>
            <a:srgbClr val="FFFBEB"/>
          </a:solidFill>
          <a:ln w="19050">
            <a:solidFill>
              <a:srgbClr val="F4A227"/>
            </a:solidFill>
            <a:prstDash val="solid"/>
          </a:ln>
        </p:spPr>
        <p:txBody>
          <a:bodyPr/>
          <a:lstStyle/>
          <a:p>
            <a:endParaRPr lang="fr-FR"/>
          </a:p>
        </p:txBody>
      </p:sp>
      <p:sp>
        <p:nvSpPr>
          <p:cNvPr id="52" name="Shape 50"/>
          <p:cNvSpPr/>
          <p:nvPr/>
        </p:nvSpPr>
        <p:spPr>
          <a:xfrm>
            <a:off x="274320" y="4919472"/>
            <a:ext cx="54864" cy="347472"/>
          </a:xfrm>
          <a:prstGeom prst="rect">
            <a:avLst/>
          </a:prstGeom>
          <a:solidFill>
            <a:srgbClr val="F4A227"/>
          </a:solidFill>
          <a:ln w="12700">
            <a:solidFill>
              <a:srgbClr val="F4A227"/>
            </a:solidFill>
            <a:prstDash val="solid"/>
          </a:ln>
        </p:spPr>
        <p:txBody>
          <a:bodyPr/>
          <a:lstStyle/>
          <a:p>
            <a:endParaRPr lang="fr-FR"/>
          </a:p>
        </p:txBody>
      </p:sp>
      <p:sp>
        <p:nvSpPr>
          <p:cNvPr id="53" name="Text 51"/>
          <p:cNvSpPr/>
          <p:nvPr/>
        </p:nvSpPr>
        <p:spPr>
          <a:xfrm>
            <a:off x="384048" y="4919472"/>
            <a:ext cx="8467344" cy="347472"/>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ℹ  La commission locale informe l'Observatoire national. Les commissions locales seront informées de tout élément statistique de suivi du secteur (cartes pro, agréments centres de formation, registre ADS...).</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7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La commission disciplinaire des T3P</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Taxis, VTC et VMDTR — Composition et fonctionnement — Page 121</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0/88</a:t>
            </a:r>
            <a:endParaRPr lang="en-US" sz="800" dirty="0"/>
          </a:p>
        </p:txBody>
      </p:sp>
      <p:sp>
        <p:nvSpPr>
          <p:cNvPr id="9" name="Shape 7"/>
          <p:cNvSpPr/>
          <p:nvPr/>
        </p:nvSpPr>
        <p:spPr>
          <a:xfrm>
            <a:off x="274320" y="932688"/>
            <a:ext cx="8595360" cy="310896"/>
          </a:xfrm>
          <a:prstGeom prst="rect">
            <a:avLst/>
          </a:prstGeom>
          <a:solidFill>
            <a:srgbClr val="C0392B"/>
          </a:solidFill>
          <a:ln w="12700">
            <a:solidFill>
              <a:srgbClr val="C0392B"/>
            </a:solidFill>
            <a:prstDash val="solid"/>
          </a:ln>
        </p:spPr>
        <p:txBody>
          <a:bodyPr/>
          <a:lstStyle/>
          <a:p>
            <a:endParaRPr lang="fr-FR"/>
          </a:p>
        </p:txBody>
      </p:sp>
      <p:sp>
        <p:nvSpPr>
          <p:cNvPr id="10" name="Text 8"/>
          <p:cNvSpPr/>
          <p:nvPr/>
        </p:nvSpPr>
        <p:spPr>
          <a:xfrm>
            <a:off x="274320" y="932688"/>
            <a:ext cx="8595360"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COMMISSION DISCIPLINAIRE POUR LES TAXIS, VTC ET VMDTR</a:t>
            </a:r>
            <a:endParaRPr lang="en-US" sz="1100" dirty="0"/>
          </a:p>
        </p:txBody>
      </p:sp>
      <p:sp>
        <p:nvSpPr>
          <p:cNvPr id="11" name="Shape 9"/>
          <p:cNvSpPr/>
          <p:nvPr/>
        </p:nvSpPr>
        <p:spPr>
          <a:xfrm>
            <a:off x="274320" y="1335024"/>
            <a:ext cx="8595360" cy="749808"/>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2" name="Shape 10"/>
          <p:cNvSpPr/>
          <p:nvPr/>
        </p:nvSpPr>
        <p:spPr>
          <a:xfrm>
            <a:off x="274320" y="1335024"/>
            <a:ext cx="8595360" cy="301752"/>
          </a:xfrm>
          <a:prstGeom prst="rect">
            <a:avLst/>
          </a:prstGeom>
          <a:solidFill>
            <a:srgbClr val="C0392B"/>
          </a:solidFill>
          <a:ln w="12700">
            <a:solidFill>
              <a:srgbClr val="C0392B"/>
            </a:solidFill>
            <a:prstDash val="solid"/>
          </a:ln>
        </p:spPr>
        <p:txBody>
          <a:bodyPr/>
          <a:lstStyle/>
          <a:p>
            <a:endParaRPr lang="fr-FR"/>
          </a:p>
        </p:txBody>
      </p:sp>
      <p:sp>
        <p:nvSpPr>
          <p:cNvPr id="13" name="Text 11"/>
          <p:cNvSpPr/>
          <p:nvPr/>
        </p:nvSpPr>
        <p:spPr>
          <a:xfrm>
            <a:off x="365760" y="1335024"/>
            <a:ext cx="845820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RÔLE ET STRUCTURE</a:t>
            </a:r>
            <a:endParaRPr lang="en-US" sz="1050" dirty="0"/>
          </a:p>
        </p:txBody>
      </p:sp>
      <p:sp>
        <p:nvSpPr>
          <p:cNvPr id="14" name="Text 12"/>
          <p:cNvSpPr/>
          <p:nvPr/>
        </p:nvSpPr>
        <p:spPr>
          <a:xfrm>
            <a:off x="384048" y="1682496"/>
            <a:ext cx="8412480" cy="356616"/>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La commission peut comprendre jusqu'à 3 sections spécialisées en matière disciplinaire pour respectivement les taxis, les voitures de transport avec chauffeur (VTC) et les véhicules motorisés à deux ou trois roues (VMDTR).</a:t>
            </a:r>
            <a:endParaRPr lang="en-US" sz="1000" dirty="0"/>
          </a:p>
        </p:txBody>
      </p:sp>
      <p:sp>
        <p:nvSpPr>
          <p:cNvPr id="15" name="Shape 13"/>
          <p:cNvSpPr/>
          <p:nvPr/>
        </p:nvSpPr>
        <p:spPr>
          <a:xfrm>
            <a:off x="274320" y="2212848"/>
            <a:ext cx="8595360" cy="274320"/>
          </a:xfrm>
          <a:prstGeom prst="rect">
            <a:avLst/>
          </a:prstGeom>
          <a:solidFill>
            <a:srgbClr val="1A3A5C"/>
          </a:solidFill>
          <a:ln w="12700">
            <a:solidFill>
              <a:srgbClr val="1A3A5C"/>
            </a:solidFill>
            <a:prstDash val="solid"/>
          </a:ln>
        </p:spPr>
        <p:txBody>
          <a:bodyPr/>
          <a:lstStyle/>
          <a:p>
            <a:endParaRPr lang="fr-FR"/>
          </a:p>
        </p:txBody>
      </p:sp>
      <p:sp>
        <p:nvSpPr>
          <p:cNvPr id="16" name="Text 14"/>
          <p:cNvSpPr/>
          <p:nvPr/>
        </p:nvSpPr>
        <p:spPr>
          <a:xfrm>
            <a:off x="274320" y="2212848"/>
            <a:ext cx="859536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 SECTIONS SPÉCIALISÉES</a:t>
            </a:r>
            <a:endParaRPr lang="en-US" sz="1000" dirty="0"/>
          </a:p>
        </p:txBody>
      </p:sp>
      <p:sp>
        <p:nvSpPr>
          <p:cNvPr id="17" name="Shape 15"/>
          <p:cNvSpPr/>
          <p:nvPr/>
        </p:nvSpPr>
        <p:spPr>
          <a:xfrm>
            <a:off x="274320" y="2542032"/>
            <a:ext cx="2724912" cy="475488"/>
          </a:xfrm>
          <a:prstGeom prst="rect">
            <a:avLst/>
          </a:prstGeom>
          <a:solidFill>
            <a:srgbClr val="2860A8"/>
          </a:solidFill>
          <a:ln w="12700">
            <a:solidFill>
              <a:srgbClr val="2860A8"/>
            </a:solidFill>
            <a:prstDash val="solid"/>
          </a:ln>
        </p:spPr>
        <p:txBody>
          <a:bodyPr/>
          <a:lstStyle/>
          <a:p>
            <a:endParaRPr lang="fr-FR"/>
          </a:p>
        </p:txBody>
      </p:sp>
      <p:sp>
        <p:nvSpPr>
          <p:cNvPr id="18" name="Text 16"/>
          <p:cNvSpPr/>
          <p:nvPr/>
        </p:nvSpPr>
        <p:spPr>
          <a:xfrm>
            <a:off x="274320" y="2542032"/>
            <a:ext cx="2724912" cy="47548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SECTION TAXI</a:t>
            </a:r>
            <a:endParaRPr lang="en-US" sz="1200" dirty="0"/>
          </a:p>
        </p:txBody>
      </p:sp>
      <p:sp>
        <p:nvSpPr>
          <p:cNvPr id="19" name="Shape 17"/>
          <p:cNvSpPr/>
          <p:nvPr/>
        </p:nvSpPr>
        <p:spPr>
          <a:xfrm>
            <a:off x="3154680" y="2542032"/>
            <a:ext cx="2724912" cy="475488"/>
          </a:xfrm>
          <a:prstGeom prst="rect">
            <a:avLst/>
          </a:prstGeom>
          <a:solidFill>
            <a:srgbClr val="1A3A5C"/>
          </a:solidFill>
          <a:ln w="12700">
            <a:solidFill>
              <a:srgbClr val="1A3A5C"/>
            </a:solidFill>
            <a:prstDash val="solid"/>
          </a:ln>
        </p:spPr>
        <p:txBody>
          <a:bodyPr/>
          <a:lstStyle/>
          <a:p>
            <a:endParaRPr lang="fr-FR"/>
          </a:p>
        </p:txBody>
      </p:sp>
      <p:sp>
        <p:nvSpPr>
          <p:cNvPr id="20" name="Text 18"/>
          <p:cNvSpPr/>
          <p:nvPr/>
        </p:nvSpPr>
        <p:spPr>
          <a:xfrm>
            <a:off x="3154680" y="2542032"/>
            <a:ext cx="2724912" cy="47548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SECTION VTC</a:t>
            </a:r>
            <a:endParaRPr lang="en-US" sz="1200" dirty="0"/>
          </a:p>
        </p:txBody>
      </p:sp>
      <p:sp>
        <p:nvSpPr>
          <p:cNvPr id="21" name="Shape 19"/>
          <p:cNvSpPr/>
          <p:nvPr/>
        </p:nvSpPr>
        <p:spPr>
          <a:xfrm>
            <a:off x="6035040" y="2542032"/>
            <a:ext cx="2724912" cy="475488"/>
          </a:xfrm>
          <a:prstGeom prst="rect">
            <a:avLst/>
          </a:prstGeom>
          <a:solidFill>
            <a:srgbClr val="6B7A8D"/>
          </a:solidFill>
          <a:ln w="12700">
            <a:solidFill>
              <a:srgbClr val="6B7A8D"/>
            </a:solidFill>
            <a:prstDash val="solid"/>
          </a:ln>
        </p:spPr>
        <p:txBody>
          <a:bodyPr/>
          <a:lstStyle/>
          <a:p>
            <a:endParaRPr lang="fr-FR"/>
          </a:p>
        </p:txBody>
      </p:sp>
      <p:sp>
        <p:nvSpPr>
          <p:cNvPr id="22" name="Text 20"/>
          <p:cNvSpPr/>
          <p:nvPr/>
        </p:nvSpPr>
        <p:spPr>
          <a:xfrm>
            <a:off x="6035040" y="2542032"/>
            <a:ext cx="2724912" cy="47548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SECTION VMDTR</a:t>
            </a:r>
            <a:endParaRPr lang="en-US" sz="1200" dirty="0"/>
          </a:p>
        </p:txBody>
      </p:sp>
      <p:sp>
        <p:nvSpPr>
          <p:cNvPr id="23" name="Shape 21"/>
          <p:cNvSpPr/>
          <p:nvPr/>
        </p:nvSpPr>
        <p:spPr>
          <a:xfrm>
            <a:off x="274320" y="3145536"/>
            <a:ext cx="8595360" cy="274320"/>
          </a:xfrm>
          <a:prstGeom prst="rect">
            <a:avLst/>
          </a:prstGeom>
          <a:solidFill>
            <a:srgbClr val="2860A8"/>
          </a:solidFill>
          <a:ln w="12700">
            <a:solidFill>
              <a:srgbClr val="2860A8"/>
            </a:solidFill>
            <a:prstDash val="solid"/>
          </a:ln>
        </p:spPr>
        <p:txBody>
          <a:bodyPr/>
          <a:lstStyle/>
          <a:p>
            <a:endParaRPr lang="fr-FR"/>
          </a:p>
        </p:txBody>
      </p:sp>
      <p:sp>
        <p:nvSpPr>
          <p:cNvPr id="24" name="Text 22"/>
          <p:cNvSpPr/>
          <p:nvPr/>
        </p:nvSpPr>
        <p:spPr>
          <a:xfrm>
            <a:off x="274320" y="3145536"/>
            <a:ext cx="859536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COMPOSITION DE CHAQUE SECTION — À PARTS ÉGALES</a:t>
            </a:r>
            <a:endParaRPr lang="en-US" sz="1000" dirty="0"/>
          </a:p>
        </p:txBody>
      </p:sp>
      <p:sp>
        <p:nvSpPr>
          <p:cNvPr id="25" name="Shape 23"/>
          <p:cNvSpPr/>
          <p:nvPr/>
        </p:nvSpPr>
        <p:spPr>
          <a:xfrm>
            <a:off x="274320" y="3493008"/>
            <a:ext cx="2724912" cy="1463040"/>
          </a:xfrm>
          <a:prstGeom prst="rect">
            <a:avLst/>
          </a:prstGeom>
          <a:solidFill>
            <a:srgbClr val="E8F1FA"/>
          </a:solidFill>
          <a:ln w="6350">
            <a:solidFill>
              <a:srgbClr val="D0DCE8"/>
            </a:solidFill>
            <a:prstDash val="solid"/>
          </a:ln>
        </p:spPr>
        <p:txBody>
          <a:bodyPr/>
          <a:lstStyle/>
          <a:p>
            <a:endParaRPr lang="fr-FR"/>
          </a:p>
        </p:txBody>
      </p:sp>
      <p:sp>
        <p:nvSpPr>
          <p:cNvPr id="26" name="Shape 24"/>
          <p:cNvSpPr/>
          <p:nvPr/>
        </p:nvSpPr>
        <p:spPr>
          <a:xfrm>
            <a:off x="274320" y="3493008"/>
            <a:ext cx="2724912" cy="274320"/>
          </a:xfrm>
          <a:prstGeom prst="rect">
            <a:avLst/>
          </a:prstGeom>
          <a:solidFill>
            <a:srgbClr val="2860A8"/>
          </a:solidFill>
          <a:ln w="12700">
            <a:solidFill>
              <a:srgbClr val="2860A8"/>
            </a:solidFill>
            <a:prstDash val="solid"/>
          </a:ln>
        </p:spPr>
        <p:txBody>
          <a:bodyPr/>
          <a:lstStyle/>
          <a:p>
            <a:endParaRPr lang="fr-FR"/>
          </a:p>
        </p:txBody>
      </p:sp>
      <p:sp>
        <p:nvSpPr>
          <p:cNvPr id="27" name="Text 25"/>
          <p:cNvSpPr/>
          <p:nvPr/>
        </p:nvSpPr>
        <p:spPr>
          <a:xfrm>
            <a:off x="347472" y="3493008"/>
            <a:ext cx="2578608"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COLLÈGE DE L'ÉTAT</a:t>
            </a:r>
            <a:endParaRPr lang="en-US" sz="900" dirty="0"/>
          </a:p>
        </p:txBody>
      </p:sp>
      <p:sp>
        <p:nvSpPr>
          <p:cNvPr id="28" name="Text 26"/>
          <p:cNvSpPr/>
          <p:nvPr/>
        </p:nvSpPr>
        <p:spPr>
          <a:xfrm>
            <a:off x="365760" y="3785616"/>
            <a:ext cx="2542032" cy="1152144"/>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Représentants de l'administration. Nommés par arrêté ministériel.</a:t>
            </a:r>
            <a:endParaRPr lang="en-US" sz="900" dirty="0"/>
          </a:p>
        </p:txBody>
      </p:sp>
      <p:sp>
        <p:nvSpPr>
          <p:cNvPr id="29" name="Shape 27"/>
          <p:cNvSpPr/>
          <p:nvPr/>
        </p:nvSpPr>
        <p:spPr>
          <a:xfrm>
            <a:off x="3154680" y="3493008"/>
            <a:ext cx="2724912" cy="1463040"/>
          </a:xfrm>
          <a:prstGeom prst="rect">
            <a:avLst/>
          </a:prstGeom>
          <a:solidFill>
            <a:srgbClr val="E8F1FA"/>
          </a:solidFill>
          <a:ln w="6350">
            <a:solidFill>
              <a:srgbClr val="D0DCE8"/>
            </a:solidFill>
            <a:prstDash val="solid"/>
          </a:ln>
        </p:spPr>
        <p:txBody>
          <a:bodyPr/>
          <a:lstStyle/>
          <a:p>
            <a:endParaRPr lang="fr-FR"/>
          </a:p>
        </p:txBody>
      </p:sp>
      <p:sp>
        <p:nvSpPr>
          <p:cNvPr id="30" name="Shape 28"/>
          <p:cNvSpPr/>
          <p:nvPr/>
        </p:nvSpPr>
        <p:spPr>
          <a:xfrm>
            <a:off x="3154680" y="3493008"/>
            <a:ext cx="2724912" cy="274320"/>
          </a:xfrm>
          <a:prstGeom prst="rect">
            <a:avLst/>
          </a:prstGeom>
          <a:solidFill>
            <a:srgbClr val="F4A227"/>
          </a:solidFill>
          <a:ln w="12700">
            <a:solidFill>
              <a:srgbClr val="F4A227"/>
            </a:solidFill>
            <a:prstDash val="solid"/>
          </a:ln>
        </p:spPr>
        <p:txBody>
          <a:bodyPr/>
          <a:lstStyle/>
          <a:p>
            <a:endParaRPr lang="fr-FR"/>
          </a:p>
        </p:txBody>
      </p:sp>
      <p:sp>
        <p:nvSpPr>
          <p:cNvPr id="31" name="Text 29"/>
          <p:cNvSpPr/>
          <p:nvPr/>
        </p:nvSpPr>
        <p:spPr>
          <a:xfrm>
            <a:off x="3227832" y="3493008"/>
            <a:ext cx="2578608"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COLLÈGE DES PROFESSIONNELS</a:t>
            </a:r>
            <a:endParaRPr lang="en-US" sz="900" dirty="0"/>
          </a:p>
        </p:txBody>
      </p:sp>
      <p:sp>
        <p:nvSpPr>
          <p:cNvPr id="32" name="Text 30"/>
          <p:cNvSpPr/>
          <p:nvPr/>
        </p:nvSpPr>
        <p:spPr>
          <a:xfrm>
            <a:off x="3246120" y="3785616"/>
            <a:ext cx="2542032" cy="1152144"/>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Représentants des professionnels T3P du secteur concerné (taxis, VTC ou VMDTR).</a:t>
            </a:r>
            <a:endParaRPr lang="en-US" sz="900" dirty="0"/>
          </a:p>
        </p:txBody>
      </p:sp>
      <p:sp>
        <p:nvSpPr>
          <p:cNvPr id="33" name="Shape 31"/>
          <p:cNvSpPr/>
          <p:nvPr/>
        </p:nvSpPr>
        <p:spPr>
          <a:xfrm>
            <a:off x="6035040" y="3493008"/>
            <a:ext cx="2724912" cy="1463040"/>
          </a:xfrm>
          <a:prstGeom prst="rect">
            <a:avLst/>
          </a:prstGeom>
          <a:solidFill>
            <a:srgbClr val="E8F1FA"/>
          </a:solidFill>
          <a:ln w="6350">
            <a:solidFill>
              <a:srgbClr val="D0DCE8"/>
            </a:solidFill>
            <a:prstDash val="solid"/>
          </a:ln>
        </p:spPr>
        <p:txBody>
          <a:bodyPr/>
          <a:lstStyle/>
          <a:p>
            <a:endParaRPr lang="fr-FR"/>
          </a:p>
        </p:txBody>
      </p:sp>
      <p:sp>
        <p:nvSpPr>
          <p:cNvPr id="34" name="Shape 32"/>
          <p:cNvSpPr/>
          <p:nvPr/>
        </p:nvSpPr>
        <p:spPr>
          <a:xfrm>
            <a:off x="6035040" y="3493008"/>
            <a:ext cx="2724912" cy="274320"/>
          </a:xfrm>
          <a:prstGeom prst="rect">
            <a:avLst/>
          </a:prstGeom>
          <a:solidFill>
            <a:srgbClr val="6B7A8D"/>
          </a:solidFill>
          <a:ln w="12700">
            <a:solidFill>
              <a:srgbClr val="6B7A8D"/>
            </a:solidFill>
            <a:prstDash val="solid"/>
          </a:ln>
        </p:spPr>
        <p:txBody>
          <a:bodyPr/>
          <a:lstStyle/>
          <a:p>
            <a:endParaRPr lang="fr-FR"/>
          </a:p>
        </p:txBody>
      </p:sp>
      <p:sp>
        <p:nvSpPr>
          <p:cNvPr id="35" name="Text 33"/>
          <p:cNvSpPr/>
          <p:nvPr/>
        </p:nvSpPr>
        <p:spPr>
          <a:xfrm>
            <a:off x="6108192" y="3493008"/>
            <a:ext cx="2578608"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L'INCULPÉ</a:t>
            </a:r>
            <a:endParaRPr lang="en-US" sz="900" dirty="0"/>
          </a:p>
        </p:txBody>
      </p:sp>
      <p:sp>
        <p:nvSpPr>
          <p:cNvPr id="36" name="Text 34"/>
          <p:cNvSpPr/>
          <p:nvPr/>
        </p:nvSpPr>
        <p:spPr>
          <a:xfrm>
            <a:off x="6126480" y="3785616"/>
            <a:ext cx="2542032" cy="1152144"/>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L'inculpé peut se présenter accompagné d'une personne de son choix (avocat, délégué syndical...).</a:t>
            </a:r>
            <a:endParaRPr lang="en-US" sz="900" dirty="0"/>
          </a:p>
        </p:txBody>
      </p:sp>
      <p:sp>
        <p:nvSpPr>
          <p:cNvPr id="37" name="Shape 35"/>
          <p:cNvSpPr/>
          <p:nvPr/>
        </p:nvSpPr>
        <p:spPr>
          <a:xfrm>
            <a:off x="274320" y="5074920"/>
            <a:ext cx="8595360" cy="292608"/>
          </a:xfrm>
          <a:prstGeom prst="rect">
            <a:avLst/>
          </a:prstGeom>
          <a:solidFill>
            <a:srgbClr val="FFFBEB"/>
          </a:solidFill>
          <a:ln w="19050">
            <a:solidFill>
              <a:srgbClr val="F4A227"/>
            </a:solidFill>
            <a:prstDash val="solid"/>
          </a:ln>
        </p:spPr>
        <p:txBody>
          <a:bodyPr/>
          <a:lstStyle/>
          <a:p>
            <a:endParaRPr lang="fr-FR"/>
          </a:p>
        </p:txBody>
      </p:sp>
      <p:sp>
        <p:nvSpPr>
          <p:cNvPr id="38" name="Shape 36"/>
          <p:cNvSpPr/>
          <p:nvPr/>
        </p:nvSpPr>
        <p:spPr>
          <a:xfrm>
            <a:off x="274320" y="5074920"/>
            <a:ext cx="54864" cy="292608"/>
          </a:xfrm>
          <a:prstGeom prst="rect">
            <a:avLst/>
          </a:prstGeom>
          <a:solidFill>
            <a:srgbClr val="F4A227"/>
          </a:solidFill>
          <a:ln w="12700">
            <a:solidFill>
              <a:srgbClr val="F4A227"/>
            </a:solidFill>
            <a:prstDash val="solid"/>
          </a:ln>
        </p:spPr>
        <p:txBody>
          <a:bodyPr/>
          <a:lstStyle/>
          <a:p>
            <a:endParaRPr lang="fr-FR"/>
          </a:p>
        </p:txBody>
      </p:sp>
      <p:sp>
        <p:nvSpPr>
          <p:cNvPr id="39" name="Text 37"/>
          <p:cNvSpPr/>
          <p:nvPr/>
        </p:nvSpPr>
        <p:spPr>
          <a:xfrm>
            <a:off x="384048" y="5074920"/>
            <a:ext cx="8467344" cy="29260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ℹ  La commission disciplinaire peut retirer temporairement ou définitivement la carte professionnelle en cas de violation de la réglementation.</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75">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Synthèse finale — Révision complète du programme T3P</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D'après le livre pages 113 à 122</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0/88</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7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Synthèse — Agents de contrôle sur route et en entreprise (p.114-115)</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0/88</a:t>
            </a:r>
            <a:endParaRPr lang="en-US" sz="800" dirty="0"/>
          </a:p>
        </p:txBody>
      </p:sp>
      <p:sp>
        <p:nvSpPr>
          <p:cNvPr id="8" name="Shape 6"/>
          <p:cNvSpPr/>
          <p:nvPr/>
        </p:nvSpPr>
        <p:spPr>
          <a:xfrm>
            <a:off x="274320" y="932688"/>
            <a:ext cx="8595360" cy="274320"/>
          </a:xfrm>
          <a:prstGeom prst="rect">
            <a:avLst/>
          </a:prstGeom>
          <a:solidFill>
            <a:srgbClr val="1A3A5C"/>
          </a:solidFill>
          <a:ln w="12700">
            <a:solidFill>
              <a:srgbClr val="1A3A5C"/>
            </a:solidFill>
            <a:prstDash val="solid"/>
          </a:ln>
        </p:spPr>
        <p:txBody>
          <a:bodyPr/>
          <a:lstStyle/>
          <a:p>
            <a:endParaRPr lang="fr-FR"/>
          </a:p>
        </p:txBody>
      </p:sp>
      <p:sp>
        <p:nvSpPr>
          <p:cNvPr id="9" name="Text 7"/>
          <p:cNvSpPr/>
          <p:nvPr/>
        </p:nvSpPr>
        <p:spPr>
          <a:xfrm>
            <a:off x="274320" y="932688"/>
            <a:ext cx="859536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LES AGENTS HABILITÉS À CONTRÔLER UN CONDUCTEUR T3P</a:t>
            </a:r>
            <a:endParaRPr lang="en-US" sz="1100" dirty="0"/>
          </a:p>
        </p:txBody>
      </p:sp>
      <p:sp>
        <p:nvSpPr>
          <p:cNvPr id="10" name="Shape 8"/>
          <p:cNvSpPr/>
          <p:nvPr/>
        </p:nvSpPr>
        <p:spPr>
          <a:xfrm>
            <a:off x="274320" y="1280160"/>
            <a:ext cx="8595360" cy="676656"/>
          </a:xfrm>
          <a:prstGeom prst="rect">
            <a:avLst/>
          </a:prstGeom>
          <a:solidFill>
            <a:srgbClr val="E8F1FA"/>
          </a:solidFill>
          <a:ln w="6350">
            <a:solidFill>
              <a:srgbClr val="D0DCE8"/>
            </a:solidFill>
            <a:prstDash val="solid"/>
          </a:ln>
        </p:spPr>
        <p:txBody>
          <a:bodyPr/>
          <a:lstStyle/>
          <a:p>
            <a:endParaRPr lang="fr-FR"/>
          </a:p>
        </p:txBody>
      </p:sp>
      <p:sp>
        <p:nvSpPr>
          <p:cNvPr id="11" name="Shape 9"/>
          <p:cNvSpPr/>
          <p:nvPr/>
        </p:nvSpPr>
        <p:spPr>
          <a:xfrm>
            <a:off x="274320" y="1280160"/>
            <a:ext cx="2011680" cy="676656"/>
          </a:xfrm>
          <a:prstGeom prst="rect">
            <a:avLst/>
          </a:prstGeom>
          <a:solidFill>
            <a:srgbClr val="2860A8"/>
          </a:solidFill>
          <a:ln w="12700">
            <a:solidFill>
              <a:srgbClr val="2860A8"/>
            </a:solidFill>
            <a:prstDash val="solid"/>
          </a:ln>
        </p:spPr>
        <p:txBody>
          <a:bodyPr/>
          <a:lstStyle/>
          <a:p>
            <a:endParaRPr lang="fr-FR"/>
          </a:p>
        </p:txBody>
      </p:sp>
      <p:sp>
        <p:nvSpPr>
          <p:cNvPr id="12" name="Text 10"/>
          <p:cNvSpPr/>
          <p:nvPr/>
        </p:nvSpPr>
        <p:spPr>
          <a:xfrm>
            <a:off x="347472" y="1335024"/>
            <a:ext cx="1828800" cy="566928"/>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GENDARMERIE NATIONALE</a:t>
            </a:r>
            <a:endParaRPr lang="en-US" sz="850" dirty="0"/>
          </a:p>
          <a:p>
            <a:pPr marL="0" indent="0">
              <a:buNone/>
            </a:pPr>
            <a:r>
              <a:rPr lang="en-US" sz="850" b="1" dirty="0">
                <a:solidFill>
                  <a:srgbClr val="FFFFFF"/>
                </a:solidFill>
                <a:latin typeface="Calibri" pitchFamily="34" charset="0"/>
                <a:ea typeface="Calibri" pitchFamily="34" charset="-122"/>
                <a:cs typeface="Calibri" pitchFamily="34" charset="-120"/>
              </a:rPr>
              <a:t>et AGENTS DE POLICE JUDICIAIRE</a:t>
            </a:r>
            <a:endParaRPr lang="en-US" sz="850" dirty="0"/>
          </a:p>
        </p:txBody>
      </p:sp>
      <p:sp>
        <p:nvSpPr>
          <p:cNvPr id="13" name="Text 11"/>
          <p:cNvSpPr/>
          <p:nvPr/>
        </p:nvSpPr>
        <p:spPr>
          <a:xfrm>
            <a:off x="2377440" y="1316736"/>
            <a:ext cx="3246120" cy="621792"/>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Mission : Mission : Constater les infractions à la loi pénale. Placer en garde à vue les personnes soupçonnées d'infractions.</a:t>
            </a:r>
            <a:endParaRPr lang="en-US" sz="850" dirty="0"/>
          </a:p>
        </p:txBody>
      </p:sp>
      <p:sp>
        <p:nvSpPr>
          <p:cNvPr id="14" name="Shape 12"/>
          <p:cNvSpPr/>
          <p:nvPr/>
        </p:nvSpPr>
        <p:spPr>
          <a:xfrm>
            <a:off x="5669280" y="1298448"/>
            <a:ext cx="36576" cy="621792"/>
          </a:xfrm>
          <a:prstGeom prst="rect">
            <a:avLst/>
          </a:prstGeom>
          <a:solidFill>
            <a:srgbClr val="2860A8"/>
          </a:solidFill>
          <a:ln w="12700">
            <a:solidFill>
              <a:srgbClr val="2860A8"/>
            </a:solidFill>
            <a:prstDash val="solid"/>
          </a:ln>
        </p:spPr>
        <p:txBody>
          <a:bodyPr/>
          <a:lstStyle/>
          <a:p>
            <a:endParaRPr lang="fr-FR"/>
          </a:p>
        </p:txBody>
      </p:sp>
      <p:sp>
        <p:nvSpPr>
          <p:cNvPr id="15" name="Text 13"/>
          <p:cNvSpPr/>
          <p:nvPr/>
        </p:nvSpPr>
        <p:spPr>
          <a:xfrm>
            <a:off x="5760720" y="1316736"/>
            <a:ext cx="3017520" cy="621792"/>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But : But : Maintien de l'ordre et de la sécurité de la population. Assurer la sécurité publique.</a:t>
            </a:r>
            <a:endParaRPr lang="en-US" sz="850" dirty="0"/>
          </a:p>
        </p:txBody>
      </p:sp>
      <p:sp>
        <p:nvSpPr>
          <p:cNvPr id="16" name="Shape 14"/>
          <p:cNvSpPr/>
          <p:nvPr/>
        </p:nvSpPr>
        <p:spPr>
          <a:xfrm>
            <a:off x="274320" y="2029968"/>
            <a:ext cx="8595360" cy="676656"/>
          </a:xfrm>
          <a:prstGeom prst="rect">
            <a:avLst/>
          </a:prstGeom>
          <a:solidFill>
            <a:srgbClr val="E8F1FA"/>
          </a:solidFill>
          <a:ln w="6350">
            <a:solidFill>
              <a:srgbClr val="D0DCE8"/>
            </a:solidFill>
            <a:prstDash val="solid"/>
          </a:ln>
        </p:spPr>
        <p:txBody>
          <a:bodyPr/>
          <a:lstStyle/>
          <a:p>
            <a:endParaRPr lang="fr-FR"/>
          </a:p>
        </p:txBody>
      </p:sp>
      <p:sp>
        <p:nvSpPr>
          <p:cNvPr id="17" name="Shape 15"/>
          <p:cNvSpPr/>
          <p:nvPr/>
        </p:nvSpPr>
        <p:spPr>
          <a:xfrm>
            <a:off x="274320" y="2029968"/>
            <a:ext cx="2011680" cy="676656"/>
          </a:xfrm>
          <a:prstGeom prst="rect">
            <a:avLst/>
          </a:prstGeom>
          <a:solidFill>
            <a:srgbClr val="F4A227"/>
          </a:solidFill>
          <a:ln w="12700">
            <a:solidFill>
              <a:srgbClr val="F4A227"/>
            </a:solidFill>
            <a:prstDash val="solid"/>
          </a:ln>
        </p:spPr>
        <p:txBody>
          <a:bodyPr/>
          <a:lstStyle/>
          <a:p>
            <a:endParaRPr lang="fr-FR"/>
          </a:p>
        </p:txBody>
      </p:sp>
      <p:sp>
        <p:nvSpPr>
          <p:cNvPr id="18" name="Text 16"/>
          <p:cNvSpPr/>
          <p:nvPr/>
        </p:nvSpPr>
        <p:spPr>
          <a:xfrm>
            <a:off x="347472" y="2084832"/>
            <a:ext cx="1828800" cy="566928"/>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LES DOUANES</a:t>
            </a:r>
            <a:endParaRPr lang="en-US" sz="850" dirty="0"/>
          </a:p>
        </p:txBody>
      </p:sp>
      <p:sp>
        <p:nvSpPr>
          <p:cNvPr id="19" name="Text 17"/>
          <p:cNvSpPr/>
          <p:nvPr/>
        </p:nvSpPr>
        <p:spPr>
          <a:xfrm>
            <a:off x="2377440" y="2066544"/>
            <a:ext cx="3246120" cy="621792"/>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Mission : Mission : Contrôle des bagages, marchandises, personnes et véhicules.</a:t>
            </a:r>
            <a:endParaRPr lang="en-US" sz="850" dirty="0"/>
          </a:p>
        </p:txBody>
      </p:sp>
      <p:sp>
        <p:nvSpPr>
          <p:cNvPr id="20" name="Shape 18"/>
          <p:cNvSpPr/>
          <p:nvPr/>
        </p:nvSpPr>
        <p:spPr>
          <a:xfrm>
            <a:off x="5669280" y="2048256"/>
            <a:ext cx="36576" cy="621792"/>
          </a:xfrm>
          <a:prstGeom prst="rect">
            <a:avLst/>
          </a:prstGeom>
          <a:solidFill>
            <a:srgbClr val="F4A227"/>
          </a:solidFill>
          <a:ln w="12700">
            <a:solidFill>
              <a:srgbClr val="F4A227"/>
            </a:solidFill>
            <a:prstDash val="solid"/>
          </a:ln>
        </p:spPr>
        <p:txBody>
          <a:bodyPr/>
          <a:lstStyle/>
          <a:p>
            <a:endParaRPr lang="fr-FR"/>
          </a:p>
        </p:txBody>
      </p:sp>
      <p:sp>
        <p:nvSpPr>
          <p:cNvPr id="21" name="Text 19"/>
          <p:cNvSpPr/>
          <p:nvPr/>
        </p:nvSpPr>
        <p:spPr>
          <a:xfrm>
            <a:off x="5760720" y="2066544"/>
            <a:ext cx="3017520" cy="621792"/>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But : But : Empêcher l'entrée de personnes et de marchandises illégales sur le sol français.</a:t>
            </a:r>
            <a:endParaRPr lang="en-US" sz="850" dirty="0"/>
          </a:p>
        </p:txBody>
      </p:sp>
      <p:sp>
        <p:nvSpPr>
          <p:cNvPr id="22" name="Shape 20"/>
          <p:cNvSpPr/>
          <p:nvPr/>
        </p:nvSpPr>
        <p:spPr>
          <a:xfrm>
            <a:off x="274320" y="2779776"/>
            <a:ext cx="8595360" cy="676656"/>
          </a:xfrm>
          <a:prstGeom prst="rect">
            <a:avLst/>
          </a:prstGeom>
          <a:solidFill>
            <a:srgbClr val="E8F1FA"/>
          </a:solidFill>
          <a:ln w="6350">
            <a:solidFill>
              <a:srgbClr val="D0DCE8"/>
            </a:solidFill>
            <a:prstDash val="solid"/>
          </a:ln>
        </p:spPr>
        <p:txBody>
          <a:bodyPr/>
          <a:lstStyle/>
          <a:p>
            <a:endParaRPr lang="fr-FR"/>
          </a:p>
        </p:txBody>
      </p:sp>
      <p:sp>
        <p:nvSpPr>
          <p:cNvPr id="23" name="Shape 21"/>
          <p:cNvSpPr/>
          <p:nvPr/>
        </p:nvSpPr>
        <p:spPr>
          <a:xfrm>
            <a:off x="274320" y="2779776"/>
            <a:ext cx="2011680" cy="676656"/>
          </a:xfrm>
          <a:prstGeom prst="rect">
            <a:avLst/>
          </a:prstGeom>
          <a:solidFill>
            <a:srgbClr val="6B7A8D"/>
          </a:solidFill>
          <a:ln w="12700">
            <a:solidFill>
              <a:srgbClr val="6B7A8D"/>
            </a:solidFill>
            <a:prstDash val="solid"/>
          </a:ln>
        </p:spPr>
        <p:txBody>
          <a:bodyPr/>
          <a:lstStyle/>
          <a:p>
            <a:endParaRPr lang="fr-FR"/>
          </a:p>
        </p:txBody>
      </p:sp>
      <p:sp>
        <p:nvSpPr>
          <p:cNvPr id="24" name="Text 22"/>
          <p:cNvSpPr/>
          <p:nvPr/>
        </p:nvSpPr>
        <p:spPr>
          <a:xfrm>
            <a:off x="347472" y="2834640"/>
            <a:ext cx="1828800" cy="566928"/>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URSSAF</a:t>
            </a:r>
            <a:endParaRPr lang="en-US" sz="850" dirty="0"/>
          </a:p>
        </p:txBody>
      </p:sp>
      <p:sp>
        <p:nvSpPr>
          <p:cNvPr id="25" name="Text 23"/>
          <p:cNvSpPr/>
          <p:nvPr/>
        </p:nvSpPr>
        <p:spPr>
          <a:xfrm>
            <a:off x="2377440" y="2816352"/>
            <a:ext cx="3246120" cy="621792"/>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Mission : Mission : Le contrôle est précédé de l'envoi d'un avis informant la personne contrôlée. EN CAS DE TRAVAIL DISSIMULÉ : sans information préalable de l'employeur.</a:t>
            </a:r>
            <a:endParaRPr lang="en-US" sz="850" dirty="0"/>
          </a:p>
        </p:txBody>
      </p:sp>
      <p:sp>
        <p:nvSpPr>
          <p:cNvPr id="26" name="Shape 24"/>
          <p:cNvSpPr/>
          <p:nvPr/>
        </p:nvSpPr>
        <p:spPr>
          <a:xfrm>
            <a:off x="5669280" y="2798064"/>
            <a:ext cx="36576" cy="621792"/>
          </a:xfrm>
          <a:prstGeom prst="rect">
            <a:avLst/>
          </a:prstGeom>
          <a:solidFill>
            <a:srgbClr val="6B7A8D"/>
          </a:solidFill>
          <a:ln w="12700">
            <a:solidFill>
              <a:srgbClr val="6B7A8D"/>
            </a:solidFill>
            <a:prstDash val="solid"/>
          </a:ln>
        </p:spPr>
        <p:txBody>
          <a:bodyPr/>
          <a:lstStyle/>
          <a:p>
            <a:endParaRPr lang="fr-FR"/>
          </a:p>
        </p:txBody>
      </p:sp>
      <p:sp>
        <p:nvSpPr>
          <p:cNvPr id="27" name="Text 25"/>
          <p:cNvSpPr/>
          <p:nvPr/>
        </p:nvSpPr>
        <p:spPr>
          <a:xfrm>
            <a:off x="5760720" y="2816352"/>
            <a:ext cx="3017520" cy="621792"/>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But : But : Organisme gouvernemental qui collecte les cotisations et contributions sociales des entreprises.</a:t>
            </a:r>
            <a:endParaRPr lang="en-US" sz="850" dirty="0"/>
          </a:p>
        </p:txBody>
      </p:sp>
      <p:sp>
        <p:nvSpPr>
          <p:cNvPr id="28" name="Shape 26"/>
          <p:cNvSpPr/>
          <p:nvPr/>
        </p:nvSpPr>
        <p:spPr>
          <a:xfrm>
            <a:off x="274320" y="3529584"/>
            <a:ext cx="8595360" cy="676656"/>
          </a:xfrm>
          <a:prstGeom prst="rect">
            <a:avLst/>
          </a:prstGeom>
          <a:solidFill>
            <a:srgbClr val="E8F1FA"/>
          </a:solidFill>
          <a:ln w="6350">
            <a:solidFill>
              <a:srgbClr val="D0DCE8"/>
            </a:solidFill>
            <a:prstDash val="solid"/>
          </a:ln>
        </p:spPr>
        <p:txBody>
          <a:bodyPr/>
          <a:lstStyle/>
          <a:p>
            <a:endParaRPr lang="fr-FR"/>
          </a:p>
        </p:txBody>
      </p:sp>
      <p:sp>
        <p:nvSpPr>
          <p:cNvPr id="29" name="Shape 27"/>
          <p:cNvSpPr/>
          <p:nvPr/>
        </p:nvSpPr>
        <p:spPr>
          <a:xfrm>
            <a:off x="274320" y="3529584"/>
            <a:ext cx="2011680" cy="676656"/>
          </a:xfrm>
          <a:prstGeom prst="rect">
            <a:avLst/>
          </a:prstGeom>
          <a:solidFill>
            <a:srgbClr val="C0392B"/>
          </a:solidFill>
          <a:ln w="12700">
            <a:solidFill>
              <a:srgbClr val="C0392B"/>
            </a:solidFill>
            <a:prstDash val="solid"/>
          </a:ln>
        </p:spPr>
        <p:txBody>
          <a:bodyPr/>
          <a:lstStyle/>
          <a:p>
            <a:endParaRPr lang="fr-FR"/>
          </a:p>
        </p:txBody>
      </p:sp>
      <p:sp>
        <p:nvSpPr>
          <p:cNvPr id="30" name="Text 28"/>
          <p:cNvSpPr/>
          <p:nvPr/>
        </p:nvSpPr>
        <p:spPr>
          <a:xfrm>
            <a:off x="347472" y="3584448"/>
            <a:ext cx="1828800" cy="566928"/>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DGFIP</a:t>
            </a:r>
            <a:endParaRPr lang="en-US" sz="850" dirty="0"/>
          </a:p>
        </p:txBody>
      </p:sp>
      <p:sp>
        <p:nvSpPr>
          <p:cNvPr id="31" name="Text 29"/>
          <p:cNvSpPr/>
          <p:nvPr/>
        </p:nvSpPr>
        <p:spPr>
          <a:xfrm>
            <a:off x="2377440" y="3566160"/>
            <a:ext cx="3246120" cy="621792"/>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Mission : Mission : Le contribuable faisant l'objet d'une vérification de comptabilité doit recevoir un avis de vérification PRÉALABLE environ 15 JOURS avant le début de la vérification.</a:t>
            </a:r>
            <a:endParaRPr lang="en-US" sz="850" dirty="0"/>
          </a:p>
        </p:txBody>
      </p:sp>
      <p:sp>
        <p:nvSpPr>
          <p:cNvPr id="32" name="Shape 30"/>
          <p:cNvSpPr/>
          <p:nvPr/>
        </p:nvSpPr>
        <p:spPr>
          <a:xfrm>
            <a:off x="5669280" y="3547872"/>
            <a:ext cx="36576" cy="621792"/>
          </a:xfrm>
          <a:prstGeom prst="rect">
            <a:avLst/>
          </a:prstGeom>
          <a:solidFill>
            <a:srgbClr val="C0392B"/>
          </a:solidFill>
          <a:ln w="12700">
            <a:solidFill>
              <a:srgbClr val="C0392B"/>
            </a:solidFill>
            <a:prstDash val="solid"/>
          </a:ln>
        </p:spPr>
        <p:txBody>
          <a:bodyPr/>
          <a:lstStyle/>
          <a:p>
            <a:endParaRPr lang="fr-FR"/>
          </a:p>
        </p:txBody>
      </p:sp>
      <p:sp>
        <p:nvSpPr>
          <p:cNvPr id="33" name="Text 31"/>
          <p:cNvSpPr/>
          <p:nvPr/>
        </p:nvSpPr>
        <p:spPr>
          <a:xfrm>
            <a:off x="5760720" y="3566160"/>
            <a:ext cx="3017520" cy="621792"/>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But : But : Contrôle fiscal.</a:t>
            </a:r>
            <a:endParaRPr lang="en-US" sz="850" dirty="0"/>
          </a:p>
        </p:txBody>
      </p:sp>
      <p:sp>
        <p:nvSpPr>
          <p:cNvPr id="34" name="Shape 32"/>
          <p:cNvSpPr/>
          <p:nvPr/>
        </p:nvSpPr>
        <p:spPr>
          <a:xfrm>
            <a:off x="274320" y="4279392"/>
            <a:ext cx="8595360" cy="676656"/>
          </a:xfrm>
          <a:prstGeom prst="rect">
            <a:avLst/>
          </a:prstGeom>
          <a:solidFill>
            <a:srgbClr val="E8F1FA"/>
          </a:solidFill>
          <a:ln w="6350">
            <a:solidFill>
              <a:srgbClr val="D0DCE8"/>
            </a:solidFill>
            <a:prstDash val="solid"/>
          </a:ln>
        </p:spPr>
        <p:txBody>
          <a:bodyPr/>
          <a:lstStyle/>
          <a:p>
            <a:endParaRPr lang="fr-FR"/>
          </a:p>
        </p:txBody>
      </p:sp>
      <p:sp>
        <p:nvSpPr>
          <p:cNvPr id="35" name="Shape 33"/>
          <p:cNvSpPr/>
          <p:nvPr/>
        </p:nvSpPr>
        <p:spPr>
          <a:xfrm>
            <a:off x="274320" y="4279392"/>
            <a:ext cx="2011680" cy="676656"/>
          </a:xfrm>
          <a:prstGeom prst="rect">
            <a:avLst/>
          </a:prstGeom>
          <a:solidFill>
            <a:srgbClr val="5A6E8A"/>
          </a:solidFill>
          <a:ln w="12700">
            <a:solidFill>
              <a:srgbClr val="5A6E8A"/>
            </a:solidFill>
            <a:prstDash val="solid"/>
          </a:ln>
        </p:spPr>
        <p:txBody>
          <a:bodyPr/>
          <a:lstStyle/>
          <a:p>
            <a:endParaRPr lang="fr-FR"/>
          </a:p>
        </p:txBody>
      </p:sp>
      <p:sp>
        <p:nvSpPr>
          <p:cNvPr id="36" name="Text 34"/>
          <p:cNvSpPr/>
          <p:nvPr/>
        </p:nvSpPr>
        <p:spPr>
          <a:xfrm>
            <a:off x="347472" y="4334256"/>
            <a:ext cx="1828800" cy="566928"/>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DGCCRF</a:t>
            </a:r>
            <a:endParaRPr lang="en-US" sz="850" dirty="0"/>
          </a:p>
        </p:txBody>
      </p:sp>
      <p:sp>
        <p:nvSpPr>
          <p:cNvPr id="37" name="Text 35"/>
          <p:cNvSpPr/>
          <p:nvPr/>
        </p:nvSpPr>
        <p:spPr>
          <a:xfrm>
            <a:off x="2377440" y="4315968"/>
            <a:ext cx="3246120" cy="621792"/>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Mission : Mission : Lutte contre les contrefaçons. Enquêtes et contrôles sur les produits et leurs conditions de fabrication et de vente. Contrôle des pratiques commerciales.</a:t>
            </a:r>
            <a:endParaRPr lang="en-US" sz="850" dirty="0"/>
          </a:p>
        </p:txBody>
      </p:sp>
      <p:sp>
        <p:nvSpPr>
          <p:cNvPr id="38" name="Shape 36"/>
          <p:cNvSpPr/>
          <p:nvPr/>
        </p:nvSpPr>
        <p:spPr>
          <a:xfrm>
            <a:off x="5669280" y="4297680"/>
            <a:ext cx="36576" cy="621792"/>
          </a:xfrm>
          <a:prstGeom prst="rect">
            <a:avLst/>
          </a:prstGeom>
          <a:solidFill>
            <a:srgbClr val="5A6E8A"/>
          </a:solidFill>
          <a:ln w="12700">
            <a:solidFill>
              <a:srgbClr val="5A6E8A"/>
            </a:solidFill>
            <a:prstDash val="solid"/>
          </a:ln>
        </p:spPr>
        <p:txBody>
          <a:bodyPr/>
          <a:lstStyle/>
          <a:p>
            <a:endParaRPr lang="fr-FR"/>
          </a:p>
        </p:txBody>
      </p:sp>
      <p:sp>
        <p:nvSpPr>
          <p:cNvPr id="39" name="Text 37"/>
          <p:cNvSpPr/>
          <p:nvPr/>
        </p:nvSpPr>
        <p:spPr>
          <a:xfrm>
            <a:off x="5760720" y="4315968"/>
            <a:ext cx="3017520" cy="621792"/>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But : But : Administration chargée de veiller au respect des règles relatives à la concurrence et à la protection des consommateurs.</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7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Synthèse — Les amendes et infractions spécifiques T3P (p.115-116)</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0/88</a:t>
            </a:r>
            <a:endParaRPr lang="en-US" sz="800" dirty="0"/>
          </a:p>
        </p:txBody>
      </p:sp>
      <p:sp>
        <p:nvSpPr>
          <p:cNvPr id="8" name="Shape 6"/>
          <p:cNvSpPr/>
          <p:nvPr/>
        </p:nvSpPr>
        <p:spPr>
          <a:xfrm>
            <a:off x="274320" y="932688"/>
            <a:ext cx="8595360" cy="256032"/>
          </a:xfrm>
          <a:prstGeom prst="rect">
            <a:avLst/>
          </a:prstGeom>
          <a:solidFill>
            <a:srgbClr val="1A3A5C"/>
          </a:solidFill>
          <a:ln w="12700">
            <a:solidFill>
              <a:srgbClr val="1A3A5C"/>
            </a:solidFill>
            <a:prstDash val="solid"/>
          </a:ln>
        </p:spPr>
        <p:txBody>
          <a:bodyPr/>
          <a:lstStyle/>
          <a:p>
            <a:endParaRPr lang="fr-FR"/>
          </a:p>
        </p:txBody>
      </p:sp>
      <p:sp>
        <p:nvSpPr>
          <p:cNvPr id="9" name="Text 7"/>
          <p:cNvSpPr/>
          <p:nvPr/>
        </p:nvSpPr>
        <p:spPr>
          <a:xfrm>
            <a:off x="274320" y="932688"/>
            <a:ext cx="859536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BARÈME DES AMENDES — CLASSES 1 À 5</a:t>
            </a:r>
            <a:endParaRPr lang="en-US" sz="10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274320" y="1225296"/>
          <a:ext cx="8595360" cy="1389888"/>
        </p:xfrm>
        <a:graphic>
          <a:graphicData uri="http://schemas.openxmlformats.org/drawingml/2006/table">
            <a:tbl>
              <a:tblPr/>
              <a:tblGrid>
                <a:gridCol w="14630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231648">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Classe</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Minorée</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Forfaitaire (sous 45j)</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Majorée (après 45j)</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Max</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231648">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Classe 1</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Indisponible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11 €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33 €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38 €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1648">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Classe 2</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22 €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35 €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75 €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150 €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2"/>
                  </a:ext>
                </a:extLst>
              </a:tr>
              <a:tr h="231648">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Classe 3</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45 €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68 €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180 €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450 €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31648">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Classe 4</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90 €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135 €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375 €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750 €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4"/>
                  </a:ext>
                </a:extLst>
              </a:tr>
              <a:tr h="231648">
                <a:tc>
                  <a:txBody>
                    <a:bodyPr/>
                    <a:lstStyle/>
                    <a:p>
                      <a:pPr marL="0" indent="0">
                        <a:buNone/>
                      </a:pPr>
                      <a:r>
                        <a:rPr lang="en-US" sz="950" b="1" dirty="0">
                          <a:solidFill>
                            <a:srgbClr val="CC0000"/>
                          </a:solidFill>
                          <a:latin typeface="Calibri" pitchFamily="34" charset="0"/>
                          <a:ea typeface="Calibri" pitchFamily="34" charset="-122"/>
                          <a:cs typeface="Calibri" pitchFamily="34" charset="-120"/>
                        </a:rPr>
                        <a:t>Classe 5</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950" b="1" dirty="0">
                          <a:solidFill>
                            <a:srgbClr val="CC0000"/>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950" b="1" dirty="0">
                          <a:solidFill>
                            <a:srgbClr val="CC0000"/>
                          </a:solidFill>
                          <a:latin typeface="Calibri" pitchFamily="34" charset="0"/>
                          <a:ea typeface="Calibri" pitchFamily="34" charset="-122"/>
                          <a:cs typeface="Calibri" pitchFamily="34" charset="-120"/>
                        </a:rPr>
                        <a:t>1 500 €</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950" b="1" dirty="0">
                          <a:solidFill>
                            <a:srgbClr val="CC0000"/>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950" b="1" dirty="0">
                          <a:solidFill>
                            <a:srgbClr val="CC0000"/>
                          </a:solidFill>
                          <a:latin typeface="Calibri" pitchFamily="34" charset="0"/>
                          <a:ea typeface="Calibri" pitchFamily="34" charset="-122"/>
                          <a:cs typeface="Calibri" pitchFamily="34" charset="-120"/>
                        </a:rPr>
                        <a:t>3 000 € (récidive)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extLst>
                  <a:ext uri="{0D108BD9-81ED-4DB2-BD59-A6C34878D82A}">
                    <a16:rowId xmlns:a16="http://schemas.microsoft.com/office/drawing/2014/main" val="10005"/>
                  </a:ext>
                </a:extLst>
              </a:tr>
            </a:tbl>
          </a:graphicData>
        </a:graphic>
      </p:graphicFrame>
      <p:sp>
        <p:nvSpPr>
          <p:cNvPr id="11" name="Shape 8"/>
          <p:cNvSpPr/>
          <p:nvPr/>
        </p:nvSpPr>
        <p:spPr>
          <a:xfrm>
            <a:off x="274320" y="2697480"/>
            <a:ext cx="8595360" cy="237744"/>
          </a:xfrm>
          <a:prstGeom prst="rect">
            <a:avLst/>
          </a:prstGeom>
          <a:solidFill>
            <a:srgbClr val="2860A8"/>
          </a:solidFill>
          <a:ln w="12700">
            <a:solidFill>
              <a:srgbClr val="2860A8"/>
            </a:solidFill>
            <a:prstDash val="solid"/>
          </a:ln>
        </p:spPr>
        <p:txBody>
          <a:bodyPr/>
          <a:lstStyle/>
          <a:p>
            <a:endParaRPr lang="fr-FR"/>
          </a:p>
        </p:txBody>
      </p:sp>
      <p:sp>
        <p:nvSpPr>
          <p:cNvPr id="12" name="Text 9"/>
          <p:cNvSpPr/>
          <p:nvPr/>
        </p:nvSpPr>
        <p:spPr>
          <a:xfrm>
            <a:off x="274320" y="2697480"/>
            <a:ext cx="8595360" cy="23774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PV envoyé par courrier ou mail — Paiement par chèque ou guichet</a:t>
            </a:r>
            <a:endParaRPr lang="en-US" sz="900" dirty="0"/>
          </a:p>
        </p:txBody>
      </p:sp>
      <p:sp>
        <p:nvSpPr>
          <p:cNvPr id="13" name="Shape 10"/>
          <p:cNvSpPr/>
          <p:nvPr/>
        </p:nvSpPr>
        <p:spPr>
          <a:xfrm>
            <a:off x="274320" y="2971800"/>
            <a:ext cx="2724912" cy="475488"/>
          </a:xfrm>
          <a:prstGeom prst="rect">
            <a:avLst/>
          </a:prstGeom>
          <a:solidFill>
            <a:srgbClr val="2E7D32"/>
          </a:solidFill>
          <a:ln w="12700">
            <a:solidFill>
              <a:srgbClr val="2E7D32"/>
            </a:solidFill>
            <a:prstDash val="solid"/>
          </a:ln>
        </p:spPr>
        <p:txBody>
          <a:bodyPr/>
          <a:lstStyle/>
          <a:p>
            <a:endParaRPr lang="fr-FR"/>
          </a:p>
        </p:txBody>
      </p:sp>
      <p:sp>
        <p:nvSpPr>
          <p:cNvPr id="14" name="Text 11"/>
          <p:cNvSpPr/>
          <p:nvPr/>
        </p:nvSpPr>
        <p:spPr>
          <a:xfrm>
            <a:off x="274320" y="2971800"/>
            <a:ext cx="2724912" cy="47548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Sous 15 jours</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Amende MINORÉE — réduction maximale</a:t>
            </a:r>
            <a:endParaRPr lang="en-US" sz="900" dirty="0"/>
          </a:p>
        </p:txBody>
      </p:sp>
      <p:sp>
        <p:nvSpPr>
          <p:cNvPr id="15" name="Shape 12"/>
          <p:cNvSpPr/>
          <p:nvPr/>
        </p:nvSpPr>
        <p:spPr>
          <a:xfrm>
            <a:off x="3154680" y="2971800"/>
            <a:ext cx="2724912" cy="475488"/>
          </a:xfrm>
          <a:prstGeom prst="rect">
            <a:avLst/>
          </a:prstGeom>
          <a:solidFill>
            <a:srgbClr val="F4A227"/>
          </a:solidFill>
          <a:ln w="12700">
            <a:solidFill>
              <a:srgbClr val="F4A227"/>
            </a:solidFill>
            <a:prstDash val="solid"/>
          </a:ln>
        </p:spPr>
        <p:txBody>
          <a:bodyPr/>
          <a:lstStyle/>
          <a:p>
            <a:endParaRPr lang="fr-FR"/>
          </a:p>
        </p:txBody>
      </p:sp>
      <p:sp>
        <p:nvSpPr>
          <p:cNvPr id="16" name="Text 13"/>
          <p:cNvSpPr/>
          <p:nvPr/>
        </p:nvSpPr>
        <p:spPr>
          <a:xfrm>
            <a:off x="3154680" y="2971800"/>
            <a:ext cx="2724912" cy="47548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Sous 45 jours</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Amende FORFAITAIRE — tarif normal</a:t>
            </a:r>
            <a:endParaRPr lang="en-US" sz="900" dirty="0"/>
          </a:p>
        </p:txBody>
      </p:sp>
      <p:sp>
        <p:nvSpPr>
          <p:cNvPr id="17" name="Shape 14"/>
          <p:cNvSpPr/>
          <p:nvPr/>
        </p:nvSpPr>
        <p:spPr>
          <a:xfrm>
            <a:off x="6035040" y="2971800"/>
            <a:ext cx="2724912" cy="475488"/>
          </a:xfrm>
          <a:prstGeom prst="rect">
            <a:avLst/>
          </a:prstGeom>
          <a:solidFill>
            <a:srgbClr val="C0392B"/>
          </a:solidFill>
          <a:ln w="12700">
            <a:solidFill>
              <a:srgbClr val="C0392B"/>
            </a:solidFill>
            <a:prstDash val="solid"/>
          </a:ln>
        </p:spPr>
        <p:txBody>
          <a:bodyPr/>
          <a:lstStyle/>
          <a:p>
            <a:endParaRPr lang="fr-FR"/>
          </a:p>
        </p:txBody>
      </p:sp>
      <p:sp>
        <p:nvSpPr>
          <p:cNvPr id="18" name="Text 15"/>
          <p:cNvSpPr/>
          <p:nvPr/>
        </p:nvSpPr>
        <p:spPr>
          <a:xfrm>
            <a:off x="6035040" y="2971800"/>
            <a:ext cx="2724912" cy="47548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Après 45 jours</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Amende MAJORÉE — surcoût automatique</a:t>
            </a:r>
            <a:endParaRPr lang="en-US" sz="900" dirty="0"/>
          </a:p>
        </p:txBody>
      </p:sp>
      <p:sp>
        <p:nvSpPr>
          <p:cNvPr id="19" name="Shape 16"/>
          <p:cNvSpPr/>
          <p:nvPr/>
        </p:nvSpPr>
        <p:spPr>
          <a:xfrm>
            <a:off x="274320" y="3520440"/>
            <a:ext cx="8595360" cy="237744"/>
          </a:xfrm>
          <a:prstGeom prst="rect">
            <a:avLst/>
          </a:prstGeom>
          <a:solidFill>
            <a:srgbClr val="C0392B"/>
          </a:solidFill>
          <a:ln w="12700">
            <a:solidFill>
              <a:srgbClr val="C0392B"/>
            </a:solidFill>
            <a:prstDash val="solid"/>
          </a:ln>
        </p:spPr>
        <p:txBody>
          <a:bodyPr/>
          <a:lstStyle/>
          <a:p>
            <a:endParaRPr lang="fr-FR"/>
          </a:p>
        </p:txBody>
      </p:sp>
      <p:sp>
        <p:nvSpPr>
          <p:cNvPr id="20" name="Text 17"/>
          <p:cNvSpPr/>
          <p:nvPr/>
        </p:nvSpPr>
        <p:spPr>
          <a:xfrm>
            <a:off x="274320" y="3520440"/>
            <a:ext cx="8595360" cy="23774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INFRACTIONS SPÉCIFIQUES T3P</a:t>
            </a:r>
            <a:endParaRPr lang="en-US" sz="1000" dirty="0"/>
          </a:p>
        </p:txBody>
      </p:sp>
      <p:graphicFrame>
        <p:nvGraphicFramePr>
          <p:cNvPr id="155" name="Table 1"/>
          <p:cNvGraphicFramePr>
            <a:graphicFrameLocks noGrp="1"/>
          </p:cNvGraphicFramePr>
          <p:nvPr>
            <p:extLst>
              <p:ext uri="{D42A27DB-BD31-4B8C-83A1-F6EECF244321}">
                <p14:modId xmlns:p14="http://schemas.microsoft.com/office/powerpoint/2010/main" val="1579011935"/>
              </p:ext>
            </p:extLst>
          </p:nvPr>
        </p:nvGraphicFramePr>
        <p:xfrm>
          <a:off x="274320" y="3785616"/>
          <a:ext cx="8595360" cy="1371600"/>
        </p:xfrm>
        <a:graphic>
          <a:graphicData uri="http://schemas.openxmlformats.org/drawingml/2006/table">
            <a:tbl>
              <a:tblPr/>
              <a:tblGrid>
                <a:gridCol w="42062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124691">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Infraction</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Classe / Peine</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Concerne</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124691">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Non apposition carte pro sur le véhicule</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Classe 1</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Taxi, VTC, VMDTR</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24691">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Non présentation de la carte professionnelle</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Classe 2</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Taxi, VTC, VMDTR</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2"/>
                  </a:ext>
                </a:extLst>
              </a:tr>
              <a:tr h="124691">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Non justification possession carte pro (5 jours)</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Classe 4</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Taxi, VTC, VMDTR</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24691">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Conduite sans attestation visite médicale</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Classe 4</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Taxi, VTC, VMDTR, LOTI</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4"/>
                  </a:ext>
                </a:extLst>
              </a:tr>
              <a:tr h="124691">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Exercice sans carte professionnelle valide</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Classe 5</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Taxi, VTC, VMDTR</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24691">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Emploi conducteur sans carte pro valide</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Classe 5 (employeur)</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850" dirty="0">
                          <a:solidFill>
                            <a:srgbClr val="3A3A3A"/>
                          </a:solidFill>
                          <a:latin typeface="Calibri" pitchFamily="34" charset="0"/>
                          <a:ea typeface="Calibri" pitchFamily="34" charset="-122"/>
                          <a:cs typeface="Calibri" pitchFamily="34" charset="-120"/>
                        </a:rPr>
                        <a:t>Taxi, VTC, VMDTR</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6"/>
                  </a:ext>
                </a:extLst>
              </a:tr>
              <a:tr h="124691">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Exercice illégal — absence d'ADS</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1 an prison + 15 000 €</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Taxi</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extLst>
                  <a:ext uri="{0D108BD9-81ED-4DB2-BD59-A6C34878D82A}">
                    <a16:rowId xmlns:a16="http://schemas.microsoft.com/office/drawing/2014/main" val="10007"/>
                  </a:ext>
                </a:extLst>
              </a:tr>
              <a:tr h="124691">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Exercice illégal — absence d'inscription registre</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1 an prison + 15 000 €</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VTC, LOTI</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extLst>
                  <a:ext uri="{0D108BD9-81ED-4DB2-BD59-A6C34878D82A}">
                    <a16:rowId xmlns:a16="http://schemas.microsoft.com/office/drawing/2014/main" val="10008"/>
                  </a:ext>
                </a:extLst>
              </a:tr>
              <a:tr h="124691">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Circulation sans assurance</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3 750 €</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Taxi, VTC, VMDTR, LOTI</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extLst>
                  <a:ext uri="{0D108BD9-81ED-4DB2-BD59-A6C34878D82A}">
                    <a16:rowId xmlns:a16="http://schemas.microsoft.com/office/drawing/2014/main" val="10009"/>
                  </a:ext>
                </a:extLst>
              </a:tr>
              <a:tr h="124691">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Location à la place</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1 an prison + 15 000 €</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Taxi, VTC, VMDTR</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7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Synthèse — TPMR, Observatoire, Comité et Commissions locales (p.116-120)</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0/88</a:t>
            </a:r>
            <a:endParaRPr lang="en-US" sz="800" dirty="0"/>
          </a:p>
        </p:txBody>
      </p:sp>
      <p:sp>
        <p:nvSpPr>
          <p:cNvPr id="8" name="Shape 6"/>
          <p:cNvSpPr/>
          <p:nvPr/>
        </p:nvSpPr>
        <p:spPr>
          <a:xfrm>
            <a:off x="274320" y="932688"/>
            <a:ext cx="4160520" cy="256032"/>
          </a:xfrm>
          <a:prstGeom prst="rect">
            <a:avLst/>
          </a:prstGeom>
          <a:solidFill>
            <a:srgbClr val="6B7A8D"/>
          </a:solidFill>
          <a:ln w="12700">
            <a:solidFill>
              <a:srgbClr val="6B7A8D"/>
            </a:solidFill>
            <a:prstDash val="solid"/>
          </a:ln>
        </p:spPr>
        <p:txBody>
          <a:bodyPr/>
          <a:lstStyle/>
          <a:p>
            <a:endParaRPr lang="fr-FR"/>
          </a:p>
        </p:txBody>
      </p:sp>
      <p:sp>
        <p:nvSpPr>
          <p:cNvPr id="9" name="Text 7"/>
          <p:cNvSpPr/>
          <p:nvPr/>
        </p:nvSpPr>
        <p:spPr>
          <a:xfrm>
            <a:off x="274320" y="932688"/>
            <a:ext cx="416052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LA FORMATION TPMR</a:t>
            </a:r>
            <a:endParaRPr lang="en-US" sz="1000" dirty="0"/>
          </a:p>
        </p:txBody>
      </p:sp>
      <p:sp>
        <p:nvSpPr>
          <p:cNvPr id="10" name="Shape 8"/>
          <p:cNvSpPr/>
          <p:nvPr/>
        </p:nvSpPr>
        <p:spPr>
          <a:xfrm>
            <a:off x="274320" y="1225296"/>
            <a:ext cx="4160520" cy="475488"/>
          </a:xfrm>
          <a:prstGeom prst="rect">
            <a:avLst/>
          </a:prstGeom>
          <a:solidFill>
            <a:srgbClr val="E8F1FA"/>
          </a:solidFill>
          <a:ln w="6350">
            <a:solidFill>
              <a:srgbClr val="D0DCE8"/>
            </a:solidFill>
            <a:prstDash val="solid"/>
          </a:ln>
        </p:spPr>
        <p:txBody>
          <a:bodyPr/>
          <a:lstStyle/>
          <a:p>
            <a:endParaRPr lang="fr-FR"/>
          </a:p>
        </p:txBody>
      </p:sp>
      <p:sp>
        <p:nvSpPr>
          <p:cNvPr id="11" name="Text 9"/>
          <p:cNvSpPr/>
          <p:nvPr/>
        </p:nvSpPr>
        <p:spPr>
          <a:xfrm>
            <a:off x="347472" y="1243584"/>
            <a:ext cx="4005072" cy="438912"/>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Obligatoire pour toute personne souhaitant intervenir dans le transport des PMR (personnes handicapées, âgées, dépendantes...) dépassant l'utilisation des équipements du véhicule.</a:t>
            </a:r>
            <a:endParaRPr lang="en-US" sz="850" dirty="0"/>
          </a:p>
        </p:txBody>
      </p:sp>
      <p:sp>
        <p:nvSpPr>
          <p:cNvPr id="12" name="Shape 10"/>
          <p:cNvSpPr/>
          <p:nvPr/>
        </p:nvSpPr>
        <p:spPr>
          <a:xfrm>
            <a:off x="274320" y="1737360"/>
            <a:ext cx="4160520" cy="237744"/>
          </a:xfrm>
          <a:prstGeom prst="rect">
            <a:avLst/>
          </a:prstGeom>
          <a:solidFill>
            <a:srgbClr val="2860A8"/>
          </a:solidFill>
          <a:ln w="12700">
            <a:solidFill>
              <a:srgbClr val="2860A8"/>
            </a:solidFill>
            <a:prstDash val="solid"/>
          </a:ln>
        </p:spPr>
        <p:txBody>
          <a:bodyPr/>
          <a:lstStyle/>
          <a:p>
            <a:endParaRPr lang="fr-FR"/>
          </a:p>
        </p:txBody>
      </p:sp>
      <p:sp>
        <p:nvSpPr>
          <p:cNvPr id="13" name="Text 11"/>
          <p:cNvSpPr/>
          <p:nvPr/>
        </p:nvSpPr>
        <p:spPr>
          <a:xfrm>
            <a:off x="274320" y="1737360"/>
            <a:ext cx="4160520" cy="23774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VÉHICULES TPMR — 5 CRITÈRES</a:t>
            </a:r>
            <a:endParaRPr lang="en-US" sz="900" dirty="0"/>
          </a:p>
        </p:txBody>
      </p:sp>
      <p:sp>
        <p:nvSpPr>
          <p:cNvPr id="14" name="Shape 12"/>
          <p:cNvSpPr/>
          <p:nvPr/>
        </p:nvSpPr>
        <p:spPr>
          <a:xfrm>
            <a:off x="274320" y="2011680"/>
            <a:ext cx="4160520" cy="246888"/>
          </a:xfrm>
          <a:prstGeom prst="rect">
            <a:avLst/>
          </a:prstGeom>
          <a:solidFill>
            <a:srgbClr val="E8F1FA"/>
          </a:solidFill>
          <a:ln w="6350">
            <a:solidFill>
              <a:srgbClr val="D0DCE8"/>
            </a:solidFill>
            <a:prstDash val="solid"/>
          </a:ln>
        </p:spPr>
        <p:txBody>
          <a:bodyPr/>
          <a:lstStyle/>
          <a:p>
            <a:endParaRPr lang="fr-FR"/>
          </a:p>
        </p:txBody>
      </p:sp>
      <p:sp>
        <p:nvSpPr>
          <p:cNvPr id="15" name="Shape 13"/>
          <p:cNvSpPr/>
          <p:nvPr/>
        </p:nvSpPr>
        <p:spPr>
          <a:xfrm>
            <a:off x="274320" y="2011680"/>
            <a:ext cx="201168" cy="246888"/>
          </a:xfrm>
          <a:prstGeom prst="rect">
            <a:avLst/>
          </a:prstGeom>
          <a:solidFill>
            <a:srgbClr val="6B7A8D"/>
          </a:solidFill>
          <a:ln w="12700">
            <a:solidFill>
              <a:srgbClr val="6B7A8D"/>
            </a:solidFill>
            <a:prstDash val="solid"/>
          </a:ln>
        </p:spPr>
        <p:txBody>
          <a:bodyPr/>
          <a:lstStyle/>
          <a:p>
            <a:endParaRPr lang="fr-FR"/>
          </a:p>
        </p:txBody>
      </p:sp>
      <p:sp>
        <p:nvSpPr>
          <p:cNvPr id="16" name="Text 14"/>
          <p:cNvSpPr/>
          <p:nvPr/>
        </p:nvSpPr>
        <p:spPr>
          <a:xfrm>
            <a:off x="274320" y="2011680"/>
            <a:ext cx="201168" cy="246888"/>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17" name="Text 15"/>
          <p:cNvSpPr/>
          <p:nvPr/>
        </p:nvSpPr>
        <p:spPr>
          <a:xfrm>
            <a:off x="512064" y="2029968"/>
            <a:ext cx="3813048" cy="201168"/>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Homologation spécifique pour usage professionnel à titre onéreux</a:t>
            </a:r>
            <a:endParaRPr lang="en-US" sz="850" dirty="0"/>
          </a:p>
        </p:txBody>
      </p:sp>
      <p:sp>
        <p:nvSpPr>
          <p:cNvPr id="18" name="Shape 16"/>
          <p:cNvSpPr/>
          <p:nvPr/>
        </p:nvSpPr>
        <p:spPr>
          <a:xfrm>
            <a:off x="274320" y="2286000"/>
            <a:ext cx="4160520" cy="246888"/>
          </a:xfrm>
          <a:prstGeom prst="rect">
            <a:avLst/>
          </a:prstGeom>
          <a:solidFill>
            <a:srgbClr val="FFFFFF"/>
          </a:solidFill>
          <a:ln w="6350">
            <a:solidFill>
              <a:srgbClr val="D0DCE8"/>
            </a:solidFill>
            <a:prstDash val="solid"/>
          </a:ln>
        </p:spPr>
        <p:txBody>
          <a:bodyPr/>
          <a:lstStyle/>
          <a:p>
            <a:endParaRPr lang="fr-FR"/>
          </a:p>
        </p:txBody>
      </p:sp>
      <p:sp>
        <p:nvSpPr>
          <p:cNvPr id="19" name="Shape 17"/>
          <p:cNvSpPr/>
          <p:nvPr/>
        </p:nvSpPr>
        <p:spPr>
          <a:xfrm>
            <a:off x="274320" y="2286000"/>
            <a:ext cx="201168" cy="246888"/>
          </a:xfrm>
          <a:prstGeom prst="rect">
            <a:avLst/>
          </a:prstGeom>
          <a:solidFill>
            <a:srgbClr val="6B7A8D"/>
          </a:solidFill>
          <a:ln w="12700">
            <a:solidFill>
              <a:srgbClr val="6B7A8D"/>
            </a:solidFill>
            <a:prstDash val="solid"/>
          </a:ln>
        </p:spPr>
        <p:txBody>
          <a:bodyPr/>
          <a:lstStyle/>
          <a:p>
            <a:endParaRPr lang="fr-FR"/>
          </a:p>
        </p:txBody>
      </p:sp>
      <p:sp>
        <p:nvSpPr>
          <p:cNvPr id="20" name="Text 18"/>
          <p:cNvSpPr/>
          <p:nvPr/>
        </p:nvSpPr>
        <p:spPr>
          <a:xfrm>
            <a:off x="274320" y="2286000"/>
            <a:ext cx="201168" cy="246888"/>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21" name="Text 19"/>
          <p:cNvSpPr/>
          <p:nvPr/>
        </p:nvSpPr>
        <p:spPr>
          <a:xfrm>
            <a:off x="512064" y="2304288"/>
            <a:ext cx="3813048" cy="201168"/>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Place réservée pour une PMR non en fauteuil roulant</a:t>
            </a:r>
            <a:endParaRPr lang="en-US" sz="850" dirty="0"/>
          </a:p>
        </p:txBody>
      </p:sp>
      <p:sp>
        <p:nvSpPr>
          <p:cNvPr id="22" name="Shape 20"/>
          <p:cNvSpPr/>
          <p:nvPr/>
        </p:nvSpPr>
        <p:spPr>
          <a:xfrm>
            <a:off x="274320" y="2560320"/>
            <a:ext cx="4160520" cy="246888"/>
          </a:xfrm>
          <a:prstGeom prst="rect">
            <a:avLst/>
          </a:prstGeom>
          <a:solidFill>
            <a:srgbClr val="E8F1FA"/>
          </a:solidFill>
          <a:ln w="6350">
            <a:solidFill>
              <a:srgbClr val="D0DCE8"/>
            </a:solidFill>
            <a:prstDash val="solid"/>
          </a:ln>
        </p:spPr>
        <p:txBody>
          <a:bodyPr/>
          <a:lstStyle/>
          <a:p>
            <a:endParaRPr lang="fr-FR"/>
          </a:p>
        </p:txBody>
      </p:sp>
      <p:sp>
        <p:nvSpPr>
          <p:cNvPr id="23" name="Shape 21"/>
          <p:cNvSpPr/>
          <p:nvPr/>
        </p:nvSpPr>
        <p:spPr>
          <a:xfrm>
            <a:off x="274320" y="2560320"/>
            <a:ext cx="201168" cy="246888"/>
          </a:xfrm>
          <a:prstGeom prst="rect">
            <a:avLst/>
          </a:prstGeom>
          <a:solidFill>
            <a:srgbClr val="6B7A8D"/>
          </a:solidFill>
          <a:ln w="12700">
            <a:solidFill>
              <a:srgbClr val="6B7A8D"/>
            </a:solidFill>
            <a:prstDash val="solid"/>
          </a:ln>
        </p:spPr>
        <p:txBody>
          <a:bodyPr/>
          <a:lstStyle/>
          <a:p>
            <a:endParaRPr lang="fr-FR"/>
          </a:p>
        </p:txBody>
      </p:sp>
      <p:sp>
        <p:nvSpPr>
          <p:cNvPr id="24" name="Text 22"/>
          <p:cNvSpPr/>
          <p:nvPr/>
        </p:nvSpPr>
        <p:spPr>
          <a:xfrm>
            <a:off x="274320" y="2560320"/>
            <a:ext cx="201168" cy="246888"/>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25" name="Text 23"/>
          <p:cNvSpPr/>
          <p:nvPr/>
        </p:nvSpPr>
        <p:spPr>
          <a:xfrm>
            <a:off x="512064" y="2578608"/>
            <a:ext cx="3813048" cy="201168"/>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Dimensions intérieures minimums imposées</a:t>
            </a:r>
            <a:endParaRPr lang="en-US" sz="850" dirty="0"/>
          </a:p>
        </p:txBody>
      </p:sp>
      <p:sp>
        <p:nvSpPr>
          <p:cNvPr id="26" name="Shape 24"/>
          <p:cNvSpPr/>
          <p:nvPr/>
        </p:nvSpPr>
        <p:spPr>
          <a:xfrm>
            <a:off x="274320" y="2834640"/>
            <a:ext cx="4160520" cy="246888"/>
          </a:xfrm>
          <a:prstGeom prst="rect">
            <a:avLst/>
          </a:prstGeom>
          <a:solidFill>
            <a:srgbClr val="FFFFFF"/>
          </a:solidFill>
          <a:ln w="6350">
            <a:solidFill>
              <a:srgbClr val="D0DCE8"/>
            </a:solidFill>
            <a:prstDash val="solid"/>
          </a:ln>
        </p:spPr>
        <p:txBody>
          <a:bodyPr/>
          <a:lstStyle/>
          <a:p>
            <a:endParaRPr lang="fr-FR"/>
          </a:p>
        </p:txBody>
      </p:sp>
      <p:sp>
        <p:nvSpPr>
          <p:cNvPr id="27" name="Shape 25"/>
          <p:cNvSpPr/>
          <p:nvPr/>
        </p:nvSpPr>
        <p:spPr>
          <a:xfrm>
            <a:off x="274320" y="2834640"/>
            <a:ext cx="201168" cy="246888"/>
          </a:xfrm>
          <a:prstGeom prst="rect">
            <a:avLst/>
          </a:prstGeom>
          <a:solidFill>
            <a:srgbClr val="6B7A8D"/>
          </a:solidFill>
          <a:ln w="12700">
            <a:solidFill>
              <a:srgbClr val="6B7A8D"/>
            </a:solidFill>
            <a:prstDash val="solid"/>
          </a:ln>
        </p:spPr>
        <p:txBody>
          <a:bodyPr/>
          <a:lstStyle/>
          <a:p>
            <a:endParaRPr lang="fr-FR"/>
          </a:p>
        </p:txBody>
      </p:sp>
      <p:sp>
        <p:nvSpPr>
          <p:cNvPr id="28" name="Text 26"/>
          <p:cNvSpPr/>
          <p:nvPr/>
        </p:nvSpPr>
        <p:spPr>
          <a:xfrm>
            <a:off x="274320" y="2834640"/>
            <a:ext cx="201168" cy="246888"/>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29" name="Text 27"/>
          <p:cNvSpPr/>
          <p:nvPr/>
        </p:nvSpPr>
        <p:spPr>
          <a:xfrm>
            <a:off x="512064" y="2852928"/>
            <a:ext cx="3813048" cy="201168"/>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Ceintures de sécurité à 3 points d'ancrage renforcés</a:t>
            </a:r>
            <a:endParaRPr lang="en-US" sz="850" dirty="0"/>
          </a:p>
        </p:txBody>
      </p:sp>
      <p:sp>
        <p:nvSpPr>
          <p:cNvPr id="30" name="Shape 28"/>
          <p:cNvSpPr/>
          <p:nvPr/>
        </p:nvSpPr>
        <p:spPr>
          <a:xfrm>
            <a:off x="274320" y="3108960"/>
            <a:ext cx="4160520" cy="246888"/>
          </a:xfrm>
          <a:prstGeom prst="rect">
            <a:avLst/>
          </a:prstGeom>
          <a:solidFill>
            <a:srgbClr val="E8F1FA"/>
          </a:solidFill>
          <a:ln w="6350">
            <a:solidFill>
              <a:srgbClr val="D0DCE8"/>
            </a:solidFill>
            <a:prstDash val="solid"/>
          </a:ln>
        </p:spPr>
        <p:txBody>
          <a:bodyPr/>
          <a:lstStyle/>
          <a:p>
            <a:endParaRPr lang="fr-FR"/>
          </a:p>
        </p:txBody>
      </p:sp>
      <p:sp>
        <p:nvSpPr>
          <p:cNvPr id="31" name="Shape 29"/>
          <p:cNvSpPr/>
          <p:nvPr/>
        </p:nvSpPr>
        <p:spPr>
          <a:xfrm>
            <a:off x="274320" y="3108960"/>
            <a:ext cx="201168" cy="246888"/>
          </a:xfrm>
          <a:prstGeom prst="rect">
            <a:avLst/>
          </a:prstGeom>
          <a:solidFill>
            <a:srgbClr val="6B7A8D"/>
          </a:solidFill>
          <a:ln w="12700">
            <a:solidFill>
              <a:srgbClr val="6B7A8D"/>
            </a:solidFill>
            <a:prstDash val="solid"/>
          </a:ln>
        </p:spPr>
        <p:txBody>
          <a:bodyPr/>
          <a:lstStyle/>
          <a:p>
            <a:endParaRPr lang="fr-FR"/>
          </a:p>
        </p:txBody>
      </p:sp>
      <p:sp>
        <p:nvSpPr>
          <p:cNvPr id="32" name="Text 30"/>
          <p:cNvSpPr/>
          <p:nvPr/>
        </p:nvSpPr>
        <p:spPr>
          <a:xfrm>
            <a:off x="274320" y="3108960"/>
            <a:ext cx="201168" cy="246888"/>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33" name="Text 31"/>
          <p:cNvSpPr/>
          <p:nvPr/>
        </p:nvSpPr>
        <p:spPr>
          <a:xfrm>
            <a:off x="512064" y="3127248"/>
            <a:ext cx="3813048" cy="201168"/>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Signalétique spécifique et notices d'utilisation</a:t>
            </a:r>
            <a:endParaRPr lang="en-US" sz="850" dirty="0"/>
          </a:p>
        </p:txBody>
      </p:sp>
      <p:sp>
        <p:nvSpPr>
          <p:cNvPr id="34" name="Shape 32"/>
          <p:cNvSpPr/>
          <p:nvPr/>
        </p:nvSpPr>
        <p:spPr>
          <a:xfrm>
            <a:off x="4709160" y="932688"/>
            <a:ext cx="4160520" cy="256032"/>
          </a:xfrm>
          <a:prstGeom prst="rect">
            <a:avLst/>
          </a:prstGeom>
          <a:solidFill>
            <a:srgbClr val="7B3F6E"/>
          </a:solidFill>
          <a:ln w="12700">
            <a:solidFill>
              <a:srgbClr val="7B3F6E"/>
            </a:solidFill>
            <a:prstDash val="solid"/>
          </a:ln>
        </p:spPr>
        <p:txBody>
          <a:bodyPr/>
          <a:lstStyle/>
          <a:p>
            <a:endParaRPr lang="fr-FR"/>
          </a:p>
        </p:txBody>
      </p:sp>
      <p:sp>
        <p:nvSpPr>
          <p:cNvPr id="35" name="Text 33"/>
          <p:cNvSpPr/>
          <p:nvPr/>
        </p:nvSpPr>
        <p:spPr>
          <a:xfrm>
            <a:off x="4709160" y="932688"/>
            <a:ext cx="4160520" cy="25603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OBSERVATOIRE / COMITÉ / COMMISSIONS</a:t>
            </a:r>
            <a:endParaRPr lang="en-US" sz="950" dirty="0"/>
          </a:p>
        </p:txBody>
      </p:sp>
      <p:sp>
        <p:nvSpPr>
          <p:cNvPr id="36" name="Shape 34"/>
          <p:cNvSpPr/>
          <p:nvPr/>
        </p:nvSpPr>
        <p:spPr>
          <a:xfrm>
            <a:off x="4709160" y="1243584"/>
            <a:ext cx="4160520" cy="877824"/>
          </a:xfrm>
          <a:prstGeom prst="rect">
            <a:avLst/>
          </a:prstGeom>
          <a:solidFill>
            <a:srgbClr val="E8F1FA"/>
          </a:solidFill>
          <a:ln w="6350">
            <a:solidFill>
              <a:srgbClr val="D0DCE8"/>
            </a:solidFill>
            <a:prstDash val="solid"/>
          </a:ln>
        </p:spPr>
        <p:txBody>
          <a:bodyPr/>
          <a:lstStyle/>
          <a:p>
            <a:endParaRPr lang="fr-FR"/>
          </a:p>
        </p:txBody>
      </p:sp>
      <p:sp>
        <p:nvSpPr>
          <p:cNvPr id="37" name="Shape 35"/>
          <p:cNvSpPr/>
          <p:nvPr/>
        </p:nvSpPr>
        <p:spPr>
          <a:xfrm>
            <a:off x="4709160" y="1243584"/>
            <a:ext cx="4160520" cy="219456"/>
          </a:xfrm>
          <a:prstGeom prst="rect">
            <a:avLst/>
          </a:prstGeom>
          <a:solidFill>
            <a:srgbClr val="7B3F6E"/>
          </a:solidFill>
          <a:ln w="12700">
            <a:solidFill>
              <a:srgbClr val="7B3F6E"/>
            </a:solidFill>
            <a:prstDash val="solid"/>
          </a:ln>
        </p:spPr>
        <p:txBody>
          <a:bodyPr/>
          <a:lstStyle/>
          <a:p>
            <a:endParaRPr lang="fr-FR"/>
          </a:p>
        </p:txBody>
      </p:sp>
      <p:sp>
        <p:nvSpPr>
          <p:cNvPr id="38" name="Text 36"/>
          <p:cNvSpPr/>
          <p:nvPr/>
        </p:nvSpPr>
        <p:spPr>
          <a:xfrm>
            <a:off x="4782312" y="1243584"/>
            <a:ext cx="4005072" cy="219456"/>
          </a:xfrm>
          <a:prstGeom prst="rect">
            <a:avLst/>
          </a:prstGeom>
          <a:noFill/>
          <a:ln/>
        </p:spPr>
        <p:txBody>
          <a:bodyPr wrap="square" lIns="0" tIns="0" rIns="0" bIns="0" rtlCol="0" anchor="ctr"/>
          <a:lstStyle/>
          <a:p>
            <a:pPr marL="0" indent="0">
              <a:buNone/>
            </a:pPr>
            <a:r>
              <a:rPr lang="en-US" sz="820" b="1" dirty="0">
                <a:solidFill>
                  <a:srgbClr val="FFFFFF"/>
                </a:solidFill>
                <a:latin typeface="Calibri" pitchFamily="34" charset="0"/>
                <a:ea typeface="Calibri" pitchFamily="34" charset="-122"/>
                <a:cs typeface="Calibri" pitchFamily="34" charset="-120"/>
              </a:rPr>
              <a:t>OBSERVATOIRE NATIONAL DES T3P</a:t>
            </a:r>
            <a:endParaRPr lang="en-US" sz="820" dirty="0"/>
          </a:p>
        </p:txBody>
      </p:sp>
      <p:sp>
        <p:nvSpPr>
          <p:cNvPr id="39" name="Text 37"/>
          <p:cNvSpPr/>
          <p:nvPr/>
        </p:nvSpPr>
        <p:spPr>
          <a:xfrm>
            <a:off x="4800600" y="1481328"/>
            <a:ext cx="4005072" cy="621792"/>
          </a:xfrm>
          <a:prstGeom prst="rect">
            <a:avLst/>
          </a:prstGeom>
          <a:noFill/>
          <a:ln/>
        </p:spPr>
        <p:txBody>
          <a:bodyPr wrap="square" rtlCol="0" anchor="t"/>
          <a:lstStyle/>
          <a:p>
            <a:pPr marL="0" indent="0">
              <a:buNone/>
            </a:pPr>
            <a:r>
              <a:rPr lang="en-US" sz="800" dirty="0">
                <a:solidFill>
                  <a:srgbClr val="3A3A3A"/>
                </a:solidFill>
                <a:latin typeface="Calibri" pitchFamily="34" charset="0"/>
                <a:ea typeface="Calibri" pitchFamily="34" charset="-122"/>
                <a:cs typeface="Calibri" pitchFamily="34" charset="-120"/>
              </a:rPr>
              <a:t>Rapport annuel sur l'évolution des T3P — Mène des études — Diffuse ses travaux auprès des professionnels — Adresse son rapport au Comité national.</a:t>
            </a:r>
            <a:endParaRPr lang="en-US" sz="800" dirty="0"/>
          </a:p>
        </p:txBody>
      </p:sp>
      <p:sp>
        <p:nvSpPr>
          <p:cNvPr id="40" name="Shape 38"/>
          <p:cNvSpPr/>
          <p:nvPr/>
        </p:nvSpPr>
        <p:spPr>
          <a:xfrm>
            <a:off x="4709160" y="2203704"/>
            <a:ext cx="4160520" cy="877824"/>
          </a:xfrm>
          <a:prstGeom prst="rect">
            <a:avLst/>
          </a:prstGeom>
          <a:solidFill>
            <a:srgbClr val="E8F1FA"/>
          </a:solidFill>
          <a:ln w="6350">
            <a:solidFill>
              <a:srgbClr val="D0DCE8"/>
            </a:solidFill>
            <a:prstDash val="solid"/>
          </a:ln>
        </p:spPr>
        <p:txBody>
          <a:bodyPr/>
          <a:lstStyle/>
          <a:p>
            <a:endParaRPr lang="fr-FR"/>
          </a:p>
        </p:txBody>
      </p:sp>
      <p:sp>
        <p:nvSpPr>
          <p:cNvPr id="41" name="Shape 39"/>
          <p:cNvSpPr/>
          <p:nvPr/>
        </p:nvSpPr>
        <p:spPr>
          <a:xfrm>
            <a:off x="4709160" y="2203704"/>
            <a:ext cx="4160520" cy="219456"/>
          </a:xfrm>
          <a:prstGeom prst="rect">
            <a:avLst/>
          </a:prstGeom>
          <a:solidFill>
            <a:srgbClr val="6B2D6B"/>
          </a:solidFill>
          <a:ln w="12700">
            <a:solidFill>
              <a:srgbClr val="6B2D6B"/>
            </a:solidFill>
            <a:prstDash val="solid"/>
          </a:ln>
        </p:spPr>
        <p:txBody>
          <a:bodyPr/>
          <a:lstStyle/>
          <a:p>
            <a:endParaRPr lang="fr-FR"/>
          </a:p>
        </p:txBody>
      </p:sp>
      <p:sp>
        <p:nvSpPr>
          <p:cNvPr id="42" name="Text 40"/>
          <p:cNvSpPr/>
          <p:nvPr/>
        </p:nvSpPr>
        <p:spPr>
          <a:xfrm>
            <a:off x="4782312" y="2203704"/>
            <a:ext cx="4005072" cy="219456"/>
          </a:xfrm>
          <a:prstGeom prst="rect">
            <a:avLst/>
          </a:prstGeom>
          <a:noFill/>
          <a:ln/>
        </p:spPr>
        <p:txBody>
          <a:bodyPr wrap="square" lIns="0" tIns="0" rIns="0" bIns="0" rtlCol="0" anchor="ctr"/>
          <a:lstStyle/>
          <a:p>
            <a:pPr marL="0" indent="0">
              <a:buNone/>
            </a:pPr>
            <a:r>
              <a:rPr lang="en-US" sz="820" b="1" dirty="0">
                <a:solidFill>
                  <a:srgbClr val="FFFFFF"/>
                </a:solidFill>
                <a:latin typeface="Calibri" pitchFamily="34" charset="0"/>
                <a:ea typeface="Calibri" pitchFamily="34" charset="-122"/>
                <a:cs typeface="Calibri" pitchFamily="34" charset="-120"/>
              </a:rPr>
              <a:t>COMITÉ NATIONAL DES T3P</a:t>
            </a:r>
            <a:endParaRPr lang="en-US" sz="820" dirty="0"/>
          </a:p>
        </p:txBody>
      </p:sp>
      <p:sp>
        <p:nvSpPr>
          <p:cNvPr id="43" name="Text 41"/>
          <p:cNvSpPr/>
          <p:nvPr/>
        </p:nvSpPr>
        <p:spPr>
          <a:xfrm>
            <a:off x="4800600" y="2441448"/>
            <a:ext cx="4005072" cy="621792"/>
          </a:xfrm>
          <a:prstGeom prst="rect">
            <a:avLst/>
          </a:prstGeom>
          <a:noFill/>
          <a:ln/>
        </p:spPr>
        <p:txBody>
          <a:bodyPr wrap="square" rtlCol="0" anchor="t"/>
          <a:lstStyle/>
          <a:p>
            <a:pPr marL="0" indent="0">
              <a:buNone/>
            </a:pPr>
            <a:r>
              <a:rPr lang="en-US" sz="800" dirty="0">
                <a:solidFill>
                  <a:srgbClr val="3A3A3A"/>
                </a:solidFill>
                <a:latin typeface="Calibri" pitchFamily="34" charset="0"/>
                <a:ea typeface="Calibri" pitchFamily="34" charset="-122"/>
                <a:cs typeface="Calibri" pitchFamily="34" charset="-120"/>
              </a:rPr>
              <a:t>50 membres max — Mandat 5 ans — Fonctionne à titre gratuit.</a:t>
            </a:r>
            <a:endParaRPr lang="en-US" sz="800" dirty="0"/>
          </a:p>
          <a:p>
            <a:pPr marL="0" indent="0">
              <a:buNone/>
            </a:pPr>
            <a:r>
              <a:rPr lang="en-US" sz="800" dirty="0">
                <a:solidFill>
                  <a:srgbClr val="3A3A3A"/>
                </a:solidFill>
                <a:latin typeface="Calibri" pitchFamily="34" charset="0"/>
                <a:ea typeface="Calibri" pitchFamily="34" charset="-122"/>
                <a:cs typeface="Calibri" pitchFamily="34" charset="-120"/>
              </a:rPr>
              <a:t>Débat les grands enjeux T3P. Peut être saisi par le ministre. Composé à parts égales de 4 collèges (État, professionnels, collectivités, associations).</a:t>
            </a:r>
            <a:endParaRPr lang="en-US" sz="800" dirty="0"/>
          </a:p>
        </p:txBody>
      </p:sp>
      <p:sp>
        <p:nvSpPr>
          <p:cNvPr id="44" name="Shape 42"/>
          <p:cNvSpPr/>
          <p:nvPr/>
        </p:nvSpPr>
        <p:spPr>
          <a:xfrm>
            <a:off x="4709160" y="3163824"/>
            <a:ext cx="4160520" cy="877824"/>
          </a:xfrm>
          <a:prstGeom prst="rect">
            <a:avLst/>
          </a:prstGeom>
          <a:solidFill>
            <a:srgbClr val="E8F1FA"/>
          </a:solidFill>
          <a:ln w="6350">
            <a:solidFill>
              <a:srgbClr val="D0DCE8"/>
            </a:solidFill>
            <a:prstDash val="solid"/>
          </a:ln>
        </p:spPr>
        <p:txBody>
          <a:bodyPr/>
          <a:lstStyle/>
          <a:p>
            <a:endParaRPr lang="fr-FR"/>
          </a:p>
        </p:txBody>
      </p:sp>
      <p:sp>
        <p:nvSpPr>
          <p:cNvPr id="45" name="Shape 43"/>
          <p:cNvSpPr/>
          <p:nvPr/>
        </p:nvSpPr>
        <p:spPr>
          <a:xfrm>
            <a:off x="4709160" y="3163824"/>
            <a:ext cx="4160520" cy="219456"/>
          </a:xfrm>
          <a:prstGeom prst="rect">
            <a:avLst/>
          </a:prstGeom>
          <a:solidFill>
            <a:srgbClr val="F4A227"/>
          </a:solidFill>
          <a:ln w="12700">
            <a:solidFill>
              <a:srgbClr val="F4A227"/>
            </a:solidFill>
            <a:prstDash val="solid"/>
          </a:ln>
        </p:spPr>
        <p:txBody>
          <a:bodyPr/>
          <a:lstStyle/>
          <a:p>
            <a:endParaRPr lang="fr-FR"/>
          </a:p>
        </p:txBody>
      </p:sp>
      <p:sp>
        <p:nvSpPr>
          <p:cNvPr id="46" name="Text 44"/>
          <p:cNvSpPr/>
          <p:nvPr/>
        </p:nvSpPr>
        <p:spPr>
          <a:xfrm>
            <a:off x="4782312" y="3163824"/>
            <a:ext cx="4005072" cy="219456"/>
          </a:xfrm>
          <a:prstGeom prst="rect">
            <a:avLst/>
          </a:prstGeom>
          <a:noFill/>
          <a:ln/>
        </p:spPr>
        <p:txBody>
          <a:bodyPr wrap="square" lIns="0" tIns="0" rIns="0" bIns="0" rtlCol="0" anchor="ctr"/>
          <a:lstStyle/>
          <a:p>
            <a:pPr marL="0" indent="0">
              <a:buNone/>
            </a:pPr>
            <a:r>
              <a:rPr lang="en-US" sz="820" b="1" dirty="0">
                <a:solidFill>
                  <a:srgbClr val="FFFFFF"/>
                </a:solidFill>
                <a:latin typeface="Calibri" pitchFamily="34" charset="0"/>
                <a:ea typeface="Calibri" pitchFamily="34" charset="-122"/>
                <a:cs typeface="Calibri" pitchFamily="34" charset="-120"/>
              </a:rPr>
              <a:t>COMMISSIONS LOCALES</a:t>
            </a:r>
            <a:endParaRPr lang="en-US" sz="820" dirty="0"/>
          </a:p>
        </p:txBody>
      </p:sp>
      <p:sp>
        <p:nvSpPr>
          <p:cNvPr id="47" name="Text 45"/>
          <p:cNvSpPr/>
          <p:nvPr/>
        </p:nvSpPr>
        <p:spPr>
          <a:xfrm>
            <a:off x="4800600" y="3401568"/>
            <a:ext cx="4005072" cy="621792"/>
          </a:xfrm>
          <a:prstGeom prst="rect">
            <a:avLst/>
          </a:prstGeom>
          <a:noFill/>
          <a:ln/>
        </p:spPr>
        <p:txBody>
          <a:bodyPr wrap="square" rtlCol="0" anchor="t"/>
          <a:lstStyle/>
          <a:p>
            <a:pPr marL="0" indent="0">
              <a:buNone/>
            </a:pPr>
            <a:r>
              <a:rPr lang="en-US" sz="800" dirty="0">
                <a:solidFill>
                  <a:srgbClr val="3A3A3A"/>
                </a:solidFill>
                <a:latin typeface="Calibri" pitchFamily="34" charset="0"/>
                <a:ea typeface="Calibri" pitchFamily="34" charset="-122"/>
                <a:cs typeface="Calibri" pitchFamily="34" charset="-120"/>
              </a:rPr>
              <a:t>Rapport annuel (activité, offre, formations, règlementation, représentativité).</a:t>
            </a:r>
            <a:endParaRPr lang="en-US" sz="800" dirty="0"/>
          </a:p>
          <a:p>
            <a:pPr marL="0" indent="0">
              <a:buNone/>
            </a:pPr>
            <a:r>
              <a:rPr lang="en-US" sz="800" dirty="0">
                <a:solidFill>
                  <a:srgbClr val="3A3A3A"/>
                </a:solidFill>
                <a:latin typeface="Calibri" pitchFamily="34" charset="0"/>
                <a:ea typeface="Calibri" pitchFamily="34" charset="-122"/>
                <a:cs typeface="Calibri" pitchFamily="34" charset="-120"/>
              </a:rPr>
              <a:t>Présidée par le préfet — 1 fois/an — Mandat 3 ans.</a:t>
            </a:r>
            <a:endParaRPr lang="en-US" sz="800" dirty="0"/>
          </a:p>
          <a:p>
            <a:pPr marL="0" indent="0">
              <a:buNone/>
            </a:pPr>
            <a:r>
              <a:rPr lang="en-US" sz="800" dirty="0">
                <a:solidFill>
                  <a:srgbClr val="3A3A3A"/>
                </a:solidFill>
                <a:latin typeface="Calibri" pitchFamily="34" charset="0"/>
                <a:ea typeface="Calibri" pitchFamily="34" charset="-122"/>
                <a:cs typeface="Calibri" pitchFamily="34" charset="-120"/>
              </a:rPr>
              <a:t>Remet son rapport à l'Observatoire national.</a:t>
            </a:r>
            <a:endParaRPr lang="en-US" sz="800" dirty="0"/>
          </a:p>
        </p:txBody>
      </p:sp>
      <p:sp>
        <p:nvSpPr>
          <p:cNvPr id="48" name="Shape 46"/>
          <p:cNvSpPr/>
          <p:nvPr/>
        </p:nvSpPr>
        <p:spPr>
          <a:xfrm>
            <a:off x="4709160" y="4123944"/>
            <a:ext cx="4160520" cy="877824"/>
          </a:xfrm>
          <a:prstGeom prst="rect">
            <a:avLst/>
          </a:prstGeom>
          <a:solidFill>
            <a:srgbClr val="E8F1FA"/>
          </a:solidFill>
          <a:ln w="6350">
            <a:solidFill>
              <a:srgbClr val="D0DCE8"/>
            </a:solidFill>
            <a:prstDash val="solid"/>
          </a:ln>
        </p:spPr>
        <p:txBody>
          <a:bodyPr/>
          <a:lstStyle/>
          <a:p>
            <a:endParaRPr lang="fr-FR"/>
          </a:p>
        </p:txBody>
      </p:sp>
      <p:sp>
        <p:nvSpPr>
          <p:cNvPr id="49" name="Shape 47"/>
          <p:cNvSpPr/>
          <p:nvPr/>
        </p:nvSpPr>
        <p:spPr>
          <a:xfrm>
            <a:off x="4709160" y="4123944"/>
            <a:ext cx="4160520" cy="219456"/>
          </a:xfrm>
          <a:prstGeom prst="rect">
            <a:avLst/>
          </a:prstGeom>
          <a:solidFill>
            <a:srgbClr val="C0392B"/>
          </a:solidFill>
          <a:ln w="12700">
            <a:solidFill>
              <a:srgbClr val="C0392B"/>
            </a:solidFill>
            <a:prstDash val="solid"/>
          </a:ln>
        </p:spPr>
        <p:txBody>
          <a:bodyPr/>
          <a:lstStyle/>
          <a:p>
            <a:endParaRPr lang="fr-FR"/>
          </a:p>
        </p:txBody>
      </p:sp>
      <p:sp>
        <p:nvSpPr>
          <p:cNvPr id="50" name="Text 48"/>
          <p:cNvSpPr/>
          <p:nvPr/>
        </p:nvSpPr>
        <p:spPr>
          <a:xfrm>
            <a:off x="4782312" y="4123944"/>
            <a:ext cx="4005072" cy="219456"/>
          </a:xfrm>
          <a:prstGeom prst="rect">
            <a:avLst/>
          </a:prstGeom>
          <a:noFill/>
          <a:ln/>
        </p:spPr>
        <p:txBody>
          <a:bodyPr wrap="square" lIns="0" tIns="0" rIns="0" bIns="0" rtlCol="0" anchor="ctr"/>
          <a:lstStyle/>
          <a:p>
            <a:pPr marL="0" indent="0">
              <a:buNone/>
            </a:pPr>
            <a:r>
              <a:rPr lang="en-US" sz="820" b="1" dirty="0">
                <a:solidFill>
                  <a:srgbClr val="FFFFFF"/>
                </a:solidFill>
                <a:latin typeface="Calibri" pitchFamily="34" charset="0"/>
                <a:ea typeface="Calibri" pitchFamily="34" charset="-122"/>
                <a:cs typeface="Calibri" pitchFamily="34" charset="-120"/>
              </a:rPr>
              <a:t>COMMISSION DISCIPLINAIRE</a:t>
            </a:r>
            <a:endParaRPr lang="en-US" sz="820" dirty="0"/>
          </a:p>
        </p:txBody>
      </p:sp>
      <p:sp>
        <p:nvSpPr>
          <p:cNvPr id="51" name="Text 49"/>
          <p:cNvSpPr/>
          <p:nvPr/>
        </p:nvSpPr>
        <p:spPr>
          <a:xfrm>
            <a:off x="4800600" y="4361688"/>
            <a:ext cx="4005072" cy="621792"/>
          </a:xfrm>
          <a:prstGeom prst="rect">
            <a:avLst/>
          </a:prstGeom>
          <a:noFill/>
          <a:ln/>
        </p:spPr>
        <p:txBody>
          <a:bodyPr wrap="square" rtlCol="0" anchor="t"/>
          <a:lstStyle/>
          <a:p>
            <a:pPr marL="0" indent="0">
              <a:buNone/>
            </a:pPr>
            <a:r>
              <a:rPr lang="en-US" sz="800" dirty="0">
                <a:solidFill>
                  <a:srgbClr val="3A3A3A"/>
                </a:solidFill>
                <a:latin typeface="Calibri" pitchFamily="34" charset="0"/>
                <a:ea typeface="Calibri" pitchFamily="34" charset="-122"/>
                <a:cs typeface="Calibri" pitchFamily="34" charset="-120"/>
              </a:rPr>
              <a:t>3 sections spécialisées : Taxi / VTC / VMDTR.</a:t>
            </a:r>
            <a:endParaRPr lang="en-US" sz="800" dirty="0"/>
          </a:p>
          <a:p>
            <a:pPr marL="0" indent="0">
              <a:buNone/>
            </a:pPr>
            <a:r>
              <a:rPr lang="en-US" sz="800" dirty="0">
                <a:solidFill>
                  <a:srgbClr val="3A3A3A"/>
                </a:solidFill>
                <a:latin typeface="Calibri" pitchFamily="34" charset="0"/>
                <a:ea typeface="Calibri" pitchFamily="34" charset="-122"/>
                <a:cs typeface="Calibri" pitchFamily="34" charset="-120"/>
              </a:rPr>
              <a:t>Composée à parts égales : collège de l'État + collège des professionnels.</a:t>
            </a:r>
            <a:endParaRPr lang="en-US" sz="800" dirty="0"/>
          </a:p>
          <a:p>
            <a:pPr marL="0" indent="0">
              <a:buNone/>
            </a:pPr>
            <a:r>
              <a:rPr lang="en-US" sz="800" dirty="0">
                <a:solidFill>
                  <a:srgbClr val="3A3A3A"/>
                </a:solidFill>
                <a:latin typeface="Calibri" pitchFamily="34" charset="0"/>
                <a:ea typeface="Calibri" pitchFamily="34" charset="-122"/>
                <a:cs typeface="Calibri" pitchFamily="34" charset="-120"/>
              </a:rPr>
              <a:t>L'inculpé peut venir avec une personne de son choix.</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7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Synthèse — VSS et discriminations (p.121-122)</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0/88</a:t>
            </a:r>
            <a:endParaRPr lang="en-US" sz="800" dirty="0"/>
          </a:p>
        </p:txBody>
      </p:sp>
      <p:sp>
        <p:nvSpPr>
          <p:cNvPr id="8" name="Shape 6"/>
          <p:cNvSpPr/>
          <p:nvPr/>
        </p:nvSpPr>
        <p:spPr>
          <a:xfrm>
            <a:off x="274320" y="932688"/>
            <a:ext cx="8595360" cy="256032"/>
          </a:xfrm>
          <a:prstGeom prst="rect">
            <a:avLst/>
          </a:prstGeom>
          <a:solidFill>
            <a:srgbClr val="1A3A5C"/>
          </a:solidFill>
          <a:ln w="12700">
            <a:solidFill>
              <a:srgbClr val="1A3A5C"/>
            </a:solidFill>
            <a:prstDash val="solid"/>
          </a:ln>
        </p:spPr>
        <p:txBody>
          <a:bodyPr/>
          <a:lstStyle/>
          <a:p>
            <a:endParaRPr lang="fr-FR"/>
          </a:p>
        </p:txBody>
      </p:sp>
      <p:sp>
        <p:nvSpPr>
          <p:cNvPr id="9" name="Text 7"/>
          <p:cNvSpPr/>
          <p:nvPr/>
        </p:nvSpPr>
        <p:spPr>
          <a:xfrm>
            <a:off x="274320" y="932688"/>
            <a:ext cx="859536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LES 4 INFRACTIONS SEXUELLES ET/OU SEXISTES — DÉFINITIONS ET PEINES</a:t>
            </a:r>
            <a:endParaRPr lang="en-US" sz="1000" dirty="0"/>
          </a:p>
        </p:txBody>
      </p:sp>
      <p:sp>
        <p:nvSpPr>
          <p:cNvPr id="10" name="Shape 8"/>
          <p:cNvSpPr/>
          <p:nvPr/>
        </p:nvSpPr>
        <p:spPr>
          <a:xfrm>
            <a:off x="274320" y="1261872"/>
            <a:ext cx="4279392" cy="1691640"/>
          </a:xfrm>
          <a:prstGeom prst="rect">
            <a:avLst/>
          </a:prstGeom>
          <a:solidFill>
            <a:srgbClr val="E8F1FA"/>
          </a:solidFill>
          <a:ln w="6350">
            <a:solidFill>
              <a:srgbClr val="D0DCE8"/>
            </a:solidFill>
            <a:prstDash val="solid"/>
          </a:ln>
        </p:spPr>
        <p:txBody>
          <a:bodyPr/>
          <a:lstStyle/>
          <a:p>
            <a:endParaRPr lang="fr-FR"/>
          </a:p>
        </p:txBody>
      </p:sp>
      <p:sp>
        <p:nvSpPr>
          <p:cNvPr id="11" name="Shape 9"/>
          <p:cNvSpPr/>
          <p:nvPr/>
        </p:nvSpPr>
        <p:spPr>
          <a:xfrm>
            <a:off x="274320" y="1261872"/>
            <a:ext cx="4279392" cy="256032"/>
          </a:xfrm>
          <a:prstGeom prst="rect">
            <a:avLst/>
          </a:prstGeom>
          <a:solidFill>
            <a:srgbClr val="C0392B"/>
          </a:solidFill>
          <a:ln w="12700">
            <a:solidFill>
              <a:srgbClr val="C0392B"/>
            </a:solidFill>
            <a:prstDash val="solid"/>
          </a:ln>
        </p:spPr>
        <p:txBody>
          <a:bodyPr/>
          <a:lstStyle/>
          <a:p>
            <a:endParaRPr lang="fr-FR"/>
          </a:p>
        </p:txBody>
      </p:sp>
      <p:sp>
        <p:nvSpPr>
          <p:cNvPr id="12" name="Text 10"/>
          <p:cNvSpPr/>
          <p:nvPr/>
        </p:nvSpPr>
        <p:spPr>
          <a:xfrm>
            <a:off x="347472" y="1261872"/>
            <a:ext cx="4133088"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LE VIOL</a:t>
            </a:r>
            <a:endParaRPr lang="en-US" sz="1000" dirty="0"/>
          </a:p>
        </p:txBody>
      </p:sp>
      <p:sp>
        <p:nvSpPr>
          <p:cNvPr id="13" name="Text 11"/>
          <p:cNvSpPr/>
          <p:nvPr/>
        </p:nvSpPr>
        <p:spPr>
          <a:xfrm>
            <a:off x="365760" y="1536192"/>
            <a:ext cx="2743200" cy="1389888"/>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Acte de pénétration sexuelle ou acte bucco-génital commis sur une personne avec violence, contrainte, menace ou surprise, SANS son consentement.</a:t>
            </a:r>
            <a:endParaRPr lang="en-US" sz="850" dirty="0"/>
          </a:p>
        </p:txBody>
      </p:sp>
      <p:sp>
        <p:nvSpPr>
          <p:cNvPr id="14" name="Shape 12"/>
          <p:cNvSpPr/>
          <p:nvPr/>
        </p:nvSpPr>
        <p:spPr>
          <a:xfrm>
            <a:off x="3154680" y="1517904"/>
            <a:ext cx="1399032" cy="1435608"/>
          </a:xfrm>
          <a:prstGeom prst="rect">
            <a:avLst/>
          </a:prstGeom>
          <a:solidFill>
            <a:srgbClr val="C0392B"/>
          </a:solidFill>
          <a:ln w="12700">
            <a:solidFill>
              <a:srgbClr val="C0392B"/>
            </a:solidFill>
            <a:prstDash val="solid"/>
          </a:ln>
        </p:spPr>
        <p:txBody>
          <a:bodyPr/>
          <a:lstStyle/>
          <a:p>
            <a:endParaRPr lang="fr-FR"/>
          </a:p>
        </p:txBody>
      </p:sp>
      <p:sp>
        <p:nvSpPr>
          <p:cNvPr id="15" name="Text 13"/>
          <p:cNvSpPr/>
          <p:nvPr/>
        </p:nvSpPr>
        <p:spPr>
          <a:xfrm>
            <a:off x="3182112" y="1536192"/>
            <a:ext cx="1353312" cy="1399032"/>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15 ans de réclusion criminelle</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(peine de prison prononcée en cas de crime)</a:t>
            </a:r>
            <a:endParaRPr lang="en-US" sz="850" dirty="0"/>
          </a:p>
        </p:txBody>
      </p:sp>
      <p:sp>
        <p:nvSpPr>
          <p:cNvPr id="16" name="Shape 14"/>
          <p:cNvSpPr/>
          <p:nvPr/>
        </p:nvSpPr>
        <p:spPr>
          <a:xfrm>
            <a:off x="4663440" y="1261872"/>
            <a:ext cx="4279392" cy="1691640"/>
          </a:xfrm>
          <a:prstGeom prst="rect">
            <a:avLst/>
          </a:prstGeom>
          <a:solidFill>
            <a:srgbClr val="E8F1FA"/>
          </a:solidFill>
          <a:ln w="6350">
            <a:solidFill>
              <a:srgbClr val="D0DCE8"/>
            </a:solidFill>
            <a:prstDash val="solid"/>
          </a:ln>
        </p:spPr>
        <p:txBody>
          <a:bodyPr/>
          <a:lstStyle/>
          <a:p>
            <a:endParaRPr lang="fr-FR"/>
          </a:p>
        </p:txBody>
      </p:sp>
      <p:sp>
        <p:nvSpPr>
          <p:cNvPr id="17" name="Shape 15"/>
          <p:cNvSpPr/>
          <p:nvPr/>
        </p:nvSpPr>
        <p:spPr>
          <a:xfrm>
            <a:off x="4663440" y="1261872"/>
            <a:ext cx="4279392" cy="256032"/>
          </a:xfrm>
          <a:prstGeom prst="rect">
            <a:avLst/>
          </a:prstGeom>
          <a:solidFill>
            <a:srgbClr val="D4530A"/>
          </a:solidFill>
          <a:ln w="12700">
            <a:solidFill>
              <a:srgbClr val="D4530A"/>
            </a:solidFill>
            <a:prstDash val="solid"/>
          </a:ln>
        </p:spPr>
        <p:txBody>
          <a:bodyPr/>
          <a:lstStyle/>
          <a:p>
            <a:endParaRPr lang="fr-FR"/>
          </a:p>
        </p:txBody>
      </p:sp>
      <p:sp>
        <p:nvSpPr>
          <p:cNvPr id="18" name="Text 16"/>
          <p:cNvSpPr/>
          <p:nvPr/>
        </p:nvSpPr>
        <p:spPr>
          <a:xfrm>
            <a:off x="4736592" y="1261872"/>
            <a:ext cx="4133088"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L'AGRESSION SEXUELLE</a:t>
            </a:r>
            <a:endParaRPr lang="en-US" sz="1000" dirty="0"/>
          </a:p>
        </p:txBody>
      </p:sp>
      <p:sp>
        <p:nvSpPr>
          <p:cNvPr id="19" name="Text 17"/>
          <p:cNvSpPr/>
          <p:nvPr/>
        </p:nvSpPr>
        <p:spPr>
          <a:xfrm>
            <a:off x="4754880" y="1536192"/>
            <a:ext cx="2743200" cy="1389888"/>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Atteinte sexuelle commise sur une personne avec violence, contrainte, menace ou surprise, sans son consentement. (Ex : attouchements, actes sous contrainte...)</a:t>
            </a:r>
            <a:endParaRPr lang="en-US" sz="850" dirty="0"/>
          </a:p>
        </p:txBody>
      </p:sp>
      <p:sp>
        <p:nvSpPr>
          <p:cNvPr id="20" name="Shape 18"/>
          <p:cNvSpPr/>
          <p:nvPr/>
        </p:nvSpPr>
        <p:spPr>
          <a:xfrm>
            <a:off x="7543800" y="1517904"/>
            <a:ext cx="1399032" cy="1435608"/>
          </a:xfrm>
          <a:prstGeom prst="rect">
            <a:avLst/>
          </a:prstGeom>
          <a:solidFill>
            <a:srgbClr val="D4530A"/>
          </a:solidFill>
          <a:ln w="12700">
            <a:solidFill>
              <a:srgbClr val="D4530A"/>
            </a:solidFill>
            <a:prstDash val="solid"/>
          </a:ln>
        </p:spPr>
        <p:txBody>
          <a:bodyPr/>
          <a:lstStyle/>
          <a:p>
            <a:endParaRPr lang="fr-FR"/>
          </a:p>
        </p:txBody>
      </p:sp>
      <p:sp>
        <p:nvSpPr>
          <p:cNvPr id="21" name="Text 19"/>
          <p:cNvSpPr/>
          <p:nvPr/>
        </p:nvSpPr>
        <p:spPr>
          <a:xfrm>
            <a:off x="7571232" y="1536192"/>
            <a:ext cx="1353312" cy="1399032"/>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5 ans d'emprisonnement</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et 75 000 € d'amende</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(voire plus selon circonstances)</a:t>
            </a:r>
            <a:endParaRPr lang="en-US" sz="850" dirty="0"/>
          </a:p>
        </p:txBody>
      </p:sp>
      <p:sp>
        <p:nvSpPr>
          <p:cNvPr id="22" name="Shape 20"/>
          <p:cNvSpPr/>
          <p:nvPr/>
        </p:nvSpPr>
        <p:spPr>
          <a:xfrm>
            <a:off x="274320" y="3044952"/>
            <a:ext cx="4279392" cy="1691640"/>
          </a:xfrm>
          <a:prstGeom prst="rect">
            <a:avLst/>
          </a:prstGeom>
          <a:solidFill>
            <a:srgbClr val="E8F1FA"/>
          </a:solidFill>
          <a:ln w="6350">
            <a:solidFill>
              <a:srgbClr val="D0DCE8"/>
            </a:solidFill>
            <a:prstDash val="solid"/>
          </a:ln>
        </p:spPr>
        <p:txBody>
          <a:bodyPr/>
          <a:lstStyle/>
          <a:p>
            <a:endParaRPr lang="fr-FR"/>
          </a:p>
        </p:txBody>
      </p:sp>
      <p:sp>
        <p:nvSpPr>
          <p:cNvPr id="23" name="Shape 21"/>
          <p:cNvSpPr/>
          <p:nvPr/>
        </p:nvSpPr>
        <p:spPr>
          <a:xfrm>
            <a:off x="274320" y="3044952"/>
            <a:ext cx="4279392" cy="256032"/>
          </a:xfrm>
          <a:prstGeom prst="rect">
            <a:avLst/>
          </a:prstGeom>
          <a:solidFill>
            <a:srgbClr val="F4A227"/>
          </a:solidFill>
          <a:ln w="12700">
            <a:solidFill>
              <a:srgbClr val="F4A227"/>
            </a:solidFill>
            <a:prstDash val="solid"/>
          </a:ln>
        </p:spPr>
        <p:txBody>
          <a:bodyPr/>
          <a:lstStyle/>
          <a:p>
            <a:endParaRPr lang="fr-FR"/>
          </a:p>
        </p:txBody>
      </p:sp>
      <p:sp>
        <p:nvSpPr>
          <p:cNvPr id="24" name="Text 22"/>
          <p:cNvSpPr/>
          <p:nvPr/>
        </p:nvSpPr>
        <p:spPr>
          <a:xfrm>
            <a:off x="347472" y="3044952"/>
            <a:ext cx="4133088"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LE HARCÈLEMENT SEXUEL</a:t>
            </a:r>
            <a:endParaRPr lang="en-US" sz="1000" dirty="0"/>
          </a:p>
        </p:txBody>
      </p:sp>
      <p:sp>
        <p:nvSpPr>
          <p:cNvPr id="25" name="Text 23"/>
          <p:cNvSpPr/>
          <p:nvPr/>
        </p:nvSpPr>
        <p:spPr>
          <a:xfrm>
            <a:off x="365760" y="3319272"/>
            <a:ext cx="2743200" cy="1389888"/>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Le fait d'imposer à une personne, de façon RÉPÉTÉE, des propos ou comportements à connotation sexuelle ou sexiste SANS son consentement.</a:t>
            </a:r>
            <a:endParaRPr lang="en-US" sz="850" dirty="0"/>
          </a:p>
        </p:txBody>
      </p:sp>
      <p:sp>
        <p:nvSpPr>
          <p:cNvPr id="26" name="Shape 24"/>
          <p:cNvSpPr/>
          <p:nvPr/>
        </p:nvSpPr>
        <p:spPr>
          <a:xfrm>
            <a:off x="3154680" y="3300984"/>
            <a:ext cx="1399032" cy="1435608"/>
          </a:xfrm>
          <a:prstGeom prst="rect">
            <a:avLst/>
          </a:prstGeom>
          <a:solidFill>
            <a:srgbClr val="F4A227"/>
          </a:solidFill>
          <a:ln w="12700">
            <a:solidFill>
              <a:srgbClr val="F4A227"/>
            </a:solidFill>
            <a:prstDash val="solid"/>
          </a:ln>
        </p:spPr>
        <p:txBody>
          <a:bodyPr/>
          <a:lstStyle/>
          <a:p>
            <a:endParaRPr lang="fr-FR"/>
          </a:p>
        </p:txBody>
      </p:sp>
      <p:sp>
        <p:nvSpPr>
          <p:cNvPr id="27" name="Text 25"/>
          <p:cNvSpPr/>
          <p:nvPr/>
        </p:nvSpPr>
        <p:spPr>
          <a:xfrm>
            <a:off x="3182112" y="3319272"/>
            <a:ext cx="1353312" cy="1399032"/>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 ans d'emprisonnement</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et 30 000 € d'amende</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(voire plus selon circonstances)</a:t>
            </a:r>
            <a:endParaRPr lang="en-US" sz="850" dirty="0"/>
          </a:p>
        </p:txBody>
      </p:sp>
      <p:sp>
        <p:nvSpPr>
          <p:cNvPr id="28" name="Shape 26"/>
          <p:cNvSpPr/>
          <p:nvPr/>
        </p:nvSpPr>
        <p:spPr>
          <a:xfrm>
            <a:off x="4663440" y="3044952"/>
            <a:ext cx="4279392" cy="1691640"/>
          </a:xfrm>
          <a:prstGeom prst="rect">
            <a:avLst/>
          </a:prstGeom>
          <a:solidFill>
            <a:srgbClr val="E8F1FA"/>
          </a:solidFill>
          <a:ln w="6350">
            <a:solidFill>
              <a:srgbClr val="D0DCE8"/>
            </a:solidFill>
            <a:prstDash val="solid"/>
          </a:ln>
        </p:spPr>
        <p:txBody>
          <a:bodyPr/>
          <a:lstStyle/>
          <a:p>
            <a:endParaRPr lang="fr-FR"/>
          </a:p>
        </p:txBody>
      </p:sp>
      <p:sp>
        <p:nvSpPr>
          <p:cNvPr id="29" name="Shape 27"/>
          <p:cNvSpPr/>
          <p:nvPr/>
        </p:nvSpPr>
        <p:spPr>
          <a:xfrm>
            <a:off x="4663440" y="3044952"/>
            <a:ext cx="4279392" cy="256032"/>
          </a:xfrm>
          <a:prstGeom prst="rect">
            <a:avLst/>
          </a:prstGeom>
          <a:solidFill>
            <a:srgbClr val="2860A8"/>
          </a:solidFill>
          <a:ln w="12700">
            <a:solidFill>
              <a:srgbClr val="2860A8"/>
            </a:solidFill>
            <a:prstDash val="solid"/>
          </a:ln>
        </p:spPr>
        <p:txBody>
          <a:bodyPr/>
          <a:lstStyle/>
          <a:p>
            <a:endParaRPr lang="fr-FR"/>
          </a:p>
        </p:txBody>
      </p:sp>
      <p:sp>
        <p:nvSpPr>
          <p:cNvPr id="30" name="Text 28"/>
          <p:cNvSpPr/>
          <p:nvPr/>
        </p:nvSpPr>
        <p:spPr>
          <a:xfrm>
            <a:off x="4736592" y="3044952"/>
            <a:ext cx="4133088"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L'OUTRAGE SEXISTE OU SEXUEL</a:t>
            </a:r>
            <a:endParaRPr lang="en-US" sz="1000" dirty="0"/>
          </a:p>
        </p:txBody>
      </p:sp>
      <p:sp>
        <p:nvSpPr>
          <p:cNvPr id="31" name="Text 29"/>
          <p:cNvSpPr/>
          <p:nvPr/>
        </p:nvSpPr>
        <p:spPr>
          <a:xfrm>
            <a:off x="4754880" y="3319272"/>
            <a:ext cx="2743200" cy="1389888"/>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Tout propos ou comportement à connotation sexuelle ou sexiste à l'encontre d'une personne. (Ex : sifflements, remarques sur le corps, propositions sexuelles à un(e) inconnu(e)...)</a:t>
            </a:r>
            <a:endParaRPr lang="en-US" sz="850" dirty="0"/>
          </a:p>
        </p:txBody>
      </p:sp>
      <p:sp>
        <p:nvSpPr>
          <p:cNvPr id="32" name="Shape 30"/>
          <p:cNvSpPr/>
          <p:nvPr/>
        </p:nvSpPr>
        <p:spPr>
          <a:xfrm>
            <a:off x="7543800" y="3300984"/>
            <a:ext cx="1399032" cy="1435608"/>
          </a:xfrm>
          <a:prstGeom prst="rect">
            <a:avLst/>
          </a:prstGeom>
          <a:solidFill>
            <a:srgbClr val="2860A8"/>
          </a:solidFill>
          <a:ln w="12700">
            <a:solidFill>
              <a:srgbClr val="2860A8"/>
            </a:solidFill>
            <a:prstDash val="solid"/>
          </a:ln>
        </p:spPr>
        <p:txBody>
          <a:bodyPr/>
          <a:lstStyle/>
          <a:p>
            <a:endParaRPr lang="fr-FR"/>
          </a:p>
        </p:txBody>
      </p:sp>
      <p:sp>
        <p:nvSpPr>
          <p:cNvPr id="33" name="Text 31"/>
          <p:cNvSpPr/>
          <p:nvPr/>
        </p:nvSpPr>
        <p:spPr>
          <a:xfrm>
            <a:off x="7571232" y="3319272"/>
            <a:ext cx="1353312" cy="1399032"/>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Amende de 3 750 €</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Délit si aggravé</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(voire plus selon circonstances)</a:t>
            </a:r>
            <a:endParaRPr lang="en-US" sz="850" dirty="0"/>
          </a:p>
        </p:txBody>
      </p:sp>
      <p:sp>
        <p:nvSpPr>
          <p:cNvPr id="34" name="Shape 32"/>
          <p:cNvSpPr/>
          <p:nvPr/>
        </p:nvSpPr>
        <p:spPr>
          <a:xfrm>
            <a:off x="274320" y="4910328"/>
            <a:ext cx="8595360" cy="292608"/>
          </a:xfrm>
          <a:prstGeom prst="rect">
            <a:avLst/>
          </a:prstGeom>
          <a:solidFill>
            <a:srgbClr val="FFFBEB"/>
          </a:solidFill>
          <a:ln w="19050">
            <a:solidFill>
              <a:srgbClr val="F4A227"/>
            </a:solidFill>
            <a:prstDash val="solid"/>
          </a:ln>
        </p:spPr>
        <p:txBody>
          <a:bodyPr/>
          <a:lstStyle/>
          <a:p>
            <a:endParaRPr lang="fr-FR"/>
          </a:p>
        </p:txBody>
      </p:sp>
      <p:sp>
        <p:nvSpPr>
          <p:cNvPr id="35" name="Shape 33"/>
          <p:cNvSpPr/>
          <p:nvPr/>
        </p:nvSpPr>
        <p:spPr>
          <a:xfrm>
            <a:off x="274320" y="4910328"/>
            <a:ext cx="54864" cy="292608"/>
          </a:xfrm>
          <a:prstGeom prst="rect">
            <a:avLst/>
          </a:prstGeom>
          <a:solidFill>
            <a:srgbClr val="F4A227"/>
          </a:solidFill>
          <a:ln w="12700">
            <a:solidFill>
              <a:srgbClr val="F4A227"/>
            </a:solidFill>
            <a:prstDash val="solid"/>
          </a:ln>
        </p:spPr>
        <p:txBody>
          <a:bodyPr/>
          <a:lstStyle/>
          <a:p>
            <a:endParaRPr lang="fr-FR"/>
          </a:p>
        </p:txBody>
      </p:sp>
      <p:sp>
        <p:nvSpPr>
          <p:cNvPr id="36" name="Text 34"/>
          <p:cNvSpPr/>
          <p:nvPr/>
        </p:nvSpPr>
        <p:spPr>
          <a:xfrm>
            <a:off x="384048" y="4910328"/>
            <a:ext cx="8467344" cy="29260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ℹ  Les discriminations (art. 225-1 Code pénal) : 3 ans d'emprisonnement et 45 000 € d'amende. Critères protégés : origine, sexe, situation de famille, grossesse, apparence physique, patronyme, lieu de résidence, état de santé, perte d'autonomie, handicap, caractéristiques génétiques, moeurs, orientation sexuelle, identité de genre, âge, opinions politiques, activités syndicales, appartenance à une ethnie/nation/prétendue race, religion vraie ou supposée.</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80">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Fiches à retenir — Schémas de synthèse</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Les notions essentielles pour l'examen T3P</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44/88</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8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À RETENIR 1 — Définition du T3P</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45/88</a:t>
            </a:r>
            <a:endParaRPr lang="en-US" sz="800" dirty="0"/>
          </a:p>
        </p:txBody>
      </p:sp>
      <p:sp>
        <p:nvSpPr>
          <p:cNvPr id="8" name="Shape 6"/>
          <p:cNvSpPr/>
          <p:nvPr/>
        </p:nvSpPr>
        <p:spPr>
          <a:xfrm>
            <a:off x="274320" y="914400"/>
            <a:ext cx="8595360" cy="438912"/>
          </a:xfrm>
          <a:prstGeom prst="rect">
            <a:avLst/>
          </a:prstGeom>
          <a:solidFill>
            <a:srgbClr val="1A3A5C"/>
          </a:solidFill>
          <a:ln w="12700">
            <a:solidFill>
              <a:srgbClr val="1A3A5C"/>
            </a:solidFill>
            <a:prstDash val="solid"/>
          </a:ln>
        </p:spPr>
        <p:txBody>
          <a:bodyPr/>
          <a:lstStyle/>
          <a:p>
            <a:endParaRPr lang="fr-FR"/>
          </a:p>
        </p:txBody>
      </p:sp>
      <p:sp>
        <p:nvSpPr>
          <p:cNvPr id="9" name="Text 7"/>
          <p:cNvSpPr/>
          <p:nvPr/>
        </p:nvSpPr>
        <p:spPr>
          <a:xfrm>
            <a:off x="274320" y="914400"/>
            <a:ext cx="8595360" cy="43891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T3P = TRANSPORT PUBLIC PARTICULIER DE PERSONNES</a:t>
            </a:r>
            <a:endParaRPr lang="en-US" sz="1400" dirty="0"/>
          </a:p>
        </p:txBody>
      </p:sp>
      <p:sp>
        <p:nvSpPr>
          <p:cNvPr id="10" name="Shape 8"/>
          <p:cNvSpPr/>
          <p:nvPr/>
        </p:nvSpPr>
        <p:spPr>
          <a:xfrm>
            <a:off x="274320" y="1444752"/>
            <a:ext cx="8595360" cy="1170432"/>
          </a:xfrm>
          <a:prstGeom prst="rect">
            <a:avLst/>
          </a:prstGeom>
          <a:solidFill>
            <a:srgbClr val="EBF3FC"/>
          </a:solidFill>
          <a:ln w="19050">
            <a:solidFill>
              <a:srgbClr val="2860A8"/>
            </a:solidFill>
            <a:prstDash val="solid"/>
          </a:ln>
        </p:spPr>
        <p:txBody>
          <a:bodyPr/>
          <a:lstStyle/>
          <a:p>
            <a:endParaRPr lang="fr-FR"/>
          </a:p>
        </p:txBody>
      </p:sp>
      <p:sp>
        <p:nvSpPr>
          <p:cNvPr id="11" name="Shape 9"/>
          <p:cNvSpPr/>
          <p:nvPr/>
        </p:nvSpPr>
        <p:spPr>
          <a:xfrm>
            <a:off x="274320" y="1444752"/>
            <a:ext cx="54864" cy="1170432"/>
          </a:xfrm>
          <a:prstGeom prst="rect">
            <a:avLst/>
          </a:prstGeom>
          <a:solidFill>
            <a:srgbClr val="2860A8"/>
          </a:solidFill>
          <a:ln w="12700">
            <a:solidFill>
              <a:srgbClr val="2860A8"/>
            </a:solidFill>
            <a:prstDash val="solid"/>
          </a:ln>
        </p:spPr>
        <p:txBody>
          <a:bodyPr/>
          <a:lstStyle/>
          <a:p>
            <a:endParaRPr lang="fr-FR"/>
          </a:p>
        </p:txBody>
      </p:sp>
      <p:sp>
        <p:nvSpPr>
          <p:cNvPr id="12" name="Text 10"/>
          <p:cNvSpPr/>
          <p:nvPr/>
        </p:nvSpPr>
        <p:spPr>
          <a:xfrm>
            <a:off x="457200" y="1463040"/>
            <a:ext cx="8229600" cy="256032"/>
          </a:xfrm>
          <a:prstGeom prst="rect">
            <a:avLst/>
          </a:prstGeom>
          <a:noFill/>
          <a:ln/>
        </p:spPr>
        <p:txBody>
          <a:bodyPr wrap="square" rtlCol="0" anchor="ctr"/>
          <a:lstStyle/>
          <a:p>
            <a:pPr marL="0" indent="0">
              <a:buNone/>
            </a:pPr>
            <a:r>
              <a:rPr lang="en-US" sz="1000" b="1" dirty="0">
                <a:solidFill>
                  <a:srgbClr val="1A3A5C"/>
                </a:solidFill>
                <a:latin typeface="Calibri" pitchFamily="34" charset="0"/>
                <a:ea typeface="Calibri" pitchFamily="34" charset="-122"/>
                <a:cs typeface="Calibri" pitchFamily="34" charset="-120"/>
              </a:rPr>
              <a:t>DÉFINITION LÉGALE (Code des transports) :</a:t>
            </a:r>
            <a:endParaRPr lang="en-US" sz="1000" dirty="0"/>
          </a:p>
        </p:txBody>
      </p:sp>
      <p:sp>
        <p:nvSpPr>
          <p:cNvPr id="13" name="Text 11"/>
          <p:cNvSpPr/>
          <p:nvPr/>
        </p:nvSpPr>
        <p:spPr>
          <a:xfrm>
            <a:off x="457200" y="1737360"/>
            <a:ext cx="8229600" cy="841248"/>
          </a:xfrm>
          <a:prstGeom prst="rect">
            <a:avLst/>
          </a:prstGeom>
          <a:noFill/>
          <a:ln/>
        </p:spPr>
        <p:txBody>
          <a:bodyPr wrap="square" rtlCol="0" anchor="t"/>
          <a:lstStyle/>
          <a:p>
            <a:pPr marL="0" indent="0">
              <a:buNone/>
            </a:pPr>
            <a:r>
              <a:rPr lang="en-US" sz="1000" i="1" dirty="0">
                <a:solidFill>
                  <a:srgbClr val="3A3A3A"/>
                </a:solidFill>
                <a:latin typeface="Calibri" pitchFamily="34" charset="0"/>
                <a:ea typeface="Calibri" pitchFamily="34" charset="-122"/>
                <a:cs typeface="Calibri" pitchFamily="34" charset="-120"/>
              </a:rPr>
              <a:t>Les prestations de transports publics particuliers sont des prestations de transport public routier de personnes qui ne relèvent ni des transports publics collectifs ni du transport privé routier de personnes. Ces prestations peuvent être proposées à autant de personnes que de places disponibles dans le véhicule. Elles sont exécutées, à titre onéreux (payant), par les taxis, les voitures de transport avec chauffeur et les véhicules motorisés à deux ou trois roues.</a:t>
            </a:r>
            <a:endParaRPr lang="en-US" sz="1000" dirty="0"/>
          </a:p>
        </p:txBody>
      </p:sp>
      <p:sp>
        <p:nvSpPr>
          <p:cNvPr id="14" name="Shape 12"/>
          <p:cNvSpPr/>
          <p:nvPr/>
        </p:nvSpPr>
        <p:spPr>
          <a:xfrm>
            <a:off x="274320" y="2724912"/>
            <a:ext cx="2743200" cy="1051560"/>
          </a:xfrm>
          <a:prstGeom prst="rect">
            <a:avLst/>
          </a:prstGeom>
          <a:solidFill>
            <a:srgbClr val="E8F1FA"/>
          </a:solidFill>
          <a:ln w="6350">
            <a:solidFill>
              <a:srgbClr val="D0DCE8"/>
            </a:solidFill>
            <a:prstDash val="solid"/>
          </a:ln>
        </p:spPr>
        <p:txBody>
          <a:bodyPr/>
          <a:lstStyle/>
          <a:p>
            <a:endParaRPr lang="fr-FR"/>
          </a:p>
        </p:txBody>
      </p:sp>
      <p:sp>
        <p:nvSpPr>
          <p:cNvPr id="15" name="Shape 13"/>
          <p:cNvSpPr/>
          <p:nvPr/>
        </p:nvSpPr>
        <p:spPr>
          <a:xfrm>
            <a:off x="274320" y="2724912"/>
            <a:ext cx="2743200" cy="384048"/>
          </a:xfrm>
          <a:prstGeom prst="rect">
            <a:avLst/>
          </a:prstGeom>
          <a:solidFill>
            <a:srgbClr val="2860A8"/>
          </a:solidFill>
          <a:ln w="12700">
            <a:solidFill>
              <a:srgbClr val="2860A8"/>
            </a:solidFill>
            <a:prstDash val="solid"/>
          </a:ln>
        </p:spPr>
        <p:txBody>
          <a:bodyPr/>
          <a:lstStyle/>
          <a:p>
            <a:endParaRPr lang="fr-FR"/>
          </a:p>
        </p:txBody>
      </p:sp>
      <p:sp>
        <p:nvSpPr>
          <p:cNvPr id="16" name="Text 14"/>
          <p:cNvSpPr/>
          <p:nvPr/>
        </p:nvSpPr>
        <p:spPr>
          <a:xfrm>
            <a:off x="329184" y="2724912"/>
            <a:ext cx="26517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NI collectif</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NI privé</a:t>
            </a:r>
            <a:endParaRPr lang="en-US" sz="1200" dirty="0"/>
          </a:p>
        </p:txBody>
      </p:sp>
      <p:sp>
        <p:nvSpPr>
          <p:cNvPr id="17" name="Text 15"/>
          <p:cNvSpPr/>
          <p:nvPr/>
        </p:nvSpPr>
        <p:spPr>
          <a:xfrm>
            <a:off x="365760" y="3136392"/>
            <a:ext cx="2606040" cy="621792"/>
          </a:xfrm>
          <a:prstGeom prst="rect">
            <a:avLst/>
          </a:prstGeom>
          <a:noFill/>
          <a:ln/>
        </p:spPr>
        <p:txBody>
          <a:bodyPr wrap="square" rtlCol="0" anchor="t"/>
          <a:lstStyle/>
          <a:p>
            <a:pPr marL="0" indent="0" algn="ctr">
              <a:buNone/>
            </a:pPr>
            <a:r>
              <a:rPr lang="en-US" sz="1000" dirty="0">
                <a:solidFill>
                  <a:srgbClr val="3A3A3A"/>
                </a:solidFill>
                <a:latin typeface="Calibri" pitchFamily="34" charset="0"/>
                <a:ea typeface="Calibri" pitchFamily="34" charset="-122"/>
                <a:cs typeface="Calibri" pitchFamily="34" charset="-120"/>
              </a:rPr>
              <a:t>Pas un bus ni une navette</a:t>
            </a:r>
            <a:endParaRPr lang="en-US" sz="1000" dirty="0"/>
          </a:p>
          <a:p>
            <a:pPr marL="0" indent="0" algn="ctr">
              <a:buNone/>
            </a:pPr>
            <a:r>
              <a:rPr lang="en-US" sz="1000" dirty="0">
                <a:solidFill>
                  <a:srgbClr val="3A3A3A"/>
                </a:solidFill>
                <a:latin typeface="Calibri" pitchFamily="34" charset="0"/>
                <a:ea typeface="Calibri" pitchFamily="34" charset="-122"/>
                <a:cs typeface="Calibri" pitchFamily="34" charset="-120"/>
              </a:rPr>
              <a:t>d'entreprise — entre les deux</a:t>
            </a:r>
            <a:endParaRPr lang="en-US" sz="1000" dirty="0"/>
          </a:p>
        </p:txBody>
      </p:sp>
      <p:sp>
        <p:nvSpPr>
          <p:cNvPr id="18" name="Shape 16"/>
          <p:cNvSpPr/>
          <p:nvPr/>
        </p:nvSpPr>
        <p:spPr>
          <a:xfrm>
            <a:off x="3154680" y="2724912"/>
            <a:ext cx="2743200" cy="1051560"/>
          </a:xfrm>
          <a:prstGeom prst="rect">
            <a:avLst/>
          </a:prstGeom>
          <a:solidFill>
            <a:srgbClr val="E8F1FA"/>
          </a:solidFill>
          <a:ln w="6350">
            <a:solidFill>
              <a:srgbClr val="D0DCE8"/>
            </a:solidFill>
            <a:prstDash val="solid"/>
          </a:ln>
        </p:spPr>
        <p:txBody>
          <a:bodyPr/>
          <a:lstStyle/>
          <a:p>
            <a:endParaRPr lang="fr-FR"/>
          </a:p>
        </p:txBody>
      </p:sp>
      <p:sp>
        <p:nvSpPr>
          <p:cNvPr id="19" name="Shape 17"/>
          <p:cNvSpPr/>
          <p:nvPr/>
        </p:nvSpPr>
        <p:spPr>
          <a:xfrm>
            <a:off x="3154680" y="2724912"/>
            <a:ext cx="2743200" cy="384048"/>
          </a:xfrm>
          <a:prstGeom prst="rect">
            <a:avLst/>
          </a:prstGeom>
          <a:solidFill>
            <a:srgbClr val="F4A227"/>
          </a:solidFill>
          <a:ln w="12700">
            <a:solidFill>
              <a:srgbClr val="F4A227"/>
            </a:solidFill>
            <a:prstDash val="solid"/>
          </a:ln>
        </p:spPr>
        <p:txBody>
          <a:bodyPr/>
          <a:lstStyle/>
          <a:p>
            <a:endParaRPr lang="fr-FR"/>
          </a:p>
        </p:txBody>
      </p:sp>
      <p:sp>
        <p:nvSpPr>
          <p:cNvPr id="20" name="Text 18"/>
          <p:cNvSpPr/>
          <p:nvPr/>
        </p:nvSpPr>
        <p:spPr>
          <a:xfrm>
            <a:off x="3209544" y="2724912"/>
            <a:ext cx="26517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À titre</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ONÉREUX</a:t>
            </a:r>
            <a:endParaRPr lang="en-US" sz="1200" dirty="0"/>
          </a:p>
        </p:txBody>
      </p:sp>
      <p:sp>
        <p:nvSpPr>
          <p:cNvPr id="21" name="Text 19"/>
          <p:cNvSpPr/>
          <p:nvPr/>
        </p:nvSpPr>
        <p:spPr>
          <a:xfrm>
            <a:off x="3246120" y="3136392"/>
            <a:ext cx="2606040" cy="621792"/>
          </a:xfrm>
          <a:prstGeom prst="rect">
            <a:avLst/>
          </a:prstGeom>
          <a:noFill/>
          <a:ln/>
        </p:spPr>
        <p:txBody>
          <a:bodyPr wrap="square" rtlCol="0" anchor="t"/>
          <a:lstStyle/>
          <a:p>
            <a:pPr marL="0" indent="0" algn="ctr">
              <a:buNone/>
            </a:pPr>
            <a:r>
              <a:rPr lang="en-US" sz="1000" dirty="0">
                <a:solidFill>
                  <a:srgbClr val="3A3A3A"/>
                </a:solidFill>
                <a:latin typeface="Calibri" pitchFamily="34" charset="0"/>
                <a:ea typeface="Calibri" pitchFamily="34" charset="-122"/>
                <a:cs typeface="Calibri" pitchFamily="34" charset="-120"/>
              </a:rPr>
              <a:t>Payant — le client verse</a:t>
            </a:r>
            <a:endParaRPr lang="en-US" sz="1000" dirty="0"/>
          </a:p>
          <a:p>
            <a:pPr marL="0" indent="0" algn="ctr">
              <a:buNone/>
            </a:pPr>
            <a:r>
              <a:rPr lang="en-US" sz="1000" dirty="0">
                <a:solidFill>
                  <a:srgbClr val="3A3A3A"/>
                </a:solidFill>
                <a:latin typeface="Calibri" pitchFamily="34" charset="0"/>
                <a:ea typeface="Calibri" pitchFamily="34" charset="-122"/>
                <a:cs typeface="Calibri" pitchFamily="34" charset="-120"/>
              </a:rPr>
              <a:t>une rémunération</a:t>
            </a:r>
            <a:endParaRPr lang="en-US" sz="1000" dirty="0"/>
          </a:p>
        </p:txBody>
      </p:sp>
      <p:sp>
        <p:nvSpPr>
          <p:cNvPr id="22" name="Shape 20"/>
          <p:cNvSpPr/>
          <p:nvPr/>
        </p:nvSpPr>
        <p:spPr>
          <a:xfrm>
            <a:off x="6035040" y="2724912"/>
            <a:ext cx="2743200" cy="1051560"/>
          </a:xfrm>
          <a:prstGeom prst="rect">
            <a:avLst/>
          </a:prstGeom>
          <a:solidFill>
            <a:srgbClr val="E8F1FA"/>
          </a:solidFill>
          <a:ln w="6350">
            <a:solidFill>
              <a:srgbClr val="D0DCE8"/>
            </a:solidFill>
            <a:prstDash val="solid"/>
          </a:ln>
        </p:spPr>
        <p:txBody>
          <a:bodyPr/>
          <a:lstStyle/>
          <a:p>
            <a:endParaRPr lang="fr-FR"/>
          </a:p>
        </p:txBody>
      </p:sp>
      <p:sp>
        <p:nvSpPr>
          <p:cNvPr id="23" name="Shape 21"/>
          <p:cNvSpPr/>
          <p:nvPr/>
        </p:nvSpPr>
        <p:spPr>
          <a:xfrm>
            <a:off x="6035040" y="2724912"/>
            <a:ext cx="2743200" cy="384048"/>
          </a:xfrm>
          <a:prstGeom prst="rect">
            <a:avLst/>
          </a:prstGeom>
          <a:solidFill>
            <a:srgbClr val="1A3A5C"/>
          </a:solidFill>
          <a:ln w="12700">
            <a:solidFill>
              <a:srgbClr val="1A3A5C"/>
            </a:solidFill>
            <a:prstDash val="solid"/>
          </a:ln>
        </p:spPr>
        <p:txBody>
          <a:bodyPr/>
          <a:lstStyle/>
          <a:p>
            <a:endParaRPr lang="fr-FR"/>
          </a:p>
        </p:txBody>
      </p:sp>
      <p:sp>
        <p:nvSpPr>
          <p:cNvPr id="24" name="Text 22"/>
          <p:cNvSpPr/>
          <p:nvPr/>
        </p:nvSpPr>
        <p:spPr>
          <a:xfrm>
            <a:off x="6089904" y="2724912"/>
            <a:ext cx="26517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Autant de</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passagers</a:t>
            </a:r>
            <a:endParaRPr lang="en-US" sz="1200" dirty="0"/>
          </a:p>
        </p:txBody>
      </p:sp>
      <p:sp>
        <p:nvSpPr>
          <p:cNvPr id="25" name="Text 23"/>
          <p:cNvSpPr/>
          <p:nvPr/>
        </p:nvSpPr>
        <p:spPr>
          <a:xfrm>
            <a:off x="6126480" y="3136392"/>
            <a:ext cx="2606040" cy="621792"/>
          </a:xfrm>
          <a:prstGeom prst="rect">
            <a:avLst/>
          </a:prstGeom>
          <a:noFill/>
          <a:ln/>
        </p:spPr>
        <p:txBody>
          <a:bodyPr wrap="square" rtlCol="0" anchor="t"/>
          <a:lstStyle/>
          <a:p>
            <a:pPr marL="0" indent="0" algn="ctr">
              <a:buNone/>
            </a:pPr>
            <a:r>
              <a:rPr lang="en-US" sz="1000" dirty="0">
                <a:solidFill>
                  <a:srgbClr val="3A3A3A"/>
                </a:solidFill>
                <a:latin typeface="Calibri" pitchFamily="34" charset="0"/>
                <a:ea typeface="Calibri" pitchFamily="34" charset="-122"/>
                <a:cs typeface="Calibri" pitchFamily="34" charset="-120"/>
              </a:rPr>
              <a:t>Que de places dispo</a:t>
            </a:r>
            <a:endParaRPr lang="en-US" sz="1000" dirty="0"/>
          </a:p>
          <a:p>
            <a:pPr marL="0" indent="0" algn="ctr">
              <a:buNone/>
            </a:pPr>
            <a:r>
              <a:rPr lang="en-US" sz="1000" dirty="0">
                <a:solidFill>
                  <a:srgbClr val="3A3A3A"/>
                </a:solidFill>
                <a:latin typeface="Calibri" pitchFamily="34" charset="0"/>
                <a:ea typeface="Calibri" pitchFamily="34" charset="-122"/>
                <a:cs typeface="Calibri" pitchFamily="34" charset="-120"/>
              </a:rPr>
              <a:t>dans le véhicule</a:t>
            </a:r>
            <a:endParaRPr lang="en-US" sz="1000" dirty="0"/>
          </a:p>
        </p:txBody>
      </p:sp>
      <p:sp>
        <p:nvSpPr>
          <p:cNvPr id="26" name="Shape 24"/>
          <p:cNvSpPr/>
          <p:nvPr/>
        </p:nvSpPr>
        <p:spPr>
          <a:xfrm>
            <a:off x="274320" y="3858768"/>
            <a:ext cx="8595360" cy="292608"/>
          </a:xfrm>
          <a:prstGeom prst="rect">
            <a:avLst/>
          </a:prstGeom>
          <a:solidFill>
            <a:srgbClr val="1A3A5C"/>
          </a:solidFill>
          <a:ln w="12700">
            <a:solidFill>
              <a:srgbClr val="1A3A5C"/>
            </a:solidFill>
            <a:prstDash val="solid"/>
          </a:ln>
        </p:spPr>
        <p:txBody>
          <a:bodyPr/>
          <a:lstStyle/>
          <a:p>
            <a:endParaRPr lang="fr-FR"/>
          </a:p>
        </p:txBody>
      </p:sp>
      <p:sp>
        <p:nvSpPr>
          <p:cNvPr id="27" name="Text 25"/>
          <p:cNvSpPr/>
          <p:nvPr/>
        </p:nvSpPr>
        <p:spPr>
          <a:xfrm>
            <a:off x="274320" y="3858768"/>
            <a:ext cx="8595360"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LES 3 PROFESSIONS T3P</a:t>
            </a:r>
            <a:endParaRPr lang="en-US" sz="1100" dirty="0"/>
          </a:p>
        </p:txBody>
      </p:sp>
      <p:sp>
        <p:nvSpPr>
          <p:cNvPr id="28" name="Shape 26"/>
          <p:cNvSpPr/>
          <p:nvPr/>
        </p:nvSpPr>
        <p:spPr>
          <a:xfrm>
            <a:off x="274320" y="4224528"/>
            <a:ext cx="2743200" cy="804672"/>
          </a:xfrm>
          <a:prstGeom prst="rect">
            <a:avLst/>
          </a:prstGeom>
          <a:solidFill>
            <a:srgbClr val="E8F1FA"/>
          </a:solidFill>
          <a:ln w="6350">
            <a:solidFill>
              <a:srgbClr val="D0DCE8"/>
            </a:solidFill>
            <a:prstDash val="solid"/>
          </a:ln>
        </p:spPr>
        <p:txBody>
          <a:bodyPr/>
          <a:lstStyle/>
          <a:p>
            <a:endParaRPr lang="fr-FR"/>
          </a:p>
        </p:txBody>
      </p:sp>
      <p:sp>
        <p:nvSpPr>
          <p:cNvPr id="29" name="Shape 27"/>
          <p:cNvSpPr/>
          <p:nvPr/>
        </p:nvSpPr>
        <p:spPr>
          <a:xfrm>
            <a:off x="274320" y="4224528"/>
            <a:ext cx="2743200" cy="274320"/>
          </a:xfrm>
          <a:prstGeom prst="rect">
            <a:avLst/>
          </a:prstGeom>
          <a:solidFill>
            <a:srgbClr val="1A3A5C"/>
          </a:solidFill>
          <a:ln w="12700">
            <a:solidFill>
              <a:srgbClr val="1A3A5C"/>
            </a:solidFill>
            <a:prstDash val="solid"/>
          </a:ln>
        </p:spPr>
        <p:txBody>
          <a:bodyPr/>
          <a:lstStyle/>
          <a:p>
            <a:endParaRPr lang="fr-FR"/>
          </a:p>
        </p:txBody>
      </p:sp>
      <p:sp>
        <p:nvSpPr>
          <p:cNvPr id="30" name="Text 28"/>
          <p:cNvSpPr/>
          <p:nvPr/>
        </p:nvSpPr>
        <p:spPr>
          <a:xfrm>
            <a:off x="347472" y="4224528"/>
            <a:ext cx="2633472"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TAXI</a:t>
            </a:r>
            <a:endParaRPr lang="en-US" sz="1100" dirty="0"/>
          </a:p>
        </p:txBody>
      </p:sp>
      <p:sp>
        <p:nvSpPr>
          <p:cNvPr id="31" name="Text 29"/>
          <p:cNvSpPr/>
          <p:nvPr/>
        </p:nvSpPr>
        <p:spPr>
          <a:xfrm>
            <a:off x="365760" y="4526280"/>
            <a:ext cx="2606040" cy="502920"/>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Maraude autorisée dans la zone</a:t>
            </a: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Tarif réglementé — ADS obligatoire</a:t>
            </a: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PSC1 obligatoire</a:t>
            </a:r>
            <a:endParaRPr lang="en-US" sz="900" dirty="0"/>
          </a:p>
        </p:txBody>
      </p:sp>
      <p:sp>
        <p:nvSpPr>
          <p:cNvPr id="32" name="Shape 30"/>
          <p:cNvSpPr/>
          <p:nvPr/>
        </p:nvSpPr>
        <p:spPr>
          <a:xfrm>
            <a:off x="3154680" y="4224528"/>
            <a:ext cx="2743200" cy="804672"/>
          </a:xfrm>
          <a:prstGeom prst="rect">
            <a:avLst/>
          </a:prstGeom>
          <a:solidFill>
            <a:srgbClr val="E8F1FA"/>
          </a:solidFill>
          <a:ln w="6350">
            <a:solidFill>
              <a:srgbClr val="D0DCE8"/>
            </a:solidFill>
            <a:prstDash val="solid"/>
          </a:ln>
        </p:spPr>
        <p:txBody>
          <a:bodyPr/>
          <a:lstStyle/>
          <a:p>
            <a:endParaRPr lang="fr-FR"/>
          </a:p>
        </p:txBody>
      </p:sp>
      <p:sp>
        <p:nvSpPr>
          <p:cNvPr id="33" name="Shape 31"/>
          <p:cNvSpPr/>
          <p:nvPr/>
        </p:nvSpPr>
        <p:spPr>
          <a:xfrm>
            <a:off x="3154680" y="4224528"/>
            <a:ext cx="2743200" cy="274320"/>
          </a:xfrm>
          <a:prstGeom prst="rect">
            <a:avLst/>
          </a:prstGeom>
          <a:solidFill>
            <a:srgbClr val="2860A8"/>
          </a:solidFill>
          <a:ln w="12700">
            <a:solidFill>
              <a:srgbClr val="2860A8"/>
            </a:solidFill>
            <a:prstDash val="solid"/>
          </a:ln>
        </p:spPr>
        <p:txBody>
          <a:bodyPr/>
          <a:lstStyle/>
          <a:p>
            <a:endParaRPr lang="fr-FR"/>
          </a:p>
        </p:txBody>
      </p:sp>
      <p:sp>
        <p:nvSpPr>
          <p:cNvPr id="34" name="Text 32"/>
          <p:cNvSpPr/>
          <p:nvPr/>
        </p:nvSpPr>
        <p:spPr>
          <a:xfrm>
            <a:off x="3227832" y="4224528"/>
            <a:ext cx="2633472"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VTC</a:t>
            </a:r>
            <a:endParaRPr lang="en-US" sz="1100" dirty="0"/>
          </a:p>
        </p:txBody>
      </p:sp>
      <p:sp>
        <p:nvSpPr>
          <p:cNvPr id="35" name="Text 33"/>
          <p:cNvSpPr/>
          <p:nvPr/>
        </p:nvSpPr>
        <p:spPr>
          <a:xfrm>
            <a:off x="3246120" y="4526280"/>
            <a:ext cx="2606040" cy="502920"/>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Réservation PRÉALABLE toujours</a:t>
            </a: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Tarif libre fixé à l'avance</a:t>
            </a: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Inscription Registre National VTC</a:t>
            </a:r>
            <a:endParaRPr lang="en-US" sz="900" dirty="0"/>
          </a:p>
        </p:txBody>
      </p:sp>
      <p:sp>
        <p:nvSpPr>
          <p:cNvPr id="36" name="Shape 34"/>
          <p:cNvSpPr/>
          <p:nvPr/>
        </p:nvSpPr>
        <p:spPr>
          <a:xfrm>
            <a:off x="6035040" y="4224528"/>
            <a:ext cx="2743200" cy="804672"/>
          </a:xfrm>
          <a:prstGeom prst="rect">
            <a:avLst/>
          </a:prstGeom>
          <a:solidFill>
            <a:srgbClr val="E8F1FA"/>
          </a:solidFill>
          <a:ln w="6350">
            <a:solidFill>
              <a:srgbClr val="D0DCE8"/>
            </a:solidFill>
            <a:prstDash val="solid"/>
          </a:ln>
        </p:spPr>
        <p:txBody>
          <a:bodyPr/>
          <a:lstStyle/>
          <a:p>
            <a:endParaRPr lang="fr-FR"/>
          </a:p>
        </p:txBody>
      </p:sp>
      <p:sp>
        <p:nvSpPr>
          <p:cNvPr id="37" name="Shape 35"/>
          <p:cNvSpPr/>
          <p:nvPr/>
        </p:nvSpPr>
        <p:spPr>
          <a:xfrm>
            <a:off x="6035040" y="4224528"/>
            <a:ext cx="2743200" cy="274320"/>
          </a:xfrm>
          <a:prstGeom prst="rect">
            <a:avLst/>
          </a:prstGeom>
          <a:solidFill>
            <a:srgbClr val="6B7A8D"/>
          </a:solidFill>
          <a:ln w="12700">
            <a:solidFill>
              <a:srgbClr val="6B7A8D"/>
            </a:solidFill>
            <a:prstDash val="solid"/>
          </a:ln>
        </p:spPr>
        <p:txBody>
          <a:bodyPr/>
          <a:lstStyle/>
          <a:p>
            <a:endParaRPr lang="fr-FR"/>
          </a:p>
        </p:txBody>
      </p:sp>
      <p:sp>
        <p:nvSpPr>
          <p:cNvPr id="38" name="Text 36"/>
          <p:cNvSpPr/>
          <p:nvPr/>
        </p:nvSpPr>
        <p:spPr>
          <a:xfrm>
            <a:off x="6108192" y="4224528"/>
            <a:ext cx="2633472"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VMDTR</a:t>
            </a:r>
            <a:endParaRPr lang="en-US" sz="1100" dirty="0"/>
          </a:p>
        </p:txBody>
      </p:sp>
      <p:sp>
        <p:nvSpPr>
          <p:cNvPr id="39" name="Text 37"/>
          <p:cNvSpPr/>
          <p:nvPr/>
        </p:nvSpPr>
        <p:spPr>
          <a:xfrm>
            <a:off x="6126480" y="4526280"/>
            <a:ext cx="2606040" cy="502920"/>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Max 1 passager — 2 ou 3 roues</a:t>
            </a: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Réservation préalable obligatoire</a:t>
            </a:r>
            <a:endParaRPr lang="en-US" sz="900" dirty="0"/>
          </a:p>
          <a:p>
            <a:pPr marL="0" indent="0">
              <a:buNone/>
            </a:pPr>
            <a:r>
              <a:rPr lang="en-US" sz="900" dirty="0">
                <a:solidFill>
                  <a:srgbClr val="3A3A3A"/>
                </a:solidFill>
                <a:latin typeface="Calibri" pitchFamily="34" charset="0"/>
                <a:ea typeface="Calibri" pitchFamily="34" charset="-122"/>
                <a:cs typeface="Calibri" pitchFamily="34" charset="-120"/>
              </a:rPr>
              <a:t>Même carte pro T3P</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8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À RETENIR 2 — Les cas de non-inscription à un examen T3P</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46/88</a:t>
            </a:r>
            <a:endParaRPr lang="en-US" sz="800" dirty="0"/>
          </a:p>
        </p:txBody>
      </p:sp>
      <p:sp>
        <p:nvSpPr>
          <p:cNvPr id="8" name="Shape 6"/>
          <p:cNvSpPr/>
          <p:nvPr/>
        </p:nvSpPr>
        <p:spPr>
          <a:xfrm>
            <a:off x="274320" y="914400"/>
            <a:ext cx="8595360" cy="411480"/>
          </a:xfrm>
          <a:prstGeom prst="rect">
            <a:avLst/>
          </a:prstGeom>
          <a:solidFill>
            <a:srgbClr val="1A3A5C"/>
          </a:solidFill>
          <a:ln w="12700">
            <a:solidFill>
              <a:srgbClr val="1A3A5C"/>
            </a:solidFill>
            <a:prstDash val="solid"/>
          </a:ln>
        </p:spPr>
        <p:txBody>
          <a:bodyPr/>
          <a:lstStyle/>
          <a:p>
            <a:endParaRPr lang="fr-FR"/>
          </a:p>
        </p:txBody>
      </p:sp>
      <p:sp>
        <p:nvSpPr>
          <p:cNvPr id="9" name="Text 7"/>
          <p:cNvSpPr/>
          <p:nvPr/>
        </p:nvSpPr>
        <p:spPr>
          <a:xfrm>
            <a:off x="274320" y="914400"/>
            <a:ext cx="859536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 SITUATIONS QUI BLOQUENT L'ACCÈS À L'EXAMEN T3P</a:t>
            </a:r>
            <a:endParaRPr lang="en-US" sz="1300" dirty="0"/>
          </a:p>
        </p:txBody>
      </p:sp>
      <p:sp>
        <p:nvSpPr>
          <p:cNvPr id="10" name="Shape 8"/>
          <p:cNvSpPr/>
          <p:nvPr/>
        </p:nvSpPr>
        <p:spPr>
          <a:xfrm>
            <a:off x="274320" y="1417320"/>
            <a:ext cx="2743200" cy="3310128"/>
          </a:xfrm>
          <a:prstGeom prst="rect">
            <a:avLst/>
          </a:prstGeom>
          <a:solidFill>
            <a:srgbClr val="E8F1FA"/>
          </a:solidFill>
          <a:ln w="6350">
            <a:solidFill>
              <a:srgbClr val="D0DCE8"/>
            </a:solidFill>
            <a:prstDash val="solid"/>
          </a:ln>
        </p:spPr>
        <p:txBody>
          <a:bodyPr/>
          <a:lstStyle/>
          <a:p>
            <a:endParaRPr lang="fr-FR"/>
          </a:p>
        </p:txBody>
      </p:sp>
      <p:sp>
        <p:nvSpPr>
          <p:cNvPr id="11" name="Shape 9"/>
          <p:cNvSpPr/>
          <p:nvPr/>
        </p:nvSpPr>
        <p:spPr>
          <a:xfrm>
            <a:off x="274320" y="1417320"/>
            <a:ext cx="2743200" cy="292608"/>
          </a:xfrm>
          <a:prstGeom prst="rect">
            <a:avLst/>
          </a:prstGeom>
          <a:solidFill>
            <a:srgbClr val="C0392B"/>
          </a:solidFill>
          <a:ln w="12700">
            <a:solidFill>
              <a:srgbClr val="C0392B"/>
            </a:solidFill>
            <a:prstDash val="solid"/>
          </a:ln>
        </p:spPr>
        <p:txBody>
          <a:bodyPr/>
          <a:lstStyle/>
          <a:p>
            <a:endParaRPr lang="fr-FR"/>
          </a:p>
        </p:txBody>
      </p:sp>
      <p:sp>
        <p:nvSpPr>
          <p:cNvPr id="12" name="Text 10"/>
          <p:cNvSpPr/>
          <p:nvPr/>
        </p:nvSpPr>
        <p:spPr>
          <a:xfrm>
            <a:off x="347472" y="1417320"/>
            <a:ext cx="2633472"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1er CAS</a:t>
            </a:r>
            <a:endParaRPr lang="en-US" sz="1000" dirty="0"/>
          </a:p>
        </p:txBody>
      </p:sp>
      <p:sp>
        <p:nvSpPr>
          <p:cNvPr id="13" name="Shape 11"/>
          <p:cNvSpPr/>
          <p:nvPr/>
        </p:nvSpPr>
        <p:spPr>
          <a:xfrm>
            <a:off x="274320" y="1709928"/>
            <a:ext cx="2743200" cy="411480"/>
          </a:xfrm>
          <a:prstGeom prst="rect">
            <a:avLst/>
          </a:prstGeom>
          <a:solidFill>
            <a:srgbClr val="1A3A5C"/>
          </a:solidFill>
          <a:ln w="12700">
            <a:solidFill>
              <a:srgbClr val="1A3A5C"/>
            </a:solidFill>
            <a:prstDash val="solid"/>
          </a:ln>
        </p:spPr>
        <p:txBody>
          <a:bodyPr/>
          <a:lstStyle/>
          <a:p>
            <a:endParaRPr lang="fr-FR"/>
          </a:p>
        </p:txBody>
      </p:sp>
      <p:sp>
        <p:nvSpPr>
          <p:cNvPr id="14" name="Text 12"/>
          <p:cNvSpPr/>
          <p:nvPr/>
        </p:nvSpPr>
        <p:spPr>
          <a:xfrm>
            <a:off x="329184" y="1709928"/>
            <a:ext cx="265176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RETRAIT DÉFINITIF</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DE CARTE</a:t>
            </a:r>
            <a:endParaRPr lang="en-US" sz="1100" dirty="0"/>
          </a:p>
        </p:txBody>
      </p:sp>
      <p:sp>
        <p:nvSpPr>
          <p:cNvPr id="15" name="Shape 13"/>
          <p:cNvSpPr/>
          <p:nvPr/>
        </p:nvSpPr>
        <p:spPr>
          <a:xfrm>
            <a:off x="548640" y="2176272"/>
            <a:ext cx="2194560" cy="658368"/>
          </a:xfrm>
          <a:prstGeom prst="rect">
            <a:avLst/>
          </a:prstGeom>
          <a:solidFill>
            <a:srgbClr val="C0392B"/>
          </a:solidFill>
          <a:ln w="12700">
            <a:solidFill>
              <a:srgbClr val="C0392B"/>
            </a:solidFill>
            <a:prstDash val="solid"/>
          </a:ln>
        </p:spPr>
        <p:txBody>
          <a:bodyPr/>
          <a:lstStyle/>
          <a:p>
            <a:endParaRPr lang="fr-FR"/>
          </a:p>
        </p:txBody>
      </p:sp>
      <p:sp>
        <p:nvSpPr>
          <p:cNvPr id="16" name="Text 14"/>
          <p:cNvSpPr/>
          <p:nvPr/>
        </p:nvSpPr>
        <p:spPr>
          <a:xfrm>
            <a:off x="548640" y="2176272"/>
            <a:ext cx="2194560" cy="65836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10 ANS</a:t>
            </a:r>
            <a:endParaRPr lang="en-US" sz="2200" dirty="0"/>
          </a:p>
        </p:txBody>
      </p:sp>
      <p:sp>
        <p:nvSpPr>
          <p:cNvPr id="17" name="Text 15"/>
          <p:cNvSpPr/>
          <p:nvPr/>
        </p:nvSpPr>
        <p:spPr>
          <a:xfrm>
            <a:off x="365760" y="2871216"/>
            <a:ext cx="2606040" cy="914400"/>
          </a:xfrm>
          <a:prstGeom prst="rect">
            <a:avLst/>
          </a:prstGeom>
          <a:noFill/>
          <a:ln/>
        </p:spPr>
        <p:txBody>
          <a:bodyPr wrap="square" rtlCol="0" anchor="t"/>
          <a:lstStyle/>
          <a:p>
            <a:pPr marL="0" indent="0">
              <a:buNone/>
            </a:pPr>
            <a:r>
              <a:rPr lang="en-US" sz="900" i="1" dirty="0">
                <a:solidFill>
                  <a:srgbClr val="3A3A3A"/>
                </a:solidFill>
                <a:latin typeface="Calibri" pitchFamily="34" charset="0"/>
                <a:ea typeface="Calibri" pitchFamily="34" charset="-122"/>
                <a:cs typeface="Calibri" pitchFamily="34" charset="-120"/>
              </a:rPr>
              <a:t>Il a fait l'objet, dans les 10 ans qui précèdent sa demande, d'un retrait définitif de sa carte professionnelle.</a:t>
            </a:r>
            <a:endParaRPr lang="en-US" sz="900" dirty="0"/>
          </a:p>
        </p:txBody>
      </p:sp>
      <p:sp>
        <p:nvSpPr>
          <p:cNvPr id="18" name="Shape 16"/>
          <p:cNvSpPr/>
          <p:nvPr/>
        </p:nvSpPr>
        <p:spPr>
          <a:xfrm>
            <a:off x="274320" y="3794760"/>
            <a:ext cx="2743200" cy="18288"/>
          </a:xfrm>
          <a:prstGeom prst="rect">
            <a:avLst/>
          </a:prstGeom>
          <a:solidFill>
            <a:srgbClr val="D0DCE8"/>
          </a:solidFill>
          <a:ln w="12700">
            <a:solidFill>
              <a:srgbClr val="D0DCE8"/>
            </a:solidFill>
            <a:prstDash val="solid"/>
          </a:ln>
        </p:spPr>
        <p:txBody>
          <a:bodyPr/>
          <a:lstStyle/>
          <a:p>
            <a:endParaRPr lang="fr-FR"/>
          </a:p>
        </p:txBody>
      </p:sp>
      <p:sp>
        <p:nvSpPr>
          <p:cNvPr id="19" name="Text 17"/>
          <p:cNvSpPr/>
          <p:nvPr/>
        </p:nvSpPr>
        <p:spPr>
          <a:xfrm>
            <a:off x="365760" y="3840480"/>
            <a:ext cx="2606040" cy="868680"/>
          </a:xfrm>
          <a:prstGeom prst="rect">
            <a:avLst/>
          </a:prstGeom>
          <a:noFill/>
          <a:ln/>
        </p:spPr>
        <p:txBody>
          <a:bodyPr wrap="square" rtlCol="0" anchor="t"/>
          <a:lstStyle/>
          <a:p>
            <a:pPr marL="0" indent="0">
              <a:buNone/>
            </a:pPr>
            <a:r>
              <a:rPr lang="en-US" sz="850" b="1" dirty="0">
                <a:solidFill>
                  <a:srgbClr val="1A3A5C"/>
                </a:solidFill>
                <a:latin typeface="Calibri" pitchFamily="34" charset="0"/>
                <a:ea typeface="Calibri" pitchFamily="34" charset="-122"/>
                <a:cs typeface="Calibri" pitchFamily="34" charset="-120"/>
              </a:rPr>
              <a:t>✔  On ne doit pas avoir retiré au candidat la carte professionnelle définitivement dans les 10 ans.</a:t>
            </a:r>
            <a:endParaRPr lang="en-US" sz="850" dirty="0"/>
          </a:p>
        </p:txBody>
      </p:sp>
      <p:sp>
        <p:nvSpPr>
          <p:cNvPr id="20" name="Shape 18"/>
          <p:cNvSpPr/>
          <p:nvPr/>
        </p:nvSpPr>
        <p:spPr>
          <a:xfrm>
            <a:off x="3154680" y="1417320"/>
            <a:ext cx="2743200" cy="3310128"/>
          </a:xfrm>
          <a:prstGeom prst="rect">
            <a:avLst/>
          </a:prstGeom>
          <a:solidFill>
            <a:srgbClr val="E8F1FA"/>
          </a:solidFill>
          <a:ln w="6350">
            <a:solidFill>
              <a:srgbClr val="D0DCE8"/>
            </a:solidFill>
            <a:prstDash val="solid"/>
          </a:ln>
        </p:spPr>
        <p:txBody>
          <a:bodyPr/>
          <a:lstStyle/>
          <a:p>
            <a:endParaRPr lang="fr-FR"/>
          </a:p>
        </p:txBody>
      </p:sp>
      <p:sp>
        <p:nvSpPr>
          <p:cNvPr id="21" name="Shape 19"/>
          <p:cNvSpPr/>
          <p:nvPr/>
        </p:nvSpPr>
        <p:spPr>
          <a:xfrm>
            <a:off x="3154680" y="1417320"/>
            <a:ext cx="2743200" cy="292608"/>
          </a:xfrm>
          <a:prstGeom prst="rect">
            <a:avLst/>
          </a:prstGeom>
          <a:solidFill>
            <a:srgbClr val="D4530A"/>
          </a:solidFill>
          <a:ln w="12700">
            <a:solidFill>
              <a:srgbClr val="D4530A"/>
            </a:solidFill>
            <a:prstDash val="solid"/>
          </a:ln>
        </p:spPr>
        <p:txBody>
          <a:bodyPr/>
          <a:lstStyle/>
          <a:p>
            <a:endParaRPr lang="fr-FR"/>
          </a:p>
        </p:txBody>
      </p:sp>
      <p:sp>
        <p:nvSpPr>
          <p:cNvPr id="22" name="Text 20"/>
          <p:cNvSpPr/>
          <p:nvPr/>
        </p:nvSpPr>
        <p:spPr>
          <a:xfrm>
            <a:off x="3227832" y="1417320"/>
            <a:ext cx="2633472"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2ème CAS</a:t>
            </a:r>
            <a:endParaRPr lang="en-US" sz="1000" dirty="0"/>
          </a:p>
        </p:txBody>
      </p:sp>
      <p:sp>
        <p:nvSpPr>
          <p:cNvPr id="23" name="Shape 21"/>
          <p:cNvSpPr/>
          <p:nvPr/>
        </p:nvSpPr>
        <p:spPr>
          <a:xfrm>
            <a:off x="3154680" y="1709928"/>
            <a:ext cx="2743200" cy="411480"/>
          </a:xfrm>
          <a:prstGeom prst="rect">
            <a:avLst/>
          </a:prstGeom>
          <a:solidFill>
            <a:srgbClr val="1A3A5C"/>
          </a:solidFill>
          <a:ln w="12700">
            <a:solidFill>
              <a:srgbClr val="1A3A5C"/>
            </a:solidFill>
            <a:prstDash val="solid"/>
          </a:ln>
        </p:spPr>
        <p:txBody>
          <a:bodyPr/>
          <a:lstStyle/>
          <a:p>
            <a:endParaRPr lang="fr-FR"/>
          </a:p>
        </p:txBody>
      </p:sp>
      <p:sp>
        <p:nvSpPr>
          <p:cNvPr id="24" name="Text 22"/>
          <p:cNvSpPr/>
          <p:nvPr/>
        </p:nvSpPr>
        <p:spPr>
          <a:xfrm>
            <a:off x="3209544" y="1709928"/>
            <a:ext cx="265176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FRAUDE</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À L'EXAMEN</a:t>
            </a:r>
            <a:endParaRPr lang="en-US" sz="1100" dirty="0"/>
          </a:p>
        </p:txBody>
      </p:sp>
      <p:sp>
        <p:nvSpPr>
          <p:cNvPr id="25" name="Shape 23"/>
          <p:cNvSpPr/>
          <p:nvPr/>
        </p:nvSpPr>
        <p:spPr>
          <a:xfrm>
            <a:off x="3429000" y="2176272"/>
            <a:ext cx="2194560" cy="658368"/>
          </a:xfrm>
          <a:prstGeom prst="rect">
            <a:avLst/>
          </a:prstGeom>
          <a:solidFill>
            <a:srgbClr val="D4530A"/>
          </a:solidFill>
          <a:ln w="12700">
            <a:solidFill>
              <a:srgbClr val="D4530A"/>
            </a:solidFill>
            <a:prstDash val="solid"/>
          </a:ln>
        </p:spPr>
        <p:txBody>
          <a:bodyPr/>
          <a:lstStyle/>
          <a:p>
            <a:endParaRPr lang="fr-FR"/>
          </a:p>
        </p:txBody>
      </p:sp>
      <p:sp>
        <p:nvSpPr>
          <p:cNvPr id="26" name="Text 24"/>
          <p:cNvSpPr/>
          <p:nvPr/>
        </p:nvSpPr>
        <p:spPr>
          <a:xfrm>
            <a:off x="3429000" y="2176272"/>
            <a:ext cx="2194560" cy="65836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 ANS</a:t>
            </a:r>
            <a:endParaRPr lang="en-US" sz="2200" dirty="0"/>
          </a:p>
        </p:txBody>
      </p:sp>
      <p:sp>
        <p:nvSpPr>
          <p:cNvPr id="27" name="Text 25"/>
          <p:cNvSpPr/>
          <p:nvPr/>
        </p:nvSpPr>
        <p:spPr>
          <a:xfrm>
            <a:off x="3246120" y="2871216"/>
            <a:ext cx="2606040" cy="914400"/>
          </a:xfrm>
          <a:prstGeom prst="rect">
            <a:avLst/>
          </a:prstGeom>
          <a:noFill/>
          <a:ln/>
        </p:spPr>
        <p:txBody>
          <a:bodyPr wrap="square" rtlCol="0" anchor="t"/>
          <a:lstStyle/>
          <a:p>
            <a:pPr marL="0" indent="0">
              <a:buNone/>
            </a:pPr>
            <a:r>
              <a:rPr lang="en-US" sz="900" i="1" dirty="0">
                <a:solidFill>
                  <a:srgbClr val="3A3A3A"/>
                </a:solidFill>
                <a:latin typeface="Calibri" pitchFamily="34" charset="0"/>
                <a:ea typeface="Calibri" pitchFamily="34" charset="-122"/>
                <a:cs typeface="Calibri" pitchFamily="34" charset="-120"/>
              </a:rPr>
              <a:t>Il a fait l'objet, dans les 5 ans qui précèdent sa demande, d'une exclusion pour fraude lors d'une session à l'un des examens T3P.</a:t>
            </a:r>
            <a:endParaRPr lang="en-US" sz="900" dirty="0"/>
          </a:p>
        </p:txBody>
      </p:sp>
      <p:sp>
        <p:nvSpPr>
          <p:cNvPr id="28" name="Shape 26"/>
          <p:cNvSpPr/>
          <p:nvPr/>
        </p:nvSpPr>
        <p:spPr>
          <a:xfrm>
            <a:off x="3154680" y="3794760"/>
            <a:ext cx="2743200" cy="18288"/>
          </a:xfrm>
          <a:prstGeom prst="rect">
            <a:avLst/>
          </a:prstGeom>
          <a:solidFill>
            <a:srgbClr val="D0DCE8"/>
          </a:solidFill>
          <a:ln w="12700">
            <a:solidFill>
              <a:srgbClr val="D0DCE8"/>
            </a:solidFill>
            <a:prstDash val="solid"/>
          </a:ln>
        </p:spPr>
        <p:txBody>
          <a:bodyPr/>
          <a:lstStyle/>
          <a:p>
            <a:endParaRPr lang="fr-FR"/>
          </a:p>
        </p:txBody>
      </p:sp>
      <p:sp>
        <p:nvSpPr>
          <p:cNvPr id="29" name="Text 27"/>
          <p:cNvSpPr/>
          <p:nvPr/>
        </p:nvSpPr>
        <p:spPr>
          <a:xfrm>
            <a:off x="3246120" y="3840480"/>
            <a:ext cx="2606040" cy="868680"/>
          </a:xfrm>
          <a:prstGeom prst="rect">
            <a:avLst/>
          </a:prstGeom>
          <a:noFill/>
          <a:ln/>
        </p:spPr>
        <p:txBody>
          <a:bodyPr wrap="square" rtlCol="0" anchor="t"/>
          <a:lstStyle/>
          <a:p>
            <a:pPr marL="0" indent="0">
              <a:buNone/>
            </a:pPr>
            <a:r>
              <a:rPr lang="en-US" sz="850" b="1" dirty="0">
                <a:solidFill>
                  <a:srgbClr val="1A3A5C"/>
                </a:solidFill>
                <a:latin typeface="Calibri" pitchFamily="34" charset="0"/>
                <a:ea typeface="Calibri" pitchFamily="34" charset="-122"/>
                <a:cs typeface="Calibri" pitchFamily="34" charset="-120"/>
              </a:rPr>
              <a:t>✔  Le candidat ne doit pas avoir fraudé à un examen dans les 5 ans.</a:t>
            </a:r>
            <a:endParaRPr lang="en-US" sz="850" dirty="0"/>
          </a:p>
        </p:txBody>
      </p:sp>
      <p:sp>
        <p:nvSpPr>
          <p:cNvPr id="30" name="Shape 28"/>
          <p:cNvSpPr/>
          <p:nvPr/>
        </p:nvSpPr>
        <p:spPr>
          <a:xfrm>
            <a:off x="6035040" y="1417320"/>
            <a:ext cx="2743200" cy="3310128"/>
          </a:xfrm>
          <a:prstGeom prst="rect">
            <a:avLst/>
          </a:prstGeom>
          <a:solidFill>
            <a:srgbClr val="E8F1FA"/>
          </a:solidFill>
          <a:ln w="6350">
            <a:solidFill>
              <a:srgbClr val="D0DCE8"/>
            </a:solidFill>
            <a:prstDash val="solid"/>
          </a:ln>
        </p:spPr>
        <p:txBody>
          <a:bodyPr/>
          <a:lstStyle/>
          <a:p>
            <a:endParaRPr lang="fr-FR"/>
          </a:p>
        </p:txBody>
      </p:sp>
      <p:sp>
        <p:nvSpPr>
          <p:cNvPr id="31" name="Shape 29"/>
          <p:cNvSpPr/>
          <p:nvPr/>
        </p:nvSpPr>
        <p:spPr>
          <a:xfrm>
            <a:off x="6035040" y="1417320"/>
            <a:ext cx="2743200" cy="292608"/>
          </a:xfrm>
          <a:prstGeom prst="rect">
            <a:avLst/>
          </a:prstGeom>
          <a:solidFill>
            <a:srgbClr val="6B7A8D"/>
          </a:solidFill>
          <a:ln w="12700">
            <a:solidFill>
              <a:srgbClr val="6B7A8D"/>
            </a:solidFill>
            <a:prstDash val="solid"/>
          </a:ln>
        </p:spPr>
        <p:txBody>
          <a:bodyPr/>
          <a:lstStyle/>
          <a:p>
            <a:endParaRPr lang="fr-FR"/>
          </a:p>
        </p:txBody>
      </p:sp>
      <p:sp>
        <p:nvSpPr>
          <p:cNvPr id="32" name="Text 30"/>
          <p:cNvSpPr/>
          <p:nvPr/>
        </p:nvSpPr>
        <p:spPr>
          <a:xfrm>
            <a:off x="6108192" y="1417320"/>
            <a:ext cx="2633472"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3ème CAS</a:t>
            </a:r>
            <a:endParaRPr lang="en-US" sz="1000" dirty="0"/>
          </a:p>
        </p:txBody>
      </p:sp>
      <p:sp>
        <p:nvSpPr>
          <p:cNvPr id="33" name="Shape 31"/>
          <p:cNvSpPr/>
          <p:nvPr/>
        </p:nvSpPr>
        <p:spPr>
          <a:xfrm>
            <a:off x="6035040" y="1709928"/>
            <a:ext cx="2743200" cy="411480"/>
          </a:xfrm>
          <a:prstGeom prst="rect">
            <a:avLst/>
          </a:prstGeom>
          <a:solidFill>
            <a:srgbClr val="1A3A5C"/>
          </a:solidFill>
          <a:ln w="12700">
            <a:solidFill>
              <a:srgbClr val="1A3A5C"/>
            </a:solidFill>
            <a:prstDash val="solid"/>
          </a:ln>
        </p:spPr>
        <p:txBody>
          <a:bodyPr/>
          <a:lstStyle/>
          <a:p>
            <a:endParaRPr lang="fr-FR"/>
          </a:p>
        </p:txBody>
      </p:sp>
      <p:sp>
        <p:nvSpPr>
          <p:cNvPr id="34" name="Text 32"/>
          <p:cNvSpPr/>
          <p:nvPr/>
        </p:nvSpPr>
        <p:spPr>
          <a:xfrm>
            <a:off x="6089904" y="1709928"/>
            <a:ext cx="265176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PERMIS</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PROBATOIRE</a:t>
            </a:r>
            <a:endParaRPr lang="en-US" sz="1100" dirty="0"/>
          </a:p>
        </p:txBody>
      </p:sp>
      <p:sp>
        <p:nvSpPr>
          <p:cNvPr id="35" name="Shape 33"/>
          <p:cNvSpPr/>
          <p:nvPr/>
        </p:nvSpPr>
        <p:spPr>
          <a:xfrm>
            <a:off x="6309360" y="2176272"/>
            <a:ext cx="2194560" cy="658368"/>
          </a:xfrm>
          <a:prstGeom prst="rect">
            <a:avLst/>
          </a:prstGeom>
          <a:solidFill>
            <a:srgbClr val="6B7A8D"/>
          </a:solidFill>
          <a:ln w="12700">
            <a:solidFill>
              <a:srgbClr val="6B7A8D"/>
            </a:solidFill>
            <a:prstDash val="solid"/>
          </a:ln>
        </p:spPr>
        <p:txBody>
          <a:bodyPr/>
          <a:lstStyle/>
          <a:p>
            <a:endParaRPr lang="fr-FR"/>
          </a:p>
        </p:txBody>
      </p:sp>
      <p:sp>
        <p:nvSpPr>
          <p:cNvPr id="36" name="Text 34"/>
          <p:cNvSpPr/>
          <p:nvPr/>
        </p:nvSpPr>
        <p:spPr>
          <a:xfrm>
            <a:off x="6309360" y="2176272"/>
            <a:ext cx="2194560" cy="65836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ACCÈS</a:t>
            </a:r>
            <a:endParaRPr lang="en-US" sz="2200" dirty="0"/>
          </a:p>
          <a:p>
            <a:pPr marL="0" indent="0" algn="ctr">
              <a:buNone/>
            </a:pPr>
            <a:r>
              <a:rPr lang="en-US" sz="2200" b="1" dirty="0">
                <a:solidFill>
                  <a:srgbClr val="FFFFFF"/>
                </a:solidFill>
                <a:latin typeface="Calibri" pitchFamily="34" charset="0"/>
                <a:ea typeface="Calibri" pitchFamily="34" charset="-122"/>
                <a:cs typeface="Calibri" pitchFamily="34" charset="-120"/>
              </a:rPr>
              <a:t>IMPOSSIBLE</a:t>
            </a:r>
            <a:endParaRPr lang="en-US" sz="2200" dirty="0"/>
          </a:p>
        </p:txBody>
      </p:sp>
      <p:sp>
        <p:nvSpPr>
          <p:cNvPr id="37" name="Text 35"/>
          <p:cNvSpPr/>
          <p:nvPr/>
        </p:nvSpPr>
        <p:spPr>
          <a:xfrm>
            <a:off x="6126480" y="2871216"/>
            <a:ext cx="2606040" cy="914400"/>
          </a:xfrm>
          <a:prstGeom prst="rect">
            <a:avLst/>
          </a:prstGeom>
          <a:noFill/>
          <a:ln/>
        </p:spPr>
        <p:txBody>
          <a:bodyPr wrap="square" rtlCol="0" anchor="t"/>
          <a:lstStyle/>
          <a:p>
            <a:pPr marL="0" indent="0">
              <a:buNone/>
            </a:pPr>
            <a:r>
              <a:rPr lang="en-US" sz="900" i="1" dirty="0">
                <a:solidFill>
                  <a:srgbClr val="3A3A3A"/>
                </a:solidFill>
                <a:latin typeface="Calibri" pitchFamily="34" charset="0"/>
                <a:ea typeface="Calibri" pitchFamily="34" charset="-122"/>
                <a:cs typeface="Calibri" pitchFamily="34" charset="-120"/>
              </a:rPr>
              <a:t>Le délai probatoire applicable à son permis n'est pas expiré.</a:t>
            </a:r>
            <a:endParaRPr lang="en-US" sz="900" dirty="0"/>
          </a:p>
        </p:txBody>
      </p:sp>
      <p:sp>
        <p:nvSpPr>
          <p:cNvPr id="38" name="Shape 36"/>
          <p:cNvSpPr/>
          <p:nvPr/>
        </p:nvSpPr>
        <p:spPr>
          <a:xfrm>
            <a:off x="6035040" y="3794760"/>
            <a:ext cx="2743200" cy="18288"/>
          </a:xfrm>
          <a:prstGeom prst="rect">
            <a:avLst/>
          </a:prstGeom>
          <a:solidFill>
            <a:srgbClr val="D0DCE8"/>
          </a:solidFill>
          <a:ln w="12700">
            <a:solidFill>
              <a:srgbClr val="D0DCE8"/>
            </a:solidFill>
            <a:prstDash val="solid"/>
          </a:ln>
        </p:spPr>
        <p:txBody>
          <a:bodyPr/>
          <a:lstStyle/>
          <a:p>
            <a:endParaRPr lang="fr-FR"/>
          </a:p>
        </p:txBody>
      </p:sp>
      <p:sp>
        <p:nvSpPr>
          <p:cNvPr id="39" name="Text 37"/>
          <p:cNvSpPr/>
          <p:nvPr/>
        </p:nvSpPr>
        <p:spPr>
          <a:xfrm>
            <a:off x="6126480" y="3840480"/>
            <a:ext cx="2606040" cy="868680"/>
          </a:xfrm>
          <a:prstGeom prst="rect">
            <a:avLst/>
          </a:prstGeom>
          <a:noFill/>
          <a:ln/>
        </p:spPr>
        <p:txBody>
          <a:bodyPr wrap="square" rtlCol="0" anchor="t"/>
          <a:lstStyle/>
          <a:p>
            <a:pPr marL="0" indent="0">
              <a:buNone/>
            </a:pPr>
            <a:r>
              <a:rPr lang="en-US" sz="850" b="1" dirty="0">
                <a:solidFill>
                  <a:srgbClr val="1A3A5C"/>
                </a:solidFill>
                <a:latin typeface="Calibri" pitchFamily="34" charset="0"/>
                <a:ea typeface="Calibri" pitchFamily="34" charset="-122"/>
                <a:cs typeface="Calibri" pitchFamily="34" charset="-120"/>
              </a:rPr>
              <a:t>✔  Le candidat doit avoir +2 ans de permis s'il a le permis en conduite accompagnée, sinon son permis doit avoir +3 ans.</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8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À RETENIR 3 — Les assurances obligatoires pour les T3P</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47/88</a:t>
            </a:r>
            <a:endParaRPr lang="en-US" sz="800" dirty="0"/>
          </a:p>
        </p:txBody>
      </p:sp>
      <p:sp>
        <p:nvSpPr>
          <p:cNvPr id="8" name="Shape 6"/>
          <p:cNvSpPr/>
          <p:nvPr/>
        </p:nvSpPr>
        <p:spPr>
          <a:xfrm>
            <a:off x="274320" y="914400"/>
            <a:ext cx="8595360" cy="411480"/>
          </a:xfrm>
          <a:prstGeom prst="rect">
            <a:avLst/>
          </a:prstGeom>
          <a:solidFill>
            <a:srgbClr val="1A3A5C"/>
          </a:solidFill>
          <a:ln w="12700">
            <a:solidFill>
              <a:srgbClr val="1A3A5C"/>
            </a:solidFill>
            <a:prstDash val="solid"/>
          </a:ln>
        </p:spPr>
        <p:txBody>
          <a:bodyPr/>
          <a:lstStyle/>
          <a:p>
            <a:endParaRPr lang="fr-FR"/>
          </a:p>
        </p:txBody>
      </p:sp>
      <p:sp>
        <p:nvSpPr>
          <p:cNvPr id="9" name="Text 7"/>
          <p:cNvSpPr/>
          <p:nvPr/>
        </p:nvSpPr>
        <p:spPr>
          <a:xfrm>
            <a:off x="274320" y="914400"/>
            <a:ext cx="859536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 ASSURANCES OBLIGATOIRES ET CUMULATIVES</a:t>
            </a:r>
            <a:endParaRPr lang="en-US" sz="1300" dirty="0"/>
          </a:p>
        </p:txBody>
      </p:sp>
      <p:sp>
        <p:nvSpPr>
          <p:cNvPr id="10" name="Shape 8"/>
          <p:cNvSpPr/>
          <p:nvPr/>
        </p:nvSpPr>
        <p:spPr>
          <a:xfrm>
            <a:off x="274320" y="1417320"/>
            <a:ext cx="4160520" cy="384048"/>
          </a:xfrm>
          <a:prstGeom prst="rect">
            <a:avLst/>
          </a:prstGeom>
          <a:solidFill>
            <a:srgbClr val="2860A8"/>
          </a:solidFill>
          <a:ln w="12700">
            <a:solidFill>
              <a:srgbClr val="2860A8"/>
            </a:solidFill>
            <a:prstDash val="solid"/>
          </a:ln>
        </p:spPr>
        <p:txBody>
          <a:bodyPr/>
          <a:lstStyle/>
          <a:p>
            <a:endParaRPr lang="fr-FR"/>
          </a:p>
        </p:txBody>
      </p:sp>
      <p:sp>
        <p:nvSpPr>
          <p:cNvPr id="11" name="Text 9"/>
          <p:cNvSpPr/>
          <p:nvPr/>
        </p:nvSpPr>
        <p:spPr>
          <a:xfrm>
            <a:off x="274320" y="1417320"/>
            <a:ext cx="416052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① RC CIRCULATION ou RC Circulation</a:t>
            </a:r>
            <a:endParaRPr lang="en-US" sz="1100" dirty="0"/>
          </a:p>
        </p:txBody>
      </p:sp>
      <p:sp>
        <p:nvSpPr>
          <p:cNvPr id="12" name="Shape 10"/>
          <p:cNvSpPr/>
          <p:nvPr/>
        </p:nvSpPr>
        <p:spPr>
          <a:xfrm>
            <a:off x="274320" y="1801368"/>
            <a:ext cx="4160520" cy="2176272"/>
          </a:xfrm>
          <a:prstGeom prst="rect">
            <a:avLst/>
          </a:prstGeom>
          <a:solidFill>
            <a:srgbClr val="E8F1FA"/>
          </a:solidFill>
          <a:ln w="6350">
            <a:solidFill>
              <a:srgbClr val="D0DCE8"/>
            </a:solidFill>
            <a:prstDash val="solid"/>
          </a:ln>
        </p:spPr>
        <p:txBody>
          <a:bodyPr/>
          <a:lstStyle/>
          <a:p>
            <a:endParaRPr lang="fr-FR"/>
          </a:p>
        </p:txBody>
      </p:sp>
      <p:sp>
        <p:nvSpPr>
          <p:cNvPr id="13" name="Shape 11"/>
          <p:cNvSpPr/>
          <p:nvPr/>
        </p:nvSpPr>
        <p:spPr>
          <a:xfrm>
            <a:off x="411480" y="1901952"/>
            <a:ext cx="1965960" cy="475488"/>
          </a:xfrm>
          <a:prstGeom prst="rect">
            <a:avLst/>
          </a:prstGeom>
          <a:solidFill>
            <a:srgbClr val="D4E8F7"/>
          </a:solidFill>
          <a:ln w="12700">
            <a:solidFill>
              <a:srgbClr val="2860A8"/>
            </a:solidFill>
            <a:prstDash val="solid"/>
          </a:ln>
        </p:spPr>
        <p:txBody>
          <a:bodyPr/>
          <a:lstStyle/>
          <a:p>
            <a:endParaRPr lang="fr-FR"/>
          </a:p>
        </p:txBody>
      </p:sp>
      <p:sp>
        <p:nvSpPr>
          <p:cNvPr id="14" name="Text 12"/>
          <p:cNvSpPr/>
          <p:nvPr/>
        </p:nvSpPr>
        <p:spPr>
          <a:xfrm>
            <a:off x="411480" y="1901952"/>
            <a:ext cx="1965960" cy="475488"/>
          </a:xfrm>
          <a:prstGeom prst="rect">
            <a:avLst/>
          </a:prstGeom>
          <a:noFill/>
          <a:ln/>
        </p:spPr>
        <p:txBody>
          <a:bodyPr wrap="square" rtlCol="0" anchor="ctr"/>
          <a:lstStyle/>
          <a:p>
            <a:pPr marL="0" indent="0" algn="ctr">
              <a:buNone/>
            </a:pPr>
            <a:r>
              <a:rPr lang="en-US" sz="900" b="1" dirty="0">
                <a:solidFill>
                  <a:srgbClr val="1A3A5C"/>
                </a:solidFill>
                <a:latin typeface="Calibri" pitchFamily="34" charset="0"/>
                <a:ea typeface="Calibri" pitchFamily="34" charset="-122"/>
                <a:cs typeface="Calibri" pitchFamily="34" charset="-120"/>
              </a:rPr>
              <a:t>🚗  VÉHICULE</a:t>
            </a:r>
            <a:endParaRPr lang="en-US" sz="900" dirty="0"/>
          </a:p>
          <a:p>
            <a:pPr marL="0" indent="0" algn="ctr">
              <a:buNone/>
            </a:pPr>
            <a:r>
              <a:rPr lang="en-US" sz="900" b="1" dirty="0">
                <a:solidFill>
                  <a:srgbClr val="1A3A5C"/>
                </a:solidFill>
                <a:latin typeface="Calibri" pitchFamily="34" charset="0"/>
                <a:ea typeface="Calibri" pitchFamily="34" charset="-122"/>
                <a:cs typeface="Calibri" pitchFamily="34" charset="-120"/>
              </a:rPr>
              <a:t>IMPLIQUÉ</a:t>
            </a:r>
            <a:endParaRPr lang="en-US" sz="900" dirty="0"/>
          </a:p>
        </p:txBody>
      </p:sp>
      <p:sp>
        <p:nvSpPr>
          <p:cNvPr id="15" name="Text 13"/>
          <p:cNvSpPr/>
          <p:nvPr/>
        </p:nvSpPr>
        <p:spPr>
          <a:xfrm>
            <a:off x="2423160" y="1993392"/>
            <a:ext cx="274320" cy="292608"/>
          </a:xfrm>
          <a:prstGeom prst="rect">
            <a:avLst/>
          </a:prstGeom>
          <a:noFill/>
          <a:ln/>
        </p:spPr>
        <p:txBody>
          <a:bodyPr wrap="square" rtlCol="0" anchor="ctr"/>
          <a:lstStyle/>
          <a:p>
            <a:pPr marL="0" indent="0" algn="ctr">
              <a:buNone/>
            </a:pPr>
            <a:r>
              <a:rPr lang="en-US" sz="1400" b="1" dirty="0">
                <a:solidFill>
                  <a:srgbClr val="2860A8"/>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2743200" y="1901952"/>
            <a:ext cx="1572768" cy="475488"/>
          </a:xfrm>
          <a:prstGeom prst="rect">
            <a:avLst/>
          </a:prstGeom>
          <a:solidFill>
            <a:srgbClr val="2860A8"/>
          </a:solidFill>
          <a:ln w="12700">
            <a:solidFill>
              <a:srgbClr val="2860A8"/>
            </a:solidFill>
            <a:prstDash val="solid"/>
          </a:ln>
        </p:spPr>
        <p:txBody>
          <a:bodyPr/>
          <a:lstStyle/>
          <a:p>
            <a:endParaRPr lang="fr-FR"/>
          </a:p>
        </p:txBody>
      </p:sp>
      <p:sp>
        <p:nvSpPr>
          <p:cNvPr id="17" name="Text 15"/>
          <p:cNvSpPr/>
          <p:nvPr/>
        </p:nvSpPr>
        <p:spPr>
          <a:xfrm>
            <a:off x="2743200" y="1901952"/>
            <a:ext cx="1572768" cy="47548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COUVERT</a:t>
            </a:r>
            <a:endParaRPr lang="en-US" sz="1000" dirty="0"/>
          </a:p>
        </p:txBody>
      </p:sp>
      <p:sp>
        <p:nvSpPr>
          <p:cNvPr id="18" name="Text 16"/>
          <p:cNvSpPr/>
          <p:nvPr/>
        </p:nvSpPr>
        <p:spPr>
          <a:xfrm>
            <a:off x="384048" y="2450592"/>
            <a:ext cx="3931920" cy="1481328"/>
          </a:xfrm>
          <a:prstGeom prst="rect">
            <a:avLst/>
          </a:prstGeom>
          <a:noFill/>
          <a:ln/>
        </p:spPr>
        <p:txBody>
          <a:bodyPr wrap="square" rtlCol="0" anchor="t"/>
          <a:lstStyle/>
          <a:p>
            <a:pPr marL="0" indent="0">
              <a:buNone/>
            </a:pPr>
            <a:r>
              <a:rPr lang="en-US" sz="1000" dirty="0">
                <a:solidFill>
                  <a:srgbClr val="3A3A3A"/>
                </a:solidFill>
                <a:latin typeface="Calibri" pitchFamily="34" charset="0"/>
                <a:ea typeface="Calibri" pitchFamily="34" charset="-122"/>
                <a:cs typeface="Calibri" pitchFamily="34" charset="-120"/>
              </a:rPr>
              <a:t>Cela concerne les dommages corporels, matériels ou immatériels causés à un client ou un tiers avec implication du véhicule.</a:t>
            </a:r>
            <a:endParaRPr lang="en-US" sz="1000" dirty="0"/>
          </a:p>
          <a:p>
            <a:pPr marL="0" indent="0">
              <a:buNone/>
            </a:pP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Exemple : accident avec un automobiliste.</a:t>
            </a:r>
            <a:endParaRPr lang="en-US" sz="1000" dirty="0"/>
          </a:p>
        </p:txBody>
      </p:sp>
      <p:sp>
        <p:nvSpPr>
          <p:cNvPr id="19" name="Shape 17"/>
          <p:cNvSpPr/>
          <p:nvPr/>
        </p:nvSpPr>
        <p:spPr>
          <a:xfrm>
            <a:off x="4709160" y="1417320"/>
            <a:ext cx="4160520" cy="384048"/>
          </a:xfrm>
          <a:prstGeom prst="rect">
            <a:avLst/>
          </a:prstGeom>
          <a:solidFill>
            <a:srgbClr val="1A3A5C"/>
          </a:solidFill>
          <a:ln w="12700">
            <a:solidFill>
              <a:srgbClr val="1A3A5C"/>
            </a:solidFill>
            <a:prstDash val="solid"/>
          </a:ln>
        </p:spPr>
        <p:txBody>
          <a:bodyPr/>
          <a:lstStyle/>
          <a:p>
            <a:endParaRPr lang="fr-FR"/>
          </a:p>
        </p:txBody>
      </p:sp>
      <p:sp>
        <p:nvSpPr>
          <p:cNvPr id="20" name="Text 18"/>
          <p:cNvSpPr/>
          <p:nvPr/>
        </p:nvSpPr>
        <p:spPr>
          <a:xfrm>
            <a:off x="4709160" y="1417320"/>
            <a:ext cx="416052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② RC PRO EXPLOITATION</a:t>
            </a:r>
            <a:endParaRPr lang="en-US" sz="1100" dirty="0"/>
          </a:p>
        </p:txBody>
      </p:sp>
      <p:sp>
        <p:nvSpPr>
          <p:cNvPr id="21" name="Shape 19"/>
          <p:cNvSpPr/>
          <p:nvPr/>
        </p:nvSpPr>
        <p:spPr>
          <a:xfrm>
            <a:off x="4709160" y="1801368"/>
            <a:ext cx="4160520" cy="2176272"/>
          </a:xfrm>
          <a:prstGeom prst="rect">
            <a:avLst/>
          </a:prstGeom>
          <a:solidFill>
            <a:srgbClr val="E8F1FA"/>
          </a:solidFill>
          <a:ln w="6350">
            <a:solidFill>
              <a:srgbClr val="D0DCE8"/>
            </a:solidFill>
            <a:prstDash val="solid"/>
          </a:ln>
        </p:spPr>
        <p:txBody>
          <a:bodyPr/>
          <a:lstStyle/>
          <a:p>
            <a:endParaRPr lang="fr-FR"/>
          </a:p>
        </p:txBody>
      </p:sp>
      <p:sp>
        <p:nvSpPr>
          <p:cNvPr id="22" name="Shape 20"/>
          <p:cNvSpPr/>
          <p:nvPr/>
        </p:nvSpPr>
        <p:spPr>
          <a:xfrm>
            <a:off x="4846320" y="1901952"/>
            <a:ext cx="1965960" cy="475488"/>
          </a:xfrm>
          <a:prstGeom prst="rect">
            <a:avLst/>
          </a:prstGeom>
          <a:solidFill>
            <a:srgbClr val="FFE8E8"/>
          </a:solidFill>
          <a:ln w="12700">
            <a:solidFill>
              <a:srgbClr val="C0392B"/>
            </a:solidFill>
            <a:prstDash val="solid"/>
          </a:ln>
        </p:spPr>
        <p:txBody>
          <a:bodyPr/>
          <a:lstStyle/>
          <a:p>
            <a:endParaRPr lang="fr-FR"/>
          </a:p>
        </p:txBody>
      </p:sp>
      <p:sp>
        <p:nvSpPr>
          <p:cNvPr id="23" name="Text 21"/>
          <p:cNvSpPr/>
          <p:nvPr/>
        </p:nvSpPr>
        <p:spPr>
          <a:xfrm>
            <a:off x="4846320" y="1901952"/>
            <a:ext cx="1965960" cy="475488"/>
          </a:xfrm>
          <a:prstGeom prst="rect">
            <a:avLst/>
          </a:prstGeom>
          <a:noFill/>
          <a:ln/>
        </p:spPr>
        <p:txBody>
          <a:bodyPr wrap="square" rtlCol="0" anchor="ctr"/>
          <a:lstStyle/>
          <a:p>
            <a:pPr marL="0" indent="0" algn="ctr">
              <a:buNone/>
            </a:pPr>
            <a:r>
              <a:rPr lang="en-US" sz="900" b="1" dirty="0">
                <a:solidFill>
                  <a:srgbClr val="C0392B"/>
                </a:solidFill>
                <a:latin typeface="Calibri" pitchFamily="34" charset="0"/>
                <a:ea typeface="Calibri" pitchFamily="34" charset="-122"/>
                <a:cs typeface="Calibri" pitchFamily="34" charset="-120"/>
              </a:rPr>
              <a:t>🚗  PAS de</a:t>
            </a:r>
            <a:endParaRPr lang="en-US" sz="900" dirty="0"/>
          </a:p>
          <a:p>
            <a:pPr marL="0" indent="0" algn="ctr">
              <a:buNone/>
            </a:pPr>
            <a:r>
              <a:rPr lang="en-US" sz="900" b="1" dirty="0">
                <a:solidFill>
                  <a:srgbClr val="C0392B"/>
                </a:solidFill>
                <a:latin typeface="Calibri" pitchFamily="34" charset="0"/>
                <a:ea typeface="Calibri" pitchFamily="34" charset="-122"/>
                <a:cs typeface="Calibri" pitchFamily="34" charset="-120"/>
              </a:rPr>
              <a:t>VÉHICULE</a:t>
            </a:r>
            <a:endParaRPr lang="en-US" sz="900" dirty="0"/>
          </a:p>
        </p:txBody>
      </p:sp>
      <p:sp>
        <p:nvSpPr>
          <p:cNvPr id="24" name="Text 22"/>
          <p:cNvSpPr/>
          <p:nvPr/>
        </p:nvSpPr>
        <p:spPr>
          <a:xfrm>
            <a:off x="6858000" y="1993392"/>
            <a:ext cx="274320" cy="292608"/>
          </a:xfrm>
          <a:prstGeom prst="rect">
            <a:avLst/>
          </a:prstGeom>
          <a:noFill/>
          <a:ln/>
        </p:spPr>
        <p:txBody>
          <a:bodyPr wrap="square"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a:t>
            </a:r>
            <a:endParaRPr lang="en-US" sz="1400" dirty="0"/>
          </a:p>
        </p:txBody>
      </p:sp>
      <p:sp>
        <p:nvSpPr>
          <p:cNvPr id="25" name="Shape 23"/>
          <p:cNvSpPr/>
          <p:nvPr/>
        </p:nvSpPr>
        <p:spPr>
          <a:xfrm>
            <a:off x="7178040" y="1901952"/>
            <a:ext cx="1572768" cy="475488"/>
          </a:xfrm>
          <a:prstGeom prst="rect">
            <a:avLst/>
          </a:prstGeom>
          <a:solidFill>
            <a:srgbClr val="1A3A5C"/>
          </a:solidFill>
          <a:ln w="12700">
            <a:solidFill>
              <a:srgbClr val="1A3A5C"/>
            </a:solidFill>
            <a:prstDash val="solid"/>
          </a:ln>
        </p:spPr>
        <p:txBody>
          <a:bodyPr/>
          <a:lstStyle/>
          <a:p>
            <a:endParaRPr lang="fr-FR"/>
          </a:p>
        </p:txBody>
      </p:sp>
      <p:sp>
        <p:nvSpPr>
          <p:cNvPr id="26" name="Text 24"/>
          <p:cNvSpPr/>
          <p:nvPr/>
        </p:nvSpPr>
        <p:spPr>
          <a:xfrm>
            <a:off x="7178040" y="1901952"/>
            <a:ext cx="1572768" cy="47548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COUVERT</a:t>
            </a:r>
            <a:endParaRPr lang="en-US" sz="1000" dirty="0"/>
          </a:p>
        </p:txBody>
      </p:sp>
      <p:sp>
        <p:nvSpPr>
          <p:cNvPr id="27" name="Text 25"/>
          <p:cNvSpPr/>
          <p:nvPr/>
        </p:nvSpPr>
        <p:spPr>
          <a:xfrm>
            <a:off x="4818888" y="2450592"/>
            <a:ext cx="3931920" cy="1481328"/>
          </a:xfrm>
          <a:prstGeom prst="rect">
            <a:avLst/>
          </a:prstGeom>
          <a:noFill/>
          <a:ln/>
        </p:spPr>
        <p:txBody>
          <a:bodyPr wrap="square" rtlCol="0" anchor="t"/>
          <a:lstStyle/>
          <a:p>
            <a:pPr marL="0" indent="0">
              <a:buNone/>
            </a:pPr>
            <a:r>
              <a:rPr lang="en-US" sz="1000" dirty="0">
                <a:solidFill>
                  <a:srgbClr val="3A3A3A"/>
                </a:solidFill>
                <a:latin typeface="Calibri" pitchFamily="34" charset="0"/>
                <a:ea typeface="Calibri" pitchFamily="34" charset="-122"/>
                <a:cs typeface="Calibri" pitchFamily="34" charset="-120"/>
              </a:rPr>
              <a:t>Cela concerne les dommages corporels, matériels ou immatériels causés à un client ou un tiers en dehors de toute implication du véhicule.</a:t>
            </a:r>
            <a:endParaRPr lang="en-US" sz="1000" dirty="0"/>
          </a:p>
          <a:p>
            <a:pPr marL="0" indent="0">
              <a:buNone/>
            </a:pP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Exemple : détérioration des bagages.</a:t>
            </a:r>
            <a:endParaRPr lang="en-US" sz="100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274320" y="4069080"/>
          <a:ext cx="8595360" cy="960120"/>
        </p:xfrm>
        <a:graphic>
          <a:graphicData uri="http://schemas.openxmlformats.org/drawingml/2006/table">
            <a:tbl>
              <a:tblPr/>
              <a:tblGrid>
                <a:gridCol w="25603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240030">
                <a:tc>
                  <a:txBody>
                    <a:bodyPr/>
                    <a:lstStyle/>
                    <a:p>
                      <a:pPr marL="0" indent="0">
                        <a:buNone/>
                      </a:pP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2D4A6B"/>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RC CIRCULATION</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2860A8"/>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RC PRO EXPLOITATION</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240030">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Véhicule impliqué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OUI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NON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0030">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Exemple</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Accident de route</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Bagages détériorés</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2"/>
                  </a:ext>
                </a:extLst>
              </a:tr>
              <a:tr h="240030">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Obligatoire T3P ?</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OUI</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OUI</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8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À RETENIR 4 — Visite médicale et formation continue</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48/88</a:t>
            </a:r>
            <a:endParaRPr lang="en-US" sz="800" dirty="0"/>
          </a:p>
        </p:txBody>
      </p:sp>
      <p:sp>
        <p:nvSpPr>
          <p:cNvPr id="8" name="Shape 6"/>
          <p:cNvSpPr/>
          <p:nvPr/>
        </p:nvSpPr>
        <p:spPr>
          <a:xfrm>
            <a:off x="274320" y="914400"/>
            <a:ext cx="4160520" cy="411480"/>
          </a:xfrm>
          <a:prstGeom prst="rect">
            <a:avLst/>
          </a:prstGeom>
          <a:solidFill>
            <a:srgbClr val="2860A8"/>
          </a:solidFill>
          <a:ln w="12700">
            <a:solidFill>
              <a:srgbClr val="2860A8"/>
            </a:solidFill>
            <a:prstDash val="solid"/>
          </a:ln>
        </p:spPr>
        <p:txBody>
          <a:bodyPr/>
          <a:lstStyle/>
          <a:p>
            <a:endParaRPr lang="fr-FR"/>
          </a:p>
        </p:txBody>
      </p:sp>
      <p:sp>
        <p:nvSpPr>
          <p:cNvPr id="9" name="Text 7"/>
          <p:cNvSpPr/>
          <p:nvPr/>
        </p:nvSpPr>
        <p:spPr>
          <a:xfrm>
            <a:off x="274320" y="914400"/>
            <a:ext cx="416052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VISITE MÉDICALE OBLIGATOIRE</a:t>
            </a:r>
            <a:endParaRPr lang="en-US" sz="1200" dirty="0"/>
          </a:p>
        </p:txBody>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274320" y="1389888"/>
          <a:ext cx="4160520" cy="1719072"/>
        </p:xfrm>
        <a:graphic>
          <a:graphicData uri="http://schemas.openxmlformats.org/drawingml/2006/table">
            <a:tbl>
              <a:tblPr/>
              <a:tblGrid>
                <a:gridCol w="256032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tblGrid>
              <a:tr h="429768">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Tranche d'âge</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Périodicité</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429768">
                <a:tc>
                  <a:txBody>
                    <a:bodyPr/>
                    <a:lstStyle/>
                    <a:p>
                      <a:pPr marL="0" indent="0">
                        <a:buNone/>
                      </a:pPr>
                      <a:r>
                        <a:rPr lang="en-US" sz="1100" dirty="0">
                          <a:solidFill>
                            <a:srgbClr val="3A3A3A"/>
                          </a:solidFill>
                          <a:latin typeface="Calibri" pitchFamily="34" charset="0"/>
                          <a:ea typeface="Calibri" pitchFamily="34" charset="-122"/>
                          <a:cs typeface="Calibri" pitchFamily="34" charset="-120"/>
                        </a:rPr>
                        <a:t>De 20 ans à 60 ans</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100" dirty="0">
                          <a:solidFill>
                            <a:srgbClr val="3A3A3A"/>
                          </a:solidFill>
                          <a:latin typeface="Calibri" pitchFamily="34" charset="0"/>
                          <a:ea typeface="Calibri" pitchFamily="34" charset="-122"/>
                          <a:cs typeface="Calibri" pitchFamily="34" charset="-120"/>
                        </a:rPr>
                        <a:t>Tous les 5 ans</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1"/>
                  </a:ext>
                </a:extLst>
              </a:tr>
              <a:tr h="429768">
                <a:tc>
                  <a:txBody>
                    <a:bodyPr/>
                    <a:lstStyle/>
                    <a:p>
                      <a:pPr marL="0" indent="0">
                        <a:buNone/>
                      </a:pPr>
                      <a:r>
                        <a:rPr lang="en-US" sz="1100" dirty="0">
                          <a:solidFill>
                            <a:srgbClr val="3A3A3A"/>
                          </a:solidFill>
                          <a:latin typeface="Calibri" pitchFamily="34" charset="0"/>
                          <a:ea typeface="Calibri" pitchFamily="34" charset="-122"/>
                          <a:cs typeface="Calibri" pitchFamily="34" charset="-120"/>
                        </a:rPr>
                        <a:t>De 60 ans à 76 ans</a:t>
                      </a:r>
                      <a:endParaRPr lang="en-US" sz="1100" dirty="0">
                        <a:latin typeface="Calibri" charset="0"/>
                        <a:ea typeface="Calibri" charset="0"/>
                        <a:cs typeface="Calibri" charset="0"/>
                      </a:endParaRPr>
                    </a:p>
                    <a:p>
                      <a:pPr marL="0" indent="0">
                        <a:buNone/>
                      </a:pPr>
                      <a:r>
                        <a:rPr lang="en-US" sz="1100" dirty="0">
                          <a:solidFill>
                            <a:srgbClr val="3A3A3A"/>
                          </a:solidFill>
                          <a:latin typeface="Calibri" pitchFamily="34" charset="0"/>
                          <a:ea typeface="Calibri" pitchFamily="34" charset="-122"/>
                          <a:cs typeface="Calibri" pitchFamily="34" charset="-120"/>
                        </a:rPr>
                        <a:t>(lendemain date anniversaire)</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3E0"/>
                    </a:solidFill>
                  </a:tcPr>
                </a:tc>
                <a:tc>
                  <a:txBody>
                    <a:bodyPr/>
                    <a:lstStyle/>
                    <a:p>
                      <a:pPr marL="0" indent="0">
                        <a:buNone/>
                      </a:pPr>
                      <a:r>
                        <a:rPr lang="en-US" sz="1100" dirty="0">
                          <a:solidFill>
                            <a:srgbClr val="3A3A3A"/>
                          </a:solidFill>
                          <a:latin typeface="Calibri" pitchFamily="34" charset="0"/>
                          <a:ea typeface="Calibri" pitchFamily="34" charset="-122"/>
                          <a:cs typeface="Calibri" pitchFamily="34" charset="-120"/>
                        </a:rPr>
                        <a:t>Tous les 2 ans</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3E0"/>
                    </a:solidFill>
                  </a:tcPr>
                </a:tc>
                <a:extLst>
                  <a:ext uri="{0D108BD9-81ED-4DB2-BD59-A6C34878D82A}">
                    <a16:rowId xmlns:a16="http://schemas.microsoft.com/office/drawing/2014/main" val="10002"/>
                  </a:ext>
                </a:extLst>
              </a:tr>
              <a:tr h="429768">
                <a:tc>
                  <a:txBody>
                    <a:bodyPr/>
                    <a:lstStyle/>
                    <a:p>
                      <a:pPr marL="0" indent="0">
                        <a:buNone/>
                      </a:pPr>
                      <a:r>
                        <a:rPr lang="en-US" sz="1100" dirty="0">
                          <a:solidFill>
                            <a:srgbClr val="3A3A3A"/>
                          </a:solidFill>
                          <a:latin typeface="Calibri" pitchFamily="34" charset="0"/>
                          <a:ea typeface="Calibri" pitchFamily="34" charset="-122"/>
                          <a:cs typeface="Calibri" pitchFamily="34" charset="-120"/>
                        </a:rPr>
                        <a:t>À partir de 76 ans</a:t>
                      </a:r>
                      <a:endParaRPr lang="en-US" sz="1100" dirty="0">
                        <a:latin typeface="Calibri" charset="0"/>
                        <a:ea typeface="Calibri" charset="0"/>
                        <a:cs typeface="Calibri" charset="0"/>
                      </a:endParaRPr>
                    </a:p>
                    <a:p>
                      <a:pPr marL="0" indent="0">
                        <a:buNone/>
                      </a:pPr>
                      <a:r>
                        <a:rPr lang="en-US" sz="1100" dirty="0">
                          <a:solidFill>
                            <a:srgbClr val="3A3A3A"/>
                          </a:solidFill>
                          <a:latin typeface="Calibri" pitchFamily="34" charset="0"/>
                          <a:ea typeface="Calibri" pitchFamily="34" charset="-122"/>
                          <a:cs typeface="Calibri" pitchFamily="34" charset="-120"/>
                        </a:rPr>
                        <a:t>(lendemain date anniversaire)</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E8E8"/>
                    </a:solidFill>
                  </a:tcPr>
                </a:tc>
                <a:tc>
                  <a:txBody>
                    <a:bodyPr/>
                    <a:lstStyle/>
                    <a:p>
                      <a:pPr marL="0" indent="0">
                        <a:buNone/>
                      </a:pPr>
                      <a:r>
                        <a:rPr lang="en-US" sz="1100" dirty="0">
                          <a:solidFill>
                            <a:srgbClr val="3A3A3A"/>
                          </a:solidFill>
                          <a:latin typeface="Calibri" pitchFamily="34" charset="0"/>
                          <a:ea typeface="Calibri" pitchFamily="34" charset="-122"/>
                          <a:cs typeface="Calibri" pitchFamily="34" charset="-120"/>
                        </a:rPr>
                        <a:t>Chaque année</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E8E8"/>
                    </a:solidFill>
                  </a:tcPr>
                </a:tc>
                <a:extLst>
                  <a:ext uri="{0D108BD9-81ED-4DB2-BD59-A6C34878D82A}">
                    <a16:rowId xmlns:a16="http://schemas.microsoft.com/office/drawing/2014/main" val="10003"/>
                  </a:ext>
                </a:extLst>
              </a:tr>
            </a:tbl>
          </a:graphicData>
        </a:graphic>
      </p:graphicFrame>
      <p:sp>
        <p:nvSpPr>
          <p:cNvPr id="11" name="Shape 8"/>
          <p:cNvSpPr/>
          <p:nvPr/>
        </p:nvSpPr>
        <p:spPr>
          <a:xfrm>
            <a:off x="347472" y="3246120"/>
            <a:ext cx="1298448" cy="389169"/>
          </a:xfrm>
          <a:prstGeom prst="rect">
            <a:avLst/>
          </a:prstGeom>
          <a:solidFill>
            <a:srgbClr val="1A3A5C"/>
          </a:solidFill>
          <a:ln w="12700">
            <a:solidFill>
              <a:srgbClr val="1A3A5C"/>
            </a:solidFill>
            <a:prstDash val="solid"/>
          </a:ln>
        </p:spPr>
        <p:txBody>
          <a:bodyPr/>
          <a:lstStyle/>
          <a:p>
            <a:endParaRPr lang="fr-FR"/>
          </a:p>
        </p:txBody>
      </p:sp>
      <p:sp>
        <p:nvSpPr>
          <p:cNvPr id="12" name="Text 9"/>
          <p:cNvSpPr/>
          <p:nvPr/>
        </p:nvSpPr>
        <p:spPr>
          <a:xfrm>
            <a:off x="347472" y="3246120"/>
            <a:ext cx="1298448" cy="389169"/>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20→60</a:t>
            </a:r>
            <a:endParaRPr lang="en-US" sz="900" dirty="0"/>
          </a:p>
        </p:txBody>
      </p:sp>
      <p:sp>
        <p:nvSpPr>
          <p:cNvPr id="13" name="Shape 10"/>
          <p:cNvSpPr/>
          <p:nvPr/>
        </p:nvSpPr>
        <p:spPr>
          <a:xfrm>
            <a:off x="1737360" y="3246120"/>
            <a:ext cx="1298448" cy="655442"/>
          </a:xfrm>
          <a:prstGeom prst="rect">
            <a:avLst/>
          </a:prstGeom>
          <a:solidFill>
            <a:srgbClr val="F4A227"/>
          </a:solidFill>
          <a:ln w="12700">
            <a:solidFill>
              <a:srgbClr val="F4A227"/>
            </a:solidFill>
            <a:prstDash val="solid"/>
          </a:ln>
        </p:spPr>
        <p:txBody>
          <a:bodyPr/>
          <a:lstStyle/>
          <a:p>
            <a:endParaRPr lang="fr-FR"/>
          </a:p>
        </p:txBody>
      </p:sp>
      <p:sp>
        <p:nvSpPr>
          <p:cNvPr id="14" name="Text 11"/>
          <p:cNvSpPr/>
          <p:nvPr/>
        </p:nvSpPr>
        <p:spPr>
          <a:xfrm>
            <a:off x="1737360" y="3246120"/>
            <a:ext cx="1298448" cy="65544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60→76</a:t>
            </a:r>
            <a:endParaRPr lang="en-US" sz="900" dirty="0"/>
          </a:p>
        </p:txBody>
      </p:sp>
      <p:sp>
        <p:nvSpPr>
          <p:cNvPr id="15" name="Shape 12"/>
          <p:cNvSpPr/>
          <p:nvPr/>
        </p:nvSpPr>
        <p:spPr>
          <a:xfrm>
            <a:off x="3127248" y="3246120"/>
            <a:ext cx="1298448" cy="481340"/>
          </a:xfrm>
          <a:prstGeom prst="rect">
            <a:avLst/>
          </a:prstGeom>
          <a:solidFill>
            <a:srgbClr val="C0392B"/>
          </a:solidFill>
          <a:ln w="12700">
            <a:solidFill>
              <a:srgbClr val="C0392B"/>
            </a:solidFill>
            <a:prstDash val="solid"/>
          </a:ln>
        </p:spPr>
        <p:txBody>
          <a:bodyPr/>
          <a:lstStyle/>
          <a:p>
            <a:endParaRPr lang="fr-FR"/>
          </a:p>
        </p:txBody>
      </p:sp>
      <p:sp>
        <p:nvSpPr>
          <p:cNvPr id="16" name="Text 13"/>
          <p:cNvSpPr/>
          <p:nvPr/>
        </p:nvSpPr>
        <p:spPr>
          <a:xfrm>
            <a:off x="3127248" y="3246120"/>
            <a:ext cx="1298448" cy="4813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76+</a:t>
            </a:r>
            <a:endParaRPr lang="en-US" sz="900" dirty="0"/>
          </a:p>
        </p:txBody>
      </p:sp>
      <p:sp>
        <p:nvSpPr>
          <p:cNvPr id="17" name="Text 14"/>
          <p:cNvSpPr/>
          <p:nvPr/>
        </p:nvSpPr>
        <p:spPr>
          <a:xfrm>
            <a:off x="347472" y="3749040"/>
            <a:ext cx="1298448" cy="228600"/>
          </a:xfrm>
          <a:prstGeom prst="rect">
            <a:avLst/>
          </a:prstGeom>
          <a:noFill/>
          <a:ln/>
        </p:spPr>
        <p:txBody>
          <a:bodyPr wrap="square" rtlCol="0" anchor="ctr"/>
          <a:lstStyle/>
          <a:p>
            <a:pPr marL="0" indent="0" algn="ctr">
              <a:buNone/>
            </a:pPr>
            <a:r>
              <a:rPr lang="en-US" sz="900" b="1" dirty="0">
                <a:solidFill>
                  <a:srgbClr val="1A3A5C"/>
                </a:solidFill>
                <a:latin typeface="Calibri" pitchFamily="34" charset="0"/>
                <a:ea typeface="Calibri" pitchFamily="34" charset="-122"/>
                <a:cs typeface="Calibri" pitchFamily="34" charset="-120"/>
              </a:rPr>
              <a:t>5 ans</a:t>
            </a:r>
            <a:endParaRPr lang="en-US" sz="900" dirty="0"/>
          </a:p>
        </p:txBody>
      </p:sp>
      <p:sp>
        <p:nvSpPr>
          <p:cNvPr id="18" name="Text 15"/>
          <p:cNvSpPr/>
          <p:nvPr/>
        </p:nvSpPr>
        <p:spPr>
          <a:xfrm>
            <a:off x="1737360" y="3749040"/>
            <a:ext cx="1298448" cy="228600"/>
          </a:xfrm>
          <a:prstGeom prst="rect">
            <a:avLst/>
          </a:prstGeom>
          <a:noFill/>
          <a:ln/>
        </p:spPr>
        <p:txBody>
          <a:bodyPr wrap="square" rtlCol="0" anchor="ctr"/>
          <a:lstStyle/>
          <a:p>
            <a:pPr marL="0" indent="0" algn="ctr">
              <a:buNone/>
            </a:pPr>
            <a:r>
              <a:rPr lang="en-US" sz="900" b="1" dirty="0">
                <a:solidFill>
                  <a:srgbClr val="F4A227"/>
                </a:solidFill>
                <a:latin typeface="Calibri" pitchFamily="34" charset="0"/>
                <a:ea typeface="Calibri" pitchFamily="34" charset="-122"/>
                <a:cs typeface="Calibri" pitchFamily="34" charset="-120"/>
              </a:rPr>
              <a:t>2 ans</a:t>
            </a:r>
            <a:endParaRPr lang="en-US" sz="900" dirty="0"/>
          </a:p>
        </p:txBody>
      </p:sp>
      <p:sp>
        <p:nvSpPr>
          <p:cNvPr id="19" name="Text 16"/>
          <p:cNvSpPr/>
          <p:nvPr/>
        </p:nvSpPr>
        <p:spPr>
          <a:xfrm>
            <a:off x="3127248" y="3749040"/>
            <a:ext cx="1298448" cy="228600"/>
          </a:xfrm>
          <a:prstGeom prst="rect">
            <a:avLst/>
          </a:prstGeom>
          <a:noFill/>
          <a:ln/>
        </p:spPr>
        <p:txBody>
          <a:bodyPr wrap="square" rtlCol="0" anchor="ctr"/>
          <a:lstStyle/>
          <a:p>
            <a:pPr marL="0" indent="0" algn="ctr">
              <a:buNone/>
            </a:pPr>
            <a:r>
              <a:rPr lang="en-US" sz="900" b="1" dirty="0">
                <a:solidFill>
                  <a:srgbClr val="C0392B"/>
                </a:solidFill>
                <a:latin typeface="Calibri" pitchFamily="34" charset="0"/>
                <a:ea typeface="Calibri" pitchFamily="34" charset="-122"/>
                <a:cs typeface="Calibri" pitchFamily="34" charset="-120"/>
              </a:rPr>
              <a:t>1 an</a:t>
            </a:r>
            <a:endParaRPr lang="en-US" sz="900" dirty="0"/>
          </a:p>
        </p:txBody>
      </p:sp>
      <p:sp>
        <p:nvSpPr>
          <p:cNvPr id="20" name="Shape 17"/>
          <p:cNvSpPr/>
          <p:nvPr/>
        </p:nvSpPr>
        <p:spPr>
          <a:xfrm>
            <a:off x="4709160" y="914400"/>
            <a:ext cx="4160520" cy="411480"/>
          </a:xfrm>
          <a:prstGeom prst="rect">
            <a:avLst/>
          </a:prstGeom>
          <a:solidFill>
            <a:srgbClr val="1A3A5C"/>
          </a:solidFill>
          <a:ln w="12700">
            <a:solidFill>
              <a:srgbClr val="1A3A5C"/>
            </a:solidFill>
            <a:prstDash val="solid"/>
          </a:ln>
        </p:spPr>
        <p:txBody>
          <a:bodyPr/>
          <a:lstStyle/>
          <a:p>
            <a:endParaRPr lang="fr-FR"/>
          </a:p>
        </p:txBody>
      </p:sp>
      <p:sp>
        <p:nvSpPr>
          <p:cNvPr id="21" name="Text 18"/>
          <p:cNvSpPr/>
          <p:nvPr/>
        </p:nvSpPr>
        <p:spPr>
          <a:xfrm>
            <a:off x="4709160" y="914400"/>
            <a:ext cx="416052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FORMATION CONTINUE OBLIGATOIRE</a:t>
            </a:r>
            <a:endParaRPr lang="en-US" sz="1200" dirty="0"/>
          </a:p>
        </p:txBody>
      </p:sp>
      <p:sp>
        <p:nvSpPr>
          <p:cNvPr id="22" name="Shape 19"/>
          <p:cNvSpPr/>
          <p:nvPr/>
        </p:nvSpPr>
        <p:spPr>
          <a:xfrm>
            <a:off x="4709160" y="1389888"/>
            <a:ext cx="4160520" cy="960120"/>
          </a:xfrm>
          <a:prstGeom prst="rect">
            <a:avLst/>
          </a:prstGeom>
          <a:solidFill>
            <a:srgbClr val="E8F1FA"/>
          </a:solidFill>
          <a:ln w="6350">
            <a:solidFill>
              <a:srgbClr val="D0DCE8"/>
            </a:solidFill>
            <a:prstDash val="solid"/>
          </a:ln>
        </p:spPr>
        <p:txBody>
          <a:bodyPr/>
          <a:lstStyle/>
          <a:p>
            <a:endParaRPr lang="fr-FR"/>
          </a:p>
        </p:txBody>
      </p:sp>
      <p:sp>
        <p:nvSpPr>
          <p:cNvPr id="23" name="Shape 20"/>
          <p:cNvSpPr/>
          <p:nvPr/>
        </p:nvSpPr>
        <p:spPr>
          <a:xfrm>
            <a:off x="4800600" y="1508760"/>
            <a:ext cx="1417320" cy="713232"/>
          </a:xfrm>
          <a:prstGeom prst="rect">
            <a:avLst/>
          </a:prstGeom>
          <a:solidFill>
            <a:srgbClr val="1A3A5C"/>
          </a:solidFill>
          <a:ln w="12700">
            <a:solidFill>
              <a:srgbClr val="1A3A5C"/>
            </a:solidFill>
            <a:prstDash val="solid"/>
          </a:ln>
        </p:spPr>
        <p:txBody>
          <a:bodyPr/>
          <a:lstStyle/>
          <a:p>
            <a:endParaRPr lang="fr-FR"/>
          </a:p>
        </p:txBody>
      </p:sp>
      <p:sp>
        <p:nvSpPr>
          <p:cNvPr id="24" name="Text 21"/>
          <p:cNvSpPr/>
          <p:nvPr/>
        </p:nvSpPr>
        <p:spPr>
          <a:xfrm>
            <a:off x="4800600" y="1508760"/>
            <a:ext cx="1417320" cy="713232"/>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14h</a:t>
            </a:r>
            <a:endParaRPr lang="en-US" sz="2800" dirty="0"/>
          </a:p>
        </p:txBody>
      </p:sp>
      <p:sp>
        <p:nvSpPr>
          <p:cNvPr id="25" name="Text 22"/>
          <p:cNvSpPr/>
          <p:nvPr/>
        </p:nvSpPr>
        <p:spPr>
          <a:xfrm>
            <a:off x="6309360" y="1508760"/>
            <a:ext cx="2468880" cy="713232"/>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TAXI / VTC / VMDTR</a:t>
            </a: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Tous les 5 ans</a:t>
            </a: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Auprès d'un centre de formation agréé par le préfet</a:t>
            </a:r>
            <a:endParaRPr lang="en-US" sz="1000" dirty="0"/>
          </a:p>
        </p:txBody>
      </p:sp>
      <p:sp>
        <p:nvSpPr>
          <p:cNvPr id="26" name="Shape 23"/>
          <p:cNvSpPr/>
          <p:nvPr/>
        </p:nvSpPr>
        <p:spPr>
          <a:xfrm>
            <a:off x="4709160" y="2423160"/>
            <a:ext cx="4160520" cy="1691640"/>
          </a:xfrm>
          <a:prstGeom prst="rect">
            <a:avLst/>
          </a:prstGeom>
          <a:solidFill>
            <a:srgbClr val="E8F1FA"/>
          </a:solidFill>
          <a:ln w="6350">
            <a:solidFill>
              <a:srgbClr val="D0DCE8"/>
            </a:solidFill>
            <a:prstDash val="solid"/>
          </a:ln>
        </p:spPr>
        <p:txBody>
          <a:bodyPr/>
          <a:lstStyle/>
          <a:p>
            <a:endParaRPr lang="fr-FR"/>
          </a:p>
        </p:txBody>
      </p:sp>
      <p:sp>
        <p:nvSpPr>
          <p:cNvPr id="27" name="Text 24"/>
          <p:cNvSpPr/>
          <p:nvPr/>
        </p:nvSpPr>
        <p:spPr>
          <a:xfrm>
            <a:off x="4800600" y="2450592"/>
            <a:ext cx="3977640" cy="1627632"/>
          </a:xfrm>
          <a:prstGeom prst="rect">
            <a:avLst/>
          </a:prstGeom>
          <a:noFill/>
          <a:ln/>
        </p:spPr>
        <p:txBody>
          <a:bodyPr wrap="square" rtlCol="0" anchor="t"/>
          <a:lstStyle/>
          <a:p>
            <a:pPr marL="0" indent="0">
              <a:buNone/>
            </a:pPr>
            <a:r>
              <a:rPr lang="en-US" sz="950" dirty="0">
                <a:solidFill>
                  <a:srgbClr val="3A3A3A"/>
                </a:solidFill>
                <a:latin typeface="Calibri" pitchFamily="34" charset="0"/>
                <a:ea typeface="Calibri" pitchFamily="34" charset="-122"/>
                <a:cs typeface="Calibri" pitchFamily="34" charset="-120"/>
              </a:rPr>
              <a:t>• Mise à jour réglementaire (nouvelles lois, arrêtés)</a:t>
            </a:r>
            <a:endParaRPr lang="en-US" sz="950" dirty="0"/>
          </a:p>
          <a:p>
            <a:pPr marL="0" indent="0">
              <a:buNone/>
            </a:pPr>
            <a:r>
              <a:rPr lang="en-US" sz="950" dirty="0">
                <a:solidFill>
                  <a:srgbClr val="3A3A3A"/>
                </a:solidFill>
                <a:latin typeface="Calibri" pitchFamily="34" charset="0"/>
                <a:ea typeface="Calibri" pitchFamily="34" charset="-122"/>
                <a:cs typeface="Calibri" pitchFamily="34" charset="-120"/>
              </a:rPr>
              <a:t>• Sécurité routière spécifique T3P</a:t>
            </a:r>
            <a:endParaRPr lang="en-US" sz="950" dirty="0"/>
          </a:p>
          <a:p>
            <a:pPr marL="0" indent="0">
              <a:buNone/>
            </a:pPr>
            <a:r>
              <a:rPr lang="en-US" sz="950" dirty="0">
                <a:solidFill>
                  <a:srgbClr val="3A3A3A"/>
                </a:solidFill>
                <a:latin typeface="Calibri" pitchFamily="34" charset="0"/>
                <a:ea typeface="Calibri" pitchFamily="34" charset="-122"/>
                <a:cs typeface="Calibri" pitchFamily="34" charset="-120"/>
              </a:rPr>
              <a:t>• Relation client — gestion situations difficiles</a:t>
            </a:r>
            <a:endParaRPr lang="en-US" sz="950" dirty="0"/>
          </a:p>
          <a:p>
            <a:pPr marL="0" indent="0">
              <a:buNone/>
            </a:pPr>
            <a:r>
              <a:rPr lang="en-US" sz="950" dirty="0">
                <a:solidFill>
                  <a:srgbClr val="3A3A3A"/>
                </a:solidFill>
                <a:latin typeface="Calibri" pitchFamily="34" charset="0"/>
                <a:ea typeface="Calibri" pitchFamily="34" charset="-122"/>
                <a:cs typeface="Calibri" pitchFamily="34" charset="-120"/>
              </a:rPr>
              <a:t>• Prévention des discriminations et des VSS (depuis 2024)</a:t>
            </a:r>
            <a:endParaRPr lang="en-US" sz="950" dirty="0"/>
          </a:p>
          <a:p>
            <a:pPr marL="0" indent="0">
              <a:buNone/>
            </a:pPr>
            <a:r>
              <a:rPr lang="en-US" sz="950" dirty="0">
                <a:solidFill>
                  <a:srgbClr val="3A3A3A"/>
                </a:solidFill>
                <a:latin typeface="Calibri" pitchFamily="34" charset="0"/>
                <a:ea typeface="Calibri" pitchFamily="34" charset="-122"/>
                <a:cs typeface="Calibri" pitchFamily="34" charset="-120"/>
              </a:rPr>
              <a:t>• Centre de formation AGRÉÉ par le Préfet</a:t>
            </a:r>
            <a:endParaRPr lang="en-US" sz="950" dirty="0"/>
          </a:p>
          <a:p>
            <a:pPr marL="0" indent="0">
              <a:buNone/>
            </a:pPr>
            <a:r>
              <a:rPr lang="en-US" sz="950" dirty="0">
                <a:solidFill>
                  <a:srgbClr val="3A3A3A"/>
                </a:solidFill>
                <a:latin typeface="Calibri" pitchFamily="34" charset="0"/>
                <a:ea typeface="Calibri" pitchFamily="34" charset="-122"/>
                <a:cs typeface="Calibri" pitchFamily="34" charset="-120"/>
              </a:rPr>
              <a:t>• Finançable par le CPF</a:t>
            </a:r>
            <a:endParaRPr lang="en-US" sz="950" dirty="0"/>
          </a:p>
        </p:txBody>
      </p:sp>
      <p:sp>
        <p:nvSpPr>
          <p:cNvPr id="28" name="Shape 25"/>
          <p:cNvSpPr/>
          <p:nvPr/>
        </p:nvSpPr>
        <p:spPr>
          <a:xfrm>
            <a:off x="274320" y="4187952"/>
            <a:ext cx="8595360" cy="384048"/>
          </a:xfrm>
          <a:prstGeom prst="rect">
            <a:avLst/>
          </a:prstGeom>
          <a:solidFill>
            <a:srgbClr val="FEF0EE"/>
          </a:solidFill>
          <a:ln w="19050">
            <a:solidFill>
              <a:srgbClr val="C0392B"/>
            </a:solidFill>
            <a:prstDash val="solid"/>
          </a:ln>
        </p:spPr>
        <p:txBody>
          <a:bodyPr/>
          <a:lstStyle/>
          <a:p>
            <a:endParaRPr lang="fr-FR"/>
          </a:p>
        </p:txBody>
      </p:sp>
      <p:sp>
        <p:nvSpPr>
          <p:cNvPr id="29" name="Shape 26"/>
          <p:cNvSpPr/>
          <p:nvPr/>
        </p:nvSpPr>
        <p:spPr>
          <a:xfrm>
            <a:off x="274320" y="4187952"/>
            <a:ext cx="54864" cy="384048"/>
          </a:xfrm>
          <a:prstGeom prst="rect">
            <a:avLst/>
          </a:prstGeom>
          <a:solidFill>
            <a:srgbClr val="C0392B"/>
          </a:solidFill>
          <a:ln w="12700">
            <a:solidFill>
              <a:srgbClr val="C0392B"/>
            </a:solidFill>
            <a:prstDash val="solid"/>
          </a:ln>
        </p:spPr>
        <p:txBody>
          <a:bodyPr/>
          <a:lstStyle/>
          <a:p>
            <a:endParaRPr lang="fr-FR"/>
          </a:p>
        </p:txBody>
      </p:sp>
      <p:sp>
        <p:nvSpPr>
          <p:cNvPr id="30" name="Text 27"/>
          <p:cNvSpPr/>
          <p:nvPr/>
        </p:nvSpPr>
        <p:spPr>
          <a:xfrm>
            <a:off x="384048" y="4187952"/>
            <a:ext cx="8467344" cy="38404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  Sans visite médicale valide OU sans formation continue → carte professionnelle non renouvelée → exercice illégal = DÉLIT.</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8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À RETENIR 5 — La maraude et les sources de la réglementation</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49/88</a:t>
            </a:r>
            <a:endParaRPr lang="en-US" sz="800" dirty="0"/>
          </a:p>
        </p:txBody>
      </p:sp>
      <p:sp>
        <p:nvSpPr>
          <p:cNvPr id="8" name="Shape 6"/>
          <p:cNvSpPr/>
          <p:nvPr/>
        </p:nvSpPr>
        <p:spPr>
          <a:xfrm>
            <a:off x="274320" y="914400"/>
            <a:ext cx="8595360" cy="411480"/>
          </a:xfrm>
          <a:prstGeom prst="rect">
            <a:avLst/>
          </a:prstGeom>
          <a:solidFill>
            <a:srgbClr val="1A3A5C"/>
          </a:solidFill>
          <a:ln w="12700">
            <a:solidFill>
              <a:srgbClr val="1A3A5C"/>
            </a:solidFill>
            <a:prstDash val="solid"/>
          </a:ln>
        </p:spPr>
        <p:txBody>
          <a:bodyPr/>
          <a:lstStyle/>
          <a:p>
            <a:endParaRPr lang="fr-FR"/>
          </a:p>
        </p:txBody>
      </p:sp>
      <p:sp>
        <p:nvSpPr>
          <p:cNvPr id="9" name="Text 7"/>
          <p:cNvSpPr/>
          <p:nvPr/>
        </p:nvSpPr>
        <p:spPr>
          <a:xfrm>
            <a:off x="274320" y="914400"/>
            <a:ext cx="859536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LA MARAUDE — Définition légale</a:t>
            </a:r>
            <a:endParaRPr lang="en-US" sz="1300" dirty="0"/>
          </a:p>
        </p:txBody>
      </p:sp>
      <p:sp>
        <p:nvSpPr>
          <p:cNvPr id="10" name="Shape 8"/>
          <p:cNvSpPr/>
          <p:nvPr/>
        </p:nvSpPr>
        <p:spPr>
          <a:xfrm>
            <a:off x="274320" y="1417320"/>
            <a:ext cx="8595360" cy="658368"/>
          </a:xfrm>
          <a:prstGeom prst="rect">
            <a:avLst/>
          </a:prstGeom>
          <a:solidFill>
            <a:srgbClr val="EBF3FC"/>
          </a:solidFill>
          <a:ln w="19050">
            <a:solidFill>
              <a:srgbClr val="2860A8"/>
            </a:solidFill>
            <a:prstDash val="solid"/>
          </a:ln>
        </p:spPr>
        <p:txBody>
          <a:bodyPr/>
          <a:lstStyle/>
          <a:p>
            <a:endParaRPr lang="fr-FR"/>
          </a:p>
        </p:txBody>
      </p:sp>
      <p:sp>
        <p:nvSpPr>
          <p:cNvPr id="11" name="Shape 9"/>
          <p:cNvSpPr/>
          <p:nvPr/>
        </p:nvSpPr>
        <p:spPr>
          <a:xfrm>
            <a:off x="274320" y="1417320"/>
            <a:ext cx="54864" cy="658368"/>
          </a:xfrm>
          <a:prstGeom prst="rect">
            <a:avLst/>
          </a:prstGeom>
          <a:solidFill>
            <a:srgbClr val="2860A8"/>
          </a:solidFill>
          <a:ln w="12700">
            <a:solidFill>
              <a:srgbClr val="2860A8"/>
            </a:solidFill>
            <a:prstDash val="solid"/>
          </a:ln>
        </p:spPr>
        <p:txBody>
          <a:bodyPr/>
          <a:lstStyle/>
          <a:p>
            <a:endParaRPr lang="fr-FR"/>
          </a:p>
        </p:txBody>
      </p:sp>
      <p:sp>
        <p:nvSpPr>
          <p:cNvPr id="12" name="Text 10"/>
          <p:cNvSpPr/>
          <p:nvPr/>
        </p:nvSpPr>
        <p:spPr>
          <a:xfrm>
            <a:off x="457200" y="1417320"/>
            <a:ext cx="8229600" cy="658368"/>
          </a:xfrm>
          <a:prstGeom prst="rect">
            <a:avLst/>
          </a:prstGeom>
          <a:noFill/>
          <a:ln/>
        </p:spPr>
        <p:txBody>
          <a:bodyPr wrap="square" rtlCol="0" anchor="ctr"/>
          <a:lstStyle/>
          <a:p>
            <a:pPr marL="0" indent="0">
              <a:buNone/>
            </a:pPr>
            <a:r>
              <a:rPr lang="en-US" sz="1100" i="1" dirty="0">
                <a:solidFill>
                  <a:srgbClr val="3A3A3A"/>
                </a:solidFill>
                <a:latin typeface="Calibri" pitchFamily="34" charset="0"/>
                <a:ea typeface="Calibri" pitchFamily="34" charset="-122"/>
                <a:cs typeface="Calibri" pitchFamily="34" charset="-120"/>
              </a:rPr>
              <a:t>C'est le fait de prendre un client sans réservation préalable et / ou d'être en quête de clientèle sur la voie publique.</a:t>
            </a:r>
            <a:endParaRPr lang="en-US" sz="1100" dirty="0"/>
          </a:p>
        </p:txBody>
      </p:sp>
      <p:graphicFrame>
        <p:nvGraphicFramePr>
          <p:cNvPr id="86" name="Table 0"/>
          <p:cNvGraphicFramePr>
            <a:graphicFrameLocks noGrp="1"/>
          </p:cNvGraphicFramePr>
          <p:nvPr>
            <p:extLst>
              <p:ext uri="{D42A27DB-BD31-4B8C-83A1-F6EECF244321}">
                <p14:modId xmlns:p14="http://schemas.microsoft.com/office/powerpoint/2010/main" val="1579011935"/>
              </p:ext>
            </p:extLst>
          </p:nvPr>
        </p:nvGraphicFramePr>
        <p:xfrm>
          <a:off x="274320" y="2148840"/>
          <a:ext cx="8595360" cy="804672"/>
        </p:xfrm>
        <a:graphic>
          <a:graphicData uri="http://schemas.openxmlformats.org/drawingml/2006/table">
            <a:tbl>
              <a:tblPr/>
              <a:tblGrid>
                <a:gridCol w="23774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402336">
                <a:tc>
                  <a:txBody>
                    <a:bodyPr/>
                    <a:lstStyle/>
                    <a:p>
                      <a:pPr marL="0" indent="0">
                        <a:buNone/>
                      </a:pP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2D4A6B"/>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TAXI</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2860A8"/>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VTC</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VMDTR</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C0392B"/>
                    </a:solidFill>
                  </a:tcPr>
                </a:tc>
                <a:extLst>
                  <a:ext uri="{0D108BD9-81ED-4DB2-BD59-A6C34878D82A}">
                    <a16:rowId xmlns:a16="http://schemas.microsoft.com/office/drawing/2014/main" val="10000"/>
                  </a:ext>
                </a:extLst>
              </a:tr>
              <a:tr h="402336">
                <a:tc>
                  <a:txBody>
                    <a:bodyPr/>
                    <a:lstStyle/>
                    <a:p>
                      <a:pPr marL="0" indent="0">
                        <a:buNone/>
                      </a:pPr>
                      <a:r>
                        <a:rPr lang="en-US" sz="1100" dirty="0">
                          <a:solidFill>
                            <a:srgbClr val="3A3A3A"/>
                          </a:solidFill>
                          <a:latin typeface="Calibri" pitchFamily="34" charset="0"/>
                          <a:ea typeface="Calibri" pitchFamily="34" charset="-122"/>
                          <a:cs typeface="Calibri" pitchFamily="34" charset="-120"/>
                        </a:rPr>
                        <a:t>Maraude autorisée ?</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100" dirty="0">
                          <a:solidFill>
                            <a:srgbClr val="1A7A3A"/>
                          </a:solidFill>
                          <a:latin typeface="Calibri" pitchFamily="34" charset="0"/>
                          <a:ea typeface="Calibri" pitchFamily="34" charset="-122"/>
                          <a:cs typeface="Calibri" pitchFamily="34" charset="-120"/>
                        </a:rPr>
                        <a:t>Oui, uniquement dans la zone de rattachement</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100" b="1" dirty="0">
                          <a:solidFill>
                            <a:srgbClr val="C0392B"/>
                          </a:solidFill>
                          <a:latin typeface="Calibri" pitchFamily="34" charset="0"/>
                          <a:ea typeface="Calibri" pitchFamily="34" charset="-122"/>
                          <a:cs typeface="Calibri" pitchFamily="34" charset="-120"/>
                        </a:rPr>
                        <a:t>Non</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100" b="1" dirty="0">
                          <a:solidFill>
                            <a:srgbClr val="C0392B"/>
                          </a:solidFill>
                          <a:latin typeface="Calibri" pitchFamily="34" charset="0"/>
                          <a:ea typeface="Calibri" pitchFamily="34" charset="-122"/>
                          <a:cs typeface="Calibri" pitchFamily="34" charset="-120"/>
                        </a:rPr>
                        <a:t>Non</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1"/>
                  </a:ext>
                </a:extLst>
              </a:tr>
            </a:tbl>
          </a:graphicData>
        </a:graphic>
      </p:graphicFrame>
      <p:sp>
        <p:nvSpPr>
          <p:cNvPr id="14" name="Shape 11"/>
          <p:cNvSpPr/>
          <p:nvPr/>
        </p:nvSpPr>
        <p:spPr>
          <a:xfrm>
            <a:off x="274320" y="3035808"/>
            <a:ext cx="8595360" cy="347472"/>
          </a:xfrm>
          <a:prstGeom prst="rect">
            <a:avLst/>
          </a:prstGeom>
          <a:solidFill>
            <a:srgbClr val="FEF0EE"/>
          </a:solidFill>
          <a:ln w="19050">
            <a:solidFill>
              <a:srgbClr val="C0392B"/>
            </a:solidFill>
            <a:prstDash val="solid"/>
          </a:ln>
        </p:spPr>
        <p:txBody>
          <a:bodyPr/>
          <a:lstStyle/>
          <a:p>
            <a:endParaRPr lang="fr-FR"/>
          </a:p>
        </p:txBody>
      </p:sp>
      <p:sp>
        <p:nvSpPr>
          <p:cNvPr id="15" name="Shape 12"/>
          <p:cNvSpPr/>
          <p:nvPr/>
        </p:nvSpPr>
        <p:spPr>
          <a:xfrm>
            <a:off x="274320" y="3035808"/>
            <a:ext cx="54864" cy="347472"/>
          </a:xfrm>
          <a:prstGeom prst="rect">
            <a:avLst/>
          </a:prstGeom>
          <a:solidFill>
            <a:srgbClr val="C0392B"/>
          </a:solidFill>
          <a:ln w="12700">
            <a:solidFill>
              <a:srgbClr val="C0392B"/>
            </a:solidFill>
            <a:prstDash val="solid"/>
          </a:ln>
        </p:spPr>
        <p:txBody>
          <a:bodyPr/>
          <a:lstStyle/>
          <a:p>
            <a:endParaRPr lang="fr-FR"/>
          </a:p>
        </p:txBody>
      </p:sp>
      <p:sp>
        <p:nvSpPr>
          <p:cNvPr id="16" name="Text 13"/>
          <p:cNvSpPr/>
          <p:nvPr/>
        </p:nvSpPr>
        <p:spPr>
          <a:xfrm>
            <a:off x="384048" y="3035808"/>
            <a:ext cx="8467344" cy="347472"/>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  RÈGLE : Maraude = DROIT EXCLUSIF du TAXI dans sa zone. VTC qui circule sans réservation = DÉLIT : 1 an + 15 000 €.</a:t>
            </a:r>
            <a:endParaRPr lang="en-US" sz="1000" dirty="0"/>
          </a:p>
        </p:txBody>
      </p:sp>
      <p:sp>
        <p:nvSpPr>
          <p:cNvPr id="17" name="Shape 14"/>
          <p:cNvSpPr/>
          <p:nvPr/>
        </p:nvSpPr>
        <p:spPr>
          <a:xfrm>
            <a:off x="274320" y="3493008"/>
            <a:ext cx="8595360" cy="347472"/>
          </a:xfrm>
          <a:prstGeom prst="rect">
            <a:avLst/>
          </a:prstGeom>
          <a:solidFill>
            <a:srgbClr val="1A3A5C"/>
          </a:solidFill>
          <a:ln w="12700">
            <a:solidFill>
              <a:srgbClr val="1A3A5C"/>
            </a:solidFill>
            <a:prstDash val="solid"/>
          </a:ln>
        </p:spPr>
        <p:txBody>
          <a:bodyPr/>
          <a:lstStyle/>
          <a:p>
            <a:endParaRPr lang="fr-FR"/>
          </a:p>
        </p:txBody>
      </p:sp>
      <p:sp>
        <p:nvSpPr>
          <p:cNvPr id="18" name="Text 15"/>
          <p:cNvSpPr/>
          <p:nvPr/>
        </p:nvSpPr>
        <p:spPr>
          <a:xfrm>
            <a:off x="274320" y="3493008"/>
            <a:ext cx="8595360"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SOURCES DE LA RÉGLEMENTATION</a:t>
            </a:r>
            <a:endParaRPr lang="en-US" sz="1100" dirty="0"/>
          </a:p>
        </p:txBody>
      </p:sp>
      <p:graphicFrame>
        <p:nvGraphicFramePr>
          <p:cNvPr id="171" name="Table 1"/>
          <p:cNvGraphicFramePr>
            <a:graphicFrameLocks noGrp="1"/>
          </p:cNvGraphicFramePr>
          <p:nvPr>
            <p:extLst>
              <p:ext uri="{D42A27DB-BD31-4B8C-83A1-F6EECF244321}">
                <p14:modId xmlns:p14="http://schemas.microsoft.com/office/powerpoint/2010/main" val="1579011935"/>
              </p:ext>
            </p:extLst>
          </p:nvPr>
        </p:nvGraphicFramePr>
        <p:xfrm>
          <a:off x="274320" y="3913632"/>
          <a:ext cx="8595360" cy="1078992"/>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359664">
                <a:tc>
                  <a:txBody>
                    <a:bodyPr/>
                    <a:lstStyle/>
                    <a:p>
                      <a:pPr marL="0" indent="0">
                        <a:buNone/>
                      </a:pP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2D4A6B"/>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TAXI</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2860A8"/>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VTC</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VMDTR</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6B7A8D"/>
                    </a:solidFill>
                  </a:tcPr>
                </a:tc>
                <a:extLst>
                  <a:ext uri="{0D108BD9-81ED-4DB2-BD59-A6C34878D82A}">
                    <a16:rowId xmlns:a16="http://schemas.microsoft.com/office/drawing/2014/main" val="10000"/>
                  </a:ext>
                </a:extLst>
              </a:tr>
              <a:tr h="359664">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Texte de base</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Code des transports</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Code des transports</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Code des transports</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9664">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Autorité locale</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Préfecture</a:t>
                      </a:r>
                      <a:endParaRPr lang="en-US" sz="1000" dirty="0">
                        <a:latin typeface="Calibri" charset="0"/>
                        <a:ea typeface="Calibri" charset="0"/>
                        <a:cs typeface="Calibri" charset="0"/>
                      </a:endParaRPr>
                    </a:p>
                    <a:p>
                      <a:pPr marL="0" indent="0">
                        <a:buNone/>
                      </a:pPr>
                      <a:r>
                        <a:rPr lang="en-US" sz="1000" dirty="0">
                          <a:solidFill>
                            <a:srgbClr val="3A3A3A"/>
                          </a:solidFill>
                          <a:latin typeface="Calibri" pitchFamily="34" charset="0"/>
                          <a:ea typeface="Calibri" pitchFamily="34" charset="-122"/>
                          <a:cs typeface="Calibri" pitchFamily="34" charset="-120"/>
                        </a:rPr>
                        <a:t>EPCI (métropole)</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Préfecture</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1000" dirty="0">
                          <a:solidFill>
                            <a:srgbClr val="3A3A3A"/>
                          </a:solidFill>
                          <a:latin typeface="Calibri" pitchFamily="34" charset="0"/>
                          <a:ea typeface="Calibri" pitchFamily="34" charset="-122"/>
                          <a:cs typeface="Calibri" pitchFamily="34" charset="-120"/>
                        </a:rPr>
                        <a:t>Préfecture</a:t>
                      </a:r>
                      <a:endParaRPr lang="en-US" sz="10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8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À RETENIR 6 — Documents de contrôle routier</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50/88</a:t>
            </a:r>
            <a:endParaRPr lang="en-US" sz="800" dirty="0"/>
          </a:p>
        </p:txBody>
      </p:sp>
      <p:sp>
        <p:nvSpPr>
          <p:cNvPr id="8" name="Shape 6"/>
          <p:cNvSpPr/>
          <p:nvPr/>
        </p:nvSpPr>
        <p:spPr>
          <a:xfrm>
            <a:off x="274320" y="914400"/>
            <a:ext cx="8595360" cy="347472"/>
          </a:xfrm>
          <a:prstGeom prst="rect">
            <a:avLst/>
          </a:prstGeom>
          <a:solidFill>
            <a:srgbClr val="1A3A5C"/>
          </a:solidFill>
          <a:ln w="12700">
            <a:solidFill>
              <a:srgbClr val="1A3A5C"/>
            </a:solidFill>
            <a:prstDash val="solid"/>
          </a:ln>
        </p:spPr>
        <p:txBody>
          <a:bodyPr/>
          <a:lstStyle/>
          <a:p>
            <a:endParaRPr lang="fr-FR"/>
          </a:p>
        </p:txBody>
      </p:sp>
      <p:sp>
        <p:nvSpPr>
          <p:cNvPr id="9" name="Text 7"/>
          <p:cNvSpPr/>
          <p:nvPr/>
        </p:nvSpPr>
        <p:spPr>
          <a:xfrm>
            <a:off x="274320" y="914400"/>
            <a:ext cx="8595360"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DOCUMENTS À PRÉSENTER EN CAS DE CONTRÔLE ROUTIER</a:t>
            </a:r>
            <a:endParaRPr lang="en-US" sz="1100" dirty="0"/>
          </a:p>
        </p:txBody>
      </p:sp>
      <p:sp>
        <p:nvSpPr>
          <p:cNvPr id="10" name="Shape 8"/>
          <p:cNvSpPr/>
          <p:nvPr/>
        </p:nvSpPr>
        <p:spPr>
          <a:xfrm>
            <a:off x="274320" y="1325880"/>
            <a:ext cx="4160520" cy="347472"/>
          </a:xfrm>
          <a:prstGeom prst="rect">
            <a:avLst/>
          </a:prstGeom>
          <a:solidFill>
            <a:srgbClr val="2860A8"/>
          </a:solidFill>
          <a:ln w="12700">
            <a:solidFill>
              <a:srgbClr val="2860A8"/>
            </a:solidFill>
            <a:prstDash val="solid"/>
          </a:ln>
        </p:spPr>
        <p:txBody>
          <a:bodyPr/>
          <a:lstStyle/>
          <a:p>
            <a:endParaRPr lang="fr-FR"/>
          </a:p>
        </p:txBody>
      </p:sp>
      <p:sp>
        <p:nvSpPr>
          <p:cNvPr id="11" name="Text 9"/>
          <p:cNvSpPr/>
          <p:nvPr/>
        </p:nvSpPr>
        <p:spPr>
          <a:xfrm>
            <a:off x="274320" y="1325880"/>
            <a:ext cx="4160520" cy="34747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Documents VÉHICULE</a:t>
            </a:r>
            <a:endParaRPr lang="en-US" sz="1050" dirty="0"/>
          </a:p>
        </p:txBody>
      </p:sp>
      <p:sp>
        <p:nvSpPr>
          <p:cNvPr id="12" name="Shape 10"/>
          <p:cNvSpPr/>
          <p:nvPr/>
        </p:nvSpPr>
        <p:spPr>
          <a:xfrm>
            <a:off x="274320" y="1737360"/>
            <a:ext cx="4160520" cy="411480"/>
          </a:xfrm>
          <a:prstGeom prst="rect">
            <a:avLst/>
          </a:prstGeom>
          <a:solidFill>
            <a:srgbClr val="E8F1FA"/>
          </a:solidFill>
          <a:ln w="6350">
            <a:solidFill>
              <a:srgbClr val="D0DCE8"/>
            </a:solidFill>
            <a:prstDash val="solid"/>
          </a:ln>
        </p:spPr>
        <p:txBody>
          <a:bodyPr/>
          <a:lstStyle/>
          <a:p>
            <a:endParaRPr lang="fr-FR"/>
          </a:p>
        </p:txBody>
      </p:sp>
      <p:sp>
        <p:nvSpPr>
          <p:cNvPr id="13" name="Shape 11"/>
          <p:cNvSpPr/>
          <p:nvPr/>
        </p:nvSpPr>
        <p:spPr>
          <a:xfrm>
            <a:off x="274320" y="1737360"/>
            <a:ext cx="256032" cy="411480"/>
          </a:xfrm>
          <a:prstGeom prst="rect">
            <a:avLst/>
          </a:prstGeom>
          <a:solidFill>
            <a:srgbClr val="2860A8"/>
          </a:solidFill>
          <a:ln w="12700">
            <a:solidFill>
              <a:srgbClr val="2860A8"/>
            </a:solidFill>
            <a:prstDash val="solid"/>
          </a:ln>
        </p:spPr>
        <p:txBody>
          <a:bodyPr/>
          <a:lstStyle/>
          <a:p>
            <a:endParaRPr lang="fr-FR"/>
          </a:p>
        </p:txBody>
      </p:sp>
      <p:sp>
        <p:nvSpPr>
          <p:cNvPr id="14" name="Text 12"/>
          <p:cNvSpPr/>
          <p:nvPr/>
        </p:nvSpPr>
        <p:spPr>
          <a:xfrm>
            <a:off x="274320" y="1737360"/>
            <a:ext cx="256032" cy="411480"/>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a:t>
            </a:r>
            <a:endParaRPr lang="en-US" sz="800" dirty="0"/>
          </a:p>
        </p:txBody>
      </p:sp>
      <p:sp>
        <p:nvSpPr>
          <p:cNvPr id="15" name="Text 13"/>
          <p:cNvSpPr/>
          <p:nvPr/>
        </p:nvSpPr>
        <p:spPr>
          <a:xfrm>
            <a:off x="594360" y="1755648"/>
            <a:ext cx="3767328" cy="347472"/>
          </a:xfrm>
          <a:prstGeom prst="rect">
            <a:avLst/>
          </a:prstGeom>
          <a:noFill/>
          <a:ln/>
        </p:spPr>
        <p:txBody>
          <a:bodyPr wrap="square" rtlCol="0" anchor="ctr"/>
          <a:lstStyle/>
          <a:p>
            <a:pPr marL="0" indent="0">
              <a:buNone/>
            </a:pPr>
            <a:r>
              <a:rPr lang="en-US" sz="1050" dirty="0">
                <a:solidFill>
                  <a:srgbClr val="3A3A3A"/>
                </a:solidFill>
                <a:latin typeface="Calibri" pitchFamily="34" charset="0"/>
                <a:ea typeface="Calibri" pitchFamily="34" charset="-122"/>
                <a:cs typeface="Calibri" pitchFamily="34" charset="-120"/>
              </a:rPr>
              <a:t>Carte Grise</a:t>
            </a:r>
            <a:endParaRPr lang="en-US" sz="1050" dirty="0"/>
          </a:p>
        </p:txBody>
      </p:sp>
      <p:sp>
        <p:nvSpPr>
          <p:cNvPr id="16" name="Shape 14"/>
          <p:cNvSpPr/>
          <p:nvPr/>
        </p:nvSpPr>
        <p:spPr>
          <a:xfrm>
            <a:off x="274320" y="2194560"/>
            <a:ext cx="4160520" cy="411480"/>
          </a:xfrm>
          <a:prstGeom prst="rect">
            <a:avLst/>
          </a:prstGeom>
          <a:solidFill>
            <a:srgbClr val="FFFFFF"/>
          </a:solidFill>
          <a:ln w="6350">
            <a:solidFill>
              <a:srgbClr val="D0DCE8"/>
            </a:solidFill>
            <a:prstDash val="solid"/>
          </a:ln>
        </p:spPr>
        <p:txBody>
          <a:bodyPr/>
          <a:lstStyle/>
          <a:p>
            <a:endParaRPr lang="fr-FR"/>
          </a:p>
        </p:txBody>
      </p:sp>
      <p:sp>
        <p:nvSpPr>
          <p:cNvPr id="17" name="Shape 15"/>
          <p:cNvSpPr/>
          <p:nvPr/>
        </p:nvSpPr>
        <p:spPr>
          <a:xfrm>
            <a:off x="274320" y="2194560"/>
            <a:ext cx="256032" cy="411480"/>
          </a:xfrm>
          <a:prstGeom prst="rect">
            <a:avLst/>
          </a:prstGeom>
          <a:solidFill>
            <a:srgbClr val="2860A8"/>
          </a:solidFill>
          <a:ln w="12700">
            <a:solidFill>
              <a:srgbClr val="2860A8"/>
            </a:solidFill>
            <a:prstDash val="solid"/>
          </a:ln>
        </p:spPr>
        <p:txBody>
          <a:bodyPr/>
          <a:lstStyle/>
          <a:p>
            <a:endParaRPr lang="fr-FR"/>
          </a:p>
        </p:txBody>
      </p:sp>
      <p:sp>
        <p:nvSpPr>
          <p:cNvPr id="18" name="Text 16"/>
          <p:cNvSpPr/>
          <p:nvPr/>
        </p:nvSpPr>
        <p:spPr>
          <a:xfrm>
            <a:off x="274320" y="2194560"/>
            <a:ext cx="256032" cy="411480"/>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a:t>
            </a:r>
            <a:endParaRPr lang="en-US" sz="800" dirty="0"/>
          </a:p>
        </p:txBody>
      </p:sp>
      <p:sp>
        <p:nvSpPr>
          <p:cNvPr id="19" name="Text 17"/>
          <p:cNvSpPr/>
          <p:nvPr/>
        </p:nvSpPr>
        <p:spPr>
          <a:xfrm>
            <a:off x="594360" y="2212848"/>
            <a:ext cx="3767328" cy="347472"/>
          </a:xfrm>
          <a:prstGeom prst="rect">
            <a:avLst/>
          </a:prstGeom>
          <a:noFill/>
          <a:ln/>
        </p:spPr>
        <p:txBody>
          <a:bodyPr wrap="square" rtlCol="0" anchor="ctr"/>
          <a:lstStyle/>
          <a:p>
            <a:pPr marL="0" indent="0">
              <a:buNone/>
            </a:pPr>
            <a:r>
              <a:rPr lang="en-US" sz="1050" dirty="0">
                <a:solidFill>
                  <a:srgbClr val="3A3A3A"/>
                </a:solidFill>
                <a:latin typeface="Calibri" pitchFamily="34" charset="0"/>
                <a:ea typeface="Calibri" pitchFamily="34" charset="-122"/>
                <a:cs typeface="Calibri" pitchFamily="34" charset="-120"/>
              </a:rPr>
              <a:t>Contrôle technique ou attestation d'entretien</a:t>
            </a:r>
            <a:endParaRPr lang="en-US" sz="1050" dirty="0"/>
          </a:p>
        </p:txBody>
      </p:sp>
      <p:sp>
        <p:nvSpPr>
          <p:cNvPr id="20" name="Shape 18"/>
          <p:cNvSpPr/>
          <p:nvPr/>
        </p:nvSpPr>
        <p:spPr>
          <a:xfrm>
            <a:off x="274320" y="2651760"/>
            <a:ext cx="4160520" cy="411480"/>
          </a:xfrm>
          <a:prstGeom prst="rect">
            <a:avLst/>
          </a:prstGeom>
          <a:solidFill>
            <a:srgbClr val="E8F1FA"/>
          </a:solidFill>
          <a:ln w="6350">
            <a:solidFill>
              <a:srgbClr val="D0DCE8"/>
            </a:solidFill>
            <a:prstDash val="solid"/>
          </a:ln>
        </p:spPr>
        <p:txBody>
          <a:bodyPr/>
          <a:lstStyle/>
          <a:p>
            <a:endParaRPr lang="fr-FR"/>
          </a:p>
        </p:txBody>
      </p:sp>
      <p:sp>
        <p:nvSpPr>
          <p:cNvPr id="21" name="Shape 19"/>
          <p:cNvSpPr/>
          <p:nvPr/>
        </p:nvSpPr>
        <p:spPr>
          <a:xfrm>
            <a:off x="274320" y="2651760"/>
            <a:ext cx="256032" cy="411480"/>
          </a:xfrm>
          <a:prstGeom prst="rect">
            <a:avLst/>
          </a:prstGeom>
          <a:solidFill>
            <a:srgbClr val="2860A8"/>
          </a:solidFill>
          <a:ln w="12700">
            <a:solidFill>
              <a:srgbClr val="2860A8"/>
            </a:solidFill>
            <a:prstDash val="solid"/>
          </a:ln>
        </p:spPr>
        <p:txBody>
          <a:bodyPr/>
          <a:lstStyle/>
          <a:p>
            <a:endParaRPr lang="fr-FR"/>
          </a:p>
        </p:txBody>
      </p:sp>
      <p:sp>
        <p:nvSpPr>
          <p:cNvPr id="22" name="Text 20"/>
          <p:cNvSpPr/>
          <p:nvPr/>
        </p:nvSpPr>
        <p:spPr>
          <a:xfrm>
            <a:off x="274320" y="2651760"/>
            <a:ext cx="256032" cy="411480"/>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a:t>
            </a:r>
            <a:endParaRPr lang="en-US" sz="800" dirty="0"/>
          </a:p>
        </p:txBody>
      </p:sp>
      <p:sp>
        <p:nvSpPr>
          <p:cNvPr id="23" name="Text 21"/>
          <p:cNvSpPr/>
          <p:nvPr/>
        </p:nvSpPr>
        <p:spPr>
          <a:xfrm>
            <a:off x="594360" y="2670048"/>
            <a:ext cx="3767328" cy="347472"/>
          </a:xfrm>
          <a:prstGeom prst="rect">
            <a:avLst/>
          </a:prstGeom>
          <a:noFill/>
          <a:ln/>
        </p:spPr>
        <p:txBody>
          <a:bodyPr wrap="square" rtlCol="0" anchor="ctr"/>
          <a:lstStyle/>
          <a:p>
            <a:pPr marL="0" indent="0">
              <a:buNone/>
            </a:pPr>
            <a:r>
              <a:rPr lang="en-US" sz="1050" dirty="0">
                <a:solidFill>
                  <a:srgbClr val="3A3A3A"/>
                </a:solidFill>
                <a:latin typeface="Calibri" pitchFamily="34" charset="0"/>
                <a:ea typeface="Calibri" pitchFamily="34" charset="-122"/>
                <a:cs typeface="Calibri" pitchFamily="34" charset="-120"/>
              </a:rPr>
              <a:t>Attestation d'assurance à titre onéreux</a:t>
            </a:r>
            <a:endParaRPr lang="en-US" sz="1050" dirty="0"/>
          </a:p>
        </p:txBody>
      </p:sp>
      <p:sp>
        <p:nvSpPr>
          <p:cNvPr id="24" name="Shape 22"/>
          <p:cNvSpPr/>
          <p:nvPr/>
        </p:nvSpPr>
        <p:spPr>
          <a:xfrm>
            <a:off x="274320" y="3108960"/>
            <a:ext cx="4160520" cy="411480"/>
          </a:xfrm>
          <a:prstGeom prst="rect">
            <a:avLst/>
          </a:prstGeom>
          <a:solidFill>
            <a:srgbClr val="FFFFFF"/>
          </a:solidFill>
          <a:ln w="6350">
            <a:solidFill>
              <a:srgbClr val="D0DCE8"/>
            </a:solidFill>
            <a:prstDash val="solid"/>
          </a:ln>
        </p:spPr>
        <p:txBody>
          <a:bodyPr/>
          <a:lstStyle/>
          <a:p>
            <a:endParaRPr lang="fr-FR"/>
          </a:p>
        </p:txBody>
      </p:sp>
      <p:sp>
        <p:nvSpPr>
          <p:cNvPr id="25" name="Shape 23"/>
          <p:cNvSpPr/>
          <p:nvPr/>
        </p:nvSpPr>
        <p:spPr>
          <a:xfrm>
            <a:off x="274320" y="3108960"/>
            <a:ext cx="256032" cy="411480"/>
          </a:xfrm>
          <a:prstGeom prst="rect">
            <a:avLst/>
          </a:prstGeom>
          <a:solidFill>
            <a:srgbClr val="2860A8"/>
          </a:solidFill>
          <a:ln w="12700">
            <a:solidFill>
              <a:srgbClr val="2860A8"/>
            </a:solidFill>
            <a:prstDash val="solid"/>
          </a:ln>
        </p:spPr>
        <p:txBody>
          <a:bodyPr/>
          <a:lstStyle/>
          <a:p>
            <a:endParaRPr lang="fr-FR"/>
          </a:p>
        </p:txBody>
      </p:sp>
      <p:sp>
        <p:nvSpPr>
          <p:cNvPr id="26" name="Text 24"/>
          <p:cNvSpPr/>
          <p:nvPr/>
        </p:nvSpPr>
        <p:spPr>
          <a:xfrm>
            <a:off x="274320" y="3108960"/>
            <a:ext cx="256032" cy="411480"/>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a:t>
            </a:r>
            <a:endParaRPr lang="en-US" sz="800" dirty="0"/>
          </a:p>
        </p:txBody>
      </p:sp>
      <p:sp>
        <p:nvSpPr>
          <p:cNvPr id="27" name="Text 25"/>
          <p:cNvSpPr/>
          <p:nvPr/>
        </p:nvSpPr>
        <p:spPr>
          <a:xfrm>
            <a:off x="594360" y="3127248"/>
            <a:ext cx="3767328" cy="347472"/>
          </a:xfrm>
          <a:prstGeom prst="rect">
            <a:avLst/>
          </a:prstGeom>
          <a:noFill/>
          <a:ln/>
        </p:spPr>
        <p:txBody>
          <a:bodyPr wrap="square" rtlCol="0" anchor="ctr"/>
          <a:lstStyle/>
          <a:p>
            <a:pPr marL="0" indent="0">
              <a:buNone/>
            </a:pPr>
            <a:r>
              <a:rPr lang="en-US" sz="1050" dirty="0">
                <a:solidFill>
                  <a:srgbClr val="3A3A3A"/>
                </a:solidFill>
                <a:latin typeface="Calibri" pitchFamily="34" charset="0"/>
                <a:ea typeface="Calibri" pitchFamily="34" charset="-122"/>
                <a:cs typeface="Calibri" pitchFamily="34" charset="-120"/>
              </a:rPr>
              <a:t>Permis A ou B</a:t>
            </a:r>
            <a:endParaRPr lang="en-US" sz="1050" dirty="0"/>
          </a:p>
        </p:txBody>
      </p:sp>
      <p:sp>
        <p:nvSpPr>
          <p:cNvPr id="28" name="Shape 26"/>
          <p:cNvSpPr/>
          <p:nvPr/>
        </p:nvSpPr>
        <p:spPr>
          <a:xfrm>
            <a:off x="4709160" y="1325880"/>
            <a:ext cx="4160520" cy="347472"/>
          </a:xfrm>
          <a:prstGeom prst="rect">
            <a:avLst/>
          </a:prstGeom>
          <a:solidFill>
            <a:srgbClr val="1A3A5C"/>
          </a:solidFill>
          <a:ln w="12700">
            <a:solidFill>
              <a:srgbClr val="1A3A5C"/>
            </a:solidFill>
            <a:prstDash val="solid"/>
          </a:ln>
        </p:spPr>
        <p:txBody>
          <a:bodyPr/>
          <a:lstStyle/>
          <a:p>
            <a:endParaRPr lang="fr-FR"/>
          </a:p>
        </p:txBody>
      </p:sp>
      <p:sp>
        <p:nvSpPr>
          <p:cNvPr id="29" name="Text 27"/>
          <p:cNvSpPr/>
          <p:nvPr/>
        </p:nvSpPr>
        <p:spPr>
          <a:xfrm>
            <a:off x="4709160" y="1325880"/>
            <a:ext cx="4160520" cy="34747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Documents PROFESSION</a:t>
            </a:r>
            <a:endParaRPr lang="en-US" sz="1050" dirty="0"/>
          </a:p>
        </p:txBody>
      </p:sp>
      <p:sp>
        <p:nvSpPr>
          <p:cNvPr id="30" name="Shape 28"/>
          <p:cNvSpPr/>
          <p:nvPr/>
        </p:nvSpPr>
        <p:spPr>
          <a:xfrm>
            <a:off x="4709160" y="1737360"/>
            <a:ext cx="4160520" cy="347472"/>
          </a:xfrm>
          <a:prstGeom prst="rect">
            <a:avLst/>
          </a:prstGeom>
          <a:solidFill>
            <a:srgbClr val="E8F1FA"/>
          </a:solidFill>
          <a:ln w="6350">
            <a:solidFill>
              <a:srgbClr val="D0DCE8"/>
            </a:solidFill>
            <a:prstDash val="solid"/>
          </a:ln>
        </p:spPr>
        <p:txBody>
          <a:bodyPr/>
          <a:lstStyle/>
          <a:p>
            <a:endParaRPr lang="fr-FR"/>
          </a:p>
        </p:txBody>
      </p:sp>
      <p:sp>
        <p:nvSpPr>
          <p:cNvPr id="31" name="Shape 29"/>
          <p:cNvSpPr/>
          <p:nvPr/>
        </p:nvSpPr>
        <p:spPr>
          <a:xfrm>
            <a:off x="4709160" y="1737360"/>
            <a:ext cx="256032" cy="347472"/>
          </a:xfrm>
          <a:prstGeom prst="rect">
            <a:avLst/>
          </a:prstGeom>
          <a:solidFill>
            <a:srgbClr val="1A3A5C"/>
          </a:solidFill>
          <a:ln w="12700">
            <a:solidFill>
              <a:srgbClr val="1A3A5C"/>
            </a:solidFill>
            <a:prstDash val="solid"/>
          </a:ln>
        </p:spPr>
        <p:txBody>
          <a:bodyPr/>
          <a:lstStyle/>
          <a:p>
            <a:endParaRPr lang="fr-FR"/>
          </a:p>
        </p:txBody>
      </p:sp>
      <p:sp>
        <p:nvSpPr>
          <p:cNvPr id="32" name="Text 30"/>
          <p:cNvSpPr/>
          <p:nvPr/>
        </p:nvSpPr>
        <p:spPr>
          <a:xfrm>
            <a:off x="4709160" y="1737360"/>
            <a:ext cx="256032" cy="347472"/>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a:t>
            </a:r>
            <a:endParaRPr lang="en-US" sz="800" dirty="0"/>
          </a:p>
        </p:txBody>
      </p:sp>
      <p:sp>
        <p:nvSpPr>
          <p:cNvPr id="33" name="Text 31"/>
          <p:cNvSpPr/>
          <p:nvPr/>
        </p:nvSpPr>
        <p:spPr>
          <a:xfrm>
            <a:off x="5029200" y="1755648"/>
            <a:ext cx="3767328" cy="29260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Carte professionnelle T3P</a:t>
            </a:r>
            <a:endParaRPr lang="en-US" sz="1000" dirty="0"/>
          </a:p>
        </p:txBody>
      </p:sp>
      <p:sp>
        <p:nvSpPr>
          <p:cNvPr id="34" name="Shape 32"/>
          <p:cNvSpPr/>
          <p:nvPr/>
        </p:nvSpPr>
        <p:spPr>
          <a:xfrm>
            <a:off x="4709160" y="2121408"/>
            <a:ext cx="4160520" cy="347472"/>
          </a:xfrm>
          <a:prstGeom prst="rect">
            <a:avLst/>
          </a:prstGeom>
          <a:solidFill>
            <a:srgbClr val="FFFFFF"/>
          </a:solidFill>
          <a:ln w="6350">
            <a:solidFill>
              <a:srgbClr val="D0DCE8"/>
            </a:solidFill>
            <a:prstDash val="solid"/>
          </a:ln>
        </p:spPr>
        <p:txBody>
          <a:bodyPr/>
          <a:lstStyle/>
          <a:p>
            <a:endParaRPr lang="fr-FR"/>
          </a:p>
        </p:txBody>
      </p:sp>
      <p:sp>
        <p:nvSpPr>
          <p:cNvPr id="35" name="Shape 33"/>
          <p:cNvSpPr/>
          <p:nvPr/>
        </p:nvSpPr>
        <p:spPr>
          <a:xfrm>
            <a:off x="4709160" y="2121408"/>
            <a:ext cx="256032" cy="347472"/>
          </a:xfrm>
          <a:prstGeom prst="rect">
            <a:avLst/>
          </a:prstGeom>
          <a:solidFill>
            <a:srgbClr val="1A3A5C"/>
          </a:solidFill>
          <a:ln w="12700">
            <a:solidFill>
              <a:srgbClr val="1A3A5C"/>
            </a:solidFill>
            <a:prstDash val="solid"/>
          </a:ln>
        </p:spPr>
        <p:txBody>
          <a:bodyPr/>
          <a:lstStyle/>
          <a:p>
            <a:endParaRPr lang="fr-FR"/>
          </a:p>
        </p:txBody>
      </p:sp>
      <p:sp>
        <p:nvSpPr>
          <p:cNvPr id="36" name="Text 34"/>
          <p:cNvSpPr/>
          <p:nvPr/>
        </p:nvSpPr>
        <p:spPr>
          <a:xfrm>
            <a:off x="4709160" y="2121408"/>
            <a:ext cx="256032" cy="347472"/>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a:t>
            </a:r>
            <a:endParaRPr lang="en-US" sz="800" dirty="0"/>
          </a:p>
        </p:txBody>
      </p:sp>
      <p:sp>
        <p:nvSpPr>
          <p:cNvPr id="37" name="Text 35"/>
          <p:cNvSpPr/>
          <p:nvPr/>
        </p:nvSpPr>
        <p:spPr>
          <a:xfrm>
            <a:off x="5029200" y="2139696"/>
            <a:ext cx="3767328" cy="29260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Attestation médicale ou visite médicale</a:t>
            </a:r>
            <a:endParaRPr lang="en-US" sz="1000" dirty="0"/>
          </a:p>
        </p:txBody>
      </p:sp>
      <p:sp>
        <p:nvSpPr>
          <p:cNvPr id="38" name="Shape 36"/>
          <p:cNvSpPr/>
          <p:nvPr/>
        </p:nvSpPr>
        <p:spPr>
          <a:xfrm>
            <a:off x="4709160" y="2505456"/>
            <a:ext cx="4160520" cy="347472"/>
          </a:xfrm>
          <a:prstGeom prst="rect">
            <a:avLst/>
          </a:prstGeom>
          <a:solidFill>
            <a:srgbClr val="E8F1FA"/>
          </a:solidFill>
          <a:ln w="6350">
            <a:solidFill>
              <a:srgbClr val="D0DCE8"/>
            </a:solidFill>
            <a:prstDash val="solid"/>
          </a:ln>
        </p:spPr>
        <p:txBody>
          <a:bodyPr/>
          <a:lstStyle/>
          <a:p>
            <a:endParaRPr lang="fr-FR"/>
          </a:p>
        </p:txBody>
      </p:sp>
      <p:sp>
        <p:nvSpPr>
          <p:cNvPr id="39" name="Shape 37"/>
          <p:cNvSpPr/>
          <p:nvPr/>
        </p:nvSpPr>
        <p:spPr>
          <a:xfrm>
            <a:off x="4709160" y="2505456"/>
            <a:ext cx="256032" cy="347472"/>
          </a:xfrm>
          <a:prstGeom prst="rect">
            <a:avLst/>
          </a:prstGeom>
          <a:solidFill>
            <a:srgbClr val="1A3A5C"/>
          </a:solidFill>
          <a:ln w="12700">
            <a:solidFill>
              <a:srgbClr val="1A3A5C"/>
            </a:solidFill>
            <a:prstDash val="solid"/>
          </a:ln>
        </p:spPr>
        <p:txBody>
          <a:bodyPr/>
          <a:lstStyle/>
          <a:p>
            <a:endParaRPr lang="fr-FR"/>
          </a:p>
        </p:txBody>
      </p:sp>
      <p:sp>
        <p:nvSpPr>
          <p:cNvPr id="40" name="Text 38"/>
          <p:cNvSpPr/>
          <p:nvPr/>
        </p:nvSpPr>
        <p:spPr>
          <a:xfrm>
            <a:off x="4709160" y="2505456"/>
            <a:ext cx="256032" cy="347472"/>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a:t>
            </a:r>
            <a:endParaRPr lang="en-US" sz="800" dirty="0"/>
          </a:p>
        </p:txBody>
      </p:sp>
      <p:sp>
        <p:nvSpPr>
          <p:cNvPr id="41" name="Text 39"/>
          <p:cNvSpPr/>
          <p:nvPr/>
        </p:nvSpPr>
        <p:spPr>
          <a:xfrm>
            <a:off x="5029200" y="2523744"/>
            <a:ext cx="3767328" cy="29260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Billet individuel/collectif ou carnet de bord (sauf taxi)</a:t>
            </a:r>
            <a:endParaRPr lang="en-US" sz="1000" dirty="0"/>
          </a:p>
        </p:txBody>
      </p:sp>
      <p:sp>
        <p:nvSpPr>
          <p:cNvPr id="42" name="Shape 40"/>
          <p:cNvSpPr/>
          <p:nvPr/>
        </p:nvSpPr>
        <p:spPr>
          <a:xfrm>
            <a:off x="4709160" y="2889504"/>
            <a:ext cx="4160520" cy="347472"/>
          </a:xfrm>
          <a:prstGeom prst="rect">
            <a:avLst/>
          </a:prstGeom>
          <a:solidFill>
            <a:srgbClr val="FFFFFF"/>
          </a:solidFill>
          <a:ln w="6350">
            <a:solidFill>
              <a:srgbClr val="D0DCE8"/>
            </a:solidFill>
            <a:prstDash val="solid"/>
          </a:ln>
        </p:spPr>
        <p:txBody>
          <a:bodyPr/>
          <a:lstStyle/>
          <a:p>
            <a:endParaRPr lang="fr-FR"/>
          </a:p>
        </p:txBody>
      </p:sp>
      <p:sp>
        <p:nvSpPr>
          <p:cNvPr id="43" name="Shape 41"/>
          <p:cNvSpPr/>
          <p:nvPr/>
        </p:nvSpPr>
        <p:spPr>
          <a:xfrm>
            <a:off x="4709160" y="2889504"/>
            <a:ext cx="256032" cy="347472"/>
          </a:xfrm>
          <a:prstGeom prst="rect">
            <a:avLst/>
          </a:prstGeom>
          <a:solidFill>
            <a:srgbClr val="1A3A5C"/>
          </a:solidFill>
          <a:ln w="12700">
            <a:solidFill>
              <a:srgbClr val="1A3A5C"/>
            </a:solidFill>
            <a:prstDash val="solid"/>
          </a:ln>
        </p:spPr>
        <p:txBody>
          <a:bodyPr/>
          <a:lstStyle/>
          <a:p>
            <a:endParaRPr lang="fr-FR"/>
          </a:p>
        </p:txBody>
      </p:sp>
      <p:sp>
        <p:nvSpPr>
          <p:cNvPr id="44" name="Text 42"/>
          <p:cNvSpPr/>
          <p:nvPr/>
        </p:nvSpPr>
        <p:spPr>
          <a:xfrm>
            <a:off x="4709160" y="2889504"/>
            <a:ext cx="256032" cy="347472"/>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a:t>
            </a:r>
            <a:endParaRPr lang="en-US" sz="800" dirty="0"/>
          </a:p>
        </p:txBody>
      </p:sp>
      <p:sp>
        <p:nvSpPr>
          <p:cNvPr id="45" name="Text 43"/>
          <p:cNvSpPr/>
          <p:nvPr/>
        </p:nvSpPr>
        <p:spPr>
          <a:xfrm>
            <a:off x="5029200" y="2907792"/>
            <a:ext cx="3767328" cy="29260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Licence (ADS ou inscription au registre VTC)</a:t>
            </a:r>
            <a:endParaRPr lang="en-US" sz="1000" dirty="0"/>
          </a:p>
        </p:txBody>
      </p:sp>
      <p:sp>
        <p:nvSpPr>
          <p:cNvPr id="46" name="Shape 44"/>
          <p:cNvSpPr/>
          <p:nvPr/>
        </p:nvSpPr>
        <p:spPr>
          <a:xfrm>
            <a:off x="4709160" y="3273552"/>
            <a:ext cx="4160520" cy="347472"/>
          </a:xfrm>
          <a:prstGeom prst="rect">
            <a:avLst/>
          </a:prstGeom>
          <a:solidFill>
            <a:srgbClr val="E8F1FA"/>
          </a:solidFill>
          <a:ln w="6350">
            <a:solidFill>
              <a:srgbClr val="D0DCE8"/>
            </a:solidFill>
            <a:prstDash val="solid"/>
          </a:ln>
        </p:spPr>
        <p:txBody>
          <a:bodyPr/>
          <a:lstStyle/>
          <a:p>
            <a:endParaRPr lang="fr-FR"/>
          </a:p>
        </p:txBody>
      </p:sp>
      <p:sp>
        <p:nvSpPr>
          <p:cNvPr id="47" name="Shape 45"/>
          <p:cNvSpPr/>
          <p:nvPr/>
        </p:nvSpPr>
        <p:spPr>
          <a:xfrm>
            <a:off x="4709160" y="3273552"/>
            <a:ext cx="256032" cy="347472"/>
          </a:xfrm>
          <a:prstGeom prst="rect">
            <a:avLst/>
          </a:prstGeom>
          <a:solidFill>
            <a:srgbClr val="1A3A5C"/>
          </a:solidFill>
          <a:ln w="12700">
            <a:solidFill>
              <a:srgbClr val="1A3A5C"/>
            </a:solidFill>
            <a:prstDash val="solid"/>
          </a:ln>
        </p:spPr>
        <p:txBody>
          <a:bodyPr/>
          <a:lstStyle/>
          <a:p>
            <a:endParaRPr lang="fr-FR"/>
          </a:p>
        </p:txBody>
      </p:sp>
      <p:sp>
        <p:nvSpPr>
          <p:cNvPr id="48" name="Text 46"/>
          <p:cNvSpPr/>
          <p:nvPr/>
        </p:nvSpPr>
        <p:spPr>
          <a:xfrm>
            <a:off x="4709160" y="3273552"/>
            <a:ext cx="256032" cy="347472"/>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a:t>
            </a:r>
            <a:endParaRPr lang="en-US" sz="800" dirty="0"/>
          </a:p>
        </p:txBody>
      </p:sp>
      <p:sp>
        <p:nvSpPr>
          <p:cNvPr id="49" name="Text 47"/>
          <p:cNvSpPr/>
          <p:nvPr/>
        </p:nvSpPr>
        <p:spPr>
          <a:xfrm>
            <a:off x="5029200" y="3291840"/>
            <a:ext cx="3767328" cy="29260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Pour salariés : contrat de travail + DPAE</a:t>
            </a:r>
            <a:endParaRPr lang="en-US" sz="1000" dirty="0"/>
          </a:p>
        </p:txBody>
      </p:sp>
      <p:sp>
        <p:nvSpPr>
          <p:cNvPr id="50" name="Shape 48"/>
          <p:cNvSpPr/>
          <p:nvPr/>
        </p:nvSpPr>
        <p:spPr>
          <a:xfrm>
            <a:off x="4709160" y="3657600"/>
            <a:ext cx="4160520" cy="347472"/>
          </a:xfrm>
          <a:prstGeom prst="rect">
            <a:avLst/>
          </a:prstGeom>
          <a:solidFill>
            <a:srgbClr val="FFFFFF"/>
          </a:solidFill>
          <a:ln w="6350">
            <a:solidFill>
              <a:srgbClr val="D0DCE8"/>
            </a:solidFill>
            <a:prstDash val="solid"/>
          </a:ln>
        </p:spPr>
        <p:txBody>
          <a:bodyPr/>
          <a:lstStyle/>
          <a:p>
            <a:endParaRPr lang="fr-FR"/>
          </a:p>
        </p:txBody>
      </p:sp>
      <p:sp>
        <p:nvSpPr>
          <p:cNvPr id="51" name="Shape 49"/>
          <p:cNvSpPr/>
          <p:nvPr/>
        </p:nvSpPr>
        <p:spPr>
          <a:xfrm>
            <a:off x="4709160" y="3657600"/>
            <a:ext cx="256032" cy="347472"/>
          </a:xfrm>
          <a:prstGeom prst="rect">
            <a:avLst/>
          </a:prstGeom>
          <a:solidFill>
            <a:srgbClr val="1A3A5C"/>
          </a:solidFill>
          <a:ln w="12700">
            <a:solidFill>
              <a:srgbClr val="1A3A5C"/>
            </a:solidFill>
            <a:prstDash val="solid"/>
          </a:ln>
        </p:spPr>
        <p:txBody>
          <a:bodyPr/>
          <a:lstStyle/>
          <a:p>
            <a:endParaRPr lang="fr-FR"/>
          </a:p>
        </p:txBody>
      </p:sp>
      <p:sp>
        <p:nvSpPr>
          <p:cNvPr id="52" name="Text 50"/>
          <p:cNvSpPr/>
          <p:nvPr/>
        </p:nvSpPr>
        <p:spPr>
          <a:xfrm>
            <a:off x="4709160" y="3657600"/>
            <a:ext cx="256032" cy="347472"/>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a:t>
            </a:r>
            <a:endParaRPr lang="en-US" sz="800" dirty="0"/>
          </a:p>
        </p:txBody>
      </p:sp>
      <p:sp>
        <p:nvSpPr>
          <p:cNvPr id="53" name="Text 51"/>
          <p:cNvSpPr/>
          <p:nvPr/>
        </p:nvSpPr>
        <p:spPr>
          <a:xfrm>
            <a:off x="5029200" y="3675888"/>
            <a:ext cx="3767328" cy="29260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Carnet métrologique taximètre (taxi uniquement)</a:t>
            </a:r>
            <a:endParaRPr lang="en-US" sz="1000" dirty="0"/>
          </a:p>
        </p:txBody>
      </p:sp>
      <p:sp>
        <p:nvSpPr>
          <p:cNvPr id="54" name="Shape 52"/>
          <p:cNvSpPr/>
          <p:nvPr/>
        </p:nvSpPr>
        <p:spPr>
          <a:xfrm>
            <a:off x="4709160" y="4041648"/>
            <a:ext cx="4160520" cy="347472"/>
          </a:xfrm>
          <a:prstGeom prst="rect">
            <a:avLst/>
          </a:prstGeom>
          <a:solidFill>
            <a:srgbClr val="E8F1FA"/>
          </a:solidFill>
          <a:ln w="6350">
            <a:solidFill>
              <a:srgbClr val="D0DCE8"/>
            </a:solidFill>
            <a:prstDash val="solid"/>
          </a:ln>
        </p:spPr>
        <p:txBody>
          <a:bodyPr/>
          <a:lstStyle/>
          <a:p>
            <a:endParaRPr lang="fr-FR"/>
          </a:p>
        </p:txBody>
      </p:sp>
      <p:sp>
        <p:nvSpPr>
          <p:cNvPr id="55" name="Shape 53"/>
          <p:cNvSpPr/>
          <p:nvPr/>
        </p:nvSpPr>
        <p:spPr>
          <a:xfrm>
            <a:off x="4709160" y="4041648"/>
            <a:ext cx="256032" cy="347472"/>
          </a:xfrm>
          <a:prstGeom prst="rect">
            <a:avLst/>
          </a:prstGeom>
          <a:solidFill>
            <a:srgbClr val="1A3A5C"/>
          </a:solidFill>
          <a:ln w="12700">
            <a:solidFill>
              <a:srgbClr val="1A3A5C"/>
            </a:solidFill>
            <a:prstDash val="solid"/>
          </a:ln>
        </p:spPr>
        <p:txBody>
          <a:bodyPr/>
          <a:lstStyle/>
          <a:p>
            <a:endParaRPr lang="fr-FR"/>
          </a:p>
        </p:txBody>
      </p:sp>
      <p:sp>
        <p:nvSpPr>
          <p:cNvPr id="56" name="Text 54"/>
          <p:cNvSpPr/>
          <p:nvPr/>
        </p:nvSpPr>
        <p:spPr>
          <a:xfrm>
            <a:off x="4709160" y="4041648"/>
            <a:ext cx="256032" cy="347472"/>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a:t>
            </a:r>
            <a:endParaRPr lang="en-US" sz="800" dirty="0"/>
          </a:p>
        </p:txBody>
      </p:sp>
      <p:sp>
        <p:nvSpPr>
          <p:cNvPr id="57" name="Text 55"/>
          <p:cNvSpPr/>
          <p:nvPr/>
        </p:nvSpPr>
        <p:spPr>
          <a:xfrm>
            <a:off x="5029200" y="4059936"/>
            <a:ext cx="3767328" cy="29260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Attestation de formation continue</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8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À RETENIR 6b — Conditions de délivrance de la carte professionnelle</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51/88</a:t>
            </a:r>
            <a:endParaRPr lang="en-US" sz="800" dirty="0"/>
          </a:p>
        </p:txBody>
      </p:sp>
      <p:sp>
        <p:nvSpPr>
          <p:cNvPr id="8" name="Shape 6"/>
          <p:cNvSpPr/>
          <p:nvPr/>
        </p:nvSpPr>
        <p:spPr>
          <a:xfrm>
            <a:off x="274320" y="914400"/>
            <a:ext cx="8595360" cy="384048"/>
          </a:xfrm>
          <a:prstGeom prst="rect">
            <a:avLst/>
          </a:prstGeom>
          <a:solidFill>
            <a:srgbClr val="1A3A5C"/>
          </a:solidFill>
          <a:ln w="12700">
            <a:solidFill>
              <a:srgbClr val="1A3A5C"/>
            </a:solidFill>
            <a:prstDash val="solid"/>
          </a:ln>
        </p:spPr>
        <p:txBody>
          <a:bodyPr/>
          <a:lstStyle/>
          <a:p>
            <a:endParaRPr lang="fr-FR"/>
          </a:p>
        </p:txBody>
      </p:sp>
      <p:sp>
        <p:nvSpPr>
          <p:cNvPr id="9" name="Text 7"/>
          <p:cNvSpPr/>
          <p:nvPr/>
        </p:nvSpPr>
        <p:spPr>
          <a:xfrm>
            <a:off x="274320" y="914400"/>
            <a:ext cx="859536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LA CARTE PROFESSIONNELLE T3P — Conditions de délivrance</a:t>
            </a:r>
            <a:endParaRPr lang="en-US" sz="1200" dirty="0"/>
          </a:p>
        </p:txBody>
      </p:sp>
      <p:sp>
        <p:nvSpPr>
          <p:cNvPr id="10" name="Shape 8"/>
          <p:cNvSpPr/>
          <p:nvPr/>
        </p:nvSpPr>
        <p:spPr>
          <a:xfrm>
            <a:off x="274320" y="1417320"/>
            <a:ext cx="2743200" cy="3182112"/>
          </a:xfrm>
          <a:prstGeom prst="rect">
            <a:avLst/>
          </a:prstGeom>
          <a:solidFill>
            <a:srgbClr val="E8F1FA"/>
          </a:solidFill>
          <a:ln w="6350">
            <a:solidFill>
              <a:srgbClr val="D0DCE8"/>
            </a:solidFill>
            <a:prstDash val="solid"/>
          </a:ln>
        </p:spPr>
        <p:txBody>
          <a:bodyPr/>
          <a:lstStyle/>
          <a:p>
            <a:endParaRPr lang="fr-FR"/>
          </a:p>
        </p:txBody>
      </p:sp>
      <p:sp>
        <p:nvSpPr>
          <p:cNvPr id="11" name="Shape 9"/>
          <p:cNvSpPr/>
          <p:nvPr/>
        </p:nvSpPr>
        <p:spPr>
          <a:xfrm>
            <a:off x="274320" y="1417320"/>
            <a:ext cx="2743200" cy="475488"/>
          </a:xfrm>
          <a:prstGeom prst="rect">
            <a:avLst/>
          </a:prstGeom>
          <a:solidFill>
            <a:srgbClr val="2860A8"/>
          </a:solidFill>
          <a:ln w="12700">
            <a:solidFill>
              <a:srgbClr val="2860A8"/>
            </a:solidFill>
            <a:prstDash val="solid"/>
          </a:ln>
        </p:spPr>
        <p:txBody>
          <a:bodyPr/>
          <a:lstStyle/>
          <a:p>
            <a:endParaRPr lang="fr-FR"/>
          </a:p>
        </p:txBody>
      </p:sp>
      <p:sp>
        <p:nvSpPr>
          <p:cNvPr id="12" name="Text 10"/>
          <p:cNvSpPr/>
          <p:nvPr/>
        </p:nvSpPr>
        <p:spPr>
          <a:xfrm>
            <a:off x="347472" y="1417320"/>
            <a:ext cx="2633472" cy="4754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 PERMIS HORS PÉRIODE PROBATOIRE</a:t>
            </a:r>
            <a:endParaRPr lang="en-US" sz="1000" dirty="0"/>
          </a:p>
        </p:txBody>
      </p:sp>
      <p:sp>
        <p:nvSpPr>
          <p:cNvPr id="13" name="Text 11"/>
          <p:cNvSpPr/>
          <p:nvPr/>
        </p:nvSpPr>
        <p:spPr>
          <a:xfrm>
            <a:off x="384048" y="1920240"/>
            <a:ext cx="2560320" cy="2651760"/>
          </a:xfrm>
          <a:prstGeom prst="rect">
            <a:avLst/>
          </a:prstGeom>
          <a:noFill/>
          <a:ln/>
        </p:spPr>
        <p:txBody>
          <a:bodyPr wrap="square" rtlCol="0" anchor="t"/>
          <a:lstStyle/>
          <a:p>
            <a:pPr marL="0" indent="0">
              <a:buNone/>
            </a:pPr>
            <a:r>
              <a:rPr lang="en-US" sz="1000" dirty="0">
                <a:solidFill>
                  <a:srgbClr val="3A3A3A"/>
                </a:solidFill>
                <a:latin typeface="Calibri" pitchFamily="34" charset="0"/>
                <a:ea typeface="Calibri" pitchFamily="34" charset="-122"/>
                <a:cs typeface="Calibri" pitchFamily="34" charset="-120"/>
              </a:rPr>
              <a:t>Permis de conduire valide, hors période probatoire.</a:t>
            </a:r>
            <a:endParaRPr lang="en-US" sz="1000" dirty="0"/>
          </a:p>
          <a:p>
            <a:pPr marL="0" indent="0">
              <a:buNone/>
            </a:pP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 +2 ans si obtenu en Conduite Accompagnée (AAC)</a:t>
            </a: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 +3 ans si conduite normale classique</a:t>
            </a: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 Le permis probatoire bloque l'accès à l'examen T3P</a:t>
            </a:r>
            <a:endParaRPr lang="en-US" sz="1000" dirty="0"/>
          </a:p>
        </p:txBody>
      </p:sp>
      <p:sp>
        <p:nvSpPr>
          <p:cNvPr id="14" name="Shape 12"/>
          <p:cNvSpPr/>
          <p:nvPr/>
        </p:nvSpPr>
        <p:spPr>
          <a:xfrm>
            <a:off x="3154680" y="1417320"/>
            <a:ext cx="2743200" cy="3182112"/>
          </a:xfrm>
          <a:prstGeom prst="rect">
            <a:avLst/>
          </a:prstGeom>
          <a:solidFill>
            <a:srgbClr val="E8F1FA"/>
          </a:solidFill>
          <a:ln w="6350">
            <a:solidFill>
              <a:srgbClr val="D0DCE8"/>
            </a:solidFill>
            <a:prstDash val="solid"/>
          </a:ln>
        </p:spPr>
        <p:txBody>
          <a:bodyPr/>
          <a:lstStyle/>
          <a:p>
            <a:endParaRPr lang="fr-FR"/>
          </a:p>
        </p:txBody>
      </p:sp>
      <p:sp>
        <p:nvSpPr>
          <p:cNvPr id="15" name="Shape 13"/>
          <p:cNvSpPr/>
          <p:nvPr/>
        </p:nvSpPr>
        <p:spPr>
          <a:xfrm>
            <a:off x="3154680" y="1417320"/>
            <a:ext cx="2743200" cy="475488"/>
          </a:xfrm>
          <a:prstGeom prst="rect">
            <a:avLst/>
          </a:prstGeom>
          <a:solidFill>
            <a:srgbClr val="1A3A5C"/>
          </a:solidFill>
          <a:ln w="12700">
            <a:solidFill>
              <a:srgbClr val="1A3A5C"/>
            </a:solidFill>
            <a:prstDash val="solid"/>
          </a:ln>
        </p:spPr>
        <p:txBody>
          <a:bodyPr/>
          <a:lstStyle/>
          <a:p>
            <a:endParaRPr lang="fr-FR"/>
          </a:p>
        </p:txBody>
      </p:sp>
      <p:sp>
        <p:nvSpPr>
          <p:cNvPr id="16" name="Text 14"/>
          <p:cNvSpPr/>
          <p:nvPr/>
        </p:nvSpPr>
        <p:spPr>
          <a:xfrm>
            <a:off x="3227832" y="1417320"/>
            <a:ext cx="2633472" cy="4754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 APTITUDE PROFESSIONNELLE</a:t>
            </a:r>
            <a:endParaRPr lang="en-US" sz="1000" dirty="0"/>
          </a:p>
        </p:txBody>
      </p:sp>
      <p:sp>
        <p:nvSpPr>
          <p:cNvPr id="17" name="Text 15"/>
          <p:cNvSpPr/>
          <p:nvPr/>
        </p:nvSpPr>
        <p:spPr>
          <a:xfrm>
            <a:off x="3264408" y="1920240"/>
            <a:ext cx="2560320" cy="2651760"/>
          </a:xfrm>
          <a:prstGeom prst="rect">
            <a:avLst/>
          </a:prstGeom>
          <a:noFill/>
          <a:ln/>
        </p:spPr>
        <p:txBody>
          <a:bodyPr wrap="square" rtlCol="0" anchor="t"/>
          <a:lstStyle/>
          <a:p>
            <a:pPr marL="0" indent="0">
              <a:buNone/>
            </a:pPr>
            <a:r>
              <a:rPr lang="en-US" sz="1000" dirty="0">
                <a:solidFill>
                  <a:srgbClr val="3A3A3A"/>
                </a:solidFill>
                <a:latin typeface="Calibri" pitchFamily="34" charset="0"/>
                <a:ea typeface="Calibri" pitchFamily="34" charset="-122"/>
                <a:cs typeface="Calibri" pitchFamily="34" charset="-120"/>
              </a:rPr>
              <a:t>Satisfaire à une condition d'aptitude professionnelle :</a:t>
            </a:r>
            <a:endParaRPr lang="en-US" sz="1000" dirty="0"/>
          </a:p>
          <a:p>
            <a:pPr marL="0" indent="0">
              <a:buNone/>
            </a:pP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 Réussir l'EXAMEN T3P (tronc commun + épreuve spécifique Taxi ou VTC)</a:t>
            </a: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 OU justifier d'une EXPÉRIENCE PROFESSIONNELLE reconnue</a:t>
            </a:r>
            <a:endParaRPr lang="en-US" sz="1000" dirty="0"/>
          </a:p>
        </p:txBody>
      </p:sp>
      <p:sp>
        <p:nvSpPr>
          <p:cNvPr id="18" name="Shape 16"/>
          <p:cNvSpPr/>
          <p:nvPr/>
        </p:nvSpPr>
        <p:spPr>
          <a:xfrm>
            <a:off x="6035040" y="1417320"/>
            <a:ext cx="2743200" cy="3182112"/>
          </a:xfrm>
          <a:prstGeom prst="rect">
            <a:avLst/>
          </a:prstGeom>
          <a:solidFill>
            <a:srgbClr val="E8F1FA"/>
          </a:solidFill>
          <a:ln w="6350">
            <a:solidFill>
              <a:srgbClr val="D0DCE8"/>
            </a:solidFill>
            <a:prstDash val="solid"/>
          </a:ln>
        </p:spPr>
        <p:txBody>
          <a:bodyPr/>
          <a:lstStyle/>
          <a:p>
            <a:endParaRPr lang="fr-FR"/>
          </a:p>
        </p:txBody>
      </p:sp>
      <p:sp>
        <p:nvSpPr>
          <p:cNvPr id="19" name="Shape 17"/>
          <p:cNvSpPr/>
          <p:nvPr/>
        </p:nvSpPr>
        <p:spPr>
          <a:xfrm>
            <a:off x="6035040" y="1417320"/>
            <a:ext cx="2743200" cy="475488"/>
          </a:xfrm>
          <a:prstGeom prst="rect">
            <a:avLst/>
          </a:prstGeom>
          <a:solidFill>
            <a:srgbClr val="6B7A8D"/>
          </a:solidFill>
          <a:ln w="12700">
            <a:solidFill>
              <a:srgbClr val="6B7A8D"/>
            </a:solidFill>
            <a:prstDash val="solid"/>
          </a:ln>
        </p:spPr>
        <p:txBody>
          <a:bodyPr/>
          <a:lstStyle/>
          <a:p>
            <a:endParaRPr lang="fr-FR"/>
          </a:p>
        </p:txBody>
      </p:sp>
      <p:sp>
        <p:nvSpPr>
          <p:cNvPr id="20" name="Text 18"/>
          <p:cNvSpPr/>
          <p:nvPr/>
        </p:nvSpPr>
        <p:spPr>
          <a:xfrm>
            <a:off x="6108192" y="1417320"/>
            <a:ext cx="2633472" cy="4754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 HONORABILITÉ PROFESSIONNELLE</a:t>
            </a:r>
            <a:endParaRPr lang="en-US" sz="1000" dirty="0"/>
          </a:p>
        </p:txBody>
      </p:sp>
      <p:sp>
        <p:nvSpPr>
          <p:cNvPr id="21" name="Text 19"/>
          <p:cNvSpPr/>
          <p:nvPr/>
        </p:nvSpPr>
        <p:spPr>
          <a:xfrm>
            <a:off x="6144768" y="1920240"/>
            <a:ext cx="2560320" cy="2651760"/>
          </a:xfrm>
          <a:prstGeom prst="rect">
            <a:avLst/>
          </a:prstGeom>
          <a:noFill/>
          <a:ln/>
        </p:spPr>
        <p:txBody>
          <a:bodyPr wrap="square" rtlCol="0" anchor="t"/>
          <a:lstStyle/>
          <a:p>
            <a:pPr marL="0" indent="0">
              <a:buNone/>
            </a:pPr>
            <a:r>
              <a:rPr lang="en-US" sz="1000" dirty="0">
                <a:solidFill>
                  <a:srgbClr val="3A3A3A"/>
                </a:solidFill>
                <a:latin typeface="Calibri" pitchFamily="34" charset="0"/>
                <a:ea typeface="Calibri" pitchFamily="34" charset="-122"/>
                <a:cs typeface="Calibri" pitchFamily="34" charset="-120"/>
              </a:rPr>
              <a:t>Satisfaire à une condition d'honorabilité :</a:t>
            </a:r>
            <a:endParaRPr lang="en-US" sz="1000" dirty="0"/>
          </a:p>
          <a:p>
            <a:pPr marL="0" indent="0">
              <a:buNone/>
            </a:pP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 Bulletin n°2 du casier judiciaire vierge des mentions incompatibles</a:t>
            </a: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 Vérification à chaque renouvellement de la carte</a:t>
            </a: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 PSC1 obligatoire pour les TAXIS uniquement</a:t>
            </a:r>
            <a:endParaRPr lang="en-US" sz="1000" dirty="0"/>
          </a:p>
        </p:txBody>
      </p:sp>
      <p:sp>
        <p:nvSpPr>
          <p:cNvPr id="22" name="Shape 20"/>
          <p:cNvSpPr/>
          <p:nvPr/>
        </p:nvSpPr>
        <p:spPr>
          <a:xfrm>
            <a:off x="274320" y="4663440"/>
            <a:ext cx="8595360" cy="384048"/>
          </a:xfrm>
          <a:prstGeom prst="rect">
            <a:avLst/>
          </a:prstGeom>
          <a:solidFill>
            <a:srgbClr val="FFFBEB"/>
          </a:solidFill>
          <a:ln w="19050">
            <a:solidFill>
              <a:srgbClr val="F4A227"/>
            </a:solidFill>
            <a:prstDash val="solid"/>
          </a:ln>
        </p:spPr>
        <p:txBody>
          <a:bodyPr/>
          <a:lstStyle/>
          <a:p>
            <a:endParaRPr lang="fr-FR"/>
          </a:p>
        </p:txBody>
      </p:sp>
      <p:sp>
        <p:nvSpPr>
          <p:cNvPr id="23" name="Shape 21"/>
          <p:cNvSpPr/>
          <p:nvPr/>
        </p:nvSpPr>
        <p:spPr>
          <a:xfrm>
            <a:off x="274320" y="4663440"/>
            <a:ext cx="54864" cy="384048"/>
          </a:xfrm>
          <a:prstGeom prst="rect">
            <a:avLst/>
          </a:prstGeom>
          <a:solidFill>
            <a:srgbClr val="F4A227"/>
          </a:solidFill>
          <a:ln w="12700">
            <a:solidFill>
              <a:srgbClr val="F4A227"/>
            </a:solidFill>
            <a:prstDash val="solid"/>
          </a:ln>
        </p:spPr>
        <p:txBody>
          <a:bodyPr/>
          <a:lstStyle/>
          <a:p>
            <a:endParaRPr lang="fr-FR"/>
          </a:p>
        </p:txBody>
      </p:sp>
      <p:sp>
        <p:nvSpPr>
          <p:cNvPr id="24" name="Text 22"/>
          <p:cNvSpPr/>
          <p:nvPr/>
        </p:nvSpPr>
        <p:spPr>
          <a:xfrm>
            <a:off x="384048" y="4663440"/>
            <a:ext cx="8467344" cy="38404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ℹ  L'autorité administrative remet la carte dans un délai max de 3 mois. Le conducteur restitue sa carte s'il cesse définitivement son activité.</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8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À RETENIR 7 — La perte de points du permis de conduire</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53/88</a:t>
            </a:r>
            <a:endParaRPr lang="en-US" sz="800" dirty="0"/>
          </a:p>
        </p:txBody>
      </p:sp>
      <p:sp>
        <p:nvSpPr>
          <p:cNvPr id="8" name="Shape 6"/>
          <p:cNvSpPr/>
          <p:nvPr/>
        </p:nvSpPr>
        <p:spPr>
          <a:xfrm>
            <a:off x="274320" y="914400"/>
            <a:ext cx="8595360" cy="384048"/>
          </a:xfrm>
          <a:prstGeom prst="rect">
            <a:avLst/>
          </a:prstGeom>
          <a:solidFill>
            <a:srgbClr val="C0392B"/>
          </a:solidFill>
          <a:ln w="12700">
            <a:solidFill>
              <a:srgbClr val="C0392B"/>
            </a:solidFill>
            <a:prstDash val="solid"/>
          </a:ln>
        </p:spPr>
        <p:txBody>
          <a:bodyPr/>
          <a:lstStyle/>
          <a:p>
            <a:endParaRPr lang="fr-FR"/>
          </a:p>
        </p:txBody>
      </p:sp>
      <p:sp>
        <p:nvSpPr>
          <p:cNvPr id="9" name="Text 7"/>
          <p:cNvSpPr/>
          <p:nvPr/>
        </p:nvSpPr>
        <p:spPr>
          <a:xfrm>
            <a:off x="274320" y="914400"/>
            <a:ext cx="859536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LA PERTE DE 6 POINTS SUR LE PERMIS — Contraventions et délits</a:t>
            </a:r>
            <a:endParaRPr lang="en-US" sz="1200" dirty="0"/>
          </a:p>
        </p:txBody>
      </p:sp>
      <p:sp>
        <p:nvSpPr>
          <p:cNvPr id="10" name="Shape 8"/>
          <p:cNvSpPr/>
          <p:nvPr/>
        </p:nvSpPr>
        <p:spPr>
          <a:xfrm>
            <a:off x="274320" y="1389888"/>
            <a:ext cx="4160520" cy="320040"/>
          </a:xfrm>
          <a:prstGeom prst="rect">
            <a:avLst/>
          </a:prstGeom>
          <a:solidFill>
            <a:srgbClr val="D4530A"/>
          </a:solidFill>
          <a:ln w="12700">
            <a:solidFill>
              <a:srgbClr val="D4530A"/>
            </a:solidFill>
            <a:prstDash val="solid"/>
          </a:ln>
        </p:spPr>
        <p:txBody>
          <a:bodyPr/>
          <a:lstStyle/>
          <a:p>
            <a:endParaRPr lang="fr-FR"/>
          </a:p>
        </p:txBody>
      </p:sp>
      <p:sp>
        <p:nvSpPr>
          <p:cNvPr id="11" name="Text 9"/>
          <p:cNvSpPr/>
          <p:nvPr/>
        </p:nvSpPr>
        <p:spPr>
          <a:xfrm>
            <a:off x="274320" y="1389888"/>
            <a:ext cx="416052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LES CONTRAVENTIONS — 6 points retirés</a:t>
            </a:r>
            <a:endParaRPr lang="en-US" sz="1000" dirty="0"/>
          </a:p>
        </p:txBody>
      </p:sp>
      <p:sp>
        <p:nvSpPr>
          <p:cNvPr id="12" name="Shape 10"/>
          <p:cNvSpPr/>
          <p:nvPr/>
        </p:nvSpPr>
        <p:spPr>
          <a:xfrm>
            <a:off x="274320" y="1755648"/>
            <a:ext cx="4160520" cy="548640"/>
          </a:xfrm>
          <a:prstGeom prst="rect">
            <a:avLst/>
          </a:prstGeom>
          <a:solidFill>
            <a:srgbClr val="E8F1FA"/>
          </a:solidFill>
          <a:ln w="6350">
            <a:solidFill>
              <a:srgbClr val="D0DCE8"/>
            </a:solidFill>
            <a:prstDash val="solid"/>
          </a:ln>
        </p:spPr>
        <p:txBody>
          <a:bodyPr/>
          <a:lstStyle/>
          <a:p>
            <a:endParaRPr lang="fr-FR"/>
          </a:p>
        </p:txBody>
      </p:sp>
      <p:sp>
        <p:nvSpPr>
          <p:cNvPr id="13" name="Shape 11"/>
          <p:cNvSpPr/>
          <p:nvPr/>
        </p:nvSpPr>
        <p:spPr>
          <a:xfrm>
            <a:off x="274320" y="1755648"/>
            <a:ext cx="457200" cy="548640"/>
          </a:xfrm>
          <a:prstGeom prst="rect">
            <a:avLst/>
          </a:prstGeom>
          <a:solidFill>
            <a:srgbClr val="D4530A"/>
          </a:solidFill>
          <a:ln w="12700">
            <a:solidFill>
              <a:srgbClr val="D4530A"/>
            </a:solidFill>
            <a:prstDash val="solid"/>
          </a:ln>
        </p:spPr>
        <p:txBody>
          <a:bodyPr/>
          <a:lstStyle/>
          <a:p>
            <a:endParaRPr lang="fr-FR"/>
          </a:p>
        </p:txBody>
      </p:sp>
      <p:sp>
        <p:nvSpPr>
          <p:cNvPr id="14" name="Text 12"/>
          <p:cNvSpPr/>
          <p:nvPr/>
        </p:nvSpPr>
        <p:spPr>
          <a:xfrm>
            <a:off x="274320" y="1755648"/>
            <a:ext cx="45720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15" name="Text 13"/>
          <p:cNvSpPr/>
          <p:nvPr/>
        </p:nvSpPr>
        <p:spPr>
          <a:xfrm>
            <a:off x="804672" y="1773936"/>
            <a:ext cx="3566160" cy="47548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Alcool au volant : 0,25 à 0,4 mg/l d'air</a:t>
            </a: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(soit 0,5 à 0,8 g/l de sang)</a:t>
            </a:r>
            <a:endParaRPr lang="en-US" sz="1000" dirty="0"/>
          </a:p>
        </p:txBody>
      </p:sp>
      <p:sp>
        <p:nvSpPr>
          <p:cNvPr id="16" name="Shape 14"/>
          <p:cNvSpPr/>
          <p:nvPr/>
        </p:nvSpPr>
        <p:spPr>
          <a:xfrm>
            <a:off x="274320" y="2350008"/>
            <a:ext cx="4160520" cy="548640"/>
          </a:xfrm>
          <a:prstGeom prst="rect">
            <a:avLst/>
          </a:prstGeom>
          <a:solidFill>
            <a:srgbClr val="FFFFFF"/>
          </a:solidFill>
          <a:ln w="6350">
            <a:solidFill>
              <a:srgbClr val="D0DCE8"/>
            </a:solidFill>
            <a:prstDash val="solid"/>
          </a:ln>
        </p:spPr>
        <p:txBody>
          <a:bodyPr/>
          <a:lstStyle/>
          <a:p>
            <a:endParaRPr lang="fr-FR"/>
          </a:p>
        </p:txBody>
      </p:sp>
      <p:sp>
        <p:nvSpPr>
          <p:cNvPr id="17" name="Shape 15"/>
          <p:cNvSpPr/>
          <p:nvPr/>
        </p:nvSpPr>
        <p:spPr>
          <a:xfrm>
            <a:off x="274320" y="2350008"/>
            <a:ext cx="457200" cy="548640"/>
          </a:xfrm>
          <a:prstGeom prst="rect">
            <a:avLst/>
          </a:prstGeom>
          <a:solidFill>
            <a:srgbClr val="D4530A"/>
          </a:solidFill>
          <a:ln w="12700">
            <a:solidFill>
              <a:srgbClr val="D4530A"/>
            </a:solidFill>
            <a:prstDash val="solid"/>
          </a:ln>
        </p:spPr>
        <p:txBody>
          <a:bodyPr/>
          <a:lstStyle/>
          <a:p>
            <a:endParaRPr lang="fr-FR"/>
          </a:p>
        </p:txBody>
      </p:sp>
      <p:sp>
        <p:nvSpPr>
          <p:cNvPr id="18" name="Text 16"/>
          <p:cNvSpPr/>
          <p:nvPr/>
        </p:nvSpPr>
        <p:spPr>
          <a:xfrm>
            <a:off x="274320" y="2350008"/>
            <a:ext cx="45720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19" name="Text 17"/>
          <p:cNvSpPr/>
          <p:nvPr/>
        </p:nvSpPr>
        <p:spPr>
          <a:xfrm>
            <a:off x="804672" y="2368296"/>
            <a:ext cx="3566160" cy="47548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Excès de vitesse &gt; 50 km/h</a:t>
            </a: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(radar automatique ou radar mobile)</a:t>
            </a:r>
            <a:endParaRPr lang="en-US" sz="1000" dirty="0"/>
          </a:p>
        </p:txBody>
      </p:sp>
      <p:sp>
        <p:nvSpPr>
          <p:cNvPr id="20" name="Shape 18"/>
          <p:cNvSpPr/>
          <p:nvPr/>
        </p:nvSpPr>
        <p:spPr>
          <a:xfrm>
            <a:off x="274320" y="2944368"/>
            <a:ext cx="4160520" cy="548640"/>
          </a:xfrm>
          <a:prstGeom prst="rect">
            <a:avLst/>
          </a:prstGeom>
          <a:solidFill>
            <a:srgbClr val="E8F1FA"/>
          </a:solidFill>
          <a:ln w="6350">
            <a:solidFill>
              <a:srgbClr val="D0DCE8"/>
            </a:solidFill>
            <a:prstDash val="solid"/>
          </a:ln>
        </p:spPr>
        <p:txBody>
          <a:bodyPr/>
          <a:lstStyle/>
          <a:p>
            <a:endParaRPr lang="fr-FR"/>
          </a:p>
        </p:txBody>
      </p:sp>
      <p:sp>
        <p:nvSpPr>
          <p:cNvPr id="21" name="Shape 19"/>
          <p:cNvSpPr/>
          <p:nvPr/>
        </p:nvSpPr>
        <p:spPr>
          <a:xfrm>
            <a:off x="274320" y="2944368"/>
            <a:ext cx="457200" cy="548640"/>
          </a:xfrm>
          <a:prstGeom prst="rect">
            <a:avLst/>
          </a:prstGeom>
          <a:solidFill>
            <a:srgbClr val="D4530A"/>
          </a:solidFill>
          <a:ln w="12700">
            <a:solidFill>
              <a:srgbClr val="D4530A"/>
            </a:solidFill>
            <a:prstDash val="solid"/>
          </a:ln>
        </p:spPr>
        <p:txBody>
          <a:bodyPr/>
          <a:lstStyle/>
          <a:p>
            <a:endParaRPr lang="fr-FR"/>
          </a:p>
        </p:txBody>
      </p:sp>
      <p:sp>
        <p:nvSpPr>
          <p:cNvPr id="22" name="Text 20"/>
          <p:cNvSpPr/>
          <p:nvPr/>
        </p:nvSpPr>
        <p:spPr>
          <a:xfrm>
            <a:off x="274320" y="2944368"/>
            <a:ext cx="45720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3" name="Text 21"/>
          <p:cNvSpPr/>
          <p:nvPr/>
        </p:nvSpPr>
        <p:spPr>
          <a:xfrm>
            <a:off x="804672" y="2962656"/>
            <a:ext cx="3566160" cy="47548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Utilisation d'un détecteur de radar</a:t>
            </a: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ou d'un système anti-radar</a:t>
            </a:r>
            <a:endParaRPr lang="en-US" sz="1000" dirty="0"/>
          </a:p>
        </p:txBody>
      </p:sp>
      <p:sp>
        <p:nvSpPr>
          <p:cNvPr id="24" name="Shape 22"/>
          <p:cNvSpPr/>
          <p:nvPr/>
        </p:nvSpPr>
        <p:spPr>
          <a:xfrm>
            <a:off x="4709160" y="1389888"/>
            <a:ext cx="4160520" cy="320040"/>
          </a:xfrm>
          <a:prstGeom prst="rect">
            <a:avLst/>
          </a:prstGeom>
          <a:solidFill>
            <a:srgbClr val="8B0000"/>
          </a:solidFill>
          <a:ln w="12700">
            <a:solidFill>
              <a:srgbClr val="8B0000"/>
            </a:solidFill>
            <a:prstDash val="solid"/>
          </a:ln>
        </p:spPr>
        <p:txBody>
          <a:bodyPr/>
          <a:lstStyle/>
          <a:p>
            <a:endParaRPr lang="fr-FR"/>
          </a:p>
        </p:txBody>
      </p:sp>
      <p:sp>
        <p:nvSpPr>
          <p:cNvPr id="25" name="Text 23"/>
          <p:cNvSpPr/>
          <p:nvPr/>
        </p:nvSpPr>
        <p:spPr>
          <a:xfrm>
            <a:off x="4709160" y="1389888"/>
            <a:ext cx="416052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LES DÉLITS — 6 points retirés</a:t>
            </a:r>
            <a:endParaRPr lang="en-US" sz="1000" dirty="0"/>
          </a:p>
        </p:txBody>
      </p:sp>
      <p:sp>
        <p:nvSpPr>
          <p:cNvPr id="26" name="Shape 24"/>
          <p:cNvSpPr/>
          <p:nvPr/>
        </p:nvSpPr>
        <p:spPr>
          <a:xfrm>
            <a:off x="4709160" y="1755648"/>
            <a:ext cx="4160520" cy="310896"/>
          </a:xfrm>
          <a:prstGeom prst="rect">
            <a:avLst/>
          </a:prstGeom>
          <a:solidFill>
            <a:srgbClr val="E8F1FA"/>
          </a:solidFill>
          <a:ln w="6350">
            <a:solidFill>
              <a:srgbClr val="D0DCE8"/>
            </a:solidFill>
            <a:prstDash val="solid"/>
          </a:ln>
        </p:spPr>
        <p:txBody>
          <a:bodyPr/>
          <a:lstStyle/>
          <a:p>
            <a:endParaRPr lang="fr-FR"/>
          </a:p>
        </p:txBody>
      </p:sp>
      <p:sp>
        <p:nvSpPr>
          <p:cNvPr id="27" name="Shape 25"/>
          <p:cNvSpPr/>
          <p:nvPr/>
        </p:nvSpPr>
        <p:spPr>
          <a:xfrm>
            <a:off x="4709160" y="1755648"/>
            <a:ext cx="320040" cy="310896"/>
          </a:xfrm>
          <a:prstGeom prst="rect">
            <a:avLst/>
          </a:prstGeom>
          <a:solidFill>
            <a:srgbClr val="8B0000"/>
          </a:solidFill>
          <a:ln w="12700">
            <a:solidFill>
              <a:srgbClr val="8B0000"/>
            </a:solidFill>
            <a:prstDash val="solid"/>
          </a:ln>
        </p:spPr>
        <p:txBody>
          <a:bodyPr/>
          <a:lstStyle/>
          <a:p>
            <a:endParaRPr lang="fr-FR"/>
          </a:p>
        </p:txBody>
      </p:sp>
      <p:sp>
        <p:nvSpPr>
          <p:cNvPr id="28" name="Text 26"/>
          <p:cNvSpPr/>
          <p:nvPr/>
        </p:nvSpPr>
        <p:spPr>
          <a:xfrm>
            <a:off x="4709160" y="1755648"/>
            <a:ext cx="32004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29" name="Text 27"/>
          <p:cNvSpPr/>
          <p:nvPr/>
        </p:nvSpPr>
        <p:spPr>
          <a:xfrm>
            <a:off x="5084064" y="1773936"/>
            <a:ext cx="3712464"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Alcool ≥ 0,40 mg/l d'air (≥ 0,8 g/l de sang)</a:t>
            </a:r>
            <a:endParaRPr lang="en-US" sz="900" dirty="0"/>
          </a:p>
        </p:txBody>
      </p:sp>
      <p:sp>
        <p:nvSpPr>
          <p:cNvPr id="30" name="Shape 28"/>
          <p:cNvSpPr/>
          <p:nvPr/>
        </p:nvSpPr>
        <p:spPr>
          <a:xfrm>
            <a:off x="4709160" y="2103120"/>
            <a:ext cx="4160520" cy="310896"/>
          </a:xfrm>
          <a:prstGeom prst="rect">
            <a:avLst/>
          </a:prstGeom>
          <a:solidFill>
            <a:srgbClr val="FFFFFF"/>
          </a:solidFill>
          <a:ln w="6350">
            <a:solidFill>
              <a:srgbClr val="D0DCE8"/>
            </a:solidFill>
            <a:prstDash val="solid"/>
          </a:ln>
        </p:spPr>
        <p:txBody>
          <a:bodyPr/>
          <a:lstStyle/>
          <a:p>
            <a:endParaRPr lang="fr-FR"/>
          </a:p>
        </p:txBody>
      </p:sp>
      <p:sp>
        <p:nvSpPr>
          <p:cNvPr id="31" name="Shape 29"/>
          <p:cNvSpPr/>
          <p:nvPr/>
        </p:nvSpPr>
        <p:spPr>
          <a:xfrm>
            <a:off x="4709160" y="2103120"/>
            <a:ext cx="320040" cy="310896"/>
          </a:xfrm>
          <a:prstGeom prst="rect">
            <a:avLst/>
          </a:prstGeom>
          <a:solidFill>
            <a:srgbClr val="8B0000"/>
          </a:solidFill>
          <a:ln w="12700">
            <a:solidFill>
              <a:srgbClr val="8B0000"/>
            </a:solidFill>
            <a:prstDash val="solid"/>
          </a:ln>
        </p:spPr>
        <p:txBody>
          <a:bodyPr/>
          <a:lstStyle/>
          <a:p>
            <a:endParaRPr lang="fr-FR"/>
          </a:p>
        </p:txBody>
      </p:sp>
      <p:sp>
        <p:nvSpPr>
          <p:cNvPr id="32" name="Text 30"/>
          <p:cNvSpPr/>
          <p:nvPr/>
        </p:nvSpPr>
        <p:spPr>
          <a:xfrm>
            <a:off x="4709160" y="2103120"/>
            <a:ext cx="32004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33" name="Text 31"/>
          <p:cNvSpPr/>
          <p:nvPr/>
        </p:nvSpPr>
        <p:spPr>
          <a:xfrm>
            <a:off x="5084064" y="2121408"/>
            <a:ext cx="3712464"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Conduite en état d'ivresse manifeste</a:t>
            </a:r>
            <a:endParaRPr lang="en-US" sz="900" dirty="0"/>
          </a:p>
        </p:txBody>
      </p:sp>
      <p:sp>
        <p:nvSpPr>
          <p:cNvPr id="34" name="Shape 32"/>
          <p:cNvSpPr/>
          <p:nvPr/>
        </p:nvSpPr>
        <p:spPr>
          <a:xfrm>
            <a:off x="4709160" y="2450592"/>
            <a:ext cx="4160520" cy="310896"/>
          </a:xfrm>
          <a:prstGeom prst="rect">
            <a:avLst/>
          </a:prstGeom>
          <a:solidFill>
            <a:srgbClr val="E8F1FA"/>
          </a:solidFill>
          <a:ln w="6350">
            <a:solidFill>
              <a:srgbClr val="D0DCE8"/>
            </a:solidFill>
            <a:prstDash val="solid"/>
          </a:ln>
        </p:spPr>
        <p:txBody>
          <a:bodyPr/>
          <a:lstStyle/>
          <a:p>
            <a:endParaRPr lang="fr-FR"/>
          </a:p>
        </p:txBody>
      </p:sp>
      <p:sp>
        <p:nvSpPr>
          <p:cNvPr id="35" name="Shape 33"/>
          <p:cNvSpPr/>
          <p:nvPr/>
        </p:nvSpPr>
        <p:spPr>
          <a:xfrm>
            <a:off x="4709160" y="2450592"/>
            <a:ext cx="320040" cy="310896"/>
          </a:xfrm>
          <a:prstGeom prst="rect">
            <a:avLst/>
          </a:prstGeom>
          <a:solidFill>
            <a:srgbClr val="8B0000"/>
          </a:solidFill>
          <a:ln w="12700">
            <a:solidFill>
              <a:srgbClr val="8B0000"/>
            </a:solidFill>
            <a:prstDash val="solid"/>
          </a:ln>
        </p:spPr>
        <p:txBody>
          <a:bodyPr/>
          <a:lstStyle/>
          <a:p>
            <a:endParaRPr lang="fr-FR"/>
          </a:p>
        </p:txBody>
      </p:sp>
      <p:sp>
        <p:nvSpPr>
          <p:cNvPr id="36" name="Text 34"/>
          <p:cNvSpPr/>
          <p:nvPr/>
        </p:nvSpPr>
        <p:spPr>
          <a:xfrm>
            <a:off x="4709160" y="2450592"/>
            <a:ext cx="32004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37" name="Text 35"/>
          <p:cNvSpPr/>
          <p:nvPr/>
        </p:nvSpPr>
        <p:spPr>
          <a:xfrm>
            <a:off x="5084064" y="2468880"/>
            <a:ext cx="3712464"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Conduite après consommation de stupéfiants</a:t>
            </a:r>
            <a:endParaRPr lang="en-US" sz="900" dirty="0"/>
          </a:p>
        </p:txBody>
      </p:sp>
      <p:sp>
        <p:nvSpPr>
          <p:cNvPr id="38" name="Shape 36"/>
          <p:cNvSpPr/>
          <p:nvPr/>
        </p:nvSpPr>
        <p:spPr>
          <a:xfrm>
            <a:off x="4709160" y="2798064"/>
            <a:ext cx="4160520" cy="310896"/>
          </a:xfrm>
          <a:prstGeom prst="rect">
            <a:avLst/>
          </a:prstGeom>
          <a:solidFill>
            <a:srgbClr val="FFFFFF"/>
          </a:solidFill>
          <a:ln w="6350">
            <a:solidFill>
              <a:srgbClr val="D0DCE8"/>
            </a:solidFill>
            <a:prstDash val="solid"/>
          </a:ln>
        </p:spPr>
        <p:txBody>
          <a:bodyPr/>
          <a:lstStyle/>
          <a:p>
            <a:endParaRPr lang="fr-FR"/>
          </a:p>
        </p:txBody>
      </p:sp>
      <p:sp>
        <p:nvSpPr>
          <p:cNvPr id="39" name="Shape 37"/>
          <p:cNvSpPr/>
          <p:nvPr/>
        </p:nvSpPr>
        <p:spPr>
          <a:xfrm>
            <a:off x="4709160" y="2798064"/>
            <a:ext cx="320040" cy="310896"/>
          </a:xfrm>
          <a:prstGeom prst="rect">
            <a:avLst/>
          </a:prstGeom>
          <a:solidFill>
            <a:srgbClr val="8B0000"/>
          </a:solidFill>
          <a:ln w="12700">
            <a:solidFill>
              <a:srgbClr val="8B0000"/>
            </a:solidFill>
            <a:prstDash val="solid"/>
          </a:ln>
        </p:spPr>
        <p:txBody>
          <a:bodyPr/>
          <a:lstStyle/>
          <a:p>
            <a:endParaRPr lang="fr-FR"/>
          </a:p>
        </p:txBody>
      </p:sp>
      <p:sp>
        <p:nvSpPr>
          <p:cNvPr id="40" name="Text 38"/>
          <p:cNvSpPr/>
          <p:nvPr/>
        </p:nvSpPr>
        <p:spPr>
          <a:xfrm>
            <a:off x="4709160" y="2798064"/>
            <a:ext cx="32004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41" name="Text 39"/>
          <p:cNvSpPr/>
          <p:nvPr/>
        </p:nvSpPr>
        <p:spPr>
          <a:xfrm>
            <a:off x="5084064" y="2816352"/>
            <a:ext cx="3712464"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Refus de se soumettre aux tests de dépistage</a:t>
            </a:r>
            <a:endParaRPr lang="en-US" sz="900" dirty="0"/>
          </a:p>
        </p:txBody>
      </p:sp>
      <p:sp>
        <p:nvSpPr>
          <p:cNvPr id="42" name="Shape 40"/>
          <p:cNvSpPr/>
          <p:nvPr/>
        </p:nvSpPr>
        <p:spPr>
          <a:xfrm>
            <a:off x="4709160" y="3145536"/>
            <a:ext cx="4160520" cy="310896"/>
          </a:xfrm>
          <a:prstGeom prst="rect">
            <a:avLst/>
          </a:prstGeom>
          <a:solidFill>
            <a:srgbClr val="E8F1FA"/>
          </a:solidFill>
          <a:ln w="6350">
            <a:solidFill>
              <a:srgbClr val="D0DCE8"/>
            </a:solidFill>
            <a:prstDash val="solid"/>
          </a:ln>
        </p:spPr>
        <p:txBody>
          <a:bodyPr/>
          <a:lstStyle/>
          <a:p>
            <a:endParaRPr lang="fr-FR"/>
          </a:p>
        </p:txBody>
      </p:sp>
      <p:sp>
        <p:nvSpPr>
          <p:cNvPr id="43" name="Shape 41"/>
          <p:cNvSpPr/>
          <p:nvPr/>
        </p:nvSpPr>
        <p:spPr>
          <a:xfrm>
            <a:off x="4709160" y="3145536"/>
            <a:ext cx="320040" cy="310896"/>
          </a:xfrm>
          <a:prstGeom prst="rect">
            <a:avLst/>
          </a:prstGeom>
          <a:solidFill>
            <a:srgbClr val="8B0000"/>
          </a:solidFill>
          <a:ln w="12700">
            <a:solidFill>
              <a:srgbClr val="8B0000"/>
            </a:solidFill>
            <a:prstDash val="solid"/>
          </a:ln>
        </p:spPr>
        <p:txBody>
          <a:bodyPr/>
          <a:lstStyle/>
          <a:p>
            <a:endParaRPr lang="fr-FR"/>
          </a:p>
        </p:txBody>
      </p:sp>
      <p:sp>
        <p:nvSpPr>
          <p:cNvPr id="44" name="Text 42"/>
          <p:cNvSpPr/>
          <p:nvPr/>
        </p:nvSpPr>
        <p:spPr>
          <a:xfrm>
            <a:off x="4709160" y="3145536"/>
            <a:ext cx="32004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45" name="Text 43"/>
          <p:cNvSpPr/>
          <p:nvPr/>
        </p:nvSpPr>
        <p:spPr>
          <a:xfrm>
            <a:off x="5084064" y="3163824"/>
            <a:ext cx="3712464"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Homicide ou blessures involontaires (ITT)</a:t>
            </a:r>
            <a:endParaRPr lang="en-US" sz="900" dirty="0"/>
          </a:p>
        </p:txBody>
      </p:sp>
      <p:sp>
        <p:nvSpPr>
          <p:cNvPr id="46" name="Shape 44"/>
          <p:cNvSpPr/>
          <p:nvPr/>
        </p:nvSpPr>
        <p:spPr>
          <a:xfrm>
            <a:off x="4709160" y="3493008"/>
            <a:ext cx="4160520" cy="310896"/>
          </a:xfrm>
          <a:prstGeom prst="rect">
            <a:avLst/>
          </a:prstGeom>
          <a:solidFill>
            <a:srgbClr val="FFFFFF"/>
          </a:solidFill>
          <a:ln w="6350">
            <a:solidFill>
              <a:srgbClr val="D0DCE8"/>
            </a:solidFill>
            <a:prstDash val="solid"/>
          </a:ln>
        </p:spPr>
        <p:txBody>
          <a:bodyPr/>
          <a:lstStyle/>
          <a:p>
            <a:endParaRPr lang="fr-FR"/>
          </a:p>
        </p:txBody>
      </p:sp>
      <p:sp>
        <p:nvSpPr>
          <p:cNvPr id="47" name="Shape 45"/>
          <p:cNvSpPr/>
          <p:nvPr/>
        </p:nvSpPr>
        <p:spPr>
          <a:xfrm>
            <a:off x="4709160" y="3493008"/>
            <a:ext cx="320040" cy="310896"/>
          </a:xfrm>
          <a:prstGeom prst="rect">
            <a:avLst/>
          </a:prstGeom>
          <a:solidFill>
            <a:srgbClr val="8B0000"/>
          </a:solidFill>
          <a:ln w="12700">
            <a:solidFill>
              <a:srgbClr val="8B0000"/>
            </a:solidFill>
            <a:prstDash val="solid"/>
          </a:ln>
        </p:spPr>
        <p:txBody>
          <a:bodyPr/>
          <a:lstStyle/>
          <a:p>
            <a:endParaRPr lang="fr-FR"/>
          </a:p>
        </p:txBody>
      </p:sp>
      <p:sp>
        <p:nvSpPr>
          <p:cNvPr id="48" name="Text 46"/>
          <p:cNvSpPr/>
          <p:nvPr/>
        </p:nvSpPr>
        <p:spPr>
          <a:xfrm>
            <a:off x="4709160" y="3493008"/>
            <a:ext cx="32004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49" name="Text 47"/>
          <p:cNvSpPr/>
          <p:nvPr/>
        </p:nvSpPr>
        <p:spPr>
          <a:xfrm>
            <a:off x="5084064" y="3511296"/>
            <a:ext cx="3712464"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Délit de fuite après un accident</a:t>
            </a:r>
            <a:endParaRPr lang="en-US" sz="900" dirty="0"/>
          </a:p>
        </p:txBody>
      </p:sp>
      <p:sp>
        <p:nvSpPr>
          <p:cNvPr id="50" name="Shape 48"/>
          <p:cNvSpPr/>
          <p:nvPr/>
        </p:nvSpPr>
        <p:spPr>
          <a:xfrm>
            <a:off x="4709160" y="3840480"/>
            <a:ext cx="4160520" cy="310896"/>
          </a:xfrm>
          <a:prstGeom prst="rect">
            <a:avLst/>
          </a:prstGeom>
          <a:solidFill>
            <a:srgbClr val="E8F1FA"/>
          </a:solidFill>
          <a:ln w="6350">
            <a:solidFill>
              <a:srgbClr val="D0DCE8"/>
            </a:solidFill>
            <a:prstDash val="solid"/>
          </a:ln>
        </p:spPr>
        <p:txBody>
          <a:bodyPr/>
          <a:lstStyle/>
          <a:p>
            <a:endParaRPr lang="fr-FR"/>
          </a:p>
        </p:txBody>
      </p:sp>
      <p:sp>
        <p:nvSpPr>
          <p:cNvPr id="51" name="Shape 49"/>
          <p:cNvSpPr/>
          <p:nvPr/>
        </p:nvSpPr>
        <p:spPr>
          <a:xfrm>
            <a:off x="4709160" y="3840480"/>
            <a:ext cx="320040" cy="310896"/>
          </a:xfrm>
          <a:prstGeom prst="rect">
            <a:avLst/>
          </a:prstGeom>
          <a:solidFill>
            <a:srgbClr val="8B0000"/>
          </a:solidFill>
          <a:ln w="12700">
            <a:solidFill>
              <a:srgbClr val="8B0000"/>
            </a:solidFill>
            <a:prstDash val="solid"/>
          </a:ln>
        </p:spPr>
        <p:txBody>
          <a:bodyPr/>
          <a:lstStyle/>
          <a:p>
            <a:endParaRPr lang="fr-FR"/>
          </a:p>
        </p:txBody>
      </p:sp>
      <p:sp>
        <p:nvSpPr>
          <p:cNvPr id="52" name="Text 50"/>
          <p:cNvSpPr/>
          <p:nvPr/>
        </p:nvSpPr>
        <p:spPr>
          <a:xfrm>
            <a:off x="4709160" y="3840480"/>
            <a:ext cx="32004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53" name="Text 51"/>
          <p:cNvSpPr/>
          <p:nvPr/>
        </p:nvSpPr>
        <p:spPr>
          <a:xfrm>
            <a:off x="5084064" y="3858768"/>
            <a:ext cx="3712464"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Refus d'obtempérer / de s'immobiliser</a:t>
            </a:r>
            <a:endParaRPr lang="en-US" sz="900" dirty="0"/>
          </a:p>
        </p:txBody>
      </p:sp>
      <p:sp>
        <p:nvSpPr>
          <p:cNvPr id="54" name="Shape 52"/>
          <p:cNvSpPr/>
          <p:nvPr/>
        </p:nvSpPr>
        <p:spPr>
          <a:xfrm>
            <a:off x="4709160" y="4187952"/>
            <a:ext cx="4160520" cy="310896"/>
          </a:xfrm>
          <a:prstGeom prst="rect">
            <a:avLst/>
          </a:prstGeom>
          <a:solidFill>
            <a:srgbClr val="FFFFFF"/>
          </a:solidFill>
          <a:ln w="6350">
            <a:solidFill>
              <a:srgbClr val="D0DCE8"/>
            </a:solidFill>
            <a:prstDash val="solid"/>
          </a:ln>
        </p:spPr>
        <p:txBody>
          <a:bodyPr/>
          <a:lstStyle/>
          <a:p>
            <a:endParaRPr lang="fr-FR"/>
          </a:p>
        </p:txBody>
      </p:sp>
      <p:sp>
        <p:nvSpPr>
          <p:cNvPr id="55" name="Shape 53"/>
          <p:cNvSpPr/>
          <p:nvPr/>
        </p:nvSpPr>
        <p:spPr>
          <a:xfrm>
            <a:off x="4709160" y="4187952"/>
            <a:ext cx="320040" cy="310896"/>
          </a:xfrm>
          <a:prstGeom prst="rect">
            <a:avLst/>
          </a:prstGeom>
          <a:solidFill>
            <a:srgbClr val="8B0000"/>
          </a:solidFill>
          <a:ln w="12700">
            <a:solidFill>
              <a:srgbClr val="8B0000"/>
            </a:solidFill>
            <a:prstDash val="solid"/>
          </a:ln>
        </p:spPr>
        <p:txBody>
          <a:bodyPr/>
          <a:lstStyle/>
          <a:p>
            <a:endParaRPr lang="fr-FR"/>
          </a:p>
        </p:txBody>
      </p:sp>
      <p:sp>
        <p:nvSpPr>
          <p:cNvPr id="56" name="Text 54"/>
          <p:cNvSpPr/>
          <p:nvPr/>
        </p:nvSpPr>
        <p:spPr>
          <a:xfrm>
            <a:off x="4709160" y="4187952"/>
            <a:ext cx="32004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57" name="Text 55"/>
          <p:cNvSpPr/>
          <p:nvPr/>
        </p:nvSpPr>
        <p:spPr>
          <a:xfrm>
            <a:off x="5084064" y="4206240"/>
            <a:ext cx="3712464"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Usage de fausses plaques ou fausses déclarations</a:t>
            </a:r>
            <a:endParaRPr lang="en-US" sz="900" dirty="0"/>
          </a:p>
        </p:txBody>
      </p:sp>
      <p:sp>
        <p:nvSpPr>
          <p:cNvPr id="58" name="Shape 56"/>
          <p:cNvSpPr/>
          <p:nvPr/>
        </p:nvSpPr>
        <p:spPr>
          <a:xfrm>
            <a:off x="4709160" y="4535424"/>
            <a:ext cx="4160520" cy="310896"/>
          </a:xfrm>
          <a:prstGeom prst="rect">
            <a:avLst/>
          </a:prstGeom>
          <a:solidFill>
            <a:srgbClr val="E8F1FA"/>
          </a:solidFill>
          <a:ln w="6350">
            <a:solidFill>
              <a:srgbClr val="D0DCE8"/>
            </a:solidFill>
            <a:prstDash val="solid"/>
          </a:ln>
        </p:spPr>
        <p:txBody>
          <a:bodyPr/>
          <a:lstStyle/>
          <a:p>
            <a:endParaRPr lang="fr-FR"/>
          </a:p>
        </p:txBody>
      </p:sp>
      <p:sp>
        <p:nvSpPr>
          <p:cNvPr id="59" name="Shape 57"/>
          <p:cNvSpPr/>
          <p:nvPr/>
        </p:nvSpPr>
        <p:spPr>
          <a:xfrm>
            <a:off x="4709160" y="4535424"/>
            <a:ext cx="320040" cy="310896"/>
          </a:xfrm>
          <a:prstGeom prst="rect">
            <a:avLst/>
          </a:prstGeom>
          <a:solidFill>
            <a:srgbClr val="8B0000"/>
          </a:solidFill>
          <a:ln w="12700">
            <a:solidFill>
              <a:srgbClr val="8B0000"/>
            </a:solidFill>
            <a:prstDash val="solid"/>
          </a:ln>
        </p:spPr>
        <p:txBody>
          <a:bodyPr/>
          <a:lstStyle/>
          <a:p>
            <a:endParaRPr lang="fr-FR"/>
          </a:p>
        </p:txBody>
      </p:sp>
      <p:sp>
        <p:nvSpPr>
          <p:cNvPr id="60" name="Text 58"/>
          <p:cNvSpPr/>
          <p:nvPr/>
        </p:nvSpPr>
        <p:spPr>
          <a:xfrm>
            <a:off x="4709160" y="4535424"/>
            <a:ext cx="32004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61" name="Text 59"/>
          <p:cNvSpPr/>
          <p:nvPr/>
        </p:nvSpPr>
        <p:spPr>
          <a:xfrm>
            <a:off x="5084064" y="4553712"/>
            <a:ext cx="3712464"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Conduite malgré retrait, suspension ou annulation du permis</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8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À RETENIR 7b — Mentions du B2 incompatibles avec l'exercice du T3P</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54/88</a:t>
            </a:r>
            <a:endParaRPr lang="en-US" sz="800" dirty="0"/>
          </a:p>
        </p:txBody>
      </p:sp>
      <p:sp>
        <p:nvSpPr>
          <p:cNvPr id="8" name="Shape 6"/>
          <p:cNvSpPr/>
          <p:nvPr/>
        </p:nvSpPr>
        <p:spPr>
          <a:xfrm>
            <a:off x="274320" y="914400"/>
            <a:ext cx="8595360" cy="384048"/>
          </a:xfrm>
          <a:prstGeom prst="rect">
            <a:avLst/>
          </a:prstGeom>
          <a:solidFill>
            <a:srgbClr val="1A3A5C"/>
          </a:solidFill>
          <a:ln w="12700">
            <a:solidFill>
              <a:srgbClr val="1A3A5C"/>
            </a:solidFill>
            <a:prstDash val="solid"/>
          </a:ln>
        </p:spPr>
        <p:txBody>
          <a:bodyPr/>
          <a:lstStyle/>
          <a:p>
            <a:endParaRPr lang="fr-FR"/>
          </a:p>
        </p:txBody>
      </p:sp>
      <p:sp>
        <p:nvSpPr>
          <p:cNvPr id="9" name="Text 7"/>
          <p:cNvSpPr/>
          <p:nvPr/>
        </p:nvSpPr>
        <p:spPr>
          <a:xfrm>
            <a:off x="274320" y="914400"/>
            <a:ext cx="859536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BULLETIN n°2 DU CASIER JUDICIAIRE — Mentions bloquantes</a:t>
            </a:r>
            <a:endParaRPr lang="en-US" sz="1200" dirty="0"/>
          </a:p>
        </p:txBody>
      </p:sp>
      <p:sp>
        <p:nvSpPr>
          <p:cNvPr id="10" name="Shape 8"/>
          <p:cNvSpPr/>
          <p:nvPr/>
        </p:nvSpPr>
        <p:spPr>
          <a:xfrm>
            <a:off x="274320" y="1389888"/>
            <a:ext cx="8595360" cy="292608"/>
          </a:xfrm>
          <a:prstGeom prst="rect">
            <a:avLst/>
          </a:prstGeom>
          <a:solidFill>
            <a:srgbClr val="1A3A5C"/>
          </a:solidFill>
          <a:ln w="12700">
            <a:solidFill>
              <a:srgbClr val="1A3A5C"/>
            </a:solidFill>
            <a:prstDash val="solid"/>
          </a:ln>
        </p:spPr>
        <p:txBody>
          <a:bodyPr/>
          <a:lstStyle/>
          <a:p>
            <a:endParaRPr lang="fr-FR"/>
          </a:p>
        </p:txBody>
      </p:sp>
      <p:sp>
        <p:nvSpPr>
          <p:cNvPr id="11" name="Text 9"/>
          <p:cNvSpPr/>
          <p:nvPr/>
        </p:nvSpPr>
        <p:spPr>
          <a:xfrm>
            <a:off x="347472" y="1389888"/>
            <a:ext cx="8430768" cy="29260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Le Bulletin n°2 NE DOIT PAS mentionner l'une des 3 condamnations suivantes :</a:t>
            </a:r>
            <a:endParaRPr lang="en-US" sz="1050" dirty="0"/>
          </a:p>
        </p:txBody>
      </p:sp>
      <p:sp>
        <p:nvSpPr>
          <p:cNvPr id="12" name="Shape 10"/>
          <p:cNvSpPr/>
          <p:nvPr/>
        </p:nvSpPr>
        <p:spPr>
          <a:xfrm>
            <a:off x="274320" y="1755648"/>
            <a:ext cx="8595360" cy="1005840"/>
          </a:xfrm>
          <a:prstGeom prst="rect">
            <a:avLst/>
          </a:prstGeom>
          <a:solidFill>
            <a:srgbClr val="E8F1FA"/>
          </a:solidFill>
          <a:ln w="6350">
            <a:solidFill>
              <a:srgbClr val="D0DCE8"/>
            </a:solidFill>
            <a:prstDash val="solid"/>
          </a:ln>
        </p:spPr>
        <p:txBody>
          <a:bodyPr/>
          <a:lstStyle/>
          <a:p>
            <a:endParaRPr lang="fr-FR"/>
          </a:p>
        </p:txBody>
      </p:sp>
      <p:sp>
        <p:nvSpPr>
          <p:cNvPr id="13" name="Shape 11"/>
          <p:cNvSpPr/>
          <p:nvPr/>
        </p:nvSpPr>
        <p:spPr>
          <a:xfrm>
            <a:off x="274320" y="1755648"/>
            <a:ext cx="1234440" cy="1005840"/>
          </a:xfrm>
          <a:prstGeom prst="rect">
            <a:avLst/>
          </a:prstGeom>
          <a:solidFill>
            <a:srgbClr val="C0392B"/>
          </a:solidFill>
          <a:ln w="12700">
            <a:solidFill>
              <a:srgbClr val="C0392B"/>
            </a:solidFill>
            <a:prstDash val="solid"/>
          </a:ln>
        </p:spPr>
        <p:txBody>
          <a:bodyPr/>
          <a:lstStyle/>
          <a:p>
            <a:endParaRPr lang="fr-FR"/>
          </a:p>
        </p:txBody>
      </p:sp>
      <p:sp>
        <p:nvSpPr>
          <p:cNvPr id="14" name="Text 12"/>
          <p:cNvSpPr/>
          <p:nvPr/>
        </p:nvSpPr>
        <p:spPr>
          <a:xfrm>
            <a:off x="320040" y="1847088"/>
            <a:ext cx="1152144" cy="82296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MENTION 1</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Délits Code de la route</a:t>
            </a:r>
            <a:endParaRPr lang="en-US" sz="900" dirty="0"/>
          </a:p>
        </p:txBody>
      </p:sp>
      <p:sp>
        <p:nvSpPr>
          <p:cNvPr id="15" name="Text 13"/>
          <p:cNvSpPr/>
          <p:nvPr/>
        </p:nvSpPr>
        <p:spPr>
          <a:xfrm>
            <a:off x="1572768" y="1810512"/>
            <a:ext cx="5349240" cy="896112"/>
          </a:xfrm>
          <a:prstGeom prst="rect">
            <a:avLst/>
          </a:prstGeom>
          <a:noFill/>
          <a:ln/>
        </p:spPr>
        <p:txBody>
          <a:bodyPr wrap="square" rtlCol="0" anchor="t"/>
          <a:lstStyle/>
          <a:p>
            <a:pPr marL="0" indent="0">
              <a:buNone/>
            </a:pPr>
            <a:r>
              <a:rPr lang="en-US" sz="950" dirty="0">
                <a:solidFill>
                  <a:srgbClr val="3A3A3A"/>
                </a:solidFill>
                <a:latin typeface="Calibri" pitchFamily="34" charset="0"/>
                <a:ea typeface="Calibri" pitchFamily="34" charset="-122"/>
                <a:cs typeface="Calibri" pitchFamily="34" charset="-120"/>
              </a:rPr>
              <a:t>Condamnation définitive pour un délit prévu et réprimé par le Code de la route qui donne lieu à une réduction de la MOITIÉ du nombre maximal de points du permis de conduire.</a:t>
            </a:r>
            <a:endParaRPr lang="en-US" sz="950" dirty="0"/>
          </a:p>
        </p:txBody>
      </p:sp>
      <p:sp>
        <p:nvSpPr>
          <p:cNvPr id="16" name="Shape 14"/>
          <p:cNvSpPr/>
          <p:nvPr/>
        </p:nvSpPr>
        <p:spPr>
          <a:xfrm>
            <a:off x="6967728" y="1810512"/>
            <a:ext cx="1810512" cy="896112"/>
          </a:xfrm>
          <a:prstGeom prst="rect">
            <a:avLst/>
          </a:prstGeom>
          <a:solidFill>
            <a:srgbClr val="E8F0F8"/>
          </a:solidFill>
          <a:ln w="6350">
            <a:solidFill>
              <a:srgbClr val="D0DCE8"/>
            </a:solidFill>
            <a:prstDash val="solid"/>
          </a:ln>
        </p:spPr>
        <p:txBody>
          <a:bodyPr/>
          <a:lstStyle/>
          <a:p>
            <a:endParaRPr lang="fr-FR"/>
          </a:p>
        </p:txBody>
      </p:sp>
      <p:sp>
        <p:nvSpPr>
          <p:cNvPr id="17" name="Text 15"/>
          <p:cNvSpPr/>
          <p:nvPr/>
        </p:nvSpPr>
        <p:spPr>
          <a:xfrm>
            <a:off x="7004304" y="1810512"/>
            <a:ext cx="1737360" cy="896112"/>
          </a:xfrm>
          <a:prstGeom prst="rect">
            <a:avLst/>
          </a:prstGeom>
          <a:noFill/>
          <a:ln/>
        </p:spPr>
        <p:txBody>
          <a:bodyPr wrap="square" rtlCol="0" anchor="t"/>
          <a:lstStyle/>
          <a:p>
            <a:pPr marL="0" indent="0">
              <a:buNone/>
            </a:pPr>
            <a:r>
              <a:rPr lang="en-US" sz="800" i="1" dirty="0">
                <a:solidFill>
                  <a:srgbClr val="1A3A5C"/>
                </a:solidFill>
                <a:latin typeface="Calibri" pitchFamily="34" charset="0"/>
                <a:ea typeface="Calibri" pitchFamily="34" charset="-122"/>
                <a:cs typeface="Calibri" pitchFamily="34" charset="-120"/>
              </a:rPr>
              <a:t>💡 Exemple : conduite sous alcool avec taux ≥ 0,8 g/l → 6 points retirés sur 12 = moitié → B2 incompatible</a:t>
            </a:r>
            <a:endParaRPr lang="en-US" sz="800" dirty="0"/>
          </a:p>
        </p:txBody>
      </p:sp>
      <p:sp>
        <p:nvSpPr>
          <p:cNvPr id="18" name="Shape 16"/>
          <p:cNvSpPr/>
          <p:nvPr/>
        </p:nvSpPr>
        <p:spPr>
          <a:xfrm>
            <a:off x="274320" y="2834640"/>
            <a:ext cx="8595360" cy="1005840"/>
          </a:xfrm>
          <a:prstGeom prst="rect">
            <a:avLst/>
          </a:prstGeom>
          <a:solidFill>
            <a:srgbClr val="E8F1FA"/>
          </a:solidFill>
          <a:ln w="6350">
            <a:solidFill>
              <a:srgbClr val="D0DCE8"/>
            </a:solidFill>
            <a:prstDash val="solid"/>
          </a:ln>
        </p:spPr>
        <p:txBody>
          <a:bodyPr/>
          <a:lstStyle/>
          <a:p>
            <a:endParaRPr lang="fr-FR"/>
          </a:p>
        </p:txBody>
      </p:sp>
      <p:sp>
        <p:nvSpPr>
          <p:cNvPr id="19" name="Shape 17"/>
          <p:cNvSpPr/>
          <p:nvPr/>
        </p:nvSpPr>
        <p:spPr>
          <a:xfrm>
            <a:off x="274320" y="2834640"/>
            <a:ext cx="1234440" cy="1005840"/>
          </a:xfrm>
          <a:prstGeom prst="rect">
            <a:avLst/>
          </a:prstGeom>
          <a:solidFill>
            <a:srgbClr val="C0392B"/>
          </a:solidFill>
          <a:ln w="12700">
            <a:solidFill>
              <a:srgbClr val="C0392B"/>
            </a:solidFill>
            <a:prstDash val="solid"/>
          </a:ln>
        </p:spPr>
        <p:txBody>
          <a:bodyPr/>
          <a:lstStyle/>
          <a:p>
            <a:endParaRPr lang="fr-FR"/>
          </a:p>
        </p:txBody>
      </p:sp>
      <p:sp>
        <p:nvSpPr>
          <p:cNvPr id="20" name="Text 18"/>
          <p:cNvSpPr/>
          <p:nvPr/>
        </p:nvSpPr>
        <p:spPr>
          <a:xfrm>
            <a:off x="320040" y="2926080"/>
            <a:ext cx="1152144" cy="82296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MENTION 2</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Crimes et délits graves</a:t>
            </a:r>
            <a:endParaRPr lang="en-US" sz="900" dirty="0"/>
          </a:p>
        </p:txBody>
      </p:sp>
      <p:sp>
        <p:nvSpPr>
          <p:cNvPr id="21" name="Text 19"/>
          <p:cNvSpPr/>
          <p:nvPr/>
        </p:nvSpPr>
        <p:spPr>
          <a:xfrm>
            <a:off x="1572768" y="2889504"/>
            <a:ext cx="5349240" cy="896112"/>
          </a:xfrm>
          <a:prstGeom prst="rect">
            <a:avLst/>
          </a:prstGeom>
          <a:noFill/>
          <a:ln/>
        </p:spPr>
        <p:txBody>
          <a:bodyPr wrap="square" rtlCol="0" anchor="t"/>
          <a:lstStyle/>
          <a:p>
            <a:pPr marL="0" indent="0">
              <a:buNone/>
            </a:pPr>
            <a:r>
              <a:rPr lang="en-US" sz="950" dirty="0">
                <a:solidFill>
                  <a:srgbClr val="3A3A3A"/>
                </a:solidFill>
                <a:latin typeface="Calibri" pitchFamily="34" charset="0"/>
                <a:ea typeface="Calibri" pitchFamily="34" charset="-122"/>
                <a:cs typeface="Calibri" pitchFamily="34" charset="-120"/>
              </a:rPr>
              <a:t>Condamnation définitive à une peine criminelle ou correctionnelle d'au moins 6 mois pour : vol, escroquerie, abus de confiance, atteinte volontaire à l'intégrité, agression sexuelle, trafic d'armes, extorsion, infractions stupéfiants.</a:t>
            </a:r>
            <a:endParaRPr lang="en-US" sz="950" dirty="0"/>
          </a:p>
        </p:txBody>
      </p:sp>
      <p:sp>
        <p:nvSpPr>
          <p:cNvPr id="22" name="Shape 20"/>
          <p:cNvSpPr/>
          <p:nvPr/>
        </p:nvSpPr>
        <p:spPr>
          <a:xfrm>
            <a:off x="6967728" y="2889504"/>
            <a:ext cx="1810512" cy="896112"/>
          </a:xfrm>
          <a:prstGeom prst="rect">
            <a:avLst/>
          </a:prstGeom>
          <a:solidFill>
            <a:srgbClr val="E8F0F8"/>
          </a:solidFill>
          <a:ln w="6350">
            <a:solidFill>
              <a:srgbClr val="D0DCE8"/>
            </a:solidFill>
            <a:prstDash val="solid"/>
          </a:ln>
        </p:spPr>
        <p:txBody>
          <a:bodyPr/>
          <a:lstStyle/>
          <a:p>
            <a:endParaRPr lang="fr-FR"/>
          </a:p>
        </p:txBody>
      </p:sp>
      <p:sp>
        <p:nvSpPr>
          <p:cNvPr id="23" name="Text 21"/>
          <p:cNvSpPr/>
          <p:nvPr/>
        </p:nvSpPr>
        <p:spPr>
          <a:xfrm>
            <a:off x="7004304" y="2889504"/>
            <a:ext cx="1737360" cy="896112"/>
          </a:xfrm>
          <a:prstGeom prst="rect">
            <a:avLst/>
          </a:prstGeom>
          <a:noFill/>
          <a:ln/>
        </p:spPr>
        <p:txBody>
          <a:bodyPr wrap="square" rtlCol="0" anchor="t"/>
          <a:lstStyle/>
          <a:p>
            <a:pPr marL="0" indent="0">
              <a:buNone/>
            </a:pPr>
            <a:r>
              <a:rPr lang="en-US" sz="800" i="1" dirty="0">
                <a:solidFill>
                  <a:srgbClr val="1A3A5C"/>
                </a:solidFill>
                <a:latin typeface="Calibri" pitchFamily="34" charset="0"/>
                <a:ea typeface="Calibri" pitchFamily="34" charset="-122"/>
                <a:cs typeface="Calibri" pitchFamily="34" charset="-120"/>
              </a:rPr>
              <a:t>💡 Peu importe la nationalité de la juridiction (française ou étrangère)</a:t>
            </a:r>
            <a:endParaRPr lang="en-US" sz="800" dirty="0"/>
          </a:p>
        </p:txBody>
      </p:sp>
      <p:sp>
        <p:nvSpPr>
          <p:cNvPr id="24" name="Shape 22"/>
          <p:cNvSpPr/>
          <p:nvPr/>
        </p:nvSpPr>
        <p:spPr>
          <a:xfrm>
            <a:off x="274320" y="3913632"/>
            <a:ext cx="8595360" cy="1005840"/>
          </a:xfrm>
          <a:prstGeom prst="rect">
            <a:avLst/>
          </a:prstGeom>
          <a:solidFill>
            <a:srgbClr val="E8F1FA"/>
          </a:solidFill>
          <a:ln w="6350">
            <a:solidFill>
              <a:srgbClr val="D0DCE8"/>
            </a:solidFill>
            <a:prstDash val="solid"/>
          </a:ln>
        </p:spPr>
        <p:txBody>
          <a:bodyPr/>
          <a:lstStyle/>
          <a:p>
            <a:endParaRPr lang="fr-FR"/>
          </a:p>
        </p:txBody>
      </p:sp>
      <p:sp>
        <p:nvSpPr>
          <p:cNvPr id="25" name="Shape 23"/>
          <p:cNvSpPr/>
          <p:nvPr/>
        </p:nvSpPr>
        <p:spPr>
          <a:xfrm>
            <a:off x="274320" y="3913632"/>
            <a:ext cx="1234440" cy="1005840"/>
          </a:xfrm>
          <a:prstGeom prst="rect">
            <a:avLst/>
          </a:prstGeom>
          <a:solidFill>
            <a:srgbClr val="C0392B"/>
          </a:solidFill>
          <a:ln w="12700">
            <a:solidFill>
              <a:srgbClr val="C0392B"/>
            </a:solidFill>
            <a:prstDash val="solid"/>
          </a:ln>
        </p:spPr>
        <p:txBody>
          <a:bodyPr/>
          <a:lstStyle/>
          <a:p>
            <a:endParaRPr lang="fr-FR"/>
          </a:p>
        </p:txBody>
      </p:sp>
      <p:sp>
        <p:nvSpPr>
          <p:cNvPr id="26" name="Text 24"/>
          <p:cNvSpPr/>
          <p:nvPr/>
        </p:nvSpPr>
        <p:spPr>
          <a:xfrm>
            <a:off x="320040" y="4005072"/>
            <a:ext cx="1152144" cy="82296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MENTION 3</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Conduite sans permis</a:t>
            </a:r>
            <a:endParaRPr lang="en-US" sz="900" dirty="0"/>
          </a:p>
        </p:txBody>
      </p:sp>
      <p:sp>
        <p:nvSpPr>
          <p:cNvPr id="27" name="Text 25"/>
          <p:cNvSpPr/>
          <p:nvPr/>
        </p:nvSpPr>
        <p:spPr>
          <a:xfrm>
            <a:off x="1572768" y="3968496"/>
            <a:ext cx="5349240" cy="896112"/>
          </a:xfrm>
          <a:prstGeom prst="rect">
            <a:avLst/>
          </a:prstGeom>
          <a:noFill/>
          <a:ln/>
        </p:spPr>
        <p:txBody>
          <a:bodyPr wrap="square" rtlCol="0" anchor="t"/>
          <a:lstStyle/>
          <a:p>
            <a:pPr marL="0" indent="0">
              <a:buNone/>
            </a:pPr>
            <a:r>
              <a:rPr lang="en-US" sz="950" dirty="0">
                <a:solidFill>
                  <a:srgbClr val="3A3A3A"/>
                </a:solidFill>
                <a:latin typeface="Calibri" pitchFamily="34" charset="0"/>
                <a:ea typeface="Calibri" pitchFamily="34" charset="-122"/>
                <a:cs typeface="Calibri" pitchFamily="34" charset="-120"/>
              </a:rPr>
              <a:t>Condamnation définitive pour conduite sans être titulaire du permis correspondant, ou malgré l'annulation ou l'interdiction d'obtenir un permis, ou refus de restituer son permis après invalidation ou annulation.</a:t>
            </a:r>
            <a:endParaRPr lang="en-US" sz="950" dirty="0"/>
          </a:p>
        </p:txBody>
      </p:sp>
      <p:sp>
        <p:nvSpPr>
          <p:cNvPr id="28" name="Shape 26"/>
          <p:cNvSpPr/>
          <p:nvPr/>
        </p:nvSpPr>
        <p:spPr>
          <a:xfrm>
            <a:off x="6967728" y="3968496"/>
            <a:ext cx="1810512" cy="896112"/>
          </a:xfrm>
          <a:prstGeom prst="rect">
            <a:avLst/>
          </a:prstGeom>
          <a:solidFill>
            <a:srgbClr val="E8F0F8"/>
          </a:solidFill>
          <a:ln w="6350">
            <a:solidFill>
              <a:srgbClr val="D0DCE8"/>
            </a:solidFill>
            <a:prstDash val="solid"/>
          </a:ln>
        </p:spPr>
        <p:txBody>
          <a:bodyPr/>
          <a:lstStyle/>
          <a:p>
            <a:endParaRPr lang="fr-FR"/>
          </a:p>
        </p:txBody>
      </p:sp>
      <p:sp>
        <p:nvSpPr>
          <p:cNvPr id="29" name="Text 27"/>
          <p:cNvSpPr/>
          <p:nvPr/>
        </p:nvSpPr>
        <p:spPr>
          <a:xfrm>
            <a:off x="7004304" y="3968496"/>
            <a:ext cx="1737360" cy="896112"/>
          </a:xfrm>
          <a:prstGeom prst="rect">
            <a:avLst/>
          </a:prstGeom>
          <a:noFill/>
          <a:ln/>
        </p:spPr>
        <p:txBody>
          <a:bodyPr wrap="square" rtlCol="0" anchor="t"/>
          <a:lstStyle/>
          <a:p>
            <a:pPr marL="0" indent="0">
              <a:buNone/>
            </a:pPr>
            <a:r>
              <a:rPr lang="en-US" sz="800" i="1" dirty="0">
                <a:solidFill>
                  <a:srgbClr val="1A3A5C"/>
                </a:solidFill>
                <a:latin typeface="Calibri" pitchFamily="34" charset="0"/>
                <a:ea typeface="Calibri" pitchFamily="34" charset="-122"/>
                <a:cs typeface="Calibri" pitchFamily="34" charset="-120"/>
              </a:rPr>
              <a:t>💡 Un conducteur T3P doit TOUJOURS avoir un permis valide correspondant à son véhicule</a:t>
            </a:r>
            <a:endParaRPr lang="en-US" sz="800" dirty="0"/>
          </a:p>
        </p:txBody>
      </p:sp>
      <p:sp>
        <p:nvSpPr>
          <p:cNvPr id="30" name="Shape 28"/>
          <p:cNvSpPr/>
          <p:nvPr/>
        </p:nvSpPr>
        <p:spPr>
          <a:xfrm>
            <a:off x="274320" y="5102352"/>
            <a:ext cx="8595360" cy="0"/>
          </a:xfrm>
          <a:prstGeom prst="rect">
            <a:avLst/>
          </a:prstGeom>
          <a:solidFill>
            <a:srgbClr val="FFFBEB"/>
          </a:solidFill>
          <a:ln w="19050">
            <a:solidFill>
              <a:srgbClr val="F4A227"/>
            </a:solidFill>
            <a:prstDash val="solid"/>
          </a:ln>
        </p:spPr>
        <p:txBody>
          <a:bodyPr/>
          <a:lstStyle/>
          <a:p>
            <a:endParaRPr lang="fr-FR"/>
          </a:p>
        </p:txBody>
      </p:sp>
      <p:sp>
        <p:nvSpPr>
          <p:cNvPr id="31" name="Shape 29"/>
          <p:cNvSpPr/>
          <p:nvPr/>
        </p:nvSpPr>
        <p:spPr>
          <a:xfrm>
            <a:off x="274320" y="5102352"/>
            <a:ext cx="54864" cy="0"/>
          </a:xfrm>
          <a:prstGeom prst="rect">
            <a:avLst/>
          </a:prstGeom>
          <a:solidFill>
            <a:srgbClr val="F4A227"/>
          </a:solidFill>
          <a:ln w="12700">
            <a:solidFill>
              <a:srgbClr val="F4A227"/>
            </a:solidFill>
            <a:prstDash val="solid"/>
          </a:ln>
        </p:spPr>
        <p:txBody>
          <a:bodyPr/>
          <a:lstStyle/>
          <a:p>
            <a:endParaRPr lang="fr-FR"/>
          </a:p>
        </p:txBody>
      </p:sp>
      <p:sp>
        <p:nvSpPr>
          <p:cNvPr id="32" name="Text 30"/>
          <p:cNvSpPr/>
          <p:nvPr/>
        </p:nvSpPr>
        <p:spPr>
          <a:xfrm>
            <a:off x="384048" y="5102352"/>
            <a:ext cx="8467344" cy="0"/>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ℹ  </a:t>
            </a:r>
            <a:endParaRPr lang="en-US" sz="1000" dirty="0"/>
          </a:p>
        </p:txBody>
      </p:sp>
      <p:sp>
        <p:nvSpPr>
          <p:cNvPr id="33" name="Shape 31"/>
          <p:cNvSpPr/>
          <p:nvPr/>
        </p:nvSpPr>
        <p:spPr>
          <a:xfrm>
            <a:off x="274320" y="5010912"/>
            <a:ext cx="8595360" cy="347472"/>
          </a:xfrm>
          <a:prstGeom prst="rect">
            <a:avLst/>
          </a:prstGeom>
          <a:solidFill>
            <a:srgbClr val="FFF8E1"/>
          </a:solidFill>
          <a:ln w="12700">
            <a:solidFill>
              <a:srgbClr val="F4A227"/>
            </a:solidFill>
            <a:prstDash val="solid"/>
          </a:ln>
        </p:spPr>
        <p:txBody>
          <a:bodyPr/>
          <a:lstStyle/>
          <a:p>
            <a:endParaRPr lang="fr-FR"/>
          </a:p>
        </p:txBody>
      </p:sp>
      <p:sp>
        <p:nvSpPr>
          <p:cNvPr id="34" name="Shape 32"/>
          <p:cNvSpPr/>
          <p:nvPr/>
        </p:nvSpPr>
        <p:spPr>
          <a:xfrm>
            <a:off x="274320" y="5010912"/>
            <a:ext cx="54864" cy="347472"/>
          </a:xfrm>
          <a:prstGeom prst="rect">
            <a:avLst/>
          </a:prstGeom>
          <a:solidFill>
            <a:srgbClr val="F4A227"/>
          </a:solidFill>
          <a:ln w="12700">
            <a:solidFill>
              <a:srgbClr val="F4A227"/>
            </a:solidFill>
            <a:prstDash val="solid"/>
          </a:ln>
        </p:spPr>
        <p:txBody>
          <a:bodyPr/>
          <a:lstStyle/>
          <a:p>
            <a:endParaRPr lang="fr-FR"/>
          </a:p>
        </p:txBody>
      </p:sp>
      <p:sp>
        <p:nvSpPr>
          <p:cNvPr id="35" name="Text 33"/>
          <p:cNvSpPr/>
          <p:nvPr/>
        </p:nvSpPr>
        <p:spPr>
          <a:xfrm>
            <a:off x="457200" y="5010912"/>
            <a:ext cx="8229600" cy="347472"/>
          </a:xfrm>
          <a:prstGeom prst="rect">
            <a:avLst/>
          </a:prstGeom>
          <a:noFill/>
          <a:ln/>
        </p:spPr>
        <p:txBody>
          <a:bodyPr wrap="square" rtlCol="0" anchor="ctr"/>
          <a:lstStyle/>
          <a:p>
            <a:pPr marL="0" indent="0">
              <a:buNone/>
            </a:pPr>
            <a:r>
              <a:rPr lang="en-US" sz="950" dirty="0">
                <a:solidFill>
                  <a:srgbClr val="3A3A3A"/>
                </a:solidFill>
                <a:latin typeface="Calibri" pitchFamily="34" charset="0"/>
                <a:ea typeface="Calibri" pitchFamily="34" charset="-122"/>
                <a:cs typeface="Calibri" pitchFamily="34" charset="-120"/>
              </a:rPr>
              <a:t>⚠  Condamnation DÉFINITIVE uniquement — après délai de 10 jours (opposition ou recours expirés). Une condamnation temporaire ne bloque pas.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6411</Words>
  <Application>Microsoft Office PowerPoint</Application>
  <PresentationFormat>Affichage à l'écran (16:9)</PresentationFormat>
  <Paragraphs>997</Paragraphs>
  <Slides>39</Slides>
  <Notes>39</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39</vt:i4>
      </vt:variant>
    </vt:vector>
  </HeadingPairs>
  <TitlesOfParts>
    <vt:vector size="42"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Réglementation T3P — FTRANSPORT</dc:title>
  <dc:subject>PptxGenJS Presentation</dc:subject>
  <dc:creator>PptxGenJS</dc:creator>
  <cp:lastModifiedBy>naoufal guenichi</cp:lastModifiedBy>
  <cp:revision>1</cp:revision>
  <dcterms:created xsi:type="dcterms:W3CDTF">2026-02-22T21:39:09Z</dcterms:created>
  <dcterms:modified xsi:type="dcterms:W3CDTF">2026-02-23T21:46:04Z</dcterms:modified>
</cp:coreProperties>
</file>