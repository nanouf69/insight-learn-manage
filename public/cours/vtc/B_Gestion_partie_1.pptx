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2" r:id="rId9"/>
    <p:sldId id="263" r:id="rId10"/>
    <p:sldId id="283" r:id="rId11"/>
    <p:sldId id="286" r:id="rId12"/>
    <p:sldId id="287" r:id="rId13"/>
    <p:sldId id="288" r:id="rId14"/>
    <p:sldId id="289" r:id="rId15"/>
    <p:sldId id="290" r:id="rId16"/>
    <p:sldId id="264" r:id="rId17"/>
    <p:sldId id="284" r:id="rId18"/>
    <p:sldId id="265" r:id="rId19"/>
    <p:sldId id="266" r:id="rId20"/>
    <p:sldId id="293" r:id="rId21"/>
    <p:sldId id="267" r:id="rId22"/>
    <p:sldId id="292" r:id="rId23"/>
    <p:sldId id="268" r:id="rId24"/>
    <p:sldId id="269" r:id="rId25"/>
    <p:sldId id="285" r:id="rId26"/>
    <p:sldId id="270" r:id="rId27"/>
    <p:sldId id="271" r:id="rId28"/>
    <p:sldId id="272" r:id="rId29"/>
    <p:sldId id="273" r:id="rId30"/>
    <p:sldId id="274" r:id="rId31"/>
    <p:sldId id="291" r:id="rId32"/>
    <p:sldId id="275" r:id="rId33"/>
    <p:sldId id="276" r:id="rId34"/>
    <p:sldId id="277" r:id="rId35"/>
    <p:sldId id="278" r:id="rId36"/>
    <p:sldId id="279" r:id="rId37"/>
    <p:sldId id="280" r:id="rId38"/>
    <p:sldId id="281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oufal guenichi" userId="858fd4b3-0f44-4d07-ab42-9c2b2bf873b3" providerId="ADAL" clId="{5ADB1776-59AF-4A69-8422-CB66C8AF09C6}"/>
    <pc:docChg chg="modSld">
      <pc:chgData name="naoufal guenichi" userId="858fd4b3-0f44-4d07-ab42-9c2b2bf873b3" providerId="ADAL" clId="{5ADB1776-59AF-4A69-8422-CB66C8AF09C6}" dt="2026-03-19T19:21:30.001" v="33" actId="20577"/>
      <pc:docMkLst>
        <pc:docMk/>
      </pc:docMkLst>
      <pc:sldChg chg="modSp mod">
        <pc:chgData name="naoufal guenichi" userId="858fd4b3-0f44-4d07-ab42-9c2b2bf873b3" providerId="ADAL" clId="{5ADB1776-59AF-4A69-8422-CB66C8AF09C6}" dt="2026-03-19T19:21:30.001" v="33" actId="20577"/>
        <pc:sldMkLst>
          <pc:docMk/>
          <pc:sldMk cId="0" sldId="263"/>
        </pc:sldMkLst>
        <pc:graphicFrameChg chg="modGraphic">
          <ac:chgData name="naoufal guenichi" userId="858fd4b3-0f44-4d07-ab42-9c2b2bf873b3" providerId="ADAL" clId="{5ADB1776-59AF-4A69-8422-CB66C8AF09C6}" dt="2026-03-19T19:21:30.001" v="33" actId="20577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6605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417320"/>
            <a:ext cx="9144000" cy="2194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/>
          <p:cNvSpPr/>
          <p:nvPr/>
        </p:nvSpPr>
        <p:spPr>
          <a:xfrm>
            <a:off x="0" y="1417320"/>
            <a:ext cx="91440" cy="21945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248716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· Formes juridiques · Comptabilité · Fiscalité · Régimes sociaux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AA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parties — Formation certifiée Qualiopi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46634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Déclaration n° 84 69 15114 69  •  Lyon</a:t>
            </a:r>
            <a:endParaRPr lang="en-US" sz="850" dirty="0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GÉNÉRAL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parties — Formation Gestion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42416"/>
            <a:ext cx="8631936" cy="1225296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56032" y="1042416"/>
            <a:ext cx="1371600" cy="122529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256032" y="113385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" y="160934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&amp; formes juridiques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719072" y="1115568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1719072" y="1115568"/>
            <a:ext cx="1700784" cy="23774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1773936" y="1115568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d'entrepreneurs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773936" y="1389888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Artisan, libéral, agriculteur, commerçant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511296" y="1115568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3511296" y="1115568"/>
            <a:ext cx="1700784" cy="23774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566160" y="1115568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importantes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66160" y="1389888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 des Métiers vs Chambre du Commerce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303520" y="1115568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5303520" y="1115568"/>
            <a:ext cx="1700784" cy="23774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5358384" y="1115568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physique / morale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358384" y="1389888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Patrimoine confondu vs séparé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095744" y="1115568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23"/>
          <p:cNvSpPr/>
          <p:nvPr/>
        </p:nvSpPr>
        <p:spPr>
          <a:xfrm>
            <a:off x="7095744" y="1115568"/>
            <a:ext cx="1700784" cy="23774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7150608" y="1115568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formes juridiques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150608" y="1389888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EI, EURL, SARL, SASU, SAS, SA…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56032" y="2359152"/>
            <a:ext cx="8631936" cy="1225296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27"/>
          <p:cNvSpPr/>
          <p:nvPr/>
        </p:nvSpPr>
        <p:spPr>
          <a:xfrm>
            <a:off x="256032" y="2359152"/>
            <a:ext cx="1371600" cy="12252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256032" y="2450592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56032" y="29260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Amortissements, coût de revient, TVA, fiscalité, régimes sociaux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719072" y="2432304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1719072" y="2432304"/>
            <a:ext cx="1700784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773936" y="2432304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773936" y="2706624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Linéaire, dégressif, exceptionnel, valeur résiduelle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511296" y="2432304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35"/>
          <p:cNvSpPr/>
          <p:nvPr/>
        </p:nvSpPr>
        <p:spPr>
          <a:xfrm>
            <a:off x="3511296" y="2432304"/>
            <a:ext cx="1700784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6"/>
          <p:cNvSpPr/>
          <p:nvPr/>
        </p:nvSpPr>
        <p:spPr>
          <a:xfrm>
            <a:off x="3566160" y="2432304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de revient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66160" y="2706624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fixes/variables, formule monôme &amp; binôme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303520" y="2432304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39"/>
          <p:cNvSpPr/>
          <p:nvPr/>
        </p:nvSpPr>
        <p:spPr>
          <a:xfrm>
            <a:off x="5303520" y="2432304"/>
            <a:ext cx="1700784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5358384" y="2432304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 &amp; régimes d'imposition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358384" y="2706624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Taux, collectée/déductible, réel simplifié/normal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095744" y="2432304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Shape 43"/>
          <p:cNvSpPr/>
          <p:nvPr/>
        </p:nvSpPr>
        <p:spPr>
          <a:xfrm>
            <a:off x="7095744" y="2432304"/>
            <a:ext cx="1700784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4"/>
          <p:cNvSpPr/>
          <p:nvPr/>
        </p:nvSpPr>
        <p:spPr>
          <a:xfrm>
            <a:off x="7150608" y="2432304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Régimes sociaux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50608" y="2706624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vs assimilé salarié, CSG, CRDS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56032" y="3675888"/>
            <a:ext cx="8631936" cy="1225296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47"/>
          <p:cNvSpPr/>
          <p:nvPr/>
        </p:nvSpPr>
        <p:spPr>
          <a:xfrm>
            <a:off x="256032" y="3675888"/>
            <a:ext cx="1371600" cy="12252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56032" y="376732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256032" y="424281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D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Dividendes, statuts, CMA, CGA, paiements, SIG, FR, BFR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1719072" y="3749040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Shape 51"/>
          <p:cNvSpPr/>
          <p:nvPr/>
        </p:nvSpPr>
        <p:spPr>
          <a:xfrm>
            <a:off x="1719072" y="3749040"/>
            <a:ext cx="1700784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Text 52"/>
          <p:cNvSpPr/>
          <p:nvPr/>
        </p:nvSpPr>
        <p:spPr>
          <a:xfrm>
            <a:off x="1773936" y="3749040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Dividendes &amp; statuts du conjoint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773936" y="4023360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Collaborateur, associé, salarié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511296" y="3749040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7" name="Shape 55"/>
          <p:cNvSpPr/>
          <p:nvPr/>
        </p:nvSpPr>
        <p:spPr>
          <a:xfrm>
            <a:off x="3511296" y="3749040"/>
            <a:ext cx="1700784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8" name="Text 56"/>
          <p:cNvSpPr/>
          <p:nvPr/>
        </p:nvSpPr>
        <p:spPr>
          <a:xfrm>
            <a:off x="3566160" y="3749040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CMA, CGA &amp; expert-comptable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3566160" y="4023360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Missions, hiérarchie, rôles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303520" y="3749040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59"/>
          <p:cNvSpPr/>
          <p:nvPr/>
        </p:nvSpPr>
        <p:spPr>
          <a:xfrm>
            <a:off x="5303520" y="3749040"/>
            <a:ext cx="1700784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Text 60"/>
          <p:cNvSpPr/>
          <p:nvPr/>
        </p:nvSpPr>
        <p:spPr>
          <a:xfrm>
            <a:off x="5358384" y="3749040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Moyens de paiement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358384" y="4023360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Chèque, carte, espèces — obligations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095744" y="3749040"/>
            <a:ext cx="1700784" cy="1060704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Shape 63"/>
          <p:cNvSpPr/>
          <p:nvPr/>
        </p:nvSpPr>
        <p:spPr>
          <a:xfrm>
            <a:off x="7095744" y="3749040"/>
            <a:ext cx="1700784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6" name="Text 64"/>
          <p:cNvSpPr/>
          <p:nvPr/>
        </p:nvSpPr>
        <p:spPr>
          <a:xfrm>
            <a:off x="7150608" y="3749040"/>
            <a:ext cx="1591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SIG, Fonds de roulement, BFR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150608" y="4023360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gestion financière</a:t>
            </a:r>
            <a:endParaRPr lang="en-US" sz="800" dirty="0"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17373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1719072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596896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4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&amp; Formes Juridiques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— Partie 1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 &amp; Formes juridiques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78992"/>
            <a:ext cx="457200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274320" y="1078992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8096" y="1078992"/>
            <a:ext cx="8101584" cy="603504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914400" y="11338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types d'entrepreneurs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40817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· Libéral · Agriculteur · Commerçant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457200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274320" y="1792224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8096" y="1792224"/>
            <a:ext cx="8101584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914400" y="18470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connaître sa catégorie 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12140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Chambre de création &amp; caisse sociale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05456"/>
            <a:ext cx="457200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505456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8096" y="2505456"/>
            <a:ext cx="8101584" cy="603504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914400" y="25603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physique ou morale 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28346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Patrimoine · Droits et devoirs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218688"/>
            <a:ext cx="457200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274320" y="3218688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8096" y="3218688"/>
            <a:ext cx="8101584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914400" y="327355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Différences physique / morale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54787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social · Abus de bien social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931920"/>
            <a:ext cx="457200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274320" y="3931920"/>
            <a:ext cx="4572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768096" y="3931920"/>
            <a:ext cx="8101584" cy="603504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9"/>
          <p:cNvSpPr/>
          <p:nvPr/>
        </p:nvSpPr>
        <p:spPr>
          <a:xfrm>
            <a:off x="914400" y="398678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formes juridiques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426110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F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 EI → SA</a:t>
            </a:r>
            <a:endParaRPr lang="en-US" sz="900" dirty="0"/>
          </a:p>
        </p:txBody>
      </p:sp>
      <p:sp>
        <p:nvSpPr>
          <p:cNvPr id="33" name="Rectangle 32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types d'entrepreneurs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entrepreneur est une personne qui crée une entreprise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4160520" cy="175564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051560"/>
            <a:ext cx="4160520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47472" y="1051560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L'artisan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380744"/>
            <a:ext cx="39959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Exerce un métier manuel selon des normes traditionnelles. Moins de 11 salariés à la création.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 : boulanger, maçon, chauffeur VTC/taxi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S'immatricule à la Chambre des Métiers et de l'Artisanat (CMA)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274320" y="2953512"/>
            <a:ext cx="4160520" cy="175564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274320" y="2953512"/>
            <a:ext cx="4160520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347472" y="29535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La profession libérale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3282696"/>
            <a:ext cx="39959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Exercée à titre personnel, sous sa responsabilité, de façon indépendante. Services intellectuels.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 : avocat, médecin, expert-comptable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Qualifications appropriées requises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160520" cy="175564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4709160" y="1051560"/>
            <a:ext cx="41605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782312" y="1051560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L'agriculteur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1380744"/>
            <a:ext cx="39959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culture de la terre et/ou élevage d'animaux à des fins de production.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 : éleveur, ingénieur agronome, auxiliaire vétérinaire</a:t>
            </a:r>
            <a:endParaRPr lang="en-US" sz="920" dirty="0"/>
          </a:p>
        </p:txBody>
      </p:sp>
      <p:sp>
        <p:nvSpPr>
          <p:cNvPr id="20" name="Shape 18"/>
          <p:cNvSpPr/>
          <p:nvPr/>
        </p:nvSpPr>
        <p:spPr>
          <a:xfrm>
            <a:off x="4709160" y="2953512"/>
            <a:ext cx="4160520" cy="175564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9"/>
          <p:cNvSpPr/>
          <p:nvPr/>
        </p:nvSpPr>
        <p:spPr>
          <a:xfrm>
            <a:off x="4709160" y="2953512"/>
            <a:ext cx="41605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4782312" y="2953512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Le commerçant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3282696"/>
            <a:ext cx="399592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Exerce des actes de commerce à titre habituel. Tous les métiers non artisanaux/agricoles.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S'immatricule au Registre du Commerce et des Sociétés (RCS)</a:t>
            </a:r>
            <a:endParaRPr lang="en-US" sz="920" dirty="0"/>
          </a:p>
        </p:txBody>
      </p:sp>
      <p:sp>
        <p:nvSpPr>
          <p:cNvPr id="24" name="Rectangle 23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connaître sa catégorie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catégorie détermine deux choses essentielles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8595360" cy="512064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06070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que vous soyez artisan ou commerçant, vous ne créerez pas votre entreprise au même endroit et vous ne dépendrez pas de la même caisse sociale.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4160520" cy="3017520"/>
          </a:xfrm>
          <a:prstGeom prst="rect">
            <a:avLst/>
          </a:prstGeom>
          <a:solidFill>
            <a:srgbClr val="EBF4FC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68249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Lieu de création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→ Chambre des Métiers et de l'Artisanat (CMA)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Commerçant → Chambre de Commerce et d'Industrie (CCI)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Libéral → Ordre professionnel ou URSSAF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Agriculteur → Chambre d'Agriculture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160520" cy="30175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6824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Caisse sociale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Artisan, commerçant, libéral non réglementé 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Sécurité Sociale des Indépendants (SSI), intégrée au régime général : </a:t>
            </a: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 via la CPAM, retraite via l'Assurance retraite (CARSAT).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 libérale réglementée 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(architecte, ostéopathe, moniteur de ski…) → CIPAV pour la retraite, régime général pour la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maladie</a:t>
            </a:r>
            <a:r>
              <a:rPr lang="en-US" sz="100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Agriculteur (exploitant agricole) → </a:t>
            </a: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(Mutualité Sociale Agricole), qui gère maladie ET </a:t>
            </a:r>
            <a:r>
              <a:rPr lang="en-US" sz="1000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</a:t>
            </a:r>
            <a:r>
              <a:rPr lang="en-US" sz="10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tous les cas, les cotisations sont recouvrées par l'URSSAF.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: cela impacte directement le montant de vos cotisations.</a:t>
            </a:r>
            <a:endParaRPr lang="en-US" sz="10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physique ou morale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choix fondamental lors de la création d'entreprise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160520" cy="3730752"/>
          </a:xfrm>
          <a:prstGeom prst="rect">
            <a:avLst/>
          </a:prstGeom>
          <a:solidFill>
            <a:srgbClr val="FFF8F0"/>
          </a:solidFill>
          <a:ln w="1524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04241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042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PERSONNE PHYSIQUE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444752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4996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Patrimoine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37360" y="14996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et professionnel CONFONDUS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4160520" cy="438912"/>
          </a:xfrm>
          <a:prstGeom prst="rect">
            <a:avLst/>
          </a:prstGeom>
          <a:solidFill>
            <a:srgbClr val="FFF3E6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84048" y="1975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des biens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737360" y="197510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achetez pour l'activité pro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servir à l'activité perso et vice versa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dettes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245059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L'État peut saisir vos biens personnels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71216"/>
            <a:ext cx="4160520" cy="438912"/>
          </a:xfrm>
          <a:prstGeom prst="rect">
            <a:avLst/>
          </a:prstGeom>
          <a:solidFill>
            <a:srgbClr val="FFF3E6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" y="29260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37360" y="292608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EI, Micro-entreprise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346704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84048" y="3401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37360" y="340156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Régulière, sincère et fidèle à la réalité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1042416"/>
            <a:ext cx="4160520" cy="3730752"/>
          </a:xfrm>
          <a:prstGeom prst="rect">
            <a:avLst/>
          </a:prstGeom>
          <a:solidFill>
            <a:srgbClr val="EBF4FC"/>
          </a:solidFill>
          <a:ln w="1524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09160" y="104241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00600" y="1042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PERSONNE MORALE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1444752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18888" y="14996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Patrimoine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90488" y="14996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Personnel et professionnel SÉPARÉS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1920240"/>
            <a:ext cx="4160520" cy="438912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18888" y="1975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des biens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90488" y="197510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biens pro ne peuvent pas servir à l'activité perso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Abus de bien social = forte amende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395728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18888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dettes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90488" y="245059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L'État ne peut saisir que les biens pro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hauteur du capital social déclaré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2871216"/>
            <a:ext cx="4160520" cy="438912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818888" y="29260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90488" y="292608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EURL, SARL, SASU, SAS, SA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3346704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18888" y="3401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90488" y="340156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Régulière, sincère et fidèle à la réalité</a:t>
            </a:r>
            <a:endParaRPr lang="en-US" sz="850" dirty="0"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individuelle ou société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différences fondamentales à connaître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160520" cy="3730752"/>
          </a:xfrm>
          <a:prstGeom prst="rect">
            <a:avLst/>
          </a:prstGeom>
          <a:solidFill>
            <a:srgbClr val="FFF8F0"/>
          </a:solidFill>
          <a:ln w="1524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04241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042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ENTREPRISE INDIVIDUELLE (EI)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444752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4996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Personnalité juridique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37360" y="14996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— l'entrepreneur EST l'entreprise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4160520" cy="438912"/>
          </a:xfrm>
          <a:prstGeom prst="rect">
            <a:avLst/>
          </a:prstGeom>
          <a:solidFill>
            <a:srgbClr val="FFF3E6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84048" y="1975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Formalités de création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737360" y="197510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et rapides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statuts à rédiger, immatriculation directe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social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245059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capital exigé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71216"/>
            <a:ext cx="4160520" cy="438912"/>
          </a:xfrm>
          <a:prstGeom prst="rect">
            <a:avLst/>
          </a:prstGeom>
          <a:solidFill>
            <a:srgbClr val="FFF3E6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" y="29260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fiscal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37360" y="292608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(BIC) — option IS possible depuis 2022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346704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84048" y="3401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37360" y="340156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Allégée (très simplifiée en micro-entreprise)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1042416"/>
            <a:ext cx="4160520" cy="3730752"/>
          </a:xfrm>
          <a:prstGeom prst="rect">
            <a:avLst/>
          </a:prstGeom>
          <a:solidFill>
            <a:srgbClr val="EBF4FC"/>
          </a:solidFill>
          <a:ln w="1524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09160" y="104241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00600" y="1042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SOCIÉTÉ (EURL, SARL, SASU, SAS, SA)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1444752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18888" y="14996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Personnalité juridique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90488" y="14996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— la société a son propre patrimoine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1920240"/>
            <a:ext cx="4160520" cy="438912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18888" y="1975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Formalités de création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90488" y="197510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de statuts, immatriculation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de capital social obligatoire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395728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18888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social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90488" y="245059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selon la forme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 (SAS) à 37 000 € (SA)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2871216"/>
            <a:ext cx="4160520" cy="438912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818888" y="29260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fiscal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90488" y="292608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en principe — option IR possible (5 ans max)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3346704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18888" y="3401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90488" y="340156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Complète + dépôt des comptes annuels au greffe</a:t>
            </a:r>
            <a:endParaRPr lang="en-US" sz="850" dirty="0"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formes juridiques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comparatif complet — régimes fiscal, social, cotisations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6652069"/>
              </p:ext>
            </p:extLst>
          </p:nvPr>
        </p:nvGraphicFramePr>
        <p:xfrm>
          <a:off x="219456" y="1005840"/>
          <a:ext cx="7406640" cy="4132440"/>
        </p:xfrm>
        <a:graphic>
          <a:graphicData uri="http://schemas.openxmlformats.org/drawingml/2006/table">
            <a:tbl>
              <a:tblPr/>
              <a:tblGrid>
                <a:gridCol w="1481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98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4124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Critère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Micro-Ent.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SASU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Pers. physique (entreprise indiv.)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Pers. physique (entreprise indiv.)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Pers. morale (société)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Pers. morale (société)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Pers. morale (société)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Pers. morale (société)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Pers. morale (société)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Dirigeant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Entrepreneur individuel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Entrepreneur individuel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Gérant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Gérant(s)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Président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Président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PDG (ou Président + DG)</a:t>
                      </a: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36471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 associés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</a:t>
                      </a:r>
                      <a:r>
                        <a:rPr lang="en-US" sz="70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max 100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 (7 si cotée)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6554393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social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1 €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(libéré 5 ans)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1 €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(libéré 5 ans)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(libéré 5 ans)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37 000 €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libéré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à la création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sur 5 ans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à la création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sur 5 ans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à la création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sur 5 ans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à la création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sur 5 ans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Responsabilité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Limitée aux apports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Limitée aux apports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Limitée aux apports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Limitée aux apports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Limitée aux apports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Régime fiscal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micro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(abatt. 50%)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BIC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(BIC − charges)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ou IS*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(option 5 ans)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 ou IS*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(option 5 ans)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de droit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(option IR 5 ans)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de droit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(option IR 5 ans)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de droit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Régime social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SARL maj. → TNS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Égalit./minor. → Assim.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Assimilé salarié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Assimilé salarié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b="1" dirty="0">
                          <a:solidFill>
                            <a:srgbClr val="6B3F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Assimilé salarié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 de paie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(TNS)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(TNS)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(TNS)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TNS → Non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Assim. → Oui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cotisations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~22% du CA HT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 du BIC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~45% du BIC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TNS: 45% BIC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Assim: 75% sal. brut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 sal. brut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 sal. brut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~75% sal. brut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 max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83 600€ HT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Illimité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219456" y="4974336"/>
            <a:ext cx="8924544" cy="164592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274320" y="4974336"/>
            <a:ext cx="8778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Option IS : irrévocable après 5 ans  |  IS : 15% jusqu'à 42 500€, 25% au-delà  |  SARL égalitaire = 50%/50% → assimilé salarié</a:t>
            </a:r>
            <a:endParaRPr lang="en-US" sz="700" dirty="0"/>
          </a:p>
        </p:txBody>
      </p:sp>
      <p:sp>
        <p:nvSpPr>
          <p:cNvPr id="11" name="Rectangle 10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grandes différences — entre elles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sociétés d'une part, entre entreprises individuelles d'autre part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160520" cy="3730752"/>
          </a:xfrm>
          <a:prstGeom prst="rect">
            <a:avLst/>
          </a:prstGeom>
          <a:solidFill>
            <a:srgbClr val="EBF4FC"/>
          </a:solidFill>
          <a:ln w="1524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04241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042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ENTRE SOCIÉTÉS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444752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4996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SARL / EURL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37360" y="14996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Gérant majoritaire → TNS ; égalitaire/minoritaire → assimilé salarié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4160520" cy="438912"/>
          </a:xfrm>
          <a:prstGeom prst="rect">
            <a:avLst/>
          </a:prstGeom>
          <a:solidFill>
            <a:srgbClr val="EBF4FC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84048" y="1975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SASU / SAS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737360" y="197510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Dirigeant TOUJOURS assimilé salarié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liberté dans la rédaction des statuts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245059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min. 37 000 € — gouvernance lourde (conseil d'administration)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71216"/>
            <a:ext cx="4160520" cy="438912"/>
          </a:xfrm>
          <a:prstGeom prst="rect">
            <a:avLst/>
          </a:prstGeom>
          <a:solidFill>
            <a:srgbClr val="EBF4FC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" y="29260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Formalisme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37360" y="292608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SARL encadrée par le Code de commerce ; SAS/SASU très libres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346704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84048" y="3401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typique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37360" y="340156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SARL/EURL pour un projet familial ; SAS/SASU pour lever des fonds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1042416"/>
            <a:ext cx="4160520" cy="3730752"/>
          </a:xfrm>
          <a:prstGeom prst="rect">
            <a:avLst/>
          </a:prstGeom>
          <a:solidFill>
            <a:srgbClr val="FFF8F0"/>
          </a:solidFill>
          <a:ln w="1524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09160" y="104241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00600" y="1042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 ENTRE ENTREPRISES INDIVIDUELLES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1444752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18888" y="14996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Micro-entreprise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90488" y="14996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en % du CA encaissé, régime déclaratif ultra-simplifié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1920240"/>
            <a:ext cx="4160520" cy="438912"/>
          </a:xfrm>
          <a:prstGeom prst="rect">
            <a:avLst/>
          </a:prstGeom>
          <a:solidFill>
            <a:srgbClr val="FFF3E6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18888" y="1975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Micro-entreprise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90488" y="197510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plafonné (ex. 83 600 € HT selon activité)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charges réelles déductibles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395728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18888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au régime réel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90488" y="245059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calculées sur le bénéfice réel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plafond de chiffre d'affaires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2871216"/>
            <a:ext cx="4160520" cy="438912"/>
          </a:xfrm>
          <a:prstGeom prst="rect">
            <a:avLst/>
          </a:prstGeom>
          <a:solidFill>
            <a:srgbClr val="FFF3E6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818888" y="29260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au régime réel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90488" y="292608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 complète — permet de déduire les charges réelles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3346704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18888" y="3401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typique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90488" y="340156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Micro-entreprise pour démarrer petit ; réel si charges élevées</a:t>
            </a:r>
            <a:endParaRPr lang="en-US" sz="850" dirty="0"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Micro-entreprise — Avantages et inconvénients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régime le plus simple, mais le plus limité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8595360" cy="512064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06070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micro-entreprise séduit par sa simplicité, mais elle a des limites qu'il faut connaître avant de se lancer.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4160520" cy="3017520"/>
          </a:xfrm>
          <a:prstGeom prst="rect">
            <a:avLst/>
          </a:prstGeom>
          <a:solidFill>
            <a:srgbClr val="EBF4FC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68249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ultra-rapide et gratuite (démarches en ligne en quelques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clics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 très simplifiée : un simple livre des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recettes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calculées en % du CA encaissé : pas de CA = pas de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Franchise en base de TVA sous certains seuils (pas de TVA à facturer).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160520" cy="30175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6824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INCONVÉNIENTS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plafonné (ex. 83 600 € HT selon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charges réelles déductibles (abattement forfaitaire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 illimitée sur le patrimoine personnel.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parfois perçue comme moins « professionnelle » par certains partenaires.</a:t>
            </a:r>
            <a:endParaRPr lang="en-US" sz="10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au régime réel — Avantages et inconvénients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liberté que la micro-entreprise, mais plus d'obligations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10c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8595360" cy="512064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06070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L'EI au régime réel convient aux activités avec des charges importantes à déduire, mais impose une vraie comptabilité.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4160520" cy="3017520"/>
          </a:xfrm>
          <a:prstGeom prst="rect">
            <a:avLst/>
          </a:prstGeom>
          <a:solidFill>
            <a:srgbClr val="EBF4FC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68249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plafond de chiffre d'affaires.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Déduction des charges réelles (véhicule, carburant, assurances,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amortissements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capital social à constituer, formalités allégées par rapport à une société.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IS possible depuis 2022 pour optimiser la fiscalité.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160520" cy="30175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6824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INCONVÉNIENTS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 complète obligatoire (bilan, compte de résultat, annexe).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 illimitée sur le patrimoine personnel.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sociales élevées (~45% du bénéfice), dues même les années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difficiles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d'associé possible : impossible de s'associer sans changer de statut.</a:t>
            </a:r>
            <a:endParaRPr lang="en-US" sz="10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EURL / SARL — Avantages et inconvénients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cadre classique de la société familiale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8595360" cy="512064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06070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L'EURL et la SARL offrent un cadre juridique sécurisé, très utilisé pour les projets familiaux ou à plusieurs associés.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4160520" cy="3017520"/>
          </a:xfrm>
          <a:prstGeom prst="rect">
            <a:avLst/>
          </a:prstGeom>
          <a:solidFill>
            <a:srgbClr val="EBF4FC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68249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 limitée aux apports : patrimoine personnel protégé.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encadré par la loi : sécurité juridique, peu de rédaction libre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nécessaire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Gérant majoritaire en TNS : cotisations sociales plus légères (~45% de la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rémunération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familial adapté (SARL de famille, option IR possible).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160520" cy="30175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6824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INCONVÉNIENTS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Formalisme de création et de fonctionnement plus lourd (statuts, AG, dépôt de capital).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Cession de parts sociales encadrée (agrément des associés souvent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Gérant égalitaire/minoritaire en assimilé salarié : cotisations plus élevées (~75% du brut).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 adaptée pour lever des fonds auprès d'investisseurs.</a:t>
            </a:r>
            <a:endParaRPr lang="en-US" sz="10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SASU / SAS — Avantages et inconvénients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statut préféré des créateurs qui veulent lever des fonds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15c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8595360" cy="512064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06070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SASU et la SAS séduisent par leur souplesse statutaire, au prix de cotisations sociales plus élevées.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4160520" cy="3017520"/>
          </a:xfrm>
          <a:prstGeom prst="rect">
            <a:avLst/>
          </a:prstGeom>
          <a:solidFill>
            <a:srgbClr val="EBF4FC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68249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liberté de rédaction des statuts (organisation sur mesure).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 limitée aux apports.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Dirigeant assimilé salarié : meilleure protection sociale (hors chômage).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 l'entrée d'investisseurs et les levées de fonds (actions, pactes d'associés).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160520" cy="30175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6824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INCONVÉNIENTS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des statuts plus complexe, souvent besoin d'un professionnel.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sociales élevées pour le dirigeant (~75% du salaire brut).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capital minimum, mais formalisme de création tout de même conséquent.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 complète et dépôt des comptes annuels au greffe obligatoires.</a:t>
            </a:r>
            <a:endParaRPr lang="en-US" sz="10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— Avantages et inconvénients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Réservée aux grands projets et aux levées de fonds importantes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8595360" cy="512064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06070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société anonyme (SA) vise les projets d'envergure : sa gouvernance lourde se justifie par sa crédibilité.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4160520" cy="3017520"/>
          </a:xfrm>
          <a:prstGeom prst="rect">
            <a:avLst/>
          </a:prstGeom>
          <a:solidFill>
            <a:srgbClr val="EBF4FC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68249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AVANTAGES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Crédibilité forte auprès des banques, investisseurs et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partenaires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Peut être cotée en bourse, facilite les levées de fonds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importantes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 limitée aux apports.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structurée (conseil d'administration) qui rassure les tiers.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160520" cy="30175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6824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INCONVÉNIENTS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social minimum élevé (37 000 €).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2 actionnaires (7 si cotée) : structure lourde pour un petit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 complexe et coûteuse (conseil d'administration, commissaire aux comptes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Formalisme de fonctionnement important (assemblées, rapports de gestion…).</a:t>
            </a:r>
            <a:endParaRPr lang="en-US" sz="10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SARL — Régime social selon la gérance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Majoritaire, égalitaire, minoritaire : 3 situations différentes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987552"/>
            <a:ext cx="2816352" cy="3785616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56032" y="987552"/>
            <a:ext cx="2816352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9184" y="987552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👷 Gérant MAJORITAIRE (&gt; 50%)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316736"/>
            <a:ext cx="2633472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social : TNS (Travailleur Non Salarié)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: ~45% du BIC (bénéfice imposable)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paie : NON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 : IR (BIC) ou option IS pendant 5 ans max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 : ~45% du dernier revenu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 : ❌ pas couvert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Exemple : vous détenez 51% des parts → vous êtes TNS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154680" y="987552"/>
            <a:ext cx="2816352" cy="3785616"/>
          </a:xfrm>
          <a:prstGeom prst="rect">
            <a:avLst/>
          </a:prstGeom>
          <a:solidFill>
            <a:srgbClr val="F0EAF8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54680" y="987552"/>
            <a:ext cx="2816352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27832" y="987552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Gérant ÉGALITAIRE (50%)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1316736"/>
            <a:ext cx="2633472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social : ASSIMILÉ SALARIÉ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: ~75% du salaire BRUT versé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paie : OUI — obligatoire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 : IR (BIC) ou option IS pendant 5 ans max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 : ~75% du dernier salaire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 : ❌ pas couvert (dirigeant)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Exemple : 2 associés à 50%/50% → tous deux assimilés salariés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053328" y="987552"/>
            <a:ext cx="2816352" cy="3785616"/>
          </a:xfrm>
          <a:prstGeom prst="rect">
            <a:avLst/>
          </a:prstGeom>
          <a:solidFill>
            <a:srgbClr val="FFF8F0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053328" y="987552"/>
            <a:ext cx="2816352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26480" y="987552"/>
            <a:ext cx="26700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Gérant MINORITAIRE (&lt; 50%)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44768" y="1316736"/>
            <a:ext cx="2633472" cy="3401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social : ASSIMILÉ SALARIÉ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: ~75% du salaire BRUT versé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de paie : OUI — obligatoire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 : IR (BIC) ou option IS pendant 5 ans max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 : ~75% du dernier salaire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Chômage : ❌ pas couvert (dirigeant)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Exemple : vous détenez 30% des parts → assimilé salarié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56032" y="4828032"/>
            <a:ext cx="8631936" cy="23774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7472" y="4828032"/>
            <a:ext cx="84490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ou IS ? IR = bénéfice intégré dans vos revenus personnels (barème progressif). IS = société paie l'impôt séparément (15% &lt; 42 500€ / 25% au-delà). Option IS irrévocable après 5 ans.</a:t>
            </a:r>
            <a:endParaRPr lang="en-US" sz="750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coûtent les cotisations sociales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chiffré et approximatif — à valider avec un expert-comptable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4160520" cy="3730752"/>
          </a:xfrm>
          <a:prstGeom prst="rect">
            <a:avLst/>
          </a:prstGeom>
          <a:solidFill>
            <a:srgbClr val="FFF8F0"/>
          </a:solidFill>
          <a:ln w="1524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274320" y="104241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042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🧑‍🔧 TNS (gérant majoritaire, EI...)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1444752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84048" y="14996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calcul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737360" y="14996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 (BIC) prélevé = 2 500 €/mois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20240"/>
            <a:ext cx="4160520" cy="438912"/>
          </a:xfrm>
          <a:prstGeom prst="rect">
            <a:avLst/>
          </a:prstGeom>
          <a:solidFill>
            <a:srgbClr val="FFF3E6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84048" y="1975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sociales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737360" y="197510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45% du BIC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1 125 €/mois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84048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pour le dirigeant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37360" y="245059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1 375 €/mois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71216"/>
            <a:ext cx="4160520" cy="438912"/>
          </a:xfrm>
          <a:prstGeom prst="rect">
            <a:avLst/>
          </a:prstGeom>
          <a:solidFill>
            <a:srgbClr val="FFF3E6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84048" y="29260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pour l'entreprise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737360" y="292608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2 500 €/mois (cotisations incluses dans le bénéfice)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346704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84048" y="3401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sociale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737360" y="340156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Retraite/maladie moindres — pas de chômage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1042416"/>
            <a:ext cx="4160520" cy="3730752"/>
          </a:xfrm>
          <a:prstGeom prst="rect">
            <a:avLst/>
          </a:prstGeom>
          <a:solidFill>
            <a:srgbClr val="EBF4FC"/>
          </a:solidFill>
          <a:ln w="1524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Shape 25"/>
          <p:cNvSpPr/>
          <p:nvPr/>
        </p:nvSpPr>
        <p:spPr>
          <a:xfrm>
            <a:off x="4709160" y="104241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800600" y="104241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ASSIMILÉ SALARIÉ (SASU, SAS...)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09160" y="1444752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818888" y="149961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calcul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90488" y="1499616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Salaire BRUT versé = 2 500 €/mois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9160" y="1920240"/>
            <a:ext cx="4160520" cy="438912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18888" y="19751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Cotisations sociales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90488" y="1975104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75% du brut (patronales + salariales)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1 875 €/mois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2395728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4818888" y="2450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perçu par le dirigeant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90488" y="2450592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1 950 €/mois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(après charges salariales ~22%)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09160" y="2871216"/>
            <a:ext cx="4160520" cy="438912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818888" y="29260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pour l'entreprise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90488" y="2926080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4 375 €/mois (brut + charges patronales)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09160" y="3346704"/>
            <a:ext cx="41605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Text 40"/>
          <p:cNvSpPr/>
          <p:nvPr/>
        </p:nvSpPr>
        <p:spPr>
          <a:xfrm>
            <a:off x="4818888" y="34015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sociale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190488" y="3401568"/>
            <a:ext cx="2578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Régime général — meilleure couverture (hors chômage)</a:t>
            </a:r>
            <a:endParaRPr lang="en-US" sz="850" dirty="0"/>
          </a:p>
        </p:txBody>
      </p:sp>
      <p:sp>
        <p:nvSpPr>
          <p:cNvPr id="44" name="Rectangle 43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d'exploitation &amp; formes spéciales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directe · Location-gérance · SCOP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🏪 MODES D'EXPLOITATION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16736"/>
            <a:ext cx="2816352" cy="182880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56032" y="1316736"/>
            <a:ext cx="2816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29184" y="1316736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Exploitation directe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7472" y="1627632"/>
            <a:ext cx="2633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L'entrepreneur exploite lui-même l'entreprise.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Il gère au quotidien et assume tous les risques.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Il perçoit tous les bénéfices.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le plus courant : EI, EURL, SASU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 : un chauffeur VTC qui gère seul sa SASU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154680" y="1316736"/>
            <a:ext cx="2816352" cy="1828800"/>
          </a:xfrm>
          <a:prstGeom prst="rect">
            <a:avLst/>
          </a:prstGeom>
          <a:solidFill>
            <a:srgbClr val="FFF8F0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154680" y="1316736"/>
            <a:ext cx="2816352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227832" y="1316736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Location-gérance (gérance libre)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46120" y="1627632"/>
            <a:ext cx="2633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propriétaire d'un fonds de commerce le LOUE à un gérant.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locataire exploite à ses risques et périls.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Il verse une redevance (loyer) au propriétaire.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Doit être immatriculé au RCS ou RM.</a:t>
            </a:r>
            <a:endParaRPr lang="en-US" sz="880" dirty="0"/>
          </a:p>
          <a:p>
            <a:pPr marL="0" indent="0">
              <a:buNone/>
            </a:pP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 : louer une licence taxi à un autre chauffeur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053328" y="1316736"/>
            <a:ext cx="2816352" cy="1828800"/>
          </a:xfrm>
          <a:prstGeom prst="rect">
            <a:avLst/>
          </a:prstGeom>
          <a:solidFill>
            <a:srgbClr val="F0EAF8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053328" y="1316736"/>
            <a:ext cx="2816352" cy="274320"/>
          </a:xfrm>
          <a:prstGeom prst="rect">
            <a:avLst/>
          </a:prstGeom>
          <a:solidFill>
            <a:srgbClr val="555F6D"/>
          </a:solidFill>
          <a:ln w="12700">
            <a:solidFill>
              <a:srgbClr val="555F6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126480" y="1316736"/>
            <a:ext cx="2670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🚌 Autres modes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44768" y="1627632"/>
            <a:ext cx="263347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Gérance salariée : gérant = salarié du propriétaire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Franchise : exploitation sous enseigne contre redevance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Concession : exclusivité territoriale</a:t>
            </a:r>
            <a:endParaRPr lang="en-US" sz="880" dirty="0"/>
          </a:p>
          <a:p>
            <a:pPr marL="0" indent="0">
              <a:buNone/>
            </a:pPr>
            <a:r>
              <a:rPr lang="en-US" sz="88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Sous-location : le locataire-gérant sous-loue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74320" y="3218688"/>
            <a:ext cx="859536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365760" y="321868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🤜 LA SCOP — Société Coopérative et Participative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547872"/>
            <a:ext cx="4160520" cy="621792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274320" y="3547872"/>
            <a:ext cx="100584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329184" y="3547872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53312" y="3602736"/>
            <a:ext cx="29809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où les salariés sont associés MAJORITAIRES (≥51% capital, ≥65% droits de vote). Peut être constituée en SARL ou SA coopérative.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3547872"/>
            <a:ext cx="41605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4709160" y="3547872"/>
            <a:ext cx="1005840" cy="62179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764024" y="3547872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Gouvernance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788152" y="3602736"/>
            <a:ext cx="29809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Dirigeants élus par les salariés-associés. 1 associé = 1 voix, quelque soit sa participation au capital.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4224528"/>
            <a:ext cx="4160520" cy="621792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74320" y="4224528"/>
            <a:ext cx="1005840" cy="6217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29184" y="4224528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53312" y="4279392"/>
            <a:ext cx="29809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Partagés entre : réserves impartageables (≥16%), parts travail (salariés), dividendes (associés). Les réserves restent dans l'entreprise.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09160" y="4224528"/>
            <a:ext cx="4160520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34"/>
          <p:cNvSpPr/>
          <p:nvPr/>
        </p:nvSpPr>
        <p:spPr>
          <a:xfrm>
            <a:off x="4709160" y="4224528"/>
            <a:ext cx="1005840" cy="62179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5"/>
          <p:cNvSpPr/>
          <p:nvPr/>
        </p:nvSpPr>
        <p:spPr>
          <a:xfrm>
            <a:off x="4764024" y="4224528"/>
            <a:ext cx="914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88152" y="4279392"/>
            <a:ext cx="298094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des salariés. Pérennité grâce aux réserves. Exonérations fiscales partielles. Idéal pour reprises d'entreprises par les salariés.</a:t>
            </a:r>
            <a:endParaRPr lang="en-US" sz="850" dirty="0"/>
          </a:p>
        </p:txBody>
      </p:sp>
      <p:sp>
        <p:nvSpPr>
          <p:cNvPr id="39" name="Rectangle 3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différents apports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Apport en nature · Apport numéraire · Apport en industrie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2816352" cy="3547872"/>
          </a:xfrm>
          <a:prstGeom prst="rect">
            <a:avLst/>
          </a:prstGeom>
          <a:solidFill>
            <a:srgbClr val="FFF8F0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2816352" cy="31089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9184" y="1024128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Apport en nature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263347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apport de biens AUTRES que de l'argent, pouvant être évalués pécuniairement et cédés.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Véhicule, matériel, local, fonds de commerce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commissaire aux apports peut être nécessaire pour évaluer la valeur.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024128"/>
            <a:ext cx="2816352" cy="3547872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54680" y="1024128"/>
            <a:ext cx="2816352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27832" y="1024128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💵 Apport numéraire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46120" y="1371600"/>
            <a:ext cx="263347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apport D'ARGENT.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Forme la plus courante d'apport.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Versé sur le compte de la société à la création ou lors d'une augmentation de capital.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5 000 € versés sur le compte bancaire de la société à la création.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1024128"/>
            <a:ext cx="2816352" cy="3547872"/>
          </a:xfrm>
          <a:prstGeom prst="rect">
            <a:avLst/>
          </a:prstGeom>
          <a:solidFill>
            <a:srgbClr val="E8F5E9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053328" y="1024128"/>
            <a:ext cx="2816352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26480" y="1024128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Apport en industrie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44768" y="1371600"/>
            <a:ext cx="263347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Connaissances techniques, travail, services, compétences.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 PEUT PAS être intégré dans le capital social.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Donne droit à des parts sociales SANS valeur nominale au bilan.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un associé apporte son expertise en mécanique, son fichier clients, ou du temps de développement.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4645152"/>
            <a:ext cx="8631936" cy="402336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84048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Le commissaire aux apports est un professionnel (commissaire aux comptes) chargé d'évaluer les apports en nature ou en industrie pour certifier leur valeur réelle auprès des associés.</a:t>
            </a:r>
            <a:endParaRPr lang="en-US" sz="900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capital social : libération, dépôt et durée de vie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se libère le capital, où sont déposés les fonds, et combien de temps dure une société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2816352" cy="3547872"/>
          </a:xfrm>
          <a:prstGeom prst="rect">
            <a:avLst/>
          </a:prstGeom>
          <a:solidFill>
            <a:srgbClr val="FFF8F0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256032" y="1024128"/>
            <a:ext cx="2816352" cy="31089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329184" y="1024128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Libération du capital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47472" y="1371600"/>
            <a:ext cx="263347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SOUSCRIT = montant total promis. Capital LIBÉRÉ = part réellement versée par les associés.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SARL / EURL : au moins 20% versé à la création, le solde (80%) dans les 5 ans.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SASU / SAS / SA : au moins 50% versé à la création, le solde dans les 5 ans.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capital de 10 000 € en SARL → 2 000 € minimum versés à la création.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1024128"/>
            <a:ext cx="2816352" cy="3547872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3154680" y="1024128"/>
            <a:ext cx="2816352" cy="31089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3227832" y="1024128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Créer le capital : comment et où 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46120" y="1371600"/>
            <a:ext cx="263347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apports en numéraire sont déposés sur un compte BLOQUÉ : banque, notaire, ou Caisse des Dépôts.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fonds restent bloqués jusqu'à l'immatriculation de la société au RCS.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certificat de dépôt des fonds est délivré — nécessaire au dossier d'immatriculation.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le Kbis obtenu, les fonds sont débloqués sur le compte de la société.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53328" y="1024128"/>
            <a:ext cx="2816352" cy="3547872"/>
          </a:xfrm>
          <a:prstGeom prst="rect">
            <a:avLst/>
          </a:prstGeom>
          <a:solidFill>
            <a:srgbClr val="E8F5E9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4"/>
          <p:cNvSpPr/>
          <p:nvPr/>
        </p:nvSpPr>
        <p:spPr>
          <a:xfrm>
            <a:off x="6053328" y="1024128"/>
            <a:ext cx="2816352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6126480" y="1024128"/>
            <a:ext cx="26700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Durée de vie d'une société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44768" y="1371600"/>
            <a:ext cx="2633472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 fixée dans les statuts : 99 ANS MAXIMUM (article 1838 du Code civil).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Renouvelable indéfiniment, par décision des associés avant l'échéance.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durée n'est pas prorogée à temps → dissolution automatique de la société.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L'EI n'a pas de durée fixée : elle dure tant que l'entrepreneur est en activité.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56032" y="4645152"/>
            <a:ext cx="8631936" cy="402336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84048" y="46634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Le non-respect du calendrier de libération du capital, ou de la durée de vie de la société, peut entraîner la nullité de certains actes ou la dissolution judiciaire.</a:t>
            </a:r>
            <a:endParaRPr lang="en-US" sz="900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Qu'est-ce que la responsabilité limitée aux apports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fondamental des sociétés à responsabilité limitée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475488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L'associé risque de ne pas pouvoir récupérer les sommes qu'il a apportées lors de la création de la société. En revanche, il ne sera pas tenu de verser plus que ce qu'il a déjà versé.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554480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4160520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" y="1554480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Risque de l'associé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883664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L'associé risque de NE PAS RÉCUPÉRER les sommes apportées lors de la création.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société fait faillite, les apports peuvent être perdus.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risque de l'investisseur.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554480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709160" y="1554480"/>
            <a:ext cx="41605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782312" y="1554480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Protection de l'associé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0600" y="1883664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ne sera PAS TENU DE VERSER PLUS que ce qu'il a déjà versé.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une société à responsabilité limitée, la responsabilité est limitée aux apports déjà effectués.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saisie sur les biens personnels au-delà du capital social.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944368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944368"/>
            <a:ext cx="41605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294436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Définition d'un apport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273552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« apport », il convient d'entendre non seulement les apports en numéraires, mais également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biens apportés en nature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Les apports en numéraire ou en nature effectués lors d'une augmentation de capital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944368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4709160" y="2944368"/>
            <a:ext cx="4160520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782312" y="294436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Pourquoi c'est important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00600" y="3273552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règle distingue fondamentalement la personne morale de la personne physique.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EI : responsabilité ILLIMITÉE (biens perso saisissables)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EURL/SARL/SASU : responsabilité LIMITÉE aux apports</a:t>
            </a:r>
            <a:endParaRPr lang="en-US" sz="900" dirty="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capital social et dettes : ce qu'il faut savoir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avantages d'un capital élevé, et son rôle en cas de dettes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8595360" cy="512064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06070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capital social n'est pas qu'une formalité : il a un vrai rôle stratégique et juridique.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4160520" cy="3017520"/>
          </a:xfrm>
          <a:prstGeom prst="rect">
            <a:avLst/>
          </a:prstGeom>
          <a:solidFill>
            <a:srgbClr val="EBF4FC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68249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Avantages d'un gros capital social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Crédibilité renforcée auprès des banques, fournisseurs et clients (gage de solidité).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Facilite l'obtention de prêts et de lignes de crédit (garantie plus importante).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capacité d'autofinancement (investir sans emprunter).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Rassure les partenaires — parfois exigé pour certains marchés ou appels d'offres.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 la garantie offerte aux futurs associés ou investisseurs.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160520" cy="30175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6824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En cas de dettes : comment est-il récupéré 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capital social sert de GAGE aux créanciers : en cas de liquidation, il peut servir à rembourser les dettes.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priorité : frais de procédure et salariés d'abord, puis créanciers (fisc, URSSAF, fournisseurs, banques).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biens de la société (actif) sont vendus lors de la liquidation ; le produit paie les dettes dans cet ordre.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l'actif ne suffit pas → les associés perdent leur capital (mais ne paient pas plus, sauf faute de gestion).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S'il reste de l'argent après avoir tout payé → le « boni de liquidation » est reversé aux associés au prorata.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de faute de gestion : confusion des patrimoines personnel et professionnel, poursuite abusive d'une activité déficitaire, comptabilité fictive ou absente, détournement d'actifs, non-déclaration de la cessation des paiements dans les 45 jours.</a:t>
            </a:r>
            <a:endParaRPr lang="en-US" sz="10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Êtes-vous obligé d'adhérer à un expert-comptable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Comptabilité obligatoire — mais qui doit la faire 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47548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NON — Les entreprises peuvent tenir elles-mêmes leur comptabilité.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" y="1243584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revanche, lorsqu'elles décident de la confier à un professionnel, elles doivent obligatoirement s'adresser à un expert-comptable inscrit au tableau de l'ordre.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572768"/>
            <a:ext cx="416052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47472" y="157276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Tenir sa comptabilité soi-même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1901952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légalement autorisé. L'entrepreneur peut tenir lui-même ses livres comptables.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: respecter les règles du Plan Comptable Général (PCG).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Adapté surtout aux micro-entreprises et petites structures.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572768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572768"/>
            <a:ext cx="4160520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782312" y="1572768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 Faire appel à un expert-comptable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00600" y="1901952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si vous déléguez à un tiers : il doit être inscrit au tableau de l'Ordre des experts-comptables.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tient, contrôle, certifie la comptabilité et établit les déclarations fiscales et sociales.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Recommandé dès que l'activité se développe.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962656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7"/>
          <p:cNvSpPr/>
          <p:nvPr/>
        </p:nvSpPr>
        <p:spPr>
          <a:xfrm>
            <a:off x="274320" y="2962656"/>
            <a:ext cx="4160520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8"/>
          <p:cNvSpPr/>
          <p:nvPr/>
        </p:nvSpPr>
        <p:spPr>
          <a:xfrm>
            <a:off x="347472" y="296265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L'Ordre des experts-comptables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5760" y="3291840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professionnelle qui réglemente la profession.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un expert-comptable inscrit peut légalement exercer cette activité.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engage sa responsabilité professionnelle sur les comptes qu'il certifie.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962656"/>
            <a:ext cx="4160520" cy="1280160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1"/>
          <p:cNvSpPr/>
          <p:nvPr/>
        </p:nvSpPr>
        <p:spPr>
          <a:xfrm>
            <a:off x="4709160" y="2962656"/>
            <a:ext cx="4160520" cy="2926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4782312" y="2962656"/>
            <a:ext cx="40507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Conseil pratique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291840"/>
            <a:ext cx="3995928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coût d'un expert-comptable peut sembler élevé, mais il permet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D'éviter les erreurs fiscales (redressements)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 gagner du temps sur l'administratif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D'optimiser légalement votre fiscalité</a:t>
            </a:r>
            <a:endParaRPr lang="en-US" sz="900" dirty="0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obligations de l'entrepreneur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L'entrepreneur ou son expert-comptable doivent...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29184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L'entrepreneur, ou son expert-comptable, doivent respecter les obligations comptables suivantes 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08176"/>
            <a:ext cx="8595360" cy="603504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408176"/>
            <a:ext cx="310896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274320" y="1408176"/>
            <a:ext cx="310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" y="1481328"/>
            <a:ext cx="8083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Enregistrer de façon chronologique les mouvements (achats, ventes, encaissements, décaissements…)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066544"/>
            <a:ext cx="859536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2066544"/>
            <a:ext cx="310896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274320" y="2066544"/>
            <a:ext cx="310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76656" y="2139696"/>
            <a:ext cx="8083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une facturation dans certains cas (obligation légale entre professionnels)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8595360" cy="603504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2724912"/>
            <a:ext cx="310896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274320" y="2724912"/>
            <a:ext cx="310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6656" y="2798064"/>
            <a:ext cx="8083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Procéder à un inventaire, obligatoire au moins 1 fois par 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383280"/>
            <a:ext cx="859536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74320" y="3383280"/>
            <a:ext cx="310896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274320" y="3383280"/>
            <a:ext cx="310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6656" y="3456432"/>
            <a:ext cx="8083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Établir les comptes annuels à la fin de chaque exercice (comptes sociaux, bilan, compte de résultat et annexe)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041648"/>
            <a:ext cx="8595360" cy="603504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274320" y="4041648"/>
            <a:ext cx="310896" cy="60350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274320" y="4041648"/>
            <a:ext cx="310896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" y="4114800"/>
            <a:ext cx="8083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Détenir un compte bancaire dédié à l'activité : les travailleurs indépendants ont l'obligation de créer un compte dédié si le CA dépasse 10 000 € pendant 2 années civiles consécutives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402336" y="4754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Un compte bancaire dédié n'est pas un compte professionnel — c'est simplement un compte séparé de l'usage personnel.</a:t>
            </a:r>
            <a:endParaRPr lang="en-US" sz="850" dirty="0"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obligations essentielles de l'entrepreneur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Conservation des factures et dépôt des comptes annuels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8595360" cy="512064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06070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obligations essentielles, trop souvent oubliées : la conservation des factures et, pour les sociétés, le dépôt des comptes annuels au greffe.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4160520" cy="3017520"/>
          </a:xfrm>
          <a:prstGeom prst="rect">
            <a:avLst/>
          </a:prstGeom>
          <a:solidFill>
            <a:srgbClr val="EBF4FC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68249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Conserver les factures 10 ans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factures (achats et ventes) doivent être conservées pendant 10 ANS à compter de la clôture de l'exercice.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délai s'applique aussi aux autres pièces : livre-journal, grand livre, relevés bancaires professionnels.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cas de contrôle fiscal, l'administration peut demander ces documents sur toute cette période.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: absence de justificatif → charge réintégrée, TVA non déductible, voire amende.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160520" cy="30175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6824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Déposer les comptes au greffe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Obligatoire pour toutes les SOCIÉTÉS (EURL, SARL, SASU, SAS, SA) — pas pour les entreprises individuelles.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au greffe du tribunal de commerce dans le mois suivant l'approbation des comptes (2 mois si dépôt électronique).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 : amende jusqu'à 1 500 € (3 000 € en récidive) et injonction possible sous astreinte.</a:t>
            </a:r>
            <a:endParaRPr lang="en-US" sz="10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comptes sociaux (comptes annuels)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· Compte de résultat · Annexe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47472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comptes annuels (ou comptes sociaux) comprennent 3 documents obligatoires qui dressent le bilan complet de l'activité de l'entreprise.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26464"/>
            <a:ext cx="2798064" cy="349300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426464"/>
            <a:ext cx="2798064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" y="1426464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Le bilan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5760" y="1810512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 les éléments ACTIFS et PASSIFS de l'entreprise.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Fait apparaître de façon distincte les capitaux propres.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Photographie patrimoniale à un instant donné.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ACTIF = TOTAL PASSIF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64408" y="1426464"/>
            <a:ext cx="2798064" cy="349300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3264408" y="1426464"/>
            <a:ext cx="2798064" cy="32918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337560" y="1426464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Le compte de résultat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55848" y="1810512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Rassemble les PRODUITS (ventes, intérêts…) et les CHARGES (achats, salaires, impôts…).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Fait apparaître le bénéfice ou la perte de l'exercice.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Après déduction des amortissements et des provisions.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54496" y="1426464"/>
            <a:ext cx="2798064" cy="3493008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6254496" y="1426464"/>
            <a:ext cx="2798064" cy="3291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6327648" y="1426464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L'annexe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45936" y="1810512"/>
            <a:ext cx="2633472" cy="3072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 et complète le bilan et le compte de résultat.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Précise les méthodes comptables utilisées.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Indique le montant des pensions et compléments de retraite.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Contient toute information utile à la compréhension des comptes.</a:t>
            </a:r>
            <a:endParaRPr lang="en-US" sz="900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de résultat — À quoi ça sert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PERFORMANCE de l'entreprise sur une période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5852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Le compte de résultat = FILM de l'activité de l'entreprise sur 1 an (12 mois). Il répond à la question : l'entreprise a-t-elle GAGNÉ ou PERDU de l'argent sur l'exercice 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627632"/>
            <a:ext cx="4160520" cy="804672"/>
          </a:xfrm>
          <a:prstGeom prst="rect">
            <a:avLst/>
          </a:prstGeom>
          <a:solidFill>
            <a:srgbClr val="E8F5E9"/>
          </a:solidFill>
          <a:ln w="10160">
            <a:solidFill>
              <a:srgbClr val="A8D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41605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6276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À quoi ça sert 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84048" y="19202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Calculer le bénéfice (ou la perte) de l'année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Servir de base pour calculer l'impôt (IS ou IR)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Analyser la rentabilité de l'activité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627632"/>
            <a:ext cx="4160520" cy="804672"/>
          </a:xfrm>
          <a:prstGeom prst="rect">
            <a:avLst/>
          </a:prstGeom>
          <a:solidFill>
            <a:srgbClr val="FFF3E6"/>
          </a:solidFill>
          <a:ln w="1016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709160" y="1627632"/>
            <a:ext cx="416052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00600" y="16276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Quand 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18888" y="192024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Établi à la fin de chaque exercice comptable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exercice = généralement du 1er janvier au 31 décembre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Peut couvrir une autre période de 12 mois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487168"/>
            <a:ext cx="8595360" cy="256032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2487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BILAN vs COMPTE DE RÉSULTAT — quelle différence 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779776"/>
            <a:ext cx="4160520" cy="2066544"/>
          </a:xfrm>
          <a:prstGeom prst="rect">
            <a:avLst/>
          </a:prstGeom>
          <a:solidFill>
            <a:srgbClr val="EBF4FC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274320" y="2779776"/>
            <a:ext cx="416052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365760" y="27797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Le BILAN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" y="3090672"/>
            <a:ext cx="39319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Photographie à une DATE précise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 que l'entreprise POSSÈDE (actif)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 que l'entreprise DOIT (passif)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Santé financière à l'instant 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Pour les banquiers, associés, investisseurs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2779776"/>
            <a:ext cx="4160520" cy="2066544"/>
          </a:xfrm>
          <a:prstGeom prst="rect">
            <a:avLst/>
          </a:prstGeom>
          <a:solidFill>
            <a:srgbClr val="FFF8F0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4709160" y="2779776"/>
            <a:ext cx="416052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4800600" y="277977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Le COMPTE DE RÉSULTAT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3090672"/>
            <a:ext cx="393192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sur toute une PÉRIODE (1 an)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 que l'entreprise a GAGNÉ (produits)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 que l'entreprise a DÉPENSÉ (charges)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Performance économique de l'année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Pour calculer l'impôt et analyser la rentabilité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2487168"/>
            <a:ext cx="4160520" cy="2414016"/>
          </a:xfrm>
          <a:prstGeom prst="rect">
            <a:avLst/>
          </a:prstGeom>
          <a:solidFill>
            <a:srgbClr val="FDECEA"/>
          </a:solidFill>
          <a:ln w="1016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Shape 26"/>
          <p:cNvSpPr/>
          <p:nvPr/>
        </p:nvSpPr>
        <p:spPr>
          <a:xfrm>
            <a:off x="274320" y="2487168"/>
            <a:ext cx="4160520" cy="31089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365760" y="248716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Les Charges — tout ce qui appauvrit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84048" y="2834640"/>
            <a:ext cx="393192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d'exploitation : leasing, carburant, assurance…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financières : intérêts d'emprunts, agios…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exceptionnelles : pénalités fiscales, créances non recouvrables…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2487168"/>
            <a:ext cx="4160520" cy="2414016"/>
          </a:xfrm>
          <a:prstGeom prst="rect">
            <a:avLst/>
          </a:prstGeom>
          <a:solidFill>
            <a:srgbClr val="E8F5E9"/>
          </a:solidFill>
          <a:ln w="10160">
            <a:solidFill>
              <a:srgbClr val="A8D8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4709160" y="2487168"/>
            <a:ext cx="416052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4800600" y="248716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Les Produits — tout ce qui enrichit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18888" y="2834640"/>
            <a:ext cx="3931920" cy="1993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d'exploitation : chiffre d'affaires (prestation de transport)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financiers : intérêts de placements, revenus de prêts…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exceptionnels : créances recouvrées, reprises sur provisions…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4956048"/>
            <a:ext cx="8595360" cy="14630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365760" y="4956048"/>
            <a:ext cx="8412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CHARGES + RÉSULTAT = TOTAL PRODUITS</a:t>
            </a:r>
            <a:endParaRPr lang="en-US" sz="900" dirty="0"/>
          </a:p>
        </p:txBody>
      </p:sp>
      <p:sp>
        <p:nvSpPr>
          <p:cNvPr id="37" name="Rectangle 36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de compte de résultat — en SASU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par Actions Simplifiée Unipersonnelle — IS à 15%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405993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Produits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3 200 €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 d'affaires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Amortissement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Entretien véhicule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Téléphone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Abonnement téléphone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Expert-comptable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Cotisation foncière des entreprises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Salaire (1 500€/mois)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Cotisations sociales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8 640 €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39 580 €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60 000 €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d'exploitation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20 420 €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Impôt sur les sociétés 15%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3 063 € (20 420 × 0,15)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99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Bénéfices ou pertes / Dividendes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17 357 €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du compte de résultat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niveaux de charges et 3 niveaux de produits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est composé de deux parties, les Charges et les Produits. On distingue 3 niveaux :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335024"/>
            <a:ext cx="237744" cy="1133856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48640" y="1335024"/>
            <a:ext cx="3931920" cy="1133856"/>
          </a:xfrm>
          <a:prstGeom prst="rect">
            <a:avLst/>
          </a:prstGeom>
          <a:solidFill>
            <a:srgbClr val="FDECEA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640080" y="13716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d'exploitation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1627632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Concernant tous les éléments qui ont un rapport direct à l'exploitation 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Leasing, carburant, assurance, matières premières, salaires, dotations aux amortissements…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663440" y="1335024"/>
            <a:ext cx="4206240" cy="1133856"/>
          </a:xfrm>
          <a:prstGeom prst="rect">
            <a:avLst/>
          </a:prstGeom>
          <a:solidFill>
            <a:srgbClr val="E8F5E9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4754880" y="137160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d'exploitation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627632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Prestation de transport (CA principal)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Subventions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produits (CA activité secondaire)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 sur amortissements et provisions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74320" y="2578608"/>
            <a:ext cx="237744" cy="1133856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548640" y="2578608"/>
            <a:ext cx="3931920" cy="1133856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40080" y="26151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financières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2871216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Concernant tout ce qui a trait à l'activité financière de l'entreprise 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Intérêts et charges assimilées (intérêts d'emprunts, agios…)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2578608"/>
            <a:ext cx="4206240" cy="1133856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754880" y="2615184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financiers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0" y="2871216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Intérêts et produits assimilées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(revenus de prêts, intérêts reçus…)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822192"/>
            <a:ext cx="237744" cy="1133856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22"/>
          <p:cNvSpPr/>
          <p:nvPr/>
        </p:nvSpPr>
        <p:spPr>
          <a:xfrm>
            <a:off x="548640" y="3822192"/>
            <a:ext cx="3931920" cy="1133856"/>
          </a:xfrm>
          <a:prstGeom prst="rect">
            <a:avLst/>
          </a:prstGeom>
          <a:solidFill>
            <a:srgbClr val="FDECEA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3"/>
          <p:cNvSpPr/>
          <p:nvPr/>
        </p:nvSpPr>
        <p:spPr>
          <a:xfrm>
            <a:off x="640080" y="385876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 exceptionnelles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0080" y="4114800"/>
            <a:ext cx="37490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Concernant les éléments qui ne font pas partie de l'activité courante 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Appel de taxes non prévues, pénalités fiscales, créances non recouvrables, opérations de capital, dotations aux amortissements dérogatoires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663440" y="3822192"/>
            <a:ext cx="4206240" cy="1133856"/>
          </a:xfrm>
          <a:prstGeom prst="rect">
            <a:avLst/>
          </a:prstGeom>
          <a:solidFill>
            <a:srgbClr val="E8F5E9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6"/>
          <p:cNvSpPr/>
          <p:nvPr/>
        </p:nvSpPr>
        <p:spPr>
          <a:xfrm>
            <a:off x="4754880" y="3858768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exceptionnels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4114800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Créances considérées non recouvrables finalement recouvrées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de capital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Reprise sur amortissements dérogatoires</a:t>
            </a:r>
            <a:endParaRPr lang="en-US" sz="850" dirty="0"/>
          </a:p>
        </p:txBody>
      </p:sp>
      <p:sp>
        <p:nvSpPr>
          <p:cNvPr id="30" name="Rectangle 29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bilan — À quoi ça sert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 la SANTÉ FINANCIÈRE de l'entreprise à un instant 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8595360" cy="585216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bilan est une PHOTOGRAPHIE PATRIMONIALE de l'entreprise à une date précise (31/12 en général). Il sert à mesurer la santé financière : ce que l'entreprise POSSÈDE (actif) et ce qu'elle DOIT (passif). Il permet aux banques, associés et investisseurs d'évaluer la solidité de l'entreprise. TOTAL ACTIF = TOTAL PASSIF.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160520" cy="3200400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416052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65760" y="157276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L'actif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" y="1938528"/>
            <a:ext cx="3931920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actifs sont les éléments en POSSESSION de l'entreprise 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Immobilisations, bien stocks, créances sur débiteurs…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L'actif se décompose en 2 parties 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Actif immobilisé (durée min. 1 an) : éléments destinés à servir de façon durable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Actif circulant : stocks, créances clients, disponibilités (banque)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709160" y="1572768"/>
            <a:ext cx="4160520" cy="3200400"/>
          </a:xfrm>
          <a:prstGeom prst="rect">
            <a:avLst/>
          </a:prstGeom>
          <a:solidFill>
            <a:srgbClr val="FFF8F0"/>
          </a:solidFill>
          <a:ln w="1016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4709160" y="1572768"/>
            <a:ext cx="4160520" cy="32918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800600" y="1572768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Le passif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18888" y="1938528"/>
            <a:ext cx="3931920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passif est composé des RESSOURCES de l'entreprise :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Apports, dettes, bénéfices…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Capitaux propres : capital social + résultat de l'exercice</a:t>
            </a: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Dettes : fournisseurs, emprunts, dettes fiscales et sociales</a:t>
            </a:r>
            <a:endParaRPr lang="en-US" sz="920" dirty="0"/>
          </a:p>
          <a:p>
            <a:pPr marL="0" indent="0">
              <a:buNone/>
            </a:pPr>
            <a:endParaRPr lang="en-US" sz="920" dirty="0"/>
          </a:p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capital social est effectivement une dette pour l'entreprise car il appartient aux associés.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74320" y="4828032"/>
            <a:ext cx="8595360" cy="2011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36576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passif finance l'actif. C'est pour cela que TOTAL ACTIF = TOTAL PASSIF (toujours équilibré).</a:t>
            </a:r>
            <a:endParaRPr lang="en-US" sz="900" dirty="0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l'actif égale toujours le passif ?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dans quel cas utiliser le bilan ou le compte de résultat ?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42416"/>
            <a:ext cx="8595360" cy="512064"/>
          </a:xfrm>
          <a:prstGeom prst="rect">
            <a:avLst/>
          </a:prstGeom>
          <a:solidFill>
            <a:srgbClr val="EBF4FC"/>
          </a:solidFill>
          <a:ln w="1270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411480" y="1060704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documents complémentaires et indissociables des comptes annuels.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682496"/>
            <a:ext cx="4160520" cy="3017520"/>
          </a:xfrm>
          <a:prstGeom prst="rect">
            <a:avLst/>
          </a:prstGeom>
          <a:solidFill>
            <a:srgbClr val="EBF4FC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274320" y="1682496"/>
            <a:ext cx="416052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36576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Pourquoi ACTIF = PASSIF 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passif indique D'OÙ VIENT l'argent (ressources : apports, emprunts, bénéfices).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L'actif indique OÙ VA cet argent (emplois : véhicules, stocks, trésorerie…).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euro de ressource finance forcément un emploi : rien ne se crée, rien ne disparaît comptablement.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de la partie double : chaque opération est enregistrée 2 fois (un débit, un crédit) → l'équilibre est automatique.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682496"/>
            <a:ext cx="4160520" cy="3017520"/>
          </a:xfrm>
          <a:prstGeom prst="rect">
            <a:avLst/>
          </a:prstGeom>
          <a:solidFill>
            <a:srgbClr val="FFFFFF"/>
          </a:solidFill>
          <a:ln w="762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3"/>
          <p:cNvSpPr/>
          <p:nvPr/>
        </p:nvSpPr>
        <p:spPr>
          <a:xfrm>
            <a:off x="4709160" y="1682496"/>
            <a:ext cx="416052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800600" y="168249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Bilan ou compte de résultat : dans quel cas 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2084832"/>
            <a:ext cx="3913632" cy="2542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l'impôt (IS/IR) de l'année, analyser si l'activité est rentable → LE COMPTE DE RÉSULTAT (film sur 12 </a:t>
            </a:r>
            <a:r>
              <a:rPr lang="en-US" sz="1000" dirty="0" err="1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 ou racheter une entreprise, connaître sa valeur patrimoniale → LE BILAN.</a:t>
            </a:r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les performances d'une année sur l'autre, piloter l'activité au quotidien → LE COMPTE DE RÉSULTAT.</a:t>
            </a:r>
            <a:endParaRPr lang="en-US" sz="1000" dirty="0"/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bilan — Exemple chiffré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(Emplois) vs Passif (Ressources)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76733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 (Emplois)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PASSIF (Ressources)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Montant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 immobilisé (emplois stables)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Capitaux propres (ressources stables)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Véhicule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6 000 €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Téléphone portable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de l'exercice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Actif circulant (emplois d'exploitation)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Dettes (ressources d'exploitation)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Créances client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Dettes fournisseurs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Emprunts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18 800 €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673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1E2D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40 000 €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L'actif du bilan en détail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immobilisé · Actif circulant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2918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0584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L'actif se décompose en 2 parties principales :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1408176"/>
            <a:ext cx="4160520" cy="292608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65760" y="140817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Actif immobilisé (durée min. 1 an)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737360"/>
            <a:ext cx="4160520" cy="530352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402336" y="175564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Incorporelles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73936" y="175564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Fonds commercial, brevets, licences, logiciels, droit au bail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304288"/>
            <a:ext cx="4160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402336" y="23225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Corporelles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73936" y="2322576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Véhicules, matériels, mobilier, bâtiments, terrain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871216"/>
            <a:ext cx="4160520" cy="530352"/>
          </a:xfrm>
          <a:prstGeom prst="rect">
            <a:avLst/>
          </a:prstGeom>
          <a:solidFill>
            <a:srgbClr val="EBF4FC"/>
          </a:solidFill>
          <a:ln w="381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402336" y="2889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Financières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73936" y="2889504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de participation, dépôts et cautionnements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1408176"/>
            <a:ext cx="4160520" cy="2926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800600" y="1408176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Actif circulant (éléments renouvelables)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737360"/>
            <a:ext cx="4160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4837176" y="175564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Stocks et en-cours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08776" y="1755648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Matières premières, produits finis, marchandises en attente de vente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304288"/>
            <a:ext cx="4160520" cy="530352"/>
          </a:xfrm>
          <a:prstGeom prst="rect">
            <a:avLst/>
          </a:prstGeom>
          <a:solidFill>
            <a:srgbClr val="FFF3E6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4837176" y="2322576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Créances clients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08776" y="2322576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émises non encore réglées par les clients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871216"/>
            <a:ext cx="41605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7"/>
          <p:cNvSpPr/>
          <p:nvPr/>
        </p:nvSpPr>
        <p:spPr>
          <a:xfrm>
            <a:off x="4837176" y="2889504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208776" y="2889504"/>
            <a:ext cx="2542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Banque, caisse, valeurs mobilières de placement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474720"/>
            <a:ext cx="8595360" cy="1280160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Shape 30"/>
          <p:cNvSpPr/>
          <p:nvPr/>
        </p:nvSpPr>
        <p:spPr>
          <a:xfrm>
            <a:off x="274320" y="3474720"/>
            <a:ext cx="85953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1"/>
          <p:cNvSpPr/>
          <p:nvPr/>
        </p:nvSpPr>
        <p:spPr>
          <a:xfrm>
            <a:off x="365760" y="3474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DU BILAN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02336" y="3785616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 : M2 Actif immobilisé (R21 Imm. en valeur | R22 Imm. corporelles | R23 Imm. incorporelles | R24 Imm. financières | R31 Stocks) + M3 ACHT (R34 Créances de l'actif circulant)   ||   PASSIF : M1 Financement permanent (R11 Capitaux propres | R13 Capa propres s22 | R14 Dettes de financement | R15 Provisions risques et charges) + M4 PCHT (R45 Autres provisions actif circulant)</a:t>
            </a:r>
            <a:endParaRPr lang="en-US" sz="750" dirty="0"/>
          </a:p>
        </p:txBody>
      </p:sp>
      <p:sp>
        <p:nvSpPr>
          <p:cNvPr id="35" name="Rectangle 34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comptables obligatoires à conserver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sous forme électronique ou papier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29184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documents peuvent apparaître sous forme électronique ou papier. Il s'agit des éléments suivants 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08176"/>
            <a:ext cx="8595360" cy="1078992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274320" y="1408176"/>
            <a:ext cx="859536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347472" y="1408176"/>
            <a:ext cx="8485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📔 Le livre-journal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719072"/>
            <a:ext cx="8430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CHRONOLOGIQUE (opération par opération et jour par jour) de tous les mouvements affectant le patrimoine de l'entreprise : achats, ventes, encaissements…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274320" y="2578608"/>
            <a:ext cx="8595360" cy="1078992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74320" y="2578608"/>
            <a:ext cx="8595360" cy="27432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347472" y="2578608"/>
            <a:ext cx="8485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Le grand livre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889504"/>
            <a:ext cx="8430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Rassemble TOUS les comptes. Les écritures du livre-journal sont portées sur le grand livre et ventilées selon le plan comptable. S'ils sont sous format électronique, ces documents n'ont pas à être numérotés dès lors qu'ils sont simplement identifiés et datés.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274320" y="3749040"/>
            <a:ext cx="8595360" cy="1078992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274320" y="3749040"/>
            <a:ext cx="859536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47472" y="3749040"/>
            <a:ext cx="8485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Les comptes sociaux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059936"/>
            <a:ext cx="8430768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2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bilan + le compte de résultat. Documents de synthèse annuels obligatoires. Permettent de dresser la situation patrimoniale et le résultat de l'exercice.</a:t>
            </a:r>
            <a:endParaRPr lang="en-US" sz="920" dirty="0"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livre-journal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chronologique de TOUTES les opérations — image réelle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5029200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📔 Journal Achats 11/18 — SERVICES PRO</a:t>
            </a:r>
            <a:endParaRPr lang="en-US" sz="900" dirty="0"/>
          </a:p>
        </p:txBody>
      </p:sp>
      <p:pic>
        <p:nvPicPr>
          <p:cNvPr id="9" name="Image 0" descr="/mnt/user-data/uploads/1771875400478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5029200" cy="3749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68112" y="987552"/>
            <a:ext cx="3401568" cy="4041648"/>
          </a:xfrm>
          <a:prstGeom prst="rect">
            <a:avLst/>
          </a:prstGeom>
          <a:solidFill>
            <a:srgbClr val="EBF4FC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468112" y="987552"/>
            <a:ext cx="3401568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559552" y="987552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Comment lire un livre-journal 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59552" y="1298448"/>
            <a:ext cx="32186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ligne = 1 opération comptable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Date de l'opération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N° de compte (PCG)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Pièce justificative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Libellé (description)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Débit en euros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Crédit en euros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visible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CARREFOUR, AMAZON, McDONALD'S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chaque achat enregistré chronologiquement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total DÉBIT doit toujours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égaler le total CRÉDIT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(principe de la partie double)</a:t>
            </a:r>
            <a:endParaRPr lang="en-US" sz="900" dirty="0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grand livre général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Classement de toutes les opérations par compte — image réelle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987552"/>
            <a:ext cx="5029200" cy="25603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365760" y="987552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Grand Livre Général — SERVICES PRO (période 01/11/2018 au 31/10/2019)</a:t>
            </a:r>
            <a:endParaRPr lang="en-US" sz="850" dirty="0"/>
          </a:p>
        </p:txBody>
      </p:sp>
      <p:pic>
        <p:nvPicPr>
          <p:cNvPr id="9" name="Image 0" descr="/mnt/user-data/uploads/1771875417170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5029200" cy="37490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468112" y="987552"/>
            <a:ext cx="3401568" cy="4041648"/>
          </a:xfrm>
          <a:prstGeom prst="rect">
            <a:avLst/>
          </a:prstGeom>
          <a:solidFill>
            <a:srgbClr val="FFF8F0"/>
          </a:solidFill>
          <a:ln w="12700">
            <a:solidFill>
              <a:srgbClr val="F0D8B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468112" y="987552"/>
            <a:ext cx="3401568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5559552" y="987552"/>
            <a:ext cx="32186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Comment lire le grand livre ?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59552" y="1298448"/>
            <a:ext cx="32186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écritures du livre-journal sont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reportées dans le grand livre 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classées par COMPTE :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Compte 401100 : FOURNIS ACHATS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(Loyer, McDonald's, Péage, OVH…)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Compte 404100 : FOURNIS IMMOBIL.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(Véhicule, matériel…)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Compte 408100 : FOURNIS FACT. NON PARV.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compte montre 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DÉBIT (colonne gauche)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Total CRÉDIT (colonne droite)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SOLDE (différence débit-crédit)</a:t>
            </a:r>
            <a:endParaRPr lang="en-US" sz="900" dirty="0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9264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à préparer pour un contrôle fiscal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" y="621792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Obligations et sanctions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8595360" cy="329184"/>
          </a:xfrm>
          <a:prstGeom prst="rect">
            <a:avLst/>
          </a:prstGeom>
          <a:solidFill>
            <a:srgbClr val="EBF4FC"/>
          </a:solidFill>
          <a:ln w="10160">
            <a:solidFill>
              <a:srgbClr val="4A90C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402336" y="1024128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documents à présenter lors d'un contrôle fiscal 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408176"/>
            <a:ext cx="8595360" cy="731520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402336" y="14630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📒 Le grand livre et journaux comptables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1755648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livres comptables tenus chronologiquement.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212848"/>
            <a:ext cx="859536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1"/>
          <p:cNvSpPr/>
          <p:nvPr/>
        </p:nvSpPr>
        <p:spPr>
          <a:xfrm>
            <a:off x="402336" y="226771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Le registre d'assemblée générale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02336" y="2560320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sociétés et associations uniquement.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8595360" cy="731520"/>
          </a:xfrm>
          <a:prstGeom prst="rect">
            <a:avLst/>
          </a:prstGeom>
          <a:solidFill>
            <a:srgbClr val="EBF4FC"/>
          </a:solidFill>
          <a:ln w="508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14"/>
          <p:cNvSpPr/>
          <p:nvPr/>
        </p:nvSpPr>
        <p:spPr>
          <a:xfrm>
            <a:off x="402336" y="3072384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 La totalité des pièces comptables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02336" y="336499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d'achats et de ventes, relevés bancaires, tableau d'amortissement des emprunts bancaires, liste des immobilisations et amortissements liés.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858768"/>
            <a:ext cx="8595360" cy="2926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365760" y="38587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LES SANCTIONS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187952"/>
            <a:ext cx="8595360" cy="658368"/>
          </a:xfrm>
          <a:prstGeom prst="rect">
            <a:avLst/>
          </a:prstGeom>
          <a:solidFill>
            <a:srgbClr val="FDECEA"/>
          </a:solidFill>
          <a:ln w="10160">
            <a:solidFill>
              <a:srgbClr val="F0CCC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402336" y="4224528"/>
            <a:ext cx="8321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Tenir des documents comptables inexacts ou fictifs est sanctionné pénalement :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 chef d'entreprise encourt une amende de 500 000 € ET 5 ans d'emprisonnement.</a:t>
            </a:r>
            <a:endParaRPr lang="en-US" sz="1000" dirty="0"/>
          </a:p>
        </p:txBody>
      </p:sp>
      <p:sp>
        <p:nvSpPr>
          <p:cNvPr id="22" name="Rectangle 21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A1A2E"/>
          </a:solidFill>
          <a:ln w="12700">
            <a:solidFill>
              <a:srgbClr val="0A1A2E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85953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— PARTIE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41248"/>
            <a:ext cx="4251960" cy="1261872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28600" y="841248"/>
            <a:ext cx="237744" cy="12618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539496" y="914400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d'entrepreneurs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39496" y="1207008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Artisan (CMA) · Libéral · Agriculteur · Commerçant (CCI). La catégorie détermine le lieu de création ET la caisse sociale.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841248"/>
            <a:ext cx="4251960" cy="1261872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4663440" y="841248"/>
            <a:ext cx="237744" cy="1261872"/>
          </a:xfrm>
          <a:prstGeom prst="rect">
            <a:avLst/>
          </a:prstGeom>
          <a:solidFill>
            <a:srgbClr val="2D5F8A"/>
          </a:solidFill>
          <a:ln w="12700">
            <a:solidFill>
              <a:srgbClr val="2D5F8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9"/>
          <p:cNvSpPr/>
          <p:nvPr/>
        </p:nvSpPr>
        <p:spPr>
          <a:xfrm>
            <a:off x="4974336" y="914400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physique vs morale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74336" y="1207008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Phys. : patrimoine perso+pro CONFONDUS, biens perso saisissables.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Morale : patrimoine SÉPARÉ, responsabilité limitée aux apports.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2231136"/>
            <a:ext cx="4251960" cy="1261872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228600" y="2231136"/>
            <a:ext cx="237744" cy="12618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539496" y="2304288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Formes juridiques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9496" y="2596896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EI/Micro → TNS, ~45% BIC. SARL maj → TNS. SARL égalit./minor., SASU, SAS → Assimilé salarié ~75% sal. brut.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libéré : 20% EURL/SARL, 50% SASU/SA à la création, solde sur 5 ans.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2231136"/>
            <a:ext cx="4251960" cy="1261872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6"/>
          <p:cNvSpPr/>
          <p:nvPr/>
        </p:nvSpPr>
        <p:spPr>
          <a:xfrm>
            <a:off x="4663440" y="2231136"/>
            <a:ext cx="237744" cy="12618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7"/>
          <p:cNvSpPr/>
          <p:nvPr/>
        </p:nvSpPr>
        <p:spPr>
          <a:xfrm>
            <a:off x="4974336" y="2304288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vs Assimilé salarié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74336" y="2596896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TNS ~45% du BIC : EI, gérant maj. SARL. Pas de fiche de paie. Retraite ~45%.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Assimilé ~75% du salaire BRUT : Président SASU/SAS. Fiche de paie obligatoire.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28600" y="3621024"/>
            <a:ext cx="4251960" cy="1261872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0"/>
          <p:cNvSpPr/>
          <p:nvPr/>
        </p:nvSpPr>
        <p:spPr>
          <a:xfrm>
            <a:off x="228600" y="3621024"/>
            <a:ext cx="237744" cy="12618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1"/>
          <p:cNvSpPr/>
          <p:nvPr/>
        </p:nvSpPr>
        <p:spPr>
          <a:xfrm>
            <a:off x="539496" y="3694176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Le BILAN — santé financière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39496" y="3986784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Photographie à une DATE précise (ex. 31/12). Montre ce que l'entreprise POSSÈDE (actif) et ce qu'elle DOIT (passif). Utile pour les banquiers et investisseurs. TOTAL ACTIF = TOTAL PASSIF.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3621024"/>
            <a:ext cx="4251960" cy="1261872"/>
          </a:xfrm>
          <a:prstGeom prst="rect">
            <a:avLst/>
          </a:prstGeom>
          <a:solidFill>
            <a:srgbClr val="0D2240"/>
          </a:solidFill>
          <a:ln w="6350">
            <a:solidFill>
              <a:srgbClr val="1E3A5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24"/>
          <p:cNvSpPr/>
          <p:nvPr/>
        </p:nvSpPr>
        <p:spPr>
          <a:xfrm>
            <a:off x="4663440" y="3621024"/>
            <a:ext cx="237744" cy="12618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5"/>
          <p:cNvSpPr/>
          <p:nvPr/>
        </p:nvSpPr>
        <p:spPr>
          <a:xfrm>
            <a:off x="4974336" y="3694176"/>
            <a:ext cx="38679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Le COMPTE DE RÉSULTAT — performance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974336" y="3986784"/>
            <a:ext cx="3867912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sur 1 AN. Recense tous les PRODUITS (ce qui rentre) et toutes les CHARGES (ce qui sort). Calcule le bénéfice ou la perte. Sert de base pour calculer l'impôt (IS ou IR).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A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FTRANSPORT - SERVICES PRO  •  Formation certifiée Qualiopi  •  Éligible CPF  •  Lyon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732520" y="4892040"/>
            <a:ext cx="347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9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31" name="Rectangle 30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0"/>
            <a:ext cx="9144000" cy="251999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00B4D8"/>
                </a:solidFill>
              </a:rPr>
              <a:t>ÉPREUVE GESTION — Partie 1 sur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7326</Words>
  <Application>Microsoft Office PowerPoint</Application>
  <PresentationFormat>Affichage à l'écran (16:9)</PresentationFormat>
  <Paragraphs>1005</Paragraphs>
  <Slides>38</Slides>
  <Notes>26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naoufal guenichi</cp:lastModifiedBy>
  <cp:revision>5</cp:revision>
  <dcterms:created xsi:type="dcterms:W3CDTF">2026-02-23T20:28:12Z</dcterms:created>
  <dcterms:modified xsi:type="dcterms:W3CDTF">2026-09-15T09:56:21Z</dcterms:modified>
</cp:coreProperties>
</file>