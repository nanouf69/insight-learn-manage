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5BBA5-AAC2-453F-AFB5-BF12AA15B6B0}" v="1" dt="2026-09-08T13:11:12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custSel modSld">
      <pc:chgData name="naoufal guenichi" userId="858fd4b3-0f44-4d07-ab42-9c2b2bf873b3" providerId="ADAL" clId="{5ADB1776-59AF-4A69-8422-CB66C8AF09C6}" dt="2026-09-08T13:11:16.218" v="3" actId="1076"/>
      <pc:docMkLst>
        <pc:docMk/>
      </pc:docMkLst>
      <pc:sldChg chg="modSp mod">
        <pc:chgData name="naoufal guenichi" userId="858fd4b3-0f44-4d07-ab42-9c2b2bf873b3" providerId="ADAL" clId="{5ADB1776-59AF-4A69-8422-CB66C8AF09C6}" dt="2026-09-08T13:11:16.218" v="3" actId="1076"/>
        <pc:sldMkLst>
          <pc:docMk/>
          <pc:sldMk cId="0" sldId="260"/>
        </pc:sldMkLst>
        <pc:spChg chg="mod">
          <ac:chgData name="naoufal guenichi" userId="858fd4b3-0f44-4d07-ab42-9c2b2bf873b3" providerId="ADAL" clId="{5ADB1776-59AF-4A69-8422-CB66C8AF09C6}" dt="2026-09-08T13:11:16.218" v="3" actId="1076"/>
          <ac:spMkLst>
            <pc:docMk/>
            <pc:sldMk cId="0" sldId="260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40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LOCALE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CPAM · Transport sanitaire · Tarification · Abattements · Majorations · Sanctions · Trousse de secours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pièces à fournir pour le conventionnement CPAM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la tarification des transports sanitaires (jour/nuit)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abattements pour transport partagé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majorations hospitalisation retour à vide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transports soumis à accord préalable CPAM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sanctions et la trousse de secours obligatoire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31089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à fournir pour le conventionnement CPAM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jour &amp; nuit des transports en charge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Abattements transport partagé (23%, 35%, 37%, 5%)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Majorations hospitalisation retour à vide (+25%, +50%)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Supplément PMR, accord préalable CPAM, signature facture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Suspension/déconventionnement &amp; trousse de secours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n° 84 69 15114 69  •  Qualiopi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 — Partie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CPAM — Transport sanitaire taxi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à fournir — Conventionnement CPAM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536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 obligatoires · Convention signée · K-bis · Autorisation de stationnement (ADS) · Assurance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810512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des transports sanitaires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305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 prise en charge 28€ · 4 km inclus · Calcul jour · Calcul nuit/dimanche/fériés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2404872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40080" y="2532888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Abattements — Transport partagé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724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patients = 23% · 3 patients = 35% · 4+ patients = 37% · Longue distance = 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2999232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" y="3127248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063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Majorations hospitalisation &amp; supplément PMR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319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km = +25% · ≥ 50 km = +50% · Supplément PMR = 30€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43000" y="3593592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40080" y="3721608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préalable CPAM &amp; signature facture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9136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≥ 4 transports &gt; 50 km · Distance &gt; 150 km · Signature patient obligatoire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43000" y="4187952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40080" y="4315968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40080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Suspension, sanctions &amp; trousse de secours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4507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conventionnement · 21 jours observations · Déconventionnement ≤ 5 ans · 10 éléments trousse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Pièces à fournir — Conventionnement CPAM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1 à 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201168" cy="201168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complétée, signée, datée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2240280"/>
            <a:ext cx="201168" cy="201168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40080" y="2240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60120" y="2194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Photocopie de la carte grise de chaque véhicule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2788920"/>
            <a:ext cx="201168" cy="201168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40080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60120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Photocopie de la carte professionnelle de conducteur de taxi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" y="3337560"/>
            <a:ext cx="201168" cy="201168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40080" y="3337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6012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 K-bis ou D1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0080" y="3886200"/>
            <a:ext cx="201168" cy="201168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40080" y="3886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960120" y="3840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Autorisation de stationnement (ADS) en cours de validité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63440" y="114300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801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120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6 à 10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846320" y="1691640"/>
            <a:ext cx="201168" cy="201168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4846320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166360" y="1645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d'assurance taxi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846320" y="2240280"/>
            <a:ext cx="201168" cy="201168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4846320" y="2240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166360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location-gérance (le cas échéant)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846320" y="2788920"/>
            <a:ext cx="201168" cy="201168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4846320" y="27889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166360" y="27432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taxi signée auprès de la CPAM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846320" y="3337560"/>
            <a:ext cx="201168" cy="201168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4846320" y="33375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166360" y="3291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travail pour chaque salarié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846320" y="3886200"/>
            <a:ext cx="201168" cy="201168"/>
          </a:xfrm>
          <a:prstGeom prst="ellipse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5"/>
          <p:cNvSpPr/>
          <p:nvPr/>
        </p:nvSpPr>
        <p:spPr>
          <a:xfrm>
            <a:off x="4846320" y="3886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5166360" y="3840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préalable à l'embauche (URSSAF) pour chaque salarié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8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Tarification des transports sanitaires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83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 prise en charge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grande ville (13€ + 15€)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premiers km inclus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46120" y="12344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1,07 €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37560" y="2011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du kilomètre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(au-delà des 4 premiers km)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035040" y="1234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1,5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Majoration nuit,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 et jours fériés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31920" cy="137160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Calcul JOUR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(Nombre de km − 4) × 1,07 € + 28 €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comptés depuis le lieu de prise en charge du patient.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023360" cy="1371600"/>
          </a:xfrm>
          <a:prstGeom prst="rect">
            <a:avLst/>
          </a:prstGeom>
          <a:solidFill>
            <a:srgbClr val="FFF5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Calcul NUIT / Dimanche / Fériés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(28 € + Nb de km) × 1,5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 (neige/verglas) : non applicable aux transports sanitaires.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8B22D"/>
                </a:solidFill>
                <a:latin typeface="Calibri"/>
              </a:rPr>
              <a:t>PARTIE 3 —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C202B"/>
                </a:solidFill>
                <a:latin typeface="Georgia"/>
              </a:rPr>
              <a:t>Transport partagé — comprendre les abattements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828800" cy="64008"/>
          </a:xfrm>
          <a:prstGeom prst="rect">
            <a:avLst/>
          </a:prstGeom>
          <a:solidFill>
            <a:srgbClr val="0F978B"/>
          </a:solidFill>
          <a:ln>
            <a:solidFill>
              <a:srgbClr val="0F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399032"/>
            <a:ext cx="16824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02B"/>
                </a:solidFill>
                <a:latin typeface="Calibri"/>
              </a:rPr>
              <a:t>2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645920"/>
            <a:ext cx="16824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0F978B"/>
                </a:solidFill>
                <a:latin typeface="Calibri"/>
              </a:rPr>
              <a:t>−23 %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57400"/>
            <a:ext cx="1682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465269"/>
                </a:solidFill>
                <a:latin typeface="Calibri"/>
              </a:rPr>
              <a:t>sur chaque facture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3444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1720" y="1234440"/>
            <a:ext cx="1828800" cy="64008"/>
          </a:xfrm>
          <a:prstGeom prst="rect">
            <a:avLst/>
          </a:prstGeom>
          <a:solidFill>
            <a:srgbClr val="2B6FB8"/>
          </a:solidFill>
          <a:ln>
            <a:solidFill>
              <a:srgbClr val="2B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1399032"/>
            <a:ext cx="16824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02B"/>
                </a:solidFill>
                <a:latin typeface="Calibri"/>
              </a:rPr>
              <a:t>3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1645920"/>
            <a:ext cx="16824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B6FB8"/>
                </a:solidFill>
                <a:latin typeface="Calibri"/>
              </a:rPr>
              <a:t>−35 %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057400"/>
            <a:ext cx="1682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465269"/>
                </a:solidFill>
                <a:latin typeface="Calibri"/>
              </a:rPr>
              <a:t>sur chaque facture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1828800" cy="64008"/>
          </a:xfrm>
          <a:prstGeom prst="rect">
            <a:avLst/>
          </a:prstGeom>
          <a:solidFill>
            <a:srgbClr val="283D63"/>
          </a:solidFill>
          <a:ln>
            <a:solidFill>
              <a:srgbClr val="283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1399032"/>
            <a:ext cx="16824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02B"/>
                </a:solidFill>
                <a:latin typeface="Calibri"/>
              </a:rPr>
              <a:t>4 patients ou 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645920"/>
            <a:ext cx="16824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83D63"/>
                </a:solidFill>
                <a:latin typeface="Calibri"/>
              </a:rPr>
              <a:t>−37 %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057400"/>
            <a:ext cx="1682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465269"/>
                </a:solidFill>
                <a:latin typeface="Calibri"/>
              </a:rPr>
              <a:t>sur chaque facture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234440"/>
            <a:ext cx="18288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234440"/>
            <a:ext cx="1828800" cy="64008"/>
          </a:xfrm>
          <a:prstGeom prst="rect">
            <a:avLst/>
          </a:prstGeom>
          <a:solidFill>
            <a:srgbClr val="CA521E"/>
          </a:solidFill>
          <a:ln>
            <a:solidFill>
              <a:srgbClr val="CA5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1399032"/>
            <a:ext cx="16824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02B"/>
                </a:solidFill>
                <a:latin typeface="Calibri"/>
              </a:rPr>
              <a:t>Cas longue 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645920"/>
            <a:ext cx="168249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CA521E"/>
                </a:solidFill>
                <a:latin typeface="Calibri"/>
              </a:rPr>
              <a:t>−5 %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057400"/>
            <a:ext cx="1682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465269"/>
                </a:solidFill>
                <a:latin typeface="Calibri"/>
              </a:rPr>
              <a:t>patient concerné seulement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78608"/>
            <a:ext cx="7726679" cy="1417320"/>
          </a:xfrm>
          <a:prstGeom prst="rect">
            <a:avLst/>
          </a:prstGeom>
          <a:solidFill>
            <a:srgbClr val="EBF4FC"/>
          </a:solidFill>
          <a:ln>
            <a:solidFill>
              <a:srgbClr val="EB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688336"/>
            <a:ext cx="3246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6FB8"/>
                </a:solidFill>
                <a:latin typeface="Calibri"/>
              </a:rPr>
              <a:t>EXEMPLE — départs différents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999232"/>
            <a:ext cx="3246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02B"/>
                </a:solidFill>
                <a:latin typeface="Calibri"/>
              </a:rPr>
              <a:t>A monte à Saint-Priest → on prend B à Bron → les deux vont à l’hôpital.
✓ Transport partagé même avec des départs différents.
✓ 2 factures : une pour A, une pour 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688336"/>
            <a:ext cx="3703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A521E"/>
                </a:solidFill>
                <a:latin typeface="Calibri"/>
              </a:rPr>
              <a:t>CAS PARTICULIER DU −5 %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999232"/>
            <a:ext cx="3703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02B"/>
                </a:solidFill>
                <a:latin typeface="Calibri"/>
              </a:rPr>
              <a:t>A partage une partie du trajet avec B, puis A reste seul sur une longue distance.
→ A : abattement ramené à 5 %.
→ B : abattement normal.
⚠ Seuil local, minimum national 30 km.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407408"/>
            <a:ext cx="74980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65269"/>
                </a:solidFill>
                <a:latin typeface="Calibri"/>
              </a:rPr>
              <a:t>FTRANSPORT - SERVICES PRO  •  Convention CPAM — exemples pédagogiques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4389120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46526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8B22D"/>
                </a:solidFill>
                <a:latin typeface="Calibri"/>
              </a:rPr>
              <a:t>PARTIE 3 —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C202B"/>
                </a:solidFill>
                <a:latin typeface="Georgia"/>
              </a:rPr>
              <a:t>Hospitalisation — +25 % / +50 % : ce que cela signifie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36576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657600" cy="64008"/>
          </a:xfrm>
          <a:prstGeom prst="rect">
            <a:avLst/>
          </a:prstGeom>
          <a:solidFill>
            <a:srgbClr val="2B6FB8"/>
          </a:solidFill>
          <a:ln>
            <a:solidFill>
              <a:srgbClr val="2B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3560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B6FB8"/>
                </a:solidFill>
                <a:latin typeface="Calibri"/>
              </a:rPr>
              <a:t>+25 %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02B"/>
                </a:solidFill>
                <a:latin typeface="Calibri"/>
              </a:rPr>
              <a:t>trajet EN CHARGE &lt; 50 km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36576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234440"/>
            <a:ext cx="3657600" cy="64008"/>
          </a:xfrm>
          <a:prstGeom prst="rect">
            <a:avLst/>
          </a:prstGeom>
          <a:solidFill>
            <a:srgbClr val="C92B30"/>
          </a:solidFill>
          <a:ln>
            <a:solidFill>
              <a:srgbClr val="C92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35608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C92B30"/>
                </a:solidFill>
                <a:latin typeface="Calibri"/>
              </a:rPr>
              <a:t>+50 %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10512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02B"/>
                </a:solidFill>
                <a:latin typeface="Calibri"/>
              </a:rPr>
              <a:t>trajet EN CHARGE ≥ 50 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78608"/>
            <a:ext cx="7498079" cy="1417320"/>
          </a:xfrm>
          <a:prstGeom prst="rect">
            <a:avLst/>
          </a:prstGeom>
          <a:solidFill>
            <a:srgbClr val="FDF2EA"/>
          </a:solidFill>
          <a:ln>
            <a:solidFill>
              <a:srgbClr val="FD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3337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CA521E"/>
                </a:solidFill>
                <a:latin typeface="Calibri"/>
              </a:rPr>
              <a:t>EXEMPLE 1 — 40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33375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02B"/>
                </a:solidFill>
                <a:latin typeface="Calibri"/>
              </a:rPr>
              <a:t>Tu vas à vide à l’hôpital, prends le patient puis fais 40 km avec lui.
→ Hospitalisation + trajet à vide + 40 km en charge = +25 % sur le tarif kilométrique.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697480"/>
            <a:ext cx="3337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C92B30"/>
                </a:solidFill>
                <a:latin typeface="Calibri"/>
              </a:rPr>
              <a:t>EXEMPLE 2 — 65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971800"/>
            <a:ext cx="33375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02B"/>
                </a:solidFill>
                <a:latin typeface="Calibri"/>
              </a:rPr>
              <a:t>Même situation, mais 65 km avec le patient.
→ Hospitalisation + trajet à vide + 65 km en charge = +50 % sur le tarif kilométrique.
⚠ Ce n’est pas le −5 % du transport partagé.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07408"/>
            <a:ext cx="74980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65269"/>
                </a:solidFill>
                <a:latin typeface="Calibri"/>
              </a:rPr>
              <a:t>FTRANSPORT - SERVICES PRO  •  Convention CPAM — exemples pédagogiques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389120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46526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8B22D"/>
                </a:solidFill>
                <a:latin typeface="Calibri"/>
              </a:rPr>
              <a:t>PARTIE 3 —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C202B"/>
                </a:solidFill>
                <a:latin typeface="Georgia"/>
              </a:rPr>
              <a:t>Quand l’Assurance Maladie peut prendre en charge le transport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70432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" y="1243584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B6FB8"/>
                </a:solidFill>
                <a:latin typeface="Calibri"/>
              </a:rPr>
              <a:t>Hospitalisation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1225296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Entrée/sortie : complète, partielle ou ambulatoire.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83664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" y="1956816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B6FB8"/>
                </a:solidFill>
                <a:latin typeface="Calibri"/>
              </a:rPr>
              <a:t>ALD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2" y="193852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Lié à l’ALD + incapacité/déficience prévue au référentiel.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96896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" y="2670048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B6FB8"/>
                </a:solidFill>
                <a:latin typeface="Calibri"/>
              </a:rPr>
              <a:t>AT / maladie pro.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2651760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Transport lié aux soins ou examens de l’AT/MP.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10128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" y="3383280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B6FB8"/>
                </a:solidFill>
                <a:latin typeface="Calibri"/>
              </a:rPr>
              <a:t>Ambulance nécessaire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3364992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État nécessitant notamment d’être allongé ou surveillé.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1170432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1243584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66F4C"/>
                </a:solidFill>
                <a:latin typeface="Calibri"/>
              </a:rPr>
              <a:t>&gt; 150 km 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1225296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Prise en charge possible + accord préalable.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1883664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5968" y="1956816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66F4C"/>
                </a:solidFill>
                <a:latin typeface="Calibri"/>
              </a:rPr>
              <a:t>Transports en série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193852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≥4 transports de &gt;50 km aller / 2 mois / même traitement.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2596896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2670048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66F4C"/>
                </a:solidFill>
                <a:latin typeface="Calibri"/>
              </a:rPr>
              <a:t>Convocation / expertise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2651760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Contrôle médical, expert, appareillage agréé.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3310128"/>
            <a:ext cx="3566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15968" y="3383280"/>
            <a:ext cx="1325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66F4C"/>
                </a:solidFill>
                <a:latin typeface="Calibri"/>
              </a:rPr>
              <a:t>CAMSP / CMPP…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2704" y="3364992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C202B"/>
                </a:solidFill>
                <a:latin typeface="Calibri"/>
              </a:rPr>
              <a:t>Autres situations prévues avec règles spécifiques.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050791"/>
            <a:ext cx="7342631" cy="301752"/>
          </a:xfrm>
          <a:prstGeom prst="rect">
            <a:avLst/>
          </a:prstGeom>
          <a:solidFill>
            <a:srgbClr val="FDF2EA"/>
          </a:solidFill>
          <a:ln>
            <a:solidFill>
              <a:srgbClr val="FD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4025000"/>
            <a:ext cx="7498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CA521E"/>
                </a:solidFill>
                <a:latin typeface="Calibri"/>
              </a:rPr>
              <a:t>Une ordonnance seule ne rend pas automatiquement n’importe quelle course remboursable.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407408"/>
            <a:ext cx="74980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65269"/>
                </a:solidFill>
                <a:latin typeface="Calibri"/>
              </a:rPr>
              <a:t>FTRANSPORT - SERVICES PRO  •  Convention CPAM — exemples pédagogiques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4389120"/>
            <a:ext cx="228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46526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Suspension, sanctions &amp; trousse de secours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&amp; déconventionnement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si l'entreprise ne remplit plus les conditions :
</a:t>
            </a:r>
            <a:endParaRPr lang="en-US" sz="850" dirty="0"/>
          </a:p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Absence de permis de conduire
• Absence de carte professionnelle
• Interdiction d'exercer
• Perte d'exploitation ADS
</a:t>
            </a:r>
            <a:endParaRPr lang="en-US" sz="850" dirty="0"/>
          </a:p>
          <a:p>
            <a:pPr marL="0" indent="0">
              <a:buNone/>
            </a:pPr>
            <a:r>
              <a:rPr lang="en-US" sz="9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observations : 21 jours
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:
</a:t>
            </a:r>
            <a:endParaRPr lang="en-US" sz="850" dirty="0"/>
          </a:p>
          <a:p>
            <a:pPr marL="0" indent="0">
              <a:buNone/>
            </a:pPr>
            <a:r>
              <a:rPr lang="en-US" sz="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Avertissement</a:t>
            </a:r>
            <a:endParaRPr lang="en-US" sz="850" dirty="0"/>
          </a:p>
          <a:p>
            <a:pPr marL="0" indent="0">
              <a:buNone/>
            </a:pPr>
            <a:r>
              <a:rPr lang="en-US" sz="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Déconventionnement (avec ou sans sursis, durée ≤ 5 ans)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Trousse de secours obligatoire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9204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boîte de compresses stériles 10×10 cm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892040" y="1956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pansement stérile absorbant « américain »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892040" y="2221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bande extensible 4m × 10 cm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892040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solution antiseptique bactéricide non iodée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92040" y="2752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paire de ciseaux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89204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clips de fixation pour bandes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892040" y="3282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 paire de gants stériles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892040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Sucre en morceaux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892040" y="3813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Sacs vomitifs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89204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Couverture de survie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PARTIE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CPAM — Transport sanitaire taxi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Conventionnement CPAM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161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 obligatoires : convention signée, carte grise, carte pro, K-bis/D1, autorisation de stationnement (ADS), assurance, location-gérance, convention CPAM, contrats, URSSAF.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jour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 28€ (13€ prise en charge + 15€ grande ville). 4 premiers km inclus. Au-delà : (km − 4) × 1,07€ + 28€. Km à partir du lieu de prise en charge.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nuit/dimanche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(28€ + km) × 1,5. Le tarif D (neige/verglas) ne s'applique PAS aux transports sanitaires.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Abattements transport partagé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167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patients = 23%. 3 patients = 35%. 4+ patients = 37%. Longue distance (≥ 30 km seul) = 5% pour ce patient.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Majorations hospitalisation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à vide : +25% si &lt; 50 km en charge, +50% si ≥ 50 km. Hosp. complètes/partielles, chimio, radio, hémodialyse.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Supplément PMR &amp; péages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 = 30€. Péages remboursés sur justificatifs. Relevés conservés 33 mois.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préalable CPAM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≥ 4 transports &gt; 50 km aller sur 2 mois (même traitement). Distance &gt; 150 km aller. Signature patient obligatoire.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&amp; Trousse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si conditions non remplies. 21 jours pour observations. Déconventionnement ≤ 5 ans. Trousse de secours : 10 éléments obligatoires.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 N   D E   L A   F O R M A T I O 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Réglementation Locale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64008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Conducteur · Contrôle annuel · Refus · Trajet · Stations · Véhicule · ZUPC · Tarification · Sanctions
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Affichette · Notes · IMC · ADS avant/après 2014 · Exploitation · Véhicule · Listes d'attente · Droits
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CPAM · Tarification sanitaire · Abattements · Majorations · PMR · Trousse de secours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8B22D"/>
                </a:solidFill>
                <a:latin typeface="Calibri"/>
              </a:rPr>
              <a:t>PARTIE 3 —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C202B"/>
                </a:solidFill>
                <a:latin typeface="Georgia"/>
              </a:rPr>
              <a:t>Accord préalable CPAM — exemples très simples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3657600" cy="1325880"/>
          </a:xfrm>
          <a:prstGeom prst="rect">
            <a:avLst/>
          </a:prstGeom>
          <a:solidFill>
            <a:srgbClr val="EBF4FC"/>
          </a:solidFill>
          <a:ln>
            <a:solidFill>
              <a:srgbClr val="EB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6FB8"/>
                </a:solidFill>
                <a:latin typeface="Calibri"/>
              </a:rPr>
              <a:t>CAS A — 1 trajet longue 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73352"/>
            <a:ext cx="3246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B"/>
                </a:solidFill>
                <a:latin typeface="Calibri"/>
              </a:rPr>
              <a:t>Lyon → destination à 160 km ALLER.
→ Plus de 150 km aller.
→ Accord préalable nécessaire.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657600" cy="1325880"/>
          </a:xfrm>
          <a:prstGeom prst="rect">
            <a:avLst/>
          </a:prstGeom>
          <a:solidFill>
            <a:srgbClr val="ECF7F1"/>
          </a:solidFill>
          <a:ln>
            <a:solidFill>
              <a:srgbClr val="EC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353312"/>
            <a:ext cx="3291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66F4C"/>
                </a:solidFill>
                <a:latin typeface="Calibri"/>
              </a:rPr>
              <a:t>CAS B — transports en série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73352"/>
            <a:ext cx="3246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B"/>
                </a:solidFill>
                <a:latin typeface="Calibri"/>
              </a:rPr>
              <a:t>Même traitement : 4 rendez-vous.
Chaque aller fait 60 km, sur 2 mois.
→ Accord préalable en principe nécessaire.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724912"/>
            <a:ext cx="7498079" cy="1051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713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CA521E"/>
                </a:solidFill>
                <a:latin typeface="Calibri"/>
              </a:rPr>
              <a:t>CONTRE-EXEMPLES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99816"/>
            <a:ext cx="7086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02B"/>
                </a:solidFill>
                <a:latin typeface="Calibri"/>
              </a:rPr>
              <a:t>• 1 trajet de 100 km aller → pas de DAP pour le critère « &gt;150 km ».
• 4 trajets de 30 km aller → pas le critère « série &gt;50 km ».
• Exception : Ameli indique que la DAP n’est pas nécessaire pour les séries liées à une ALD.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07408"/>
            <a:ext cx="74980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65269"/>
                </a:solidFill>
                <a:latin typeface="Calibri"/>
              </a:rPr>
              <a:t>FTRANSPORT - SERVICES PRO  •  Convention CPAM — exemples pédagogiques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7327" y="4389120"/>
            <a:ext cx="293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46526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16459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8B22D"/>
                </a:solidFill>
                <a:latin typeface="Calibri"/>
              </a:rPr>
              <a:t>PARTIE 3 —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C202B"/>
                </a:solidFill>
                <a:latin typeface="Georgia"/>
              </a:rPr>
              <a:t>Ne pas mélanger : −5 % et +25/+50 %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3611880" cy="2423160"/>
          </a:xfrm>
          <a:prstGeom prst="rect">
            <a:avLst/>
          </a:prstGeom>
          <a:solidFill>
            <a:srgbClr val="EBF4FC"/>
          </a:solidFill>
          <a:ln>
            <a:solidFill>
              <a:srgbClr val="EB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B6FB8"/>
                </a:solidFill>
                <a:latin typeface="Calibri"/>
              </a:rPr>
              <a:t>−5 % = TRANSPORT PARTAGÉ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10512"/>
            <a:ext cx="315468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B"/>
                </a:solidFill>
                <a:latin typeface="Calibri"/>
              </a:rPr>
              <a:t>A et B partagent une partie de la course. Puis A reste seul sur une longue distance.
→ Le −5 % concerne la facture de A si le seuil local est atteint.
→ Ce n’est PAS une majoration d’hospitalisation.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234440"/>
            <a:ext cx="3611880" cy="2423160"/>
          </a:xfrm>
          <a:prstGeom prst="rect">
            <a:avLst/>
          </a:prstGeom>
          <a:solidFill>
            <a:srgbClr val="FDF2EA"/>
          </a:solidFill>
          <a:ln>
            <a:solidFill>
              <a:srgbClr val="FD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62272" y="141732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CA521E"/>
                </a:solidFill>
                <a:latin typeface="Calibri"/>
              </a:rPr>
              <a:t>+25/+50 % = HOSPITALISATION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810512"/>
            <a:ext cx="315468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B"/>
                </a:solidFill>
                <a:latin typeface="Calibri"/>
              </a:rPr>
              <a:t>Tu prends un patient pour une entrée/sortie d’hospitalisation et l’aller ou le retour se fait à vide.
→ &lt;50 km en charge : +25 %.
→ ≥50 km : +50 %.
→ Sur le tarif kilométrique.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22191"/>
            <a:ext cx="7269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C202B"/>
                </a:solidFill>
                <a:latin typeface="Calibri"/>
              </a:rPr>
              <a:t>Deux mécanismes différents : l’un réduit une facture de transport partagé, l’autre majore le kilométrique d’hospitalisation.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07408"/>
            <a:ext cx="749807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465269"/>
                </a:solidFill>
                <a:latin typeface="Calibri"/>
              </a:rPr>
              <a:t>FTRANSPORT - SERVICES PRO  •  Convention CPAM — exemples pédagogiques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7327" y="4389120"/>
            <a:ext cx="293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46526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1804</Words>
  <Application>Microsoft Office PowerPoint</Application>
  <PresentationFormat>Affichage à l'écran (16:9)</PresentationFormat>
  <Paragraphs>220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Réglementation Locale - Partie 3</dc:title>
  <dc:subject>PptxGenJS Presentation</dc:subject>
  <dc:creator>FTRANSPORT - SERVICES PRO</dc:creator>
  <cp:lastModifiedBy>naoufal guenichi</cp:lastModifiedBy>
  <cp:revision>1</cp:revision>
  <dcterms:created xsi:type="dcterms:W3CDTF">2026-02-25T05:48:54Z</dcterms:created>
  <dcterms:modified xsi:type="dcterms:W3CDTF">2026-09-08T13:36:50Z</dcterms:modified>
</cp:coreProperties>
</file>