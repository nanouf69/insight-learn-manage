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8" d="100"/>
          <a:sy n="98" d="100"/>
        </p:scale>
        <p:origin x="36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644009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A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2743200" cy="27432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RÉGLEMENTATION LOCALE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18872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Partie 3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31520" y="201168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Convention CPAM · Transport sanitaire · Tarification · Abattements · Majorations · Sanctions · Trousse de secours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8346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OBJECTIFS PÉDAGOGIQUES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31520" y="3108960"/>
            <a:ext cx="3657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Connaître les pièces à fournir pour le conventionnement CPAM</a:t>
            </a:r>
            <a:endParaRPr lang="en-US" sz="8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Maîtriser la tarification des transports sanitaires (jour/nuit)</a:t>
            </a:r>
            <a:endParaRPr lang="en-US" sz="8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Comprendre les abattements pour transport partagé</a:t>
            </a:r>
            <a:endParaRPr lang="en-US" sz="8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Connaître les majorations hospitalisation retour à vide</a:t>
            </a:r>
            <a:endParaRPr lang="en-US" sz="8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Identifier les transports soumis à accord préalable CPAM</a:t>
            </a:r>
            <a:endParaRPr lang="en-US" sz="8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Connaître les sanctions et la trousse de secours obligatoire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846320" y="28346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846320" y="3108960"/>
            <a:ext cx="3840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Pièces à fournir pour le conventionnement CPAM</a:t>
            </a:r>
            <a:endParaRPr lang="en-US" sz="8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Tarification jour &amp; nuit des transports en charge</a:t>
            </a:r>
            <a:endParaRPr lang="en-US" sz="8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Abattements transport partagé (23%, 35%, 37%, 5%)</a:t>
            </a:r>
            <a:endParaRPr lang="en-US" sz="8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Majorations hospitalisation retour à vide (+25%, +50%)</a:t>
            </a:r>
            <a:endParaRPr lang="en-US" sz="8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Supplément PMR, accord préalable CPAM, signature facture</a:t>
            </a:r>
            <a:endParaRPr lang="en-US" sz="8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Suspension/déconventionnement &amp; trousse de secours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731520" y="47091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Déclaration n° 84 69 15114 69  •  Qualiopi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20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Sommaire — Partie 3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Convention CPAM — Transport sanitaire taxi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640080" y="1344168"/>
            <a:ext cx="347472" cy="347472"/>
          </a:xfrm>
          <a:prstGeom prst="ellipse">
            <a:avLst/>
          </a:prstGeom>
          <a:solidFill>
            <a:srgbClr val="283A5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640080" y="1344168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43000" y="128016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Pièces à fournir — Conventionnement CPAM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43000" y="15361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documents obligatoires · Convention signée · K-bis · Autorisation de stationnement (ADS) · Assurance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43000" y="1810512"/>
            <a:ext cx="73152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640080" y="1938528"/>
            <a:ext cx="347472" cy="347472"/>
          </a:xfrm>
          <a:prstGeom prst="ellipse">
            <a:avLst/>
          </a:prstGeom>
          <a:solidFill>
            <a:srgbClr val="283A5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640080" y="1938528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43000" y="18745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Tarification des transports sanitaires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143000" y="21305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Forfait prise en charge 28€ · 4 km inclus · Calcul jour · Calcul nuit/dimanche/fériés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1143000" y="2404872"/>
            <a:ext cx="73152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Shape 12"/>
          <p:cNvSpPr/>
          <p:nvPr/>
        </p:nvSpPr>
        <p:spPr>
          <a:xfrm>
            <a:off x="640080" y="2532888"/>
            <a:ext cx="347472" cy="347472"/>
          </a:xfrm>
          <a:prstGeom prst="ellipse">
            <a:avLst/>
          </a:prstGeom>
          <a:solidFill>
            <a:srgbClr val="283A5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640080" y="2532888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43000" y="246888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Abattements — Transport partagé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143000" y="272491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patients = 23% · 3 patients = 35% · 4+ patients = 37% · Longue distance = 5%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143000" y="2999232"/>
            <a:ext cx="73152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Shape 17"/>
          <p:cNvSpPr/>
          <p:nvPr/>
        </p:nvSpPr>
        <p:spPr>
          <a:xfrm>
            <a:off x="640080" y="3127248"/>
            <a:ext cx="347472" cy="347472"/>
          </a:xfrm>
          <a:prstGeom prst="ellipse">
            <a:avLst/>
          </a:prstGeom>
          <a:solidFill>
            <a:srgbClr val="283A5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640080" y="3127248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143000" y="306324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Majorations hospitalisation &amp; supplément PMR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143000" y="331927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50 km = +25% · ≥ 50 km = +50% · Supplément PMR = 30€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143000" y="3593592"/>
            <a:ext cx="73152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Shape 22"/>
          <p:cNvSpPr/>
          <p:nvPr/>
        </p:nvSpPr>
        <p:spPr>
          <a:xfrm>
            <a:off x="640080" y="3721608"/>
            <a:ext cx="347472" cy="347472"/>
          </a:xfrm>
          <a:prstGeom prst="ellipse">
            <a:avLst/>
          </a:prstGeom>
          <a:solidFill>
            <a:srgbClr val="283A5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/>
          <p:nvPr/>
        </p:nvSpPr>
        <p:spPr>
          <a:xfrm>
            <a:off x="640080" y="3721608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143000" y="36576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Accord préalable CPAM &amp; signature facture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143000" y="391363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Séries ≥ 4 transports &gt; 50 km · Distance &gt; 150 km · Signature patient obligatoire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1143000" y="4187952"/>
            <a:ext cx="73152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Shape 27"/>
          <p:cNvSpPr/>
          <p:nvPr/>
        </p:nvSpPr>
        <p:spPr>
          <a:xfrm>
            <a:off x="640080" y="4315968"/>
            <a:ext cx="347472" cy="347472"/>
          </a:xfrm>
          <a:prstGeom prst="ellipse">
            <a:avLst/>
          </a:prstGeom>
          <a:solidFill>
            <a:srgbClr val="283A5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0" name="Text 28"/>
          <p:cNvSpPr/>
          <p:nvPr/>
        </p:nvSpPr>
        <p:spPr>
          <a:xfrm>
            <a:off x="640080" y="4315968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143000" y="425196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Suspension, sanctions &amp; trousse de secours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143000" y="45079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Suspension conventionnement · 21 jours observations · Déconventionnement ≤ 5 ans · 10 éléments trousse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1E2A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4" name="Text 32"/>
          <p:cNvSpPr/>
          <p:nvPr/>
        </p:nvSpPr>
        <p:spPr>
          <a:xfrm>
            <a:off x="457200" y="48234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FTRANSPORT - SERVICES PRO  •  Formation certifiée Qualiopi  •  Éligible CPF  •  Lyon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8229600" y="482346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283A5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3 — COURS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20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Pièces à fournir — Conventionnement CPAM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3931920" cy="32918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80160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05840" y="1234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1 à 5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40080" y="1691640"/>
            <a:ext cx="201168" cy="201168"/>
          </a:xfrm>
          <a:prstGeom prst="ellipse">
            <a:avLst/>
          </a:prstGeom>
          <a:solidFill>
            <a:srgbClr val="283A5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960120" y="164592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Convention complétée, signée, datée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640080" y="2240280"/>
            <a:ext cx="201168" cy="201168"/>
          </a:xfrm>
          <a:prstGeom prst="ellipse">
            <a:avLst/>
          </a:prstGeom>
          <a:solidFill>
            <a:srgbClr val="283A5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640080" y="2240280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960120" y="219456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Photocopie de la carte grise de chaque véhicule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640080" y="2788920"/>
            <a:ext cx="201168" cy="201168"/>
          </a:xfrm>
          <a:prstGeom prst="ellipse">
            <a:avLst/>
          </a:prstGeom>
          <a:solidFill>
            <a:srgbClr val="283A5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Text 12"/>
          <p:cNvSpPr/>
          <p:nvPr/>
        </p:nvSpPr>
        <p:spPr>
          <a:xfrm>
            <a:off x="640080" y="2788920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960120" y="274320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Photocopie de la carte professionnelle de conducteur de taxi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40080" y="3337560"/>
            <a:ext cx="201168" cy="201168"/>
          </a:xfrm>
          <a:prstGeom prst="ellipse">
            <a:avLst/>
          </a:prstGeom>
          <a:solidFill>
            <a:srgbClr val="283A5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8" name="Text 15"/>
          <p:cNvSpPr/>
          <p:nvPr/>
        </p:nvSpPr>
        <p:spPr>
          <a:xfrm>
            <a:off x="640080" y="3337560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960120" y="329184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Extrait de K-bis ou D1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640080" y="3886200"/>
            <a:ext cx="201168" cy="201168"/>
          </a:xfrm>
          <a:prstGeom prst="ellipse">
            <a:avLst/>
          </a:prstGeom>
          <a:solidFill>
            <a:srgbClr val="283A5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1" name="Text 18"/>
          <p:cNvSpPr/>
          <p:nvPr/>
        </p:nvSpPr>
        <p:spPr>
          <a:xfrm>
            <a:off x="640080" y="3886200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960120" y="384048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Autorisation de stationnement (ADS) en cours de validité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4663440" y="1143000"/>
            <a:ext cx="4023360" cy="32918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2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1280160"/>
            <a:ext cx="274320" cy="274320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5212080" y="1234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767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6 à 10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4846320" y="1691640"/>
            <a:ext cx="201168" cy="201168"/>
          </a:xfrm>
          <a:prstGeom prst="ellipse">
            <a:avLst/>
          </a:prstGeom>
          <a:solidFill>
            <a:srgbClr val="27674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7" name="Text 23"/>
          <p:cNvSpPr/>
          <p:nvPr/>
        </p:nvSpPr>
        <p:spPr>
          <a:xfrm>
            <a:off x="4846320" y="1691640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sp>
        <p:nvSpPr>
          <p:cNvPr id="28" name="Text 24"/>
          <p:cNvSpPr/>
          <p:nvPr/>
        </p:nvSpPr>
        <p:spPr>
          <a:xfrm>
            <a:off x="5166360" y="164592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Attestation d'assurance taxi</a:t>
            </a:r>
            <a:endParaRPr lang="en-US" sz="850" dirty="0"/>
          </a:p>
        </p:txBody>
      </p:sp>
      <p:sp>
        <p:nvSpPr>
          <p:cNvPr id="29" name="Shape 25"/>
          <p:cNvSpPr/>
          <p:nvPr/>
        </p:nvSpPr>
        <p:spPr>
          <a:xfrm>
            <a:off x="4846320" y="2240280"/>
            <a:ext cx="201168" cy="201168"/>
          </a:xfrm>
          <a:prstGeom prst="ellipse">
            <a:avLst/>
          </a:prstGeom>
          <a:solidFill>
            <a:srgbClr val="27674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0" name="Text 26"/>
          <p:cNvSpPr/>
          <p:nvPr/>
        </p:nvSpPr>
        <p:spPr>
          <a:xfrm>
            <a:off x="4846320" y="2240280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  <p:sp>
        <p:nvSpPr>
          <p:cNvPr id="31" name="Text 27"/>
          <p:cNvSpPr/>
          <p:nvPr/>
        </p:nvSpPr>
        <p:spPr>
          <a:xfrm>
            <a:off x="5166360" y="219456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 de location-gérance (le cas échéant)</a:t>
            </a:r>
            <a:endParaRPr lang="en-US" sz="850" dirty="0"/>
          </a:p>
        </p:txBody>
      </p:sp>
      <p:sp>
        <p:nvSpPr>
          <p:cNvPr id="32" name="Shape 28"/>
          <p:cNvSpPr/>
          <p:nvPr/>
        </p:nvSpPr>
        <p:spPr>
          <a:xfrm>
            <a:off x="4846320" y="2788920"/>
            <a:ext cx="201168" cy="201168"/>
          </a:xfrm>
          <a:prstGeom prst="ellipse">
            <a:avLst/>
          </a:prstGeom>
          <a:solidFill>
            <a:srgbClr val="27674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3" name="Text 29"/>
          <p:cNvSpPr/>
          <p:nvPr/>
        </p:nvSpPr>
        <p:spPr>
          <a:xfrm>
            <a:off x="4846320" y="2788920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00" dirty="0"/>
          </a:p>
        </p:txBody>
      </p:sp>
      <p:sp>
        <p:nvSpPr>
          <p:cNvPr id="34" name="Text 30"/>
          <p:cNvSpPr/>
          <p:nvPr/>
        </p:nvSpPr>
        <p:spPr>
          <a:xfrm>
            <a:off x="5166360" y="274320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Convention taxi signée auprès de la CPAM</a:t>
            </a:r>
            <a:endParaRPr lang="en-US" sz="850" dirty="0"/>
          </a:p>
        </p:txBody>
      </p:sp>
      <p:sp>
        <p:nvSpPr>
          <p:cNvPr id="35" name="Shape 31"/>
          <p:cNvSpPr/>
          <p:nvPr/>
        </p:nvSpPr>
        <p:spPr>
          <a:xfrm>
            <a:off x="4846320" y="3337560"/>
            <a:ext cx="201168" cy="201168"/>
          </a:xfrm>
          <a:prstGeom prst="ellipse">
            <a:avLst/>
          </a:prstGeom>
          <a:solidFill>
            <a:srgbClr val="27674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6" name="Text 32"/>
          <p:cNvSpPr/>
          <p:nvPr/>
        </p:nvSpPr>
        <p:spPr>
          <a:xfrm>
            <a:off x="4846320" y="3337560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00" dirty="0"/>
          </a:p>
        </p:txBody>
      </p:sp>
      <p:sp>
        <p:nvSpPr>
          <p:cNvPr id="37" name="Text 33"/>
          <p:cNvSpPr/>
          <p:nvPr/>
        </p:nvSpPr>
        <p:spPr>
          <a:xfrm>
            <a:off x="5166360" y="329184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 de travail pour chaque salarié</a:t>
            </a:r>
            <a:endParaRPr lang="en-US" sz="850" dirty="0"/>
          </a:p>
        </p:txBody>
      </p:sp>
      <p:sp>
        <p:nvSpPr>
          <p:cNvPr id="38" name="Shape 34"/>
          <p:cNvSpPr/>
          <p:nvPr/>
        </p:nvSpPr>
        <p:spPr>
          <a:xfrm>
            <a:off x="4846320" y="3886200"/>
            <a:ext cx="201168" cy="201168"/>
          </a:xfrm>
          <a:prstGeom prst="ellipse">
            <a:avLst/>
          </a:prstGeom>
          <a:solidFill>
            <a:srgbClr val="27674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9" name="Text 35"/>
          <p:cNvSpPr/>
          <p:nvPr/>
        </p:nvSpPr>
        <p:spPr>
          <a:xfrm>
            <a:off x="4846320" y="3886200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00" dirty="0"/>
          </a:p>
        </p:txBody>
      </p:sp>
      <p:sp>
        <p:nvSpPr>
          <p:cNvPr id="40" name="Text 36"/>
          <p:cNvSpPr/>
          <p:nvPr/>
        </p:nvSpPr>
        <p:spPr>
          <a:xfrm>
            <a:off x="5166360" y="384048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Déclaration préalable à l'embauche (URSSAF) pour chaque salarié</a:t>
            </a:r>
            <a:endParaRPr lang="en-US" sz="850" dirty="0"/>
          </a:p>
        </p:txBody>
      </p:sp>
      <p:sp>
        <p:nvSpPr>
          <p:cNvPr id="41" name="Shape 37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1E2A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2" name="Text 38"/>
          <p:cNvSpPr/>
          <p:nvPr/>
        </p:nvSpPr>
        <p:spPr>
          <a:xfrm>
            <a:off x="457200" y="48234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FTRANSPORT - SERVICES PRO  •  Formation certifiée Qualiopi  •  Éligible CPF  •  Lyon</a:t>
            </a:r>
            <a:endParaRPr lang="en-US" sz="700" dirty="0"/>
          </a:p>
        </p:txBody>
      </p:sp>
      <p:sp>
        <p:nvSpPr>
          <p:cNvPr id="43" name="Text 39"/>
          <p:cNvSpPr/>
          <p:nvPr/>
        </p:nvSpPr>
        <p:spPr>
          <a:xfrm>
            <a:off x="8229600" y="482346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283A5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3 — COURS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0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Tarification des transports sanitaires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60604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2606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283A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28 €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548640" y="201168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Forfait prise en charge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grande ville (13€ + 15€)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premiers km inclus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3246120" y="1188720"/>
            <a:ext cx="260604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3246120" y="1234440"/>
            <a:ext cx="2606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1,07 €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3337560" y="201168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Prix du kilomètre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(au-delà des 4 premiers km)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035040" y="1188720"/>
            <a:ext cx="265176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6035040" y="123444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C0562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× 1,5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6126480" y="2011680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Majoration nuit,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dimanche et jours fériés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57200" y="3063240"/>
            <a:ext cx="3931920" cy="1371600"/>
          </a:xfrm>
          <a:prstGeom prst="rect">
            <a:avLst/>
          </a:prstGeom>
          <a:solidFill>
            <a:srgbClr val="EBF4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548640" y="31089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8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📐 Calcul JOUR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342900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0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(Nombre de km − 4) × 1,07 € + 28 €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384048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 comptés depuis le lieu de prise en charge du patient.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663440" y="3063240"/>
            <a:ext cx="4023360" cy="1371600"/>
          </a:xfrm>
          <a:prstGeom prst="rect">
            <a:avLst/>
          </a:prstGeom>
          <a:solidFill>
            <a:srgbClr val="FFF5E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4754880" y="310896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05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🌙 Calcul NUIT / Dimanche / Fériés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754880" y="342900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0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(28 € + Nb de km) × 1,5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754880" y="384048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C5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 D (neige/verglas) : non applicable aux transports sanitaires.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1E2A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457200" y="48234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FTRANSPORT - SERVICES PRO  •  Formation certifiée Qualiopi  •  Éligible CPF  •  Lyon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8229600" y="482346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283A5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3 — COURS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0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Abattements — Transport partagé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9659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1965960" cy="54864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457200" y="1371600"/>
            <a:ext cx="1965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23%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548640" y="210312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patients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251460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d'abattement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606040" y="1188720"/>
            <a:ext cx="19659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Shape 9"/>
          <p:cNvSpPr/>
          <p:nvPr/>
        </p:nvSpPr>
        <p:spPr>
          <a:xfrm>
            <a:off x="2606040" y="1188720"/>
            <a:ext cx="1965960" cy="54864"/>
          </a:xfrm>
          <a:prstGeom prst="rect">
            <a:avLst/>
          </a:prstGeom>
          <a:solidFill>
            <a:srgbClr val="2B6CB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2606040" y="1371600"/>
            <a:ext cx="1965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2B6CB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35%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2697480" y="210312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patients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697480" y="251460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d'abattement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754880" y="1188720"/>
            <a:ext cx="19659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6" name="Shape 14"/>
          <p:cNvSpPr/>
          <p:nvPr/>
        </p:nvSpPr>
        <p:spPr>
          <a:xfrm>
            <a:off x="4754880" y="1188720"/>
            <a:ext cx="1965960" cy="54864"/>
          </a:xfrm>
          <a:prstGeom prst="rect">
            <a:avLst/>
          </a:prstGeom>
          <a:solidFill>
            <a:srgbClr val="283A5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4754880" y="1371600"/>
            <a:ext cx="1965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283A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37%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4846320" y="210312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4+ patients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846320" y="251460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d'abattement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6903720" y="1188720"/>
            <a:ext cx="19659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1" name="Shape 19"/>
          <p:cNvSpPr/>
          <p:nvPr/>
        </p:nvSpPr>
        <p:spPr>
          <a:xfrm>
            <a:off x="6903720" y="1188720"/>
            <a:ext cx="1965960" cy="54864"/>
          </a:xfrm>
          <a:prstGeom prst="rect">
            <a:avLst/>
          </a:prstGeom>
          <a:solidFill>
            <a:srgbClr val="C0562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6903720" y="1371600"/>
            <a:ext cx="1965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C0562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5%</a:t>
            </a:r>
            <a:endParaRPr lang="en-US" sz="3600" dirty="0"/>
          </a:p>
        </p:txBody>
      </p:sp>
      <p:sp>
        <p:nvSpPr>
          <p:cNvPr id="23" name="Text 21"/>
          <p:cNvSpPr/>
          <p:nvPr/>
        </p:nvSpPr>
        <p:spPr>
          <a:xfrm>
            <a:off x="6995160" y="210312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Longue distance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(≥ 30 km seul)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995160" y="251460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d'abattement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57200" y="3246120"/>
            <a:ext cx="822960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2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383280"/>
            <a:ext cx="274320" cy="274320"/>
          </a:xfrm>
          <a:prstGeom prst="rect">
            <a:avLst/>
          </a:prstGeom>
        </p:spPr>
      </p:pic>
      <p:sp>
        <p:nvSpPr>
          <p:cNvPr id="27" name="Text 24"/>
          <p:cNvSpPr/>
          <p:nvPr/>
        </p:nvSpPr>
        <p:spPr>
          <a:xfrm>
            <a:off x="1005840" y="33375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05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Abattement réduit 5% — Conditions cumulatives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40080" y="3749040"/>
            <a:ext cx="7772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transport est un transport partagé (≥ 2 patients sur une partie du trajet)
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L'un des patients est seul dans le véhicule sur une distance ≥ 30 km
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b="1" dirty="0">
                <a:solidFill>
                  <a:srgbClr val="C5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patient concerné par la longue distance → abattement limité à 5%
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autres patients conservent l'abattement normal (23%, 35% ou 37%)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1E2A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0" name="Text 27"/>
          <p:cNvSpPr/>
          <p:nvPr/>
        </p:nvSpPr>
        <p:spPr>
          <a:xfrm>
            <a:off x="457200" y="48234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FTRANSPORT - SERVICES PRO  •  Formation certifiée Qualiopi  •  Éligible CPF  •  Lyon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8229600" y="482346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283A5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3 — COURS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20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Majorations hospitalisation &amp; supplément PMR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60604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2606040" cy="54864"/>
          </a:xfrm>
          <a:prstGeom prst="rect">
            <a:avLst/>
          </a:prstGeom>
          <a:solidFill>
            <a:srgbClr val="2B6CB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457200" y="1371600"/>
            <a:ext cx="2606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2B6CB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+25%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48640" y="210312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en charge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50 km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260604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Hospitalisation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avec retour à vide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246120" y="1188720"/>
            <a:ext cx="260604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Shape 9"/>
          <p:cNvSpPr/>
          <p:nvPr/>
        </p:nvSpPr>
        <p:spPr>
          <a:xfrm>
            <a:off x="3246120" y="1188720"/>
            <a:ext cx="2606040" cy="54864"/>
          </a:xfrm>
          <a:prstGeom prst="rect">
            <a:avLst/>
          </a:prstGeom>
          <a:solidFill>
            <a:srgbClr val="C5303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3246120" y="1371600"/>
            <a:ext cx="2606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C53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+50%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3337560" y="210312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en charge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50 km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337560" y="260604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Hospitalisation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avec retour à vide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6035040" y="1188720"/>
            <a:ext cx="265176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6" name="Shape 14"/>
          <p:cNvSpPr/>
          <p:nvPr/>
        </p:nvSpPr>
        <p:spPr>
          <a:xfrm>
            <a:off x="6035040" y="1188720"/>
            <a:ext cx="2651760" cy="54864"/>
          </a:xfrm>
          <a:prstGeom prst="rect">
            <a:avLst/>
          </a:prstGeom>
          <a:solidFill>
            <a:srgbClr val="27674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6035040" y="137160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2767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30 €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6126480" y="21031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Supplément PMR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126480" y="260604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Personne à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mobilité réduite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" y="3429000"/>
            <a:ext cx="3931920" cy="1005840"/>
          </a:xfrm>
          <a:prstGeom prst="rect">
            <a:avLst/>
          </a:prstGeom>
          <a:solidFill>
            <a:srgbClr val="EBF4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548640" y="3474720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8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🛣️ Frais de péage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37490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Remboursement sur justificatifs de passage. Relevés conservés 33 mois par le transporteur (à disposition assurance maladie).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663440" y="3429000"/>
            <a:ext cx="4023360" cy="1005840"/>
          </a:xfrm>
          <a:prstGeom prst="rect">
            <a:avLst/>
          </a:prstGeom>
          <a:solidFill>
            <a:srgbClr val="FFF5E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4" name="Text 22"/>
          <p:cNvSpPr/>
          <p:nvPr/>
        </p:nvSpPr>
        <p:spPr>
          <a:xfrm>
            <a:off x="4754880" y="3474720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05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Cas d'application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754880" y="3749040"/>
            <a:ext cx="3840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Hospitalisations complètes, partielles ou ambulatoires. Séances de chimiothérapie, radiothérapie et hémodialyse. La distance retenue = distance en charge (pas le retour à vide).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1E2A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7" name="Text 25"/>
          <p:cNvSpPr/>
          <p:nvPr/>
        </p:nvSpPr>
        <p:spPr>
          <a:xfrm>
            <a:off x="457200" y="48234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FTRANSPORT - SERVICES PRO  •  Formation certifiée Qualiopi  •  Éligible CPF  •  Lyon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8229600" y="482346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283A5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3 — COURS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0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Accord préalable CPAM &amp; signature facture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05840" y="12801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Transports soumis à accord préalable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40080" y="1691640"/>
            <a:ext cx="35661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Transports en série :
</a:t>
            </a:r>
            <a:endParaRPr lang="en-US" sz="900" dirty="0"/>
          </a:p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4 transports d'une distance &gt; 50 km aller, au cours d'une période de 2 mois, pour le même traitement
</a:t>
            </a:r>
            <a:endParaRPr lang="en-US" sz="900" dirty="0"/>
          </a:p>
          <a:p>
            <a:pPr marL="0" indent="0">
              <a:buNone/>
            </a:pPr>
            <a:r>
              <a:rPr lang="en-US" sz="9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Transports longue distance :
</a:t>
            </a:r>
            <a:endParaRPr lang="en-US" sz="900" dirty="0"/>
          </a:p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un lieu distant de plus de 150 km aller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663440" y="1188720"/>
            <a:ext cx="402336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132588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212080" y="12801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05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 de la facture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4846320" y="1691640"/>
            <a:ext cx="36576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Facture signée par le patient (ou représentant légal) : atteste l'exactitude des renseignements.
</a:t>
            </a:r>
            <a:endParaRPr lang="en-US" sz="850" dirty="0"/>
          </a:p>
          <a:p>
            <a:pPr marL="0" indent="0">
              <a:buNone/>
            </a:pPr>
            <a:r>
              <a:rPr lang="en-US" sz="85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la personne n'est pas en état de signer :
</a:t>
            </a:r>
            <a:endParaRPr lang="en-US" sz="850" dirty="0"/>
          </a:p>
          <a:p>
            <a:pPr marL="0" indent="0">
              <a:buNone/>
            </a:pPr>
            <a:r>
              <a:rPr lang="en-US" sz="850" b="1" dirty="0">
                <a:solidFill>
                  <a:srgbClr val="C5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transporteur porte sur la facture : « impossibilité physique ou mentale de signer »</a:t>
            </a: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1E2A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4" name="Text 10"/>
          <p:cNvSpPr/>
          <p:nvPr/>
        </p:nvSpPr>
        <p:spPr>
          <a:xfrm>
            <a:off x="457200" y="48234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FTRANSPORT - SERVICES PRO  •  Formation certifiée Qualiopi  •  Éligible CPF  •  Lyon</a:t>
            </a:r>
            <a:endParaRPr lang="en-US" sz="700" dirty="0"/>
          </a:p>
        </p:txBody>
      </p:sp>
      <p:sp>
        <p:nvSpPr>
          <p:cNvPr id="15" name="Text 11"/>
          <p:cNvSpPr/>
          <p:nvPr/>
        </p:nvSpPr>
        <p:spPr>
          <a:xfrm>
            <a:off x="8229600" y="482346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283A5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3 — COURS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20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Suspension, sanctions &amp; trousse de secours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05840" y="12801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5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Suspension &amp; déconventionnement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40080" y="1691640"/>
            <a:ext cx="35661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Suspension si l'entreprise ne remplit plus les conditions :
</a:t>
            </a:r>
            <a:endParaRPr lang="en-US" sz="850" dirty="0"/>
          </a:p>
          <a:p>
            <a:pPr marL="0" indent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Absence de permis de conduire
• Absence de carte professionnelle
• Interdiction d'exercer
• Perte d'exploitation ADS
</a:t>
            </a:r>
            <a:endParaRPr lang="en-US" sz="850" dirty="0"/>
          </a:p>
          <a:p>
            <a:pPr marL="0" indent="0">
              <a:buNone/>
            </a:pPr>
            <a:r>
              <a:rPr lang="en-US" sz="900" b="1" dirty="0">
                <a:solidFill>
                  <a:srgbClr val="28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Délai observations : 21 jours
</a:t>
            </a:r>
            <a:endParaRPr lang="en-US" sz="850" dirty="0"/>
          </a:p>
          <a:p>
            <a:pPr marL="0" indent="0">
              <a:buNone/>
            </a:pPr>
            <a:r>
              <a:rPr lang="en-US" sz="85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Sanctions :
</a:t>
            </a:r>
            <a:endParaRPr lang="en-US" sz="850" dirty="0"/>
          </a:p>
          <a:p>
            <a:pPr marL="0" indent="0">
              <a:buNone/>
            </a:pPr>
            <a:r>
              <a:rPr lang="en-US" sz="800" b="1" dirty="0">
                <a:solidFill>
                  <a:srgbClr val="C5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Avertissement</a:t>
            </a:r>
            <a:endParaRPr lang="en-US" sz="850" dirty="0"/>
          </a:p>
          <a:p>
            <a:pPr marL="0" indent="0">
              <a:buNone/>
            </a:pPr>
            <a:r>
              <a:rPr lang="en-US" sz="800" b="1" dirty="0">
                <a:solidFill>
                  <a:srgbClr val="C5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Déconventionnement (avec ou sans sursis, durée ≤ 5 ans)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4663440" y="1188720"/>
            <a:ext cx="402336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132588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212080" y="12801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5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Trousse de secours obligatoire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4892040" y="169164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1 boîte de compresses stériles 10×10 cm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4892040" y="1956816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1 pansement stérile absorbant « américain »</a:t>
            </a:r>
            <a:endParaRPr lang="en-US" sz="800" dirty="0"/>
          </a:p>
        </p:txBody>
      </p:sp>
      <p:sp>
        <p:nvSpPr>
          <p:cNvPr id="14" name="Text 10"/>
          <p:cNvSpPr/>
          <p:nvPr/>
        </p:nvSpPr>
        <p:spPr>
          <a:xfrm>
            <a:off x="4892040" y="222199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1 bande extensible 4m × 10 cm</a:t>
            </a:r>
            <a:endParaRPr lang="en-US" sz="800" dirty="0"/>
          </a:p>
        </p:txBody>
      </p:sp>
      <p:sp>
        <p:nvSpPr>
          <p:cNvPr id="15" name="Text 11"/>
          <p:cNvSpPr/>
          <p:nvPr/>
        </p:nvSpPr>
        <p:spPr>
          <a:xfrm>
            <a:off x="4892040" y="248716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1 solution antiseptique bactéricide non iodée</a:t>
            </a:r>
            <a:endParaRPr lang="en-US" sz="800" dirty="0"/>
          </a:p>
        </p:txBody>
      </p:sp>
      <p:sp>
        <p:nvSpPr>
          <p:cNvPr id="16" name="Text 12"/>
          <p:cNvSpPr/>
          <p:nvPr/>
        </p:nvSpPr>
        <p:spPr>
          <a:xfrm>
            <a:off x="4892040" y="275234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1 paire de ciseaux</a:t>
            </a:r>
            <a:endParaRPr lang="en-US" sz="800" dirty="0"/>
          </a:p>
        </p:txBody>
      </p:sp>
      <p:sp>
        <p:nvSpPr>
          <p:cNvPr id="17" name="Text 13"/>
          <p:cNvSpPr/>
          <p:nvPr/>
        </p:nvSpPr>
        <p:spPr>
          <a:xfrm>
            <a:off x="4892040" y="301752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2 clips de fixation pour bandes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4892040" y="3282696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1 paire de gants stériles</a:t>
            </a:r>
            <a:endParaRPr lang="en-US" sz="800" dirty="0"/>
          </a:p>
        </p:txBody>
      </p:sp>
      <p:sp>
        <p:nvSpPr>
          <p:cNvPr id="19" name="Text 15"/>
          <p:cNvSpPr/>
          <p:nvPr/>
        </p:nvSpPr>
        <p:spPr>
          <a:xfrm>
            <a:off x="4892040" y="354787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Sucre en morceaux</a:t>
            </a:r>
            <a:endParaRPr lang="en-US" sz="800" dirty="0"/>
          </a:p>
        </p:txBody>
      </p:sp>
      <p:sp>
        <p:nvSpPr>
          <p:cNvPr id="20" name="Text 16"/>
          <p:cNvSpPr/>
          <p:nvPr/>
        </p:nvSpPr>
        <p:spPr>
          <a:xfrm>
            <a:off x="4892040" y="381304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Sacs vomitifs</a:t>
            </a:r>
            <a:endParaRPr lang="en-US" sz="800" dirty="0"/>
          </a:p>
        </p:txBody>
      </p:sp>
      <p:sp>
        <p:nvSpPr>
          <p:cNvPr id="21" name="Text 17"/>
          <p:cNvSpPr/>
          <p:nvPr/>
        </p:nvSpPr>
        <p:spPr>
          <a:xfrm>
            <a:off x="4892040" y="407822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Couverture de survie</a:t>
            </a:r>
            <a:endParaRPr lang="en-US" sz="800" dirty="0"/>
          </a:p>
        </p:txBody>
      </p:sp>
      <p:sp>
        <p:nvSpPr>
          <p:cNvPr id="22" name="Shape 18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1E2A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3" name="Text 19"/>
          <p:cNvSpPr/>
          <p:nvPr/>
        </p:nvSpPr>
        <p:spPr>
          <a:xfrm>
            <a:off x="457200" y="48234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FTRANSPORT - SERVICES PRO  •  Formation certifiée Qualiopi  •  Éligible CPF  •  Lyon</a:t>
            </a:r>
            <a:endParaRPr lang="en-US" sz="700" dirty="0"/>
          </a:p>
        </p:txBody>
      </p:sp>
      <p:sp>
        <p:nvSpPr>
          <p:cNvPr id="24" name="Text 20"/>
          <p:cNvSpPr/>
          <p:nvPr/>
        </p:nvSpPr>
        <p:spPr>
          <a:xfrm>
            <a:off x="8229600" y="482346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283A5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SYNTHÈSE — PARTIE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Convention CPAM — Transport sanitaire taxi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457200" y="868680"/>
            <a:ext cx="402336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594360" y="914400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8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Conventionnement CPAM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94360" y="116128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documents obligatoires : convention signée, carte grise, carte pro, K-bis/D1, autorisation de stationnement (ADS), assurance, location-gérance, convention CPAM, contrats, URSSAF.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4754880" y="868680"/>
            <a:ext cx="402336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4892040" y="914400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8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Tarification jour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892040" y="116128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Forfait 28€ (13€ prise en charge + 15€ grande ville). 4 premiers km inclus. Au-delà : (km − 4) × 1,07€ + 28€. Km à partir du lieu de prise en charge.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402336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594360" y="1920240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8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Tarification nuit/dimanche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94360" y="216712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(28€ + km) × 1,5. Le tarif D (neige/verglas) ne s'applique PAS aux transports sanitaires.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4754880" y="1874520"/>
            <a:ext cx="402336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4892040" y="1920240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8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Abattements transport partagé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892040" y="216712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patients = 23%. 3 patients = 35%. 4+ patients = 37%. Longue distance (≥ 30 km seul) = 5% pour ce patient.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457200" y="2880360"/>
            <a:ext cx="402336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594360" y="2926080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8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Majorations hospitalisation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94360" y="317296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Retour à vide : +25% si &lt; 50 km en charge, +50% si ≥ 50 km. Hosp. complètes/partielles, chimio, radio, hémodialyse.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4754880" y="2880360"/>
            <a:ext cx="402336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4892040" y="2926080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8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Supplément PMR &amp; péages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892040" y="317296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PMR = 30€. Péages remboursés sur justificatifs. Relevés conservés 33 mois.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457200" y="3886200"/>
            <a:ext cx="402336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4" name="Text 22"/>
          <p:cNvSpPr/>
          <p:nvPr/>
        </p:nvSpPr>
        <p:spPr>
          <a:xfrm>
            <a:off x="594360" y="3931920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8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Accord préalable CPAM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94360" y="417880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Séries ≥ 4 transports &gt; 50 km aller sur 2 mois (même traitement). Distance &gt; 150 km aller. Signature patient obligatoire.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4754880" y="3886200"/>
            <a:ext cx="402336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7" name="Text 25"/>
          <p:cNvSpPr/>
          <p:nvPr/>
        </p:nvSpPr>
        <p:spPr>
          <a:xfrm>
            <a:off x="4892040" y="3931920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8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Sanctions &amp; Trousse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892040" y="417880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Suspension si conditions non remplies. 21 jours pour observations. Déconventionnement ≤ 5 ans. Trousse de secours : 10 éléments obligatoires.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1E2A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0" name="Text 28"/>
          <p:cNvSpPr/>
          <p:nvPr/>
        </p:nvSpPr>
        <p:spPr>
          <a:xfrm>
            <a:off x="457200" y="48234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FTRANSPORT - SERVICES PRO  •  Formation certifiée Qualiopi  •  Éligible CPF  •  Lyon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8229600" y="482346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A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I N   D E   L A   F O R M A T I O 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Réglementation Locale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Merci pour votre attention !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2651760"/>
            <a:ext cx="6400800" cy="27432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731520" y="288036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1</a:t>
            </a:r>
            <a:endParaRPr lang="en-US" sz="10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Conducteur · Contrôle annuel · Refus · Trajet · Stations · Véhicule · ZUPC · Tarification · Sanctions
</a:t>
            </a:r>
            <a:endParaRPr lang="en-US" sz="10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2</a:t>
            </a:r>
            <a:endParaRPr lang="en-US" sz="10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Affichette · Notes · IMC · ADS avant/après 2014 · Exploitation · Véhicule · Listes d'attente · Droits
</a:t>
            </a:r>
            <a:endParaRPr lang="en-US" sz="10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3</a:t>
            </a:r>
            <a:endParaRPr lang="en-US" sz="10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Convention CPAM · Tarification sanitaire · Abattements · Majorations · PMR · Trousse de secours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1520" y="45720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FTRANSPORT - SERVICES PRO  •  Formation certifiée Qualiopi  •  Éligible CPF  •  Lyon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1434</Words>
  <Application>Microsoft Office PowerPoint</Application>
  <PresentationFormat>Affichage à l'écran (16:9)</PresentationFormat>
  <Paragraphs>205</Paragraphs>
  <Slides>10</Slides>
  <Notes>10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14" baseType="lpstr">
      <vt:lpstr>Arial</vt:lpstr>
      <vt:lpstr>Calibri</vt:lpstr>
      <vt:lpstr>Georgia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Réglementation Locale - Partie 3</dc:title>
  <dc:subject>PptxGenJS Presentation</dc:subject>
  <dc:creator>FTRANSPORT - SERVICES PRO</dc:creator>
  <cp:lastModifiedBy>naoufal guenichi</cp:lastModifiedBy>
  <cp:revision>1</cp:revision>
  <dcterms:created xsi:type="dcterms:W3CDTF">2026-02-25T05:48:54Z</dcterms:created>
  <dcterms:modified xsi:type="dcterms:W3CDTF">2026-09-08T10:10:38Z</dcterms:modified>
</cp:coreProperties>
</file>