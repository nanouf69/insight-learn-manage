
<file path=[Content_Types].xml><?xml version="1.0" encoding="utf-8"?>
<Types xmlns="http://schemas.openxmlformats.org/package/2006/content-types">
  <Default Extension="jp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9" Type="http://schemas.openxmlformats.org/officeDocument/2006/relationships/slide" Target="slides/slide12.xml"/>
  <Relationship Id="rId20" Type="http://schemas.openxmlformats.org/officeDocument/2006/relationships/slide" Target="slides/slide13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ufal guenichi" userId="858fd4b3-0f44-4d07-ab42-9c2b2bf873b3" providerId="ADAL" clId="{5ADB1776-59AF-4A69-8422-CB66C8AF09C6}"/>
    <pc:docChg chg="delSld">
      <pc:chgData name="naoufal guenichi" userId="858fd4b3-0f44-4d07-ab42-9c2b2bf873b3" providerId="ADAL" clId="{5ADB1776-59AF-4A69-8422-CB66C8AF09C6}" dt="2026-03-08T13:26:38.001" v="1" actId="47"/>
      <pc:docMkLst>
        <pc:docMk/>
      </pc:docMkLst>
      <pc:sldChg chg="del">
        <pc:chgData name="naoufal guenichi" userId="858fd4b3-0f44-4d07-ab42-9c2b2bf873b3" providerId="ADAL" clId="{5ADB1776-59AF-4A69-8422-CB66C8AF09C6}" dt="2026-03-08T13:25:23.911" v="0" actId="47"/>
        <pc:sldMkLst>
          <pc:docMk/>
          <pc:sldMk cId="2010798271" sldId="262"/>
        </pc:sldMkLst>
      </pc:sldChg>
      <pc:sldChg chg="del">
        <pc:chgData name="naoufal guenichi" userId="858fd4b3-0f44-4d07-ab42-9c2b2bf873b3" providerId="ADAL" clId="{5ADB1776-59AF-4A69-8422-CB66C8AF09C6}" dt="2026-03-08T13:26:38.001" v="1" actId="47"/>
        <pc:sldMkLst>
          <pc:docMk/>
          <pc:sldMk cId="3620717505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FFA84-3672-4B53-95A9-C98B7A9DAD0A}" type="datetimeFigureOut">
              <a:rPr lang="fr-FR" smtClean="0"/>
              <a:t>08/03/2026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30E01-79F5-4E6F-8BFD-F15177C47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29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9A6D3A2-EB23-4CBC-B2A0-1B84CBD553A9}" type="datetime1">
              <a:rPr lang="fr-FR" smtClean="0"/>
              <a:t>08/03/2026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95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B4B95-23C1-49A5-A7E8-B184585E1D5C}" type="datetime1">
              <a:rPr lang="fr-FR" smtClean="0"/>
              <a:t>08/03/2026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97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2A48-88C5-4F18-B803-29CCFA355D3F}" type="datetime1">
              <a:rPr lang="fr-FR" smtClean="0"/>
              <a:t>08/03/2026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3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864D-660D-47E7-9415-2B71432CA90A}" type="datetime1">
              <a:rPr lang="fr-FR" smtClean="0"/>
              <a:t>08/03/2026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74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4E4EA-9C31-4D22-9102-18FD46F24817}" type="datetime1">
              <a:rPr lang="fr-FR" smtClean="0"/>
              <a:t>08/03/2026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294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E5FB-A6A8-44AF-8FF2-8986098BBC84}" type="datetime1">
              <a:rPr lang="fr-FR" smtClean="0"/>
              <a:t>08/03/2026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7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7AFE-A810-4EF8-A352-9A8BEE7D7C6B}" type="datetime1">
              <a:rPr lang="fr-FR" smtClean="0"/>
              <a:t>08/03/2026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14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BCD3-0836-4EA5-AA8C-6A460E2E7FDE}" type="datetime1">
              <a:rPr lang="fr-FR" smtClean="0"/>
              <a:t>08/03/2026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94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D1CD-74D8-46B3-861C-5C79BF4F04C5}" type="datetime1">
              <a:rPr lang="fr-FR" smtClean="0"/>
              <a:t>08/03/2026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56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3546-32CA-4AB3-92BE-4C1AB26D7D2F}" type="datetime1">
              <a:rPr lang="fr-FR" smtClean="0"/>
              <a:t>08/03/2026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021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B322-E429-4DBB-BAFF-28CEA4493DED}" type="datetime1">
              <a:rPr lang="fr-FR" smtClean="0"/>
              <a:t>08/03/2026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081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51E2-CA85-4A04-8536-CA0CD75801BD}" type="datetime1">
              <a:rPr lang="fr-FR" smtClean="0"/>
              <a:t>08/03/2026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9195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1AEA-4436-4690-AA99-3E11269AE47C}" type="datetime1">
              <a:rPr lang="fr-FR" smtClean="0"/>
              <a:t>08/03/2026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141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127C-492D-4E82-A058-CA966222CD22}" type="datetime1">
              <a:rPr lang="fr-FR" smtClean="0"/>
              <a:t>08/03/2026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9644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BCEF-F7F7-4FF5-AB91-FF666455126F}" type="datetime1">
              <a:rPr lang="fr-FR" smtClean="0"/>
              <a:t>08/03/2026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919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39826E6-D234-4F29-A052-4039A48B7654}" type="datetime1">
              <a:rPr lang="fr-FR" smtClean="0"/>
              <a:t>08/03/2026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249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A3D233C-DCA0-49D8-A71C-C0FAF65FBD4E}" type="datetime1">
              <a:rPr lang="fr-FR" smtClean="0"/>
              <a:t>08/03/2026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62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9D19511-9018-4832-998E-43D3CD4F90EA}" type="datetime1">
              <a:rPr lang="fr-FR" smtClean="0"/>
              <a:t>08/03/2026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F4AF8DF-468F-4FCB-9A0E-4B1B4E42B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86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Retro" Type="http://schemas.openxmlformats.org/officeDocument/2006/relationships/image" Target="../media/taximetre_retro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plaque_ads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DC3DC-6984-41EA-BD1B-63A988BB23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Equipements et documents TAXI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1AF19D-D2F2-A9B7-F81B-AE1922E6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221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737EE-35A3-496E-8B04-DC8A2E652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</a:rPr>
              <a:t>T</a:t>
            </a:r>
            <a:r>
              <a:rPr lang="fr-FR" dirty="0">
                <a:effectLst/>
                <a:latin typeface="Arial" panose="020B0604020202020204" pitchFamily="34" charset="0"/>
              </a:rPr>
              <a:t>aximètre homologué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77FE7D2-BFAC-4AEB-8EF0-99F31A660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879" y="2286000"/>
            <a:ext cx="3924802" cy="1463040"/>
          </a:xfr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AD6B8DE-1469-FD7F-12DB-2EA9C3832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2</a:t>
            </a:fld>
            <a:endParaRPr lang="fr-FR"/>
          </a:p>
        </p:txBody>
      </p:sp>
      <p:sp>
        <p:nvSpPr>
          <p:cNvPr id="5001" name="Bloc 5001"/>
          <p:cNvSpPr txBox="1"/>
          <p:nvPr/>
        </p:nvSpPr>
        <p:spPr>
          <a:xfrm>
            <a:off x="457200" y="2194560"/>
            <a:ext cx="6400800" cy="936842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Compteur horokilométrique homologué : il calcule le prix (prise en charge, km, temps d'attente) et affiche la lettre du tarif en cours (A, B, C, D). Scellé et vérifié chaque année.</a:t>
            </a:r>
          </a:p>
        </p:txBody>
      </p:sp>
      <p:sp>
        <p:nvSpPr>
          <p:cNvPr id="5002" name="Barre 5002"/>
          <p:cNvSpPr/>
          <p:nvPr/>
        </p:nvSpPr>
        <p:spPr>
          <a:xfrm>
            <a:off x="457200" y="2194560"/>
            <a:ext cx="45720" cy="936842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03" name="Bloc 5003"/>
          <p:cNvSpPr txBox="1"/>
          <p:nvPr/>
        </p:nvSpPr>
        <p:spPr>
          <a:xfrm>
            <a:off x="457200" y="3204554"/>
            <a:ext cx="6400800" cy="884795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À l'avant, dans l'habitacle : boîtier sur le tableau de bord (modèle 1) OU intégré au rétroviseur intérieur (modèle 2). Toujours lisible par le client depuis sa place.</a:t>
            </a:r>
          </a:p>
        </p:txBody>
      </p:sp>
      <p:sp>
        <p:nvSpPr>
          <p:cNvPr id="5004" name="Barre 5004"/>
          <p:cNvSpPr/>
          <p:nvPr/>
        </p:nvSpPr>
        <p:spPr>
          <a:xfrm>
            <a:off x="457200" y="3204554"/>
            <a:ext cx="45720" cy="884795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05" name="Bloc 5005"/>
          <p:cNvSpPr txBox="1"/>
          <p:nvPr/>
        </p:nvSpPr>
        <p:spPr>
          <a:xfrm>
            <a:off x="457200" y="4162501"/>
            <a:ext cx="6400800" cy="994093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Code des transports : art. L3121-1 (définition du taxi) et R3121-1 (équipements spéciaux) · Arrêté préfectoral du Rhône (art. 2.1).</a:t>
            </a:r>
          </a:p>
        </p:txBody>
      </p:sp>
      <p:sp>
        <p:nvSpPr>
          <p:cNvPr id="5006" name="Barre 5006"/>
          <p:cNvSpPr/>
          <p:nvPr/>
        </p:nvSpPr>
        <p:spPr>
          <a:xfrm>
            <a:off x="457200" y="4162501"/>
            <a:ext cx="45720" cy="994093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07" name="Bloc 5007"/>
          <p:cNvSpPr txBox="1"/>
          <p:nvPr/>
        </p:nvSpPr>
        <p:spPr>
          <a:xfrm>
            <a:off x="457200" y="5229746"/>
            <a:ext cx="6400800" cy="1171052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b="1" lang="fr-FR" sz="1300" dirty="0">
                <a:solidFill>
                  <a:srgbClr val="E00000"/>
                </a:solidFill>
              </a:rPr>
              <a:t>Sanction administrative : avertissement, retrait temporaire ou définitif de l'ADS (art. L3124-1)</a:t>
            </a:r>
            <a:r>
              <a:rPr lang="fr-FR" sz="1300" dirty="0">
                <a:solidFill>
                  <a:srgbClr val="1C1C1C"/>
                </a:solidFill>
              </a:rPr>
              <a:t>. Tarifs non respectés : contravention de 5e classe, </a:t>
            </a:r>
            <a:r>
              <a:rPr lang="fr-FR" sz="1300" b="1" dirty="0">
                <a:solidFill>
                  <a:srgbClr val="E00000"/>
                </a:solidFill>
              </a:rPr>
              <a:t>jusqu'à 1 500 €</a:t>
            </a:r>
            <a:r>
              <a:rPr lang="fr-FR" sz="1300" dirty="0">
                <a:solidFill>
                  <a:srgbClr val="1C1C1C"/>
                </a:solidFill>
              </a:rPr>
              <a:t>.</a:t>
            </a:r>
          </a:p>
        </p:txBody>
      </p:sp>
      <p:sp>
        <p:nvSpPr>
          <p:cNvPr id="5008" name="Barre 5008"/>
          <p:cNvSpPr/>
          <p:nvPr/>
        </p:nvSpPr>
        <p:spPr>
          <a:xfrm>
            <a:off x="457200" y="5229746"/>
            <a:ext cx="45720" cy="1171052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pic>
        <p:nvPicPr>
          <p:cNvPr id="9001" name="Taximetre retroviseur" descr="Taximètre intégré au rétroviseur intérieur, affichage LIBRE"/>
          <p:cNvPicPr>
            <a:picLocks noChangeAspect="1"/>
          </p:cNvPicPr>
          <p:nvPr/>
        </p:nvPicPr>
        <p:blipFill>
          <a:blip r:embed="rIdRetro"/>
          <a:stretch>
            <a:fillRect/>
          </a:stretch>
        </p:blipFill>
        <p:spPr>
          <a:xfrm>
            <a:off x="7193280" y="4114800"/>
            <a:ext cx="4572000" cy="1234440"/>
          </a:xfrm>
          <a:prstGeom prst="rect">
            <a:avLst/>
          </a:prstGeom>
        </p:spPr>
      </p:pic>
      <p:sp>
        <p:nvSpPr>
          <p:cNvPr id="9001" name="Legende 9001"/>
          <p:cNvSpPr txBox="1"/>
          <p:nvPr/>
        </p:nvSpPr>
        <p:spPr>
          <a:xfrm>
            <a:off x="7193280" y="37764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3B3059"/>
                </a:solidFill>
              </a:rPr>
              <a:t>Modèle 1 : boîtier sur le tableau de bord</a:t>
            </a:r>
          </a:p>
        </p:txBody>
      </p:sp>
      <p:sp>
        <p:nvSpPr>
          <p:cNvPr id="9002" name="Legende 9002"/>
          <p:cNvSpPr txBox="1"/>
          <p:nvPr/>
        </p:nvSpPr>
        <p:spPr>
          <a:xfrm>
            <a:off x="7193280" y="5376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3B3059"/>
                </a:solidFill>
              </a:rPr>
              <a:t>Modèle 2 : taximètre intégré au rétroviseur intérieur</a:t>
            </a:r>
          </a:p>
        </p:txBody>
      </p:sp>
    </p:spTree>
    <p:extLst>
      <p:ext uri="{BB962C8B-B14F-4D97-AF65-F5344CB8AC3E}">
        <p14:creationId xmlns:p14="http://schemas.microsoft.com/office/powerpoint/2010/main" val="304319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3B8128-F523-474C-BA2A-004EC0EC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</a:rPr>
              <a:t>L</a:t>
            </a:r>
            <a:r>
              <a:rPr lang="fr-FR" dirty="0">
                <a:effectLst/>
                <a:latin typeface="Arial" panose="020B0604020202020204" pitchFamily="34" charset="0"/>
              </a:rPr>
              <a:t>umineux homologué avec l'indication de la commune de rattachement</a:t>
            </a:r>
            <a:endParaRPr lang="fr-FR" dirty="0"/>
          </a:p>
        </p:txBody>
      </p:sp>
      <p:pic>
        <p:nvPicPr>
          <p:cNvPr id="6" name="Image 5" descr="Une image contenant texte, orange&#10;&#10;Description générée automatiquement">
            <a:extLst>
              <a:ext uri="{FF2B5EF4-FFF2-40B4-BE49-F238E27FC236}">
                <a16:creationId xmlns:a16="http://schemas.microsoft.com/office/drawing/2014/main" id="{C0ECA264-E570-4ADB-A12C-3AAAD9DA0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80" y="2240280"/>
            <a:ext cx="4572000" cy="4114800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D06F38-5CC3-3350-8179-1F2FC33B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3</a:t>
            </a:fld>
            <a:endParaRPr lang="fr-FR"/>
          </a:p>
        </p:txBody>
      </p:sp>
      <p:sp>
        <p:nvSpPr>
          <p:cNvPr id="5009" name="Bloc 5009"/>
          <p:cNvSpPr txBox="1"/>
          <p:nvPr/>
        </p:nvSpPr>
        <p:spPr>
          <a:xfrm>
            <a:off x="457200" y="2194560"/>
            <a:ext cx="6400800" cy="536234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Dispositif lumineux « TAXI » homologué, relié au taximètre, avec la commune de rattachement.</a:t>
            </a:r>
          </a:p>
        </p:txBody>
      </p:sp>
      <p:sp>
        <p:nvSpPr>
          <p:cNvPr id="5010" name="Barre 5010"/>
          <p:cNvSpPr/>
          <p:nvPr/>
        </p:nvSpPr>
        <p:spPr>
          <a:xfrm>
            <a:off x="457200" y="2194560"/>
            <a:ext cx="45720" cy="536234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11" name="Bloc 5011"/>
          <p:cNvSpPr txBox="1"/>
          <p:nvPr/>
        </p:nvSpPr>
        <p:spPr>
          <a:xfrm>
            <a:off x="457200" y="2803946"/>
            <a:ext cx="6400800" cy="1381385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Sur le toit, à l'extérieur. Vert = taxi libre · Rouge = en charge ou réservé · Lettres A/B/C/D = tarif en cours. Couvert (bâché) quand le taxi n'est pas en service (ex. : LOTI).</a:t>
            </a:r>
          </a:p>
        </p:txBody>
      </p:sp>
      <p:sp>
        <p:nvSpPr>
          <p:cNvPr id="5012" name="Barre 5012"/>
          <p:cNvSpPr/>
          <p:nvPr/>
        </p:nvSpPr>
        <p:spPr>
          <a:xfrm>
            <a:off x="457200" y="2803946"/>
            <a:ext cx="45720" cy="1381385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13" name="Bloc 5013"/>
          <p:cNvSpPr txBox="1"/>
          <p:nvPr/>
        </p:nvSpPr>
        <p:spPr>
          <a:xfrm>
            <a:off x="457200" y="4258483"/>
            <a:ext cx="6400800" cy="792693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Code des transports : art. R3121-1 · Arrêté préfectoral du Rhône (art. 2.1).</a:t>
            </a:r>
          </a:p>
        </p:txBody>
      </p:sp>
      <p:sp>
        <p:nvSpPr>
          <p:cNvPr id="5014" name="Barre 5014"/>
          <p:cNvSpPr/>
          <p:nvPr/>
        </p:nvSpPr>
        <p:spPr>
          <a:xfrm>
            <a:off x="457200" y="4258483"/>
            <a:ext cx="45720" cy="792693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15" name="Bloc 5015"/>
          <p:cNvSpPr txBox="1"/>
          <p:nvPr/>
        </p:nvSpPr>
        <p:spPr>
          <a:xfrm>
            <a:off x="457200" y="5124328"/>
            <a:ext cx="6400800" cy="127647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b="1" lang="fr-FR" sz="1300" dirty="0">
                <a:solidFill>
                  <a:srgbClr val="E00000"/>
                </a:solidFill>
              </a:rPr>
              <a:t>Sanction administrative : avertissement, retrait temporaire ou définitif de l'ADS (art. L3124-1)</a:t>
            </a:r>
            <a:r>
              <a:rPr lang="fr-FR" sz="1300" dirty="0">
                <a:solidFill>
                  <a:srgbClr val="1C1C1C"/>
                </a:solidFill>
              </a:rPr>
              <a:t>. Sans lumineux, le véhicule n'est pas identifiable comme taxi.</a:t>
            </a:r>
          </a:p>
        </p:txBody>
      </p:sp>
      <p:sp>
        <p:nvSpPr>
          <p:cNvPr id="5016" name="Barre 5016"/>
          <p:cNvSpPr/>
          <p:nvPr/>
        </p:nvSpPr>
        <p:spPr>
          <a:xfrm>
            <a:off x="457200" y="5124328"/>
            <a:ext cx="45720" cy="1276470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601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AC063-476D-4760-828D-C17D8A36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</a:rPr>
              <a:t>I</a:t>
            </a:r>
            <a:r>
              <a:rPr lang="fr-FR" dirty="0">
                <a:effectLst/>
                <a:latin typeface="Arial" panose="020B0604020202020204" pitchFamily="34" charset="0"/>
              </a:rPr>
              <a:t>mprimante</a:t>
            </a:r>
            <a:endParaRPr lang="fr-FR" dirty="0"/>
          </a:p>
        </p:txBody>
      </p:sp>
      <p:pic>
        <p:nvPicPr>
          <p:cNvPr id="5" name="Image 4" descr="Une image contenant intérieur&#10;&#10;Description générée automatiquement">
            <a:extLst>
              <a:ext uri="{FF2B5EF4-FFF2-40B4-BE49-F238E27FC236}">
                <a16:creationId xmlns:a16="http://schemas.microsoft.com/office/drawing/2014/main" id="{9576314D-FE5C-4989-B8CD-04F4B3826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80" y="2439653"/>
            <a:ext cx="4572000" cy="3716054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C67C9FB-2AE4-CFA9-30B7-CD43C3CC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4</a:t>
            </a:fld>
            <a:endParaRPr lang="fr-FR"/>
          </a:p>
        </p:txBody>
      </p:sp>
      <p:sp>
        <p:nvSpPr>
          <p:cNvPr id="5017" name="Bloc 5017"/>
          <p:cNvSpPr txBox="1"/>
          <p:nvPr/>
        </p:nvSpPr>
        <p:spPr>
          <a:xfrm>
            <a:off x="457200" y="2194560"/>
            <a:ext cx="6400800" cy="562840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Imprimante reliée au taximètre, en état de fonctionnement : elle édite la note remise au client.</a:t>
            </a:r>
          </a:p>
        </p:txBody>
      </p:sp>
      <p:sp>
        <p:nvSpPr>
          <p:cNvPr id="5018" name="Barre 5018"/>
          <p:cNvSpPr/>
          <p:nvPr/>
        </p:nvSpPr>
        <p:spPr>
          <a:xfrm>
            <a:off x="457200" y="2194560"/>
            <a:ext cx="45720" cy="562840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19" name="Bloc 5019"/>
          <p:cNvSpPr txBox="1"/>
          <p:nvPr/>
        </p:nvSpPr>
        <p:spPr>
          <a:xfrm>
            <a:off x="457200" y="2830552"/>
            <a:ext cx="6400800" cy="92634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Dans l'habitacle, à l'avant, connectée au taximètre (souvent intégrée ou sous le tableau de bord).</a:t>
            </a:r>
          </a:p>
        </p:txBody>
      </p:sp>
      <p:sp>
        <p:nvSpPr>
          <p:cNvPr id="5020" name="Barre 5020"/>
          <p:cNvSpPr/>
          <p:nvPr/>
        </p:nvSpPr>
        <p:spPr>
          <a:xfrm>
            <a:off x="457200" y="2830552"/>
            <a:ext cx="45720" cy="9263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21" name="Bloc 5021"/>
          <p:cNvSpPr txBox="1"/>
          <p:nvPr/>
        </p:nvSpPr>
        <p:spPr>
          <a:xfrm>
            <a:off x="457200" y="3830044"/>
            <a:ext cx="6400800" cy="1137406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Arrêté ministériel du 6 novembre 2015 (information du consommateur sur les tarifs des taxis) · Arrêté préfectoral du Rhône (art. 2.2).</a:t>
            </a:r>
          </a:p>
        </p:txBody>
      </p:sp>
      <p:sp>
        <p:nvSpPr>
          <p:cNvPr id="5022" name="Barre 5022"/>
          <p:cNvSpPr/>
          <p:nvPr/>
        </p:nvSpPr>
        <p:spPr>
          <a:xfrm>
            <a:off x="457200" y="3830044"/>
            <a:ext cx="45720" cy="1137406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23" name="Bloc 5023"/>
          <p:cNvSpPr txBox="1"/>
          <p:nvPr/>
        </p:nvSpPr>
        <p:spPr>
          <a:xfrm>
            <a:off x="457200" y="5040602"/>
            <a:ext cx="6400800" cy="1360196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Absence d'imprimante (ou imprimante hors service) : contravention de 3e classe — </a:t>
            </a:r>
            <a:r>
              <a:rPr lang="fr-FR" sz="1300" b="1" dirty="0">
                <a:solidFill>
                  <a:srgbClr val="E00000"/>
                </a:solidFill>
              </a:rPr>
              <a:t>68 € (amende forfaitaire)</a:t>
            </a:r>
            <a:r>
              <a:rPr lang="fr-FR" sz="1300" dirty="0">
                <a:solidFill>
                  <a:srgbClr val="1C1C1C"/>
                </a:solidFill>
              </a:rPr>
              <a:t>, </a:t>
            </a:r>
            <a:r>
              <a:rPr lang="fr-FR" sz="1300" b="1" dirty="0">
                <a:solidFill>
                  <a:srgbClr val="E00000"/>
                </a:solidFill>
              </a:rPr>
              <a:t>jusqu'à 450 €</a:t>
            </a:r>
            <a:r>
              <a:rPr lang="fr-FR" sz="1300" dirty="0">
                <a:solidFill>
                  <a:srgbClr val="1C1C1C"/>
                </a:solidFill>
              </a:rPr>
              <a:t>. </a:t>
            </a:r>
            <a:r>
              <a:rPr b="1" lang="fr-FR" sz="1300" dirty="0">
                <a:solidFill>
                  <a:srgbClr val="E00000"/>
                </a:solidFill>
              </a:rPr>
              <a:t>+ sanction administrative possible sur l'ADS (art. L3124-1)</a:t>
            </a:r>
            <a:r>
              <a:rPr lang="fr-FR" sz="1300" dirty="0">
                <a:solidFill>
                  <a:srgbClr val="1C1C1C"/>
                </a:solidFill>
              </a:rPr>
              <a:t>.</a:t>
            </a:r>
          </a:p>
        </p:txBody>
      </p:sp>
      <p:sp>
        <p:nvSpPr>
          <p:cNvPr id="5024" name="Barre 5024"/>
          <p:cNvSpPr/>
          <p:nvPr/>
        </p:nvSpPr>
        <p:spPr>
          <a:xfrm>
            <a:off x="457200" y="5040602"/>
            <a:ext cx="45720" cy="1360196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562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4481E-C8C4-4C90-AEF5-2B2744B97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effectLst/>
                <a:latin typeface="Arial" panose="020B0604020202020204" pitchFamily="34" charset="0"/>
              </a:rPr>
              <a:t>Terminal de Paiement électronique (TPE)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12F987-B8B0-47EC-9A46-BCE84943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299" y="2194560"/>
            <a:ext cx="2595962" cy="4206240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25FC712-96A9-2784-C778-65C5781F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5</a:t>
            </a:fld>
            <a:endParaRPr lang="fr-FR"/>
          </a:p>
        </p:txBody>
      </p:sp>
      <p:sp>
        <p:nvSpPr>
          <p:cNvPr id="5025" name="Bloc 5025"/>
          <p:cNvSpPr txBox="1"/>
          <p:nvPr/>
        </p:nvSpPr>
        <p:spPr>
          <a:xfrm>
            <a:off x="457200" y="2194560"/>
            <a:ext cx="6400800" cy="672258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Terminal de paiement électronique (TPE) : le paiement par carte bancaire est OBLIGATOIRE, quel que soit le montant.</a:t>
            </a:r>
          </a:p>
        </p:txBody>
      </p:sp>
      <p:sp>
        <p:nvSpPr>
          <p:cNvPr id="5026" name="Barre 5026"/>
          <p:cNvSpPr/>
          <p:nvPr/>
        </p:nvSpPr>
        <p:spPr>
          <a:xfrm>
            <a:off x="457200" y="2194560"/>
            <a:ext cx="45720" cy="672258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27" name="Bloc 5027"/>
          <p:cNvSpPr txBox="1"/>
          <p:nvPr/>
        </p:nvSpPr>
        <p:spPr>
          <a:xfrm>
            <a:off x="457200" y="2939970"/>
            <a:ext cx="6400800" cy="935315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Dans l'habitacle, visible et à la disposition du client, en état de fonctionnement. Logo CB visible.</a:t>
            </a:r>
          </a:p>
        </p:txBody>
      </p:sp>
      <p:sp>
        <p:nvSpPr>
          <p:cNvPr id="5028" name="Barre 5028"/>
          <p:cNvSpPr/>
          <p:nvPr/>
        </p:nvSpPr>
        <p:spPr>
          <a:xfrm>
            <a:off x="457200" y="2939970"/>
            <a:ext cx="45720" cy="935315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29" name="Bloc 5029"/>
          <p:cNvSpPr txBox="1"/>
          <p:nvPr/>
        </p:nvSpPr>
        <p:spPr>
          <a:xfrm>
            <a:off x="457200" y="3948437"/>
            <a:ext cx="6400800" cy="1157453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Code des transports : art. L3121-1 (le taxi est « muni d'un terminal de paiement électronique ») · Arrêté préfectoral du Rhône (art. 2.2).</a:t>
            </a:r>
          </a:p>
        </p:txBody>
      </p:sp>
      <p:sp>
        <p:nvSpPr>
          <p:cNvPr id="5030" name="Barre 5030"/>
          <p:cNvSpPr/>
          <p:nvPr/>
        </p:nvSpPr>
        <p:spPr>
          <a:xfrm>
            <a:off x="457200" y="3948437"/>
            <a:ext cx="45720" cy="1157453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31" name="Bloc 5031"/>
          <p:cNvSpPr txBox="1"/>
          <p:nvPr/>
        </p:nvSpPr>
        <p:spPr>
          <a:xfrm>
            <a:off x="457200" y="5179042"/>
            <a:ext cx="6400800" cy="1221756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Absence de TPE (ou TPE hors service / non visible) : contravention de 3e classe — </a:t>
            </a:r>
            <a:r>
              <a:rPr lang="fr-FR" sz="1300" b="1" dirty="0">
                <a:solidFill>
                  <a:srgbClr val="E00000"/>
                </a:solidFill>
              </a:rPr>
              <a:t>68 € (amende forfaitaire)</a:t>
            </a:r>
            <a:r>
              <a:rPr lang="fr-FR" sz="1300" dirty="0">
                <a:solidFill>
                  <a:srgbClr val="1C1C1C"/>
                </a:solidFill>
              </a:rPr>
              <a:t>, </a:t>
            </a:r>
            <a:r>
              <a:rPr lang="fr-FR" sz="1300" b="1" dirty="0">
                <a:solidFill>
                  <a:srgbClr val="E00000"/>
                </a:solidFill>
              </a:rPr>
              <a:t>jusqu'à 450 €</a:t>
            </a:r>
            <a:r>
              <a:rPr lang="fr-FR" sz="1300" dirty="0">
                <a:solidFill>
                  <a:srgbClr val="1C1C1C"/>
                </a:solidFill>
              </a:rPr>
              <a:t>. </a:t>
            </a:r>
            <a:r>
              <a:rPr b="1" lang="fr-FR" sz="1300" dirty="0">
                <a:solidFill>
                  <a:srgbClr val="E00000"/>
                </a:solidFill>
              </a:rPr>
              <a:t>+ sanction administrative possible sur l'ADS (art. L3124-1)</a:t>
            </a:r>
            <a:r>
              <a:rPr lang="fr-FR" sz="1300" dirty="0">
                <a:solidFill>
                  <a:srgbClr val="1C1C1C"/>
                </a:solidFill>
              </a:rPr>
              <a:t>.</a:t>
            </a:r>
          </a:p>
        </p:txBody>
      </p:sp>
      <p:sp>
        <p:nvSpPr>
          <p:cNvPr id="5032" name="Barre 5032"/>
          <p:cNvSpPr/>
          <p:nvPr/>
        </p:nvSpPr>
        <p:spPr>
          <a:xfrm>
            <a:off x="457200" y="5179042"/>
            <a:ext cx="45720" cy="1221756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366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03F10-E0A6-4BAC-9762-C27113C4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effectLst/>
                <a:latin typeface="Arial" panose="020B0604020202020204" pitchFamily="34" charset="0"/>
              </a:rPr>
              <a:t>Affichage des tarifs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0F81C81-22C2-4D83-A7D6-AAB0BE0ED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80" y="2502131"/>
            <a:ext cx="4572000" cy="3591097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DD51F0D-36F4-FC84-FB34-C807E3E80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6</a:t>
            </a:fld>
            <a:endParaRPr lang="fr-FR"/>
          </a:p>
        </p:txBody>
      </p:sp>
      <p:sp>
        <p:nvSpPr>
          <p:cNvPr id="5033" name="Bloc 5033"/>
          <p:cNvSpPr txBox="1"/>
          <p:nvPr/>
        </p:nvSpPr>
        <p:spPr>
          <a:xfrm>
            <a:off x="457200" y="2194560"/>
            <a:ext cx="6400800" cy="692022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Tarifs fixés par l'arrêté préfectoral du Rhône en vigueur, avec le numéro et la commune de rattachement de l'ADS.</a:t>
            </a:r>
          </a:p>
        </p:txBody>
      </p:sp>
      <p:sp>
        <p:nvSpPr>
          <p:cNvPr id="5034" name="Barre 5034"/>
          <p:cNvSpPr/>
          <p:nvPr/>
        </p:nvSpPr>
        <p:spPr>
          <a:xfrm>
            <a:off x="457200" y="2194560"/>
            <a:ext cx="45720" cy="692022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35" name="Bloc 5035"/>
          <p:cNvSpPr txBox="1"/>
          <p:nvPr/>
        </p:nvSpPr>
        <p:spPr>
          <a:xfrm>
            <a:off x="457200" y="2959734"/>
            <a:ext cx="6400800" cy="936986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Dans l'habitacle, affichés de façon lisible et constamment visible pour le client transporté.</a:t>
            </a:r>
          </a:p>
        </p:txBody>
      </p:sp>
      <p:sp>
        <p:nvSpPr>
          <p:cNvPr id="5036" name="Barre 5036"/>
          <p:cNvSpPr/>
          <p:nvPr/>
        </p:nvSpPr>
        <p:spPr>
          <a:xfrm>
            <a:off x="457200" y="2959734"/>
            <a:ext cx="45720" cy="936986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37" name="Bloc 5037"/>
          <p:cNvSpPr txBox="1"/>
          <p:nvPr/>
        </p:nvSpPr>
        <p:spPr>
          <a:xfrm>
            <a:off x="457200" y="3969872"/>
            <a:ext cx="6400800" cy="1120708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Arrêté ministériel du 6 novembre 2015 · Arrêté métropolitain du 27/11/2024 (art. 7) · Arrêté préfectoral du Rhône (art. 9).</a:t>
            </a:r>
          </a:p>
        </p:txBody>
      </p:sp>
      <p:sp>
        <p:nvSpPr>
          <p:cNvPr id="5038" name="Barre 5038"/>
          <p:cNvSpPr/>
          <p:nvPr/>
        </p:nvSpPr>
        <p:spPr>
          <a:xfrm>
            <a:off x="457200" y="3969872"/>
            <a:ext cx="45720" cy="1120708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39" name="Bloc 5039"/>
          <p:cNvSpPr txBox="1"/>
          <p:nvPr/>
        </p:nvSpPr>
        <p:spPr>
          <a:xfrm>
            <a:off x="457200" y="5163732"/>
            <a:ext cx="6400800" cy="1237066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Défaut d'affichage des tarifs : manquement à l'information du consommateur (code de la consommation) — montant à vérifier auprès de la DDPP. </a:t>
            </a:r>
            <a:r>
              <a:rPr b="1" lang="fr-FR" sz="1300" dirty="0">
                <a:solidFill>
                  <a:srgbClr val="E00000"/>
                </a:solidFill>
              </a:rPr>
              <a:t>+ sanction administrative possible sur l'ADS (art. L3124-1)</a:t>
            </a:r>
            <a:r>
              <a:rPr lang="fr-FR" sz="1300" dirty="0">
                <a:solidFill>
                  <a:srgbClr val="1C1C1C"/>
                </a:solidFill>
              </a:rPr>
              <a:t>.</a:t>
            </a:r>
          </a:p>
        </p:txBody>
      </p:sp>
      <p:sp>
        <p:nvSpPr>
          <p:cNvPr id="5040" name="Barre 5040"/>
          <p:cNvSpPr/>
          <p:nvPr/>
        </p:nvSpPr>
        <p:spPr>
          <a:xfrm>
            <a:off x="457200" y="5163732"/>
            <a:ext cx="45720" cy="1237066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667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C5896D-AD09-496C-BE25-C8CACA70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479" y="1030818"/>
            <a:ext cx="8761413" cy="706964"/>
          </a:xfrm>
        </p:spPr>
        <p:txBody>
          <a:bodyPr>
            <a:normAutofit/>
          </a:bodyPr>
          <a:lstStyle/>
          <a:p>
            <a:r>
              <a:rPr lang="fr-FR" dirty="0">
                <a:effectLst/>
                <a:latin typeface="Arial" panose="020B0604020202020204" pitchFamily="34" charset="0"/>
              </a:rPr>
              <a:t>Trousse de soins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0AC7FA0-6656-4B45-9C56-5F89E315A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4651" y="2194560"/>
            <a:ext cx="4289257" cy="4206240"/>
          </a:xfr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3E878AB-8B25-F341-9ACC-B4AAB3AD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7</a:t>
            </a:fld>
            <a:endParaRPr lang="fr-FR"/>
          </a:p>
        </p:txBody>
      </p:sp>
      <p:sp>
        <p:nvSpPr>
          <p:cNvPr id="5041" name="Bloc 5041"/>
          <p:cNvSpPr txBox="1"/>
          <p:nvPr/>
        </p:nvSpPr>
        <p:spPr>
          <a:xfrm>
            <a:off x="457200" y="2194560"/>
            <a:ext cx="6400800" cy="988292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Trousse de soins obligatoire pour les taxis conventionnés CPAM (compresses, pansement, bande, antiseptique, ciseaux, gants, couverture de survie…).</a:t>
            </a:r>
          </a:p>
        </p:txBody>
      </p:sp>
      <p:sp>
        <p:nvSpPr>
          <p:cNvPr id="5042" name="Barre 5042"/>
          <p:cNvSpPr/>
          <p:nvPr/>
        </p:nvSpPr>
        <p:spPr>
          <a:xfrm>
            <a:off x="457200" y="2194560"/>
            <a:ext cx="45720" cy="988292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43" name="Bloc 5043"/>
          <p:cNvSpPr txBox="1"/>
          <p:nvPr/>
        </p:nvSpPr>
        <p:spPr>
          <a:xfrm>
            <a:off x="457200" y="3256004"/>
            <a:ext cx="6400800" cy="833661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À bord du véhicule, facilement accessible (coffre ou habitacle).</a:t>
            </a:r>
          </a:p>
        </p:txBody>
      </p:sp>
      <p:sp>
        <p:nvSpPr>
          <p:cNvPr id="5044" name="Barre 5044"/>
          <p:cNvSpPr/>
          <p:nvPr/>
        </p:nvSpPr>
        <p:spPr>
          <a:xfrm>
            <a:off x="457200" y="3256004"/>
            <a:ext cx="45720" cy="833661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45" name="Bloc 5045"/>
          <p:cNvSpPr txBox="1"/>
          <p:nvPr/>
        </p:nvSpPr>
        <p:spPr>
          <a:xfrm>
            <a:off x="457200" y="4162817"/>
            <a:ext cx="6400800" cy="1021907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Convention-type taxis – CPAM (arrêté du 29/07/2025) · Convention locale de la CPAM du Rhône.</a:t>
            </a:r>
          </a:p>
        </p:txBody>
      </p:sp>
      <p:sp>
        <p:nvSpPr>
          <p:cNvPr id="5046" name="Barre 5046"/>
          <p:cNvSpPr/>
          <p:nvPr/>
        </p:nvSpPr>
        <p:spPr>
          <a:xfrm>
            <a:off x="457200" y="4162817"/>
            <a:ext cx="45720" cy="1021907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47" name="Bloc 5047"/>
          <p:cNvSpPr txBox="1"/>
          <p:nvPr/>
        </p:nvSpPr>
        <p:spPr>
          <a:xfrm>
            <a:off x="457200" y="5257876"/>
            <a:ext cx="6400800" cy="1142922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Manquement aux engagements de la convention : </a:t>
            </a:r>
            <a:r>
              <a:rPr b="1" lang="fr-FR" sz="1300" dirty="0">
                <a:solidFill>
                  <a:srgbClr val="E00000"/>
                </a:solidFill>
              </a:rPr>
              <a:t>avertissement, suspension ou déconventionnement (jusqu'à 5 ans)</a:t>
            </a:r>
            <a:r>
              <a:rPr lang="fr-FR" sz="1300" dirty="0">
                <a:solidFill>
                  <a:srgbClr val="1C1C1C"/>
                </a:solidFill>
              </a:rPr>
              <a:t>.</a:t>
            </a:r>
          </a:p>
        </p:txBody>
      </p:sp>
      <p:sp>
        <p:nvSpPr>
          <p:cNvPr id="5048" name="Barre 5048"/>
          <p:cNvSpPr/>
          <p:nvPr/>
        </p:nvSpPr>
        <p:spPr>
          <a:xfrm>
            <a:off x="457200" y="5257876"/>
            <a:ext cx="45720" cy="1142922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27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B21F3-B4BA-4F05-A340-306E9B62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Carte professionnelle TAXI</a:t>
            </a:r>
          </a:p>
        </p:txBody>
      </p:sp>
      <p:pic>
        <p:nvPicPr>
          <p:cNvPr id="8" name="Image 7" descr="Une image contenant texte, articles de toilette&#10;&#10;Description générée automatiquement">
            <a:extLst>
              <a:ext uri="{FF2B5EF4-FFF2-40B4-BE49-F238E27FC236}">
                <a16:creationId xmlns:a16="http://schemas.microsoft.com/office/drawing/2014/main" id="{26C51652-85C8-486A-9641-3E17C0AB2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80" y="2754016"/>
            <a:ext cx="4572000" cy="3087328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45DCFE-C1F9-73AD-A146-A2EC4F05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8</a:t>
            </a:fld>
            <a:endParaRPr lang="fr-FR"/>
          </a:p>
        </p:txBody>
      </p:sp>
      <p:sp>
        <p:nvSpPr>
          <p:cNvPr id="5049" name="Bloc 5049"/>
          <p:cNvSpPr txBox="1"/>
          <p:nvPr/>
        </p:nvSpPr>
        <p:spPr>
          <a:xfrm>
            <a:off x="457200" y="2194560"/>
            <a:ext cx="6400800" cy="700846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Au recto : code 2D-DOC · préfecture(s) de délivrance · date de fin de validité · numéro de la carte · photo du conducteur.</a:t>
            </a:r>
          </a:p>
        </p:txBody>
      </p:sp>
      <p:sp>
        <p:nvSpPr>
          <p:cNvPr id="5050" name="Barre 5050"/>
          <p:cNvSpPr/>
          <p:nvPr/>
        </p:nvSpPr>
        <p:spPr>
          <a:xfrm>
            <a:off x="457200" y="2194560"/>
            <a:ext cx="45720" cy="700846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51" name="Bloc 5051"/>
          <p:cNvSpPr txBox="1"/>
          <p:nvPr/>
        </p:nvSpPr>
        <p:spPr>
          <a:xfrm>
            <a:off x="457200" y="2968558"/>
            <a:ext cx="6400800" cy="1045525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Apposée sur le pare-brise (côté gauche) ou la custode, photo visible de l'extérieur, dès que le conducteur est en service.</a:t>
            </a:r>
          </a:p>
        </p:txBody>
      </p:sp>
      <p:sp>
        <p:nvSpPr>
          <p:cNvPr id="5052" name="Barre 5052"/>
          <p:cNvSpPr/>
          <p:nvPr/>
        </p:nvSpPr>
        <p:spPr>
          <a:xfrm>
            <a:off x="457200" y="2968558"/>
            <a:ext cx="45720" cy="1045525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53" name="Bloc 5053"/>
          <p:cNvSpPr txBox="1"/>
          <p:nvPr/>
        </p:nvSpPr>
        <p:spPr>
          <a:xfrm>
            <a:off x="457200" y="4087235"/>
            <a:ext cx="6400800" cy="809995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Code des transports : art. R3120-6 · Arrêté métropolitain du 27/11/2024 (art. 6).</a:t>
            </a:r>
          </a:p>
        </p:txBody>
      </p:sp>
      <p:sp>
        <p:nvSpPr>
          <p:cNvPr id="5054" name="Barre 5054"/>
          <p:cNvSpPr/>
          <p:nvPr/>
        </p:nvSpPr>
        <p:spPr>
          <a:xfrm>
            <a:off x="457200" y="4087235"/>
            <a:ext cx="45720" cy="809995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55" name="Bloc 5055"/>
          <p:cNvSpPr txBox="1"/>
          <p:nvPr/>
        </p:nvSpPr>
        <p:spPr>
          <a:xfrm>
            <a:off x="457200" y="4970382"/>
            <a:ext cx="6400800" cy="1430416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Absence de carte professionnelle : contravention de 5e classe — </a:t>
            </a:r>
            <a:r>
              <a:rPr lang="fr-FR" sz="1300" b="1" dirty="0">
                <a:solidFill>
                  <a:srgbClr val="E00000"/>
                </a:solidFill>
              </a:rPr>
              <a:t>jusqu'à 1 500 €</a:t>
            </a:r>
            <a:r>
              <a:rPr lang="fr-FR" sz="1300" dirty="0">
                <a:solidFill>
                  <a:srgbClr val="1C1C1C"/>
                </a:solidFill>
              </a:rPr>
              <a:t>. Carte non présentée immédiatement au contrôle : 2e classe (</a:t>
            </a:r>
            <a:r>
              <a:rPr lang="fr-FR" sz="1300" b="1" dirty="0">
                <a:solidFill>
                  <a:srgbClr val="E00000"/>
                </a:solidFill>
              </a:rPr>
              <a:t>35 €</a:t>
            </a:r>
            <a:r>
              <a:rPr lang="fr-FR" sz="1300" dirty="0">
                <a:solidFill>
                  <a:srgbClr val="1C1C1C"/>
                </a:solidFill>
              </a:rPr>
              <a:t>). </a:t>
            </a:r>
            <a:r>
              <a:rPr b="1" lang="fr-FR" sz="1300" dirty="0">
                <a:solidFill>
                  <a:srgbClr val="E00000"/>
                </a:solidFill>
              </a:rPr>
              <a:t>Le préfet peut aussi retirer la carte</a:t>
            </a:r>
            <a:r>
              <a:rPr lang="fr-FR" sz="1300" dirty="0">
                <a:solidFill>
                  <a:srgbClr val="1C1C1C"/>
                </a:solidFill>
              </a:rPr>
              <a:t>.</a:t>
            </a:r>
          </a:p>
        </p:txBody>
      </p:sp>
      <p:sp>
        <p:nvSpPr>
          <p:cNvPr id="5056" name="Barre 5056"/>
          <p:cNvSpPr/>
          <p:nvPr/>
        </p:nvSpPr>
        <p:spPr>
          <a:xfrm>
            <a:off x="457200" y="4970382"/>
            <a:ext cx="45720" cy="1430416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104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B0C1B-B7EF-485A-A022-54A93155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Carte professionnelle TAXI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D7475E-2DF7-4174-9946-8DD758897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80" y="2664823"/>
            <a:ext cx="4572000" cy="3265714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A14A7B-B660-92AC-9CBA-F82A0A3B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9</a:t>
            </a:fld>
            <a:endParaRPr lang="fr-FR"/>
          </a:p>
        </p:txBody>
      </p:sp>
      <p:sp>
        <p:nvSpPr>
          <p:cNvPr id="5057" name="Bloc 5057"/>
          <p:cNvSpPr txBox="1"/>
          <p:nvPr/>
        </p:nvSpPr>
        <p:spPr>
          <a:xfrm>
            <a:off x="457200" y="2194560"/>
            <a:ext cx="6400800" cy="583431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Au verso : nom · prénom · date et lieu de naissance · signature du conducteur.</a:t>
            </a:r>
          </a:p>
        </p:txBody>
      </p:sp>
      <p:sp>
        <p:nvSpPr>
          <p:cNvPr id="5058" name="Barre 5058"/>
          <p:cNvSpPr/>
          <p:nvPr/>
        </p:nvSpPr>
        <p:spPr>
          <a:xfrm>
            <a:off x="457200" y="2194560"/>
            <a:ext cx="45720" cy="583431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59" name="Bloc 5059"/>
          <p:cNvSpPr txBox="1"/>
          <p:nvPr/>
        </p:nvSpPr>
        <p:spPr>
          <a:xfrm>
            <a:off x="457200" y="2851143"/>
            <a:ext cx="6400800" cy="121922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La carte entière est apposée côté recto visible ; le verso doit pouvoir être montré lors d'un contrôle.</a:t>
            </a:r>
          </a:p>
        </p:txBody>
      </p:sp>
      <p:sp>
        <p:nvSpPr>
          <p:cNvPr id="5060" name="Barre 5060"/>
          <p:cNvSpPr/>
          <p:nvPr/>
        </p:nvSpPr>
        <p:spPr>
          <a:xfrm>
            <a:off x="457200" y="2851143"/>
            <a:ext cx="45720" cy="121922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61" name="Bloc 5061"/>
          <p:cNvSpPr txBox="1"/>
          <p:nvPr/>
        </p:nvSpPr>
        <p:spPr>
          <a:xfrm>
            <a:off x="457200" y="4143517"/>
            <a:ext cx="6400800" cy="1054665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Code des transports : art. R3120-6 · Arrêté métropolitain du 27/11/2024 (art. 6).</a:t>
            </a:r>
          </a:p>
        </p:txBody>
      </p:sp>
      <p:sp>
        <p:nvSpPr>
          <p:cNvPr id="5062" name="Barre 5062"/>
          <p:cNvSpPr/>
          <p:nvPr/>
        </p:nvSpPr>
        <p:spPr>
          <a:xfrm>
            <a:off x="457200" y="4143517"/>
            <a:ext cx="45720" cy="1054665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63" name="Bloc 5063"/>
          <p:cNvSpPr txBox="1"/>
          <p:nvPr/>
        </p:nvSpPr>
        <p:spPr>
          <a:xfrm>
            <a:off x="457200" y="5271334"/>
            <a:ext cx="6400800" cy="1129464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Absence de carte : 5e classe (</a:t>
            </a:r>
            <a:r>
              <a:rPr lang="fr-FR" sz="1300" b="1" dirty="0">
                <a:solidFill>
                  <a:srgbClr val="E00000"/>
                </a:solidFill>
              </a:rPr>
              <a:t>jusqu'à 1 500 €</a:t>
            </a:r>
            <a:r>
              <a:rPr lang="fr-FR" sz="1300" dirty="0">
                <a:solidFill>
                  <a:srgbClr val="1C1C1C"/>
                </a:solidFill>
              </a:rPr>
              <a:t>) · Non présentée immédiatement : 2e classe (</a:t>
            </a:r>
            <a:r>
              <a:rPr lang="fr-FR" sz="1300" b="1" dirty="0">
                <a:solidFill>
                  <a:srgbClr val="E00000"/>
                </a:solidFill>
              </a:rPr>
              <a:t>35 €</a:t>
            </a:r>
            <a:r>
              <a:rPr lang="fr-FR" sz="1300" dirty="0">
                <a:solidFill>
                  <a:srgbClr val="1C1C1C"/>
                </a:solidFill>
              </a:rPr>
              <a:t>) · </a:t>
            </a:r>
            <a:r>
              <a:rPr b="1" lang="fr-FR" sz="1300" dirty="0">
                <a:solidFill>
                  <a:srgbClr val="E00000"/>
                </a:solidFill>
              </a:rPr>
              <a:t>Retrait possible par le préfet</a:t>
            </a:r>
            <a:r>
              <a:rPr lang="fr-FR" sz="1300" dirty="0">
                <a:solidFill>
                  <a:srgbClr val="1C1C1C"/>
                </a:solidFill>
              </a:rPr>
              <a:t>.</a:t>
            </a:r>
          </a:p>
        </p:txBody>
      </p:sp>
      <p:sp>
        <p:nvSpPr>
          <p:cNvPr id="5064" name="Barre 5064"/>
          <p:cNvSpPr/>
          <p:nvPr/>
        </p:nvSpPr>
        <p:spPr>
          <a:xfrm>
            <a:off x="457200" y="5271334"/>
            <a:ext cx="45720" cy="1129464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82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21A96A-1D39-4F1D-96CB-E3FB54DB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Carnet métrologique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DD6C7AE-75A8-4630-82AD-D7C3D5EAA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9800" y="2194560"/>
            <a:ext cx="3658959" cy="4206240"/>
          </a:xfr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C86B6E6-DB65-2206-A616-1D12DC1F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10</a:t>
            </a:fld>
            <a:endParaRPr lang="fr-FR"/>
          </a:p>
        </p:txBody>
      </p:sp>
      <p:sp>
        <p:nvSpPr>
          <p:cNvPr id="5065" name="Bloc 5065"/>
          <p:cNvSpPr txBox="1"/>
          <p:nvPr/>
        </p:nvSpPr>
        <p:spPr>
          <a:xfrm>
            <a:off x="457200" y="2194560"/>
            <a:ext cx="6400800" cy="770174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Chaque taximètre est accompagné d'un carnet métrologique : références de l'appareil, installation, vérifications, changements de tarifs.</a:t>
            </a:r>
          </a:p>
        </p:txBody>
      </p:sp>
      <p:sp>
        <p:nvSpPr>
          <p:cNvPr id="5066" name="Barre 5066"/>
          <p:cNvSpPr/>
          <p:nvPr/>
        </p:nvSpPr>
        <p:spPr>
          <a:xfrm>
            <a:off x="457200" y="2194560"/>
            <a:ext cx="45720" cy="770174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67" name="Bloc 5067"/>
          <p:cNvSpPr txBox="1"/>
          <p:nvPr/>
        </p:nvSpPr>
        <p:spPr>
          <a:xfrm>
            <a:off x="457200" y="3037886"/>
            <a:ext cx="6400800" cy="923076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À bord du véhicule (boîte à gants), présenté lors des contrôles et du contrôle annuel au guichet taxis.</a:t>
            </a:r>
          </a:p>
        </p:txBody>
      </p:sp>
      <p:sp>
        <p:nvSpPr>
          <p:cNvPr id="5068" name="Barre 5068"/>
          <p:cNvSpPr/>
          <p:nvPr/>
        </p:nvSpPr>
        <p:spPr>
          <a:xfrm>
            <a:off x="457200" y="3037886"/>
            <a:ext cx="45720" cy="923076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69" name="Bloc 5069"/>
          <p:cNvSpPr txBox="1"/>
          <p:nvPr/>
        </p:nvSpPr>
        <p:spPr>
          <a:xfrm>
            <a:off x="457200" y="4034114"/>
            <a:ext cx="6400800" cy="1121283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Réglementation des instruments de mesure (décret n° 2001-387) · Arrêté métropolitain du 27/11/2024 (art. 8 : document du contrôle annuel).</a:t>
            </a:r>
          </a:p>
        </p:txBody>
      </p:sp>
      <p:sp>
        <p:nvSpPr>
          <p:cNvPr id="5070" name="Barre 5070"/>
          <p:cNvSpPr/>
          <p:nvPr/>
        </p:nvSpPr>
        <p:spPr>
          <a:xfrm>
            <a:off x="457200" y="4034114"/>
            <a:ext cx="45720" cy="1121283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71" name="Bloc 5071"/>
          <p:cNvSpPr txBox="1"/>
          <p:nvPr/>
        </p:nvSpPr>
        <p:spPr>
          <a:xfrm>
            <a:off x="457200" y="5228549"/>
            <a:ext cx="6400800" cy="117225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Sans carnet à jour : pas d'attestation de conformité au contrôle annuel → </a:t>
            </a:r>
            <a:r>
              <a:rPr b="1" lang="fr-FR" sz="1300" dirty="0">
                <a:solidFill>
                  <a:srgbClr val="E00000"/>
                </a:solidFill>
              </a:rPr>
              <a:t>incident d'exploitation, sanction administrative possible (art. L3124-1)</a:t>
            </a:r>
            <a:r>
              <a:rPr lang="fr-FR" sz="1300" dirty="0">
                <a:solidFill>
                  <a:srgbClr val="1C1C1C"/>
                </a:solidFill>
              </a:rPr>
              <a:t>.</a:t>
            </a:r>
          </a:p>
        </p:txBody>
      </p:sp>
      <p:sp>
        <p:nvSpPr>
          <p:cNvPr id="5072" name="Barre 5072"/>
          <p:cNvSpPr/>
          <p:nvPr/>
        </p:nvSpPr>
        <p:spPr>
          <a:xfrm>
            <a:off x="457200" y="5228549"/>
            <a:ext cx="45720" cy="1172250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8326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1E907-7689-42A6-BE75-31E7CE7D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pic>
        <p:nvPicPr>
          <p:cNvPr id="5" name="Espace réservé du contenu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9746AC96-D1B1-414E-BB09-69516271E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597" y="2194560"/>
            <a:ext cx="3199366" cy="4206240"/>
          </a:xfr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083CA1-6F55-AB7E-6934-F058636F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11</a:t>
            </a:fld>
            <a:endParaRPr lang="fr-FR"/>
          </a:p>
        </p:txBody>
      </p:sp>
      <p:sp>
        <p:nvSpPr>
          <p:cNvPr id="5073" name="Bloc 5073"/>
          <p:cNvSpPr txBox="1"/>
          <p:nvPr/>
        </p:nvSpPr>
        <p:spPr>
          <a:xfrm>
            <a:off x="457200" y="2194560"/>
            <a:ext cx="6400800" cy="361814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Note (ticket) imprimée par l'imprimante du taximètre.</a:t>
            </a:r>
          </a:p>
        </p:txBody>
      </p:sp>
      <p:sp>
        <p:nvSpPr>
          <p:cNvPr id="5074" name="Barre 5074"/>
          <p:cNvSpPr/>
          <p:nvPr/>
        </p:nvSpPr>
        <p:spPr>
          <a:xfrm>
            <a:off x="457200" y="2194560"/>
            <a:ext cx="45720" cy="361814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75" name="Bloc 5075"/>
          <p:cNvSpPr txBox="1"/>
          <p:nvPr/>
        </p:nvSpPr>
        <p:spPr>
          <a:xfrm>
            <a:off x="457200" y="2629526"/>
            <a:ext cx="6400800" cy="1228803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Remise au client en fin de course : obligatoire dès </a:t>
            </a:r>
            <a:r>
              <a:rPr lang="fr-FR" sz="1300" b="1" dirty="0">
                <a:solidFill>
                  <a:srgbClr val="E00000"/>
                </a:solidFill>
              </a:rPr>
              <a:t>25 €</a:t>
            </a:r>
            <a:r>
              <a:rPr lang="fr-FR" sz="1300" dirty="0">
                <a:solidFill>
                  <a:srgbClr val="1C1C1C"/>
                </a:solidFill>
              </a:rPr>
              <a:t> TTC, sur demande en dessous. Double conservé 2 ans par le taxi.</a:t>
            </a:r>
          </a:p>
        </p:txBody>
      </p:sp>
      <p:sp>
        <p:nvSpPr>
          <p:cNvPr id="5076" name="Barre 5076"/>
          <p:cNvSpPr/>
          <p:nvPr/>
        </p:nvSpPr>
        <p:spPr>
          <a:xfrm>
            <a:off x="457200" y="2629526"/>
            <a:ext cx="45720" cy="1228803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77" name="Bloc 5077"/>
          <p:cNvSpPr txBox="1"/>
          <p:nvPr/>
        </p:nvSpPr>
        <p:spPr>
          <a:xfrm>
            <a:off x="457200" y="3931481"/>
            <a:ext cx="6400800" cy="1044482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Arrêté ministériel du 6 novembre 2015 (information du consommateur sur les tarifs des taxis).</a:t>
            </a:r>
          </a:p>
        </p:txBody>
      </p:sp>
      <p:sp>
        <p:nvSpPr>
          <p:cNvPr id="5078" name="Barre 5078"/>
          <p:cNvSpPr/>
          <p:nvPr/>
        </p:nvSpPr>
        <p:spPr>
          <a:xfrm>
            <a:off x="457200" y="3931481"/>
            <a:ext cx="45720" cy="1044482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79" name="Bloc 5079"/>
          <p:cNvSpPr txBox="1"/>
          <p:nvPr/>
        </p:nvSpPr>
        <p:spPr>
          <a:xfrm>
            <a:off x="457200" y="5049115"/>
            <a:ext cx="6400800" cy="1351683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Note non remise ou incomplète : manquement à l'information du consommateur (code de la consommation) — montant à vérifier auprès de la DDPP.</a:t>
            </a:r>
          </a:p>
        </p:txBody>
      </p:sp>
      <p:sp>
        <p:nvSpPr>
          <p:cNvPr id="5080" name="Barre 5080"/>
          <p:cNvSpPr/>
          <p:nvPr/>
        </p:nvSpPr>
        <p:spPr>
          <a:xfrm>
            <a:off x="457200" y="5049115"/>
            <a:ext cx="45720" cy="1351683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67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3B8128-F523-474C-BA2A-004EC0EC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</a:rPr>
              <a:t>Plaque ADS (sous-plaque taxi)</a:t>
            </a:r>
            <a:r>
              <a:rPr lang="fr-FR" dirty="0">
                <a:effectLst/>
                <a:latin typeface="Arial" panose="020B0604020202020204" pitchFamily="34" charset="0"/>
              </a:rPr>
              <a:t/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D06F38-5CC3-3350-8179-1F2FC33B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3</a:t>
            </a:fld>
            <a:endParaRPr lang="fr-FR"/>
          </a:p>
        </p:txBody>
      </p:sp>
      <p:sp>
        <p:nvSpPr>
          <p:cNvPr id="5001" name="Bloc 5001"/>
          <p:cNvSpPr txBox="1"/>
          <p:nvPr/>
        </p:nvSpPr>
        <p:spPr>
          <a:xfrm>
            <a:off x="457200" y="2194560"/>
            <a:ext cx="6400800" cy="612078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Sous-plaque fixée au véhicule : mention TAXI + numéro de l'ADS + commune de rattachement (ex. : TAXI 000 LYON).</a:t>
            </a:r>
          </a:p>
        </p:txBody>
      </p:sp>
      <p:sp>
        <p:nvSpPr>
          <p:cNvPr id="5002" name="Barre 5002"/>
          <p:cNvSpPr/>
          <p:nvPr/>
        </p:nvSpPr>
        <p:spPr>
          <a:xfrm>
            <a:off x="457200" y="2194560"/>
            <a:ext cx="45720" cy="612078"/>
          </a:xfrm>
          <a:prstGeom prst="rect">
            <a:avLst/>
          </a:prstGeom>
          <a:solidFill>
            <a:srgbClr val="3B3059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03" name="Bloc 5003"/>
          <p:cNvSpPr txBox="1"/>
          <p:nvPr/>
        </p:nvSpPr>
        <p:spPr>
          <a:xfrm>
            <a:off x="457200" y="2879790"/>
            <a:ext cx="6400800" cy="783019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1A5276"/>
                </a:solidFill>
              </a:rPr>
              <a:t>📍 Emplacement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À l'arrière du véhicule, sous la plaque d'immatriculation, visible de l'extérieur.</a:t>
            </a:r>
          </a:p>
        </p:txBody>
      </p:sp>
      <p:sp>
        <p:nvSpPr>
          <p:cNvPr id="5004" name="Barre 5004"/>
          <p:cNvSpPr/>
          <p:nvPr/>
        </p:nvSpPr>
        <p:spPr>
          <a:xfrm>
            <a:off x="457200" y="2879790"/>
            <a:ext cx="45720" cy="783019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05" name="Bloc 5005"/>
          <p:cNvSpPr txBox="1"/>
          <p:nvPr/>
        </p:nvSpPr>
        <p:spPr>
          <a:xfrm>
            <a:off x="457200" y="3735961"/>
            <a:ext cx="6400800" cy="1069759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4A235A"/>
                </a:solidFill>
              </a:rPr>
              <a:t>⚖️ Texte de référence</a:t>
            </a:r>
          </a:p>
          <a:p>
            <a:pPr algn="l">
              <a:spcAft>
                <a:spcPts val="200"/>
              </a:spcAft>
            </a:pPr>
            <a:r>
              <a:rPr lang="fr-FR" sz="1300" dirty="0">
                <a:solidFill>
                  <a:srgbClr val="1C1C1C"/>
                </a:solidFill>
              </a:rPr>
              <a:t>Code des transports : art. R3121-1 (plaque visible de l'extérieur, n° d'ADS et ressort) · Arrêté métropolitain du 27/11/2024 (art. 7).</a:t>
            </a:r>
          </a:p>
        </p:txBody>
      </p:sp>
      <p:sp>
        <p:nvSpPr>
          <p:cNvPr id="5006" name="Barre 5006"/>
          <p:cNvSpPr/>
          <p:nvPr/>
        </p:nvSpPr>
        <p:spPr>
          <a:xfrm>
            <a:off x="457200" y="3735961"/>
            <a:ext cx="45720" cy="1069759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07" name="Bloc 5007"/>
          <p:cNvSpPr txBox="1"/>
          <p:nvPr/>
        </p:nvSpPr>
        <p:spPr>
          <a:xfrm>
            <a:off x="457200" y="4878872"/>
            <a:ext cx="6400800" cy="1521925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400" b="1" dirty="0">
                <a:solidFill>
                  <a:srgbClr val="922B21"/>
                </a:solidFill>
              </a:rPr>
              <a:t>🚨 Sanction si absent / non conforme</a:t>
            </a:r>
          </a:p>
          <a:p>
            <a:pPr algn="l">
              <a:spcAft>
                <a:spcPts val="200"/>
              </a:spcAft>
            </a:pPr>
            <a:r>
              <a:rPr b="1" lang="fr-FR" sz="1300" dirty="0">
                <a:solidFill>
                  <a:srgbClr val="E00000"/>
                </a:solidFill>
              </a:rPr>
              <a:t>Sanction administrative : avertissement, retrait temporaire ou définitif de l'ADS (art. L3124-1)</a:t>
            </a:r>
            <a:r>
              <a:rPr lang="fr-FR" sz="1300" dirty="0">
                <a:solidFill>
                  <a:srgbClr val="1C1C1C"/>
                </a:solidFill>
              </a:rPr>
              <a:t>. Sans plaque, le véhicule peut être considéré comme un taxi non autorisé. À rendre au guichet en cas de vente de l'ADS.</a:t>
            </a:r>
          </a:p>
        </p:txBody>
      </p:sp>
      <p:sp>
        <p:nvSpPr>
          <p:cNvPr id="5008" name="Barre 5008"/>
          <p:cNvSpPr/>
          <p:nvPr/>
        </p:nvSpPr>
        <p:spPr>
          <a:xfrm>
            <a:off x="457200" y="4878872"/>
            <a:ext cx="45720" cy="1521925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9501" name="Info 9501"/>
          <p:cNvSpPr txBox="1"/>
          <p:nvPr/>
        </p:nvSpPr>
        <p:spPr>
          <a:xfrm>
            <a:off x="7315200" y="22402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200" b="1" dirty="0">
                <a:solidFill>
                  <a:srgbClr val="3B3059"/>
                </a:solidFill>
              </a:rPr>
              <a:t>Vue de l'arrière du taxi</a:t>
            </a:r>
          </a:p>
        </p:txBody>
      </p:sp>
      <p:sp>
        <p:nvSpPr>
          <p:cNvPr id="9502" name="Plaque 9502"/>
          <p:cNvSpPr/>
          <p:nvPr/>
        </p:nvSpPr>
        <p:spPr>
          <a:xfrm>
            <a:off x="7315200" y="2651760"/>
            <a:ext cx="43891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None">
            <a:normAutofit/>
          </a:bodyPr>
          <a:lstStyle/>
          <a:p>
            <a:endParaRPr lang="fr-FR"/>
          </a:p>
        </p:txBody>
      </p:sp>
      <p:sp>
        <p:nvSpPr>
          <p:cNvPr id="9503" name="PlaqueBord 9503"/>
          <p:cNvSpPr/>
          <p:nvPr/>
        </p:nvSpPr>
        <p:spPr>
          <a:xfrm>
            <a:off x="7315200" y="2651760"/>
            <a:ext cx="4389120" cy="960120"/>
          </a:xfrm>
          <a:prstGeom prst="roundRect">
            <a:avLst/>
          </a:prstGeom>
          <a:noFill/>
          <a:ln w="12700">
            <a:solidFill>
              <a:srgbClr val="1C1C1C"/>
            </a:solidFill>
          </a:ln>
        </p:spPr>
        <p:txBody>
          <a:bodyPr wrap="square" lIns="0" tIns="0" rIns="0" bIns="0" rtlCol="0" anchor="None">
            <a:normAutofit/>
          </a:bodyPr>
          <a:lstStyle/>
          <a:p>
            <a:endParaRPr lang="fr-FR"/>
          </a:p>
        </p:txBody>
      </p:sp>
      <p:sp>
        <p:nvSpPr>
          <p:cNvPr id="9504" name="EU 9504"/>
          <p:cNvSpPr txBox="1"/>
          <p:nvPr/>
        </p:nvSpPr>
        <p:spPr>
          <a:xfrm>
            <a:off x="7342632" y="2679192"/>
            <a:ext cx="457200" cy="905256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dirty="0">
                <a:solidFill>
                  <a:srgbClr val="FFCC00"/>
                </a:solidFill>
              </a:rPr>
              <a:t>★</a:t>
            </a:r>
          </a:p>
          <a:p>
            <a:pPr algn="ctr">
              <a:spcAft>
                <a:spcPts val="200"/>
              </a:spcAft>
            </a:pPr>
            <a:r>
              <a:rPr lang="fr-FR" sz="2000" b="1" dirty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9505" name="Dept 9505"/>
          <p:cNvSpPr txBox="1"/>
          <p:nvPr/>
        </p:nvSpPr>
        <p:spPr>
          <a:xfrm>
            <a:off x="11219688" y="2679192"/>
            <a:ext cx="457200" cy="905256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600" b="1" dirty="0">
                <a:solidFill>
                  <a:srgbClr val="FFFFFF"/>
                </a:solidFill>
              </a:rPr>
              <a:t>69</a:t>
            </a:r>
          </a:p>
        </p:txBody>
      </p:sp>
      <p:sp>
        <p:nvSpPr>
          <p:cNvPr id="9506" name="Immat 9506"/>
          <p:cNvSpPr txBox="1"/>
          <p:nvPr/>
        </p:nvSpPr>
        <p:spPr>
          <a:xfrm>
            <a:off x="7799832" y="2651760"/>
            <a:ext cx="341985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3600" b="1" dirty="0">
                <a:solidFill>
                  <a:srgbClr val="1C1C1C"/>
                </a:solidFill>
              </a:rPr>
              <a:t>AB-123-CD</a:t>
            </a:r>
          </a:p>
        </p:txBody>
      </p:sp>
      <p:sp>
        <p:nvSpPr>
          <p:cNvPr id="9507" name="Info 9507"/>
          <p:cNvSpPr/>
          <p:nvPr/>
        </p:nvSpPr>
        <p:spPr>
          <a:xfrm>
            <a:off x="11750040" y="2971800"/>
            <a:ext cx="100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None">
            <a:normAutofit/>
          </a:bodyPr>
          <a:lstStyle/>
          <a:p>
            <a:endParaRPr lang="fr-FR"/>
          </a:p>
        </p:txBody>
      </p:sp>
      <p:sp>
        <p:nvSpPr>
          <p:cNvPr id="9508" name="SousPlaque 9508"/>
          <p:cNvSpPr txBox="1"/>
          <p:nvPr/>
        </p:nvSpPr>
        <p:spPr>
          <a:xfrm>
            <a:off x="7498080" y="3675888"/>
            <a:ext cx="4023360" cy="41148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400" b="1" dirty="0">
                <a:solidFill>
                  <a:srgbClr val="FFFFFF"/>
                </a:solidFill>
              </a:rPr>
              <a:t>TAXI  </a:t>
            </a:r>
            <a:r>
              <a:rPr lang="fr-FR" sz="2000" b="1" dirty="0">
                <a:solidFill>
                  <a:srgbClr val="FFFFFF"/>
                </a:solidFill>
              </a:rPr>
              <a:t>000  </a:t>
            </a:r>
            <a:r>
              <a:rPr lang="fr-FR" sz="2400" b="1" dirty="0">
                <a:solidFill>
                  <a:srgbClr val="FFFFFF"/>
                </a:solidFill>
              </a:rPr>
              <a:t>LYON</a:t>
            </a:r>
          </a:p>
        </p:txBody>
      </p:sp>
      <p:sp>
        <p:nvSpPr>
          <p:cNvPr id="9509" name="Info 9509"/>
          <p:cNvSpPr txBox="1"/>
          <p:nvPr/>
        </p:nvSpPr>
        <p:spPr>
          <a:xfrm>
            <a:off x="7315200" y="417880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00" b="1" dirty="0">
                <a:solidFill>
                  <a:srgbClr val="1A5276"/>
                </a:solidFill>
              </a:rPr>
              <a:t>↑ Plaque d'immatriculation</a:t>
            </a:r>
          </a:p>
          <a:p>
            <a:pPr algn="l">
              <a:spcAft>
                <a:spcPts val="200"/>
              </a:spcAft>
            </a:pPr>
            <a:r>
              <a:rPr lang="fr-FR" sz="1100" b="1" dirty="0">
                <a:solidFill>
                  <a:srgbClr val="922B21"/>
                </a:solidFill>
              </a:rPr>
              <a:t>↓ Sous-plaque taxi : TAXI + n° d'ADS + commune (juste en dessous)</a:t>
            </a:r>
          </a:p>
        </p:txBody>
      </p:sp>
    </p:spTree>
    <p:extLst>
      <p:ext uri="{BB962C8B-B14F-4D97-AF65-F5344CB8AC3E}">
        <p14:creationId xmlns:p14="http://schemas.microsoft.com/office/powerpoint/2010/main" val="297360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737EE-35A3-496E-8B04-DC8A2E652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</a:rPr>
              <a:t>Schéma : où placer chaque équipement ?</a:t>
            </a:r>
            <a:r>
              <a:rPr lang="fr-FR" dirty="0">
                <a:effectLst/>
                <a:latin typeface="Arial" panose="020B0604020202020204" pitchFamily="34" charset="0"/>
              </a:rPr>
              <a:t/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AD6B8DE-1469-FD7F-12DB-2EA9C3832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F8DF-468F-4FCB-9A0E-4B1B4E42B19B}" type="slidenum">
              <a:rPr lang="fr-FR" smtClean="0"/>
              <a:t>2</a:t>
            </a:fld>
            <a:endParaRPr lang="fr-FR"/>
          </a:p>
        </p:txBody>
      </p:sp>
      <p:sp>
        <p:nvSpPr>
          <p:cNvPr id="5001" name="Schema 5001"/>
          <p:cNvSpPr/>
          <p:nvPr/>
        </p:nvSpPr>
        <p:spPr>
          <a:xfrm>
            <a:off x="1455115" y="2681020"/>
            <a:ext cx="790041" cy="25603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02" name="Schema 5002"/>
          <p:cNvSpPr/>
          <p:nvPr/>
        </p:nvSpPr>
        <p:spPr>
          <a:xfrm>
            <a:off x="1455115" y="5292547"/>
            <a:ext cx="790041" cy="25603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03" name="Schema 5003"/>
          <p:cNvSpPr/>
          <p:nvPr/>
        </p:nvSpPr>
        <p:spPr>
          <a:xfrm>
            <a:off x="5668670" y="2681020"/>
            <a:ext cx="790042" cy="25603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04" name="Schema 5004"/>
          <p:cNvSpPr/>
          <p:nvPr/>
        </p:nvSpPr>
        <p:spPr>
          <a:xfrm>
            <a:off x="5668670" y="5292547"/>
            <a:ext cx="790042" cy="25603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05" name="Schema 5005"/>
          <p:cNvSpPr/>
          <p:nvPr/>
        </p:nvSpPr>
        <p:spPr>
          <a:xfrm>
            <a:off x="533400" y="2834640"/>
            <a:ext cx="6583680" cy="2560320"/>
          </a:xfrm>
          <a:prstGeom prst="roundRect">
            <a:avLst/>
          </a:prstGeom>
          <a:solidFill>
            <a:srgbClr val="D5D8DC"/>
          </a:solidFill>
          <a:ln w="12700">
            <a:solidFill>
              <a:srgbClr val="3B30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06" name="Schema 5006"/>
          <p:cNvSpPr/>
          <p:nvPr/>
        </p:nvSpPr>
        <p:spPr>
          <a:xfrm>
            <a:off x="5800344" y="2988259"/>
            <a:ext cx="1217980" cy="2253081"/>
          </a:xfrm>
          <a:prstGeom prst="roundRect">
            <a:avLst/>
          </a:prstGeom>
          <a:solidFill>
            <a:srgbClr val="BFC4C9"/>
          </a:solidFill>
          <a:ln w="12700">
            <a:solidFill>
              <a:srgbClr val="7F8C8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07" name="Schema 5007"/>
          <p:cNvSpPr/>
          <p:nvPr/>
        </p:nvSpPr>
        <p:spPr>
          <a:xfrm>
            <a:off x="632155" y="3039465"/>
            <a:ext cx="888797" cy="2150669"/>
          </a:xfrm>
          <a:prstGeom prst="roundRect">
            <a:avLst/>
          </a:prstGeom>
          <a:solidFill>
            <a:srgbClr val="BFC4C9"/>
          </a:solidFill>
          <a:ln w="12700">
            <a:solidFill>
              <a:srgbClr val="7F8C8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08" name="Schema 5008"/>
          <p:cNvSpPr/>
          <p:nvPr/>
        </p:nvSpPr>
        <p:spPr>
          <a:xfrm>
            <a:off x="5273649" y="3090672"/>
            <a:ext cx="526695" cy="2048256"/>
          </a:xfrm>
          <a:prstGeom prst="rect">
            <a:avLst/>
          </a:prstGeom>
          <a:solidFill>
            <a:srgbClr val="AED6F1"/>
          </a:solidFill>
          <a:ln w="12700">
            <a:solidFill>
              <a:srgbClr val="2E86C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09" name="Schema 5009"/>
          <p:cNvSpPr/>
          <p:nvPr/>
        </p:nvSpPr>
        <p:spPr>
          <a:xfrm>
            <a:off x="1586788" y="3141878"/>
            <a:ext cx="395021" cy="1945843"/>
          </a:xfrm>
          <a:prstGeom prst="rect">
            <a:avLst/>
          </a:prstGeom>
          <a:solidFill>
            <a:srgbClr val="AED6F1"/>
          </a:solidFill>
          <a:ln w="12700">
            <a:solidFill>
              <a:srgbClr val="2E86C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10" name="Schema 5010"/>
          <p:cNvSpPr/>
          <p:nvPr/>
        </p:nvSpPr>
        <p:spPr>
          <a:xfrm>
            <a:off x="1981809" y="3090672"/>
            <a:ext cx="3291840" cy="2048256"/>
          </a:xfrm>
          <a:prstGeom prst="rect">
            <a:avLst/>
          </a:prstGeom>
          <a:solidFill>
            <a:srgbClr val="F4F6F7"/>
          </a:solidFill>
          <a:ln w="12700">
            <a:solidFill>
              <a:srgbClr val="95A5A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11" name="Schema 5011"/>
          <p:cNvSpPr/>
          <p:nvPr/>
        </p:nvSpPr>
        <p:spPr>
          <a:xfrm>
            <a:off x="4220260" y="3244291"/>
            <a:ext cx="658368" cy="716889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12" name="Schema 5012"/>
          <p:cNvSpPr/>
          <p:nvPr/>
        </p:nvSpPr>
        <p:spPr>
          <a:xfrm>
            <a:off x="4220260" y="4268419"/>
            <a:ext cx="658368" cy="716889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13" name="Schema 5013"/>
          <p:cNvSpPr/>
          <p:nvPr/>
        </p:nvSpPr>
        <p:spPr>
          <a:xfrm>
            <a:off x="2508504" y="3244291"/>
            <a:ext cx="921715" cy="1741017"/>
          </a:xfrm>
          <a:prstGeom prst="roundRect">
            <a:avLst/>
          </a:prstGeom>
          <a:solidFill>
            <a:srgbClr val="85929E"/>
          </a:solidFill>
          <a:ln w="12700">
            <a:solidFill>
              <a:srgbClr val="5D6D7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14" name="Schema 5014"/>
          <p:cNvSpPr/>
          <p:nvPr/>
        </p:nvSpPr>
        <p:spPr>
          <a:xfrm>
            <a:off x="4944465" y="3141878"/>
            <a:ext cx="296266" cy="1945843"/>
          </a:xfrm>
          <a:prstGeom prst="rect">
            <a:avLst/>
          </a:prstGeom>
          <a:solidFill>
            <a:srgbClr val="56657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15" name="Schema 5015"/>
          <p:cNvSpPr/>
          <p:nvPr/>
        </p:nvSpPr>
        <p:spPr>
          <a:xfrm>
            <a:off x="7084161" y="3807561"/>
            <a:ext cx="197510" cy="614477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16" name="Schema 5016"/>
          <p:cNvSpPr/>
          <p:nvPr/>
        </p:nvSpPr>
        <p:spPr>
          <a:xfrm>
            <a:off x="368808" y="3807561"/>
            <a:ext cx="197510" cy="614477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fr-FR"/>
          </a:p>
        </p:txBody>
      </p:sp>
      <p:sp>
        <p:nvSpPr>
          <p:cNvPr id="5017" name="Info 5017"/>
          <p:cNvSpPr txBox="1"/>
          <p:nvPr/>
        </p:nvSpPr>
        <p:spPr>
          <a:xfrm>
            <a:off x="6126480" y="241464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00" b="1" dirty="0">
                <a:solidFill>
                  <a:srgbClr val="3B3059"/>
                </a:solidFill>
              </a:rPr>
              <a:t>AVANT →</a:t>
            </a:r>
          </a:p>
        </p:txBody>
      </p:sp>
      <p:sp>
        <p:nvSpPr>
          <p:cNvPr id="5018" name="Info 5018"/>
          <p:cNvSpPr txBox="1"/>
          <p:nvPr/>
        </p:nvSpPr>
        <p:spPr>
          <a:xfrm>
            <a:off x="413400" y="241464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00" b="1" dirty="0">
                <a:solidFill>
                  <a:srgbClr val="3B3059"/>
                </a:solidFill>
              </a:rPr>
              <a:t>← ARRIÈRE</a:t>
            </a:r>
          </a:p>
        </p:txBody>
      </p:sp>
      <p:sp>
        <p:nvSpPr>
          <p:cNvPr id="5019" name="Info 5019"/>
          <p:cNvSpPr txBox="1"/>
          <p:nvPr/>
        </p:nvSpPr>
        <p:spPr>
          <a:xfrm>
            <a:off x="3166872" y="551496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000" dirty="0">
                <a:solidFill>
                  <a:srgbClr val="5D6D7E"/>
                </a:solidFill>
              </a:rPr>
              <a:t>Côté droit (trottoir / passager)</a:t>
            </a:r>
          </a:p>
        </p:txBody>
      </p:sp>
      <p:sp>
        <p:nvSpPr>
          <p:cNvPr id="5020" name="Info 5020"/>
          <p:cNvSpPr txBox="1"/>
          <p:nvPr/>
        </p:nvSpPr>
        <p:spPr>
          <a:xfrm>
            <a:off x="3166872" y="240464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000" dirty="0">
                <a:solidFill>
                  <a:srgbClr val="5D6D7E"/>
                </a:solidFill>
              </a:rPr>
              <a:t>Côté gauche (conducteur)</a:t>
            </a:r>
          </a:p>
        </p:txBody>
      </p:sp>
      <p:sp>
        <p:nvSpPr>
          <p:cNvPr id="5021" name="Repere 5021"/>
          <p:cNvSpPr txBox="1"/>
          <p:nvPr/>
        </p:nvSpPr>
        <p:spPr>
          <a:xfrm>
            <a:off x="3458565" y="3945636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22" name="Repere 5022"/>
          <p:cNvSpPr txBox="1"/>
          <p:nvPr/>
        </p:nvSpPr>
        <p:spPr>
          <a:xfrm>
            <a:off x="4906975" y="3433572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023" name="Repere 5023"/>
          <p:cNvSpPr txBox="1"/>
          <p:nvPr/>
        </p:nvSpPr>
        <p:spPr>
          <a:xfrm>
            <a:off x="4446117" y="3945636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24" name="Repere 5024"/>
          <p:cNvSpPr txBox="1"/>
          <p:nvPr/>
        </p:nvSpPr>
        <p:spPr>
          <a:xfrm>
            <a:off x="3656076" y="4457700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025" name="Repere 5025"/>
          <p:cNvSpPr txBox="1"/>
          <p:nvPr/>
        </p:nvSpPr>
        <p:spPr>
          <a:xfrm>
            <a:off x="2866034" y="2819095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26" name="Repere 5026"/>
          <p:cNvSpPr txBox="1"/>
          <p:nvPr/>
        </p:nvSpPr>
        <p:spPr>
          <a:xfrm>
            <a:off x="5367832" y="3126333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27" name="Repere 5027"/>
          <p:cNvSpPr txBox="1"/>
          <p:nvPr/>
        </p:nvSpPr>
        <p:spPr>
          <a:xfrm>
            <a:off x="298399" y="4713732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028" name="Repere 5028"/>
          <p:cNvSpPr txBox="1"/>
          <p:nvPr/>
        </p:nvSpPr>
        <p:spPr>
          <a:xfrm>
            <a:off x="890930" y="3433572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029" name="Repere 5029"/>
          <p:cNvSpPr txBox="1"/>
          <p:nvPr/>
        </p:nvSpPr>
        <p:spPr>
          <a:xfrm>
            <a:off x="4906975" y="4662525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030" name="Repere 5030"/>
          <p:cNvSpPr txBox="1"/>
          <p:nvPr/>
        </p:nvSpPr>
        <p:spPr>
          <a:xfrm>
            <a:off x="2339340" y="5123383"/>
            <a:ext cx="338328" cy="338328"/>
          </a:xfrm>
          <a:prstGeom prst="ellipse">
            <a:avLst/>
          </a:prstGeom>
          <a:solidFill>
            <a:srgbClr val="B3116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031" name="Info 5031"/>
          <p:cNvSpPr/>
          <p:nvPr/>
        </p:nvSpPr>
        <p:spPr>
          <a:xfrm>
            <a:off x="7498080" y="1965960"/>
            <a:ext cx="4236720" cy="4297680"/>
          </a:xfrm>
          <a:prstGeom prst="rect">
            <a:avLst/>
          </a:prstGeom>
          <a:solidFill>
            <a:srgbClr val="F4F1F8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fr-FR"/>
          </a:p>
        </p:txBody>
      </p:sp>
      <p:sp>
        <p:nvSpPr>
          <p:cNvPr id="5032" name="Leg 5032"/>
          <p:cNvSpPr txBox="1"/>
          <p:nvPr/>
        </p:nvSpPr>
        <p:spPr>
          <a:xfrm>
            <a:off x="7589520" y="2057400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33" name="Info 5033"/>
          <p:cNvSpPr txBox="1"/>
          <p:nvPr/>
        </p:nvSpPr>
        <p:spPr>
          <a:xfrm>
            <a:off x="8001000" y="2011680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Lumineux TAXI : </a:t>
            </a:r>
            <a:r>
              <a:rPr lang="fr-FR" sz="1050" dirty="0">
                <a:solidFill>
                  <a:srgbClr val="1C1C1C"/>
                </a:solidFill>
              </a:rPr>
              <a:t>Sur le toit, à l'extérieur</a:t>
            </a:r>
          </a:p>
        </p:txBody>
      </p:sp>
      <p:sp>
        <p:nvSpPr>
          <p:cNvPr id="5034" name="Leg 5034"/>
          <p:cNvSpPr txBox="1"/>
          <p:nvPr/>
        </p:nvSpPr>
        <p:spPr>
          <a:xfrm>
            <a:off x="7589520" y="2478024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035" name="Info 5035"/>
          <p:cNvSpPr txBox="1"/>
          <p:nvPr/>
        </p:nvSpPr>
        <p:spPr>
          <a:xfrm>
            <a:off x="8001000" y="2432304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Taximètre : </a:t>
            </a:r>
            <a:r>
              <a:rPr lang="fr-FR" sz="1050" dirty="0">
                <a:solidFill>
                  <a:srgbClr val="1C1C1C"/>
                </a:solidFill>
              </a:rPr>
              <a:t>Tableau de bord ou rétroviseur, lisible du client</a:t>
            </a:r>
          </a:p>
        </p:txBody>
      </p:sp>
      <p:sp>
        <p:nvSpPr>
          <p:cNvPr id="5036" name="Leg 5036"/>
          <p:cNvSpPr txBox="1"/>
          <p:nvPr/>
        </p:nvSpPr>
        <p:spPr>
          <a:xfrm>
            <a:off x="7589520" y="2898648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37" name="Info 5037"/>
          <p:cNvSpPr txBox="1"/>
          <p:nvPr/>
        </p:nvSpPr>
        <p:spPr>
          <a:xfrm>
            <a:off x="8001000" y="2852928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Imprimante : </a:t>
            </a:r>
            <a:r>
              <a:rPr lang="fr-FR" sz="1050" dirty="0">
                <a:solidFill>
                  <a:srgbClr val="1C1C1C"/>
                </a:solidFill>
              </a:rPr>
              <a:t>Console avant, reliée au taximètre</a:t>
            </a:r>
          </a:p>
        </p:txBody>
      </p:sp>
      <p:sp>
        <p:nvSpPr>
          <p:cNvPr id="5038" name="Leg 5038"/>
          <p:cNvSpPr txBox="1"/>
          <p:nvPr/>
        </p:nvSpPr>
        <p:spPr>
          <a:xfrm>
            <a:off x="7589520" y="3319272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039" name="Info 5039"/>
          <p:cNvSpPr txBox="1"/>
          <p:nvPr/>
        </p:nvSpPr>
        <p:spPr>
          <a:xfrm>
            <a:off x="8001000" y="3273552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TPE : </a:t>
            </a:r>
            <a:r>
              <a:rPr lang="fr-FR" sz="1050" dirty="0">
                <a:solidFill>
                  <a:srgbClr val="1C1C1C"/>
                </a:solidFill>
              </a:rPr>
              <a:t>Visible et à disposition du client</a:t>
            </a:r>
          </a:p>
        </p:txBody>
      </p:sp>
      <p:sp>
        <p:nvSpPr>
          <p:cNvPr id="5040" name="Leg 5040"/>
          <p:cNvSpPr txBox="1"/>
          <p:nvPr/>
        </p:nvSpPr>
        <p:spPr>
          <a:xfrm>
            <a:off x="7589520" y="3739896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41" name="Info 5041"/>
          <p:cNvSpPr txBox="1"/>
          <p:nvPr/>
        </p:nvSpPr>
        <p:spPr>
          <a:xfrm>
            <a:off x="8001000" y="3694176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Affichage des tarifs : </a:t>
            </a:r>
            <a:r>
              <a:rPr lang="fr-FR" sz="1050" dirty="0">
                <a:solidFill>
                  <a:srgbClr val="1C1C1C"/>
                </a:solidFill>
              </a:rPr>
              <a:t>Habitacle, visible du client transporté</a:t>
            </a:r>
          </a:p>
        </p:txBody>
      </p:sp>
      <p:sp>
        <p:nvSpPr>
          <p:cNvPr id="5042" name="Leg 5042"/>
          <p:cNvSpPr txBox="1"/>
          <p:nvPr/>
        </p:nvSpPr>
        <p:spPr>
          <a:xfrm>
            <a:off x="7589520" y="4160520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43" name="Info 5043"/>
          <p:cNvSpPr txBox="1"/>
          <p:nvPr/>
        </p:nvSpPr>
        <p:spPr>
          <a:xfrm>
            <a:off x="8001000" y="4114800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Carte professionnelle : </a:t>
            </a:r>
            <a:r>
              <a:rPr lang="fr-FR" sz="1050" dirty="0">
                <a:solidFill>
                  <a:srgbClr val="1C1C1C"/>
                </a:solidFill>
              </a:rPr>
              <a:t>Pare-brise côté gauche (ou custode)</a:t>
            </a:r>
          </a:p>
        </p:txBody>
      </p:sp>
      <p:sp>
        <p:nvSpPr>
          <p:cNvPr id="5044" name="Leg 5044"/>
          <p:cNvSpPr txBox="1"/>
          <p:nvPr/>
        </p:nvSpPr>
        <p:spPr>
          <a:xfrm>
            <a:off x="7589520" y="4581144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045" name="Info 5045"/>
          <p:cNvSpPr txBox="1"/>
          <p:nvPr/>
        </p:nvSpPr>
        <p:spPr>
          <a:xfrm>
            <a:off x="8001000" y="4535424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Plaque ADS : </a:t>
            </a:r>
            <a:r>
              <a:rPr lang="fr-FR" sz="1050" dirty="0">
                <a:solidFill>
                  <a:srgbClr val="1C1C1C"/>
                </a:solidFill>
              </a:rPr>
              <a:t>Arrière, sous la plaque d'immatriculation</a:t>
            </a:r>
          </a:p>
        </p:txBody>
      </p:sp>
      <p:sp>
        <p:nvSpPr>
          <p:cNvPr id="5046" name="Leg 5046"/>
          <p:cNvSpPr txBox="1"/>
          <p:nvPr/>
        </p:nvSpPr>
        <p:spPr>
          <a:xfrm>
            <a:off x="7589520" y="5001768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047" name="Info 5047"/>
          <p:cNvSpPr txBox="1"/>
          <p:nvPr/>
        </p:nvSpPr>
        <p:spPr>
          <a:xfrm>
            <a:off x="8001000" y="4956048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Trousse de soins : </a:t>
            </a:r>
            <a:r>
              <a:rPr lang="fr-FR" sz="1050" dirty="0">
                <a:solidFill>
                  <a:srgbClr val="1C1C1C"/>
                </a:solidFill>
              </a:rPr>
              <a:t>À bord (coffre), si conventionné CPAM</a:t>
            </a:r>
          </a:p>
        </p:txBody>
      </p:sp>
      <p:sp>
        <p:nvSpPr>
          <p:cNvPr id="5048" name="Leg 5048"/>
          <p:cNvSpPr txBox="1"/>
          <p:nvPr/>
        </p:nvSpPr>
        <p:spPr>
          <a:xfrm>
            <a:off x="7589520" y="5422392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049" name="Info 5049"/>
          <p:cNvSpPr txBox="1"/>
          <p:nvPr/>
        </p:nvSpPr>
        <p:spPr>
          <a:xfrm>
            <a:off x="8001000" y="5376672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Carnet métrologique : </a:t>
            </a:r>
            <a:r>
              <a:rPr lang="fr-FR" sz="1050" dirty="0">
                <a:solidFill>
                  <a:srgbClr val="1C1C1C"/>
                </a:solidFill>
              </a:rPr>
              <a:t>Boîte à gants, avec les documents</a:t>
            </a:r>
          </a:p>
        </p:txBody>
      </p:sp>
      <p:sp>
        <p:nvSpPr>
          <p:cNvPr id="5050" name="Leg 5050"/>
          <p:cNvSpPr txBox="1"/>
          <p:nvPr/>
        </p:nvSpPr>
        <p:spPr>
          <a:xfrm>
            <a:off x="7589520" y="5843016"/>
            <a:ext cx="338328" cy="338328"/>
          </a:xfrm>
          <a:prstGeom prst="ellipse">
            <a:avLst/>
          </a:prstGeom>
          <a:solidFill>
            <a:srgbClr val="B3116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fr-FR" sz="11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051" name="Info 5051"/>
          <p:cNvSpPr txBox="1"/>
          <p:nvPr/>
        </p:nvSpPr>
        <p:spPr>
          <a:xfrm>
            <a:off x="8001000" y="5797296"/>
            <a:ext cx="3642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3B3059"/>
                </a:solidFill>
              </a:rPr>
              <a:t>Macaron CPAM : </a:t>
            </a:r>
            <a:r>
              <a:rPr lang="fr-FR" sz="1050" dirty="0">
                <a:solidFill>
                  <a:srgbClr val="1C1C1C"/>
                </a:solidFill>
              </a:rPr>
              <a:t>Vitre arrière droite, si conventionné</a:t>
            </a:r>
          </a:p>
        </p:txBody>
      </p:sp>
    </p:spTree>
    <p:extLst>
      <p:ext uri="{BB962C8B-B14F-4D97-AF65-F5344CB8AC3E}">
        <p14:creationId xmlns:p14="http://schemas.microsoft.com/office/powerpoint/2010/main" val="30431926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le d’ions">
  <a:themeElements>
    <a:clrScheme name="Salle d’ions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le d’ions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le d’ions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206</TotalTime>
  <Words>190</Words>
  <Application>Microsoft Office PowerPoint</Application>
  <PresentationFormat>Grand écran</PresentationFormat>
  <Paragraphs>43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Salle d’ions</vt:lpstr>
      <vt:lpstr>Equipements et documents TAXI </vt:lpstr>
      <vt:lpstr>Taximètre homologué</vt:lpstr>
      <vt:lpstr>Lumineux homologué avec l'indication de la commune de rattachement</vt:lpstr>
      <vt:lpstr>Imprimante</vt:lpstr>
      <vt:lpstr>Terminal de Paiement électronique (TPE) </vt:lpstr>
      <vt:lpstr>Affichage des tarifs</vt:lpstr>
      <vt:lpstr>Trousse de soins</vt:lpstr>
      <vt:lpstr>Carte professionnelle TAXI</vt:lpstr>
      <vt:lpstr>Carte professionnelle TAXI</vt:lpstr>
      <vt:lpstr>Carnet métrologique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Equipements tAXi</dc:title>
  <dc:creator>naoufal guenichi</dc:creator>
  <cp:lastModifiedBy>naoufal guenichi</cp:lastModifiedBy>
  <cp:revision>9</cp:revision>
  <dcterms:created xsi:type="dcterms:W3CDTF">2021-06-08T15:44:34Z</dcterms:created>
  <dcterms:modified xsi:type="dcterms:W3CDTF">2026-03-08T13:26:40Z</dcterms:modified>
</cp:coreProperties>
</file>